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4.jpg" ContentType="image/jpg"/>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1"/>
  </p:notesMasterIdLst>
  <p:sldIdLst>
    <p:sldId id="256" r:id="rId2"/>
    <p:sldId id="853" r:id="rId3"/>
    <p:sldId id="854" r:id="rId4"/>
    <p:sldId id="855" r:id="rId5"/>
    <p:sldId id="856" r:id="rId6"/>
    <p:sldId id="857" r:id="rId7"/>
    <p:sldId id="858" r:id="rId8"/>
    <p:sldId id="859" r:id="rId9"/>
    <p:sldId id="860" r:id="rId10"/>
    <p:sldId id="861" r:id="rId11"/>
    <p:sldId id="862" r:id="rId12"/>
    <p:sldId id="863" r:id="rId13"/>
    <p:sldId id="864" r:id="rId14"/>
    <p:sldId id="865" r:id="rId15"/>
    <p:sldId id="866" r:id="rId16"/>
    <p:sldId id="869" r:id="rId17"/>
    <p:sldId id="868" r:id="rId18"/>
    <p:sldId id="870" r:id="rId19"/>
    <p:sldId id="871" r:id="rId20"/>
    <p:sldId id="872" r:id="rId21"/>
    <p:sldId id="873" r:id="rId22"/>
    <p:sldId id="874" r:id="rId23"/>
    <p:sldId id="875" r:id="rId24"/>
    <p:sldId id="876" r:id="rId25"/>
    <p:sldId id="877" r:id="rId26"/>
    <p:sldId id="878" r:id="rId27"/>
    <p:sldId id="879" r:id="rId28"/>
    <p:sldId id="880" r:id="rId29"/>
    <p:sldId id="881" r:id="rId30"/>
    <p:sldId id="883" r:id="rId31"/>
    <p:sldId id="884" r:id="rId32"/>
    <p:sldId id="885" r:id="rId33"/>
    <p:sldId id="886" r:id="rId34"/>
    <p:sldId id="887" r:id="rId35"/>
    <p:sldId id="888" r:id="rId36"/>
    <p:sldId id="889" r:id="rId37"/>
    <p:sldId id="890" r:id="rId38"/>
    <p:sldId id="891" r:id="rId39"/>
    <p:sldId id="892" r:id="rId40"/>
    <p:sldId id="893" r:id="rId41"/>
    <p:sldId id="894" r:id="rId42"/>
    <p:sldId id="897" r:id="rId43"/>
    <p:sldId id="895" r:id="rId44"/>
    <p:sldId id="896" r:id="rId45"/>
    <p:sldId id="898" r:id="rId46"/>
    <p:sldId id="899" r:id="rId47"/>
    <p:sldId id="903" r:id="rId48"/>
    <p:sldId id="904" r:id="rId49"/>
    <p:sldId id="905" r:id="rId50"/>
    <p:sldId id="906" r:id="rId51"/>
    <p:sldId id="902" r:id="rId52"/>
    <p:sldId id="900" r:id="rId53"/>
    <p:sldId id="901" r:id="rId54"/>
    <p:sldId id="907" r:id="rId55"/>
    <p:sldId id="908" r:id="rId56"/>
    <p:sldId id="927" r:id="rId57"/>
    <p:sldId id="928" r:id="rId58"/>
    <p:sldId id="929" r:id="rId59"/>
    <p:sldId id="930" r:id="rId60"/>
    <p:sldId id="931" r:id="rId61"/>
    <p:sldId id="932" r:id="rId62"/>
    <p:sldId id="909" r:id="rId63"/>
    <p:sldId id="910" r:id="rId64"/>
    <p:sldId id="911" r:id="rId65"/>
    <p:sldId id="912" r:id="rId66"/>
    <p:sldId id="913" r:id="rId67"/>
    <p:sldId id="914" r:id="rId68"/>
    <p:sldId id="915" r:id="rId69"/>
    <p:sldId id="916" r:id="rId70"/>
    <p:sldId id="917" r:id="rId71"/>
    <p:sldId id="918" r:id="rId72"/>
    <p:sldId id="919" r:id="rId73"/>
    <p:sldId id="920" r:id="rId74"/>
    <p:sldId id="921" r:id="rId75"/>
    <p:sldId id="922" r:id="rId76"/>
    <p:sldId id="923" r:id="rId77"/>
    <p:sldId id="924" r:id="rId78"/>
    <p:sldId id="925" r:id="rId79"/>
    <p:sldId id="926" r:id="rId8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5" roundtripDataSignature="AMtx7mhM6yxCcS7ctRrPdTZuYYrdZAEn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11" autoAdjust="0"/>
  </p:normalViewPr>
  <p:slideViewPr>
    <p:cSldViewPr snapToGrid="0">
      <p:cViewPr>
        <p:scale>
          <a:sx n="50" d="100"/>
          <a:sy n="50" d="100"/>
        </p:scale>
        <p:origin x="-1080"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125"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128"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00317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 name="Google Shape;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43290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8"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8"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7"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7" descr="LOGO.gif"/>
            <p:cNvPicPr preferRelativeResize="0"/>
            <p:nvPr/>
          </p:nvPicPr>
          <p:blipFill rotWithShape="1">
            <a:blip r:embed="rId3">
              <a:alphaModFix/>
            </a:blip>
            <a:srcRect b="10713"/>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7" descr="logo.jpg"/>
          <p:cNvPicPr preferRelativeResize="0"/>
          <p:nvPr/>
        </p:nvPicPr>
        <p:blipFill rotWithShape="1">
          <a:blip r:embed="rId4">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pic>
        <p:nvPicPr>
          <p:cNvPr id="41" name="Google Shape;41;p10"/>
          <p:cNvPicPr preferRelativeResize="0"/>
          <p:nvPr/>
        </p:nvPicPr>
        <p:blipFill rotWithShape="1">
          <a:blip r:embed="rId3">
            <a:alphaModFix/>
          </a:blip>
          <a:srcRect/>
          <a:stretch/>
        </p:blipFill>
        <p:spPr>
          <a:xfrm>
            <a:off x="521110" y="173569"/>
            <a:ext cx="1720645" cy="723209"/>
          </a:xfrm>
          <a:prstGeom prst="rect">
            <a:avLst/>
          </a:prstGeom>
          <a:noFill/>
          <a:ln>
            <a:noFill/>
          </a:ln>
        </p:spPr>
      </p:pic>
      <p:sp>
        <p:nvSpPr>
          <p:cNvPr id="42" name="Google Shape;42;p10"/>
          <p:cNvSpPr txBox="1"/>
          <p:nvPr/>
        </p:nvSpPr>
        <p:spPr>
          <a:xfrm>
            <a:off x="-147711" y="737420"/>
            <a:ext cx="9144000" cy="5947010"/>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lang="en-US" sz="2800" b="1" i="0" u="none" strike="noStrike" cap="none" dirty="0">
              <a:solidFill>
                <a:srgbClr val="002060"/>
              </a:solidFill>
              <a:latin typeface="Times New Roman"/>
              <a:ea typeface="Times New Roman"/>
              <a:cs typeface="Times New Roman"/>
              <a:sym typeface="Times New Roman"/>
            </a:endParaRPr>
          </a:p>
          <a:p>
            <a:pPr lvl="0" algn="ctr">
              <a:buSzPts val="3200"/>
            </a:pPr>
            <a:r>
              <a:rPr lang="en-US" sz="2800" b="1" dirty="0">
                <a:solidFill>
                  <a:srgbClr val="002060"/>
                </a:solidFill>
                <a:latin typeface="Times New Roman"/>
                <a:ea typeface="Times New Roman"/>
                <a:cs typeface="Times New Roman"/>
                <a:sym typeface="Times New Roman"/>
              </a:rPr>
              <a:t>Embedded System and Internet of Things </a:t>
            </a:r>
            <a:r>
              <a:rPr lang="en-US" sz="2800" b="1" i="0" u="none" strike="noStrike" cap="none" dirty="0">
                <a:solidFill>
                  <a:srgbClr val="002060"/>
                </a:solidFill>
                <a:latin typeface="Times New Roman"/>
                <a:ea typeface="Times New Roman"/>
                <a:cs typeface="Times New Roman"/>
                <a:sym typeface="Times New Roman"/>
              </a:rPr>
              <a:t>(ESIOT</a:t>
            </a:r>
            <a:r>
              <a:rPr lang="en-US" sz="2800" b="1" i="0" u="none" strike="noStrike" cap="none" dirty="0" smtClean="0">
                <a:solidFill>
                  <a:srgbClr val="002060"/>
                </a:solidFill>
                <a:latin typeface="Times New Roman"/>
                <a:ea typeface="Times New Roman"/>
                <a:cs typeface="Times New Roman"/>
                <a:sym typeface="Times New Roman"/>
              </a:rPr>
              <a:t>)</a:t>
            </a:r>
            <a:endParaRPr lang="en-US" sz="2800" b="1" i="0" u="none" strike="noStrike" cap="none" dirty="0">
              <a:solidFill>
                <a:srgbClr val="FF0000"/>
              </a:solidFill>
              <a:latin typeface="Times New Roman"/>
              <a:ea typeface="Times New Roman"/>
              <a:cs typeface="Times New Roman"/>
              <a:sym typeface="Times New Roman"/>
            </a:endParaRPr>
          </a:p>
          <a:p>
            <a:pPr lvl="0" algn="ctr">
              <a:buSzPts val="3200"/>
            </a:pPr>
            <a:r>
              <a:rPr lang="en-US" sz="2800" b="1" dirty="0" smtClean="0">
                <a:solidFill>
                  <a:srgbClr val="FF0000"/>
                </a:solidFill>
                <a:latin typeface="Times New Roman"/>
                <a:ea typeface="Times New Roman"/>
                <a:cs typeface="Times New Roman"/>
                <a:sym typeface="Times New Roman"/>
              </a:rPr>
              <a:t>Microcontrollers </a:t>
            </a:r>
            <a:r>
              <a:rPr lang="en-US" sz="2800" b="1" dirty="0">
                <a:solidFill>
                  <a:srgbClr val="FF0000"/>
                </a:solidFill>
                <a:latin typeface="Times New Roman"/>
                <a:ea typeface="Times New Roman"/>
                <a:cs typeface="Times New Roman"/>
                <a:sym typeface="Times New Roman"/>
              </a:rPr>
              <a:t>and </a:t>
            </a:r>
            <a:r>
              <a:rPr lang="en-US" sz="2800" b="1" dirty="0" smtClean="0">
                <a:solidFill>
                  <a:srgbClr val="FF0000"/>
                </a:solidFill>
                <a:latin typeface="Times New Roman"/>
                <a:ea typeface="Times New Roman"/>
                <a:cs typeface="Times New Roman"/>
                <a:sym typeface="Times New Roman"/>
              </a:rPr>
              <a:t>Programming </a:t>
            </a:r>
            <a:r>
              <a:rPr lang="en-US" sz="2400" b="1" i="1" u="none" strike="noStrike" cap="none" dirty="0" smtClean="0">
                <a:solidFill>
                  <a:srgbClr val="FF0000"/>
                </a:solidFill>
                <a:latin typeface="Times New Roman"/>
                <a:ea typeface="Times New Roman"/>
                <a:cs typeface="Times New Roman"/>
                <a:sym typeface="Times New Roman"/>
              </a:rPr>
              <a:t>(Unit-2): </a:t>
            </a:r>
          </a:p>
          <a:p>
            <a:pPr lvl="0" algn="ctr">
              <a:buSzPts val="3200"/>
            </a:pPr>
            <a:endParaRPr lang="en-US" sz="1800" dirty="0">
              <a:solidFill>
                <a:srgbClr val="366092"/>
              </a:solidFill>
              <a:latin typeface="Times New Roman"/>
              <a:cs typeface="Times New Roman"/>
              <a:sym typeface="Times New Roman"/>
            </a:endParaRPr>
          </a:p>
          <a:p>
            <a:pPr lvl="0" algn="ctr"/>
            <a:endParaRPr lang="en-US" sz="1800" b="1" dirty="0" smtClean="0">
              <a:solidFill>
                <a:srgbClr val="366092"/>
              </a:solidFill>
              <a:latin typeface="Times New Roman"/>
              <a:ea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i="0" u="none" strike="noStrike" cap="none" dirty="0" smtClean="0">
              <a:solidFill>
                <a:srgbClr val="366092"/>
              </a:solidFill>
              <a:latin typeface="Times New Roman"/>
              <a:ea typeface="Times New Roman"/>
              <a:cs typeface="Times New Roman"/>
              <a:sym typeface="Times New Roman"/>
            </a:endParaRPr>
          </a:p>
          <a:p>
            <a:pPr lvl="0" algn="ctr"/>
            <a:endParaRPr lang="en-US" sz="1800" b="1" dirty="0" smtClean="0">
              <a:solidFill>
                <a:srgbClr val="366092"/>
              </a:solidFill>
              <a:latin typeface="Times New Roman"/>
              <a:ea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i="0" u="none" strike="noStrike" cap="none" dirty="0" smtClean="0">
              <a:solidFill>
                <a:srgbClr val="366092"/>
              </a:solidFill>
              <a:latin typeface="Times New Roman"/>
              <a:ea typeface="Times New Roman"/>
              <a:cs typeface="Times New Roman"/>
              <a:sym typeface="Times New Roman"/>
            </a:endParaRPr>
          </a:p>
          <a:p>
            <a:pPr lvl="0" algn="ctr"/>
            <a:endParaRPr lang="en-US" sz="1800" b="1" i="0" u="none" strike="noStrike" cap="none" dirty="0" smtClean="0">
              <a:solidFill>
                <a:srgbClr val="366092"/>
              </a:solidFill>
              <a:latin typeface="Times New Roman"/>
              <a:ea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i="0" u="none" strike="noStrike" cap="none" dirty="0" smtClean="0">
              <a:solidFill>
                <a:srgbClr val="366092"/>
              </a:solidFill>
              <a:latin typeface="Times New Roman"/>
              <a:ea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i="0" u="none" strike="noStrike" cap="none" dirty="0">
              <a:solidFill>
                <a:srgbClr val="366092"/>
              </a:solidFill>
              <a:latin typeface="Times New Roman"/>
              <a:ea typeface="Times New Roman"/>
              <a:cs typeface="Times New Roman"/>
              <a:sym typeface="Times New Roman"/>
            </a:endParaRPr>
          </a:p>
          <a:p>
            <a:pPr lvl="0" algn="ctr"/>
            <a:endParaRPr sz="24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FF0000"/>
                </a:solidFill>
                <a:latin typeface="Times New Roman"/>
                <a:ea typeface="Times New Roman"/>
                <a:cs typeface="Times New Roman"/>
                <a:sym typeface="Times New Roman"/>
              </a:rPr>
              <a:t>B.E.-CSE 3</a:t>
            </a:r>
            <a:r>
              <a:rPr lang="en-US" sz="2400" b="1" i="0" u="none" strike="noStrike" cap="none" baseline="30000" dirty="0">
                <a:solidFill>
                  <a:srgbClr val="FF0000"/>
                </a:solidFill>
                <a:latin typeface="Times New Roman"/>
                <a:ea typeface="Times New Roman"/>
                <a:cs typeface="Times New Roman"/>
                <a:sym typeface="Times New Roman"/>
              </a:rPr>
              <a:t>rd</a:t>
            </a:r>
            <a:r>
              <a:rPr lang="en-US" sz="2400" b="1" i="0" u="none" strike="noStrike" cap="none" dirty="0">
                <a:solidFill>
                  <a:srgbClr val="FF0000"/>
                </a:solidFill>
                <a:latin typeface="Times New Roman"/>
                <a:ea typeface="Times New Roman"/>
                <a:cs typeface="Times New Roman"/>
                <a:sym typeface="Times New Roman"/>
              </a:rPr>
              <a:t> Sem.</a:t>
            </a:r>
            <a:endParaRPr dirty="0"/>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smtClean="0">
                <a:solidFill>
                  <a:schemeClr val="dk1"/>
                </a:solidFill>
                <a:latin typeface="Times New Roman"/>
                <a:ea typeface="Times New Roman"/>
                <a:cs typeface="Times New Roman"/>
                <a:sym typeface="Times New Roman"/>
              </a:rPr>
              <a:t>Department </a:t>
            </a:r>
            <a:r>
              <a:rPr lang="en-US" sz="1600" b="1" i="0" u="none" strike="noStrike" cap="none" dirty="0">
                <a:solidFill>
                  <a:schemeClr val="dk1"/>
                </a:solidFill>
                <a:latin typeface="Times New Roman"/>
                <a:ea typeface="Times New Roman"/>
                <a:cs typeface="Times New Roman"/>
                <a:sym typeface="Times New Roman"/>
              </a:rPr>
              <a:t>of Interdisciplinary Courses in Engineering (</a:t>
            </a:r>
            <a:r>
              <a:rPr lang="en-US" sz="1600" b="1" i="0" u="none" strike="noStrike" cap="none" dirty="0" smtClean="0">
                <a:solidFill>
                  <a:schemeClr val="dk1"/>
                </a:solidFill>
                <a:latin typeface="Times New Roman"/>
                <a:ea typeface="Times New Roman"/>
                <a:cs typeface="Times New Roman"/>
                <a:sym typeface="Times New Roman"/>
              </a:rPr>
              <a:t>DICE</a:t>
            </a:r>
            <a:r>
              <a:rPr lang="en-US" sz="1600" b="1" dirty="0" smtClean="0">
                <a:solidFill>
                  <a:schemeClr val="dk1"/>
                </a:solidFill>
                <a:latin typeface="Times New Roman"/>
                <a:ea typeface="Times New Roman"/>
                <a:cs typeface="Times New Roman"/>
                <a:sym typeface="Times New Roman"/>
              </a:rPr>
              <a:t>)</a:t>
            </a:r>
            <a:endParaRPr sz="40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chemeClr val="dk1"/>
              </a:solidFill>
              <a:latin typeface="Times New Roman"/>
              <a:ea typeface="Times New Roman"/>
              <a:cs typeface="Times New Roman"/>
              <a:sym typeface="Times New Roman"/>
            </a:endParaRPr>
          </a:p>
        </p:txBody>
      </p:sp>
      <p:sp>
        <p:nvSpPr>
          <p:cNvPr id="5" name="object 13"/>
          <p:cNvSpPr/>
          <p:nvPr/>
        </p:nvSpPr>
        <p:spPr>
          <a:xfrm>
            <a:off x="1837944" y="2148207"/>
            <a:ext cx="5468112" cy="3390900"/>
          </a:xfrm>
          <a:prstGeom prst="rect">
            <a:avLst/>
          </a:prstGeom>
          <a:blipFill>
            <a:blip r:embed="rId4" cstate="print"/>
            <a:stretch>
              <a:fillRect/>
            </a:stretch>
          </a:blip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a:t>
            </a:r>
          </a:p>
        </p:txBody>
      </p:sp>
      <p:sp>
        <p:nvSpPr>
          <p:cNvPr id="3" name="Text Placeholder 2"/>
          <p:cNvSpPr>
            <a:spLocks noGrp="1"/>
          </p:cNvSpPr>
          <p:nvPr>
            <p:ph type="body" idx="1"/>
          </p:nvPr>
        </p:nvSpPr>
        <p:spPr>
          <a:xfrm>
            <a:off x="-1" y="1245870"/>
            <a:ext cx="9026013" cy="5110480"/>
          </a:xfrm>
        </p:spPr>
        <p:txBody>
          <a:bodyPr/>
          <a:lstStyle/>
          <a:p>
            <a:pPr algn="just"/>
            <a:endParaRPr lang="en-US" sz="2400" dirty="0" smtClean="0"/>
          </a:p>
          <a:p>
            <a:pPr algn="just"/>
            <a:r>
              <a:rPr lang="en-US" sz="2400" dirty="0" smtClean="0"/>
              <a:t>A</a:t>
            </a:r>
            <a:r>
              <a:rPr lang="en-US" sz="2400" dirty="0"/>
              <a:t> </a:t>
            </a:r>
            <a:r>
              <a:rPr lang="en-US" sz="2400" b="1" dirty="0"/>
              <a:t>microcontroller</a:t>
            </a:r>
            <a:r>
              <a:rPr lang="en-US" sz="2400" dirty="0"/>
              <a:t> is a small and low-cost microcomputer, which is designed to perform the specific tasks of embedded systems like displaying microwave’s information, receiving remote signals, etc.</a:t>
            </a:r>
          </a:p>
          <a:p>
            <a:pPr algn="just"/>
            <a:endParaRPr lang="en-US" sz="2400" dirty="0" smtClean="0"/>
          </a:p>
          <a:p>
            <a:pPr algn="just"/>
            <a:r>
              <a:rPr lang="en-US" sz="2400" dirty="0" smtClean="0"/>
              <a:t>The </a:t>
            </a:r>
            <a:r>
              <a:rPr lang="en-US" sz="2400" dirty="0"/>
              <a:t>general microcontroller consists of the processor, the memory (RAM, ROM, EPROM), Serial ports, peripherals (timers, counters), </a:t>
            </a:r>
            <a:r>
              <a:rPr lang="en-US" sz="2400" dirty="0" smtClean="0"/>
              <a:t>etc.</a:t>
            </a: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Tree>
    <p:extLst>
      <p:ext uri="{BB962C8B-B14F-4D97-AF65-F5344CB8AC3E}">
        <p14:creationId xmlns:p14="http://schemas.microsoft.com/office/powerpoint/2010/main" val="3669650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Difference between Microprocessor and Microcontroller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277653458"/>
              </p:ext>
            </p:extLst>
          </p:nvPr>
        </p:nvGraphicFramePr>
        <p:xfrm>
          <a:off x="284480" y="1056638"/>
          <a:ext cx="8554720" cy="5486401"/>
        </p:xfrm>
        <a:graphic>
          <a:graphicData uri="http://schemas.openxmlformats.org/drawingml/2006/table">
            <a:tbl>
              <a:tblPr/>
              <a:tblGrid>
                <a:gridCol w="4270383"/>
                <a:gridCol w="4284337"/>
              </a:tblGrid>
              <a:tr h="544106">
                <a:tc>
                  <a:txBody>
                    <a:bodyPr/>
                    <a:lstStyle/>
                    <a:p>
                      <a:pPr algn="ctr"/>
                      <a:r>
                        <a:rPr lang="en-US" b="1" dirty="0">
                          <a:effectLst/>
                          <a:latin typeface="inherit"/>
                        </a:rPr>
                        <a:t>Microcontroller</a:t>
                      </a:r>
                    </a:p>
                  </a:txBody>
                  <a:tcPr marL="76200" marR="76200" marT="76200" marB="76200" anchor="ctr">
                    <a:lnL>
                      <a:noFill/>
                    </a:lnL>
                    <a:lnR>
                      <a:noFill/>
                    </a:lnR>
                    <a:lnT>
                      <a:noFill/>
                    </a:lnT>
                    <a:lnB>
                      <a:noFill/>
                    </a:lnB>
                    <a:solidFill>
                      <a:srgbClr val="FFFFFF"/>
                    </a:solidFill>
                  </a:tcPr>
                </a:tc>
                <a:tc>
                  <a:txBody>
                    <a:bodyPr/>
                    <a:lstStyle/>
                    <a:p>
                      <a:pPr algn="ctr"/>
                      <a:r>
                        <a:rPr lang="en-US" b="1">
                          <a:effectLst/>
                          <a:latin typeface="inherit"/>
                        </a:rPr>
                        <a:t>Microprocessor</a:t>
                      </a:r>
                    </a:p>
                  </a:txBody>
                  <a:tcPr marL="76200" marR="76200" marT="76200" marB="76200" anchor="ctr">
                    <a:lnL>
                      <a:noFill/>
                    </a:lnL>
                    <a:lnR>
                      <a:noFill/>
                    </a:lnR>
                    <a:lnT>
                      <a:noFill/>
                    </a:lnT>
                    <a:lnB>
                      <a:noFill/>
                    </a:lnB>
                    <a:solidFill>
                      <a:srgbClr val="FFFFFF"/>
                    </a:solidFill>
                  </a:tcPr>
                </a:tc>
              </a:tr>
              <a:tr h="1178896">
                <a:tc>
                  <a:txBody>
                    <a:bodyPr/>
                    <a:lstStyle/>
                    <a:p>
                      <a:pPr algn="l"/>
                      <a:r>
                        <a:rPr lang="en-US" dirty="0">
                          <a:effectLst/>
                        </a:rPr>
                        <a:t>Microcontrollers are used to execute a single task within an application.</a:t>
                      </a:r>
                    </a:p>
                  </a:txBody>
                  <a:tcPr marL="76200" marR="76200" marT="76200" marB="76200" anchor="ctr">
                    <a:lnL>
                      <a:noFill/>
                    </a:lnL>
                    <a:lnR>
                      <a:noFill/>
                    </a:lnR>
                    <a:lnT>
                      <a:noFill/>
                    </a:lnT>
                    <a:lnB>
                      <a:noFill/>
                    </a:lnB>
                    <a:solidFill>
                      <a:srgbClr val="FFFFFF"/>
                    </a:solidFill>
                  </a:tcPr>
                </a:tc>
                <a:tc>
                  <a:txBody>
                    <a:bodyPr/>
                    <a:lstStyle/>
                    <a:p>
                      <a:pPr algn="l"/>
                      <a:r>
                        <a:rPr lang="en-US">
                          <a:effectLst/>
                        </a:rPr>
                        <a:t>Microprocessors are used for big applications.</a:t>
                      </a:r>
                    </a:p>
                  </a:txBody>
                  <a:tcPr marL="76200" marR="76200" marT="76200" marB="76200" anchor="ctr">
                    <a:lnL>
                      <a:noFill/>
                    </a:lnL>
                    <a:lnR>
                      <a:noFill/>
                    </a:lnR>
                    <a:lnT>
                      <a:noFill/>
                    </a:lnT>
                    <a:lnB>
                      <a:noFill/>
                    </a:lnB>
                    <a:solidFill>
                      <a:srgbClr val="FFFFFF"/>
                    </a:solidFill>
                  </a:tcPr>
                </a:tc>
              </a:tr>
              <a:tr h="861501">
                <a:tc>
                  <a:txBody>
                    <a:bodyPr/>
                    <a:lstStyle/>
                    <a:p>
                      <a:pPr algn="l"/>
                      <a:r>
                        <a:rPr lang="en-US">
                          <a:effectLst/>
                        </a:rPr>
                        <a:t>Its designing and hardware cost is low.</a:t>
                      </a:r>
                    </a:p>
                  </a:txBody>
                  <a:tcPr marL="76200" marR="76200" marT="76200" marB="76200" anchor="ctr">
                    <a:lnL>
                      <a:noFill/>
                    </a:lnL>
                    <a:lnR>
                      <a:noFill/>
                    </a:lnR>
                    <a:lnT>
                      <a:noFill/>
                    </a:lnT>
                    <a:lnB>
                      <a:noFill/>
                    </a:lnB>
                    <a:solidFill>
                      <a:srgbClr val="FFFFFF"/>
                    </a:solidFill>
                  </a:tcPr>
                </a:tc>
                <a:tc>
                  <a:txBody>
                    <a:bodyPr/>
                    <a:lstStyle/>
                    <a:p>
                      <a:pPr algn="l"/>
                      <a:r>
                        <a:rPr lang="en-US">
                          <a:effectLst/>
                        </a:rPr>
                        <a:t>Its designing and hardware cost is high.</a:t>
                      </a:r>
                    </a:p>
                  </a:txBody>
                  <a:tcPr marL="76200" marR="76200" marT="76200" marB="76200" anchor="ctr">
                    <a:lnL>
                      <a:noFill/>
                    </a:lnL>
                    <a:lnR>
                      <a:noFill/>
                    </a:lnR>
                    <a:lnT>
                      <a:noFill/>
                    </a:lnT>
                    <a:lnB>
                      <a:noFill/>
                    </a:lnB>
                    <a:solidFill>
                      <a:srgbClr val="FFFFFF"/>
                    </a:solidFill>
                  </a:tcPr>
                </a:tc>
              </a:tr>
              <a:tr h="544106">
                <a:tc>
                  <a:txBody>
                    <a:bodyPr/>
                    <a:lstStyle/>
                    <a:p>
                      <a:pPr algn="l"/>
                      <a:r>
                        <a:rPr lang="en-US">
                          <a:effectLst/>
                        </a:rPr>
                        <a:t>Easy to replace.</a:t>
                      </a:r>
                    </a:p>
                  </a:txBody>
                  <a:tcPr marL="76200" marR="76200" marT="76200" marB="76200" anchor="ctr">
                    <a:lnL>
                      <a:noFill/>
                    </a:lnL>
                    <a:lnR>
                      <a:noFill/>
                    </a:lnR>
                    <a:lnT>
                      <a:noFill/>
                    </a:lnT>
                    <a:lnB>
                      <a:noFill/>
                    </a:lnB>
                    <a:solidFill>
                      <a:srgbClr val="FFFFFF"/>
                    </a:solidFill>
                  </a:tcPr>
                </a:tc>
                <a:tc>
                  <a:txBody>
                    <a:bodyPr/>
                    <a:lstStyle/>
                    <a:p>
                      <a:pPr algn="l"/>
                      <a:r>
                        <a:rPr lang="en-US">
                          <a:effectLst/>
                        </a:rPr>
                        <a:t>Not so easy to replace.</a:t>
                      </a:r>
                    </a:p>
                  </a:txBody>
                  <a:tcPr marL="76200" marR="76200" marT="76200" marB="76200" anchor="ctr">
                    <a:lnL>
                      <a:noFill/>
                    </a:lnL>
                    <a:lnR>
                      <a:noFill/>
                    </a:lnR>
                    <a:lnT>
                      <a:noFill/>
                    </a:lnT>
                    <a:lnB>
                      <a:noFill/>
                    </a:lnB>
                    <a:solidFill>
                      <a:srgbClr val="FFFFFF"/>
                    </a:solidFill>
                  </a:tcPr>
                </a:tc>
              </a:tr>
              <a:tr h="1178896">
                <a:tc>
                  <a:txBody>
                    <a:bodyPr/>
                    <a:lstStyle/>
                    <a:p>
                      <a:pPr algn="l"/>
                      <a:r>
                        <a:rPr lang="en-US">
                          <a:effectLst/>
                        </a:rPr>
                        <a:t>It is built with CMOS technology, which requires less power to operate.</a:t>
                      </a:r>
                    </a:p>
                  </a:txBody>
                  <a:tcPr marL="76200" marR="76200" marT="76200" marB="76200" anchor="ctr">
                    <a:lnL>
                      <a:noFill/>
                    </a:lnL>
                    <a:lnR>
                      <a:noFill/>
                    </a:lnR>
                    <a:lnT>
                      <a:noFill/>
                    </a:lnT>
                    <a:lnB>
                      <a:noFill/>
                    </a:lnB>
                    <a:solidFill>
                      <a:srgbClr val="FFFFFF"/>
                    </a:solidFill>
                  </a:tcPr>
                </a:tc>
                <a:tc>
                  <a:txBody>
                    <a:bodyPr/>
                    <a:lstStyle/>
                    <a:p>
                      <a:pPr algn="l"/>
                      <a:r>
                        <a:rPr lang="en-US">
                          <a:effectLst/>
                        </a:rPr>
                        <a:t>Its power consumption is high because it has to control the entire system.</a:t>
                      </a:r>
                    </a:p>
                  </a:txBody>
                  <a:tcPr marL="76200" marR="76200" marT="76200" marB="76200" anchor="ctr">
                    <a:lnL>
                      <a:noFill/>
                    </a:lnL>
                    <a:lnR>
                      <a:noFill/>
                    </a:lnR>
                    <a:lnT>
                      <a:noFill/>
                    </a:lnT>
                    <a:lnB>
                      <a:noFill/>
                    </a:lnB>
                    <a:solidFill>
                      <a:srgbClr val="FFFFFF"/>
                    </a:solidFill>
                  </a:tcPr>
                </a:tc>
              </a:tr>
              <a:tr h="1178896">
                <a:tc>
                  <a:txBody>
                    <a:bodyPr/>
                    <a:lstStyle/>
                    <a:p>
                      <a:pPr algn="l"/>
                      <a:r>
                        <a:rPr lang="en-US">
                          <a:effectLst/>
                        </a:rPr>
                        <a:t>It consists of CPU, RAM, ROM, I/O ports.</a:t>
                      </a:r>
                    </a:p>
                  </a:txBody>
                  <a:tcPr marL="76200" marR="76200" marT="76200" marB="76200" anchor="ctr">
                    <a:lnL>
                      <a:noFill/>
                    </a:lnL>
                    <a:lnR>
                      <a:noFill/>
                    </a:lnR>
                    <a:lnT>
                      <a:noFill/>
                    </a:lnT>
                    <a:lnB>
                      <a:noFill/>
                    </a:lnB>
                    <a:solidFill>
                      <a:srgbClr val="FFFFFF"/>
                    </a:solidFill>
                  </a:tcPr>
                </a:tc>
                <a:tc>
                  <a:txBody>
                    <a:bodyPr/>
                    <a:lstStyle/>
                    <a:p>
                      <a:pPr algn="l"/>
                      <a:r>
                        <a:rPr lang="en-US" dirty="0">
                          <a:effectLst/>
                        </a:rPr>
                        <a:t>It doesn’t consist of RAM, ROM, I/O ports. It uses its pins to interface to peripheral devices.</a:t>
                      </a:r>
                    </a:p>
                  </a:txBody>
                  <a:tcPr marL="76200" marR="76200" marT="76200" marB="76200"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1629427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Microcontrollers</a:t>
            </a:r>
          </a:p>
        </p:txBody>
      </p:sp>
      <p:sp>
        <p:nvSpPr>
          <p:cNvPr id="3" name="Text Placeholder 2"/>
          <p:cNvSpPr>
            <a:spLocks noGrp="1"/>
          </p:cNvSpPr>
          <p:nvPr>
            <p:ph type="body" idx="1"/>
          </p:nvPr>
        </p:nvSpPr>
        <p:spPr>
          <a:xfrm>
            <a:off x="-1" y="1245870"/>
            <a:ext cx="9026013" cy="5110480"/>
          </a:xfrm>
        </p:spPr>
        <p:txBody>
          <a:bodyPr/>
          <a:lstStyle/>
          <a:p>
            <a:pPr marL="114300" indent="0" algn="just">
              <a:buNone/>
            </a:pPr>
            <a:r>
              <a:rPr lang="en-US" sz="2400" b="1" dirty="0" smtClean="0"/>
              <a:t>Bit: </a:t>
            </a:r>
            <a:r>
              <a:rPr lang="en-US" sz="2400" dirty="0" smtClean="0"/>
              <a:t>Based </a:t>
            </a:r>
            <a:r>
              <a:rPr lang="en-US" sz="2400" dirty="0"/>
              <a:t>on bit configuration, the microcontroller is further divided into three categories.</a:t>
            </a:r>
          </a:p>
          <a:p>
            <a:pPr algn="just"/>
            <a:r>
              <a:rPr lang="en-US" sz="2400" b="1" dirty="0"/>
              <a:t>8-bit microcontroller</a:t>
            </a:r>
            <a:r>
              <a:rPr lang="en-US" sz="2400" dirty="0"/>
              <a:t> − This type of microcontroller is used to execute arithmetic and logical operations like addition, subtraction, multiplication division, etc. For example, Intel 8031 and 8051 are 8 bits microcontroller.</a:t>
            </a:r>
          </a:p>
          <a:p>
            <a:pPr algn="just"/>
            <a:r>
              <a:rPr lang="en-US" sz="2400" b="1" dirty="0"/>
              <a:t>16-bit microcontroller</a:t>
            </a:r>
            <a:r>
              <a:rPr lang="en-US" sz="2400" dirty="0"/>
              <a:t> − This type of microcontroller is used to perform arithmetic and logical operations where higher accuracy and performance is required. For example, Intel 8096 is a 16-bit microcontroller.</a:t>
            </a:r>
          </a:p>
          <a:p>
            <a:pPr algn="just"/>
            <a:r>
              <a:rPr lang="en-US" sz="2400" b="1" dirty="0"/>
              <a:t>32-bit microcontroller</a:t>
            </a:r>
            <a:r>
              <a:rPr lang="en-US" sz="2400" dirty="0"/>
              <a:t> − This type of microcontroller is generally used in automatically controlled appliances like automatic operational machines, medical appliances, etc.</a:t>
            </a:r>
          </a:p>
          <a:p>
            <a:pPr algn="just"/>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Tree>
    <p:extLst>
      <p:ext uri="{BB962C8B-B14F-4D97-AF65-F5344CB8AC3E}">
        <p14:creationId xmlns:p14="http://schemas.microsoft.com/office/powerpoint/2010/main" val="4186698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Microcontrollers</a:t>
            </a:r>
          </a:p>
        </p:txBody>
      </p:sp>
      <p:sp>
        <p:nvSpPr>
          <p:cNvPr id="3" name="Text Placeholder 2"/>
          <p:cNvSpPr>
            <a:spLocks noGrp="1"/>
          </p:cNvSpPr>
          <p:nvPr>
            <p:ph type="body" idx="1"/>
          </p:nvPr>
        </p:nvSpPr>
        <p:spPr>
          <a:xfrm>
            <a:off x="-1" y="1245870"/>
            <a:ext cx="9026013" cy="5110480"/>
          </a:xfrm>
        </p:spPr>
        <p:txBody>
          <a:bodyPr/>
          <a:lstStyle/>
          <a:p>
            <a:pPr marL="114300" indent="0" algn="just">
              <a:buNone/>
            </a:pPr>
            <a:r>
              <a:rPr lang="en-US" sz="2400" b="1" dirty="0" smtClean="0"/>
              <a:t>Memory: </a:t>
            </a:r>
            <a:r>
              <a:rPr lang="en-US" sz="2400" dirty="0" smtClean="0"/>
              <a:t>Based </a:t>
            </a:r>
            <a:r>
              <a:rPr lang="en-US" sz="2400" dirty="0"/>
              <a:t>on the memory configuration, the microcontroller is further divided into two categories.</a:t>
            </a:r>
          </a:p>
          <a:p>
            <a:pPr algn="just"/>
            <a:endParaRPr lang="en-US" sz="2400" b="1" dirty="0" smtClean="0"/>
          </a:p>
          <a:p>
            <a:pPr algn="just"/>
            <a:r>
              <a:rPr lang="en-US" sz="2400" b="1" dirty="0" smtClean="0"/>
              <a:t>External </a:t>
            </a:r>
            <a:r>
              <a:rPr lang="en-US" sz="2400" b="1" dirty="0"/>
              <a:t>memory microcontroller</a:t>
            </a:r>
            <a:r>
              <a:rPr lang="en-US" sz="2400" dirty="0"/>
              <a:t> − This type of microcontroller is designed in such a way that they do not have a program memory on the chip. Hence, it is named as external memory microcontroller. For example: Intel 8031 microcontroller.</a:t>
            </a:r>
          </a:p>
          <a:p>
            <a:pPr algn="just"/>
            <a:r>
              <a:rPr lang="en-US" sz="2400" b="1" dirty="0"/>
              <a:t>Embedded memory microcontroller</a:t>
            </a:r>
            <a:r>
              <a:rPr lang="en-US" sz="2400" dirty="0"/>
              <a:t> − This type of microcontroller is designed in such a way that the microcontroller has all programs and data memory, counters and timers, interrupts, I/O ports are embedded on the chip. For example: Intel 8051 microcontroller.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Tree>
    <p:extLst>
      <p:ext uri="{BB962C8B-B14F-4D97-AF65-F5344CB8AC3E}">
        <p14:creationId xmlns:p14="http://schemas.microsoft.com/office/powerpoint/2010/main" val="1717032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Microcontrollers</a:t>
            </a:r>
          </a:p>
        </p:txBody>
      </p:sp>
      <p:sp>
        <p:nvSpPr>
          <p:cNvPr id="3" name="Text Placeholder 2"/>
          <p:cNvSpPr>
            <a:spLocks noGrp="1"/>
          </p:cNvSpPr>
          <p:nvPr>
            <p:ph type="body" idx="1"/>
          </p:nvPr>
        </p:nvSpPr>
        <p:spPr>
          <a:xfrm>
            <a:off x="-1" y="1245870"/>
            <a:ext cx="9026013" cy="5110480"/>
          </a:xfrm>
        </p:spPr>
        <p:txBody>
          <a:bodyPr/>
          <a:lstStyle/>
          <a:p>
            <a:pPr marL="114300" indent="0" algn="just">
              <a:buNone/>
            </a:pPr>
            <a:r>
              <a:rPr lang="en-US" sz="2400" b="1" dirty="0"/>
              <a:t>I</a:t>
            </a:r>
            <a:r>
              <a:rPr lang="en-US" sz="2400" b="1" dirty="0" smtClean="0"/>
              <a:t>nstruction Set: </a:t>
            </a:r>
            <a:r>
              <a:rPr lang="en-US" sz="2400" dirty="0" smtClean="0"/>
              <a:t>Based </a:t>
            </a:r>
            <a:r>
              <a:rPr lang="en-US" sz="2400" dirty="0"/>
              <a:t>on the instruction set configuration, the microcontroller is further divided into two categories</a:t>
            </a:r>
            <a:r>
              <a:rPr lang="en-US" sz="2400" dirty="0" smtClean="0"/>
              <a:t>.</a:t>
            </a:r>
          </a:p>
          <a:p>
            <a:pPr marL="114300" indent="0" algn="just">
              <a:buNone/>
            </a:pPr>
            <a:endParaRPr lang="en-US" sz="2400" dirty="0"/>
          </a:p>
          <a:p>
            <a:pPr algn="just"/>
            <a:r>
              <a:rPr lang="en-US" sz="2400" b="1" dirty="0"/>
              <a:t>CISC</a:t>
            </a:r>
            <a:r>
              <a:rPr lang="en-US" sz="2400" dirty="0"/>
              <a:t> − CISC stands for complex instruction set computer. It allows the user to insert a single instruction as an alternative to many simple instructions.</a:t>
            </a:r>
          </a:p>
          <a:p>
            <a:pPr algn="just"/>
            <a:r>
              <a:rPr lang="en-US" sz="2400" b="1" dirty="0"/>
              <a:t>RISC</a:t>
            </a:r>
            <a:r>
              <a:rPr lang="en-US" sz="2400" dirty="0"/>
              <a:t> − RISC stands for Reduced Instruction Set Computers. It reduces the operational time by shortening the clock cycle per instruction.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extLst>
      <p:ext uri="{BB962C8B-B14F-4D97-AF65-F5344CB8AC3E}">
        <p14:creationId xmlns:p14="http://schemas.microsoft.com/office/powerpoint/2010/main" val="14753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Microcontrollers</a:t>
            </a:r>
          </a:p>
        </p:txBody>
      </p:sp>
      <p:sp>
        <p:nvSpPr>
          <p:cNvPr id="3" name="Text Placeholder 2"/>
          <p:cNvSpPr>
            <a:spLocks noGrp="1"/>
          </p:cNvSpPr>
          <p:nvPr>
            <p:ph type="body" idx="1"/>
          </p:nvPr>
        </p:nvSpPr>
        <p:spPr>
          <a:xfrm>
            <a:off x="-1" y="1245870"/>
            <a:ext cx="9026013" cy="5110480"/>
          </a:xfrm>
        </p:spPr>
        <p:txBody>
          <a:bodyPr/>
          <a:lstStyle/>
          <a:p>
            <a:pPr marL="114300" indent="0" algn="just">
              <a:buNone/>
            </a:pPr>
            <a:r>
              <a:rPr lang="en-US" sz="2400" dirty="0"/>
              <a:t>Microcontrollers are widely used in various different devices such as −</a:t>
            </a:r>
          </a:p>
          <a:p>
            <a:pPr algn="just"/>
            <a:endParaRPr lang="en-US" sz="2400" dirty="0" smtClean="0"/>
          </a:p>
          <a:p>
            <a:pPr algn="just"/>
            <a:r>
              <a:rPr lang="en-US" sz="2400" dirty="0" smtClean="0"/>
              <a:t>Light </a:t>
            </a:r>
            <a:r>
              <a:rPr lang="en-US" sz="2400" dirty="0"/>
              <a:t>sensing and controlling devices like LED.</a:t>
            </a:r>
          </a:p>
          <a:p>
            <a:pPr algn="just"/>
            <a:r>
              <a:rPr lang="en-US" sz="2400" dirty="0"/>
              <a:t>Temperature sensing and controlling devices like microwave oven, chimneys.</a:t>
            </a:r>
          </a:p>
          <a:p>
            <a:pPr algn="just"/>
            <a:r>
              <a:rPr lang="en-US" sz="2400" dirty="0"/>
              <a:t>Fire detection and safety devices like Fire alarm.</a:t>
            </a:r>
          </a:p>
          <a:p>
            <a:pPr algn="just"/>
            <a:r>
              <a:rPr lang="en-US" sz="2400" dirty="0"/>
              <a:t>Measuring devices like Volt Meter.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extLst>
      <p:ext uri="{BB962C8B-B14F-4D97-AF65-F5344CB8AC3E}">
        <p14:creationId xmlns:p14="http://schemas.microsoft.com/office/powerpoint/2010/main" val="3471939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Architecture</a:t>
            </a:r>
          </a:p>
        </p:txBody>
      </p:sp>
      <p:sp>
        <p:nvSpPr>
          <p:cNvPr id="3" name="Text Placeholder 2"/>
          <p:cNvSpPr>
            <a:spLocks noGrp="1"/>
          </p:cNvSpPr>
          <p:nvPr>
            <p:ph type="body" idx="1"/>
          </p:nvPr>
        </p:nvSpPr>
        <p:spPr>
          <a:xfrm>
            <a:off x="-1" y="1245870"/>
            <a:ext cx="9026013" cy="5110480"/>
          </a:xfrm>
        </p:spPr>
        <p:txBody>
          <a:bodyPr/>
          <a:lstStyle/>
          <a:p>
            <a:pPr algn="just"/>
            <a:r>
              <a:rPr lang="en-US" sz="2400" dirty="0"/>
              <a:t>8051 microcontroller is designed by Intel in 1981. It is an 8-bit microcontroller. </a:t>
            </a:r>
            <a:endParaRPr lang="en-US" sz="2400" dirty="0" smtClean="0"/>
          </a:p>
          <a:p>
            <a:pPr algn="just"/>
            <a:r>
              <a:rPr lang="en-US" sz="2400" dirty="0" smtClean="0"/>
              <a:t>It </a:t>
            </a:r>
            <a:r>
              <a:rPr lang="en-US" sz="2400" dirty="0"/>
              <a:t>is built with 40 pins DIP (dual inline package), 4kb of ROM storage and 128 bytes of RAM storage, 2 16-bit timers. </a:t>
            </a:r>
            <a:endParaRPr lang="en-US" sz="2400" dirty="0" smtClean="0"/>
          </a:p>
          <a:p>
            <a:pPr algn="just"/>
            <a:r>
              <a:rPr lang="en-US" sz="2400" dirty="0" smtClean="0"/>
              <a:t>It </a:t>
            </a:r>
            <a:r>
              <a:rPr lang="en-US" sz="2400" dirty="0"/>
              <a:t>consists of are four parallel 8-bit ports, which are programmable as well as addressable as per the requirement. </a:t>
            </a:r>
            <a:endParaRPr lang="en-US" sz="2400" dirty="0" smtClean="0"/>
          </a:p>
          <a:p>
            <a:pPr algn="just"/>
            <a:r>
              <a:rPr lang="en-US" sz="2400" dirty="0" smtClean="0"/>
              <a:t>An </a:t>
            </a:r>
            <a:r>
              <a:rPr lang="en-US" sz="2400" dirty="0"/>
              <a:t>on-chip crystal oscillator is integrated in the microcontroller having crystal frequency of 12 </a:t>
            </a:r>
            <a:r>
              <a:rPr lang="en-US" sz="2400" dirty="0" err="1"/>
              <a:t>MHz.</a:t>
            </a: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Tree>
    <p:extLst>
      <p:ext uri="{BB962C8B-B14F-4D97-AF65-F5344CB8AC3E}">
        <p14:creationId xmlns:p14="http://schemas.microsoft.com/office/powerpoint/2010/main" val="213572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Architecture</a:t>
            </a:r>
          </a:p>
        </p:txBody>
      </p:sp>
      <p:sp>
        <p:nvSpPr>
          <p:cNvPr id="3" name="Text Placeholder 2"/>
          <p:cNvSpPr>
            <a:spLocks noGrp="1"/>
          </p:cNvSpPr>
          <p:nvPr>
            <p:ph type="body" idx="1"/>
          </p:nvPr>
        </p:nvSpPr>
        <p:spPr>
          <a:xfrm>
            <a:off x="-1" y="1245870"/>
            <a:ext cx="4592321" cy="5110480"/>
          </a:xfrm>
        </p:spPr>
        <p:txBody>
          <a:bodyPr/>
          <a:lstStyle/>
          <a:p>
            <a:pPr algn="just"/>
            <a:r>
              <a:rPr lang="en-US" sz="2400" dirty="0"/>
              <a:t>T</a:t>
            </a:r>
            <a:r>
              <a:rPr lang="en-US" sz="2400" dirty="0" smtClean="0"/>
              <a:t>he </a:t>
            </a:r>
            <a:r>
              <a:rPr lang="en-US" sz="2400" dirty="0"/>
              <a:t>system bus connects all the support devices to the </a:t>
            </a:r>
            <a:r>
              <a:rPr lang="en-US" sz="2400" dirty="0" smtClean="0"/>
              <a:t>CPU.</a:t>
            </a:r>
          </a:p>
          <a:p>
            <a:pPr algn="just"/>
            <a:r>
              <a:rPr lang="en-US" sz="2400" dirty="0" smtClean="0"/>
              <a:t>The </a:t>
            </a:r>
            <a:r>
              <a:rPr lang="en-US" sz="2400" dirty="0"/>
              <a:t>system bus consists of an 8-bit data bus, a 16-bit address bus and bus control signals. </a:t>
            </a:r>
            <a:endParaRPr lang="en-US" sz="2400" dirty="0" smtClean="0"/>
          </a:p>
          <a:p>
            <a:pPr algn="just"/>
            <a:r>
              <a:rPr lang="en-US" sz="2400" dirty="0" smtClean="0"/>
              <a:t>All </a:t>
            </a:r>
            <a:r>
              <a:rPr lang="en-US" sz="2400" dirty="0"/>
              <a:t>other devices like program memory, ports, data memory, serial interface, interrupt control, timers, and the CPU are all interfaced together through the system bus.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pic>
        <p:nvPicPr>
          <p:cNvPr id="2050" name="Picture 2" descr="8051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4880" y="1137920"/>
            <a:ext cx="4389120" cy="5323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055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Pin Description</a:t>
            </a:r>
          </a:p>
        </p:txBody>
      </p:sp>
      <p:sp>
        <p:nvSpPr>
          <p:cNvPr id="3" name="Text Placeholder 2"/>
          <p:cNvSpPr>
            <a:spLocks noGrp="1"/>
          </p:cNvSpPr>
          <p:nvPr>
            <p:ph type="body" idx="1"/>
          </p:nvPr>
        </p:nvSpPr>
        <p:spPr>
          <a:xfrm>
            <a:off x="-1" y="792480"/>
            <a:ext cx="4848226" cy="5913120"/>
          </a:xfrm>
        </p:spPr>
        <p:txBody>
          <a:bodyPr/>
          <a:lstStyle/>
          <a:p>
            <a:pPr algn="just"/>
            <a:r>
              <a:rPr lang="en-US" sz="2400" b="1" dirty="0"/>
              <a:t>Pins 1 to 8</a:t>
            </a:r>
            <a:r>
              <a:rPr lang="en-US" sz="2400" dirty="0"/>
              <a:t> − These pins are known as Port 1. This port doesn’t serve any other functions. It is internally pulled up, bi-directional I/O port.</a:t>
            </a:r>
          </a:p>
          <a:p>
            <a:pPr algn="just"/>
            <a:r>
              <a:rPr lang="en-US" sz="2400" b="1" dirty="0"/>
              <a:t>Pin 9</a:t>
            </a:r>
            <a:r>
              <a:rPr lang="en-US" sz="2400" dirty="0"/>
              <a:t> − It is a RESET pin, which is used to reset the microcontroller to its initial values.</a:t>
            </a:r>
          </a:p>
          <a:p>
            <a:pPr algn="just"/>
            <a:r>
              <a:rPr lang="en-US" sz="2400" b="1" dirty="0"/>
              <a:t>Pins 10 to 17</a:t>
            </a:r>
            <a:r>
              <a:rPr lang="en-US" sz="2400" dirty="0"/>
              <a:t> − These pins are known as Port 3. This port serves some functions like interrupts, timer input, control signals, serial communication signals </a:t>
            </a:r>
            <a:r>
              <a:rPr lang="en-US" sz="2400" dirty="0" err="1"/>
              <a:t>RxD</a:t>
            </a:r>
            <a:r>
              <a:rPr lang="en-US" sz="2400" dirty="0"/>
              <a:t> and </a:t>
            </a:r>
            <a:r>
              <a:rPr lang="en-US" sz="2400" dirty="0" err="1"/>
              <a:t>TxD</a:t>
            </a:r>
            <a:r>
              <a:rPr lang="en-US" sz="2400" dirty="0"/>
              <a:t>, etc</a:t>
            </a:r>
            <a:r>
              <a:rPr lang="en-US" sz="2400" dirty="0" smtClean="0"/>
              <a:t>.</a:t>
            </a: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pic>
        <p:nvPicPr>
          <p:cNvPr id="3074" name="Picture 2" descr="8051 Pi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8225" y="792480"/>
            <a:ext cx="4295775" cy="591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3593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Pin Description</a:t>
            </a:r>
          </a:p>
        </p:txBody>
      </p:sp>
      <p:sp>
        <p:nvSpPr>
          <p:cNvPr id="3" name="Text Placeholder 2"/>
          <p:cNvSpPr>
            <a:spLocks noGrp="1"/>
          </p:cNvSpPr>
          <p:nvPr>
            <p:ph type="body" idx="1"/>
          </p:nvPr>
        </p:nvSpPr>
        <p:spPr>
          <a:xfrm>
            <a:off x="-1" y="792480"/>
            <a:ext cx="4848226" cy="5913120"/>
          </a:xfrm>
        </p:spPr>
        <p:txBody>
          <a:bodyPr/>
          <a:lstStyle/>
          <a:p>
            <a:pPr algn="just"/>
            <a:r>
              <a:rPr lang="en-US" sz="2400" b="1" dirty="0"/>
              <a:t>Pins 18 &amp; 19</a:t>
            </a:r>
            <a:r>
              <a:rPr lang="en-US" sz="2400" dirty="0"/>
              <a:t> − These pins are used for interfacing an external crystal to get the system clock.</a:t>
            </a:r>
          </a:p>
          <a:p>
            <a:pPr algn="just"/>
            <a:r>
              <a:rPr lang="en-US" sz="2400" b="1" dirty="0"/>
              <a:t>Pin 20</a:t>
            </a:r>
            <a:r>
              <a:rPr lang="en-US" sz="2400" dirty="0"/>
              <a:t> − This pin provides the power supply to the circuit.</a:t>
            </a:r>
          </a:p>
          <a:p>
            <a:pPr algn="just"/>
            <a:r>
              <a:rPr lang="en-US" sz="2400" b="1" dirty="0"/>
              <a:t>Pins 21 to 28</a:t>
            </a:r>
            <a:r>
              <a:rPr lang="en-US" sz="2400" dirty="0"/>
              <a:t> − These pins are known as Port 2. It serves as I/O port. Higher order address bus signals are also multiplexed using this port.</a:t>
            </a:r>
          </a:p>
          <a:p>
            <a:pPr algn="just"/>
            <a:r>
              <a:rPr lang="en-US" sz="2400" b="1" dirty="0"/>
              <a:t>Pin 29</a:t>
            </a:r>
            <a:r>
              <a:rPr lang="en-US" sz="2400" dirty="0"/>
              <a:t> − This is PSEN pin which stands for Program Store Enable. It is used to read a signal from the external program memory</a:t>
            </a:r>
            <a:r>
              <a:rPr lang="en-US" sz="2400" dirty="0" smtClean="0"/>
              <a:t>.</a:t>
            </a: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pic>
        <p:nvPicPr>
          <p:cNvPr id="3074" name="Picture 2" descr="8051 Pi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8225" y="792480"/>
            <a:ext cx="4295775" cy="591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8790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Pin Description</a:t>
            </a:r>
          </a:p>
        </p:txBody>
      </p:sp>
      <p:sp>
        <p:nvSpPr>
          <p:cNvPr id="3" name="Text Placeholder 2"/>
          <p:cNvSpPr>
            <a:spLocks noGrp="1"/>
          </p:cNvSpPr>
          <p:nvPr>
            <p:ph type="body" idx="1"/>
          </p:nvPr>
        </p:nvSpPr>
        <p:spPr>
          <a:xfrm>
            <a:off x="-1" y="792480"/>
            <a:ext cx="4848226" cy="5913120"/>
          </a:xfrm>
        </p:spPr>
        <p:txBody>
          <a:bodyPr/>
          <a:lstStyle/>
          <a:p>
            <a:pPr algn="just"/>
            <a:r>
              <a:rPr lang="en-US" sz="2400" b="1" dirty="0" smtClean="0"/>
              <a:t>Pin </a:t>
            </a:r>
            <a:r>
              <a:rPr lang="en-US" sz="2400" b="1" dirty="0"/>
              <a:t>30</a:t>
            </a:r>
            <a:r>
              <a:rPr lang="en-US" sz="2400" dirty="0"/>
              <a:t> − This is EA pin which stands for External Access input. It is used to enable/disable the external memory interfacing.</a:t>
            </a:r>
          </a:p>
          <a:p>
            <a:pPr algn="just"/>
            <a:r>
              <a:rPr lang="en-US" sz="2400" b="1" dirty="0"/>
              <a:t>Pin 31</a:t>
            </a:r>
            <a:r>
              <a:rPr lang="en-US" sz="2400" dirty="0"/>
              <a:t> − This is ALE pin which stands for Address Latch Enable. It is used to </a:t>
            </a:r>
            <a:r>
              <a:rPr lang="en-US" sz="2400" dirty="0" err="1"/>
              <a:t>demultiplex</a:t>
            </a:r>
            <a:r>
              <a:rPr lang="en-US" sz="2400" dirty="0"/>
              <a:t> the address-data signal of port.</a:t>
            </a:r>
          </a:p>
          <a:p>
            <a:pPr algn="just"/>
            <a:r>
              <a:rPr lang="en-US" sz="2400" b="1" dirty="0"/>
              <a:t>Pins 32 to 39</a:t>
            </a:r>
            <a:r>
              <a:rPr lang="en-US" sz="2400" dirty="0"/>
              <a:t> − These pins are known as Port 0. It serves as I/O port. Lower order address and data bus signals are multiplexed using this port.</a:t>
            </a:r>
          </a:p>
          <a:p>
            <a:pPr algn="just"/>
            <a:r>
              <a:rPr lang="en-US" sz="2400" b="1" dirty="0"/>
              <a:t>Pin 40</a:t>
            </a:r>
            <a:r>
              <a:rPr lang="en-US" sz="2400" dirty="0"/>
              <a:t> − This pin is used to provide power supply to the circuit.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pic>
        <p:nvPicPr>
          <p:cNvPr id="3074" name="Picture 2" descr="8051 Pi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8225" y="792480"/>
            <a:ext cx="4295775" cy="591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1160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8051 Input Output Ports</a:t>
            </a:r>
          </a:p>
        </p:txBody>
      </p:sp>
      <p:sp>
        <p:nvSpPr>
          <p:cNvPr id="3" name="Text Placeholder 2"/>
          <p:cNvSpPr>
            <a:spLocks noGrp="1"/>
          </p:cNvSpPr>
          <p:nvPr>
            <p:ph type="body" idx="1"/>
          </p:nvPr>
        </p:nvSpPr>
        <p:spPr>
          <a:xfrm>
            <a:off x="-1" y="853440"/>
            <a:ext cx="9026013" cy="6004560"/>
          </a:xfrm>
        </p:spPr>
        <p:txBody>
          <a:bodyPr/>
          <a:lstStyle/>
          <a:p>
            <a:r>
              <a:rPr lang="en-US" sz="2000" dirty="0"/>
              <a:t>8051 microcontrollers have 4 I/O ports each of 8-bit, which can be configured as input or output. Hence, total 32 input/output pins allow the microcontroller to be connected with the peripheral devices.</a:t>
            </a:r>
          </a:p>
          <a:p>
            <a:r>
              <a:rPr lang="en-US" sz="2000" b="1" dirty="0"/>
              <a:t>Pin configuration</a:t>
            </a:r>
            <a:r>
              <a:rPr lang="en-US" sz="2000" dirty="0"/>
              <a:t>, i.e. the pin can be configured as 1 for input and 0 for output as per the logic state.</a:t>
            </a:r>
          </a:p>
          <a:p>
            <a:pPr lvl="1"/>
            <a:r>
              <a:rPr lang="en-US" sz="2000" b="1" dirty="0" err="1"/>
              <a:t>Input/Output</a:t>
            </a:r>
            <a:r>
              <a:rPr lang="en-US" sz="2000" b="1" dirty="0"/>
              <a:t> (I/O) pin</a:t>
            </a:r>
            <a:r>
              <a:rPr lang="en-US" sz="2000" dirty="0"/>
              <a:t> − All the circuits within the microcontroller must be connected to one of its pins except P0 port because it does not have pull-up resistors built-in.</a:t>
            </a:r>
          </a:p>
          <a:p>
            <a:pPr lvl="1"/>
            <a:r>
              <a:rPr lang="en-US" sz="2000" b="1" dirty="0"/>
              <a:t>Input pin</a:t>
            </a:r>
            <a:r>
              <a:rPr lang="en-US" sz="2000" dirty="0"/>
              <a:t> − Logic 1 is applied to a bit of the P register. The output FE transistor is turned off and the other pin remains connected to the power supply voltage over a pull-up resistor of high resistance.</a:t>
            </a:r>
          </a:p>
          <a:p>
            <a:r>
              <a:rPr lang="en-US" sz="2000" b="1" dirty="0"/>
              <a:t>Port 0</a:t>
            </a:r>
            <a:r>
              <a:rPr lang="en-US" sz="2000" dirty="0"/>
              <a:t> − The P0 (zero) port is characterized by two functions −</a:t>
            </a:r>
          </a:p>
          <a:p>
            <a:pPr lvl="1"/>
            <a:r>
              <a:rPr lang="en-US" sz="2000" dirty="0"/>
              <a:t>When the external memory is used then the lower address byte (addresses A0A7) is applied on it, else all bits of this port are configured as input/output.</a:t>
            </a:r>
          </a:p>
          <a:p>
            <a:pPr lvl="1"/>
            <a:r>
              <a:rPr lang="en-US" sz="2000" dirty="0"/>
              <a:t>When P0 port is configured as an output then other ports consisting of pins with built-in pull-up resistor connected by its end to 5V power supply, the pins of this port have this resistor left out.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Tree>
    <p:extLst>
      <p:ext uri="{BB962C8B-B14F-4D97-AF65-F5344CB8AC3E}">
        <p14:creationId xmlns:p14="http://schemas.microsoft.com/office/powerpoint/2010/main" val="34154804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8051 Input Output Ports</a:t>
            </a:r>
          </a:p>
        </p:txBody>
      </p:sp>
      <p:sp>
        <p:nvSpPr>
          <p:cNvPr id="3" name="Text Placeholder 2"/>
          <p:cNvSpPr>
            <a:spLocks noGrp="1"/>
          </p:cNvSpPr>
          <p:nvPr>
            <p:ph type="body" idx="1"/>
          </p:nvPr>
        </p:nvSpPr>
        <p:spPr>
          <a:xfrm>
            <a:off x="52754" y="703377"/>
            <a:ext cx="9026013" cy="6154623"/>
          </a:xfrm>
        </p:spPr>
        <p:txBody>
          <a:bodyPr/>
          <a:lstStyle/>
          <a:p>
            <a:pPr marL="114300" indent="0" algn="just">
              <a:buNone/>
            </a:pPr>
            <a:r>
              <a:rPr lang="en-US" sz="2000" b="1" dirty="0"/>
              <a:t>Input </a:t>
            </a:r>
            <a:r>
              <a:rPr lang="en-US" sz="2000" b="1" dirty="0" smtClean="0"/>
              <a:t>Configuration:</a:t>
            </a:r>
            <a:endParaRPr lang="en-US" sz="2000" b="1" dirty="0"/>
          </a:p>
          <a:p>
            <a:pPr algn="just"/>
            <a:r>
              <a:rPr lang="en-US" sz="2000" dirty="0"/>
              <a:t>If any pin of this port is configured as an input, then it acts as if it “floats”, i.e. the input has unlimited input resistance and in-determined potential.</a:t>
            </a:r>
          </a:p>
          <a:p>
            <a:pPr marL="114300" indent="0" algn="just">
              <a:buNone/>
            </a:pPr>
            <a:r>
              <a:rPr lang="en-US" sz="2000" b="1" dirty="0"/>
              <a:t>Output </a:t>
            </a:r>
            <a:r>
              <a:rPr lang="en-US" sz="2000" b="1" dirty="0" smtClean="0"/>
              <a:t>Configuration:</a:t>
            </a:r>
            <a:endParaRPr lang="en-US" sz="2000" b="1" dirty="0"/>
          </a:p>
          <a:p>
            <a:pPr algn="just"/>
            <a:r>
              <a:rPr lang="en-US" sz="2000" dirty="0"/>
              <a:t>When the pin is configured as an output, then it acts as an “open drain”. By applying logic 0 to a port bit, the appropriate pin will be connected to ground (0V), and applying logic 1, the external output will keep on “floating”.</a:t>
            </a:r>
          </a:p>
          <a:p>
            <a:pPr algn="just"/>
            <a:r>
              <a:rPr lang="en-US" sz="2000" dirty="0"/>
              <a:t>In order to apply logic 1 (5V) on this output pin, it is necessary to build an external </a:t>
            </a:r>
            <a:r>
              <a:rPr lang="en-US" sz="2000" dirty="0" smtClean="0"/>
              <a:t>pull up </a:t>
            </a:r>
            <a:r>
              <a:rPr lang="en-US" sz="2000" dirty="0"/>
              <a:t>resistor.</a:t>
            </a:r>
          </a:p>
          <a:p>
            <a:pPr marL="114300" indent="0" algn="just">
              <a:buNone/>
            </a:pPr>
            <a:r>
              <a:rPr lang="en-US" sz="2000" b="1" dirty="0"/>
              <a:t>Port 1</a:t>
            </a:r>
          </a:p>
          <a:p>
            <a:pPr algn="just"/>
            <a:r>
              <a:rPr lang="en-US" sz="2000" dirty="0"/>
              <a:t>P1 is a true I/O port as it doesn’t have any alternative functions as in P0, but this port can be configured as general I/O only. It has a built-in pull-up resistor and is completely compatible with TTL circuits.</a:t>
            </a:r>
          </a:p>
          <a:p>
            <a:pPr marL="114300" indent="0" algn="just">
              <a:buNone/>
            </a:pPr>
            <a:r>
              <a:rPr lang="en-US" sz="2000" b="1" dirty="0"/>
              <a:t>Port 2</a:t>
            </a:r>
          </a:p>
          <a:p>
            <a:pPr algn="just"/>
            <a:r>
              <a:rPr lang="en-US" sz="2000" dirty="0"/>
              <a:t>P2 is similar to P0 when the external memory is used. Pins of this port occupy addresses intended for the external memory chip. This port can be used for higher address byte with addresses A8-A15. When no memory is added then this port can be used as a general input/output port similar to Port 1</a:t>
            </a:r>
            <a:r>
              <a:rPr lang="en-US" sz="2000" dirty="0" smtClean="0"/>
              <a:t>.</a:t>
            </a:r>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Tree>
    <p:extLst>
      <p:ext uri="{BB962C8B-B14F-4D97-AF65-F5344CB8AC3E}">
        <p14:creationId xmlns:p14="http://schemas.microsoft.com/office/powerpoint/2010/main" val="4171746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8051 Input Output Ports</a:t>
            </a:r>
          </a:p>
        </p:txBody>
      </p:sp>
      <p:sp>
        <p:nvSpPr>
          <p:cNvPr id="3" name="Text Placeholder 2"/>
          <p:cNvSpPr>
            <a:spLocks noGrp="1"/>
          </p:cNvSpPr>
          <p:nvPr>
            <p:ph type="body" idx="1"/>
          </p:nvPr>
        </p:nvSpPr>
        <p:spPr>
          <a:xfrm>
            <a:off x="-1" y="853440"/>
            <a:ext cx="9026013" cy="6004560"/>
          </a:xfrm>
        </p:spPr>
        <p:txBody>
          <a:bodyPr/>
          <a:lstStyle/>
          <a:p>
            <a:pPr marL="114300" indent="0" algn="just">
              <a:buNone/>
            </a:pPr>
            <a:endParaRPr lang="en-US" sz="2000" b="1" dirty="0" smtClean="0"/>
          </a:p>
          <a:p>
            <a:pPr marL="114300" indent="0" algn="just">
              <a:buNone/>
            </a:pPr>
            <a:r>
              <a:rPr lang="en-US" sz="2800" b="1" dirty="0" smtClean="0"/>
              <a:t>Port </a:t>
            </a:r>
            <a:r>
              <a:rPr lang="en-US" sz="2800" b="1" dirty="0"/>
              <a:t>3</a:t>
            </a:r>
          </a:p>
          <a:p>
            <a:pPr algn="just"/>
            <a:r>
              <a:rPr lang="en-US" sz="2000" dirty="0"/>
              <a:t>In this port, functions are similar to other ports except that the logic 1 must be applied to appropriate bit of the P3 register.</a:t>
            </a:r>
          </a:p>
          <a:p>
            <a:pPr algn="just"/>
            <a:r>
              <a:rPr lang="en-US" sz="2000" dirty="0"/>
              <a:t>Pins Current Limitations</a:t>
            </a:r>
          </a:p>
          <a:p>
            <a:pPr algn="just"/>
            <a:r>
              <a:rPr lang="en-US" sz="2000" dirty="0"/>
              <a:t>When pins are configured as an output (i.e. logic 0), then the single port pins can receive a current of 10mA.</a:t>
            </a:r>
          </a:p>
          <a:p>
            <a:pPr algn="just"/>
            <a:r>
              <a:rPr lang="en-US" sz="2000" dirty="0"/>
              <a:t>When these pins are configured as inputs (i.e. logic 1), then built-in pull-up resistors provide very weak current, but can activate up to 4 TTL inputs of LS series.</a:t>
            </a:r>
          </a:p>
          <a:p>
            <a:pPr algn="just"/>
            <a:r>
              <a:rPr lang="en-US" sz="2000" dirty="0"/>
              <a:t>If all 8 bits of a port are active, then the total current must be limited to 15mA (port P0: 26mA).</a:t>
            </a:r>
          </a:p>
          <a:p>
            <a:pPr algn="just"/>
            <a:r>
              <a:rPr lang="en-US" sz="2000" dirty="0"/>
              <a:t>If all ports (32 bits) are active, then the total maximum current must be limited to 71mA.</a:t>
            </a:r>
          </a:p>
          <a:p>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extLst>
      <p:ext uri="{BB962C8B-B14F-4D97-AF65-F5344CB8AC3E}">
        <p14:creationId xmlns:p14="http://schemas.microsoft.com/office/powerpoint/2010/main" val="1464417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Pins Current Limitations</a:t>
            </a:r>
          </a:p>
        </p:txBody>
      </p:sp>
      <p:sp>
        <p:nvSpPr>
          <p:cNvPr id="3" name="Text Placeholder 2"/>
          <p:cNvSpPr>
            <a:spLocks noGrp="1"/>
          </p:cNvSpPr>
          <p:nvPr>
            <p:ph type="body" idx="1"/>
          </p:nvPr>
        </p:nvSpPr>
        <p:spPr>
          <a:xfrm>
            <a:off x="-1" y="853440"/>
            <a:ext cx="9026013" cy="6004560"/>
          </a:xfrm>
        </p:spPr>
        <p:txBody>
          <a:bodyPr/>
          <a:lstStyle/>
          <a:p>
            <a:pPr algn="just"/>
            <a:r>
              <a:rPr lang="en-US" sz="2400" b="1" dirty="0"/>
              <a:t>When pins are configured as an output (i.e. logic 0), then the single port pins can receive a current of 10mA.</a:t>
            </a:r>
          </a:p>
          <a:p>
            <a:pPr marL="114300" indent="0" algn="just">
              <a:buNone/>
            </a:pPr>
            <a:endParaRPr lang="en-US" sz="2400" b="1" dirty="0"/>
          </a:p>
          <a:p>
            <a:pPr algn="just"/>
            <a:r>
              <a:rPr lang="en-US" sz="2400" b="1" dirty="0"/>
              <a:t>When these pins are configured as inputs (i.e. logic 1), then built-in pull-up resistors provide very weak current, but can activate up to 4 TTL inputs of LS series.</a:t>
            </a:r>
          </a:p>
          <a:p>
            <a:pPr marL="114300" indent="0" algn="just">
              <a:buNone/>
            </a:pPr>
            <a:endParaRPr lang="en-US" sz="2400" b="1" dirty="0"/>
          </a:p>
          <a:p>
            <a:pPr algn="just"/>
            <a:r>
              <a:rPr lang="en-US" sz="2400" b="1" dirty="0"/>
              <a:t>If all 8 bits of a port are active, then the total current must be limited to 15mA (port P0: 26mA).</a:t>
            </a:r>
          </a:p>
          <a:p>
            <a:pPr marL="114300" indent="0" algn="just">
              <a:buNone/>
            </a:pPr>
            <a:endParaRPr lang="en-US" sz="2400" b="1" dirty="0"/>
          </a:p>
          <a:p>
            <a:pPr algn="just"/>
            <a:r>
              <a:rPr lang="en-US" sz="2400" b="1" dirty="0"/>
              <a:t>If all ports (32 bits) are active, then the total maximum current must be limited to 71mA.</a:t>
            </a: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extLst>
      <p:ext uri="{BB962C8B-B14F-4D97-AF65-F5344CB8AC3E}">
        <p14:creationId xmlns:p14="http://schemas.microsoft.com/office/powerpoint/2010/main" val="36935753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Interrupts</a:t>
            </a:r>
          </a:p>
        </p:txBody>
      </p:sp>
      <p:sp>
        <p:nvSpPr>
          <p:cNvPr id="3" name="Text Placeholder 2"/>
          <p:cNvSpPr>
            <a:spLocks noGrp="1"/>
          </p:cNvSpPr>
          <p:nvPr>
            <p:ph type="body" idx="1"/>
          </p:nvPr>
        </p:nvSpPr>
        <p:spPr>
          <a:xfrm>
            <a:off x="-1" y="853440"/>
            <a:ext cx="9026013" cy="6004560"/>
          </a:xfrm>
        </p:spPr>
        <p:txBody>
          <a:bodyPr/>
          <a:lstStyle/>
          <a:p>
            <a:pPr algn="just"/>
            <a:endParaRPr lang="en-US" sz="2400" b="1" dirty="0" smtClean="0"/>
          </a:p>
          <a:p>
            <a:pPr algn="just"/>
            <a:endParaRPr lang="en-US" sz="2400" b="1" dirty="0"/>
          </a:p>
          <a:p>
            <a:pPr algn="just"/>
            <a:r>
              <a:rPr lang="en-US" sz="2400" b="1" dirty="0" smtClean="0"/>
              <a:t>Interrupts </a:t>
            </a:r>
            <a:r>
              <a:rPr lang="en-US" sz="2400" b="1" dirty="0"/>
              <a:t>are the events that temporarily suspend the main program, pass the control to the external sources and execute their task. It then passes the control to the main program where it had left off.</a:t>
            </a:r>
          </a:p>
          <a:p>
            <a:pPr algn="just"/>
            <a:endParaRPr lang="en-US" sz="2400" b="1" dirty="0"/>
          </a:p>
          <a:p>
            <a:pPr algn="just"/>
            <a:r>
              <a:rPr lang="en-US" sz="2400" b="1" dirty="0"/>
              <a:t>8051 has 5 interrupt signals, i.e. INT0, </a:t>
            </a:r>
            <a:r>
              <a:rPr lang="en-US" sz="2400" b="1" dirty="0" smtClean="0"/>
              <a:t>TFO, </a:t>
            </a:r>
            <a:r>
              <a:rPr lang="en-US" sz="2400" b="1" dirty="0"/>
              <a:t>INT1,</a:t>
            </a:r>
            <a:r>
              <a:rPr lang="en-US" sz="2400" b="1" dirty="0" smtClean="0"/>
              <a:t> </a:t>
            </a:r>
            <a:r>
              <a:rPr lang="en-US" sz="2400" b="1" dirty="0"/>
              <a:t>TF1, RI/TI. Each interrupt can be enabled or disabled by setting bits of the IE register and the whole interrupt system can be disabled by clearing the EA bit of the same register.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extLst>
      <p:ext uri="{BB962C8B-B14F-4D97-AF65-F5344CB8AC3E}">
        <p14:creationId xmlns:p14="http://schemas.microsoft.com/office/powerpoint/2010/main" val="40693169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Interrupts</a:t>
            </a:r>
          </a:p>
        </p:txBody>
      </p:sp>
      <p:sp>
        <p:nvSpPr>
          <p:cNvPr id="3" name="Text Placeholder 2"/>
          <p:cNvSpPr>
            <a:spLocks noGrp="1"/>
          </p:cNvSpPr>
          <p:nvPr>
            <p:ph type="body" idx="1"/>
          </p:nvPr>
        </p:nvSpPr>
        <p:spPr>
          <a:xfrm>
            <a:off x="-1" y="681990"/>
            <a:ext cx="9026013" cy="6004560"/>
          </a:xfrm>
        </p:spPr>
        <p:txBody>
          <a:bodyPr/>
          <a:lstStyle/>
          <a:p>
            <a:pPr marL="114300" indent="0" algn="just">
              <a:buNone/>
            </a:pPr>
            <a:r>
              <a:rPr lang="en-US" sz="2200" b="1" dirty="0"/>
              <a:t>IE (Interrupt Enable) </a:t>
            </a:r>
            <a:r>
              <a:rPr lang="en-US" sz="2200" b="1" dirty="0" smtClean="0"/>
              <a:t>Register:</a:t>
            </a:r>
          </a:p>
          <a:p>
            <a:pPr algn="just"/>
            <a:r>
              <a:rPr lang="en-US" sz="2200" dirty="0" smtClean="0"/>
              <a:t>This </a:t>
            </a:r>
            <a:r>
              <a:rPr lang="en-US" sz="2200" dirty="0"/>
              <a:t>register is responsible for enabling and disabling the interrupt. EA register is set to one for enabling interrupts and set to 0 for disabling the interrupts. Its bit sequence and their meanings are shown in the following figure.</a:t>
            </a:r>
          </a:p>
          <a:p>
            <a:pPr marL="114300" indent="0" algn="just">
              <a:buNone/>
            </a:pPr>
            <a:endParaRPr lang="en-US" sz="2200" b="1"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467891524"/>
              </p:ext>
            </p:extLst>
          </p:nvPr>
        </p:nvGraphicFramePr>
        <p:xfrm>
          <a:off x="699293" y="3267972"/>
          <a:ext cx="7753351" cy="3482648"/>
        </p:xfrm>
        <a:graphic>
          <a:graphicData uri="http://schemas.openxmlformats.org/drawingml/2006/table">
            <a:tbl>
              <a:tblPr/>
              <a:tblGrid>
                <a:gridCol w="774026"/>
                <a:gridCol w="774026"/>
                <a:gridCol w="6205299"/>
              </a:tblGrid>
              <a:tr h="708968">
                <a:tc>
                  <a:txBody>
                    <a:bodyPr/>
                    <a:lstStyle/>
                    <a:p>
                      <a:pPr algn="ctr" fontAlgn="ctr"/>
                      <a:r>
                        <a:rPr lang="en-US" sz="1600" dirty="0">
                          <a:effectLst/>
                        </a:rPr>
                        <a:t>EA</a:t>
                      </a:r>
                    </a:p>
                  </a:txBody>
                  <a:tcPr marL="76200" marR="76200" marT="76200" marB="76200" anchor="ctr">
                    <a:lnL>
                      <a:noFill/>
                    </a:lnL>
                    <a:lnR>
                      <a:noFill/>
                    </a:lnR>
                    <a:lnT>
                      <a:noFill/>
                    </a:lnT>
                    <a:lnB>
                      <a:noFill/>
                    </a:lnB>
                  </a:tcPr>
                </a:tc>
                <a:tc>
                  <a:txBody>
                    <a:bodyPr/>
                    <a:lstStyle/>
                    <a:p>
                      <a:pPr algn="ctr" fontAlgn="ctr"/>
                      <a:r>
                        <a:rPr lang="en-US" sz="1600">
                          <a:effectLst/>
                        </a:rPr>
                        <a:t>IE.7</a:t>
                      </a:r>
                    </a:p>
                  </a:txBody>
                  <a:tcPr marL="76200" marR="76200" marT="76200" marB="76200" anchor="ctr">
                    <a:lnL>
                      <a:noFill/>
                    </a:lnL>
                    <a:lnR>
                      <a:noFill/>
                    </a:lnR>
                    <a:lnT>
                      <a:noFill/>
                    </a:lnT>
                    <a:lnB>
                      <a:noFill/>
                    </a:lnB>
                  </a:tcPr>
                </a:tc>
                <a:tc>
                  <a:txBody>
                    <a:bodyPr/>
                    <a:lstStyle/>
                    <a:p>
                      <a:pPr algn="l"/>
                      <a:r>
                        <a:rPr lang="en-US" sz="1600">
                          <a:effectLst/>
                        </a:rPr>
                        <a:t>It disables all interrupts. When EA = 0 no interrupt will be acknowledged and EA = 1 enables the interrupt individually.</a:t>
                      </a:r>
                    </a:p>
                  </a:txBody>
                  <a:tcPr marL="76200" marR="76200" marT="76200" marB="76200" anchor="ctr">
                    <a:lnL>
                      <a:noFill/>
                    </a:lnL>
                    <a:lnR>
                      <a:noFill/>
                    </a:lnR>
                    <a:lnT>
                      <a:noFill/>
                    </a:lnT>
                    <a:lnB>
                      <a:noFill/>
                    </a:lnB>
                  </a:tcPr>
                </a:tc>
              </a:tr>
              <a:tr h="327216">
                <a:tc>
                  <a:txBody>
                    <a:bodyPr/>
                    <a:lstStyle/>
                    <a:p>
                      <a:pPr algn="ctr"/>
                      <a:r>
                        <a:rPr lang="en-US" sz="1600">
                          <a:effectLst/>
                        </a:rPr>
                        <a:t>-</a:t>
                      </a:r>
                    </a:p>
                  </a:txBody>
                  <a:tcPr marL="76200" marR="76200" marT="76200" marB="76200" anchor="ctr">
                    <a:lnL>
                      <a:noFill/>
                    </a:lnL>
                    <a:lnR>
                      <a:noFill/>
                    </a:lnR>
                    <a:lnT>
                      <a:noFill/>
                    </a:lnT>
                    <a:lnB>
                      <a:noFill/>
                    </a:lnB>
                  </a:tcPr>
                </a:tc>
                <a:tc>
                  <a:txBody>
                    <a:bodyPr/>
                    <a:lstStyle/>
                    <a:p>
                      <a:pPr algn="ctr"/>
                      <a:r>
                        <a:rPr lang="en-US" sz="1600">
                          <a:effectLst/>
                        </a:rPr>
                        <a:t>IE.6</a:t>
                      </a:r>
                    </a:p>
                  </a:txBody>
                  <a:tcPr marL="76200" marR="76200" marT="76200" marB="76200" anchor="ctr">
                    <a:lnL>
                      <a:noFill/>
                    </a:lnL>
                    <a:lnR>
                      <a:noFill/>
                    </a:lnR>
                    <a:lnT>
                      <a:noFill/>
                    </a:lnT>
                    <a:lnB>
                      <a:noFill/>
                    </a:lnB>
                  </a:tcPr>
                </a:tc>
                <a:tc>
                  <a:txBody>
                    <a:bodyPr/>
                    <a:lstStyle/>
                    <a:p>
                      <a:pPr algn="l"/>
                      <a:r>
                        <a:rPr lang="en-US" sz="1600" dirty="0">
                          <a:effectLst/>
                        </a:rPr>
                        <a:t>Reserved for future use.</a:t>
                      </a:r>
                    </a:p>
                  </a:txBody>
                  <a:tcPr marL="76200" marR="76200" marT="76200" marB="76200" anchor="ctr">
                    <a:lnL>
                      <a:noFill/>
                    </a:lnL>
                    <a:lnR>
                      <a:noFill/>
                    </a:lnR>
                    <a:lnT>
                      <a:noFill/>
                    </a:lnT>
                    <a:lnB>
                      <a:noFill/>
                    </a:lnB>
                  </a:tcPr>
                </a:tc>
              </a:tr>
              <a:tr h="327216">
                <a:tc>
                  <a:txBody>
                    <a:bodyPr/>
                    <a:lstStyle/>
                    <a:p>
                      <a:pPr algn="ctr"/>
                      <a:r>
                        <a:rPr lang="en-US" sz="1600">
                          <a:effectLst/>
                        </a:rPr>
                        <a:t>-</a:t>
                      </a:r>
                    </a:p>
                  </a:txBody>
                  <a:tcPr marL="76200" marR="76200" marT="76200" marB="76200" anchor="ctr">
                    <a:lnL>
                      <a:noFill/>
                    </a:lnL>
                    <a:lnR>
                      <a:noFill/>
                    </a:lnR>
                    <a:lnT>
                      <a:noFill/>
                    </a:lnT>
                    <a:lnB>
                      <a:noFill/>
                    </a:lnB>
                  </a:tcPr>
                </a:tc>
                <a:tc>
                  <a:txBody>
                    <a:bodyPr/>
                    <a:lstStyle/>
                    <a:p>
                      <a:pPr algn="ctr"/>
                      <a:r>
                        <a:rPr lang="en-US" sz="1600">
                          <a:effectLst/>
                        </a:rPr>
                        <a:t>IE.5</a:t>
                      </a:r>
                    </a:p>
                  </a:txBody>
                  <a:tcPr marL="76200" marR="76200" marT="76200" marB="76200" anchor="ctr">
                    <a:lnL>
                      <a:noFill/>
                    </a:lnL>
                    <a:lnR>
                      <a:noFill/>
                    </a:lnR>
                    <a:lnT>
                      <a:noFill/>
                    </a:lnT>
                    <a:lnB>
                      <a:noFill/>
                    </a:lnB>
                  </a:tcPr>
                </a:tc>
                <a:tc>
                  <a:txBody>
                    <a:bodyPr/>
                    <a:lstStyle/>
                    <a:p>
                      <a:pPr algn="l"/>
                      <a:r>
                        <a:rPr lang="en-US" sz="1600" dirty="0">
                          <a:effectLst/>
                        </a:rPr>
                        <a:t>Reserved for future use.</a:t>
                      </a:r>
                    </a:p>
                  </a:txBody>
                  <a:tcPr marL="76200" marR="76200" marT="76200" marB="76200" anchor="ctr">
                    <a:lnL>
                      <a:noFill/>
                    </a:lnL>
                    <a:lnR>
                      <a:noFill/>
                    </a:lnR>
                    <a:lnT>
                      <a:noFill/>
                    </a:lnT>
                    <a:lnB>
                      <a:noFill/>
                    </a:lnB>
                  </a:tcPr>
                </a:tc>
              </a:tr>
              <a:tr h="327216">
                <a:tc>
                  <a:txBody>
                    <a:bodyPr/>
                    <a:lstStyle/>
                    <a:p>
                      <a:pPr algn="ctr"/>
                      <a:r>
                        <a:rPr lang="en-US" sz="1600">
                          <a:effectLst/>
                        </a:rPr>
                        <a:t>ES</a:t>
                      </a:r>
                    </a:p>
                  </a:txBody>
                  <a:tcPr marL="76200" marR="76200" marT="76200" marB="76200" anchor="ctr">
                    <a:lnL>
                      <a:noFill/>
                    </a:lnL>
                    <a:lnR>
                      <a:noFill/>
                    </a:lnR>
                    <a:lnT>
                      <a:noFill/>
                    </a:lnT>
                    <a:lnB>
                      <a:noFill/>
                    </a:lnB>
                  </a:tcPr>
                </a:tc>
                <a:tc>
                  <a:txBody>
                    <a:bodyPr/>
                    <a:lstStyle/>
                    <a:p>
                      <a:pPr algn="ctr"/>
                      <a:r>
                        <a:rPr lang="en-US" sz="1600">
                          <a:effectLst/>
                        </a:rPr>
                        <a:t>IE.4</a:t>
                      </a:r>
                    </a:p>
                  </a:txBody>
                  <a:tcPr marL="76200" marR="76200" marT="76200" marB="76200" anchor="ctr">
                    <a:lnL>
                      <a:noFill/>
                    </a:lnL>
                    <a:lnR>
                      <a:noFill/>
                    </a:lnR>
                    <a:lnT>
                      <a:noFill/>
                    </a:lnT>
                    <a:lnB>
                      <a:noFill/>
                    </a:lnB>
                  </a:tcPr>
                </a:tc>
                <a:tc>
                  <a:txBody>
                    <a:bodyPr/>
                    <a:lstStyle/>
                    <a:p>
                      <a:pPr algn="l"/>
                      <a:r>
                        <a:rPr lang="en-US" sz="1600" dirty="0">
                          <a:effectLst/>
                        </a:rPr>
                        <a:t>Enables/disables serial port interrupt.</a:t>
                      </a:r>
                    </a:p>
                  </a:txBody>
                  <a:tcPr marL="76200" marR="76200" marT="76200" marB="76200" anchor="ctr">
                    <a:lnL>
                      <a:noFill/>
                    </a:lnL>
                    <a:lnR>
                      <a:noFill/>
                    </a:lnR>
                    <a:lnT>
                      <a:noFill/>
                    </a:lnT>
                    <a:lnB>
                      <a:noFill/>
                    </a:lnB>
                  </a:tcPr>
                </a:tc>
              </a:tr>
              <a:tr h="327216">
                <a:tc>
                  <a:txBody>
                    <a:bodyPr/>
                    <a:lstStyle/>
                    <a:p>
                      <a:pPr algn="ctr"/>
                      <a:r>
                        <a:rPr lang="en-US" sz="1600">
                          <a:effectLst/>
                        </a:rPr>
                        <a:t>ET1</a:t>
                      </a:r>
                    </a:p>
                  </a:txBody>
                  <a:tcPr marL="76200" marR="76200" marT="76200" marB="76200" anchor="ctr">
                    <a:lnL>
                      <a:noFill/>
                    </a:lnL>
                    <a:lnR>
                      <a:noFill/>
                    </a:lnR>
                    <a:lnT>
                      <a:noFill/>
                    </a:lnT>
                    <a:lnB>
                      <a:noFill/>
                    </a:lnB>
                  </a:tcPr>
                </a:tc>
                <a:tc>
                  <a:txBody>
                    <a:bodyPr/>
                    <a:lstStyle/>
                    <a:p>
                      <a:pPr algn="ctr"/>
                      <a:r>
                        <a:rPr lang="en-US" sz="1600">
                          <a:effectLst/>
                        </a:rPr>
                        <a:t>IE.3</a:t>
                      </a:r>
                    </a:p>
                  </a:txBody>
                  <a:tcPr marL="76200" marR="76200" marT="76200" marB="76200" anchor="ctr">
                    <a:lnL>
                      <a:noFill/>
                    </a:lnL>
                    <a:lnR>
                      <a:noFill/>
                    </a:lnR>
                    <a:lnT>
                      <a:noFill/>
                    </a:lnT>
                    <a:lnB>
                      <a:noFill/>
                    </a:lnB>
                  </a:tcPr>
                </a:tc>
                <a:tc>
                  <a:txBody>
                    <a:bodyPr/>
                    <a:lstStyle/>
                    <a:p>
                      <a:pPr algn="l"/>
                      <a:r>
                        <a:rPr lang="en-US" sz="1600">
                          <a:effectLst/>
                        </a:rPr>
                        <a:t>Enables/disables timer1 overflow interrupt.</a:t>
                      </a:r>
                    </a:p>
                  </a:txBody>
                  <a:tcPr marL="76200" marR="76200" marT="76200" marB="76200" anchor="ctr">
                    <a:lnL>
                      <a:noFill/>
                    </a:lnL>
                    <a:lnR>
                      <a:noFill/>
                    </a:lnR>
                    <a:lnT>
                      <a:noFill/>
                    </a:lnT>
                    <a:lnB>
                      <a:noFill/>
                    </a:lnB>
                  </a:tcPr>
                </a:tc>
              </a:tr>
              <a:tr h="327216">
                <a:tc>
                  <a:txBody>
                    <a:bodyPr/>
                    <a:lstStyle/>
                    <a:p>
                      <a:pPr algn="ctr"/>
                      <a:r>
                        <a:rPr lang="en-US" sz="1600">
                          <a:effectLst/>
                        </a:rPr>
                        <a:t>EX1</a:t>
                      </a:r>
                    </a:p>
                  </a:txBody>
                  <a:tcPr marL="76200" marR="76200" marT="76200" marB="76200" anchor="ctr">
                    <a:lnL>
                      <a:noFill/>
                    </a:lnL>
                    <a:lnR>
                      <a:noFill/>
                    </a:lnR>
                    <a:lnT>
                      <a:noFill/>
                    </a:lnT>
                    <a:lnB>
                      <a:noFill/>
                    </a:lnB>
                  </a:tcPr>
                </a:tc>
                <a:tc>
                  <a:txBody>
                    <a:bodyPr/>
                    <a:lstStyle/>
                    <a:p>
                      <a:pPr algn="ctr"/>
                      <a:r>
                        <a:rPr lang="en-US" sz="1600">
                          <a:effectLst/>
                        </a:rPr>
                        <a:t>IE.2</a:t>
                      </a:r>
                    </a:p>
                  </a:txBody>
                  <a:tcPr marL="76200" marR="76200" marT="76200" marB="76200" anchor="ctr">
                    <a:lnL>
                      <a:noFill/>
                    </a:lnL>
                    <a:lnR>
                      <a:noFill/>
                    </a:lnR>
                    <a:lnT>
                      <a:noFill/>
                    </a:lnT>
                    <a:lnB>
                      <a:noFill/>
                    </a:lnB>
                  </a:tcPr>
                </a:tc>
                <a:tc>
                  <a:txBody>
                    <a:bodyPr/>
                    <a:lstStyle/>
                    <a:p>
                      <a:pPr algn="l"/>
                      <a:r>
                        <a:rPr lang="en-US" sz="1600">
                          <a:effectLst/>
                        </a:rPr>
                        <a:t>Enables/disables external interrupt1.</a:t>
                      </a:r>
                    </a:p>
                  </a:txBody>
                  <a:tcPr marL="76200" marR="76200" marT="76200" marB="76200" anchor="ctr">
                    <a:lnL>
                      <a:noFill/>
                    </a:lnL>
                    <a:lnR>
                      <a:noFill/>
                    </a:lnR>
                    <a:lnT>
                      <a:noFill/>
                    </a:lnT>
                    <a:lnB>
                      <a:noFill/>
                    </a:lnB>
                  </a:tcPr>
                </a:tc>
              </a:tr>
              <a:tr h="327216">
                <a:tc>
                  <a:txBody>
                    <a:bodyPr/>
                    <a:lstStyle/>
                    <a:p>
                      <a:pPr algn="ctr"/>
                      <a:r>
                        <a:rPr lang="en-US" sz="1600">
                          <a:effectLst/>
                        </a:rPr>
                        <a:t>ET0</a:t>
                      </a:r>
                    </a:p>
                  </a:txBody>
                  <a:tcPr marL="76200" marR="76200" marT="76200" marB="76200" anchor="ctr">
                    <a:lnL>
                      <a:noFill/>
                    </a:lnL>
                    <a:lnR>
                      <a:noFill/>
                    </a:lnR>
                    <a:lnT>
                      <a:noFill/>
                    </a:lnT>
                    <a:lnB>
                      <a:noFill/>
                    </a:lnB>
                  </a:tcPr>
                </a:tc>
                <a:tc>
                  <a:txBody>
                    <a:bodyPr/>
                    <a:lstStyle/>
                    <a:p>
                      <a:pPr algn="ctr"/>
                      <a:r>
                        <a:rPr lang="en-US" sz="1600">
                          <a:effectLst/>
                        </a:rPr>
                        <a:t>IE.1</a:t>
                      </a:r>
                    </a:p>
                  </a:txBody>
                  <a:tcPr marL="76200" marR="76200" marT="76200" marB="76200" anchor="ctr">
                    <a:lnL>
                      <a:noFill/>
                    </a:lnL>
                    <a:lnR>
                      <a:noFill/>
                    </a:lnR>
                    <a:lnT>
                      <a:noFill/>
                    </a:lnT>
                    <a:lnB>
                      <a:noFill/>
                    </a:lnB>
                  </a:tcPr>
                </a:tc>
                <a:tc>
                  <a:txBody>
                    <a:bodyPr/>
                    <a:lstStyle/>
                    <a:p>
                      <a:pPr algn="l"/>
                      <a:r>
                        <a:rPr lang="en-US" sz="1600">
                          <a:effectLst/>
                        </a:rPr>
                        <a:t>Enables/disables timer0 overflow interrupt.</a:t>
                      </a:r>
                    </a:p>
                  </a:txBody>
                  <a:tcPr marL="76200" marR="76200" marT="76200" marB="76200" anchor="ctr">
                    <a:lnL>
                      <a:noFill/>
                    </a:lnL>
                    <a:lnR>
                      <a:noFill/>
                    </a:lnR>
                    <a:lnT>
                      <a:noFill/>
                    </a:lnT>
                    <a:lnB>
                      <a:noFill/>
                    </a:lnB>
                  </a:tcPr>
                </a:tc>
              </a:tr>
              <a:tr h="327216">
                <a:tc>
                  <a:txBody>
                    <a:bodyPr/>
                    <a:lstStyle/>
                    <a:p>
                      <a:pPr algn="ctr"/>
                      <a:r>
                        <a:rPr lang="en-US" sz="1600">
                          <a:effectLst/>
                        </a:rPr>
                        <a:t>EX0</a:t>
                      </a:r>
                    </a:p>
                  </a:txBody>
                  <a:tcPr marL="76200" marR="76200" marT="76200" marB="76200" anchor="ctr">
                    <a:lnL>
                      <a:noFill/>
                    </a:lnL>
                    <a:lnR>
                      <a:noFill/>
                    </a:lnR>
                    <a:lnT>
                      <a:noFill/>
                    </a:lnT>
                    <a:lnB>
                      <a:noFill/>
                    </a:lnB>
                  </a:tcPr>
                </a:tc>
                <a:tc>
                  <a:txBody>
                    <a:bodyPr/>
                    <a:lstStyle/>
                    <a:p>
                      <a:pPr algn="ctr"/>
                      <a:r>
                        <a:rPr lang="en-US" sz="1600">
                          <a:effectLst/>
                        </a:rPr>
                        <a:t>IE.0</a:t>
                      </a:r>
                    </a:p>
                  </a:txBody>
                  <a:tcPr marL="76200" marR="76200" marT="76200" marB="76200" anchor="ctr">
                    <a:lnL>
                      <a:noFill/>
                    </a:lnL>
                    <a:lnR>
                      <a:noFill/>
                    </a:lnR>
                    <a:lnT>
                      <a:noFill/>
                    </a:lnT>
                    <a:lnB>
                      <a:noFill/>
                    </a:lnB>
                  </a:tcPr>
                </a:tc>
                <a:tc>
                  <a:txBody>
                    <a:bodyPr/>
                    <a:lstStyle/>
                    <a:p>
                      <a:pPr algn="l"/>
                      <a:r>
                        <a:rPr lang="en-US" sz="1600" dirty="0">
                          <a:effectLst/>
                        </a:rPr>
                        <a:t>Enables/disables external interrupt0.</a:t>
                      </a:r>
                    </a:p>
                  </a:txBody>
                  <a:tcPr marL="76200" marR="76200" marT="76200" marB="76200" anchor="ctr">
                    <a:lnL>
                      <a:noFill/>
                    </a:lnL>
                    <a:lnR>
                      <a:noFill/>
                    </a:lnR>
                    <a:lnT>
                      <a:noFill/>
                    </a:lnT>
                    <a:lnB>
                      <a:noFill/>
                    </a:lnB>
                  </a:tcPr>
                </a:tc>
              </a:tr>
            </a:tbl>
          </a:graphicData>
        </a:graphic>
      </p:graphicFrame>
      <p:pic>
        <p:nvPicPr>
          <p:cNvPr id="2050" name="Picture 2" descr="IE Regi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88" y="2498725"/>
            <a:ext cx="8297862" cy="78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5744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Interrupts</a:t>
            </a:r>
          </a:p>
        </p:txBody>
      </p:sp>
      <p:sp>
        <p:nvSpPr>
          <p:cNvPr id="3" name="Text Placeholder 2"/>
          <p:cNvSpPr>
            <a:spLocks noGrp="1"/>
          </p:cNvSpPr>
          <p:nvPr>
            <p:ph type="body" idx="1"/>
          </p:nvPr>
        </p:nvSpPr>
        <p:spPr>
          <a:xfrm>
            <a:off x="-1" y="914400"/>
            <a:ext cx="9026013" cy="5772150"/>
          </a:xfrm>
        </p:spPr>
        <p:txBody>
          <a:bodyPr/>
          <a:lstStyle/>
          <a:p>
            <a:pPr marL="114300" indent="0" algn="just">
              <a:buNone/>
            </a:pPr>
            <a:r>
              <a:rPr lang="en-US" sz="2400" b="1" dirty="0"/>
              <a:t>IP (Interrupt Priority) </a:t>
            </a:r>
            <a:r>
              <a:rPr lang="en-US" sz="2400" b="1" dirty="0" smtClean="0"/>
              <a:t>Register:</a:t>
            </a:r>
            <a:endParaRPr lang="en-US" sz="2400" b="1" dirty="0"/>
          </a:p>
          <a:p>
            <a:pPr marL="114300" indent="0" algn="just">
              <a:buNone/>
            </a:pPr>
            <a:r>
              <a:rPr lang="en-US" sz="2400" dirty="0"/>
              <a:t>We can change the priority levels of the interrupts by changing the corresponding bit in the Interrupt Priority (IP) register as shown in the following figure</a:t>
            </a:r>
            <a:r>
              <a:rPr lang="en-US" sz="2400" dirty="0" smtClean="0"/>
              <a:t>.</a:t>
            </a:r>
          </a:p>
          <a:p>
            <a:pPr marL="114300" indent="0" algn="just">
              <a:buNone/>
            </a:pPr>
            <a:endParaRPr lang="en-US" sz="2400" dirty="0"/>
          </a:p>
          <a:p>
            <a:pPr algn="just"/>
            <a:r>
              <a:rPr lang="en-US" sz="2400" dirty="0" smtClean="0"/>
              <a:t>A </a:t>
            </a:r>
            <a:r>
              <a:rPr lang="en-US" sz="2400" dirty="0"/>
              <a:t>low priority interrupt can only be interrupted by the high priority interrupt, but not interrupted by another low priority </a:t>
            </a:r>
            <a:r>
              <a:rPr lang="en-US" sz="2400" dirty="0" smtClean="0"/>
              <a:t>interrupt.</a:t>
            </a:r>
          </a:p>
          <a:p>
            <a:pPr algn="just"/>
            <a:r>
              <a:rPr lang="en-US" sz="2400" dirty="0" smtClean="0"/>
              <a:t>If </a:t>
            </a:r>
            <a:r>
              <a:rPr lang="en-US" sz="2400" dirty="0"/>
              <a:t>two interrupts of different priority levels are received simultaneously, the request of higher priority level is </a:t>
            </a:r>
            <a:r>
              <a:rPr lang="en-US" sz="2400" dirty="0" smtClean="0"/>
              <a:t>served.</a:t>
            </a:r>
          </a:p>
          <a:p>
            <a:pPr algn="just"/>
            <a:r>
              <a:rPr lang="en-US" sz="2400" dirty="0" smtClean="0"/>
              <a:t>If the </a:t>
            </a:r>
            <a:r>
              <a:rPr lang="en-US" sz="2400" dirty="0"/>
              <a:t>requests of the same priority levels are received simultaneously, then the internal polling sequence determines which request is to be serviced.</a:t>
            </a:r>
            <a:endParaRPr lang="en-US" sz="2400"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Tree>
    <p:extLst>
      <p:ext uri="{BB962C8B-B14F-4D97-AF65-F5344CB8AC3E}">
        <p14:creationId xmlns:p14="http://schemas.microsoft.com/office/powerpoint/2010/main" val="11260039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Microcontrollers - 8051 Interrupts</a:t>
            </a:r>
          </a:p>
        </p:txBody>
      </p:sp>
      <p:sp>
        <p:nvSpPr>
          <p:cNvPr id="3" name="Text Placeholder 2"/>
          <p:cNvSpPr>
            <a:spLocks noGrp="1"/>
          </p:cNvSpPr>
          <p:nvPr>
            <p:ph type="body" idx="1"/>
          </p:nvPr>
        </p:nvSpPr>
        <p:spPr>
          <a:xfrm>
            <a:off x="0" y="5486400"/>
            <a:ext cx="9026013" cy="742950"/>
          </a:xfrm>
        </p:spPr>
        <p:txBody>
          <a:bodyPr/>
          <a:lstStyle/>
          <a:p>
            <a:pPr marL="114300" indent="0" algn="just">
              <a:buNone/>
            </a:pPr>
            <a:r>
              <a:rPr lang="en-US" sz="2400" b="1" dirty="0"/>
              <a:t>TCON Register:</a:t>
            </a:r>
          </a:p>
          <a:p>
            <a:pPr marL="114300" indent="0" algn="just">
              <a:buNone/>
            </a:pPr>
            <a:r>
              <a:rPr lang="en-US" sz="2400" dirty="0"/>
              <a:t>TCON register specifies the type of external interrupt to the microcontroller.</a:t>
            </a:r>
          </a:p>
          <a:p>
            <a:pPr marL="114300" indent="0" algn="just">
              <a:buNone/>
            </a:pPr>
            <a:endParaRPr lang="en-US" sz="2400"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748361905"/>
              </p:ext>
            </p:extLst>
          </p:nvPr>
        </p:nvGraphicFramePr>
        <p:xfrm>
          <a:off x="585210" y="1943099"/>
          <a:ext cx="7981950" cy="3581403"/>
        </p:xfrm>
        <a:graphic>
          <a:graphicData uri="http://schemas.openxmlformats.org/drawingml/2006/table">
            <a:tbl>
              <a:tblPr/>
              <a:tblGrid>
                <a:gridCol w="796847"/>
                <a:gridCol w="796847"/>
                <a:gridCol w="6388256"/>
              </a:tblGrid>
              <a:tr h="511629">
                <a:tc>
                  <a:txBody>
                    <a:bodyPr/>
                    <a:lstStyle/>
                    <a:p>
                      <a:pPr algn="ctr"/>
                      <a:r>
                        <a:rPr lang="en-US" sz="2000" dirty="0">
                          <a:effectLst/>
                        </a:rPr>
                        <a:t>-</a:t>
                      </a:r>
                    </a:p>
                  </a:txBody>
                  <a:tcPr marL="76200" marR="76200" marT="76200" marB="76200" anchor="ctr">
                    <a:lnL>
                      <a:noFill/>
                    </a:lnL>
                    <a:lnR>
                      <a:noFill/>
                    </a:lnR>
                    <a:lnT>
                      <a:noFill/>
                    </a:lnT>
                    <a:lnB>
                      <a:noFill/>
                    </a:lnB>
                  </a:tcPr>
                </a:tc>
                <a:tc>
                  <a:txBody>
                    <a:bodyPr/>
                    <a:lstStyle/>
                    <a:p>
                      <a:pPr algn="ctr"/>
                      <a:r>
                        <a:rPr lang="en-US" sz="2000">
                          <a:effectLst/>
                        </a:rPr>
                        <a:t>IP.6</a:t>
                      </a:r>
                    </a:p>
                  </a:txBody>
                  <a:tcPr marL="76200" marR="76200" marT="76200" marB="76200" anchor="ctr">
                    <a:lnL>
                      <a:noFill/>
                    </a:lnL>
                    <a:lnR>
                      <a:noFill/>
                    </a:lnR>
                    <a:lnT>
                      <a:noFill/>
                    </a:lnT>
                    <a:lnB>
                      <a:noFill/>
                    </a:lnB>
                  </a:tcPr>
                </a:tc>
                <a:tc>
                  <a:txBody>
                    <a:bodyPr/>
                    <a:lstStyle/>
                    <a:p>
                      <a:pPr algn="l"/>
                      <a:r>
                        <a:rPr lang="en-US" sz="2000">
                          <a:effectLst/>
                        </a:rPr>
                        <a:t>Reserved for future use.</a:t>
                      </a:r>
                    </a:p>
                  </a:txBody>
                  <a:tcPr marL="76200" marR="76200" marT="76200" marB="76200" anchor="ctr">
                    <a:lnL>
                      <a:noFill/>
                    </a:lnL>
                    <a:lnR>
                      <a:noFill/>
                    </a:lnR>
                    <a:lnT>
                      <a:noFill/>
                    </a:lnT>
                    <a:lnB>
                      <a:noFill/>
                    </a:lnB>
                  </a:tcPr>
                </a:tc>
              </a:tr>
              <a:tr h="511629">
                <a:tc>
                  <a:txBody>
                    <a:bodyPr/>
                    <a:lstStyle/>
                    <a:p>
                      <a:pPr algn="ctr"/>
                      <a:r>
                        <a:rPr lang="en-US" sz="2000">
                          <a:effectLst/>
                        </a:rPr>
                        <a:t>-</a:t>
                      </a:r>
                    </a:p>
                  </a:txBody>
                  <a:tcPr marL="76200" marR="76200" marT="76200" marB="76200" anchor="ctr">
                    <a:lnL>
                      <a:noFill/>
                    </a:lnL>
                    <a:lnR>
                      <a:noFill/>
                    </a:lnR>
                    <a:lnT>
                      <a:noFill/>
                    </a:lnT>
                    <a:lnB>
                      <a:noFill/>
                    </a:lnB>
                  </a:tcPr>
                </a:tc>
                <a:tc>
                  <a:txBody>
                    <a:bodyPr/>
                    <a:lstStyle/>
                    <a:p>
                      <a:pPr algn="ctr"/>
                      <a:r>
                        <a:rPr lang="en-US" sz="2000">
                          <a:effectLst/>
                        </a:rPr>
                        <a:t>IP.5</a:t>
                      </a:r>
                    </a:p>
                  </a:txBody>
                  <a:tcPr marL="76200" marR="76200" marT="76200" marB="76200" anchor="ctr">
                    <a:lnL>
                      <a:noFill/>
                    </a:lnL>
                    <a:lnR>
                      <a:noFill/>
                    </a:lnR>
                    <a:lnT>
                      <a:noFill/>
                    </a:lnT>
                    <a:lnB>
                      <a:noFill/>
                    </a:lnB>
                  </a:tcPr>
                </a:tc>
                <a:tc>
                  <a:txBody>
                    <a:bodyPr/>
                    <a:lstStyle/>
                    <a:p>
                      <a:pPr algn="l"/>
                      <a:r>
                        <a:rPr lang="en-US" sz="2000">
                          <a:effectLst/>
                        </a:rPr>
                        <a:t>Reserved for future use.</a:t>
                      </a:r>
                    </a:p>
                  </a:txBody>
                  <a:tcPr marL="76200" marR="76200" marT="76200" marB="76200" anchor="ctr">
                    <a:lnL>
                      <a:noFill/>
                    </a:lnL>
                    <a:lnR>
                      <a:noFill/>
                    </a:lnR>
                    <a:lnT>
                      <a:noFill/>
                    </a:lnT>
                    <a:lnB>
                      <a:noFill/>
                    </a:lnB>
                  </a:tcPr>
                </a:tc>
              </a:tr>
              <a:tr h="511629">
                <a:tc>
                  <a:txBody>
                    <a:bodyPr/>
                    <a:lstStyle/>
                    <a:p>
                      <a:pPr algn="ctr"/>
                      <a:r>
                        <a:rPr lang="en-US" sz="2000">
                          <a:effectLst/>
                        </a:rPr>
                        <a:t>PS</a:t>
                      </a:r>
                    </a:p>
                  </a:txBody>
                  <a:tcPr marL="76200" marR="76200" marT="76200" marB="76200" anchor="ctr">
                    <a:lnL>
                      <a:noFill/>
                    </a:lnL>
                    <a:lnR>
                      <a:noFill/>
                    </a:lnR>
                    <a:lnT>
                      <a:noFill/>
                    </a:lnT>
                    <a:lnB>
                      <a:noFill/>
                    </a:lnB>
                  </a:tcPr>
                </a:tc>
                <a:tc>
                  <a:txBody>
                    <a:bodyPr/>
                    <a:lstStyle/>
                    <a:p>
                      <a:pPr algn="ctr"/>
                      <a:r>
                        <a:rPr lang="en-US" sz="2000">
                          <a:effectLst/>
                        </a:rPr>
                        <a:t>IP.4</a:t>
                      </a:r>
                    </a:p>
                  </a:txBody>
                  <a:tcPr marL="76200" marR="76200" marT="76200" marB="76200" anchor="ctr">
                    <a:lnL>
                      <a:noFill/>
                    </a:lnL>
                    <a:lnR>
                      <a:noFill/>
                    </a:lnR>
                    <a:lnT>
                      <a:noFill/>
                    </a:lnT>
                    <a:lnB>
                      <a:noFill/>
                    </a:lnB>
                  </a:tcPr>
                </a:tc>
                <a:tc>
                  <a:txBody>
                    <a:bodyPr/>
                    <a:lstStyle/>
                    <a:p>
                      <a:pPr algn="l"/>
                      <a:r>
                        <a:rPr lang="en-US" sz="2000" dirty="0">
                          <a:effectLst/>
                        </a:rPr>
                        <a:t>It defines the serial port interrupt priority level.</a:t>
                      </a:r>
                    </a:p>
                  </a:txBody>
                  <a:tcPr marL="76200" marR="76200" marT="76200" marB="76200" anchor="ctr">
                    <a:lnL>
                      <a:noFill/>
                    </a:lnL>
                    <a:lnR>
                      <a:noFill/>
                    </a:lnR>
                    <a:lnT>
                      <a:noFill/>
                    </a:lnT>
                    <a:lnB>
                      <a:noFill/>
                    </a:lnB>
                  </a:tcPr>
                </a:tc>
              </a:tr>
              <a:tr h="511629">
                <a:tc>
                  <a:txBody>
                    <a:bodyPr/>
                    <a:lstStyle/>
                    <a:p>
                      <a:pPr algn="ctr"/>
                      <a:r>
                        <a:rPr lang="en-US" sz="2000">
                          <a:effectLst/>
                        </a:rPr>
                        <a:t>PT1</a:t>
                      </a:r>
                    </a:p>
                  </a:txBody>
                  <a:tcPr marL="76200" marR="76200" marT="76200" marB="76200" anchor="ctr">
                    <a:lnL>
                      <a:noFill/>
                    </a:lnL>
                    <a:lnR>
                      <a:noFill/>
                    </a:lnR>
                    <a:lnT>
                      <a:noFill/>
                    </a:lnT>
                    <a:lnB>
                      <a:noFill/>
                    </a:lnB>
                  </a:tcPr>
                </a:tc>
                <a:tc>
                  <a:txBody>
                    <a:bodyPr/>
                    <a:lstStyle/>
                    <a:p>
                      <a:pPr algn="ctr"/>
                      <a:r>
                        <a:rPr lang="en-US" sz="2000">
                          <a:effectLst/>
                        </a:rPr>
                        <a:t>IP.3</a:t>
                      </a:r>
                    </a:p>
                  </a:txBody>
                  <a:tcPr marL="76200" marR="76200" marT="76200" marB="76200" anchor="ctr">
                    <a:lnL>
                      <a:noFill/>
                    </a:lnL>
                    <a:lnR>
                      <a:noFill/>
                    </a:lnR>
                    <a:lnT>
                      <a:noFill/>
                    </a:lnT>
                    <a:lnB>
                      <a:noFill/>
                    </a:lnB>
                  </a:tcPr>
                </a:tc>
                <a:tc>
                  <a:txBody>
                    <a:bodyPr/>
                    <a:lstStyle/>
                    <a:p>
                      <a:pPr algn="l"/>
                      <a:r>
                        <a:rPr lang="en-US" sz="2000" dirty="0">
                          <a:effectLst/>
                        </a:rPr>
                        <a:t>It defines the timer interrupt of 1 priority.</a:t>
                      </a:r>
                    </a:p>
                  </a:txBody>
                  <a:tcPr marL="76200" marR="76200" marT="76200" marB="76200" anchor="ctr">
                    <a:lnL>
                      <a:noFill/>
                    </a:lnL>
                    <a:lnR>
                      <a:noFill/>
                    </a:lnR>
                    <a:lnT>
                      <a:noFill/>
                    </a:lnT>
                    <a:lnB>
                      <a:noFill/>
                    </a:lnB>
                  </a:tcPr>
                </a:tc>
              </a:tr>
              <a:tr h="511629">
                <a:tc>
                  <a:txBody>
                    <a:bodyPr/>
                    <a:lstStyle/>
                    <a:p>
                      <a:pPr algn="ctr"/>
                      <a:r>
                        <a:rPr lang="en-US" sz="2000">
                          <a:effectLst/>
                        </a:rPr>
                        <a:t>PX1</a:t>
                      </a:r>
                    </a:p>
                  </a:txBody>
                  <a:tcPr marL="76200" marR="76200" marT="76200" marB="76200" anchor="ctr">
                    <a:lnL>
                      <a:noFill/>
                    </a:lnL>
                    <a:lnR>
                      <a:noFill/>
                    </a:lnR>
                    <a:lnT>
                      <a:noFill/>
                    </a:lnT>
                    <a:lnB>
                      <a:noFill/>
                    </a:lnB>
                  </a:tcPr>
                </a:tc>
                <a:tc>
                  <a:txBody>
                    <a:bodyPr/>
                    <a:lstStyle/>
                    <a:p>
                      <a:pPr algn="ctr"/>
                      <a:r>
                        <a:rPr lang="en-US" sz="2000">
                          <a:effectLst/>
                        </a:rPr>
                        <a:t>IP.2</a:t>
                      </a:r>
                    </a:p>
                  </a:txBody>
                  <a:tcPr marL="76200" marR="76200" marT="76200" marB="76200" anchor="ctr">
                    <a:lnL>
                      <a:noFill/>
                    </a:lnL>
                    <a:lnR>
                      <a:noFill/>
                    </a:lnR>
                    <a:lnT>
                      <a:noFill/>
                    </a:lnT>
                    <a:lnB>
                      <a:noFill/>
                    </a:lnB>
                  </a:tcPr>
                </a:tc>
                <a:tc>
                  <a:txBody>
                    <a:bodyPr/>
                    <a:lstStyle/>
                    <a:p>
                      <a:pPr algn="l"/>
                      <a:r>
                        <a:rPr lang="en-US" sz="2000">
                          <a:effectLst/>
                        </a:rPr>
                        <a:t>It defines the external interrupt priority level.</a:t>
                      </a:r>
                    </a:p>
                  </a:txBody>
                  <a:tcPr marL="76200" marR="76200" marT="76200" marB="76200" anchor="ctr">
                    <a:lnL>
                      <a:noFill/>
                    </a:lnL>
                    <a:lnR>
                      <a:noFill/>
                    </a:lnR>
                    <a:lnT>
                      <a:noFill/>
                    </a:lnT>
                    <a:lnB>
                      <a:noFill/>
                    </a:lnB>
                  </a:tcPr>
                </a:tc>
              </a:tr>
              <a:tr h="511629">
                <a:tc>
                  <a:txBody>
                    <a:bodyPr/>
                    <a:lstStyle/>
                    <a:p>
                      <a:pPr algn="ctr"/>
                      <a:r>
                        <a:rPr lang="en-US" sz="2000">
                          <a:effectLst/>
                        </a:rPr>
                        <a:t>PT0</a:t>
                      </a:r>
                    </a:p>
                  </a:txBody>
                  <a:tcPr marL="76200" marR="76200" marT="76200" marB="76200" anchor="ctr">
                    <a:lnL>
                      <a:noFill/>
                    </a:lnL>
                    <a:lnR>
                      <a:noFill/>
                    </a:lnR>
                    <a:lnT>
                      <a:noFill/>
                    </a:lnT>
                    <a:lnB>
                      <a:noFill/>
                    </a:lnB>
                  </a:tcPr>
                </a:tc>
                <a:tc>
                  <a:txBody>
                    <a:bodyPr/>
                    <a:lstStyle/>
                    <a:p>
                      <a:pPr algn="ctr"/>
                      <a:r>
                        <a:rPr lang="en-US" sz="2000">
                          <a:effectLst/>
                        </a:rPr>
                        <a:t>IP.1</a:t>
                      </a:r>
                    </a:p>
                  </a:txBody>
                  <a:tcPr marL="76200" marR="76200" marT="76200" marB="76200" anchor="ctr">
                    <a:lnL>
                      <a:noFill/>
                    </a:lnL>
                    <a:lnR>
                      <a:noFill/>
                    </a:lnR>
                    <a:lnT>
                      <a:noFill/>
                    </a:lnT>
                    <a:lnB>
                      <a:noFill/>
                    </a:lnB>
                  </a:tcPr>
                </a:tc>
                <a:tc>
                  <a:txBody>
                    <a:bodyPr/>
                    <a:lstStyle/>
                    <a:p>
                      <a:pPr algn="l"/>
                      <a:r>
                        <a:rPr lang="en-US" sz="2000">
                          <a:effectLst/>
                        </a:rPr>
                        <a:t>It defines the timer0 interrupt priority level.</a:t>
                      </a:r>
                    </a:p>
                  </a:txBody>
                  <a:tcPr marL="76200" marR="76200" marT="76200" marB="76200" anchor="ctr">
                    <a:lnL>
                      <a:noFill/>
                    </a:lnL>
                    <a:lnR>
                      <a:noFill/>
                    </a:lnR>
                    <a:lnT>
                      <a:noFill/>
                    </a:lnT>
                    <a:lnB>
                      <a:noFill/>
                    </a:lnB>
                  </a:tcPr>
                </a:tc>
              </a:tr>
              <a:tr h="511629">
                <a:tc>
                  <a:txBody>
                    <a:bodyPr/>
                    <a:lstStyle/>
                    <a:p>
                      <a:pPr algn="ctr"/>
                      <a:r>
                        <a:rPr lang="en-US" sz="2000">
                          <a:effectLst/>
                        </a:rPr>
                        <a:t>PX0</a:t>
                      </a:r>
                    </a:p>
                  </a:txBody>
                  <a:tcPr marL="76200" marR="76200" marT="76200" marB="76200" anchor="ctr">
                    <a:lnL>
                      <a:noFill/>
                    </a:lnL>
                    <a:lnR>
                      <a:noFill/>
                    </a:lnR>
                    <a:lnT>
                      <a:noFill/>
                    </a:lnT>
                    <a:lnB>
                      <a:noFill/>
                    </a:lnB>
                  </a:tcPr>
                </a:tc>
                <a:tc>
                  <a:txBody>
                    <a:bodyPr/>
                    <a:lstStyle/>
                    <a:p>
                      <a:pPr algn="ctr"/>
                      <a:r>
                        <a:rPr lang="en-US" sz="2000">
                          <a:effectLst/>
                        </a:rPr>
                        <a:t>IP.0</a:t>
                      </a:r>
                    </a:p>
                  </a:txBody>
                  <a:tcPr marL="76200" marR="76200" marT="76200" marB="76200" anchor="ctr">
                    <a:lnL>
                      <a:noFill/>
                    </a:lnL>
                    <a:lnR>
                      <a:noFill/>
                    </a:lnR>
                    <a:lnT>
                      <a:noFill/>
                    </a:lnT>
                    <a:lnB>
                      <a:noFill/>
                    </a:lnB>
                  </a:tcPr>
                </a:tc>
                <a:tc>
                  <a:txBody>
                    <a:bodyPr/>
                    <a:lstStyle/>
                    <a:p>
                      <a:pPr algn="l"/>
                      <a:r>
                        <a:rPr lang="en-US" sz="2000" dirty="0">
                          <a:effectLst/>
                        </a:rPr>
                        <a:t>It defines the external interrupt of 0 priority level.</a:t>
                      </a:r>
                    </a:p>
                  </a:txBody>
                  <a:tcPr marL="76200" marR="76200" marT="76200" marB="76200" anchor="ctr">
                    <a:lnL>
                      <a:noFill/>
                    </a:lnL>
                    <a:lnR>
                      <a:noFill/>
                    </a:lnR>
                    <a:lnT>
                      <a:noFill/>
                    </a:lnT>
                    <a:lnB>
                      <a:noFill/>
                    </a:lnB>
                  </a:tcPr>
                </a:tc>
              </a:tr>
            </a:tbl>
          </a:graphicData>
        </a:graphic>
      </p:graphicFrame>
      <p:pic>
        <p:nvPicPr>
          <p:cNvPr id="3076" name="Picture 4" descr="IP Regi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70" y="1055729"/>
            <a:ext cx="8983230" cy="658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8519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8255A - Programmable Peripheral Interface</a:t>
            </a:r>
          </a:p>
        </p:txBody>
      </p:sp>
      <p:sp>
        <p:nvSpPr>
          <p:cNvPr id="3" name="Text Placeholder 2"/>
          <p:cNvSpPr>
            <a:spLocks noGrp="1"/>
          </p:cNvSpPr>
          <p:nvPr>
            <p:ph type="body" idx="1"/>
          </p:nvPr>
        </p:nvSpPr>
        <p:spPr>
          <a:xfrm>
            <a:off x="-1" y="914400"/>
            <a:ext cx="9026013" cy="5772150"/>
          </a:xfrm>
        </p:spPr>
        <p:txBody>
          <a:bodyPr/>
          <a:lstStyle/>
          <a:p>
            <a:pPr algn="just"/>
            <a:r>
              <a:rPr lang="en-US" sz="2100" dirty="0"/>
              <a:t>The 8255A is a general purpose programmable I/O device designed to transfer the data from I/O to interrupt I/O under certain conditions as required. It can be used with almost any microprocessor.</a:t>
            </a:r>
          </a:p>
          <a:p>
            <a:pPr algn="just"/>
            <a:r>
              <a:rPr lang="en-US" sz="2100" dirty="0"/>
              <a:t>It consists of three 8-bit bidirectional I/O ports (24I/O lines) which can be configured as per the requirement.</a:t>
            </a:r>
          </a:p>
          <a:p>
            <a:pPr marL="114300" indent="0" algn="just">
              <a:buNone/>
            </a:pPr>
            <a:r>
              <a:rPr lang="en-US" sz="2100" b="1" dirty="0"/>
              <a:t>Ports of </a:t>
            </a:r>
            <a:r>
              <a:rPr lang="en-US" sz="2100" b="1" dirty="0" smtClean="0"/>
              <a:t>8255A:</a:t>
            </a:r>
            <a:endParaRPr lang="en-US" sz="2100" b="1" dirty="0"/>
          </a:p>
          <a:p>
            <a:pPr marL="114300" indent="0" algn="just">
              <a:buNone/>
            </a:pPr>
            <a:r>
              <a:rPr lang="en-US" sz="2100" dirty="0"/>
              <a:t>8255A has three ports, i.e., PORT A, PORT B, and PORT C.</a:t>
            </a:r>
          </a:p>
          <a:p>
            <a:pPr algn="just"/>
            <a:r>
              <a:rPr lang="en-US" sz="2100" b="1" dirty="0"/>
              <a:t>Port A</a:t>
            </a:r>
            <a:r>
              <a:rPr lang="en-US" sz="2100" dirty="0"/>
              <a:t> contains one 8-bit output latch/buffer and one 8-bit input buffer.</a:t>
            </a:r>
          </a:p>
          <a:p>
            <a:pPr algn="just"/>
            <a:r>
              <a:rPr lang="en-US" sz="2100" b="1" dirty="0"/>
              <a:t>Port B</a:t>
            </a:r>
            <a:r>
              <a:rPr lang="en-US" sz="2100" dirty="0"/>
              <a:t> is similar to PORT A.</a:t>
            </a:r>
          </a:p>
          <a:p>
            <a:pPr algn="just"/>
            <a:r>
              <a:rPr lang="en-US" sz="2100" b="1" dirty="0"/>
              <a:t>Port C</a:t>
            </a:r>
            <a:r>
              <a:rPr lang="en-US" sz="2100" dirty="0"/>
              <a:t> can be split into two parts, i.e. PORT C lower (PC0-PC3) and PORT C upper (PC7-PC4) by the control word</a:t>
            </a:r>
            <a:r>
              <a:rPr lang="en-US" sz="2100" dirty="0" smtClean="0"/>
              <a:t>.</a:t>
            </a:r>
          </a:p>
          <a:p>
            <a:pPr algn="just"/>
            <a:r>
              <a:rPr lang="en-US" sz="2100" dirty="0" smtClean="0"/>
              <a:t>These three ports are further divided into two groups, i.e. Group A includes PORT A and upper PORT C. Group B includes PORT B and lower PORT C. These two groups can be programmed in three different modes, i.e. the first mode is named as mode 0, the second mode is named as Mode 1 and the third mode is named as Mode 2.</a:t>
            </a:r>
            <a:endParaRPr lang="en-US" sz="21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spTree>
    <p:extLst>
      <p:ext uri="{BB962C8B-B14F-4D97-AF65-F5344CB8AC3E}">
        <p14:creationId xmlns:p14="http://schemas.microsoft.com/office/powerpoint/2010/main" val="41014090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8255A - Programmable Peripheral Interface</a:t>
            </a:r>
          </a:p>
        </p:txBody>
      </p:sp>
      <p:sp>
        <p:nvSpPr>
          <p:cNvPr id="3" name="Text Placeholder 2"/>
          <p:cNvSpPr>
            <a:spLocks noGrp="1"/>
          </p:cNvSpPr>
          <p:nvPr>
            <p:ph type="body" idx="1"/>
          </p:nvPr>
        </p:nvSpPr>
        <p:spPr>
          <a:xfrm>
            <a:off x="-1" y="914400"/>
            <a:ext cx="9026013" cy="5772150"/>
          </a:xfrm>
        </p:spPr>
        <p:txBody>
          <a:bodyPr/>
          <a:lstStyle/>
          <a:p>
            <a:pPr marL="114300" indent="0" algn="just">
              <a:buNone/>
            </a:pPr>
            <a:r>
              <a:rPr lang="en-US" sz="2400" b="1" dirty="0"/>
              <a:t>Operating </a:t>
            </a:r>
            <a:r>
              <a:rPr lang="en-US" sz="2400" b="1" dirty="0" smtClean="0"/>
              <a:t>Modes:</a:t>
            </a:r>
            <a:endParaRPr lang="en-US" sz="2400" b="1" dirty="0"/>
          </a:p>
          <a:p>
            <a:pPr marL="114300" indent="0" algn="just">
              <a:buNone/>
            </a:pPr>
            <a:r>
              <a:rPr lang="en-US" sz="2400" dirty="0"/>
              <a:t>8255A has three different operating modes −</a:t>
            </a:r>
          </a:p>
          <a:p>
            <a:pPr algn="just"/>
            <a:r>
              <a:rPr lang="en-US" sz="2400" b="1" dirty="0"/>
              <a:t>Mode 0</a:t>
            </a:r>
            <a:r>
              <a:rPr lang="en-US" sz="2400" dirty="0"/>
              <a:t> − In this mode, Port A and B is used as two 8-bit ports and Port C as two 4-bit ports. Each port can be programmed in either input mode or output mode where outputs are latched and inputs are not latched. Ports do not have interrupt capability.</a:t>
            </a:r>
          </a:p>
          <a:p>
            <a:pPr algn="just"/>
            <a:r>
              <a:rPr lang="en-US" sz="2400" b="1" dirty="0"/>
              <a:t>Mode 1</a:t>
            </a:r>
            <a:r>
              <a:rPr lang="en-US" sz="2400" dirty="0"/>
              <a:t> − In this mode, Port A and B is used as 8-bit I/O ports. They can be configured as either input or output ports. Each port uses three lines from port C as handshake signals. Inputs and outputs are latched.</a:t>
            </a:r>
          </a:p>
          <a:p>
            <a:pPr algn="just"/>
            <a:r>
              <a:rPr lang="en-US" sz="2400" b="1" dirty="0"/>
              <a:t>Mode 2</a:t>
            </a:r>
            <a:r>
              <a:rPr lang="en-US" sz="2400" dirty="0"/>
              <a:t> − In this mode, Port A can be configured as the bidirectional port and Port B either in Mode 0 or Mode 1. Port A uses five signals from Port C as handshake signals for data transfer. The remaining three signals from Port C can be used either as simple I/O or as handshake for port B.</a:t>
            </a:r>
          </a:p>
          <a:p>
            <a:pPr algn="just"/>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Tree>
    <p:extLst>
      <p:ext uri="{BB962C8B-B14F-4D97-AF65-F5344CB8AC3E}">
        <p14:creationId xmlns:p14="http://schemas.microsoft.com/office/powerpoint/2010/main" val="18994015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8255A - Programmable Peripheral Interface</a:t>
            </a:r>
          </a:p>
        </p:txBody>
      </p:sp>
      <p:sp>
        <p:nvSpPr>
          <p:cNvPr id="3" name="Text Placeholder 2"/>
          <p:cNvSpPr>
            <a:spLocks noGrp="1"/>
          </p:cNvSpPr>
          <p:nvPr>
            <p:ph type="body" idx="1"/>
          </p:nvPr>
        </p:nvSpPr>
        <p:spPr>
          <a:xfrm>
            <a:off x="-1" y="914400"/>
            <a:ext cx="9026013" cy="5772150"/>
          </a:xfrm>
        </p:spPr>
        <p:txBody>
          <a:bodyPr/>
          <a:lstStyle/>
          <a:p>
            <a:pPr marL="114300" indent="0" algn="just">
              <a:buNone/>
            </a:pPr>
            <a:endParaRPr lang="en-US" sz="2400" b="1" dirty="0" smtClean="0"/>
          </a:p>
          <a:p>
            <a:pPr marL="114300" indent="0" algn="just">
              <a:buNone/>
            </a:pPr>
            <a:r>
              <a:rPr lang="en-US" sz="2400" b="1" dirty="0" smtClean="0"/>
              <a:t>Features </a:t>
            </a:r>
            <a:r>
              <a:rPr lang="en-US" sz="2400" b="1" dirty="0"/>
              <a:t>of </a:t>
            </a:r>
            <a:r>
              <a:rPr lang="en-US" sz="2400" b="1" dirty="0" smtClean="0"/>
              <a:t>8255A:</a:t>
            </a:r>
            <a:endParaRPr lang="en-US" sz="2400" b="1" dirty="0"/>
          </a:p>
          <a:p>
            <a:pPr algn="just"/>
            <a:r>
              <a:rPr lang="en-US" sz="2400" dirty="0"/>
              <a:t>The prominent features of 8255A are as follows −</a:t>
            </a:r>
          </a:p>
          <a:p>
            <a:pPr algn="just"/>
            <a:r>
              <a:rPr lang="en-US" sz="2400" dirty="0"/>
              <a:t>It consists of 3 8-bit IO ports i.e. PA, PB, and PC.</a:t>
            </a:r>
          </a:p>
          <a:p>
            <a:pPr algn="just"/>
            <a:r>
              <a:rPr lang="en-US" sz="2400" dirty="0"/>
              <a:t>Address/data bus must be externally </a:t>
            </a:r>
            <a:r>
              <a:rPr lang="en-US" sz="2400" dirty="0" err="1"/>
              <a:t>demux'd</a:t>
            </a:r>
            <a:r>
              <a:rPr lang="en-US" sz="2400" dirty="0"/>
              <a:t>.</a:t>
            </a:r>
          </a:p>
          <a:p>
            <a:pPr algn="just"/>
            <a:r>
              <a:rPr lang="en-US" sz="2400" dirty="0"/>
              <a:t>It is TTL compatible.</a:t>
            </a:r>
          </a:p>
          <a:p>
            <a:pPr algn="just"/>
            <a:r>
              <a:rPr lang="en-US" sz="2400" dirty="0"/>
              <a:t>It has improved DC driving capability.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23</a:t>
            </a:fld>
            <a:endParaRPr lang="en-US"/>
          </a:p>
        </p:txBody>
      </p:sp>
    </p:spTree>
    <p:extLst>
      <p:ext uri="{BB962C8B-B14F-4D97-AF65-F5344CB8AC3E}">
        <p14:creationId xmlns:p14="http://schemas.microsoft.com/office/powerpoint/2010/main" val="6390229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8255A - Programmable Peripheral Interface</a:t>
            </a:r>
          </a:p>
        </p:txBody>
      </p:sp>
      <p:sp>
        <p:nvSpPr>
          <p:cNvPr id="3" name="Text Placeholder 2"/>
          <p:cNvSpPr>
            <a:spLocks noGrp="1"/>
          </p:cNvSpPr>
          <p:nvPr>
            <p:ph type="body" idx="1"/>
          </p:nvPr>
        </p:nvSpPr>
        <p:spPr>
          <a:xfrm>
            <a:off x="-1" y="685800"/>
            <a:ext cx="9026013" cy="6000750"/>
          </a:xfrm>
        </p:spPr>
        <p:txBody>
          <a:bodyPr/>
          <a:lstStyle/>
          <a:p>
            <a:pPr marL="114300" indent="0">
              <a:buNone/>
            </a:pPr>
            <a:r>
              <a:rPr lang="en-US" sz="2400" b="1" dirty="0"/>
              <a:t>8255 </a:t>
            </a:r>
            <a:r>
              <a:rPr lang="en-US" sz="2400" b="1" dirty="0" smtClean="0"/>
              <a:t>Architecture:</a:t>
            </a:r>
            <a:endParaRPr lang="en-US" sz="2400" b="1" dirty="0"/>
          </a:p>
          <a:p>
            <a:pPr marL="114300" indent="0">
              <a:buNone/>
            </a:pPr>
            <a:r>
              <a:rPr lang="en-US" sz="2400" dirty="0"/>
              <a:t>The following figure shows the architecture of 8255A −</a:t>
            </a:r>
          </a:p>
          <a:p>
            <a:pPr marL="114300" indent="0">
              <a:buNone/>
            </a:pPr>
            <a:r>
              <a:rPr lang="en-US" sz="2400" dirty="0"/>
              <a:t/>
            </a:r>
            <a:br>
              <a:rPr lang="en-US" sz="2400" dirty="0"/>
            </a:b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214" y="1638300"/>
            <a:ext cx="7606585"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04471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8255A - Pin Description</a:t>
            </a:r>
          </a:p>
        </p:txBody>
      </p:sp>
      <p:sp>
        <p:nvSpPr>
          <p:cNvPr id="3" name="Text Placeholder 2"/>
          <p:cNvSpPr>
            <a:spLocks noGrp="1"/>
          </p:cNvSpPr>
          <p:nvPr>
            <p:ph type="body" idx="1"/>
          </p:nvPr>
        </p:nvSpPr>
        <p:spPr>
          <a:xfrm>
            <a:off x="-1" y="914400"/>
            <a:ext cx="6591301" cy="5772150"/>
          </a:xfrm>
        </p:spPr>
        <p:txBody>
          <a:bodyPr/>
          <a:lstStyle/>
          <a:p>
            <a:pPr marL="114300" indent="0" algn="just">
              <a:buNone/>
            </a:pPr>
            <a:r>
              <a:rPr lang="en-US" sz="2400" b="1" dirty="0"/>
              <a:t>Data Bus </a:t>
            </a:r>
            <a:r>
              <a:rPr lang="en-US" sz="2400" b="1" dirty="0" smtClean="0"/>
              <a:t>Buffer:</a:t>
            </a:r>
          </a:p>
          <a:p>
            <a:pPr marL="114300" indent="0" algn="just">
              <a:buNone/>
            </a:pPr>
            <a:r>
              <a:rPr lang="en-US" sz="2400" dirty="0" smtClean="0"/>
              <a:t>It </a:t>
            </a:r>
            <a:r>
              <a:rPr lang="en-US" sz="2400" dirty="0"/>
              <a:t>is a tri-state 8-bit buffer, which is used to interface the microprocessor to the system data bus. Data is transmitted or received by the buffer as per the instructions by the CPU. Control words and status information is also transferred using this bus.</a:t>
            </a:r>
          </a:p>
          <a:p>
            <a:pPr marL="114300" indent="0" algn="just">
              <a:buNone/>
            </a:pPr>
            <a:endParaRPr lang="en-US" sz="2400" dirty="0"/>
          </a:p>
          <a:p>
            <a:pPr marL="114300" indent="0" algn="just">
              <a:buNone/>
            </a:pPr>
            <a:r>
              <a:rPr lang="en-US" sz="2400" b="1" dirty="0"/>
              <a:t>Read/Write Control </a:t>
            </a:r>
            <a:r>
              <a:rPr lang="en-US" sz="2400" b="1" dirty="0" smtClean="0"/>
              <a:t>Logic:</a:t>
            </a:r>
            <a:endParaRPr lang="en-US" sz="2400" b="1" dirty="0"/>
          </a:p>
          <a:p>
            <a:pPr marL="114300" indent="0" algn="just">
              <a:buNone/>
            </a:pPr>
            <a:r>
              <a:rPr lang="en-US" sz="2400" dirty="0"/>
              <a:t>This block is responsible for controlling the internal/external transfer of data/control/status word. It accepts the input from the CPU address and control buses, and in turn issues command to both the control groups.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pic>
        <p:nvPicPr>
          <p:cNvPr id="6146" name="Picture 2" descr="8255A Pi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9968" y="1214438"/>
            <a:ext cx="2394032" cy="5129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1542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8255A - Pin Description</a:t>
            </a:r>
          </a:p>
        </p:txBody>
      </p:sp>
      <p:sp>
        <p:nvSpPr>
          <p:cNvPr id="3" name="Text Placeholder 2"/>
          <p:cNvSpPr>
            <a:spLocks noGrp="1"/>
          </p:cNvSpPr>
          <p:nvPr>
            <p:ph type="body" idx="1"/>
          </p:nvPr>
        </p:nvSpPr>
        <p:spPr>
          <a:xfrm>
            <a:off x="-1" y="685800"/>
            <a:ext cx="9144001" cy="6000750"/>
          </a:xfrm>
        </p:spPr>
        <p:txBody>
          <a:bodyPr/>
          <a:lstStyle/>
          <a:p>
            <a:pPr marL="114300" indent="0" algn="just">
              <a:buNone/>
            </a:pPr>
            <a:r>
              <a:rPr lang="en-US" sz="2400" b="1" dirty="0" smtClean="0"/>
              <a:t>CS:</a:t>
            </a:r>
            <a:endParaRPr lang="en-US" sz="2400" b="1" dirty="0"/>
          </a:p>
          <a:p>
            <a:pPr algn="just"/>
            <a:r>
              <a:rPr lang="en-US" sz="2400" dirty="0"/>
              <a:t>It stands for Chip Select. A LOW on this input selects the chip and enables the communication between the 8255A and the CPU. It is connected to the decoded address, and A</a:t>
            </a:r>
            <a:r>
              <a:rPr lang="en-US" sz="2400" baseline="-25000" dirty="0"/>
              <a:t>0</a:t>
            </a:r>
            <a:r>
              <a:rPr lang="en-US" sz="2400" dirty="0"/>
              <a:t> &amp; A</a:t>
            </a:r>
            <a:r>
              <a:rPr lang="en-US" sz="2400" baseline="-25000" dirty="0"/>
              <a:t>1</a:t>
            </a:r>
            <a:r>
              <a:rPr lang="en-US" sz="2400" dirty="0"/>
              <a:t> are connected to the microprocessor address lines.</a:t>
            </a:r>
          </a:p>
          <a:p>
            <a:pPr algn="just"/>
            <a:r>
              <a:rPr lang="en-US" sz="2400" dirty="0"/>
              <a:t>Their result depends on </a:t>
            </a:r>
            <a:r>
              <a:rPr lang="en-US" sz="2400" dirty="0" smtClean="0"/>
              <a:t>the </a:t>
            </a:r>
            <a:r>
              <a:rPr lang="en-US" sz="2400" dirty="0"/>
              <a:t>following conditions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718070069"/>
              </p:ext>
            </p:extLst>
          </p:nvPr>
        </p:nvGraphicFramePr>
        <p:xfrm>
          <a:off x="576634" y="3162293"/>
          <a:ext cx="8243516" cy="3505206"/>
        </p:xfrm>
        <a:graphic>
          <a:graphicData uri="http://schemas.openxmlformats.org/drawingml/2006/table">
            <a:tbl>
              <a:tblPr/>
              <a:tblGrid>
                <a:gridCol w="2060879"/>
                <a:gridCol w="2060879"/>
                <a:gridCol w="2060879"/>
                <a:gridCol w="2060879"/>
              </a:tblGrid>
              <a:tr h="584201">
                <a:tc>
                  <a:txBody>
                    <a:bodyPr/>
                    <a:lstStyle/>
                    <a:p>
                      <a:pPr algn="ctr"/>
                      <a:r>
                        <a:rPr lang="en-US" sz="2000" b="1" dirty="0">
                          <a:effectLst/>
                          <a:latin typeface="inherit"/>
                        </a:rPr>
                        <a:t>CS</a:t>
                      </a:r>
                    </a:p>
                  </a:txBody>
                  <a:tcPr marL="76200" marR="76200" marT="76200" marB="76200" anchor="ctr">
                    <a:lnL>
                      <a:noFill/>
                    </a:lnL>
                    <a:lnR>
                      <a:noFill/>
                    </a:lnR>
                    <a:lnT>
                      <a:noFill/>
                    </a:lnT>
                    <a:lnB>
                      <a:noFill/>
                    </a:lnB>
                    <a:solidFill>
                      <a:srgbClr val="FFFFFF"/>
                    </a:solidFill>
                  </a:tcPr>
                </a:tc>
                <a:tc>
                  <a:txBody>
                    <a:bodyPr/>
                    <a:lstStyle/>
                    <a:p>
                      <a:pPr algn="ctr"/>
                      <a:r>
                        <a:rPr lang="en-US" sz="2000" b="1">
                          <a:effectLst/>
                          <a:latin typeface="inherit"/>
                        </a:rPr>
                        <a:t>A</a:t>
                      </a:r>
                      <a:r>
                        <a:rPr lang="en-US" sz="2000" b="1" baseline="-25000">
                          <a:effectLst/>
                          <a:latin typeface="inherit"/>
                        </a:rPr>
                        <a:t>1</a:t>
                      </a:r>
                      <a:endParaRPr lang="en-US" sz="2000" b="1">
                        <a:effectLst/>
                        <a:latin typeface="inherit"/>
                      </a:endParaRPr>
                    </a:p>
                  </a:txBody>
                  <a:tcPr marL="76200" marR="76200" marT="76200" marB="76200" anchor="ctr">
                    <a:lnL>
                      <a:noFill/>
                    </a:lnL>
                    <a:lnR>
                      <a:noFill/>
                    </a:lnR>
                    <a:lnT>
                      <a:noFill/>
                    </a:lnT>
                    <a:lnB>
                      <a:noFill/>
                    </a:lnB>
                    <a:solidFill>
                      <a:srgbClr val="FFFFFF"/>
                    </a:solidFill>
                  </a:tcPr>
                </a:tc>
                <a:tc>
                  <a:txBody>
                    <a:bodyPr/>
                    <a:lstStyle/>
                    <a:p>
                      <a:pPr algn="ctr"/>
                      <a:r>
                        <a:rPr lang="en-US" sz="2000" b="1">
                          <a:effectLst/>
                          <a:latin typeface="inherit"/>
                        </a:rPr>
                        <a:t>A</a:t>
                      </a:r>
                      <a:r>
                        <a:rPr lang="en-US" sz="2000" b="1" baseline="-25000">
                          <a:effectLst/>
                          <a:latin typeface="inherit"/>
                        </a:rPr>
                        <a:t>0</a:t>
                      </a:r>
                      <a:endParaRPr lang="en-US" sz="2000" b="1">
                        <a:effectLst/>
                        <a:latin typeface="inherit"/>
                      </a:endParaRPr>
                    </a:p>
                  </a:txBody>
                  <a:tcPr marL="76200" marR="76200" marT="76200" marB="76200" anchor="ctr">
                    <a:lnL>
                      <a:noFill/>
                    </a:lnL>
                    <a:lnR>
                      <a:noFill/>
                    </a:lnR>
                    <a:lnT>
                      <a:noFill/>
                    </a:lnT>
                    <a:lnB>
                      <a:noFill/>
                    </a:lnB>
                    <a:solidFill>
                      <a:srgbClr val="FFFFFF"/>
                    </a:solidFill>
                  </a:tcPr>
                </a:tc>
                <a:tc>
                  <a:txBody>
                    <a:bodyPr/>
                    <a:lstStyle/>
                    <a:p>
                      <a:pPr algn="ctr"/>
                      <a:r>
                        <a:rPr lang="en-US" sz="2000" b="1">
                          <a:effectLst/>
                          <a:latin typeface="inherit"/>
                        </a:rPr>
                        <a:t>Result</a:t>
                      </a:r>
                    </a:p>
                  </a:txBody>
                  <a:tcPr marL="76200" marR="76200" marT="76200" marB="76200" anchor="ctr">
                    <a:lnL>
                      <a:noFill/>
                    </a:lnL>
                    <a:lnR>
                      <a:noFill/>
                    </a:lnR>
                    <a:lnT>
                      <a:noFill/>
                    </a:lnT>
                    <a:lnB>
                      <a:noFill/>
                    </a:lnB>
                    <a:solidFill>
                      <a:srgbClr val="FFFFFF"/>
                    </a:solidFill>
                  </a:tcPr>
                </a:tc>
              </a:tr>
              <a:tr h="584201">
                <a:tc>
                  <a:txBody>
                    <a:bodyPr/>
                    <a:lstStyle/>
                    <a:p>
                      <a:pPr algn="ctr"/>
                      <a:r>
                        <a:rPr lang="en-US" sz="200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dirty="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PORT A</a:t>
                      </a:r>
                    </a:p>
                  </a:txBody>
                  <a:tcPr marL="76200" marR="76200" marT="76200" marB="76200" anchor="ctr">
                    <a:lnL>
                      <a:noFill/>
                    </a:lnL>
                    <a:lnR>
                      <a:noFill/>
                    </a:lnR>
                    <a:lnT>
                      <a:noFill/>
                    </a:lnT>
                    <a:lnB>
                      <a:noFill/>
                    </a:lnB>
                    <a:solidFill>
                      <a:srgbClr val="FFFFFF"/>
                    </a:solidFill>
                  </a:tcPr>
                </a:tc>
              </a:tr>
              <a:tr h="584201">
                <a:tc>
                  <a:txBody>
                    <a:bodyPr/>
                    <a:lstStyle/>
                    <a:p>
                      <a:pPr algn="ctr"/>
                      <a:r>
                        <a:rPr lang="en-US" sz="200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dirty="0">
                          <a:effectLst/>
                        </a:rPr>
                        <a:t>1</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PORT B</a:t>
                      </a:r>
                    </a:p>
                  </a:txBody>
                  <a:tcPr marL="76200" marR="76200" marT="76200" marB="76200" anchor="ctr">
                    <a:lnL>
                      <a:noFill/>
                    </a:lnL>
                    <a:lnR>
                      <a:noFill/>
                    </a:lnR>
                    <a:lnT>
                      <a:noFill/>
                    </a:lnT>
                    <a:lnB>
                      <a:noFill/>
                    </a:lnB>
                    <a:solidFill>
                      <a:srgbClr val="FFFFFF"/>
                    </a:solidFill>
                  </a:tcPr>
                </a:tc>
              </a:tr>
              <a:tr h="584201">
                <a:tc>
                  <a:txBody>
                    <a:bodyPr/>
                    <a:lstStyle/>
                    <a:p>
                      <a:pPr algn="ctr"/>
                      <a:r>
                        <a:rPr lang="en-US" sz="200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1</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PORT C</a:t>
                      </a:r>
                    </a:p>
                  </a:txBody>
                  <a:tcPr marL="76200" marR="76200" marT="76200" marB="76200" anchor="ctr">
                    <a:lnL>
                      <a:noFill/>
                    </a:lnL>
                    <a:lnR>
                      <a:noFill/>
                    </a:lnR>
                    <a:lnT>
                      <a:noFill/>
                    </a:lnT>
                    <a:lnB>
                      <a:noFill/>
                    </a:lnB>
                    <a:solidFill>
                      <a:srgbClr val="FFFFFF"/>
                    </a:solidFill>
                  </a:tcPr>
                </a:tc>
              </a:tr>
              <a:tr h="584201">
                <a:tc>
                  <a:txBody>
                    <a:bodyPr/>
                    <a:lstStyle/>
                    <a:p>
                      <a:pPr algn="ctr"/>
                      <a:r>
                        <a:rPr lang="en-US" sz="2000">
                          <a:effectLst/>
                        </a:rPr>
                        <a:t>0</a:t>
                      </a:r>
                    </a:p>
                  </a:txBody>
                  <a:tcPr marL="76200" marR="76200" marT="76200" marB="76200" anchor="ctr">
                    <a:lnL>
                      <a:noFill/>
                    </a:lnL>
                    <a:lnR>
                      <a:noFill/>
                    </a:lnR>
                    <a:lnT>
                      <a:noFill/>
                    </a:lnT>
                    <a:lnB>
                      <a:noFill/>
                    </a:lnB>
                    <a:solidFill>
                      <a:srgbClr val="FFFFFF"/>
                    </a:solidFill>
                  </a:tcPr>
                </a:tc>
                <a:tc>
                  <a:txBody>
                    <a:bodyPr/>
                    <a:lstStyle/>
                    <a:p>
                      <a:pPr algn="ctr"/>
                      <a:r>
                        <a:rPr lang="en-US" sz="2000" dirty="0">
                          <a:effectLst/>
                        </a:rPr>
                        <a:t>1</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1</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Control Register</a:t>
                      </a:r>
                    </a:p>
                  </a:txBody>
                  <a:tcPr marL="76200" marR="76200" marT="76200" marB="76200" anchor="ctr">
                    <a:lnL>
                      <a:noFill/>
                    </a:lnL>
                    <a:lnR>
                      <a:noFill/>
                    </a:lnR>
                    <a:lnT>
                      <a:noFill/>
                    </a:lnT>
                    <a:lnB>
                      <a:noFill/>
                    </a:lnB>
                    <a:solidFill>
                      <a:srgbClr val="FFFFFF"/>
                    </a:solidFill>
                  </a:tcPr>
                </a:tc>
              </a:tr>
              <a:tr h="584201">
                <a:tc>
                  <a:txBody>
                    <a:bodyPr/>
                    <a:lstStyle/>
                    <a:p>
                      <a:pPr algn="ctr"/>
                      <a:r>
                        <a:rPr lang="en-US" sz="2000">
                          <a:effectLst/>
                        </a:rPr>
                        <a:t>1</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X</a:t>
                      </a:r>
                    </a:p>
                  </a:txBody>
                  <a:tcPr marL="76200" marR="76200" marT="76200" marB="76200" anchor="ctr">
                    <a:lnL>
                      <a:noFill/>
                    </a:lnL>
                    <a:lnR>
                      <a:noFill/>
                    </a:lnR>
                    <a:lnT>
                      <a:noFill/>
                    </a:lnT>
                    <a:lnB>
                      <a:noFill/>
                    </a:lnB>
                    <a:solidFill>
                      <a:srgbClr val="FFFFFF"/>
                    </a:solidFill>
                  </a:tcPr>
                </a:tc>
                <a:tc>
                  <a:txBody>
                    <a:bodyPr/>
                    <a:lstStyle/>
                    <a:p>
                      <a:pPr algn="ctr"/>
                      <a:r>
                        <a:rPr lang="en-US" sz="2000">
                          <a:effectLst/>
                        </a:rPr>
                        <a:t>X</a:t>
                      </a:r>
                    </a:p>
                  </a:txBody>
                  <a:tcPr marL="76200" marR="76200" marT="76200" marB="76200" anchor="ctr">
                    <a:lnL>
                      <a:noFill/>
                    </a:lnL>
                    <a:lnR>
                      <a:noFill/>
                    </a:lnR>
                    <a:lnT>
                      <a:noFill/>
                    </a:lnT>
                    <a:lnB>
                      <a:noFill/>
                    </a:lnB>
                    <a:solidFill>
                      <a:srgbClr val="FFFFFF"/>
                    </a:solidFill>
                  </a:tcPr>
                </a:tc>
                <a:tc>
                  <a:txBody>
                    <a:bodyPr/>
                    <a:lstStyle/>
                    <a:p>
                      <a:pPr algn="ctr"/>
                      <a:r>
                        <a:rPr lang="en-US" sz="2000" dirty="0">
                          <a:effectLst/>
                        </a:rPr>
                        <a:t>No Selection</a:t>
                      </a:r>
                    </a:p>
                  </a:txBody>
                  <a:tcPr marL="76200" marR="76200" marT="76200" marB="76200"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16759082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8255A - Pin Description</a:t>
            </a:r>
          </a:p>
        </p:txBody>
      </p:sp>
      <p:sp>
        <p:nvSpPr>
          <p:cNvPr id="3" name="Text Placeholder 2"/>
          <p:cNvSpPr>
            <a:spLocks noGrp="1"/>
          </p:cNvSpPr>
          <p:nvPr>
            <p:ph type="body" idx="1"/>
          </p:nvPr>
        </p:nvSpPr>
        <p:spPr>
          <a:xfrm>
            <a:off x="-1" y="685800"/>
            <a:ext cx="9144001" cy="6000750"/>
          </a:xfrm>
        </p:spPr>
        <p:txBody>
          <a:bodyPr/>
          <a:lstStyle/>
          <a:p>
            <a:pPr marL="114300" indent="0" algn="just">
              <a:buNone/>
            </a:pPr>
            <a:r>
              <a:rPr lang="en-US" sz="2400" b="1" dirty="0"/>
              <a:t>A</a:t>
            </a:r>
            <a:r>
              <a:rPr lang="en-US" sz="2400" b="1" baseline="-25000" dirty="0"/>
              <a:t>0</a:t>
            </a:r>
            <a:r>
              <a:rPr lang="en-US" sz="2400" b="1" dirty="0"/>
              <a:t> and </a:t>
            </a:r>
            <a:r>
              <a:rPr lang="en-US" sz="2400" b="1" dirty="0" smtClean="0"/>
              <a:t>A</a:t>
            </a:r>
            <a:r>
              <a:rPr lang="en-US" sz="2400" b="1" baseline="-25000" dirty="0" smtClean="0"/>
              <a:t>1</a:t>
            </a:r>
            <a:r>
              <a:rPr lang="en-US" sz="2400" dirty="0" smtClean="0"/>
              <a:t>:These </a:t>
            </a:r>
            <a:r>
              <a:rPr lang="en-US" sz="2400" dirty="0"/>
              <a:t>input signals work with RD, WR, and one of the control signal. Following is the table showing their various signals with their result.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27</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204830801"/>
              </p:ext>
            </p:extLst>
          </p:nvPr>
        </p:nvGraphicFramePr>
        <p:xfrm>
          <a:off x="1200150" y="1667470"/>
          <a:ext cx="7639050" cy="4907643"/>
        </p:xfrm>
        <a:graphic>
          <a:graphicData uri="http://schemas.openxmlformats.org/drawingml/2006/table">
            <a:tbl>
              <a:tblPr>
                <a:tableStyleId>{35758FB7-9AC5-4552-8A53-C91805E547FA}</a:tableStyleId>
              </a:tblPr>
              <a:tblGrid>
                <a:gridCol w="800100"/>
                <a:gridCol w="1028700"/>
                <a:gridCol w="876300"/>
                <a:gridCol w="857250"/>
                <a:gridCol w="914400"/>
                <a:gridCol w="3162300"/>
              </a:tblGrid>
              <a:tr h="302577">
                <a:tc>
                  <a:txBody>
                    <a:bodyPr/>
                    <a:lstStyle/>
                    <a:p>
                      <a:pPr algn="ctr"/>
                      <a:r>
                        <a:rPr lang="en-US" sz="2000" b="1" dirty="0">
                          <a:effectLst/>
                        </a:rPr>
                        <a:t>A</a:t>
                      </a:r>
                      <a:r>
                        <a:rPr lang="en-US" sz="2000" b="1" baseline="-25000" dirty="0">
                          <a:effectLst/>
                        </a:rPr>
                        <a:t>1</a:t>
                      </a:r>
                      <a:endParaRPr lang="en-US" sz="2000" b="1" dirty="0">
                        <a:effectLst/>
                        <a:latin typeface="inherit"/>
                      </a:endParaRPr>
                    </a:p>
                  </a:txBody>
                  <a:tcPr marL="47945" marR="47945" marT="47945" marB="47945" anchor="ctr"/>
                </a:tc>
                <a:tc>
                  <a:txBody>
                    <a:bodyPr/>
                    <a:lstStyle/>
                    <a:p>
                      <a:pPr algn="ctr"/>
                      <a:r>
                        <a:rPr lang="en-US" sz="2000" b="1">
                          <a:effectLst/>
                        </a:rPr>
                        <a:t>A</a:t>
                      </a:r>
                      <a:r>
                        <a:rPr lang="en-US" sz="2000" b="1" baseline="-25000">
                          <a:effectLst/>
                        </a:rPr>
                        <a:t>0</a:t>
                      </a:r>
                      <a:endParaRPr lang="en-US" sz="2000" b="1">
                        <a:effectLst/>
                        <a:latin typeface="inherit"/>
                      </a:endParaRPr>
                    </a:p>
                  </a:txBody>
                  <a:tcPr marL="47945" marR="47945" marT="47945" marB="47945" anchor="ctr"/>
                </a:tc>
                <a:tc>
                  <a:txBody>
                    <a:bodyPr/>
                    <a:lstStyle/>
                    <a:p>
                      <a:pPr algn="ctr"/>
                      <a:r>
                        <a:rPr lang="en-US" sz="2000" b="1">
                          <a:effectLst/>
                        </a:rPr>
                        <a:t>RD</a:t>
                      </a:r>
                      <a:endParaRPr lang="en-US" sz="2000" b="1">
                        <a:effectLst/>
                        <a:latin typeface="inherit"/>
                      </a:endParaRPr>
                    </a:p>
                  </a:txBody>
                  <a:tcPr marL="47945" marR="47945" marT="47945" marB="47945" anchor="ctr"/>
                </a:tc>
                <a:tc>
                  <a:txBody>
                    <a:bodyPr/>
                    <a:lstStyle/>
                    <a:p>
                      <a:pPr algn="ctr"/>
                      <a:r>
                        <a:rPr lang="en-US" sz="2000" b="1">
                          <a:effectLst/>
                        </a:rPr>
                        <a:t>WR</a:t>
                      </a:r>
                      <a:endParaRPr lang="en-US" sz="2000" b="1">
                        <a:effectLst/>
                        <a:latin typeface="inherit"/>
                      </a:endParaRPr>
                    </a:p>
                  </a:txBody>
                  <a:tcPr marL="47945" marR="47945" marT="47945" marB="47945" anchor="ctr"/>
                </a:tc>
                <a:tc>
                  <a:txBody>
                    <a:bodyPr/>
                    <a:lstStyle/>
                    <a:p>
                      <a:pPr algn="ctr"/>
                      <a:r>
                        <a:rPr lang="en-US" sz="2000" b="1">
                          <a:effectLst/>
                        </a:rPr>
                        <a:t>CS</a:t>
                      </a:r>
                      <a:endParaRPr lang="en-US" sz="2000" b="1">
                        <a:effectLst/>
                        <a:latin typeface="inherit"/>
                      </a:endParaRPr>
                    </a:p>
                  </a:txBody>
                  <a:tcPr marL="47945" marR="47945" marT="47945" marB="47945" anchor="ctr"/>
                </a:tc>
                <a:tc>
                  <a:txBody>
                    <a:bodyPr/>
                    <a:lstStyle/>
                    <a:p>
                      <a:pPr algn="ctr"/>
                      <a:r>
                        <a:rPr lang="en-US" sz="2000" b="1" dirty="0">
                          <a:effectLst/>
                        </a:rPr>
                        <a:t>Result</a:t>
                      </a:r>
                      <a:endParaRPr lang="en-US" sz="2000" b="1" dirty="0">
                        <a:effectLst/>
                        <a:latin typeface="inherit"/>
                      </a:endParaRPr>
                    </a:p>
                  </a:txBody>
                  <a:tcPr marL="47945" marR="47945" marT="47945" marB="47945" anchor="ctr"/>
                </a:tc>
              </a:tr>
              <a:tr h="954099">
                <a:tc>
                  <a:txBody>
                    <a:bodyPr/>
                    <a:lstStyle/>
                    <a:p>
                      <a:pPr algn="ctr" fontAlgn="ctr"/>
                      <a:r>
                        <a:rPr lang="en-US" sz="2000" dirty="0">
                          <a:effectLst/>
                        </a:rPr>
                        <a:t>0</a:t>
                      </a:r>
                    </a:p>
                  </a:txBody>
                  <a:tcPr marL="47945" marR="47945" marT="47945" marB="47945" anchor="ctr"/>
                </a:tc>
                <a:tc>
                  <a:txBody>
                    <a:bodyPr/>
                    <a:lstStyle/>
                    <a:p>
                      <a:pPr algn="ctr" fontAlgn="ctr"/>
                      <a:r>
                        <a:rPr lang="en-US" sz="2000" dirty="0">
                          <a:effectLst/>
                        </a:rPr>
                        <a:t>0</a:t>
                      </a:r>
                    </a:p>
                  </a:txBody>
                  <a:tcPr marL="47945" marR="47945" marT="47945" marB="47945" anchor="ctr"/>
                </a:tc>
                <a:tc>
                  <a:txBody>
                    <a:bodyPr/>
                    <a:lstStyle/>
                    <a:p>
                      <a:pPr algn="ctr" fontAlgn="ctr"/>
                      <a:r>
                        <a:rPr lang="en-US" sz="2000">
                          <a:effectLst/>
                        </a:rPr>
                        <a:t>0</a:t>
                      </a:r>
                    </a:p>
                  </a:txBody>
                  <a:tcPr marL="47945" marR="47945" marT="47945" marB="47945" anchor="ctr"/>
                </a:tc>
                <a:tc>
                  <a:txBody>
                    <a:bodyPr/>
                    <a:lstStyle/>
                    <a:p>
                      <a:pPr algn="ctr" fontAlgn="ctr"/>
                      <a:r>
                        <a:rPr lang="en-US" sz="2000">
                          <a:effectLst/>
                        </a:rPr>
                        <a:t>1</a:t>
                      </a:r>
                    </a:p>
                  </a:txBody>
                  <a:tcPr marL="47945" marR="47945" marT="47945" marB="47945" anchor="ctr"/>
                </a:tc>
                <a:tc>
                  <a:txBody>
                    <a:bodyPr/>
                    <a:lstStyle/>
                    <a:p>
                      <a:pPr algn="ctr" fontAlgn="ctr"/>
                      <a:r>
                        <a:rPr lang="en-US" sz="2000">
                          <a:effectLst/>
                        </a:rPr>
                        <a:t>0</a:t>
                      </a:r>
                    </a:p>
                  </a:txBody>
                  <a:tcPr marL="47945" marR="47945" marT="47945" marB="47945" anchor="ctr"/>
                </a:tc>
                <a:tc>
                  <a:txBody>
                    <a:bodyPr/>
                    <a:lstStyle/>
                    <a:p>
                      <a:pPr algn="ctr"/>
                      <a:r>
                        <a:rPr lang="en-US" sz="2000" u="sng" dirty="0">
                          <a:effectLst/>
                        </a:rPr>
                        <a:t>Input Operation</a:t>
                      </a:r>
                      <a:endParaRPr lang="en-US" sz="2000" dirty="0">
                        <a:effectLst/>
                      </a:endParaRPr>
                    </a:p>
                    <a:p>
                      <a:pPr algn="ctr"/>
                      <a:r>
                        <a:rPr lang="en-US" sz="2000" dirty="0">
                          <a:effectLst/>
                        </a:rPr>
                        <a:t>PORT A → Data Bus</a:t>
                      </a:r>
                    </a:p>
                  </a:txBody>
                  <a:tcPr marL="47945" marR="47945" marT="47945" marB="47945" anchor="ctr"/>
                </a:tc>
              </a:tr>
              <a:tr h="519751">
                <a:tc>
                  <a:txBody>
                    <a:bodyPr/>
                    <a:lstStyle/>
                    <a:p>
                      <a:pPr algn="ctr"/>
                      <a:r>
                        <a:rPr lang="en-US" sz="2000">
                          <a:effectLst/>
                        </a:rPr>
                        <a:t>0</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PORT B → Data Bus</a:t>
                      </a:r>
                    </a:p>
                  </a:txBody>
                  <a:tcPr marL="47945" marR="47945" marT="47945" marB="47945" anchor="ctr"/>
                </a:tc>
              </a:tr>
              <a:tr h="519751">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PORT C → Data Bus</a:t>
                      </a:r>
                    </a:p>
                  </a:txBody>
                  <a:tcPr marL="47945" marR="47945" marT="47945" marB="47945" anchor="ctr"/>
                </a:tc>
              </a:tr>
              <a:tr h="954099">
                <a:tc>
                  <a:txBody>
                    <a:bodyPr/>
                    <a:lstStyle/>
                    <a:p>
                      <a:pPr algn="ctr" fontAlgn="ctr"/>
                      <a:r>
                        <a:rPr lang="en-US" sz="2000">
                          <a:effectLst/>
                        </a:rPr>
                        <a:t>0</a:t>
                      </a:r>
                    </a:p>
                  </a:txBody>
                  <a:tcPr marL="47945" marR="47945" marT="47945" marB="47945" anchor="ctr"/>
                </a:tc>
                <a:tc>
                  <a:txBody>
                    <a:bodyPr/>
                    <a:lstStyle/>
                    <a:p>
                      <a:pPr algn="ctr" fontAlgn="ctr"/>
                      <a:r>
                        <a:rPr lang="en-US" sz="2000">
                          <a:effectLst/>
                        </a:rPr>
                        <a:t>0</a:t>
                      </a:r>
                    </a:p>
                  </a:txBody>
                  <a:tcPr marL="47945" marR="47945" marT="47945" marB="47945" anchor="ctr"/>
                </a:tc>
                <a:tc>
                  <a:txBody>
                    <a:bodyPr/>
                    <a:lstStyle/>
                    <a:p>
                      <a:pPr algn="ctr" fontAlgn="ctr"/>
                      <a:r>
                        <a:rPr lang="en-US" sz="2000">
                          <a:effectLst/>
                        </a:rPr>
                        <a:t>1</a:t>
                      </a:r>
                    </a:p>
                  </a:txBody>
                  <a:tcPr marL="47945" marR="47945" marT="47945" marB="47945" anchor="ctr"/>
                </a:tc>
                <a:tc>
                  <a:txBody>
                    <a:bodyPr/>
                    <a:lstStyle/>
                    <a:p>
                      <a:pPr algn="ctr" fontAlgn="ctr"/>
                      <a:r>
                        <a:rPr lang="en-US" sz="2000">
                          <a:effectLst/>
                        </a:rPr>
                        <a:t>0</a:t>
                      </a:r>
                    </a:p>
                  </a:txBody>
                  <a:tcPr marL="47945" marR="47945" marT="47945" marB="47945" anchor="ctr"/>
                </a:tc>
                <a:tc>
                  <a:txBody>
                    <a:bodyPr/>
                    <a:lstStyle/>
                    <a:p>
                      <a:pPr algn="ctr" fontAlgn="ctr"/>
                      <a:r>
                        <a:rPr lang="en-US" sz="2000">
                          <a:effectLst/>
                        </a:rPr>
                        <a:t>0</a:t>
                      </a:r>
                    </a:p>
                  </a:txBody>
                  <a:tcPr marL="47945" marR="47945" marT="47945" marB="47945" anchor="ctr"/>
                </a:tc>
                <a:tc>
                  <a:txBody>
                    <a:bodyPr/>
                    <a:lstStyle/>
                    <a:p>
                      <a:pPr algn="ctr"/>
                      <a:r>
                        <a:rPr lang="en-US" sz="2000" u="sng">
                          <a:effectLst/>
                        </a:rPr>
                        <a:t>Output Operation</a:t>
                      </a:r>
                      <a:endParaRPr lang="en-US" sz="2000">
                        <a:effectLst/>
                      </a:endParaRPr>
                    </a:p>
                    <a:p>
                      <a:pPr algn="ctr"/>
                      <a:r>
                        <a:rPr lang="en-US" sz="2000">
                          <a:effectLst/>
                        </a:rPr>
                        <a:t>Data Bus → PORT A</a:t>
                      </a:r>
                    </a:p>
                  </a:txBody>
                  <a:tcPr marL="47945" marR="47945" marT="47945" marB="47945" anchor="ctr"/>
                </a:tc>
              </a:tr>
              <a:tr h="519751">
                <a:tc>
                  <a:txBody>
                    <a:bodyPr/>
                    <a:lstStyle/>
                    <a:p>
                      <a:pPr algn="ctr"/>
                      <a:r>
                        <a:rPr lang="en-US" sz="2000">
                          <a:effectLst/>
                        </a:rPr>
                        <a:t>0</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Data Bus → PORT A</a:t>
                      </a:r>
                    </a:p>
                  </a:txBody>
                  <a:tcPr marL="47945" marR="47945" marT="47945" marB="47945" anchor="ctr"/>
                </a:tc>
              </a:tr>
              <a:tr h="519751">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Data Bus → PORT B</a:t>
                      </a:r>
                    </a:p>
                  </a:txBody>
                  <a:tcPr marL="47945" marR="47945" marT="47945" marB="47945" anchor="ctr"/>
                </a:tc>
              </a:tr>
              <a:tr h="519751">
                <a:tc>
                  <a:txBody>
                    <a:bodyPr/>
                    <a:lstStyle/>
                    <a:p>
                      <a:pPr algn="ctr"/>
                      <a:r>
                        <a:rPr lang="en-US" sz="2000">
                          <a:effectLst/>
                        </a:rPr>
                        <a:t>1</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1</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a:effectLst/>
                        </a:rPr>
                        <a:t>0</a:t>
                      </a:r>
                    </a:p>
                  </a:txBody>
                  <a:tcPr marL="47945" marR="47945" marT="47945" marB="47945" anchor="ctr"/>
                </a:tc>
                <a:tc>
                  <a:txBody>
                    <a:bodyPr/>
                    <a:lstStyle/>
                    <a:p>
                      <a:pPr algn="ctr"/>
                      <a:r>
                        <a:rPr lang="en-US" sz="2000" dirty="0">
                          <a:effectLst/>
                        </a:rPr>
                        <a:t>Data Bus → PORT D</a:t>
                      </a:r>
                    </a:p>
                  </a:txBody>
                  <a:tcPr marL="47945" marR="47945" marT="47945" marB="47945" anchor="ctr"/>
                </a:tc>
              </a:tr>
            </a:tbl>
          </a:graphicData>
        </a:graphic>
      </p:graphicFrame>
    </p:spTree>
    <p:extLst>
      <p:ext uri="{BB962C8B-B14F-4D97-AF65-F5344CB8AC3E}">
        <p14:creationId xmlns:p14="http://schemas.microsoft.com/office/powerpoint/2010/main" val="3144735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8253 - Programmable Interval Timer</a:t>
            </a:r>
          </a:p>
        </p:txBody>
      </p:sp>
      <p:sp>
        <p:nvSpPr>
          <p:cNvPr id="3" name="Text Placeholder 2"/>
          <p:cNvSpPr>
            <a:spLocks noGrp="1"/>
          </p:cNvSpPr>
          <p:nvPr>
            <p:ph type="body" idx="1"/>
          </p:nvPr>
        </p:nvSpPr>
        <p:spPr>
          <a:xfrm>
            <a:off x="-1" y="914400"/>
            <a:ext cx="9144001" cy="5772150"/>
          </a:xfrm>
        </p:spPr>
        <p:txBody>
          <a:bodyPr/>
          <a:lstStyle/>
          <a:p>
            <a:pPr algn="just"/>
            <a:r>
              <a:rPr lang="en-US" sz="2200" dirty="0"/>
              <a:t>The Intel 8253 and 8254 are Programmable Interval Timers (PTIs) designed for microprocessors to perform timing and counting functions using three 16-bit registers. </a:t>
            </a:r>
            <a:endParaRPr lang="en-US" sz="2200" dirty="0" smtClean="0"/>
          </a:p>
          <a:p>
            <a:pPr algn="just"/>
            <a:r>
              <a:rPr lang="en-US" sz="2200" dirty="0" smtClean="0"/>
              <a:t>Each </a:t>
            </a:r>
            <a:r>
              <a:rPr lang="en-US" sz="2200" dirty="0"/>
              <a:t>counter has 2 input pins, i.e. Clock &amp; Gate, and 1 pin for “OUT” output. To operate a counter, a 16-bit count is loaded in its register. </a:t>
            </a:r>
            <a:endParaRPr lang="en-US" sz="2200" dirty="0" smtClean="0"/>
          </a:p>
          <a:p>
            <a:pPr algn="just"/>
            <a:r>
              <a:rPr lang="en-US" sz="2200" dirty="0" smtClean="0"/>
              <a:t>On </a:t>
            </a:r>
            <a:r>
              <a:rPr lang="en-US" sz="2200" dirty="0"/>
              <a:t>command, it begins to decrement the count until it reaches 0, then it generates a </a:t>
            </a:r>
            <a:r>
              <a:rPr lang="en-US" sz="2200" dirty="0" smtClean="0"/>
              <a:t>pulse </a:t>
            </a:r>
            <a:r>
              <a:rPr lang="en-US" sz="2200" dirty="0"/>
              <a:t>that can be used to interrupt the CPU</a:t>
            </a:r>
            <a:r>
              <a:rPr lang="en-US" sz="2200" dirty="0" smtClean="0"/>
              <a:t>.</a:t>
            </a:r>
          </a:p>
          <a:p>
            <a:pPr marL="114300" indent="0" algn="just">
              <a:buNone/>
            </a:pPr>
            <a:r>
              <a:rPr lang="en-US" sz="2200" b="1" dirty="0"/>
              <a:t>Difference between 8253 and </a:t>
            </a:r>
            <a:r>
              <a:rPr lang="en-US" sz="2200" b="1" dirty="0" smtClean="0"/>
              <a:t>8254</a:t>
            </a:r>
            <a:r>
              <a:rPr lang="en-US" sz="2200" dirty="0" smtClean="0"/>
              <a:t>:</a:t>
            </a:r>
          </a:p>
          <a:p>
            <a:pPr marL="114300" indent="0" algn="just">
              <a:buNone/>
            </a:pPr>
            <a:endParaRPr lang="en-US" sz="20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27879345"/>
              </p:ext>
            </p:extLst>
          </p:nvPr>
        </p:nvGraphicFramePr>
        <p:xfrm>
          <a:off x="1466850" y="3866989"/>
          <a:ext cx="6414716" cy="2800510"/>
        </p:xfrm>
        <a:graphic>
          <a:graphicData uri="http://schemas.openxmlformats.org/drawingml/2006/table">
            <a:tbl>
              <a:tblPr/>
              <a:tblGrid>
                <a:gridCol w="3207358"/>
                <a:gridCol w="3207358"/>
              </a:tblGrid>
              <a:tr h="414890">
                <a:tc>
                  <a:txBody>
                    <a:bodyPr/>
                    <a:lstStyle/>
                    <a:p>
                      <a:pPr algn="ctr"/>
                      <a:r>
                        <a:rPr lang="en-US" sz="1600" b="1">
                          <a:effectLst/>
                          <a:latin typeface="inherit"/>
                        </a:rPr>
                        <a:t>8253</a:t>
                      </a:r>
                    </a:p>
                  </a:txBody>
                  <a:tcPr marL="76200" marR="76200" marT="76200" marB="76200" anchor="ctr">
                    <a:lnL>
                      <a:noFill/>
                    </a:lnL>
                    <a:lnR>
                      <a:noFill/>
                    </a:lnR>
                    <a:lnT>
                      <a:noFill/>
                    </a:lnT>
                    <a:lnB>
                      <a:noFill/>
                    </a:lnB>
                    <a:solidFill>
                      <a:srgbClr val="FFFFFF"/>
                    </a:solidFill>
                  </a:tcPr>
                </a:tc>
                <a:tc>
                  <a:txBody>
                    <a:bodyPr/>
                    <a:lstStyle/>
                    <a:p>
                      <a:pPr algn="ctr"/>
                      <a:r>
                        <a:rPr lang="en-US" sz="1600" b="1">
                          <a:effectLst/>
                          <a:latin typeface="inherit"/>
                        </a:rPr>
                        <a:t>8254</a:t>
                      </a:r>
                    </a:p>
                  </a:txBody>
                  <a:tcPr marL="76200" marR="76200" marT="76200" marB="76200" anchor="ctr">
                    <a:lnL>
                      <a:noFill/>
                    </a:lnL>
                    <a:lnR>
                      <a:noFill/>
                    </a:lnR>
                    <a:lnT>
                      <a:noFill/>
                    </a:lnT>
                    <a:lnB>
                      <a:noFill/>
                    </a:lnB>
                    <a:solidFill>
                      <a:srgbClr val="FFFFFF"/>
                    </a:solidFill>
                  </a:tcPr>
                </a:tc>
              </a:tr>
              <a:tr h="656910">
                <a:tc>
                  <a:txBody>
                    <a:bodyPr/>
                    <a:lstStyle/>
                    <a:p>
                      <a:pPr algn="l"/>
                      <a:r>
                        <a:rPr lang="en-US" sz="1600">
                          <a:effectLst/>
                        </a:rPr>
                        <a:t>Its operating frequency is 0 - 2.6 MHz</a:t>
                      </a:r>
                    </a:p>
                  </a:txBody>
                  <a:tcPr marL="76200" marR="76200" marT="76200" marB="76200" anchor="ctr">
                    <a:lnL>
                      <a:noFill/>
                    </a:lnL>
                    <a:lnR>
                      <a:noFill/>
                    </a:lnR>
                    <a:lnT>
                      <a:noFill/>
                    </a:lnT>
                    <a:lnB>
                      <a:noFill/>
                    </a:lnB>
                    <a:solidFill>
                      <a:srgbClr val="FFFFFF"/>
                    </a:solidFill>
                  </a:tcPr>
                </a:tc>
                <a:tc>
                  <a:txBody>
                    <a:bodyPr/>
                    <a:lstStyle/>
                    <a:p>
                      <a:pPr algn="l"/>
                      <a:r>
                        <a:rPr lang="en-US" sz="1600">
                          <a:effectLst/>
                        </a:rPr>
                        <a:t>Its operating frequency is 0 - 10 MHz</a:t>
                      </a:r>
                    </a:p>
                  </a:txBody>
                  <a:tcPr marL="76200" marR="76200" marT="76200" marB="76200" anchor="ctr">
                    <a:lnL>
                      <a:noFill/>
                    </a:lnL>
                    <a:lnR>
                      <a:noFill/>
                    </a:lnR>
                    <a:lnT>
                      <a:noFill/>
                    </a:lnT>
                    <a:lnB>
                      <a:noFill/>
                    </a:lnB>
                    <a:solidFill>
                      <a:srgbClr val="FFFFFF"/>
                    </a:solidFill>
                  </a:tcPr>
                </a:tc>
              </a:tr>
              <a:tr h="414890">
                <a:tc>
                  <a:txBody>
                    <a:bodyPr/>
                    <a:lstStyle/>
                    <a:p>
                      <a:pPr algn="l"/>
                      <a:r>
                        <a:rPr lang="en-US" sz="1600">
                          <a:effectLst/>
                        </a:rPr>
                        <a:t>It uses N-MOS technology</a:t>
                      </a:r>
                    </a:p>
                  </a:txBody>
                  <a:tcPr marL="76200" marR="76200" marT="76200" marB="76200" anchor="ctr">
                    <a:lnL>
                      <a:noFill/>
                    </a:lnL>
                    <a:lnR>
                      <a:noFill/>
                    </a:lnR>
                    <a:lnT>
                      <a:noFill/>
                    </a:lnT>
                    <a:lnB>
                      <a:noFill/>
                    </a:lnB>
                    <a:solidFill>
                      <a:srgbClr val="FFFFFF"/>
                    </a:solidFill>
                  </a:tcPr>
                </a:tc>
                <a:tc>
                  <a:txBody>
                    <a:bodyPr/>
                    <a:lstStyle/>
                    <a:p>
                      <a:pPr algn="l"/>
                      <a:r>
                        <a:rPr lang="en-US" sz="1600">
                          <a:effectLst/>
                        </a:rPr>
                        <a:t>It uses H-MOS technology</a:t>
                      </a:r>
                    </a:p>
                  </a:txBody>
                  <a:tcPr marL="76200" marR="76200" marT="76200" marB="76200" anchor="ctr">
                    <a:lnL>
                      <a:noFill/>
                    </a:lnL>
                    <a:lnR>
                      <a:noFill/>
                    </a:lnR>
                    <a:lnT>
                      <a:noFill/>
                    </a:lnT>
                    <a:lnB>
                      <a:noFill/>
                    </a:lnB>
                    <a:solidFill>
                      <a:srgbClr val="FFFFFF"/>
                    </a:solidFill>
                  </a:tcPr>
                </a:tc>
              </a:tr>
              <a:tr h="656910">
                <a:tc>
                  <a:txBody>
                    <a:bodyPr/>
                    <a:lstStyle/>
                    <a:p>
                      <a:pPr algn="l"/>
                      <a:r>
                        <a:rPr lang="en-US" sz="1600">
                          <a:effectLst/>
                        </a:rPr>
                        <a:t>Read-Back command is not available</a:t>
                      </a:r>
                    </a:p>
                  </a:txBody>
                  <a:tcPr marL="76200" marR="76200" marT="76200" marB="76200" anchor="ctr">
                    <a:lnL>
                      <a:noFill/>
                    </a:lnL>
                    <a:lnR>
                      <a:noFill/>
                    </a:lnR>
                    <a:lnT>
                      <a:noFill/>
                    </a:lnT>
                    <a:lnB>
                      <a:noFill/>
                    </a:lnB>
                    <a:solidFill>
                      <a:srgbClr val="FFFFFF"/>
                    </a:solidFill>
                  </a:tcPr>
                </a:tc>
                <a:tc>
                  <a:txBody>
                    <a:bodyPr/>
                    <a:lstStyle/>
                    <a:p>
                      <a:pPr algn="l"/>
                      <a:r>
                        <a:rPr lang="en-US" sz="1600">
                          <a:effectLst/>
                        </a:rPr>
                        <a:t>Read-Back command is available</a:t>
                      </a:r>
                    </a:p>
                  </a:txBody>
                  <a:tcPr marL="76200" marR="76200" marT="76200" marB="76200" anchor="ctr">
                    <a:lnL>
                      <a:noFill/>
                    </a:lnL>
                    <a:lnR>
                      <a:noFill/>
                    </a:lnR>
                    <a:lnT>
                      <a:noFill/>
                    </a:lnT>
                    <a:lnB>
                      <a:noFill/>
                    </a:lnB>
                    <a:solidFill>
                      <a:srgbClr val="FFFFFF"/>
                    </a:solidFill>
                  </a:tcPr>
                </a:tc>
              </a:tr>
              <a:tr h="656910">
                <a:tc>
                  <a:txBody>
                    <a:bodyPr/>
                    <a:lstStyle/>
                    <a:p>
                      <a:pPr algn="l"/>
                      <a:r>
                        <a:rPr lang="en-US" sz="1600" dirty="0">
                          <a:effectLst/>
                        </a:rPr>
                        <a:t>Reads and writes of the same counter cannot be interleaved.</a:t>
                      </a:r>
                    </a:p>
                  </a:txBody>
                  <a:tcPr marL="76200" marR="76200" marT="76200" marB="76200" anchor="ctr">
                    <a:lnL>
                      <a:noFill/>
                    </a:lnL>
                    <a:lnR>
                      <a:noFill/>
                    </a:lnR>
                    <a:lnT>
                      <a:noFill/>
                    </a:lnT>
                    <a:lnB>
                      <a:noFill/>
                    </a:lnB>
                    <a:solidFill>
                      <a:srgbClr val="FFFFFF"/>
                    </a:solidFill>
                  </a:tcPr>
                </a:tc>
                <a:tc>
                  <a:txBody>
                    <a:bodyPr/>
                    <a:lstStyle/>
                    <a:p>
                      <a:pPr algn="l"/>
                      <a:r>
                        <a:rPr lang="en-US" sz="1600" dirty="0">
                          <a:effectLst/>
                        </a:rPr>
                        <a:t>Reads and writes of the same counter can be interleaved.</a:t>
                      </a:r>
                    </a:p>
                  </a:txBody>
                  <a:tcPr marL="76200" marR="76200" marT="76200" marB="76200"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26048982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8253 - Programmable Interval Timer</a:t>
            </a:r>
          </a:p>
        </p:txBody>
      </p:sp>
      <p:sp>
        <p:nvSpPr>
          <p:cNvPr id="3" name="Text Placeholder 2"/>
          <p:cNvSpPr>
            <a:spLocks noGrp="1"/>
          </p:cNvSpPr>
          <p:nvPr>
            <p:ph type="body" idx="1"/>
          </p:nvPr>
        </p:nvSpPr>
        <p:spPr>
          <a:xfrm>
            <a:off x="-1" y="914400"/>
            <a:ext cx="9144001" cy="5772150"/>
          </a:xfrm>
        </p:spPr>
        <p:txBody>
          <a:bodyPr/>
          <a:lstStyle/>
          <a:p>
            <a:pPr marL="114300" indent="0" algn="just">
              <a:buNone/>
            </a:pPr>
            <a:r>
              <a:rPr lang="en-US" sz="2800" b="1" dirty="0"/>
              <a:t>Features of 8253 / </a:t>
            </a:r>
            <a:r>
              <a:rPr lang="en-US" sz="2800" b="1" dirty="0" smtClean="0"/>
              <a:t>54:</a:t>
            </a:r>
          </a:p>
          <a:p>
            <a:pPr marL="114300" indent="0" algn="just">
              <a:buNone/>
            </a:pPr>
            <a:endParaRPr lang="en-US" sz="2800" b="1" dirty="0"/>
          </a:p>
          <a:p>
            <a:pPr algn="just"/>
            <a:r>
              <a:rPr lang="en-US" sz="2000" dirty="0" smtClean="0"/>
              <a:t>The </a:t>
            </a:r>
            <a:r>
              <a:rPr lang="en-US" sz="2000" dirty="0"/>
              <a:t>most prominent features of 8253/54 are as follows −</a:t>
            </a:r>
          </a:p>
          <a:p>
            <a:pPr algn="just"/>
            <a:r>
              <a:rPr lang="en-US" sz="2000" dirty="0"/>
              <a:t>It has three independent 16-bit down counters.</a:t>
            </a:r>
          </a:p>
          <a:p>
            <a:pPr algn="just"/>
            <a:r>
              <a:rPr lang="en-US" sz="2000" dirty="0"/>
              <a:t>It can handle inputs from DC to 10 </a:t>
            </a:r>
            <a:r>
              <a:rPr lang="en-US" sz="2000" dirty="0" err="1"/>
              <a:t>MHz.</a:t>
            </a:r>
            <a:endParaRPr lang="en-US" sz="2000" dirty="0"/>
          </a:p>
          <a:p>
            <a:pPr algn="just"/>
            <a:r>
              <a:rPr lang="en-US" sz="2000" dirty="0"/>
              <a:t>These three counters can be programmed for either binary or BCD count.</a:t>
            </a:r>
          </a:p>
          <a:p>
            <a:pPr algn="just"/>
            <a:r>
              <a:rPr lang="en-US" sz="2000" dirty="0"/>
              <a:t>It is compatible with almost all microprocessors.</a:t>
            </a:r>
          </a:p>
          <a:p>
            <a:pPr algn="just"/>
            <a:r>
              <a:rPr lang="en-US" sz="2000" dirty="0"/>
              <a:t>8254 has a powerful command called READ BACK command, which allows the user to check the count value, the programmed mode, the current mode, and the current status of the counter.</a:t>
            </a:r>
          </a:p>
          <a:p>
            <a:pPr marL="114300" indent="0" algn="just">
              <a:buNone/>
            </a:pPr>
            <a:endParaRPr lang="en-US" sz="20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29</a:t>
            </a:fld>
            <a:endParaRPr lang="en-US"/>
          </a:p>
        </p:txBody>
      </p:sp>
    </p:spTree>
    <p:extLst>
      <p:ext uri="{BB962C8B-B14F-4D97-AF65-F5344CB8AC3E}">
        <p14:creationId xmlns:p14="http://schemas.microsoft.com/office/powerpoint/2010/main" val="307343401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8254 Pin Description</a:t>
            </a:r>
          </a:p>
        </p:txBody>
      </p:sp>
      <p:sp>
        <p:nvSpPr>
          <p:cNvPr id="3" name="Text Placeholder 2"/>
          <p:cNvSpPr>
            <a:spLocks noGrp="1"/>
          </p:cNvSpPr>
          <p:nvPr>
            <p:ph type="body" idx="1"/>
          </p:nvPr>
        </p:nvSpPr>
        <p:spPr>
          <a:xfrm>
            <a:off x="-1" y="914400"/>
            <a:ext cx="4953001" cy="5772150"/>
          </a:xfrm>
        </p:spPr>
        <p:txBody>
          <a:bodyPr/>
          <a:lstStyle/>
          <a:p>
            <a:pPr algn="just"/>
            <a:r>
              <a:rPr lang="en-US" sz="2000" b="1" dirty="0" smtClean="0"/>
              <a:t>There </a:t>
            </a:r>
            <a:r>
              <a:rPr lang="en-US" sz="2000" b="1" dirty="0"/>
              <a:t>are three counters, a data bus buffer, Read/Write control logic, and a control register. Each counter has two input signals - CLOCK &amp; GATE, and one output signal - OUT</a:t>
            </a:r>
            <a:r>
              <a:rPr lang="en-US" sz="2000" b="1" dirty="0" smtClean="0"/>
              <a:t>.</a:t>
            </a:r>
          </a:p>
          <a:p>
            <a:pPr marL="114300" indent="0" algn="just">
              <a:buNone/>
            </a:pPr>
            <a:endParaRPr lang="en-US" sz="2000" b="1" dirty="0" smtClean="0"/>
          </a:p>
          <a:p>
            <a:pPr marL="114300" indent="0" algn="just">
              <a:buNone/>
            </a:pPr>
            <a:endParaRPr lang="en-US" sz="2000" b="1" dirty="0"/>
          </a:p>
          <a:p>
            <a:pPr marL="114300" indent="0" algn="just">
              <a:buNone/>
            </a:pPr>
            <a:r>
              <a:rPr lang="en-US" sz="2000" b="1" dirty="0" smtClean="0"/>
              <a:t>Data </a:t>
            </a:r>
            <a:r>
              <a:rPr lang="en-US" sz="2000" b="1" dirty="0"/>
              <a:t>Bus </a:t>
            </a:r>
            <a:r>
              <a:rPr lang="en-US" sz="2000" b="1" dirty="0" smtClean="0"/>
              <a:t>Buffer:</a:t>
            </a:r>
            <a:endParaRPr lang="en-US" sz="2000" b="1" dirty="0"/>
          </a:p>
          <a:p>
            <a:pPr algn="just"/>
            <a:r>
              <a:rPr lang="en-US" sz="2000" dirty="0"/>
              <a:t>It is a tri-state, bi-directional, 8-bit buffer, which is used to interface the 8253/54 to the system data bus. It has three basic functions −</a:t>
            </a:r>
          </a:p>
          <a:p>
            <a:pPr algn="just"/>
            <a:r>
              <a:rPr lang="en-US" sz="2000" dirty="0"/>
              <a:t>Programming the modes of 8253/54.</a:t>
            </a:r>
          </a:p>
          <a:p>
            <a:pPr algn="just"/>
            <a:r>
              <a:rPr lang="en-US" sz="2000" dirty="0"/>
              <a:t>Loading the count registers.</a:t>
            </a:r>
          </a:p>
          <a:p>
            <a:pPr algn="just"/>
            <a:r>
              <a:rPr lang="en-US" sz="2000" dirty="0"/>
              <a:t>Reading the count values.</a:t>
            </a:r>
          </a:p>
          <a:p>
            <a:pPr marL="114300" indent="0" algn="just">
              <a:buNone/>
            </a:pPr>
            <a:endParaRPr lang="en-US" sz="20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30</a:t>
            </a:fld>
            <a:endParaRPr lang="en-US"/>
          </a:p>
        </p:txBody>
      </p:sp>
      <p:pic>
        <p:nvPicPr>
          <p:cNvPr id="2050" name="Picture 2" descr="8254 Pin Descri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039812"/>
            <a:ext cx="3987630" cy="558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01760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8254 Pin Description</a:t>
            </a:r>
          </a:p>
        </p:txBody>
      </p:sp>
      <p:sp>
        <p:nvSpPr>
          <p:cNvPr id="3" name="Text Placeholder 2"/>
          <p:cNvSpPr>
            <a:spLocks noGrp="1"/>
          </p:cNvSpPr>
          <p:nvPr>
            <p:ph type="body" idx="1"/>
          </p:nvPr>
        </p:nvSpPr>
        <p:spPr>
          <a:xfrm>
            <a:off x="-1" y="914400"/>
            <a:ext cx="4953001" cy="5772150"/>
          </a:xfrm>
        </p:spPr>
        <p:txBody>
          <a:bodyPr/>
          <a:lstStyle/>
          <a:p>
            <a:pPr marL="114300" indent="0" algn="just">
              <a:buNone/>
            </a:pPr>
            <a:r>
              <a:rPr lang="en-US" sz="2000" b="1" dirty="0"/>
              <a:t>Read/Write </a:t>
            </a:r>
            <a:r>
              <a:rPr lang="en-US" sz="2000" b="1" dirty="0" smtClean="0"/>
              <a:t>Logic:</a:t>
            </a:r>
            <a:endParaRPr lang="en-US" sz="2000" b="1" dirty="0"/>
          </a:p>
          <a:p>
            <a:pPr algn="just"/>
            <a:r>
              <a:rPr lang="en-US" sz="2000" dirty="0"/>
              <a:t>It includes 5 signals, i.e. RD, WR, CS, and the address lines A</a:t>
            </a:r>
            <a:r>
              <a:rPr lang="en-US" sz="2000" baseline="-25000" dirty="0"/>
              <a:t>0</a:t>
            </a:r>
            <a:r>
              <a:rPr lang="en-US" sz="2000" dirty="0"/>
              <a:t> &amp; A</a:t>
            </a:r>
            <a:r>
              <a:rPr lang="en-US" sz="2000" baseline="-25000" dirty="0"/>
              <a:t>1</a:t>
            </a:r>
            <a:r>
              <a:rPr lang="en-US" sz="2000" dirty="0"/>
              <a:t>. In the peripheral I/O mode, the RD and WR signals are connected to IOR and IOW, respectively. In the </a:t>
            </a:r>
            <a:r>
              <a:rPr lang="en-US" sz="2000" dirty="0" smtClean="0"/>
              <a:t>memory mapped </a:t>
            </a:r>
            <a:r>
              <a:rPr lang="en-US" sz="2000" dirty="0"/>
              <a:t>I/O mode, these are connected to MEMR and MEMW</a:t>
            </a:r>
            <a:r>
              <a:rPr lang="en-US" sz="2000" dirty="0" smtClean="0"/>
              <a:t>.</a:t>
            </a:r>
          </a:p>
          <a:p>
            <a:pPr marL="114300" indent="0" algn="just">
              <a:buNone/>
            </a:pPr>
            <a:endParaRPr lang="en-US" sz="2000" dirty="0"/>
          </a:p>
          <a:p>
            <a:pPr algn="just"/>
            <a:r>
              <a:rPr lang="en-US" sz="2000" dirty="0"/>
              <a:t>Address lines A</a:t>
            </a:r>
            <a:r>
              <a:rPr lang="en-US" sz="2000" baseline="-25000" dirty="0"/>
              <a:t>0</a:t>
            </a:r>
            <a:r>
              <a:rPr lang="en-US" sz="2000" dirty="0"/>
              <a:t> &amp; A</a:t>
            </a:r>
            <a:r>
              <a:rPr lang="en-US" sz="2000" baseline="-25000" dirty="0"/>
              <a:t>1</a:t>
            </a:r>
            <a:r>
              <a:rPr lang="en-US" sz="2000" dirty="0"/>
              <a:t> of the CPU are connected to lines A</a:t>
            </a:r>
            <a:r>
              <a:rPr lang="en-US" sz="2000" baseline="-25000" dirty="0"/>
              <a:t>0</a:t>
            </a:r>
            <a:r>
              <a:rPr lang="en-US" sz="2000" dirty="0"/>
              <a:t> and A</a:t>
            </a:r>
            <a:r>
              <a:rPr lang="en-US" sz="2000" baseline="-25000" dirty="0"/>
              <a:t>1</a:t>
            </a:r>
            <a:r>
              <a:rPr lang="en-US" sz="2000" dirty="0"/>
              <a:t> of the 8253/54, and CS is tied to a decoded address. The control word register and counters are selected according to the signals on lines A</a:t>
            </a:r>
            <a:r>
              <a:rPr lang="en-US" sz="2000" baseline="-25000" dirty="0"/>
              <a:t>0</a:t>
            </a:r>
            <a:r>
              <a:rPr lang="en-US" sz="2000" dirty="0"/>
              <a:t> &amp; A</a:t>
            </a:r>
            <a:r>
              <a:rPr lang="en-US" sz="2000" baseline="-25000" dirty="0"/>
              <a:t>1</a:t>
            </a:r>
            <a:r>
              <a:rPr lang="en-US" sz="2000" dirty="0"/>
              <a:t>.</a:t>
            </a:r>
          </a:p>
          <a:p>
            <a:pPr marL="114300" indent="0" algn="just">
              <a:buNone/>
            </a:pPr>
            <a:endParaRPr lang="en-US" sz="20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31</a:t>
            </a:fld>
            <a:endParaRPr lang="en-US"/>
          </a:p>
        </p:txBody>
      </p:sp>
      <p:pic>
        <p:nvPicPr>
          <p:cNvPr id="2050" name="Picture 2" descr="8254 Pin Descri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039812"/>
            <a:ext cx="3987630" cy="558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3830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8254 Pin Description</a:t>
            </a:r>
          </a:p>
        </p:txBody>
      </p:sp>
      <p:sp>
        <p:nvSpPr>
          <p:cNvPr id="3" name="Text Placeholder 2"/>
          <p:cNvSpPr>
            <a:spLocks noGrp="1"/>
          </p:cNvSpPr>
          <p:nvPr>
            <p:ph type="body" idx="1"/>
          </p:nvPr>
        </p:nvSpPr>
        <p:spPr>
          <a:xfrm>
            <a:off x="-1" y="914400"/>
            <a:ext cx="6229351" cy="5772150"/>
          </a:xfrm>
        </p:spPr>
        <p:txBody>
          <a:bodyPr/>
          <a:lstStyle/>
          <a:p>
            <a:pPr marL="114300" indent="0" algn="just">
              <a:buNone/>
            </a:pPr>
            <a:endParaRPr lang="en-US" sz="20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32</a:t>
            </a:fld>
            <a:endParaRPr lang="en-US"/>
          </a:p>
        </p:txBody>
      </p:sp>
      <p:pic>
        <p:nvPicPr>
          <p:cNvPr id="2050" name="Picture 2" descr="8254 Pin Descri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0" y="1039812"/>
            <a:ext cx="3054180" cy="55895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extLst>
              <p:ext uri="{D42A27DB-BD31-4B8C-83A1-F6EECF244321}">
                <p14:modId xmlns:p14="http://schemas.microsoft.com/office/powerpoint/2010/main" val="3519208778"/>
              </p:ext>
            </p:extLst>
          </p:nvPr>
        </p:nvGraphicFramePr>
        <p:xfrm>
          <a:off x="105519" y="1640046"/>
          <a:ext cx="5933331" cy="4232090"/>
        </p:xfrm>
        <a:graphic>
          <a:graphicData uri="http://schemas.openxmlformats.org/drawingml/2006/table">
            <a:tbl>
              <a:tblPr>
                <a:tableStyleId>{775DCB02-9BB8-47FD-8907-85C794F793BA}</a:tableStyleId>
              </a:tblPr>
              <a:tblGrid>
                <a:gridCol w="1977777"/>
                <a:gridCol w="1977777"/>
                <a:gridCol w="1977777"/>
              </a:tblGrid>
              <a:tr h="669634">
                <a:tc>
                  <a:txBody>
                    <a:bodyPr/>
                    <a:lstStyle/>
                    <a:p>
                      <a:pPr algn="ctr"/>
                      <a:r>
                        <a:rPr lang="en-US" sz="2400" b="1" dirty="0">
                          <a:effectLst/>
                        </a:rPr>
                        <a:t>A</a:t>
                      </a:r>
                      <a:r>
                        <a:rPr lang="en-US" sz="2400" b="1" baseline="-25000" dirty="0">
                          <a:effectLst/>
                        </a:rPr>
                        <a:t>1</a:t>
                      </a:r>
                      <a:endParaRPr lang="en-US" sz="2400" b="1" dirty="0">
                        <a:effectLst/>
                        <a:latin typeface="inherit"/>
                      </a:endParaRPr>
                    </a:p>
                  </a:txBody>
                  <a:tcPr marL="76200" marR="76200" marT="76200" marB="76200" anchor="ctr"/>
                </a:tc>
                <a:tc>
                  <a:txBody>
                    <a:bodyPr/>
                    <a:lstStyle/>
                    <a:p>
                      <a:pPr algn="ctr"/>
                      <a:r>
                        <a:rPr lang="en-US" sz="2400" b="1">
                          <a:effectLst/>
                        </a:rPr>
                        <a:t>A</a:t>
                      </a:r>
                      <a:r>
                        <a:rPr lang="en-US" sz="2400" b="1" baseline="-25000">
                          <a:effectLst/>
                        </a:rPr>
                        <a:t>0</a:t>
                      </a:r>
                      <a:endParaRPr lang="en-US" sz="2400" b="1">
                        <a:effectLst/>
                        <a:latin typeface="inherit"/>
                      </a:endParaRPr>
                    </a:p>
                  </a:txBody>
                  <a:tcPr marL="76200" marR="76200" marT="76200" marB="76200" anchor="ctr"/>
                </a:tc>
                <a:tc>
                  <a:txBody>
                    <a:bodyPr/>
                    <a:lstStyle/>
                    <a:p>
                      <a:pPr algn="ctr"/>
                      <a:r>
                        <a:rPr lang="en-US" sz="2400" b="1" dirty="0">
                          <a:effectLst/>
                        </a:rPr>
                        <a:t>Result</a:t>
                      </a:r>
                      <a:endParaRPr lang="en-US" sz="2400" b="1" dirty="0">
                        <a:effectLst/>
                        <a:latin typeface="inherit"/>
                      </a:endParaRPr>
                    </a:p>
                  </a:txBody>
                  <a:tcPr marL="76200" marR="76200" marT="76200" marB="76200" anchor="ctr"/>
                </a:tc>
              </a:tr>
              <a:tr h="669634">
                <a:tc>
                  <a:txBody>
                    <a:bodyPr/>
                    <a:lstStyle/>
                    <a:p>
                      <a:pPr algn="ctr"/>
                      <a:r>
                        <a:rPr lang="en-US" sz="2400">
                          <a:effectLst/>
                        </a:rPr>
                        <a:t>0</a:t>
                      </a:r>
                    </a:p>
                  </a:txBody>
                  <a:tcPr marL="76200" marR="76200" marT="76200" marB="76200" anchor="ctr"/>
                </a:tc>
                <a:tc>
                  <a:txBody>
                    <a:bodyPr/>
                    <a:lstStyle/>
                    <a:p>
                      <a:pPr algn="ctr"/>
                      <a:r>
                        <a:rPr lang="en-US" sz="2400" dirty="0">
                          <a:effectLst/>
                        </a:rPr>
                        <a:t>0</a:t>
                      </a:r>
                    </a:p>
                  </a:txBody>
                  <a:tcPr marL="76200" marR="76200" marT="76200" marB="76200" anchor="ctr"/>
                </a:tc>
                <a:tc>
                  <a:txBody>
                    <a:bodyPr/>
                    <a:lstStyle/>
                    <a:p>
                      <a:pPr algn="ctr"/>
                      <a:r>
                        <a:rPr lang="en-US" sz="2400" dirty="0">
                          <a:effectLst/>
                        </a:rPr>
                        <a:t>Counter 0</a:t>
                      </a:r>
                    </a:p>
                  </a:txBody>
                  <a:tcPr marL="76200" marR="76200" marT="76200" marB="76200" anchor="ctr"/>
                </a:tc>
              </a:tr>
              <a:tr h="669634">
                <a:tc>
                  <a:txBody>
                    <a:bodyPr/>
                    <a:lstStyle/>
                    <a:p>
                      <a:pPr algn="ctr"/>
                      <a:r>
                        <a:rPr lang="en-US" sz="2400">
                          <a:effectLst/>
                        </a:rPr>
                        <a:t>0</a:t>
                      </a:r>
                    </a:p>
                  </a:txBody>
                  <a:tcPr marL="76200" marR="76200" marT="76200" marB="76200" anchor="ctr"/>
                </a:tc>
                <a:tc>
                  <a:txBody>
                    <a:bodyPr/>
                    <a:lstStyle/>
                    <a:p>
                      <a:pPr algn="ctr"/>
                      <a:r>
                        <a:rPr lang="en-US" sz="2400">
                          <a:effectLst/>
                        </a:rPr>
                        <a:t>1</a:t>
                      </a:r>
                    </a:p>
                  </a:txBody>
                  <a:tcPr marL="76200" marR="76200" marT="76200" marB="76200" anchor="ctr"/>
                </a:tc>
                <a:tc>
                  <a:txBody>
                    <a:bodyPr/>
                    <a:lstStyle/>
                    <a:p>
                      <a:pPr algn="ctr"/>
                      <a:r>
                        <a:rPr lang="en-US" sz="2400">
                          <a:effectLst/>
                        </a:rPr>
                        <a:t>Counter 1</a:t>
                      </a:r>
                    </a:p>
                  </a:txBody>
                  <a:tcPr marL="76200" marR="76200" marT="76200" marB="76200" anchor="ctr"/>
                </a:tc>
              </a:tr>
              <a:tr h="669634">
                <a:tc>
                  <a:txBody>
                    <a:bodyPr/>
                    <a:lstStyle/>
                    <a:p>
                      <a:pPr algn="ctr"/>
                      <a:r>
                        <a:rPr lang="en-US" sz="2400">
                          <a:effectLst/>
                        </a:rPr>
                        <a:t>1</a:t>
                      </a:r>
                    </a:p>
                  </a:txBody>
                  <a:tcPr marL="76200" marR="76200" marT="76200" marB="76200" anchor="ctr"/>
                </a:tc>
                <a:tc>
                  <a:txBody>
                    <a:bodyPr/>
                    <a:lstStyle/>
                    <a:p>
                      <a:pPr algn="ctr"/>
                      <a:r>
                        <a:rPr lang="en-US" sz="2400">
                          <a:effectLst/>
                        </a:rPr>
                        <a:t>0</a:t>
                      </a:r>
                    </a:p>
                  </a:txBody>
                  <a:tcPr marL="76200" marR="76200" marT="76200" marB="76200" anchor="ctr"/>
                </a:tc>
                <a:tc>
                  <a:txBody>
                    <a:bodyPr/>
                    <a:lstStyle/>
                    <a:p>
                      <a:pPr algn="ctr"/>
                      <a:r>
                        <a:rPr lang="en-US" sz="2400">
                          <a:effectLst/>
                        </a:rPr>
                        <a:t>Counter 2</a:t>
                      </a:r>
                    </a:p>
                  </a:txBody>
                  <a:tcPr marL="76200" marR="76200" marT="76200" marB="76200" anchor="ctr"/>
                </a:tc>
              </a:tr>
              <a:tr h="669634">
                <a:tc>
                  <a:txBody>
                    <a:bodyPr/>
                    <a:lstStyle/>
                    <a:p>
                      <a:pPr algn="ctr"/>
                      <a:r>
                        <a:rPr lang="en-US" sz="2400">
                          <a:effectLst/>
                        </a:rPr>
                        <a:t>1</a:t>
                      </a:r>
                    </a:p>
                  </a:txBody>
                  <a:tcPr marL="76200" marR="76200" marT="76200" marB="76200" anchor="ctr"/>
                </a:tc>
                <a:tc>
                  <a:txBody>
                    <a:bodyPr/>
                    <a:lstStyle/>
                    <a:p>
                      <a:pPr algn="ctr"/>
                      <a:r>
                        <a:rPr lang="en-US" sz="2400">
                          <a:effectLst/>
                        </a:rPr>
                        <a:t>1</a:t>
                      </a:r>
                    </a:p>
                  </a:txBody>
                  <a:tcPr marL="76200" marR="76200" marT="76200" marB="76200" anchor="ctr"/>
                </a:tc>
                <a:tc>
                  <a:txBody>
                    <a:bodyPr/>
                    <a:lstStyle/>
                    <a:p>
                      <a:pPr algn="ctr"/>
                      <a:r>
                        <a:rPr lang="en-US" sz="2400">
                          <a:effectLst/>
                        </a:rPr>
                        <a:t>Control Word Register</a:t>
                      </a:r>
                    </a:p>
                  </a:txBody>
                  <a:tcPr marL="76200" marR="76200" marT="76200" marB="76200" anchor="ctr"/>
                </a:tc>
              </a:tr>
              <a:tr h="669634">
                <a:tc>
                  <a:txBody>
                    <a:bodyPr/>
                    <a:lstStyle/>
                    <a:p>
                      <a:pPr algn="ctr"/>
                      <a:r>
                        <a:rPr lang="en-US" sz="2400">
                          <a:effectLst/>
                        </a:rPr>
                        <a:t>X</a:t>
                      </a:r>
                    </a:p>
                  </a:txBody>
                  <a:tcPr marL="76200" marR="76200" marT="76200" marB="76200" anchor="ctr"/>
                </a:tc>
                <a:tc>
                  <a:txBody>
                    <a:bodyPr/>
                    <a:lstStyle/>
                    <a:p>
                      <a:pPr algn="ctr"/>
                      <a:r>
                        <a:rPr lang="en-US" sz="2400">
                          <a:effectLst/>
                        </a:rPr>
                        <a:t>X</a:t>
                      </a:r>
                    </a:p>
                  </a:txBody>
                  <a:tcPr marL="76200" marR="76200" marT="76200" marB="76200" anchor="ctr"/>
                </a:tc>
                <a:tc>
                  <a:txBody>
                    <a:bodyPr/>
                    <a:lstStyle/>
                    <a:p>
                      <a:pPr algn="ctr"/>
                      <a:r>
                        <a:rPr lang="en-US" sz="2400" dirty="0">
                          <a:effectLst/>
                        </a:rPr>
                        <a:t>No Selection</a:t>
                      </a:r>
                    </a:p>
                  </a:txBody>
                  <a:tcPr marL="76200" marR="76200" marT="76200" marB="76200" anchor="ctr"/>
                </a:tc>
              </a:tr>
            </a:tbl>
          </a:graphicData>
        </a:graphic>
      </p:graphicFrame>
    </p:spTree>
    <p:extLst>
      <p:ext uri="{BB962C8B-B14F-4D97-AF65-F5344CB8AC3E}">
        <p14:creationId xmlns:p14="http://schemas.microsoft.com/office/powerpoint/2010/main" val="31239337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8254 Pin Description</a:t>
            </a:r>
          </a:p>
        </p:txBody>
      </p:sp>
      <p:sp>
        <p:nvSpPr>
          <p:cNvPr id="3" name="Text Placeholder 2"/>
          <p:cNvSpPr>
            <a:spLocks noGrp="1"/>
          </p:cNvSpPr>
          <p:nvPr>
            <p:ph type="body" idx="1"/>
          </p:nvPr>
        </p:nvSpPr>
        <p:spPr>
          <a:xfrm>
            <a:off x="-1" y="2000250"/>
            <a:ext cx="6610351" cy="4610100"/>
          </a:xfrm>
        </p:spPr>
        <p:txBody>
          <a:bodyPr/>
          <a:lstStyle/>
          <a:p>
            <a:pPr marL="114300" indent="0" algn="just">
              <a:buNone/>
            </a:pPr>
            <a:r>
              <a:rPr lang="en-US" sz="2000" b="1" dirty="0"/>
              <a:t>Control Word </a:t>
            </a:r>
            <a:r>
              <a:rPr lang="en-US" sz="2000" b="1" dirty="0" smtClean="0"/>
              <a:t>Register:</a:t>
            </a:r>
            <a:endParaRPr lang="en-US" sz="2000" b="1" dirty="0"/>
          </a:p>
          <a:p>
            <a:pPr marL="114300" indent="0" algn="just">
              <a:buNone/>
            </a:pPr>
            <a:r>
              <a:rPr lang="en-US" sz="2000" dirty="0"/>
              <a:t>This register is accessed when lines A0 &amp; A1 are at logic 1. It is used to write a command word, which specifies the counter to be used, its mode, and either a read or write operation.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33</a:t>
            </a:fld>
            <a:endParaRPr lang="en-US"/>
          </a:p>
        </p:txBody>
      </p:sp>
      <p:pic>
        <p:nvPicPr>
          <p:cNvPr id="2050" name="Picture 2" descr="8254 Pin Descri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1039812"/>
            <a:ext cx="2501730" cy="558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748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8254 Pin Description</a:t>
            </a:r>
          </a:p>
        </p:txBody>
      </p:sp>
      <p:sp>
        <p:nvSpPr>
          <p:cNvPr id="3" name="Text Placeholder 2"/>
          <p:cNvSpPr>
            <a:spLocks noGrp="1"/>
          </p:cNvSpPr>
          <p:nvPr>
            <p:ph type="body" idx="1"/>
          </p:nvPr>
        </p:nvSpPr>
        <p:spPr>
          <a:xfrm>
            <a:off x="-1" y="2000250"/>
            <a:ext cx="6610351" cy="4610100"/>
          </a:xfrm>
        </p:spPr>
        <p:txBody>
          <a:bodyPr/>
          <a:lstStyle/>
          <a:p>
            <a:pPr marL="114300" indent="0" algn="just">
              <a:buNone/>
            </a:pPr>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34</a:t>
            </a:fld>
            <a:endParaRPr lang="en-US"/>
          </a:p>
        </p:txBody>
      </p:sp>
      <p:pic>
        <p:nvPicPr>
          <p:cNvPr id="2050" name="Picture 2" descr="8254 Pin Descri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1039812"/>
            <a:ext cx="2501730" cy="55895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extLst>
              <p:ext uri="{D42A27DB-BD31-4B8C-83A1-F6EECF244321}">
                <p14:modId xmlns:p14="http://schemas.microsoft.com/office/powerpoint/2010/main" val="2942435533"/>
              </p:ext>
            </p:extLst>
          </p:nvPr>
        </p:nvGraphicFramePr>
        <p:xfrm>
          <a:off x="121104" y="1039812"/>
          <a:ext cx="6336846" cy="5459420"/>
        </p:xfrm>
        <a:graphic>
          <a:graphicData uri="http://schemas.openxmlformats.org/drawingml/2006/table">
            <a:tbl>
              <a:tblPr>
                <a:tableStyleId>{775DCB02-9BB8-47FD-8907-85C794F793BA}</a:tableStyleId>
              </a:tblPr>
              <a:tblGrid>
                <a:gridCol w="755196"/>
                <a:gridCol w="685800"/>
                <a:gridCol w="552450"/>
                <a:gridCol w="590550"/>
                <a:gridCol w="571500"/>
                <a:gridCol w="3181350"/>
              </a:tblGrid>
              <a:tr h="310834">
                <a:tc>
                  <a:txBody>
                    <a:bodyPr/>
                    <a:lstStyle/>
                    <a:p>
                      <a:pPr algn="ctr"/>
                      <a:r>
                        <a:rPr lang="en-US" sz="1600" b="1" dirty="0">
                          <a:effectLst/>
                        </a:rPr>
                        <a:t>A</a:t>
                      </a:r>
                      <a:r>
                        <a:rPr lang="en-US" sz="1600" b="1" baseline="-25000" dirty="0">
                          <a:effectLst/>
                        </a:rPr>
                        <a:t>1</a:t>
                      </a:r>
                      <a:endParaRPr lang="en-US" sz="1600" b="1" dirty="0">
                        <a:effectLst/>
                        <a:latin typeface="inherit"/>
                      </a:endParaRPr>
                    </a:p>
                  </a:txBody>
                  <a:tcPr marL="54138" marR="54138" marT="54138" marB="54138" anchor="ctr"/>
                </a:tc>
                <a:tc>
                  <a:txBody>
                    <a:bodyPr/>
                    <a:lstStyle/>
                    <a:p>
                      <a:pPr algn="ctr"/>
                      <a:r>
                        <a:rPr lang="en-US" sz="1600" b="1">
                          <a:effectLst/>
                        </a:rPr>
                        <a:t>A</a:t>
                      </a:r>
                      <a:r>
                        <a:rPr lang="en-US" sz="1600" b="1" baseline="-25000">
                          <a:effectLst/>
                        </a:rPr>
                        <a:t>0</a:t>
                      </a:r>
                      <a:endParaRPr lang="en-US" sz="1600" b="1">
                        <a:effectLst/>
                        <a:latin typeface="inherit"/>
                      </a:endParaRPr>
                    </a:p>
                  </a:txBody>
                  <a:tcPr marL="54138" marR="54138" marT="54138" marB="54138" anchor="ctr"/>
                </a:tc>
                <a:tc>
                  <a:txBody>
                    <a:bodyPr/>
                    <a:lstStyle/>
                    <a:p>
                      <a:pPr algn="ctr"/>
                      <a:r>
                        <a:rPr lang="en-US" sz="1600" b="1">
                          <a:effectLst/>
                        </a:rPr>
                        <a:t>RD</a:t>
                      </a:r>
                      <a:endParaRPr lang="en-US" sz="1600" b="1">
                        <a:effectLst/>
                        <a:latin typeface="inherit"/>
                      </a:endParaRPr>
                    </a:p>
                  </a:txBody>
                  <a:tcPr marL="54138" marR="54138" marT="54138" marB="54138" anchor="ctr"/>
                </a:tc>
                <a:tc>
                  <a:txBody>
                    <a:bodyPr/>
                    <a:lstStyle/>
                    <a:p>
                      <a:pPr algn="ctr"/>
                      <a:r>
                        <a:rPr lang="en-US" sz="1600" b="1">
                          <a:effectLst/>
                        </a:rPr>
                        <a:t>WR</a:t>
                      </a:r>
                      <a:endParaRPr lang="en-US" sz="1600" b="1">
                        <a:effectLst/>
                        <a:latin typeface="inherit"/>
                      </a:endParaRPr>
                    </a:p>
                  </a:txBody>
                  <a:tcPr marL="54138" marR="54138" marT="54138" marB="54138" anchor="ctr"/>
                </a:tc>
                <a:tc>
                  <a:txBody>
                    <a:bodyPr/>
                    <a:lstStyle/>
                    <a:p>
                      <a:pPr algn="ctr"/>
                      <a:r>
                        <a:rPr lang="en-US" sz="1600" b="1">
                          <a:effectLst/>
                        </a:rPr>
                        <a:t>CS</a:t>
                      </a:r>
                      <a:endParaRPr lang="en-US" sz="1600" b="1">
                        <a:effectLst/>
                        <a:latin typeface="inherit"/>
                      </a:endParaRPr>
                    </a:p>
                  </a:txBody>
                  <a:tcPr marL="54138" marR="54138" marT="54138" marB="54138" anchor="ctr"/>
                </a:tc>
                <a:tc>
                  <a:txBody>
                    <a:bodyPr/>
                    <a:lstStyle/>
                    <a:p>
                      <a:pPr algn="ctr"/>
                      <a:r>
                        <a:rPr lang="en-US" sz="1600" b="1" dirty="0">
                          <a:effectLst/>
                        </a:rPr>
                        <a:t>Result</a:t>
                      </a:r>
                      <a:endParaRPr lang="en-US" sz="1600" b="1" dirty="0">
                        <a:effectLst/>
                        <a:latin typeface="inherit"/>
                      </a:endParaRPr>
                    </a:p>
                  </a:txBody>
                  <a:tcPr marL="54138" marR="54138" marT="54138" marB="54138" anchor="ctr"/>
                </a:tc>
              </a:tr>
              <a:tr h="492558">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dirty="0">
                          <a:effectLst/>
                        </a:rPr>
                        <a:t>Write Counter 0</a:t>
                      </a:r>
                    </a:p>
                  </a:txBody>
                  <a:tcPr marL="54138" marR="54138" marT="54138" marB="54138" anchor="ctr"/>
                </a:tc>
              </a:tr>
              <a:tr h="492558">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Write Counter 1</a:t>
                      </a:r>
                    </a:p>
                  </a:txBody>
                  <a:tcPr marL="54138" marR="54138" marT="54138" marB="54138" anchor="ctr"/>
                </a:tc>
              </a:tr>
              <a:tr h="492558">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Write Counter 2</a:t>
                      </a:r>
                    </a:p>
                  </a:txBody>
                  <a:tcPr marL="54138" marR="54138" marT="54138" marB="54138" anchor="ctr"/>
                </a:tc>
              </a:tr>
              <a:tr h="674282">
                <a:tc>
                  <a:txBody>
                    <a:bodyPr/>
                    <a:lstStyle/>
                    <a:p>
                      <a:pPr algn="ctr"/>
                      <a:r>
                        <a:rPr lang="en-US" sz="1600">
                          <a:effectLst/>
                        </a:rPr>
                        <a:t>1</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Write Control Word</a:t>
                      </a:r>
                    </a:p>
                  </a:txBody>
                  <a:tcPr marL="54138" marR="54138" marT="54138" marB="54138" anchor="ctr"/>
                </a:tc>
              </a:tr>
              <a:tr h="492558">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Read Counter 0</a:t>
                      </a:r>
                    </a:p>
                  </a:txBody>
                  <a:tcPr marL="54138" marR="54138" marT="54138" marB="54138" anchor="ctr"/>
                </a:tc>
              </a:tr>
              <a:tr h="492558">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dirty="0">
                          <a:effectLst/>
                        </a:rPr>
                        <a:t>0</a:t>
                      </a:r>
                    </a:p>
                  </a:txBody>
                  <a:tcPr marL="54138" marR="54138" marT="54138" marB="54138" anchor="ctr"/>
                </a:tc>
                <a:tc>
                  <a:txBody>
                    <a:bodyPr/>
                    <a:lstStyle/>
                    <a:p>
                      <a:pPr algn="ctr"/>
                      <a:r>
                        <a:rPr lang="en-US" sz="1600">
                          <a:effectLst/>
                        </a:rPr>
                        <a:t>Read Counter 1</a:t>
                      </a:r>
                    </a:p>
                  </a:txBody>
                  <a:tcPr marL="54138" marR="54138" marT="54138" marB="54138" anchor="ctr"/>
                </a:tc>
              </a:tr>
              <a:tr h="492558">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Read Counter 2</a:t>
                      </a:r>
                    </a:p>
                  </a:txBody>
                  <a:tcPr marL="54138" marR="54138" marT="54138" marB="54138" anchor="ctr"/>
                </a:tc>
              </a:tr>
              <a:tr h="492558">
                <a:tc>
                  <a:txBody>
                    <a:bodyPr/>
                    <a:lstStyle/>
                    <a:p>
                      <a:pPr algn="ctr"/>
                      <a:r>
                        <a:rPr lang="en-US" sz="1600">
                          <a:effectLst/>
                        </a:rPr>
                        <a:t>1</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No operation</a:t>
                      </a:r>
                    </a:p>
                  </a:txBody>
                  <a:tcPr marL="54138" marR="54138" marT="54138" marB="54138" anchor="ctr"/>
                </a:tc>
              </a:tr>
              <a:tr h="492558">
                <a:tc>
                  <a:txBody>
                    <a:bodyPr/>
                    <a:lstStyle/>
                    <a:p>
                      <a:pPr algn="ctr"/>
                      <a:r>
                        <a:rPr lang="en-US" sz="1600">
                          <a:effectLst/>
                        </a:rPr>
                        <a:t>X</a:t>
                      </a:r>
                    </a:p>
                  </a:txBody>
                  <a:tcPr marL="54138" marR="54138" marT="54138" marB="54138" anchor="ctr"/>
                </a:tc>
                <a:tc>
                  <a:txBody>
                    <a:bodyPr/>
                    <a:lstStyle/>
                    <a:p>
                      <a:pPr algn="ctr"/>
                      <a:r>
                        <a:rPr lang="en-US" sz="1600">
                          <a:effectLst/>
                        </a:rPr>
                        <a:t>X</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a:effectLst/>
                        </a:rPr>
                        <a:t>0</a:t>
                      </a:r>
                    </a:p>
                  </a:txBody>
                  <a:tcPr marL="54138" marR="54138" marT="54138" marB="54138" anchor="ctr"/>
                </a:tc>
                <a:tc>
                  <a:txBody>
                    <a:bodyPr/>
                    <a:lstStyle/>
                    <a:p>
                      <a:pPr algn="ctr"/>
                      <a:r>
                        <a:rPr lang="en-US" sz="1600">
                          <a:effectLst/>
                        </a:rPr>
                        <a:t>No operation</a:t>
                      </a:r>
                    </a:p>
                  </a:txBody>
                  <a:tcPr marL="54138" marR="54138" marT="54138" marB="54138" anchor="ctr"/>
                </a:tc>
              </a:tr>
              <a:tr h="492558">
                <a:tc>
                  <a:txBody>
                    <a:bodyPr/>
                    <a:lstStyle/>
                    <a:p>
                      <a:pPr algn="ctr"/>
                      <a:r>
                        <a:rPr lang="en-US" sz="1600">
                          <a:effectLst/>
                        </a:rPr>
                        <a:t>X</a:t>
                      </a:r>
                    </a:p>
                  </a:txBody>
                  <a:tcPr marL="54138" marR="54138" marT="54138" marB="54138" anchor="ctr"/>
                </a:tc>
                <a:tc>
                  <a:txBody>
                    <a:bodyPr/>
                    <a:lstStyle/>
                    <a:p>
                      <a:pPr algn="ctr"/>
                      <a:r>
                        <a:rPr lang="en-US" sz="1600">
                          <a:effectLst/>
                        </a:rPr>
                        <a:t>X</a:t>
                      </a:r>
                    </a:p>
                  </a:txBody>
                  <a:tcPr marL="54138" marR="54138" marT="54138" marB="54138" anchor="ctr"/>
                </a:tc>
                <a:tc>
                  <a:txBody>
                    <a:bodyPr/>
                    <a:lstStyle/>
                    <a:p>
                      <a:pPr algn="ctr"/>
                      <a:r>
                        <a:rPr lang="en-US" sz="1600">
                          <a:effectLst/>
                        </a:rPr>
                        <a:t>X</a:t>
                      </a:r>
                    </a:p>
                  </a:txBody>
                  <a:tcPr marL="54138" marR="54138" marT="54138" marB="54138" anchor="ctr"/>
                </a:tc>
                <a:tc>
                  <a:txBody>
                    <a:bodyPr/>
                    <a:lstStyle/>
                    <a:p>
                      <a:pPr algn="ctr"/>
                      <a:r>
                        <a:rPr lang="en-US" sz="1600">
                          <a:effectLst/>
                        </a:rPr>
                        <a:t>X</a:t>
                      </a:r>
                    </a:p>
                  </a:txBody>
                  <a:tcPr marL="54138" marR="54138" marT="54138" marB="54138" anchor="ctr"/>
                </a:tc>
                <a:tc>
                  <a:txBody>
                    <a:bodyPr/>
                    <a:lstStyle/>
                    <a:p>
                      <a:pPr algn="ctr"/>
                      <a:r>
                        <a:rPr lang="en-US" sz="1600">
                          <a:effectLst/>
                        </a:rPr>
                        <a:t>1</a:t>
                      </a:r>
                    </a:p>
                  </a:txBody>
                  <a:tcPr marL="54138" marR="54138" marT="54138" marB="54138" anchor="ctr"/>
                </a:tc>
                <a:tc>
                  <a:txBody>
                    <a:bodyPr/>
                    <a:lstStyle/>
                    <a:p>
                      <a:pPr algn="ctr"/>
                      <a:r>
                        <a:rPr lang="en-US" sz="1600" dirty="0">
                          <a:effectLst/>
                        </a:rPr>
                        <a:t>No operation</a:t>
                      </a:r>
                    </a:p>
                  </a:txBody>
                  <a:tcPr marL="54138" marR="54138" marT="54138" marB="54138" anchor="ctr"/>
                </a:tc>
              </a:tr>
            </a:tbl>
          </a:graphicData>
        </a:graphic>
      </p:graphicFrame>
    </p:spTree>
    <p:extLst>
      <p:ext uri="{BB962C8B-B14F-4D97-AF65-F5344CB8AC3E}">
        <p14:creationId xmlns:p14="http://schemas.microsoft.com/office/powerpoint/2010/main" val="58542730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8254 Pin Description</a:t>
            </a:r>
          </a:p>
        </p:txBody>
      </p:sp>
      <p:sp>
        <p:nvSpPr>
          <p:cNvPr id="3" name="Text Placeholder 2"/>
          <p:cNvSpPr>
            <a:spLocks noGrp="1"/>
          </p:cNvSpPr>
          <p:nvPr>
            <p:ph type="body" idx="1"/>
          </p:nvPr>
        </p:nvSpPr>
        <p:spPr>
          <a:xfrm>
            <a:off x="-1" y="1676400"/>
            <a:ext cx="5810251" cy="4933950"/>
          </a:xfrm>
        </p:spPr>
        <p:txBody>
          <a:bodyPr/>
          <a:lstStyle/>
          <a:p>
            <a:pPr marL="114300" indent="0" algn="just">
              <a:buNone/>
            </a:pPr>
            <a:r>
              <a:rPr lang="en-US" sz="2400" b="1" dirty="0" smtClean="0"/>
              <a:t>Counters:</a:t>
            </a:r>
            <a:endParaRPr lang="en-US" sz="2400" b="1" dirty="0"/>
          </a:p>
          <a:p>
            <a:pPr algn="just"/>
            <a:r>
              <a:rPr lang="en-US" sz="2400" dirty="0"/>
              <a:t>Each counter consists of a single, 16 bit-down counter, which can be operated in either binary or BCD. </a:t>
            </a:r>
            <a:endParaRPr lang="en-US" sz="2400" dirty="0" smtClean="0"/>
          </a:p>
          <a:p>
            <a:pPr algn="just"/>
            <a:r>
              <a:rPr lang="en-US" sz="2400" dirty="0" smtClean="0"/>
              <a:t>Its </a:t>
            </a:r>
            <a:r>
              <a:rPr lang="en-US" sz="2400" dirty="0"/>
              <a:t>input and output is configured by the selection of modes stored in the control word register. </a:t>
            </a:r>
            <a:endParaRPr lang="en-US" sz="2400" dirty="0" smtClean="0"/>
          </a:p>
          <a:p>
            <a:pPr algn="just"/>
            <a:r>
              <a:rPr lang="en-US" sz="2400" dirty="0" smtClean="0"/>
              <a:t>The </a:t>
            </a:r>
            <a:r>
              <a:rPr lang="en-US" sz="2400" dirty="0"/>
              <a:t>programmer can read the contents of any of the three counters without disturbing the actual count in process.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35</a:t>
            </a:fld>
            <a:endParaRPr lang="en-US"/>
          </a:p>
        </p:txBody>
      </p:sp>
      <p:pic>
        <p:nvPicPr>
          <p:cNvPr id="2050" name="Picture 2" descr="8254 Pin Descri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0" y="1039812"/>
            <a:ext cx="3301830" cy="558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6398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8253/54 - Operational Modes</a:t>
            </a:r>
          </a:p>
        </p:txBody>
      </p:sp>
      <p:sp>
        <p:nvSpPr>
          <p:cNvPr id="3" name="Text Placeholder 2"/>
          <p:cNvSpPr>
            <a:spLocks noGrp="1"/>
          </p:cNvSpPr>
          <p:nvPr>
            <p:ph type="body" idx="1"/>
          </p:nvPr>
        </p:nvSpPr>
        <p:spPr>
          <a:xfrm>
            <a:off x="-1" y="762000"/>
            <a:ext cx="9144001" cy="5848350"/>
          </a:xfrm>
        </p:spPr>
        <p:txBody>
          <a:bodyPr/>
          <a:lstStyle/>
          <a:p>
            <a:pPr marL="114300" indent="0" algn="just">
              <a:buNone/>
            </a:pPr>
            <a:r>
              <a:rPr lang="en-US" sz="2000" b="1" dirty="0"/>
              <a:t>8253/54 can be operated </a:t>
            </a:r>
            <a:r>
              <a:rPr lang="en-US" sz="2000" b="1" dirty="0" smtClean="0"/>
              <a:t>in </a:t>
            </a:r>
            <a:r>
              <a:rPr lang="en-US" sz="2000" b="1" dirty="0"/>
              <a:t>different modes</a:t>
            </a:r>
            <a:r>
              <a:rPr lang="en-US" sz="2000" b="1" dirty="0" smtClean="0"/>
              <a:t>.</a:t>
            </a:r>
          </a:p>
          <a:p>
            <a:pPr marL="114300" indent="0" algn="just">
              <a:buNone/>
            </a:pPr>
            <a:endParaRPr lang="en-US" sz="2000" b="1" dirty="0" smtClean="0"/>
          </a:p>
          <a:p>
            <a:pPr marL="114300" indent="0" algn="just">
              <a:buNone/>
            </a:pPr>
            <a:r>
              <a:rPr lang="en-US" sz="2000" b="1" dirty="0" smtClean="0"/>
              <a:t>Mode </a:t>
            </a:r>
            <a:r>
              <a:rPr lang="en-US" sz="2000" b="1" dirty="0"/>
              <a:t>0 ─ Interrupt on Terminal </a:t>
            </a:r>
            <a:r>
              <a:rPr lang="en-US" sz="2000" b="1" dirty="0" smtClean="0"/>
              <a:t>Count:</a:t>
            </a:r>
            <a:endParaRPr lang="en-US" sz="2000" b="1" dirty="0"/>
          </a:p>
          <a:p>
            <a:pPr algn="just"/>
            <a:r>
              <a:rPr lang="en-US" sz="2000" dirty="0"/>
              <a:t>It is used to generate an interrupt to the microprocessor after a certain interval.</a:t>
            </a:r>
          </a:p>
          <a:p>
            <a:pPr algn="just"/>
            <a:r>
              <a:rPr lang="en-US" sz="2000" dirty="0"/>
              <a:t>Initially the output is low after the mode is set. The output remains LOW after the count value is loaded into the counter.</a:t>
            </a:r>
          </a:p>
          <a:p>
            <a:pPr algn="just"/>
            <a:r>
              <a:rPr lang="en-US" sz="2000" dirty="0"/>
              <a:t>The process of decrementing the counter continues till the terminal count is reached, i.e., the count become zero and the output goes HIGH and will remain high until it reloads a new count.</a:t>
            </a:r>
          </a:p>
          <a:p>
            <a:pPr algn="just"/>
            <a:r>
              <a:rPr lang="en-US" sz="2000" dirty="0"/>
              <a:t>The GATE signal is high for normal counting. When GATE goes low, counting is terminated and the current count is latched till the GATE goes high again.</a:t>
            </a:r>
          </a:p>
          <a:p>
            <a:pPr marL="114300" indent="0" algn="just">
              <a:buNone/>
            </a:pPr>
            <a:r>
              <a:rPr lang="en-US" sz="2000" b="1" dirty="0"/>
              <a:t>Mode 1 – Programmable One </a:t>
            </a:r>
            <a:r>
              <a:rPr lang="en-US" sz="2000" b="1" dirty="0" smtClean="0"/>
              <a:t>Shot:</a:t>
            </a:r>
            <a:endParaRPr lang="en-US" sz="2000" b="1" dirty="0"/>
          </a:p>
          <a:p>
            <a:pPr algn="just"/>
            <a:r>
              <a:rPr lang="en-US" sz="2000" dirty="0"/>
              <a:t>It can be used as a mono stable multi-vibrator.</a:t>
            </a:r>
          </a:p>
          <a:p>
            <a:pPr algn="just"/>
            <a:r>
              <a:rPr lang="en-US" sz="2000" dirty="0"/>
              <a:t>The gate input is used as a trigger input in this mode.</a:t>
            </a:r>
          </a:p>
          <a:p>
            <a:pPr algn="just"/>
            <a:r>
              <a:rPr lang="en-US" sz="2000" dirty="0"/>
              <a:t>The output remains high until the count is loaded and a trigger is applied.</a:t>
            </a:r>
          </a:p>
          <a:p>
            <a:pPr marL="114300" indent="0" algn="just">
              <a:buNone/>
            </a:pPr>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36</a:t>
            </a:fld>
            <a:endParaRPr lang="en-US"/>
          </a:p>
        </p:txBody>
      </p:sp>
    </p:spTree>
    <p:extLst>
      <p:ext uri="{BB962C8B-B14F-4D97-AF65-F5344CB8AC3E}">
        <p14:creationId xmlns:p14="http://schemas.microsoft.com/office/powerpoint/2010/main" val="6272596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8253/54 - Operational Modes</a:t>
            </a:r>
          </a:p>
        </p:txBody>
      </p:sp>
      <p:sp>
        <p:nvSpPr>
          <p:cNvPr id="3" name="Text Placeholder 2"/>
          <p:cNvSpPr>
            <a:spLocks noGrp="1"/>
          </p:cNvSpPr>
          <p:nvPr>
            <p:ph type="body" idx="1"/>
          </p:nvPr>
        </p:nvSpPr>
        <p:spPr>
          <a:xfrm>
            <a:off x="-1" y="762000"/>
            <a:ext cx="9144001" cy="5848350"/>
          </a:xfrm>
        </p:spPr>
        <p:txBody>
          <a:bodyPr/>
          <a:lstStyle/>
          <a:p>
            <a:pPr marL="114300" indent="0" algn="just">
              <a:buNone/>
            </a:pPr>
            <a:endParaRPr lang="en-US" sz="2000" b="1" dirty="0" smtClean="0"/>
          </a:p>
          <a:p>
            <a:pPr marL="114300" indent="0" algn="just">
              <a:buNone/>
            </a:pPr>
            <a:r>
              <a:rPr lang="en-US" sz="2000" b="1" dirty="0" smtClean="0"/>
              <a:t>Mode </a:t>
            </a:r>
            <a:r>
              <a:rPr lang="en-US" sz="2000" b="1" dirty="0"/>
              <a:t>2 – Rate </a:t>
            </a:r>
            <a:r>
              <a:rPr lang="en-US" sz="2000" b="1" dirty="0" smtClean="0"/>
              <a:t>Generator:</a:t>
            </a:r>
            <a:endParaRPr lang="en-US" sz="2000" b="1" dirty="0"/>
          </a:p>
          <a:p>
            <a:pPr algn="just"/>
            <a:r>
              <a:rPr lang="en-US" sz="2000" dirty="0"/>
              <a:t>The output is normally high after initialization.</a:t>
            </a:r>
          </a:p>
          <a:p>
            <a:pPr algn="just"/>
            <a:r>
              <a:rPr lang="en-US" sz="2000" dirty="0"/>
              <a:t>Whenever the count becomes zero, another low pulse is generated at the output and the counter will be reloaded</a:t>
            </a:r>
            <a:r>
              <a:rPr lang="en-US" sz="2000" dirty="0" smtClean="0"/>
              <a:t>.</a:t>
            </a:r>
          </a:p>
          <a:p>
            <a:pPr algn="just"/>
            <a:endParaRPr lang="en-US" sz="2000" b="1" dirty="0"/>
          </a:p>
          <a:p>
            <a:pPr marL="114300" indent="0" algn="just">
              <a:buNone/>
            </a:pPr>
            <a:r>
              <a:rPr lang="en-US" sz="2000" b="1" dirty="0"/>
              <a:t>Mode 3 – Square Wave </a:t>
            </a:r>
            <a:r>
              <a:rPr lang="en-US" sz="2000" b="1" dirty="0" smtClean="0"/>
              <a:t>Generator:</a:t>
            </a:r>
            <a:endParaRPr lang="en-US" sz="2000" b="1" dirty="0"/>
          </a:p>
          <a:p>
            <a:pPr algn="just"/>
            <a:r>
              <a:rPr lang="en-US" sz="2000" dirty="0"/>
              <a:t>This mode is similar to Mode 2 except the output remains low for half of the timer period and high for the other half of the period</a:t>
            </a:r>
            <a:r>
              <a:rPr lang="en-US" sz="2000" dirty="0" smtClean="0"/>
              <a:t>.</a:t>
            </a:r>
          </a:p>
          <a:p>
            <a:pPr marL="114300" indent="0" algn="just">
              <a:buNone/>
            </a:pPr>
            <a:endParaRPr lang="en-US" sz="2000" dirty="0"/>
          </a:p>
          <a:p>
            <a:pPr marL="114300" indent="0" algn="just">
              <a:buNone/>
            </a:pPr>
            <a:r>
              <a:rPr lang="en-US" sz="2000" b="1" dirty="0"/>
              <a:t>Mode 4 − Software Triggered </a:t>
            </a:r>
            <a:r>
              <a:rPr lang="en-US" sz="2000" b="1" dirty="0" smtClean="0"/>
              <a:t>Mode:</a:t>
            </a:r>
            <a:endParaRPr lang="en-US" sz="2000" b="1" dirty="0"/>
          </a:p>
          <a:p>
            <a:pPr algn="just"/>
            <a:r>
              <a:rPr lang="en-US" sz="2000" dirty="0"/>
              <a:t>In this mode, the output will remain high until the timer has counted to zero, at which point the output will pulse low and then go high again.</a:t>
            </a:r>
          </a:p>
          <a:p>
            <a:pPr algn="just"/>
            <a:r>
              <a:rPr lang="en-US" sz="2000" dirty="0"/>
              <a:t>The count is latched when the GATE signal goes LOW.</a:t>
            </a:r>
          </a:p>
          <a:p>
            <a:pPr algn="just"/>
            <a:r>
              <a:rPr lang="en-US" sz="2000" dirty="0"/>
              <a:t>On the terminal count, the output goes low for one clock cycle then goes HIGH. This low pulse can be used as a strobe.</a:t>
            </a:r>
          </a:p>
          <a:p>
            <a:pPr marL="114300" indent="0" algn="just">
              <a:buNone/>
            </a:pPr>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37</a:t>
            </a:fld>
            <a:endParaRPr lang="en-US"/>
          </a:p>
        </p:txBody>
      </p:sp>
    </p:spTree>
    <p:extLst>
      <p:ext uri="{BB962C8B-B14F-4D97-AF65-F5344CB8AC3E}">
        <p14:creationId xmlns:p14="http://schemas.microsoft.com/office/powerpoint/2010/main" val="41407866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Intel 8253/54 - Operational Modes</a:t>
            </a:r>
          </a:p>
        </p:txBody>
      </p:sp>
      <p:sp>
        <p:nvSpPr>
          <p:cNvPr id="3" name="Text Placeholder 2"/>
          <p:cNvSpPr>
            <a:spLocks noGrp="1"/>
          </p:cNvSpPr>
          <p:nvPr>
            <p:ph type="body" idx="1"/>
          </p:nvPr>
        </p:nvSpPr>
        <p:spPr>
          <a:xfrm>
            <a:off x="-1" y="762000"/>
            <a:ext cx="9144001" cy="5848350"/>
          </a:xfrm>
        </p:spPr>
        <p:txBody>
          <a:bodyPr/>
          <a:lstStyle/>
          <a:p>
            <a:pPr marL="114300" indent="0" algn="just">
              <a:buNone/>
            </a:pPr>
            <a:r>
              <a:rPr lang="en-US" sz="2800" b="1" dirty="0"/>
              <a:t>Mode 5 – Hardware Triggered </a:t>
            </a:r>
            <a:r>
              <a:rPr lang="en-US" sz="2800" b="1" dirty="0" smtClean="0"/>
              <a:t>Mode:</a:t>
            </a:r>
            <a:endParaRPr lang="en-US" sz="2800" b="1" dirty="0"/>
          </a:p>
          <a:p>
            <a:pPr algn="just"/>
            <a:r>
              <a:rPr lang="en-US" sz="2800" dirty="0"/>
              <a:t>This mode generates a strobe in response to an externally generated signal.</a:t>
            </a:r>
          </a:p>
          <a:p>
            <a:pPr algn="just"/>
            <a:r>
              <a:rPr lang="en-US" sz="2800" dirty="0"/>
              <a:t>This mode is similar to mode 4 except that the counting is initiated by a signal at the gate input, which means it is hardware triggered instead of software triggered.</a:t>
            </a:r>
          </a:p>
          <a:p>
            <a:pPr algn="just"/>
            <a:r>
              <a:rPr lang="en-US" sz="2800" dirty="0"/>
              <a:t>After it is initialized, the output goes high.</a:t>
            </a:r>
          </a:p>
          <a:p>
            <a:pPr algn="just"/>
            <a:r>
              <a:rPr lang="en-US" sz="2800" dirty="0"/>
              <a:t>When the terminal count is reached, the output goes low for one clock cycle.</a:t>
            </a:r>
          </a:p>
          <a:p>
            <a:pPr marL="114300" indent="0" algn="just">
              <a:buNone/>
            </a:pPr>
            <a:endParaRPr lang="en-US" sz="2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38</a:t>
            </a:fld>
            <a:endParaRPr lang="en-US"/>
          </a:p>
        </p:txBody>
      </p:sp>
    </p:spTree>
    <p:extLst>
      <p:ext uri="{BB962C8B-B14F-4D97-AF65-F5344CB8AC3E}">
        <p14:creationId xmlns:p14="http://schemas.microsoft.com/office/powerpoint/2010/main" val="318009175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PSW (</a:t>
            </a:r>
            <a:r>
              <a:rPr lang="en-US" b="1" dirty="0"/>
              <a:t>Program Status Word</a:t>
            </a:r>
            <a:r>
              <a:rPr lang="en-US" b="1" dirty="0" smtClean="0"/>
              <a:t>) </a:t>
            </a:r>
            <a:r>
              <a:rPr lang="en-US" b="1" dirty="0"/>
              <a:t>Register in 8051 </a:t>
            </a:r>
            <a:r>
              <a:rPr lang="en-US" b="1" dirty="0" smtClean="0"/>
              <a:t>Microcontroller</a:t>
            </a:r>
            <a:endParaRPr lang="en-US" b="1" dirty="0"/>
          </a:p>
        </p:txBody>
      </p:sp>
      <p:sp>
        <p:nvSpPr>
          <p:cNvPr id="3" name="Text Placeholder 2"/>
          <p:cNvSpPr>
            <a:spLocks noGrp="1"/>
          </p:cNvSpPr>
          <p:nvPr>
            <p:ph type="body" idx="1"/>
          </p:nvPr>
        </p:nvSpPr>
        <p:spPr>
          <a:xfrm>
            <a:off x="-1" y="762000"/>
            <a:ext cx="9144001" cy="5848350"/>
          </a:xfrm>
        </p:spPr>
        <p:txBody>
          <a:bodyPr/>
          <a:lstStyle/>
          <a:p>
            <a:pPr algn="just"/>
            <a:r>
              <a:rPr lang="en-US" sz="2800" b="1" dirty="0"/>
              <a:t>Flags are single bit register and used to store the result of certain function after executing instruction. Flags are grouped inside PSW and PCON </a:t>
            </a:r>
            <a:r>
              <a:rPr lang="en-US" sz="2800" b="1" dirty="0" smtClean="0"/>
              <a:t>registers.</a:t>
            </a:r>
          </a:p>
          <a:p>
            <a:pPr algn="just"/>
            <a:endParaRPr lang="en-US" sz="2800" b="1" dirty="0"/>
          </a:p>
          <a:p>
            <a:pPr algn="just"/>
            <a:r>
              <a:rPr lang="en-US" sz="2800" b="1" dirty="0" smtClean="0"/>
              <a:t>PSW </a:t>
            </a:r>
            <a:r>
              <a:rPr lang="en-US" sz="2800" b="1" dirty="0"/>
              <a:t>register in 8051 microcontroller contains math flags and PCON contains general user </a:t>
            </a:r>
            <a:r>
              <a:rPr lang="en-US" sz="2800" b="1" dirty="0" smtClean="0"/>
              <a:t>flags.</a:t>
            </a:r>
          </a:p>
          <a:p>
            <a:pPr algn="just"/>
            <a:endParaRPr lang="en-US" sz="2800" b="1" dirty="0"/>
          </a:p>
          <a:p>
            <a:pPr algn="just"/>
            <a:r>
              <a:rPr lang="en-US" sz="2800" b="1" dirty="0" smtClean="0"/>
              <a:t>Math </a:t>
            </a:r>
            <a:r>
              <a:rPr lang="en-US" sz="2800" b="1" dirty="0"/>
              <a:t>flags are grouped in PSW of microcontroller 8051 and they are Carry(C), Auxiliary Carry (AC), Over flow (OV), and Parity (P). The general user flags are GF0 and GF1 which are grouped in PCON register.</a:t>
            </a:r>
            <a:endParaRPr lang="en-US" sz="2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39</a:t>
            </a:fld>
            <a:endParaRPr lang="en-US"/>
          </a:p>
        </p:txBody>
      </p:sp>
    </p:spTree>
    <p:extLst>
      <p:ext uri="{BB962C8B-B14F-4D97-AF65-F5344CB8AC3E}">
        <p14:creationId xmlns:p14="http://schemas.microsoft.com/office/powerpoint/2010/main" val="35756887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PSW (</a:t>
            </a:r>
            <a:r>
              <a:rPr lang="en-US" b="1" dirty="0"/>
              <a:t>Program Status Word</a:t>
            </a:r>
            <a:r>
              <a:rPr lang="en-US" b="1" dirty="0" smtClean="0"/>
              <a:t>) </a:t>
            </a:r>
            <a:r>
              <a:rPr lang="en-US" b="1" dirty="0"/>
              <a:t>Register in 8051 </a:t>
            </a:r>
            <a:r>
              <a:rPr lang="en-US" b="1" dirty="0" smtClean="0"/>
              <a:t>Microcontroller</a:t>
            </a:r>
            <a:endParaRPr lang="en-US" b="1" dirty="0"/>
          </a:p>
        </p:txBody>
      </p:sp>
      <p:sp>
        <p:nvSpPr>
          <p:cNvPr id="3" name="Text Placeholder 2"/>
          <p:cNvSpPr>
            <a:spLocks noGrp="1"/>
          </p:cNvSpPr>
          <p:nvPr>
            <p:ph type="body" idx="1"/>
          </p:nvPr>
        </p:nvSpPr>
        <p:spPr>
          <a:xfrm>
            <a:off x="-1" y="762000"/>
            <a:ext cx="9144001" cy="5848350"/>
          </a:xfrm>
        </p:spPr>
        <p:txBody>
          <a:bodyPr/>
          <a:lstStyle/>
          <a:p>
            <a:pPr algn="just"/>
            <a:endParaRPr lang="en-US" sz="2800" b="1" dirty="0" smtClean="0"/>
          </a:p>
          <a:p>
            <a:pPr algn="just"/>
            <a:r>
              <a:rPr lang="en-US" sz="2800" b="1" dirty="0" smtClean="0"/>
              <a:t>The </a:t>
            </a:r>
            <a:r>
              <a:rPr lang="en-US" sz="2800" b="1" dirty="0"/>
              <a:t>PSW is accessible fully as an 8-bit </a:t>
            </a:r>
            <a:r>
              <a:rPr lang="en-US" sz="2800" b="1" dirty="0" smtClean="0"/>
              <a:t>register.</a:t>
            </a:r>
            <a:endParaRPr lang="en-US" sz="2800" b="1" dirty="0"/>
          </a:p>
          <a:p>
            <a:pPr algn="just"/>
            <a:r>
              <a:rPr lang="en-US" sz="2800" b="1" dirty="0"/>
              <a:t>The bit pattern of this flag register </a:t>
            </a:r>
            <a:r>
              <a:rPr lang="en-US" sz="2800" b="1" dirty="0" smtClean="0"/>
              <a:t>is</a:t>
            </a:r>
          </a:p>
          <a:p>
            <a:pPr algn="just"/>
            <a:endParaRPr lang="en-US" sz="28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40</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28888"/>
            <a:ext cx="8553450" cy="2180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77375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PSW (</a:t>
            </a:r>
            <a:r>
              <a:rPr lang="en-US" b="1" dirty="0"/>
              <a:t>Program Status Word</a:t>
            </a:r>
            <a:r>
              <a:rPr lang="en-US" b="1" dirty="0" smtClean="0"/>
              <a:t>) </a:t>
            </a:r>
            <a:r>
              <a:rPr lang="en-US" b="1" dirty="0"/>
              <a:t>Register in 8051 </a:t>
            </a:r>
            <a:r>
              <a:rPr lang="en-US" b="1" dirty="0" smtClean="0"/>
              <a:t>Microcontroller</a:t>
            </a:r>
            <a:endParaRPr lang="en-US" b="1" dirty="0"/>
          </a:p>
        </p:txBody>
      </p:sp>
      <p:sp>
        <p:nvSpPr>
          <p:cNvPr id="3" name="Text Placeholder 2"/>
          <p:cNvSpPr>
            <a:spLocks noGrp="1"/>
          </p:cNvSpPr>
          <p:nvPr>
            <p:ph type="body" idx="1"/>
          </p:nvPr>
        </p:nvSpPr>
        <p:spPr>
          <a:xfrm>
            <a:off x="-1" y="1961601"/>
            <a:ext cx="9144001" cy="4324899"/>
          </a:xfrm>
        </p:spPr>
        <p:txBody>
          <a:bodyPr/>
          <a:lstStyle/>
          <a:p>
            <a:pPr algn="just" fontAlgn="base"/>
            <a:r>
              <a:rPr lang="en-US" b="1" dirty="0"/>
              <a:t>Parity bit (P)</a:t>
            </a:r>
          </a:p>
          <a:p>
            <a:pPr lvl="1" algn="just" fontAlgn="base"/>
            <a:r>
              <a:rPr lang="en-US" dirty="0"/>
              <a:t>This parity flag bit is used to show the number of 1s in the accumulator only. If the accumulator register contains an odd number of 1s, then this flag set to 1.</a:t>
            </a:r>
          </a:p>
          <a:p>
            <a:pPr lvl="1" algn="just" fontAlgn="base"/>
            <a:r>
              <a:rPr lang="en-US" dirty="0"/>
              <a:t>If accumulator contains even number of 1s, then this flag cleared to 0.</a:t>
            </a:r>
          </a:p>
          <a:p>
            <a:pPr marL="114300" indent="0" algn="just">
              <a:buNone/>
            </a:pPr>
            <a:endParaRPr lang="en-US" sz="28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41</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871538"/>
            <a:ext cx="8934450" cy="109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275156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PSW (</a:t>
            </a:r>
            <a:r>
              <a:rPr lang="en-US" b="1" dirty="0"/>
              <a:t>Program Status Word</a:t>
            </a:r>
            <a:r>
              <a:rPr lang="en-US" b="1" dirty="0" smtClean="0"/>
              <a:t>) </a:t>
            </a:r>
            <a:r>
              <a:rPr lang="en-US" b="1" dirty="0"/>
              <a:t>Register in 8051 </a:t>
            </a:r>
            <a:r>
              <a:rPr lang="en-US" b="1" dirty="0" smtClean="0"/>
              <a:t>Microcontroller</a:t>
            </a:r>
            <a:endParaRPr lang="en-US" b="1" dirty="0"/>
          </a:p>
        </p:txBody>
      </p:sp>
      <p:sp>
        <p:nvSpPr>
          <p:cNvPr id="3" name="Text Placeholder 2"/>
          <p:cNvSpPr>
            <a:spLocks noGrp="1"/>
          </p:cNvSpPr>
          <p:nvPr>
            <p:ph type="body" idx="1"/>
          </p:nvPr>
        </p:nvSpPr>
        <p:spPr>
          <a:xfrm>
            <a:off x="-1" y="1961601"/>
            <a:ext cx="9144001" cy="4324899"/>
          </a:xfrm>
        </p:spPr>
        <p:txBody>
          <a:bodyPr/>
          <a:lstStyle/>
          <a:p>
            <a:pPr algn="just" fontAlgn="base"/>
            <a:r>
              <a:rPr lang="en-US" sz="2800" b="1" dirty="0"/>
              <a:t>Overflow flag (OV)</a:t>
            </a:r>
          </a:p>
          <a:p>
            <a:pPr lvl="1" algn="just" fontAlgn="base"/>
            <a:r>
              <a:rPr lang="en-US" sz="2400" dirty="0"/>
              <a:t>This flag is set during ALU operations, to indicate overflow in the result. It is set to 1 if there is a carry out of either the D7 bit or the D6 bit of the accumulator.</a:t>
            </a:r>
          </a:p>
          <a:p>
            <a:pPr lvl="1" algn="just" fontAlgn="base"/>
            <a:r>
              <a:rPr lang="en-US" sz="2400" dirty="0"/>
              <a:t>Overflow flag is set when arithmetic operations such as add and subtract result in sign conflict.</a:t>
            </a:r>
          </a:p>
          <a:p>
            <a:pPr lvl="1" algn="just" fontAlgn="base"/>
            <a:r>
              <a:rPr lang="en-US" sz="2400" b="1" dirty="0"/>
              <a:t>The conditions under which the OV flag is set </a:t>
            </a:r>
            <a:r>
              <a:rPr lang="en-US" sz="2400" b="1" dirty="0" smtClean="0"/>
              <a:t>:</a:t>
            </a:r>
            <a:endParaRPr lang="en-US" sz="2400" dirty="0"/>
          </a:p>
          <a:p>
            <a:pPr lvl="2" algn="just" fontAlgn="base"/>
            <a:r>
              <a:rPr lang="en-US" sz="2000" dirty="0"/>
              <a:t>Positive + Positive = Negative</a:t>
            </a:r>
          </a:p>
          <a:p>
            <a:pPr lvl="2" algn="just" fontAlgn="base"/>
            <a:r>
              <a:rPr lang="en-US" sz="2000" dirty="0"/>
              <a:t>Negative + Negative = Positive</a:t>
            </a:r>
          </a:p>
          <a:p>
            <a:pPr lvl="2" algn="just" fontAlgn="base"/>
            <a:r>
              <a:rPr lang="en-US" sz="2000" dirty="0"/>
              <a:t>Positive – Negative = Negative</a:t>
            </a:r>
          </a:p>
          <a:p>
            <a:pPr lvl="2" algn="just" fontAlgn="base"/>
            <a:r>
              <a:rPr lang="en-US" sz="2000" dirty="0"/>
              <a:t>Negative – Positive = Positive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42</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871538"/>
            <a:ext cx="8934450" cy="109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49954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PSW (</a:t>
            </a:r>
            <a:r>
              <a:rPr lang="en-US" b="1" dirty="0"/>
              <a:t>Program Status Word</a:t>
            </a:r>
            <a:r>
              <a:rPr lang="en-US" b="1" dirty="0" smtClean="0"/>
              <a:t>) </a:t>
            </a:r>
            <a:r>
              <a:rPr lang="en-US" b="1" dirty="0"/>
              <a:t>Register in 8051 </a:t>
            </a:r>
            <a:r>
              <a:rPr lang="en-US" b="1" dirty="0" smtClean="0"/>
              <a:t>Microcontroller</a:t>
            </a:r>
            <a:endParaRPr lang="en-US" b="1" dirty="0"/>
          </a:p>
        </p:txBody>
      </p:sp>
      <p:sp>
        <p:nvSpPr>
          <p:cNvPr id="3" name="Text Placeholder 2"/>
          <p:cNvSpPr>
            <a:spLocks noGrp="1"/>
          </p:cNvSpPr>
          <p:nvPr>
            <p:ph type="body" idx="1"/>
          </p:nvPr>
        </p:nvSpPr>
        <p:spPr>
          <a:xfrm>
            <a:off x="-1" y="1961601"/>
            <a:ext cx="9144001" cy="4629699"/>
          </a:xfrm>
        </p:spPr>
        <p:txBody>
          <a:bodyPr/>
          <a:lstStyle/>
          <a:p>
            <a:pPr marL="114300" indent="0" algn="just" fontAlgn="base">
              <a:buNone/>
            </a:pPr>
            <a:r>
              <a:rPr lang="en-US" sz="2000" b="1" dirty="0"/>
              <a:t>Register bank select bits (RS1 and RS0</a:t>
            </a:r>
            <a:r>
              <a:rPr lang="en-US" sz="2000" b="1" dirty="0" smtClean="0"/>
              <a:t>):</a:t>
            </a:r>
            <a:endParaRPr lang="en-US" sz="2000" b="1" dirty="0"/>
          </a:p>
          <a:p>
            <a:pPr algn="just" fontAlgn="base"/>
            <a:r>
              <a:rPr lang="en-US" sz="2000" dirty="0"/>
              <a:t>These two bits are used to select one of four register banks of RAM. By setting and clearing these bits, registers R0-R7 are stored in one of four banks of </a:t>
            </a:r>
            <a:r>
              <a:rPr lang="en-US" sz="2000" dirty="0" smtClean="0"/>
              <a:t>RAM.</a:t>
            </a:r>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43</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871538"/>
            <a:ext cx="8934450" cy="109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Table 4"/>
          <p:cNvGraphicFramePr>
            <a:graphicFrameLocks noGrp="1"/>
          </p:cNvGraphicFramePr>
          <p:nvPr>
            <p:extLst>
              <p:ext uri="{D42A27DB-BD31-4B8C-83A1-F6EECF244321}">
                <p14:modId xmlns:p14="http://schemas.microsoft.com/office/powerpoint/2010/main" val="3392829772"/>
              </p:ext>
            </p:extLst>
          </p:nvPr>
        </p:nvGraphicFramePr>
        <p:xfrm>
          <a:off x="1495165" y="3329779"/>
          <a:ext cx="6363220" cy="3337720"/>
        </p:xfrm>
        <a:graphic>
          <a:graphicData uri="http://schemas.openxmlformats.org/drawingml/2006/table">
            <a:tbl>
              <a:tblPr/>
              <a:tblGrid>
                <a:gridCol w="995712"/>
                <a:gridCol w="995712"/>
                <a:gridCol w="1695821"/>
                <a:gridCol w="2675975"/>
              </a:tblGrid>
              <a:tr h="667544">
                <a:tc>
                  <a:txBody>
                    <a:bodyPr/>
                    <a:lstStyle/>
                    <a:p>
                      <a:pPr algn="ctr" fontAlgn="base"/>
                      <a:r>
                        <a:rPr lang="en-US" sz="1800" b="1">
                          <a:effectLst/>
                        </a:rPr>
                        <a:t>RS1</a:t>
                      </a:r>
                      <a:endParaRPr lang="en-US" sz="1800">
                        <a:effectLst/>
                      </a:endParaRPr>
                    </a:p>
                  </a:txBody>
                  <a:tcPr anchor="ctr">
                    <a:lnL>
                      <a:noFill/>
                    </a:lnL>
                    <a:lnR>
                      <a:noFill/>
                    </a:lnR>
                    <a:lnT>
                      <a:noFill/>
                    </a:lnT>
                    <a:lnB>
                      <a:noFill/>
                    </a:lnB>
                    <a:solidFill>
                      <a:srgbClr val="FFFFFF"/>
                    </a:solidFill>
                  </a:tcPr>
                </a:tc>
                <a:tc>
                  <a:txBody>
                    <a:bodyPr/>
                    <a:lstStyle/>
                    <a:p>
                      <a:pPr algn="ctr" fontAlgn="base"/>
                      <a:r>
                        <a:rPr lang="en-US" sz="1800" b="1">
                          <a:effectLst/>
                        </a:rPr>
                        <a:t>RS0</a:t>
                      </a:r>
                      <a:endParaRPr lang="en-US" sz="1800">
                        <a:effectLst/>
                      </a:endParaRPr>
                    </a:p>
                  </a:txBody>
                  <a:tcPr anchor="ctr">
                    <a:lnL>
                      <a:noFill/>
                    </a:lnL>
                    <a:lnR>
                      <a:noFill/>
                    </a:lnR>
                    <a:lnT>
                      <a:noFill/>
                    </a:lnT>
                    <a:lnB>
                      <a:noFill/>
                    </a:lnB>
                    <a:solidFill>
                      <a:srgbClr val="FFFFFF"/>
                    </a:solidFill>
                  </a:tcPr>
                </a:tc>
                <a:tc>
                  <a:txBody>
                    <a:bodyPr/>
                    <a:lstStyle/>
                    <a:p>
                      <a:pPr algn="ctr" fontAlgn="base"/>
                      <a:r>
                        <a:rPr lang="en-US" sz="1800" b="1">
                          <a:effectLst/>
                        </a:rPr>
                        <a:t>Bank Selected</a:t>
                      </a:r>
                      <a:endParaRPr lang="en-US" sz="1800">
                        <a:effectLst/>
                      </a:endParaRPr>
                    </a:p>
                  </a:txBody>
                  <a:tcPr anchor="ctr">
                    <a:lnL>
                      <a:noFill/>
                    </a:lnL>
                    <a:lnR>
                      <a:noFill/>
                    </a:lnR>
                    <a:lnT>
                      <a:noFill/>
                    </a:lnT>
                    <a:lnB>
                      <a:noFill/>
                    </a:lnB>
                    <a:solidFill>
                      <a:srgbClr val="FFFFFF"/>
                    </a:solidFill>
                  </a:tcPr>
                </a:tc>
                <a:tc>
                  <a:txBody>
                    <a:bodyPr/>
                    <a:lstStyle/>
                    <a:p>
                      <a:pPr algn="ctr" fontAlgn="base"/>
                      <a:r>
                        <a:rPr lang="en-US" sz="1800" b="1">
                          <a:effectLst/>
                        </a:rPr>
                        <a:t>Address of Registers</a:t>
                      </a:r>
                      <a:endParaRPr lang="en-US" sz="1800">
                        <a:effectLst/>
                      </a:endParaRPr>
                    </a:p>
                  </a:txBody>
                  <a:tcPr anchor="ctr">
                    <a:lnL>
                      <a:noFill/>
                    </a:lnL>
                    <a:lnR>
                      <a:noFill/>
                    </a:lnR>
                    <a:lnT>
                      <a:noFill/>
                    </a:lnT>
                    <a:lnB>
                      <a:noFill/>
                    </a:lnB>
                    <a:solidFill>
                      <a:srgbClr val="FFFFFF"/>
                    </a:solidFill>
                  </a:tcPr>
                </a:tc>
              </a:tr>
              <a:tr h="667544">
                <a:tc>
                  <a:txBody>
                    <a:bodyPr/>
                    <a:lstStyle/>
                    <a:p>
                      <a:pPr algn="ctr" fontAlgn="base"/>
                      <a:r>
                        <a:rPr lang="en-US" sz="1800">
                          <a:effectLst/>
                        </a:rPr>
                        <a:t>0</a:t>
                      </a:r>
                    </a:p>
                  </a:txBody>
                  <a:tcPr anchor="ctr">
                    <a:lnL>
                      <a:noFill/>
                    </a:lnL>
                    <a:lnR>
                      <a:noFill/>
                    </a:lnR>
                    <a:lnT>
                      <a:noFill/>
                    </a:lnT>
                    <a:lnB>
                      <a:noFill/>
                    </a:lnB>
                    <a:solidFill>
                      <a:srgbClr val="FFFFFF"/>
                    </a:solidFill>
                  </a:tcPr>
                </a:tc>
                <a:tc>
                  <a:txBody>
                    <a:bodyPr/>
                    <a:lstStyle/>
                    <a:p>
                      <a:pPr algn="ctr" fontAlgn="base"/>
                      <a:r>
                        <a:rPr lang="en-US" sz="1800">
                          <a:effectLst/>
                        </a:rPr>
                        <a:t>0</a:t>
                      </a:r>
                    </a:p>
                  </a:txBody>
                  <a:tcPr anchor="ctr">
                    <a:lnL>
                      <a:noFill/>
                    </a:lnL>
                    <a:lnR>
                      <a:noFill/>
                    </a:lnR>
                    <a:lnT>
                      <a:noFill/>
                    </a:lnT>
                    <a:lnB>
                      <a:noFill/>
                    </a:lnB>
                    <a:solidFill>
                      <a:srgbClr val="FFFFFF"/>
                    </a:solidFill>
                  </a:tcPr>
                </a:tc>
                <a:tc>
                  <a:txBody>
                    <a:bodyPr/>
                    <a:lstStyle/>
                    <a:p>
                      <a:pPr algn="ctr" fontAlgn="base"/>
                      <a:r>
                        <a:rPr lang="en-US" sz="1800">
                          <a:effectLst/>
                        </a:rPr>
                        <a:t>Bank 0</a:t>
                      </a:r>
                    </a:p>
                  </a:txBody>
                  <a:tcPr anchor="ctr">
                    <a:lnL>
                      <a:noFill/>
                    </a:lnL>
                    <a:lnR>
                      <a:noFill/>
                    </a:lnR>
                    <a:lnT>
                      <a:noFill/>
                    </a:lnT>
                    <a:lnB>
                      <a:noFill/>
                    </a:lnB>
                    <a:solidFill>
                      <a:srgbClr val="FFFFFF"/>
                    </a:solidFill>
                  </a:tcPr>
                </a:tc>
                <a:tc>
                  <a:txBody>
                    <a:bodyPr/>
                    <a:lstStyle/>
                    <a:p>
                      <a:pPr algn="ctr" fontAlgn="base"/>
                      <a:r>
                        <a:rPr lang="en-US" sz="1800">
                          <a:effectLst/>
                        </a:rPr>
                        <a:t>00h-07h</a:t>
                      </a:r>
                    </a:p>
                  </a:txBody>
                  <a:tcPr anchor="ctr">
                    <a:lnL>
                      <a:noFill/>
                    </a:lnL>
                    <a:lnR>
                      <a:noFill/>
                    </a:lnR>
                    <a:lnT>
                      <a:noFill/>
                    </a:lnT>
                    <a:lnB>
                      <a:noFill/>
                    </a:lnB>
                    <a:solidFill>
                      <a:srgbClr val="FFFFFF"/>
                    </a:solidFill>
                  </a:tcPr>
                </a:tc>
              </a:tr>
              <a:tr h="667544">
                <a:tc>
                  <a:txBody>
                    <a:bodyPr/>
                    <a:lstStyle/>
                    <a:p>
                      <a:pPr algn="ctr" fontAlgn="base"/>
                      <a:r>
                        <a:rPr lang="en-US" sz="1800">
                          <a:effectLst/>
                        </a:rPr>
                        <a:t>0</a:t>
                      </a:r>
                    </a:p>
                  </a:txBody>
                  <a:tcPr anchor="ctr">
                    <a:lnL>
                      <a:noFill/>
                    </a:lnL>
                    <a:lnR>
                      <a:noFill/>
                    </a:lnR>
                    <a:lnT>
                      <a:noFill/>
                    </a:lnT>
                    <a:lnB>
                      <a:noFill/>
                    </a:lnB>
                    <a:solidFill>
                      <a:srgbClr val="FFFFFF"/>
                    </a:solidFill>
                  </a:tcPr>
                </a:tc>
                <a:tc>
                  <a:txBody>
                    <a:bodyPr/>
                    <a:lstStyle/>
                    <a:p>
                      <a:pPr algn="ctr" fontAlgn="base"/>
                      <a:r>
                        <a:rPr lang="en-US" sz="1800">
                          <a:effectLst/>
                        </a:rPr>
                        <a:t>1</a:t>
                      </a:r>
                    </a:p>
                  </a:txBody>
                  <a:tcPr anchor="ctr">
                    <a:lnL>
                      <a:noFill/>
                    </a:lnL>
                    <a:lnR>
                      <a:noFill/>
                    </a:lnR>
                    <a:lnT>
                      <a:noFill/>
                    </a:lnT>
                    <a:lnB>
                      <a:noFill/>
                    </a:lnB>
                    <a:solidFill>
                      <a:srgbClr val="FFFFFF"/>
                    </a:solidFill>
                  </a:tcPr>
                </a:tc>
                <a:tc>
                  <a:txBody>
                    <a:bodyPr/>
                    <a:lstStyle/>
                    <a:p>
                      <a:pPr algn="ctr" fontAlgn="base"/>
                      <a:r>
                        <a:rPr lang="en-US" sz="1800">
                          <a:effectLst/>
                        </a:rPr>
                        <a:t>Bank 1</a:t>
                      </a:r>
                    </a:p>
                  </a:txBody>
                  <a:tcPr anchor="ctr">
                    <a:lnL>
                      <a:noFill/>
                    </a:lnL>
                    <a:lnR>
                      <a:noFill/>
                    </a:lnR>
                    <a:lnT>
                      <a:noFill/>
                    </a:lnT>
                    <a:lnB>
                      <a:noFill/>
                    </a:lnB>
                    <a:solidFill>
                      <a:srgbClr val="FFFFFF"/>
                    </a:solidFill>
                  </a:tcPr>
                </a:tc>
                <a:tc>
                  <a:txBody>
                    <a:bodyPr/>
                    <a:lstStyle/>
                    <a:p>
                      <a:pPr algn="ctr" fontAlgn="base"/>
                      <a:r>
                        <a:rPr lang="en-US" sz="1800">
                          <a:effectLst/>
                        </a:rPr>
                        <a:t>08h-0Fh</a:t>
                      </a:r>
                    </a:p>
                  </a:txBody>
                  <a:tcPr anchor="ctr">
                    <a:lnL>
                      <a:noFill/>
                    </a:lnL>
                    <a:lnR>
                      <a:noFill/>
                    </a:lnR>
                    <a:lnT>
                      <a:noFill/>
                    </a:lnT>
                    <a:lnB>
                      <a:noFill/>
                    </a:lnB>
                    <a:solidFill>
                      <a:srgbClr val="FFFFFF"/>
                    </a:solidFill>
                  </a:tcPr>
                </a:tc>
              </a:tr>
              <a:tr h="667544">
                <a:tc>
                  <a:txBody>
                    <a:bodyPr/>
                    <a:lstStyle/>
                    <a:p>
                      <a:pPr algn="ctr" fontAlgn="base"/>
                      <a:r>
                        <a:rPr lang="en-US" sz="1800">
                          <a:effectLst/>
                        </a:rPr>
                        <a:t>1</a:t>
                      </a:r>
                    </a:p>
                  </a:txBody>
                  <a:tcPr anchor="ctr">
                    <a:lnL>
                      <a:noFill/>
                    </a:lnL>
                    <a:lnR>
                      <a:noFill/>
                    </a:lnR>
                    <a:lnT>
                      <a:noFill/>
                    </a:lnT>
                    <a:lnB>
                      <a:noFill/>
                    </a:lnB>
                    <a:solidFill>
                      <a:srgbClr val="FFFFFF"/>
                    </a:solidFill>
                  </a:tcPr>
                </a:tc>
                <a:tc>
                  <a:txBody>
                    <a:bodyPr/>
                    <a:lstStyle/>
                    <a:p>
                      <a:pPr algn="ctr" fontAlgn="base"/>
                      <a:r>
                        <a:rPr lang="en-US" sz="1800">
                          <a:effectLst/>
                        </a:rPr>
                        <a:t>0</a:t>
                      </a:r>
                    </a:p>
                  </a:txBody>
                  <a:tcPr anchor="ctr">
                    <a:lnL>
                      <a:noFill/>
                    </a:lnL>
                    <a:lnR>
                      <a:noFill/>
                    </a:lnR>
                    <a:lnT>
                      <a:noFill/>
                    </a:lnT>
                    <a:lnB>
                      <a:noFill/>
                    </a:lnB>
                    <a:solidFill>
                      <a:srgbClr val="FFFFFF"/>
                    </a:solidFill>
                  </a:tcPr>
                </a:tc>
                <a:tc>
                  <a:txBody>
                    <a:bodyPr/>
                    <a:lstStyle/>
                    <a:p>
                      <a:pPr algn="ctr" fontAlgn="base"/>
                      <a:r>
                        <a:rPr lang="en-US" sz="1800" dirty="0">
                          <a:effectLst/>
                        </a:rPr>
                        <a:t>Bank 2</a:t>
                      </a:r>
                    </a:p>
                  </a:txBody>
                  <a:tcPr anchor="ctr">
                    <a:lnL>
                      <a:noFill/>
                    </a:lnL>
                    <a:lnR>
                      <a:noFill/>
                    </a:lnR>
                    <a:lnT>
                      <a:noFill/>
                    </a:lnT>
                    <a:lnB>
                      <a:noFill/>
                    </a:lnB>
                    <a:solidFill>
                      <a:srgbClr val="FFFFFF"/>
                    </a:solidFill>
                  </a:tcPr>
                </a:tc>
                <a:tc>
                  <a:txBody>
                    <a:bodyPr/>
                    <a:lstStyle/>
                    <a:p>
                      <a:pPr algn="ctr" fontAlgn="base"/>
                      <a:r>
                        <a:rPr lang="en-US" sz="1800">
                          <a:effectLst/>
                        </a:rPr>
                        <a:t>10h-17h</a:t>
                      </a:r>
                    </a:p>
                  </a:txBody>
                  <a:tcPr anchor="ctr">
                    <a:lnL>
                      <a:noFill/>
                    </a:lnL>
                    <a:lnR>
                      <a:noFill/>
                    </a:lnR>
                    <a:lnT>
                      <a:noFill/>
                    </a:lnT>
                    <a:lnB>
                      <a:noFill/>
                    </a:lnB>
                    <a:solidFill>
                      <a:srgbClr val="FFFFFF"/>
                    </a:solidFill>
                  </a:tcPr>
                </a:tc>
              </a:tr>
              <a:tr h="667544">
                <a:tc>
                  <a:txBody>
                    <a:bodyPr/>
                    <a:lstStyle/>
                    <a:p>
                      <a:pPr algn="ctr" fontAlgn="base"/>
                      <a:r>
                        <a:rPr lang="en-US" sz="1800">
                          <a:effectLst/>
                        </a:rPr>
                        <a:t>1</a:t>
                      </a:r>
                    </a:p>
                  </a:txBody>
                  <a:tcPr anchor="ctr">
                    <a:lnL>
                      <a:noFill/>
                    </a:lnL>
                    <a:lnR>
                      <a:noFill/>
                    </a:lnR>
                    <a:lnT>
                      <a:noFill/>
                    </a:lnT>
                    <a:lnB>
                      <a:noFill/>
                    </a:lnB>
                    <a:solidFill>
                      <a:srgbClr val="FFFFFF"/>
                    </a:solidFill>
                  </a:tcPr>
                </a:tc>
                <a:tc>
                  <a:txBody>
                    <a:bodyPr/>
                    <a:lstStyle/>
                    <a:p>
                      <a:pPr algn="ctr" fontAlgn="base"/>
                      <a:r>
                        <a:rPr lang="en-US" sz="1800">
                          <a:effectLst/>
                        </a:rPr>
                        <a:t>1</a:t>
                      </a:r>
                    </a:p>
                  </a:txBody>
                  <a:tcPr anchor="ctr">
                    <a:lnL>
                      <a:noFill/>
                    </a:lnL>
                    <a:lnR>
                      <a:noFill/>
                    </a:lnR>
                    <a:lnT>
                      <a:noFill/>
                    </a:lnT>
                    <a:lnB>
                      <a:noFill/>
                    </a:lnB>
                    <a:solidFill>
                      <a:srgbClr val="FFFFFF"/>
                    </a:solidFill>
                  </a:tcPr>
                </a:tc>
                <a:tc>
                  <a:txBody>
                    <a:bodyPr/>
                    <a:lstStyle/>
                    <a:p>
                      <a:pPr algn="ctr" fontAlgn="base"/>
                      <a:r>
                        <a:rPr lang="en-US" sz="1800">
                          <a:effectLst/>
                        </a:rPr>
                        <a:t>Bank 3</a:t>
                      </a:r>
                    </a:p>
                  </a:txBody>
                  <a:tcPr anchor="ctr">
                    <a:lnL>
                      <a:noFill/>
                    </a:lnL>
                    <a:lnR>
                      <a:noFill/>
                    </a:lnR>
                    <a:lnT>
                      <a:noFill/>
                    </a:lnT>
                    <a:lnB>
                      <a:noFill/>
                    </a:lnB>
                    <a:solidFill>
                      <a:srgbClr val="FFFFFF"/>
                    </a:solidFill>
                  </a:tcPr>
                </a:tc>
                <a:tc>
                  <a:txBody>
                    <a:bodyPr/>
                    <a:lstStyle/>
                    <a:p>
                      <a:pPr algn="ctr" fontAlgn="base"/>
                      <a:r>
                        <a:rPr lang="en-US" sz="1800" dirty="0">
                          <a:effectLst/>
                        </a:rPr>
                        <a:t>18h-1Fh</a:t>
                      </a:r>
                    </a:p>
                  </a:txBody>
                  <a:tcPr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6058015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PSW (</a:t>
            </a:r>
            <a:r>
              <a:rPr lang="en-US" b="1" dirty="0"/>
              <a:t>Program Status Word</a:t>
            </a:r>
            <a:r>
              <a:rPr lang="en-US" b="1" dirty="0" smtClean="0"/>
              <a:t>) </a:t>
            </a:r>
            <a:r>
              <a:rPr lang="en-US" b="1" dirty="0"/>
              <a:t>Register in 8051 </a:t>
            </a:r>
            <a:r>
              <a:rPr lang="en-US" b="1" dirty="0" smtClean="0"/>
              <a:t>Microcontroller</a:t>
            </a:r>
            <a:endParaRPr lang="en-US" b="1" dirty="0"/>
          </a:p>
        </p:txBody>
      </p:sp>
      <p:sp>
        <p:nvSpPr>
          <p:cNvPr id="3" name="Text Placeholder 2"/>
          <p:cNvSpPr>
            <a:spLocks noGrp="1"/>
          </p:cNvSpPr>
          <p:nvPr>
            <p:ph type="body" idx="1"/>
          </p:nvPr>
        </p:nvSpPr>
        <p:spPr>
          <a:xfrm>
            <a:off x="-1" y="1961601"/>
            <a:ext cx="9144001" cy="4324899"/>
          </a:xfrm>
        </p:spPr>
        <p:txBody>
          <a:bodyPr/>
          <a:lstStyle/>
          <a:p>
            <a:pPr marL="114300" indent="0" algn="just">
              <a:buNone/>
            </a:pPr>
            <a:r>
              <a:rPr lang="en-US" sz="2400" b="1" dirty="0"/>
              <a:t>General-purpose flag (F0</a:t>
            </a:r>
            <a:r>
              <a:rPr lang="en-US" sz="2400" b="1" dirty="0" smtClean="0"/>
              <a:t>):</a:t>
            </a:r>
            <a:endParaRPr lang="en-US" sz="2400" b="1" dirty="0"/>
          </a:p>
          <a:p>
            <a:pPr marL="114300" indent="0" algn="just">
              <a:buNone/>
            </a:pPr>
            <a:r>
              <a:rPr lang="en-US" sz="2400" dirty="0"/>
              <a:t>This is a user-programmable flag; the user can program and store any bit of his/her choice in this flag, using the bit address.</a:t>
            </a:r>
          </a:p>
          <a:p>
            <a:pPr marL="114300" indent="0" algn="just">
              <a:buNone/>
            </a:pPr>
            <a:r>
              <a:rPr lang="en-US" sz="2400" b="1" dirty="0"/>
              <a:t>Auxiliary carry flag (AC</a:t>
            </a:r>
            <a:r>
              <a:rPr lang="en-US" sz="2400" b="1" dirty="0" smtClean="0"/>
              <a:t>):</a:t>
            </a:r>
            <a:endParaRPr lang="en-US" sz="2400" b="1" dirty="0"/>
          </a:p>
          <a:p>
            <a:pPr marL="114300" indent="0" algn="just">
              <a:buNone/>
            </a:pPr>
            <a:r>
              <a:rPr lang="en-US" sz="2400" dirty="0"/>
              <a:t>It is used in association with BCD arithmetic. This flag is set when there is a carry out of the D3 bit of the accumulator.</a:t>
            </a:r>
          </a:p>
          <a:p>
            <a:pPr marL="114300" indent="0" algn="just">
              <a:buNone/>
            </a:pPr>
            <a:r>
              <a:rPr lang="en-US" sz="2400" b="1" dirty="0"/>
              <a:t>Carry flag (CY</a:t>
            </a:r>
            <a:r>
              <a:rPr lang="en-US" sz="2400" b="1" dirty="0" smtClean="0"/>
              <a:t>):</a:t>
            </a:r>
            <a:endParaRPr lang="en-US" sz="2400" b="1" dirty="0"/>
          </a:p>
          <a:p>
            <a:pPr marL="114300" indent="0" algn="just">
              <a:buNone/>
            </a:pPr>
            <a:r>
              <a:rPr lang="en-US" sz="2400" dirty="0"/>
              <a:t>This flag is used to indicate the carry generated after arithmetic operations. It can also be used as an accumulator, to store one of the data bits for bit-related Boolean instructions.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44</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871538"/>
            <a:ext cx="8934450" cy="109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629635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895350"/>
            <a:ext cx="9144001" cy="5810250"/>
          </a:xfrm>
        </p:spPr>
        <p:txBody>
          <a:bodyPr/>
          <a:lstStyle/>
          <a:p>
            <a:pPr algn="just" fontAlgn="base"/>
            <a:r>
              <a:rPr lang="en-US" sz="2400" dirty="0"/>
              <a:t>In</a:t>
            </a:r>
            <a:r>
              <a:rPr lang="en-US" sz="2000" dirty="0"/>
              <a:t> </a:t>
            </a:r>
            <a:r>
              <a:rPr lang="en-US" sz="2400" dirty="0"/>
              <a:t>8051 there are 1-byte, 2-byte instructions and very few 3-byte instructions are present. The </a:t>
            </a:r>
            <a:r>
              <a:rPr lang="en-US" sz="2400" dirty="0" err="1"/>
              <a:t>opcodes</a:t>
            </a:r>
            <a:r>
              <a:rPr lang="en-US" sz="2400" dirty="0"/>
              <a:t> are 8-bit long. As the </a:t>
            </a:r>
            <a:r>
              <a:rPr lang="en-US" sz="2400" dirty="0" err="1"/>
              <a:t>opcodes</a:t>
            </a:r>
            <a:r>
              <a:rPr lang="en-US" sz="2400" dirty="0"/>
              <a:t> are 8-bit data, there are 256 possibilities. Among 256, 255 </a:t>
            </a:r>
            <a:r>
              <a:rPr lang="en-US" sz="2400" dirty="0" err="1"/>
              <a:t>opcodes</a:t>
            </a:r>
            <a:r>
              <a:rPr lang="en-US" sz="2400" dirty="0"/>
              <a:t> are implemented.</a:t>
            </a:r>
          </a:p>
          <a:p>
            <a:pPr algn="just" fontAlgn="base"/>
            <a:endParaRPr lang="en-US" sz="2400" dirty="0" smtClean="0"/>
          </a:p>
          <a:p>
            <a:pPr algn="just" fontAlgn="base"/>
            <a:r>
              <a:rPr lang="en-US" sz="2400" dirty="0" smtClean="0"/>
              <a:t>In </a:t>
            </a:r>
            <a:r>
              <a:rPr lang="en-US" sz="2400" dirty="0"/>
              <a:t>8051 </a:t>
            </a:r>
            <a:r>
              <a:rPr lang="en-US" sz="2400" dirty="0" smtClean="0"/>
              <a:t>There </a:t>
            </a:r>
            <a:r>
              <a:rPr lang="en-US" sz="2400" dirty="0"/>
              <a:t>are six types of addressing modes. </a:t>
            </a:r>
            <a:endParaRPr lang="en-US" sz="2400" dirty="0" smtClean="0"/>
          </a:p>
          <a:p>
            <a:pPr lvl="1" algn="just" fontAlgn="base"/>
            <a:r>
              <a:rPr lang="en-US" sz="2400" dirty="0" smtClean="0"/>
              <a:t>Immediate Addressing Mode</a:t>
            </a:r>
          </a:p>
          <a:p>
            <a:pPr lvl="1" algn="just" fontAlgn="base"/>
            <a:r>
              <a:rPr lang="en-US" sz="2400" dirty="0" smtClean="0"/>
              <a:t>Register Addressing Mode</a:t>
            </a:r>
          </a:p>
          <a:p>
            <a:pPr lvl="1" algn="just" fontAlgn="base"/>
            <a:r>
              <a:rPr lang="en-US" sz="2400" dirty="0" smtClean="0"/>
              <a:t>Direct Addressing Mode</a:t>
            </a:r>
          </a:p>
          <a:p>
            <a:pPr lvl="1" algn="just" fontAlgn="base"/>
            <a:r>
              <a:rPr lang="en-US" sz="2400" dirty="0" smtClean="0"/>
              <a:t>Register Indirect Addressing Mode</a:t>
            </a:r>
          </a:p>
          <a:p>
            <a:pPr lvl="1" algn="just" fontAlgn="base"/>
            <a:r>
              <a:rPr lang="en-US" sz="2400" dirty="0" smtClean="0"/>
              <a:t>Indexed Addressing Mode</a:t>
            </a:r>
          </a:p>
          <a:p>
            <a:pPr lvl="1" algn="just" fontAlgn="base"/>
            <a:r>
              <a:rPr lang="en-US" sz="2400" dirty="0" smtClean="0"/>
              <a:t>Implied Addressing Mode</a:t>
            </a: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45</a:t>
            </a:fld>
            <a:endParaRPr lang="en-US"/>
          </a:p>
        </p:txBody>
      </p:sp>
    </p:spTree>
    <p:extLst>
      <p:ext uri="{BB962C8B-B14F-4D97-AF65-F5344CB8AC3E}">
        <p14:creationId xmlns:p14="http://schemas.microsoft.com/office/powerpoint/2010/main" val="14140634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723900"/>
            <a:ext cx="9144001" cy="5981700"/>
          </a:xfrm>
        </p:spPr>
        <p:txBody>
          <a:bodyPr/>
          <a:lstStyle/>
          <a:p>
            <a:pPr marL="114300" indent="0" algn="just">
              <a:buNone/>
            </a:pPr>
            <a:r>
              <a:rPr lang="en-US" sz="2400" b="1" dirty="0"/>
              <a:t>Immediate addressing </a:t>
            </a:r>
            <a:r>
              <a:rPr lang="en-US" sz="2400" b="1" dirty="0" smtClean="0"/>
              <a:t>mode:</a:t>
            </a:r>
            <a:endParaRPr lang="en-US" sz="2400" b="1" dirty="0"/>
          </a:p>
          <a:p>
            <a:pPr algn="just"/>
            <a:r>
              <a:rPr lang="en-US" sz="2400" dirty="0" smtClean="0"/>
              <a:t>The </a:t>
            </a:r>
            <a:r>
              <a:rPr lang="en-US" sz="2400" dirty="0"/>
              <a:t>data is provided in the instruction itself. The data is provided immediately after the </a:t>
            </a:r>
            <a:r>
              <a:rPr lang="en-US" sz="2400" dirty="0" err="1"/>
              <a:t>opcode</a:t>
            </a:r>
            <a:r>
              <a:rPr lang="en-US" sz="2400" dirty="0"/>
              <a:t>. These are some examples of Immediate Addressing Mode.</a:t>
            </a:r>
          </a:p>
          <a:p>
            <a:pPr marL="114300" indent="0" algn="just">
              <a:buNone/>
            </a:pPr>
            <a:endParaRPr lang="en-US" sz="2400" dirty="0"/>
          </a:p>
          <a:p>
            <a:pPr algn="just"/>
            <a:r>
              <a:rPr lang="en-US" sz="2400" dirty="0"/>
              <a:t>MOVA, #0AFH;</a:t>
            </a:r>
          </a:p>
          <a:p>
            <a:pPr algn="just"/>
            <a:r>
              <a:rPr lang="en-US" sz="2400" dirty="0"/>
              <a:t>MOVR3, #45H;</a:t>
            </a:r>
          </a:p>
          <a:p>
            <a:pPr algn="just"/>
            <a:r>
              <a:rPr lang="en-US" sz="2400" dirty="0"/>
              <a:t>MOVDPTR, #</a:t>
            </a:r>
            <a:r>
              <a:rPr lang="en-US" sz="2400" dirty="0" smtClean="0"/>
              <a:t>FE00H;</a:t>
            </a:r>
          </a:p>
          <a:p>
            <a:pPr algn="just"/>
            <a:endParaRPr lang="en-US" sz="2400" dirty="0"/>
          </a:p>
          <a:p>
            <a:pPr algn="just"/>
            <a:r>
              <a:rPr lang="en-US" sz="2400" dirty="0" smtClean="0"/>
              <a:t>In </a:t>
            </a:r>
            <a:r>
              <a:rPr lang="en-US" sz="2400" dirty="0"/>
              <a:t>these instructions, the # symbol is used for immediate data. In the last instruction, there is DPTR. The DPTR stands for Data Pointer. Using this, it points the external data memory location. </a:t>
            </a:r>
            <a:endParaRPr lang="en-US" sz="2400" dirty="0" smtClean="0"/>
          </a:p>
          <a:p>
            <a:pPr algn="just"/>
            <a:r>
              <a:rPr lang="en-US" sz="2400" dirty="0" smtClean="0"/>
              <a:t>In </a:t>
            </a:r>
            <a:r>
              <a:rPr lang="en-US" sz="2400" dirty="0"/>
              <a:t>the first instruction, the immediate data is AFH, but one 0 is added at the beginning. So when the data is starting with A to F, the data should be preceded by 0.</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46</a:t>
            </a:fld>
            <a:endParaRPr lang="en-US"/>
          </a:p>
        </p:txBody>
      </p:sp>
    </p:spTree>
    <p:extLst>
      <p:ext uri="{BB962C8B-B14F-4D97-AF65-F5344CB8AC3E}">
        <p14:creationId xmlns:p14="http://schemas.microsoft.com/office/powerpoint/2010/main" val="245907301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723900"/>
            <a:ext cx="9144001" cy="5981700"/>
          </a:xfrm>
        </p:spPr>
        <p:txBody>
          <a:bodyPr/>
          <a:lstStyle/>
          <a:p>
            <a:pPr marL="114300" indent="0" algn="just">
              <a:buNone/>
            </a:pPr>
            <a:r>
              <a:rPr lang="en-US" sz="2300" b="1" dirty="0"/>
              <a:t>Register addressing </a:t>
            </a:r>
            <a:r>
              <a:rPr lang="en-US" sz="2300" b="1" dirty="0" smtClean="0"/>
              <a:t>mode:</a:t>
            </a:r>
            <a:endParaRPr lang="en-US" sz="2300" b="1" dirty="0"/>
          </a:p>
          <a:p>
            <a:pPr algn="just"/>
            <a:r>
              <a:rPr lang="en-US" sz="2300" dirty="0" smtClean="0"/>
              <a:t>The </a:t>
            </a:r>
            <a:r>
              <a:rPr lang="en-US" sz="2300" dirty="0"/>
              <a:t>source or destination data should be present in a register (R0 to R7). These are some examples of </a:t>
            </a:r>
            <a:r>
              <a:rPr lang="en-US" sz="2300" dirty="0" smtClean="0"/>
              <a:t>Register Addressing Mode.</a:t>
            </a:r>
          </a:p>
          <a:p>
            <a:pPr algn="just"/>
            <a:r>
              <a:rPr lang="en-US" sz="2300" dirty="0" smtClean="0"/>
              <a:t>MOVA</a:t>
            </a:r>
            <a:r>
              <a:rPr lang="en-US" sz="2300" dirty="0"/>
              <a:t>, </a:t>
            </a:r>
            <a:r>
              <a:rPr lang="en-US" sz="2300" dirty="0" smtClean="0"/>
              <a:t>R5;</a:t>
            </a:r>
          </a:p>
          <a:p>
            <a:pPr algn="just"/>
            <a:r>
              <a:rPr lang="en-US" sz="2300" dirty="0" smtClean="0"/>
              <a:t>MOVR2</a:t>
            </a:r>
            <a:r>
              <a:rPr lang="en-US" sz="2300" dirty="0"/>
              <a:t>, #</a:t>
            </a:r>
            <a:r>
              <a:rPr lang="en-US" sz="2300" dirty="0" smtClean="0"/>
              <a:t>45H;</a:t>
            </a:r>
          </a:p>
          <a:p>
            <a:pPr algn="just"/>
            <a:r>
              <a:rPr lang="en-US" sz="2300" dirty="0" smtClean="0"/>
              <a:t>MOVR0</a:t>
            </a:r>
            <a:r>
              <a:rPr lang="en-US" sz="2300" dirty="0"/>
              <a:t>, A;</a:t>
            </a:r>
          </a:p>
          <a:p>
            <a:pPr algn="just"/>
            <a:r>
              <a:rPr lang="en-US" sz="2300" dirty="0"/>
              <a:t>In 8051, there is no instruction like MOVR5, R7. But we can get the same result by using this instruction MOV R5, 07H, or by using MOV 05H, R7. But this two instruction will work when the selected register bank is RB0. To use another register bank and to get the same effect, we have to add the starting address of that register bank with the register number. </a:t>
            </a:r>
            <a:endParaRPr lang="en-US" sz="2300" dirty="0" smtClean="0"/>
          </a:p>
          <a:p>
            <a:pPr algn="just"/>
            <a:r>
              <a:rPr lang="en-US" sz="2300" dirty="0" smtClean="0"/>
              <a:t>For </a:t>
            </a:r>
            <a:r>
              <a:rPr lang="en-US" sz="2300" dirty="0"/>
              <a:t>an example, if the RB2 is selected, and we want to access R5, then the address will be (10H + 05H = 15H), so the instruction will look like this MOV 15H, R7. Here 10H is the starting address of Register Bank 2.</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47</a:t>
            </a:fld>
            <a:endParaRPr lang="en-US"/>
          </a:p>
        </p:txBody>
      </p:sp>
    </p:spTree>
    <p:extLst>
      <p:ext uri="{BB962C8B-B14F-4D97-AF65-F5344CB8AC3E}">
        <p14:creationId xmlns:p14="http://schemas.microsoft.com/office/powerpoint/2010/main" val="40118673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723900"/>
            <a:ext cx="9144001" cy="5981700"/>
          </a:xfrm>
        </p:spPr>
        <p:txBody>
          <a:bodyPr/>
          <a:lstStyle/>
          <a:p>
            <a:pPr marL="114300" indent="0" algn="just">
              <a:buNone/>
            </a:pPr>
            <a:r>
              <a:rPr lang="en-US" sz="2300" b="1" dirty="0"/>
              <a:t>Direct Addressing </a:t>
            </a:r>
            <a:r>
              <a:rPr lang="en-US" sz="2300" b="1" dirty="0" smtClean="0"/>
              <a:t>Mode:</a:t>
            </a:r>
            <a:endParaRPr lang="en-US" sz="2300" b="1" dirty="0"/>
          </a:p>
          <a:p>
            <a:pPr algn="just"/>
            <a:r>
              <a:rPr lang="en-US" sz="2300" dirty="0" smtClean="0"/>
              <a:t>The </a:t>
            </a:r>
            <a:r>
              <a:rPr lang="en-US" sz="2300" dirty="0"/>
              <a:t>source or destination address is specified by using 8-bit data in the instruction. Only the internal data memory can be used in this mode. Here some of the examples of direct Addressing </a:t>
            </a:r>
            <a:r>
              <a:rPr lang="en-US" sz="2300" dirty="0" smtClean="0"/>
              <a:t>Mode.</a:t>
            </a:r>
          </a:p>
          <a:p>
            <a:pPr marL="114300" indent="0" algn="just">
              <a:buNone/>
            </a:pPr>
            <a:endParaRPr lang="en-US" sz="2300" dirty="0" smtClean="0"/>
          </a:p>
          <a:p>
            <a:pPr algn="just"/>
            <a:r>
              <a:rPr lang="en-US" sz="2300" dirty="0" smtClean="0"/>
              <a:t>MOV80H</a:t>
            </a:r>
            <a:r>
              <a:rPr lang="en-US" sz="2300" dirty="0"/>
              <a:t>, </a:t>
            </a:r>
            <a:r>
              <a:rPr lang="en-US" sz="2300" dirty="0" smtClean="0"/>
              <a:t>R6;</a:t>
            </a:r>
          </a:p>
          <a:p>
            <a:pPr algn="just"/>
            <a:r>
              <a:rPr lang="en-US" sz="2300" dirty="0" smtClean="0"/>
              <a:t>MOVR2</a:t>
            </a:r>
            <a:r>
              <a:rPr lang="en-US" sz="2300" dirty="0"/>
              <a:t>, </a:t>
            </a:r>
            <a:r>
              <a:rPr lang="en-US" sz="2300" dirty="0" smtClean="0"/>
              <a:t>45H;</a:t>
            </a:r>
          </a:p>
          <a:p>
            <a:pPr algn="just"/>
            <a:r>
              <a:rPr lang="en-US" sz="2300" dirty="0" smtClean="0"/>
              <a:t>MOVR0</a:t>
            </a:r>
            <a:r>
              <a:rPr lang="en-US" sz="2300" dirty="0"/>
              <a:t>, </a:t>
            </a:r>
            <a:r>
              <a:rPr lang="en-US" sz="2300" dirty="0" smtClean="0"/>
              <a:t>05H;</a:t>
            </a:r>
          </a:p>
          <a:p>
            <a:pPr algn="just"/>
            <a:endParaRPr lang="en-US" sz="2300" dirty="0"/>
          </a:p>
          <a:p>
            <a:pPr algn="just"/>
            <a:r>
              <a:rPr lang="en-US" sz="2300" dirty="0" smtClean="0"/>
              <a:t>The </a:t>
            </a:r>
            <a:r>
              <a:rPr lang="en-US" sz="2300" dirty="0"/>
              <a:t>first instruction will send the content of </a:t>
            </a:r>
            <a:r>
              <a:rPr lang="en-US" sz="2300" dirty="0" smtClean="0"/>
              <a:t>register R6 </a:t>
            </a:r>
            <a:r>
              <a:rPr lang="en-US" sz="2300" dirty="0"/>
              <a:t>to port P0 (Address of Port 0 is 80H). </a:t>
            </a:r>
            <a:endParaRPr lang="en-US" sz="2300" dirty="0" smtClean="0"/>
          </a:p>
          <a:p>
            <a:pPr algn="just"/>
            <a:r>
              <a:rPr lang="en-US" sz="2300" dirty="0" smtClean="0"/>
              <a:t>The </a:t>
            </a:r>
            <a:r>
              <a:rPr lang="en-US" sz="2300" dirty="0"/>
              <a:t>second one is forgetting content from 45H to R2. </a:t>
            </a:r>
            <a:endParaRPr lang="en-US" sz="2300" dirty="0" smtClean="0"/>
          </a:p>
          <a:p>
            <a:pPr algn="just"/>
            <a:r>
              <a:rPr lang="en-US" sz="2300" dirty="0" smtClean="0"/>
              <a:t>The </a:t>
            </a:r>
            <a:r>
              <a:rPr lang="en-US" sz="2300" dirty="0"/>
              <a:t>third one is used to get data from Register R5 (When register bank RB0 is selected) to register R5.</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48</a:t>
            </a:fld>
            <a:endParaRPr lang="en-US"/>
          </a:p>
        </p:txBody>
      </p:sp>
    </p:spTree>
    <p:extLst>
      <p:ext uri="{BB962C8B-B14F-4D97-AF65-F5344CB8AC3E}">
        <p14:creationId xmlns:p14="http://schemas.microsoft.com/office/powerpoint/2010/main" val="1911032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723900"/>
            <a:ext cx="9144001" cy="5981700"/>
          </a:xfrm>
        </p:spPr>
        <p:txBody>
          <a:bodyPr/>
          <a:lstStyle/>
          <a:p>
            <a:pPr marL="114300" indent="0" algn="just">
              <a:buNone/>
            </a:pPr>
            <a:r>
              <a:rPr lang="en-US" sz="2300" b="1" dirty="0"/>
              <a:t>Register indirect addressing </a:t>
            </a:r>
            <a:r>
              <a:rPr lang="en-US" sz="2300" b="1" dirty="0" smtClean="0"/>
              <a:t>Mode:</a:t>
            </a:r>
            <a:endParaRPr lang="en-US" sz="2300" b="1" dirty="0"/>
          </a:p>
          <a:p>
            <a:pPr algn="just"/>
            <a:r>
              <a:rPr lang="en-US" sz="2300" dirty="0"/>
              <a:t>In this mode, the source or destination address is given in the register. By using register indirect addressing mode, the internal or external addresses can be accessed. The R0 and R1 are used for 8-bit addresses, and DPTR is used for 16-bit addresses, no other registers can be used for addressing purposes. Let us see some examples of this mode.</a:t>
            </a:r>
          </a:p>
          <a:p>
            <a:pPr marL="114300" indent="0" algn="just">
              <a:buNone/>
            </a:pPr>
            <a:endParaRPr lang="en-US" sz="2300" dirty="0"/>
          </a:p>
          <a:p>
            <a:pPr algn="just"/>
            <a:r>
              <a:rPr lang="en-US" sz="2300" dirty="0"/>
              <a:t>MOV0E5H, @R0;</a:t>
            </a:r>
          </a:p>
          <a:p>
            <a:pPr algn="just"/>
            <a:r>
              <a:rPr lang="en-US" sz="2300" dirty="0"/>
              <a:t>MOV@R1, </a:t>
            </a:r>
            <a:r>
              <a:rPr lang="en-US" sz="2300" dirty="0" smtClean="0"/>
              <a:t>80H</a:t>
            </a:r>
          </a:p>
          <a:p>
            <a:pPr algn="just"/>
            <a:r>
              <a:rPr lang="en-US" sz="2300" dirty="0" smtClean="0"/>
              <a:t>In </a:t>
            </a:r>
            <a:r>
              <a:rPr lang="en-US" sz="2300" dirty="0"/>
              <a:t>the instructions, the @ symbol is used for register indirect addressing. In the first instruction, it is showing that </a:t>
            </a:r>
            <a:r>
              <a:rPr lang="en-US" sz="2300" dirty="0" smtClean="0"/>
              <a:t>the R0 </a:t>
            </a:r>
            <a:r>
              <a:rPr lang="en-US" sz="2300" dirty="0"/>
              <a:t>register is used. If the content of R0 is 40H, then that instruction will take the data which is located at location 40H of the internal RAM. </a:t>
            </a:r>
            <a:endParaRPr lang="en-US" sz="2300" dirty="0" smtClean="0"/>
          </a:p>
          <a:p>
            <a:pPr algn="just"/>
            <a:r>
              <a:rPr lang="en-US" sz="2300" dirty="0" smtClean="0"/>
              <a:t>In </a:t>
            </a:r>
            <a:r>
              <a:rPr lang="en-US" sz="2300" dirty="0"/>
              <a:t>the second one, if the content of R1 is 30H, then it indicates that the content of port P0 will be stored at location 30H in the internal RAM.</a:t>
            </a:r>
          </a:p>
          <a:p>
            <a:pPr marL="114300" indent="0" algn="just">
              <a:buNone/>
            </a:pPr>
            <a:endParaRPr lang="en-US" sz="23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49</a:t>
            </a:fld>
            <a:endParaRPr lang="en-US"/>
          </a:p>
        </p:txBody>
      </p:sp>
    </p:spTree>
    <p:extLst>
      <p:ext uri="{BB962C8B-B14F-4D97-AF65-F5344CB8AC3E}">
        <p14:creationId xmlns:p14="http://schemas.microsoft.com/office/powerpoint/2010/main" val="16865383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723900"/>
            <a:ext cx="9144001" cy="5981700"/>
          </a:xfrm>
        </p:spPr>
        <p:txBody>
          <a:bodyPr/>
          <a:lstStyle/>
          <a:p>
            <a:pPr marL="114300" indent="0" algn="just">
              <a:buNone/>
            </a:pPr>
            <a:endParaRPr lang="en-US" sz="2300" dirty="0" smtClean="0"/>
          </a:p>
          <a:p>
            <a:pPr marL="114300" indent="0" algn="just">
              <a:buNone/>
            </a:pPr>
            <a:endParaRPr lang="en-US" sz="2300" dirty="0"/>
          </a:p>
          <a:p>
            <a:pPr algn="just"/>
            <a:r>
              <a:rPr lang="en-US" sz="2300" dirty="0" smtClean="0"/>
              <a:t>MOVXA</a:t>
            </a:r>
            <a:r>
              <a:rPr lang="en-US" sz="2300" dirty="0"/>
              <a:t>, @R1;</a:t>
            </a:r>
          </a:p>
          <a:p>
            <a:pPr algn="just"/>
            <a:r>
              <a:rPr lang="en-US" sz="2300" dirty="0"/>
              <a:t>MOV@DPTR, </a:t>
            </a:r>
            <a:r>
              <a:rPr lang="en-US" sz="2300" dirty="0" smtClean="0"/>
              <a:t>A;</a:t>
            </a:r>
          </a:p>
          <a:p>
            <a:pPr algn="just"/>
            <a:endParaRPr lang="en-US" sz="2300" dirty="0"/>
          </a:p>
          <a:p>
            <a:pPr algn="just"/>
            <a:r>
              <a:rPr lang="en-US" sz="2300" dirty="0" smtClean="0"/>
              <a:t>In </a:t>
            </a:r>
            <a:r>
              <a:rPr lang="en-US" sz="2300" dirty="0"/>
              <a:t>these two instructions, the X in MOVX indicates the external data memory. </a:t>
            </a:r>
            <a:endParaRPr lang="en-US" sz="2300" dirty="0" smtClean="0"/>
          </a:p>
          <a:p>
            <a:pPr algn="just"/>
            <a:r>
              <a:rPr lang="en-US" sz="2300" dirty="0" smtClean="0"/>
              <a:t>The </a:t>
            </a:r>
            <a:r>
              <a:rPr lang="en-US" sz="2300" dirty="0"/>
              <a:t>external data memory can only be accessed in register indirect mode</a:t>
            </a:r>
            <a:r>
              <a:rPr lang="en-US" sz="2300" dirty="0" smtClean="0"/>
              <a:t>.</a:t>
            </a:r>
          </a:p>
          <a:p>
            <a:pPr algn="just"/>
            <a:r>
              <a:rPr lang="en-US" sz="2300" dirty="0" smtClean="0"/>
              <a:t>In </a:t>
            </a:r>
            <a:r>
              <a:rPr lang="en-US" sz="2300" dirty="0"/>
              <a:t>the first instruction if the </a:t>
            </a:r>
            <a:r>
              <a:rPr lang="en-US" sz="2300" dirty="0" smtClean="0"/>
              <a:t>R1 </a:t>
            </a:r>
            <a:r>
              <a:rPr lang="en-US" sz="2300" dirty="0"/>
              <a:t>is holding </a:t>
            </a:r>
            <a:r>
              <a:rPr lang="en-US" sz="2300" dirty="0" smtClean="0"/>
              <a:t>25H</a:t>
            </a:r>
            <a:r>
              <a:rPr lang="en-US" sz="2300" dirty="0"/>
              <a:t>, then A will get the content of external RAM location40H. </a:t>
            </a:r>
            <a:endParaRPr lang="en-US" sz="2300" dirty="0" smtClean="0"/>
          </a:p>
          <a:p>
            <a:pPr algn="just"/>
            <a:r>
              <a:rPr lang="en-US" sz="2300" smtClean="0"/>
              <a:t>In </a:t>
            </a:r>
            <a:r>
              <a:rPr lang="en-US" sz="2300" dirty="0"/>
              <a:t>the second one, the content of A is overwritten in the location pointed by DPTR.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50</a:t>
            </a:fld>
            <a:endParaRPr lang="en-US"/>
          </a:p>
        </p:txBody>
      </p:sp>
    </p:spTree>
    <p:extLst>
      <p:ext uri="{BB962C8B-B14F-4D97-AF65-F5344CB8AC3E}">
        <p14:creationId xmlns:p14="http://schemas.microsoft.com/office/powerpoint/2010/main" val="101466501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723900"/>
            <a:ext cx="9144001" cy="5981700"/>
          </a:xfrm>
        </p:spPr>
        <p:txBody>
          <a:bodyPr/>
          <a:lstStyle/>
          <a:p>
            <a:pPr marL="114300" indent="0" algn="just">
              <a:buNone/>
            </a:pPr>
            <a:r>
              <a:rPr lang="en-US" sz="2400" b="1" dirty="0"/>
              <a:t>Indexed addressing </a:t>
            </a:r>
            <a:r>
              <a:rPr lang="en-US" sz="2400" b="1" dirty="0" smtClean="0"/>
              <a:t>mode:</a:t>
            </a:r>
            <a:endParaRPr lang="en-US" sz="2400" b="1" dirty="0"/>
          </a:p>
          <a:p>
            <a:pPr algn="just"/>
            <a:r>
              <a:rPr lang="en-US" sz="2400" dirty="0"/>
              <a:t>In the indexed addressing mode, the source memory can only be accessed from program memory only. The destination operand is always the register A. These are some examples of Indexed addressing mode</a:t>
            </a:r>
            <a:r>
              <a:rPr lang="en-US" sz="2400" dirty="0" smtClean="0"/>
              <a:t>.</a:t>
            </a:r>
          </a:p>
          <a:p>
            <a:pPr algn="just"/>
            <a:endParaRPr lang="en-US" sz="2400" dirty="0"/>
          </a:p>
          <a:p>
            <a:pPr algn="just"/>
            <a:r>
              <a:rPr lang="en-US" sz="2400" dirty="0"/>
              <a:t>MOVCA, @A+PC; </a:t>
            </a:r>
            <a:endParaRPr lang="en-US" sz="2400" dirty="0" smtClean="0"/>
          </a:p>
          <a:p>
            <a:pPr algn="just"/>
            <a:r>
              <a:rPr lang="en-US" sz="2400" dirty="0" smtClean="0"/>
              <a:t>MOVCA</a:t>
            </a:r>
            <a:r>
              <a:rPr lang="en-US" sz="2400" dirty="0"/>
              <a:t>, @A+DPTR</a:t>
            </a:r>
            <a:r>
              <a:rPr lang="en-US" sz="2400" dirty="0" smtClean="0"/>
              <a:t>;</a:t>
            </a:r>
          </a:p>
          <a:p>
            <a:pPr algn="just"/>
            <a:endParaRPr lang="en-US" sz="2400" dirty="0"/>
          </a:p>
          <a:p>
            <a:pPr algn="just"/>
            <a:r>
              <a:rPr lang="en-US" sz="2400" dirty="0" smtClean="0"/>
              <a:t>The </a:t>
            </a:r>
            <a:r>
              <a:rPr lang="en-US" sz="2400" dirty="0"/>
              <a:t>C in MOVC instruction refers to code byte. For the first instruction, let us consider A holds 30H. And the PC value is1125H. The contents of program memory location 1155H (30H + 1125H) are moved to register A</a:t>
            </a:r>
            <a:r>
              <a:rPr lang="en-US" sz="2400" dirty="0" smtClean="0"/>
              <a:t>.</a:t>
            </a:r>
          </a:p>
          <a:p>
            <a:pPr algn="just"/>
            <a:r>
              <a:rPr lang="en-US" sz="2400" dirty="0"/>
              <a:t>Second example works similarly but uses the Data Pointer (DPTR) instead of the PC.</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51</a:t>
            </a:fld>
            <a:endParaRPr lang="en-US"/>
          </a:p>
        </p:txBody>
      </p:sp>
    </p:spTree>
    <p:extLst>
      <p:ext uri="{BB962C8B-B14F-4D97-AF65-F5344CB8AC3E}">
        <p14:creationId xmlns:p14="http://schemas.microsoft.com/office/powerpoint/2010/main" val="2680423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1104900"/>
            <a:ext cx="9144001" cy="5600700"/>
          </a:xfrm>
        </p:spPr>
        <p:txBody>
          <a:bodyPr/>
          <a:lstStyle/>
          <a:p>
            <a:pPr marL="114300" indent="0">
              <a:buNone/>
            </a:pPr>
            <a:r>
              <a:rPr lang="en-US" sz="2800" b="1" dirty="0"/>
              <a:t>Example </a:t>
            </a:r>
            <a:r>
              <a:rPr lang="en-US" sz="2800" b="1" dirty="0" smtClean="0"/>
              <a:t>Breakdown: </a:t>
            </a:r>
            <a:r>
              <a:rPr lang="en-US" sz="2800" dirty="0" smtClean="0"/>
              <a:t>Consider </a:t>
            </a:r>
            <a:r>
              <a:rPr lang="en-US" sz="2800" dirty="0"/>
              <a:t>the instruction:</a:t>
            </a:r>
          </a:p>
          <a:p>
            <a:r>
              <a:rPr lang="en-US" sz="2800" dirty="0" smtClean="0"/>
              <a:t>MOVC </a:t>
            </a:r>
            <a:r>
              <a:rPr lang="en-US" sz="2800" dirty="0"/>
              <a:t>A, @A + PC </a:t>
            </a:r>
          </a:p>
          <a:p>
            <a:pPr marL="114300" indent="0">
              <a:buNone/>
            </a:pPr>
            <a:r>
              <a:rPr lang="en-US" sz="2800" b="1" dirty="0"/>
              <a:t>Given Values</a:t>
            </a:r>
            <a:r>
              <a:rPr lang="en-US" sz="2800" dirty="0"/>
              <a:t>:</a:t>
            </a:r>
          </a:p>
          <a:p>
            <a:pPr marL="742950" lvl="1" indent="-285750">
              <a:buFont typeface="Arial"/>
              <a:buChar char="•"/>
            </a:pPr>
            <a:r>
              <a:rPr lang="en-US" dirty="0"/>
              <a:t>Register A = 30H</a:t>
            </a:r>
          </a:p>
          <a:p>
            <a:pPr marL="742950" lvl="1" indent="-285750">
              <a:buFont typeface="Arial"/>
              <a:buChar char="•"/>
            </a:pPr>
            <a:r>
              <a:rPr lang="en-US" dirty="0"/>
              <a:t>PC = 1125H</a:t>
            </a:r>
          </a:p>
          <a:p>
            <a:r>
              <a:rPr lang="en-US" sz="2800" b="1" dirty="0"/>
              <a:t>Calculation</a:t>
            </a:r>
            <a:r>
              <a:rPr lang="en-US" sz="2800" dirty="0"/>
              <a:t>:</a:t>
            </a:r>
          </a:p>
          <a:p>
            <a:pPr marL="742950" lvl="1" indent="-285750">
              <a:buFont typeface="Arial"/>
              <a:buChar char="•"/>
            </a:pPr>
            <a:r>
              <a:rPr lang="en-US" dirty="0"/>
              <a:t>Effective Address = A + PC = 30H + 1125H</a:t>
            </a:r>
          </a:p>
          <a:p>
            <a:r>
              <a:rPr lang="en-US" sz="2800" b="1" dirty="0" smtClean="0"/>
              <a:t>Memory </a:t>
            </a:r>
            <a:r>
              <a:rPr lang="en-US" sz="2800" b="1" dirty="0"/>
              <a:t>Access</a:t>
            </a:r>
            <a:r>
              <a:rPr lang="en-US" sz="2800" dirty="0"/>
              <a:t>:</a:t>
            </a:r>
          </a:p>
          <a:p>
            <a:pPr marL="742950" lvl="1" indent="-285750">
              <a:buFont typeface="Arial"/>
              <a:buChar char="•"/>
            </a:pPr>
            <a:r>
              <a:rPr lang="en-US" dirty="0" smtClean="0"/>
              <a:t>The </a:t>
            </a:r>
            <a:r>
              <a:rPr lang="en-US" dirty="0"/>
              <a:t>instruction moves the contents of program memory location 1155H to register 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52</a:t>
            </a:fld>
            <a:endParaRPr lang="en-US"/>
          </a:p>
        </p:txBody>
      </p:sp>
    </p:spTree>
    <p:extLst>
      <p:ext uri="{BB962C8B-B14F-4D97-AF65-F5344CB8AC3E}">
        <p14:creationId xmlns:p14="http://schemas.microsoft.com/office/powerpoint/2010/main" val="41994330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Addressing </a:t>
            </a:r>
            <a:r>
              <a:rPr lang="en-US" b="1" dirty="0" smtClean="0"/>
              <a:t>Modes </a:t>
            </a:r>
            <a:r>
              <a:rPr lang="en-US" b="1" dirty="0"/>
              <a:t>of </a:t>
            </a:r>
            <a:r>
              <a:rPr lang="en-US" b="1" dirty="0" smtClean="0"/>
              <a:t>8051</a:t>
            </a:r>
            <a:endParaRPr lang="en-US" b="1" dirty="0"/>
          </a:p>
        </p:txBody>
      </p:sp>
      <p:sp>
        <p:nvSpPr>
          <p:cNvPr id="3" name="Text Placeholder 2"/>
          <p:cNvSpPr>
            <a:spLocks noGrp="1"/>
          </p:cNvSpPr>
          <p:nvPr>
            <p:ph type="body" idx="1"/>
          </p:nvPr>
        </p:nvSpPr>
        <p:spPr>
          <a:xfrm>
            <a:off x="-1" y="723900"/>
            <a:ext cx="9144001" cy="5981700"/>
          </a:xfrm>
        </p:spPr>
        <p:txBody>
          <a:bodyPr/>
          <a:lstStyle/>
          <a:p>
            <a:pPr marL="114300" indent="0" algn="just">
              <a:buNone/>
            </a:pPr>
            <a:r>
              <a:rPr lang="en-US" sz="2800" b="1" dirty="0"/>
              <a:t>Implied Addressing </a:t>
            </a:r>
            <a:r>
              <a:rPr lang="en-US" sz="2800" b="1" dirty="0" smtClean="0"/>
              <a:t>Mode:</a:t>
            </a:r>
            <a:endParaRPr lang="en-US" sz="2800" b="1" dirty="0"/>
          </a:p>
          <a:p>
            <a:pPr algn="just"/>
            <a:r>
              <a:rPr lang="en-US" sz="2800" dirty="0"/>
              <a:t>In the implied addressing mode, there will be a single operand. These types of instruction can work on specific registers only. These types of instructions are also known as register specific instruction. Here are some examples of Implied Addressing Mode.</a:t>
            </a:r>
          </a:p>
          <a:p>
            <a:pPr marL="114300" indent="0" algn="just">
              <a:buNone/>
            </a:pPr>
            <a:endParaRPr lang="en-US" sz="2800" b="1" dirty="0"/>
          </a:p>
          <a:p>
            <a:pPr algn="just"/>
            <a:r>
              <a:rPr lang="en-US" sz="2800" dirty="0"/>
              <a:t>RLA;</a:t>
            </a:r>
          </a:p>
          <a:p>
            <a:pPr algn="just"/>
            <a:r>
              <a:rPr lang="en-US" sz="2800" dirty="0" smtClean="0"/>
              <a:t>SWAPA;</a:t>
            </a:r>
          </a:p>
          <a:p>
            <a:pPr algn="just"/>
            <a:endParaRPr lang="en-US" sz="2800" dirty="0"/>
          </a:p>
          <a:p>
            <a:pPr algn="just"/>
            <a:r>
              <a:rPr lang="en-US" sz="2800" dirty="0" smtClean="0"/>
              <a:t>These </a:t>
            </a:r>
            <a:r>
              <a:rPr lang="en-US" sz="2800" dirty="0"/>
              <a:t>are 1- byte instruction. The first one is used to rotate the A register content to the Left. The second one is used to swap the nibbles in 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53</a:t>
            </a:fld>
            <a:endParaRPr lang="en-US"/>
          </a:p>
        </p:txBody>
      </p:sp>
    </p:spTree>
    <p:extLst>
      <p:ext uri="{BB962C8B-B14F-4D97-AF65-F5344CB8AC3E}">
        <p14:creationId xmlns:p14="http://schemas.microsoft.com/office/powerpoint/2010/main" val="90042901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95350"/>
            <a:ext cx="9144001" cy="5810250"/>
          </a:xfrm>
        </p:spPr>
        <p:txBody>
          <a:bodyPr/>
          <a:lstStyle/>
          <a:p>
            <a:pPr marL="114300" indent="0" algn="just">
              <a:buNone/>
            </a:pPr>
            <a:r>
              <a:rPr lang="en-US" sz="2800" dirty="0"/>
              <a:t>The instructions of 8051 Microcontroller can be classified into five different groups. These groups are like below</a:t>
            </a:r>
          </a:p>
          <a:p>
            <a:pPr lvl="1" algn="just"/>
            <a:r>
              <a:rPr lang="en-US" dirty="0"/>
              <a:t>Data Transfer Group</a:t>
            </a:r>
          </a:p>
          <a:p>
            <a:pPr lvl="1" algn="just"/>
            <a:r>
              <a:rPr lang="en-US" dirty="0"/>
              <a:t>Arithmetic Group</a:t>
            </a:r>
          </a:p>
          <a:p>
            <a:pPr lvl="1" algn="just"/>
            <a:r>
              <a:rPr lang="en-US" dirty="0"/>
              <a:t>Logical Group</a:t>
            </a:r>
          </a:p>
          <a:p>
            <a:pPr lvl="1" algn="just"/>
            <a:r>
              <a:rPr lang="en-US" dirty="0"/>
              <a:t>Program Branch Group</a:t>
            </a:r>
          </a:p>
          <a:p>
            <a:pPr lvl="1" algn="just"/>
            <a:r>
              <a:rPr lang="en-US" dirty="0"/>
              <a:t>Bit Processing Group</a:t>
            </a:r>
          </a:p>
          <a:p>
            <a:pPr algn="just"/>
            <a:r>
              <a:rPr lang="en-US" sz="2800" dirty="0"/>
              <a:t>This Bit-Processing group is also known as Boolean Variable Manipulation.</a:t>
            </a:r>
          </a:p>
          <a:p>
            <a:pPr algn="just"/>
            <a:r>
              <a:rPr lang="en-US" sz="2800" dirty="0"/>
              <a:t>Like 8085, some instruction has two operands. The first operand is the Destination, and the second operator is Source</a:t>
            </a:r>
            <a:r>
              <a:rPr lang="en-US" sz="2800" dirty="0" smtClean="0"/>
              <a:t>.</a:t>
            </a:r>
            <a:endParaRPr lang="en-US" sz="2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54</a:t>
            </a:fld>
            <a:endParaRPr lang="en-US"/>
          </a:p>
        </p:txBody>
      </p:sp>
    </p:spTree>
    <p:extLst>
      <p:ext uri="{BB962C8B-B14F-4D97-AF65-F5344CB8AC3E}">
        <p14:creationId xmlns:p14="http://schemas.microsoft.com/office/powerpoint/2010/main" val="394654834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95350"/>
            <a:ext cx="9144001" cy="5810250"/>
          </a:xfrm>
        </p:spPr>
        <p:txBody>
          <a:bodyPr/>
          <a:lstStyle/>
          <a:p>
            <a:pPr marL="114300" indent="0" algn="just">
              <a:buNone/>
            </a:pPr>
            <a:r>
              <a:rPr lang="en-US" sz="2800" b="1" dirty="0" smtClean="0"/>
              <a:t>Examples:</a:t>
            </a:r>
          </a:p>
          <a:p>
            <a:pPr marL="114300" indent="0" algn="just">
              <a:buNone/>
            </a:pPr>
            <a:endParaRPr lang="en-US" sz="2800" b="1" dirty="0" smtClean="0"/>
          </a:p>
          <a:p>
            <a:pPr marL="114300" indent="0" algn="just">
              <a:buNone/>
            </a:pPr>
            <a:r>
              <a:rPr lang="en-US" sz="2800" dirty="0" err="1"/>
              <a:t>Rn</a:t>
            </a:r>
            <a:r>
              <a:rPr lang="en-US" sz="2800" dirty="0"/>
              <a:t> = Any register from R0to R7</a:t>
            </a:r>
          </a:p>
          <a:p>
            <a:pPr marL="114300" indent="0" algn="just">
              <a:buNone/>
            </a:pPr>
            <a:r>
              <a:rPr lang="en-US" sz="2800" dirty="0" err="1"/>
              <a:t>Ri</a:t>
            </a:r>
            <a:r>
              <a:rPr lang="en-US" sz="2800" dirty="0"/>
              <a:t> = Either R0 or R1</a:t>
            </a:r>
          </a:p>
          <a:p>
            <a:pPr marL="114300" indent="0" algn="just">
              <a:buNone/>
            </a:pPr>
            <a:r>
              <a:rPr lang="en-US" sz="2800" dirty="0"/>
              <a:t>d8 = Any 8-bit immediate data (00H to FFH)</a:t>
            </a:r>
          </a:p>
          <a:p>
            <a:pPr marL="114300" indent="0" algn="just">
              <a:buNone/>
            </a:pPr>
            <a:r>
              <a:rPr lang="en-US" sz="2800" dirty="0"/>
              <a:t>d16 = 16-bit immediate data</a:t>
            </a:r>
          </a:p>
          <a:p>
            <a:pPr marL="114300" indent="0" algn="just">
              <a:buNone/>
            </a:pPr>
            <a:r>
              <a:rPr lang="en-US" sz="2800" dirty="0"/>
              <a:t>a8 = 8-bit address</a:t>
            </a:r>
          </a:p>
          <a:p>
            <a:pPr marL="114300" indent="0" algn="just">
              <a:buNone/>
            </a:pPr>
            <a:r>
              <a:rPr lang="en-US" sz="2800" dirty="0"/>
              <a:t>bit = 8-bit address of bit which is bit addressable</a:t>
            </a:r>
          </a:p>
          <a:p>
            <a:pPr marL="114300" indent="0" algn="just">
              <a:buNone/>
            </a:pPr>
            <a:r>
              <a:rPr lang="en-US" sz="2800" dirty="0" err="1"/>
              <a:t>rel</a:t>
            </a:r>
            <a:r>
              <a:rPr lang="en-US" sz="2800" dirty="0"/>
              <a:t> = 8-bit signed displacement. The range is -128 to 127. It is relative to the first byte of the instruction.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55</a:t>
            </a:fld>
            <a:endParaRPr lang="en-US"/>
          </a:p>
        </p:txBody>
      </p:sp>
    </p:spTree>
    <p:extLst>
      <p:ext uri="{BB962C8B-B14F-4D97-AF65-F5344CB8AC3E}">
        <p14:creationId xmlns:p14="http://schemas.microsoft.com/office/powerpoint/2010/main" val="214939310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95350"/>
            <a:ext cx="9144001" cy="5810250"/>
          </a:xfrm>
        </p:spPr>
        <p:txBody>
          <a:bodyPr/>
          <a:lstStyle/>
          <a:p>
            <a:pPr marL="114300" indent="0">
              <a:buNone/>
            </a:pPr>
            <a:r>
              <a:rPr lang="en-US" sz="2800" b="1" dirty="0"/>
              <a:t>Arithmetic group in </a:t>
            </a:r>
            <a:r>
              <a:rPr lang="en-US" sz="2800" b="1" dirty="0" smtClean="0"/>
              <a:t>8051:</a:t>
            </a:r>
          </a:p>
          <a:p>
            <a:pPr marL="114300" indent="0">
              <a:buNone/>
            </a:pPr>
            <a:endParaRPr lang="en-US" sz="2800" b="1" dirty="0"/>
          </a:p>
          <a:p>
            <a:pPr algn="just"/>
            <a:r>
              <a:rPr lang="en-US" sz="2400" dirty="0" smtClean="0"/>
              <a:t>In </a:t>
            </a:r>
            <a:r>
              <a:rPr lang="en-US" sz="2400" dirty="0"/>
              <a:t>8051 Microcontroller there are 24 different instructions under the Arithmetic Group. In total there are 64 </a:t>
            </a:r>
            <a:r>
              <a:rPr lang="en-US" sz="2400" dirty="0" err="1"/>
              <a:t>opcodes</a:t>
            </a:r>
            <a:r>
              <a:rPr lang="en-US" sz="2400" dirty="0"/>
              <a:t>. </a:t>
            </a:r>
            <a:endParaRPr lang="en-US" sz="2400" dirty="0" smtClean="0"/>
          </a:p>
          <a:p>
            <a:pPr algn="just"/>
            <a:r>
              <a:rPr lang="en-US" sz="2400" dirty="0" smtClean="0"/>
              <a:t>The </a:t>
            </a:r>
            <a:r>
              <a:rPr lang="en-US" sz="2400" dirty="0"/>
              <a:t>Carry Flag (CY), Auxiliary Carry (AC)and Overflow flag (OV) are affected based on the result of ADD, ADDC, SUBB  etc. instructions. </a:t>
            </a:r>
            <a:endParaRPr lang="en-US" sz="2400" dirty="0" smtClean="0"/>
          </a:p>
          <a:p>
            <a:pPr algn="just"/>
            <a:r>
              <a:rPr lang="en-US" sz="2400" dirty="0" smtClean="0"/>
              <a:t>The </a:t>
            </a:r>
            <a:r>
              <a:rPr lang="en-US" sz="2400" dirty="0"/>
              <a:t>multiple and divide instructions clear the Carry flag, and also does not affect the AC flag. After execution of multiplication, the OV flag will be 1 when the result is greater than FFH. </a:t>
            </a:r>
            <a:endParaRPr lang="en-US" sz="2400" dirty="0" smtClean="0"/>
          </a:p>
          <a:p>
            <a:pPr algn="just"/>
            <a:r>
              <a:rPr lang="en-US" sz="2400" dirty="0" smtClean="0"/>
              <a:t>Otherwise</a:t>
            </a:r>
            <a:r>
              <a:rPr lang="en-US" sz="2400" dirty="0"/>
              <a:t>, it is 0. Similarly, after division OV flag is 1 when the content of B is 00H before division, otherwise it is 0. The DA A (Decimal Adjust Accumulator) affects the Carry Flag only.</a:t>
            </a:r>
          </a:p>
          <a:p>
            <a:pPr marL="114300" indent="0" algn="just">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56</a:t>
            </a:fld>
            <a:endParaRPr lang="en-US"/>
          </a:p>
        </p:txBody>
      </p:sp>
    </p:spTree>
    <p:extLst>
      <p:ext uri="{BB962C8B-B14F-4D97-AF65-F5344CB8AC3E}">
        <p14:creationId xmlns:p14="http://schemas.microsoft.com/office/powerpoint/2010/main" val="412794378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95350"/>
            <a:ext cx="9144001" cy="5810250"/>
          </a:xfrm>
        </p:spPr>
        <p:txBody>
          <a:bodyPr/>
          <a:lstStyle/>
          <a:p>
            <a:pPr marL="114300" indent="0">
              <a:buNone/>
            </a:pPr>
            <a:r>
              <a:rPr lang="en-US" sz="2400" dirty="0" smtClean="0"/>
              <a:t>We will </a:t>
            </a:r>
            <a:r>
              <a:rPr lang="en-US" sz="2400" dirty="0"/>
              <a:t>see the Mnemonics, Lengths, Execution Time in terms of the machine cycle, Number of </a:t>
            </a:r>
            <a:r>
              <a:rPr lang="en-US" sz="2400" dirty="0" err="1"/>
              <a:t>Opcodes</a:t>
            </a:r>
            <a:r>
              <a:rPr lang="en-US" sz="2400" dirty="0"/>
              <a:t> etc.</a:t>
            </a:r>
          </a:p>
          <a:p>
            <a:pPr marL="114300" indent="0" algn="just">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736688226"/>
              </p:ext>
            </p:extLst>
          </p:nvPr>
        </p:nvGraphicFramePr>
        <p:xfrm>
          <a:off x="1543050" y="1990864"/>
          <a:ext cx="6362700" cy="4401800"/>
        </p:xfrm>
        <a:graphic>
          <a:graphicData uri="http://schemas.openxmlformats.org/drawingml/2006/table">
            <a:tbl>
              <a:tblPr>
                <a:tableStyleId>{3C2FFA5D-87B4-456A-9821-1D502468CF0F}</a:tableStyleId>
              </a:tblPr>
              <a:tblGrid>
                <a:gridCol w="1733550"/>
                <a:gridCol w="1257969"/>
                <a:gridCol w="1544011"/>
                <a:gridCol w="1827170"/>
              </a:tblGrid>
              <a:tr h="447536">
                <a:tc>
                  <a:txBody>
                    <a:bodyPr/>
                    <a:lstStyle/>
                    <a:p>
                      <a:pPr algn="ctr" fontAlgn="t"/>
                      <a:r>
                        <a:rPr lang="en-US" sz="1600" b="1" dirty="0" smtClean="0">
                          <a:effectLst/>
                        </a:rPr>
                        <a:t>Mnemonics</a:t>
                      </a:r>
                      <a:endParaRPr lang="en-US" sz="1600" b="1" dirty="0">
                        <a:effectLst/>
                        <a:latin typeface="inherit"/>
                      </a:endParaRPr>
                    </a:p>
                  </a:txBody>
                  <a:tcPr marL="29192" marR="29192" marT="35031" marB="35031"/>
                </a:tc>
                <a:tc>
                  <a:txBody>
                    <a:bodyPr/>
                    <a:lstStyle/>
                    <a:p>
                      <a:pPr algn="ctr" fontAlgn="t"/>
                      <a:r>
                        <a:rPr lang="en-US" sz="1600" b="1" dirty="0">
                          <a:effectLst/>
                        </a:rPr>
                        <a:t>Byte </a:t>
                      </a:r>
                      <a:r>
                        <a:rPr lang="en-US" sz="1600" b="1" dirty="0" smtClean="0">
                          <a:effectLst/>
                        </a:rPr>
                        <a:t>Count</a:t>
                      </a:r>
                      <a:endParaRPr lang="en-US" sz="1600" b="1" dirty="0">
                        <a:effectLst/>
                        <a:latin typeface="inherit"/>
                      </a:endParaRPr>
                    </a:p>
                  </a:txBody>
                  <a:tcPr marL="29192" marR="29192" marT="35031" marB="35031"/>
                </a:tc>
                <a:tc>
                  <a:txBody>
                    <a:bodyPr/>
                    <a:lstStyle/>
                    <a:p>
                      <a:pPr algn="ctr" fontAlgn="t"/>
                      <a:r>
                        <a:rPr lang="en-US" sz="1600" b="1" dirty="0" smtClean="0">
                          <a:effectLst/>
                        </a:rPr>
                        <a:t>Execution </a:t>
                      </a:r>
                      <a:r>
                        <a:rPr lang="en-US" sz="1600" b="1" dirty="0">
                          <a:effectLst/>
                        </a:rPr>
                        <a:t>time</a:t>
                      </a:r>
                      <a:endParaRPr lang="en-US" sz="1600" b="1" dirty="0">
                        <a:effectLst/>
                        <a:latin typeface="inherit"/>
                      </a:endParaRPr>
                    </a:p>
                  </a:txBody>
                  <a:tcPr marL="29192" marR="29192" marT="35031" marB="35031"/>
                </a:tc>
                <a:tc>
                  <a:txBody>
                    <a:bodyPr/>
                    <a:lstStyle/>
                    <a:p>
                      <a:pPr algn="ctr" fontAlgn="t"/>
                      <a:r>
                        <a:rPr lang="en-US" sz="1600" b="1" dirty="0" err="1" smtClean="0">
                          <a:effectLst/>
                        </a:rPr>
                        <a:t>Opcode</a:t>
                      </a:r>
                      <a:r>
                        <a:rPr lang="en-US" sz="1600" b="1" baseline="0" dirty="0" smtClean="0">
                          <a:effectLst/>
                        </a:rPr>
                        <a:t> </a:t>
                      </a:r>
                      <a:r>
                        <a:rPr lang="en-US" sz="1600" b="1" dirty="0" smtClean="0">
                          <a:effectLst/>
                        </a:rPr>
                        <a:t>Count</a:t>
                      </a:r>
                      <a:endParaRPr lang="en-US" sz="1600" b="1" dirty="0">
                        <a:effectLst/>
                        <a:latin typeface="inherit"/>
                      </a:endParaRPr>
                    </a:p>
                  </a:txBody>
                  <a:tcPr marL="29192" marR="29192" marT="35031" marB="35031"/>
                </a:tc>
              </a:tr>
              <a:tr h="494283">
                <a:tc>
                  <a:txBody>
                    <a:bodyPr/>
                    <a:lstStyle/>
                    <a:p>
                      <a:pPr algn="ctr" fontAlgn="t"/>
                      <a:r>
                        <a:rPr lang="en-US" sz="1600" dirty="0">
                          <a:effectLst/>
                        </a:rPr>
                        <a:t>ADD A, </a:t>
                      </a:r>
                      <a:r>
                        <a:rPr lang="en-US" sz="1600" dirty="0" err="1" smtClean="0">
                          <a:effectLst/>
                        </a:rPr>
                        <a:t>Rn</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8</a:t>
                      </a:r>
                      <a:endParaRPr lang="en-US" sz="1600" dirty="0">
                        <a:effectLst/>
                      </a:endParaRPr>
                    </a:p>
                  </a:txBody>
                  <a:tcPr marL="23354" marR="23354" marT="23354" marB="23354"/>
                </a:tc>
              </a:tr>
              <a:tr h="494283">
                <a:tc>
                  <a:txBody>
                    <a:bodyPr/>
                    <a:lstStyle/>
                    <a:p>
                      <a:pPr algn="ctr" fontAlgn="t"/>
                      <a:r>
                        <a:rPr lang="en-US" sz="1600" dirty="0">
                          <a:effectLst/>
                        </a:rPr>
                        <a:t>ADD A, </a:t>
                      </a:r>
                      <a:r>
                        <a:rPr lang="en-US" sz="1600" dirty="0" smtClean="0">
                          <a:effectLst/>
                        </a:rPr>
                        <a:t>a8</a:t>
                      </a:r>
                      <a:endParaRPr lang="en-US" sz="1600" dirty="0">
                        <a:effectLst/>
                      </a:endParaRPr>
                    </a:p>
                  </a:txBody>
                  <a:tcPr marL="23354" marR="23354" marT="23354" marB="23354"/>
                </a:tc>
                <a:tc>
                  <a:txBody>
                    <a:bodyPr/>
                    <a:lstStyle/>
                    <a:p>
                      <a:pPr algn="ctr" fontAlgn="t"/>
                      <a:r>
                        <a:rPr lang="en-US" sz="1600" dirty="0" smtClean="0">
                          <a:effectLst/>
                        </a:rPr>
                        <a:t>2</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r>
              <a:tr h="494283">
                <a:tc>
                  <a:txBody>
                    <a:bodyPr/>
                    <a:lstStyle/>
                    <a:p>
                      <a:pPr algn="ctr" fontAlgn="t"/>
                      <a:r>
                        <a:rPr lang="en-US" sz="1600" dirty="0">
                          <a:effectLst/>
                        </a:rPr>
                        <a:t>ADD A, @</a:t>
                      </a:r>
                      <a:r>
                        <a:rPr lang="en-US" sz="1600" dirty="0" err="1" smtClean="0">
                          <a:effectLst/>
                        </a:rPr>
                        <a:t>Ri</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2</a:t>
                      </a:r>
                      <a:endParaRPr lang="en-US" sz="1600" dirty="0">
                        <a:effectLst/>
                      </a:endParaRPr>
                    </a:p>
                  </a:txBody>
                  <a:tcPr marL="23354" marR="23354" marT="23354" marB="23354"/>
                </a:tc>
              </a:tr>
              <a:tr h="494283">
                <a:tc>
                  <a:txBody>
                    <a:bodyPr/>
                    <a:lstStyle/>
                    <a:p>
                      <a:pPr algn="ctr" fontAlgn="t"/>
                      <a:r>
                        <a:rPr lang="en-US" sz="1600" dirty="0">
                          <a:effectLst/>
                        </a:rPr>
                        <a:t>ADD A, #</a:t>
                      </a:r>
                      <a:r>
                        <a:rPr lang="en-US" sz="1600" dirty="0" smtClean="0">
                          <a:effectLst/>
                        </a:rPr>
                        <a:t>d8</a:t>
                      </a:r>
                      <a:endParaRPr lang="en-US" sz="1600" dirty="0">
                        <a:effectLst/>
                      </a:endParaRPr>
                    </a:p>
                  </a:txBody>
                  <a:tcPr marL="23354" marR="23354" marT="23354" marB="23354"/>
                </a:tc>
                <a:tc>
                  <a:txBody>
                    <a:bodyPr/>
                    <a:lstStyle/>
                    <a:p>
                      <a:pPr algn="ctr" fontAlgn="t"/>
                      <a:r>
                        <a:rPr lang="en-US" sz="1600" dirty="0" smtClean="0">
                          <a:effectLst/>
                        </a:rPr>
                        <a:t>2</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r>
              <a:tr h="494283">
                <a:tc>
                  <a:txBody>
                    <a:bodyPr/>
                    <a:lstStyle/>
                    <a:p>
                      <a:pPr algn="ctr" fontAlgn="t"/>
                      <a:r>
                        <a:rPr lang="en-US" sz="1600" dirty="0">
                          <a:effectLst/>
                        </a:rPr>
                        <a:t>ADDC A, </a:t>
                      </a:r>
                      <a:r>
                        <a:rPr lang="en-US" sz="1600" dirty="0" err="1" smtClean="0">
                          <a:effectLst/>
                        </a:rPr>
                        <a:t>Rn</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8</a:t>
                      </a:r>
                      <a:endParaRPr lang="en-US" sz="1600" dirty="0">
                        <a:effectLst/>
                      </a:endParaRPr>
                    </a:p>
                  </a:txBody>
                  <a:tcPr marL="23354" marR="23354" marT="23354" marB="23354"/>
                </a:tc>
              </a:tr>
              <a:tr h="494283">
                <a:tc>
                  <a:txBody>
                    <a:bodyPr/>
                    <a:lstStyle/>
                    <a:p>
                      <a:pPr algn="ctr" fontAlgn="t"/>
                      <a:r>
                        <a:rPr lang="en-US" sz="1600" dirty="0">
                          <a:effectLst/>
                        </a:rPr>
                        <a:t>ADDC A, </a:t>
                      </a:r>
                      <a:r>
                        <a:rPr lang="en-US" sz="1600" dirty="0" smtClean="0">
                          <a:effectLst/>
                        </a:rPr>
                        <a:t>a8</a:t>
                      </a:r>
                      <a:endParaRPr lang="en-US" sz="1600" dirty="0">
                        <a:effectLst/>
                      </a:endParaRPr>
                    </a:p>
                  </a:txBody>
                  <a:tcPr marL="23354" marR="23354" marT="23354" marB="23354"/>
                </a:tc>
                <a:tc>
                  <a:txBody>
                    <a:bodyPr/>
                    <a:lstStyle/>
                    <a:p>
                      <a:pPr algn="ctr" fontAlgn="t"/>
                      <a:r>
                        <a:rPr lang="en-US" sz="1600" dirty="0" smtClean="0">
                          <a:effectLst/>
                        </a:rPr>
                        <a:t>2</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r>
              <a:tr h="494283">
                <a:tc>
                  <a:txBody>
                    <a:bodyPr/>
                    <a:lstStyle/>
                    <a:p>
                      <a:pPr algn="ctr" fontAlgn="t"/>
                      <a:r>
                        <a:rPr lang="en-US" sz="1600" dirty="0">
                          <a:effectLst/>
                        </a:rPr>
                        <a:t>ADDC A, @</a:t>
                      </a:r>
                      <a:r>
                        <a:rPr lang="en-US" sz="1600" dirty="0" err="1" smtClean="0">
                          <a:effectLst/>
                        </a:rPr>
                        <a:t>Ri</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2</a:t>
                      </a:r>
                      <a:endParaRPr lang="en-US" sz="1600" dirty="0">
                        <a:effectLst/>
                      </a:endParaRPr>
                    </a:p>
                  </a:txBody>
                  <a:tcPr marL="23354" marR="23354" marT="23354" marB="23354"/>
                </a:tc>
              </a:tr>
              <a:tr h="494283">
                <a:tc>
                  <a:txBody>
                    <a:bodyPr/>
                    <a:lstStyle/>
                    <a:p>
                      <a:pPr algn="ctr" fontAlgn="t"/>
                      <a:r>
                        <a:rPr lang="en-US" sz="1600" dirty="0">
                          <a:effectLst/>
                        </a:rPr>
                        <a:t>ADDC A, #</a:t>
                      </a:r>
                      <a:r>
                        <a:rPr lang="en-US" sz="1600" dirty="0" smtClean="0">
                          <a:effectLst/>
                        </a:rPr>
                        <a:t>d8</a:t>
                      </a:r>
                      <a:endParaRPr lang="en-US" sz="1600" dirty="0">
                        <a:effectLst/>
                      </a:endParaRPr>
                    </a:p>
                  </a:txBody>
                  <a:tcPr marL="23354" marR="23354" marT="23354" marB="23354"/>
                </a:tc>
                <a:tc>
                  <a:txBody>
                    <a:bodyPr/>
                    <a:lstStyle/>
                    <a:p>
                      <a:pPr algn="ctr" fontAlgn="t"/>
                      <a:r>
                        <a:rPr lang="en-US" sz="1600" dirty="0" smtClean="0">
                          <a:effectLst/>
                        </a:rPr>
                        <a:t>2</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c>
                  <a:txBody>
                    <a:bodyPr/>
                    <a:lstStyle/>
                    <a:p>
                      <a:pPr algn="ctr" fontAlgn="t"/>
                      <a:r>
                        <a:rPr lang="en-US" sz="1600" dirty="0" smtClean="0">
                          <a:effectLst/>
                        </a:rPr>
                        <a:t>1</a:t>
                      </a:r>
                      <a:endParaRPr lang="en-US" sz="1600" dirty="0">
                        <a:effectLst/>
                      </a:endParaRPr>
                    </a:p>
                  </a:txBody>
                  <a:tcPr marL="23354" marR="23354" marT="23354" marB="23354"/>
                </a:tc>
              </a:tr>
            </a:tbl>
          </a:graphicData>
        </a:graphic>
      </p:graphicFrame>
    </p:spTree>
    <p:extLst>
      <p:ext uri="{BB962C8B-B14F-4D97-AF65-F5344CB8AC3E}">
        <p14:creationId xmlns:p14="http://schemas.microsoft.com/office/powerpoint/2010/main" val="99217630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95350"/>
            <a:ext cx="9144001" cy="5810250"/>
          </a:xfrm>
        </p:spPr>
        <p:txBody>
          <a:bodyPr/>
          <a:lstStyle/>
          <a:p>
            <a:pPr marL="114300" indent="0">
              <a:buNone/>
            </a:pPr>
            <a:r>
              <a:rPr lang="en-US" sz="2400" dirty="0" smtClean="0"/>
              <a:t>We will </a:t>
            </a:r>
            <a:r>
              <a:rPr lang="en-US" sz="2400" dirty="0"/>
              <a:t>see the Mnemonics, Lengths, Execution Time in terms of the machine cycle, Number of </a:t>
            </a:r>
            <a:r>
              <a:rPr lang="en-US" sz="2400" dirty="0" err="1"/>
              <a:t>Opcodes</a:t>
            </a:r>
            <a:r>
              <a:rPr lang="en-US" sz="2400" dirty="0"/>
              <a:t> etc.</a:t>
            </a:r>
          </a:p>
          <a:p>
            <a:pPr marL="114300" indent="0" algn="just">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649094492"/>
              </p:ext>
            </p:extLst>
          </p:nvPr>
        </p:nvGraphicFramePr>
        <p:xfrm>
          <a:off x="1543050" y="1990864"/>
          <a:ext cx="6362700" cy="4401800"/>
        </p:xfrm>
        <a:graphic>
          <a:graphicData uri="http://schemas.openxmlformats.org/drawingml/2006/table">
            <a:tbl>
              <a:tblPr>
                <a:tableStyleId>{3C2FFA5D-87B4-456A-9821-1D502468CF0F}</a:tableStyleId>
              </a:tblPr>
              <a:tblGrid>
                <a:gridCol w="1733550"/>
                <a:gridCol w="1257969"/>
                <a:gridCol w="1544011"/>
                <a:gridCol w="1827170"/>
              </a:tblGrid>
              <a:tr h="447536">
                <a:tc>
                  <a:txBody>
                    <a:bodyPr/>
                    <a:lstStyle/>
                    <a:p>
                      <a:pPr algn="ctr" fontAlgn="t"/>
                      <a:r>
                        <a:rPr lang="en-US" sz="1600" b="1" dirty="0" smtClean="0">
                          <a:effectLst/>
                        </a:rPr>
                        <a:t>Mnemonics</a:t>
                      </a:r>
                      <a:endParaRPr lang="en-US" sz="1600" b="1" dirty="0">
                        <a:effectLst/>
                        <a:latin typeface="inherit"/>
                      </a:endParaRPr>
                    </a:p>
                  </a:txBody>
                  <a:tcPr marL="29192" marR="29192" marT="35031" marB="35031"/>
                </a:tc>
                <a:tc>
                  <a:txBody>
                    <a:bodyPr/>
                    <a:lstStyle/>
                    <a:p>
                      <a:pPr algn="ctr" fontAlgn="t"/>
                      <a:r>
                        <a:rPr lang="en-US" sz="1600" b="1" dirty="0">
                          <a:effectLst/>
                        </a:rPr>
                        <a:t>Byte </a:t>
                      </a:r>
                      <a:r>
                        <a:rPr lang="en-US" sz="1600" b="1" dirty="0" smtClean="0">
                          <a:effectLst/>
                        </a:rPr>
                        <a:t>Count</a:t>
                      </a:r>
                      <a:endParaRPr lang="en-US" sz="1600" b="1" dirty="0">
                        <a:effectLst/>
                        <a:latin typeface="inherit"/>
                      </a:endParaRPr>
                    </a:p>
                  </a:txBody>
                  <a:tcPr marL="29192" marR="29192" marT="35031" marB="35031"/>
                </a:tc>
                <a:tc>
                  <a:txBody>
                    <a:bodyPr/>
                    <a:lstStyle/>
                    <a:p>
                      <a:pPr algn="ctr" fontAlgn="t"/>
                      <a:r>
                        <a:rPr lang="en-US" sz="1600" b="1" dirty="0" smtClean="0">
                          <a:effectLst/>
                        </a:rPr>
                        <a:t>Execution </a:t>
                      </a:r>
                      <a:r>
                        <a:rPr lang="en-US" sz="1600" b="1" dirty="0">
                          <a:effectLst/>
                        </a:rPr>
                        <a:t>time</a:t>
                      </a:r>
                      <a:endParaRPr lang="en-US" sz="1600" b="1" dirty="0">
                        <a:effectLst/>
                        <a:latin typeface="inherit"/>
                      </a:endParaRPr>
                    </a:p>
                  </a:txBody>
                  <a:tcPr marL="29192" marR="29192" marT="35031" marB="35031"/>
                </a:tc>
                <a:tc>
                  <a:txBody>
                    <a:bodyPr/>
                    <a:lstStyle/>
                    <a:p>
                      <a:pPr algn="ctr" fontAlgn="t"/>
                      <a:r>
                        <a:rPr lang="en-US" sz="1600" b="1" dirty="0" err="1" smtClean="0">
                          <a:effectLst/>
                        </a:rPr>
                        <a:t>Opcode</a:t>
                      </a:r>
                      <a:r>
                        <a:rPr lang="en-US" sz="1600" b="1" baseline="0" dirty="0" smtClean="0">
                          <a:effectLst/>
                        </a:rPr>
                        <a:t> </a:t>
                      </a:r>
                      <a:r>
                        <a:rPr lang="en-US" sz="1600" b="1" dirty="0" smtClean="0">
                          <a:effectLst/>
                        </a:rPr>
                        <a:t>Count</a:t>
                      </a:r>
                      <a:endParaRPr lang="en-US" sz="1600" b="1" dirty="0">
                        <a:effectLst/>
                        <a:latin typeface="inherit"/>
                      </a:endParaRPr>
                    </a:p>
                  </a:txBody>
                  <a:tcPr marL="29192" marR="29192" marT="35031" marB="35031"/>
                </a:tc>
              </a:tr>
              <a:tr h="494283">
                <a:tc>
                  <a:txBody>
                    <a:bodyPr/>
                    <a:lstStyle/>
                    <a:p>
                      <a:pPr algn="ctr" fontAlgn="t"/>
                      <a:r>
                        <a:rPr lang="en-US" sz="1600" dirty="0">
                          <a:effectLst/>
                        </a:rPr>
                        <a:t>SUBB A, </a:t>
                      </a:r>
                      <a:r>
                        <a:rPr lang="en-US" sz="1600" dirty="0" err="1" smtClean="0">
                          <a:effectLst/>
                        </a:rPr>
                        <a:t>Rn</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8</a:t>
                      </a:r>
                      <a:endParaRPr lang="en-US" sz="1600" dirty="0">
                        <a:effectLst/>
                      </a:endParaRPr>
                    </a:p>
                  </a:txBody>
                  <a:tcPr marL="76200" marR="76200" marT="76200" marB="76200"/>
                </a:tc>
              </a:tr>
              <a:tr h="494283">
                <a:tc>
                  <a:txBody>
                    <a:bodyPr/>
                    <a:lstStyle/>
                    <a:p>
                      <a:pPr algn="ctr" fontAlgn="t"/>
                      <a:r>
                        <a:rPr lang="en-US" sz="1600" dirty="0">
                          <a:effectLst/>
                        </a:rPr>
                        <a:t>SUBB A, </a:t>
                      </a:r>
                      <a:r>
                        <a:rPr lang="en-US" sz="1600" dirty="0" smtClean="0">
                          <a:effectLst/>
                        </a:rPr>
                        <a:t>a8</a:t>
                      </a:r>
                      <a:endParaRPr lang="en-US" sz="1600" dirty="0">
                        <a:effectLst/>
                      </a:endParaRPr>
                    </a:p>
                  </a:txBody>
                  <a:tcPr marL="76200" marR="76200" marT="76200" marB="76200"/>
                </a:tc>
                <a:tc>
                  <a:txBody>
                    <a:bodyPr/>
                    <a:lstStyle/>
                    <a:p>
                      <a:pPr algn="ctr" fontAlgn="t"/>
                      <a:r>
                        <a:rPr lang="en-US" sz="1600" dirty="0" smtClean="0">
                          <a:effectLst/>
                        </a:rPr>
                        <a:t>2</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SUBB A, @</a:t>
                      </a:r>
                      <a:r>
                        <a:rPr lang="en-US" sz="1600" dirty="0" err="1" smtClean="0">
                          <a:effectLst/>
                        </a:rPr>
                        <a:t>Ri</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2</a:t>
                      </a:r>
                      <a:endParaRPr lang="en-US" sz="1600" dirty="0">
                        <a:effectLst/>
                      </a:endParaRPr>
                    </a:p>
                  </a:txBody>
                  <a:tcPr marL="76200" marR="76200" marT="76200" marB="76200"/>
                </a:tc>
              </a:tr>
              <a:tr h="494283">
                <a:tc>
                  <a:txBody>
                    <a:bodyPr/>
                    <a:lstStyle/>
                    <a:p>
                      <a:pPr algn="ctr" fontAlgn="t"/>
                      <a:r>
                        <a:rPr lang="en-US" sz="1600" dirty="0">
                          <a:effectLst/>
                        </a:rPr>
                        <a:t>SUBB A, #</a:t>
                      </a:r>
                      <a:r>
                        <a:rPr lang="en-US" sz="1600" dirty="0" smtClean="0">
                          <a:effectLst/>
                        </a:rPr>
                        <a:t>d8</a:t>
                      </a:r>
                      <a:endParaRPr lang="en-US" sz="1600" dirty="0">
                        <a:effectLst/>
                      </a:endParaRPr>
                    </a:p>
                  </a:txBody>
                  <a:tcPr marL="76200" marR="76200" marT="76200" marB="76200"/>
                </a:tc>
                <a:tc>
                  <a:txBody>
                    <a:bodyPr/>
                    <a:lstStyle/>
                    <a:p>
                      <a:pPr algn="ctr" fontAlgn="t"/>
                      <a:r>
                        <a:rPr lang="en-US" sz="1600" dirty="0" smtClean="0">
                          <a:effectLst/>
                        </a:rPr>
                        <a:t>2</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INC </a:t>
                      </a:r>
                      <a:r>
                        <a:rPr lang="en-US" sz="1600" dirty="0" smtClean="0">
                          <a:effectLst/>
                        </a:rPr>
                        <a:t>A</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INC </a:t>
                      </a:r>
                      <a:r>
                        <a:rPr lang="en-US" sz="1600" dirty="0" err="1" smtClean="0">
                          <a:effectLst/>
                        </a:rPr>
                        <a:t>Rn</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8</a:t>
                      </a:r>
                      <a:endParaRPr lang="en-US" sz="1600" dirty="0">
                        <a:effectLst/>
                      </a:endParaRPr>
                    </a:p>
                  </a:txBody>
                  <a:tcPr marL="76200" marR="76200" marT="76200" marB="76200"/>
                </a:tc>
              </a:tr>
              <a:tr h="494283">
                <a:tc>
                  <a:txBody>
                    <a:bodyPr/>
                    <a:lstStyle/>
                    <a:p>
                      <a:pPr algn="ctr" fontAlgn="t"/>
                      <a:r>
                        <a:rPr lang="en-US" sz="1600" dirty="0">
                          <a:effectLst/>
                        </a:rPr>
                        <a:t>INC </a:t>
                      </a:r>
                      <a:r>
                        <a:rPr lang="en-US" sz="1600" dirty="0" smtClean="0">
                          <a:effectLst/>
                        </a:rPr>
                        <a:t>a8</a:t>
                      </a:r>
                      <a:endParaRPr lang="en-US" sz="1600" dirty="0">
                        <a:effectLst/>
                      </a:endParaRPr>
                    </a:p>
                  </a:txBody>
                  <a:tcPr marL="76200" marR="76200" marT="76200" marB="76200"/>
                </a:tc>
                <a:tc>
                  <a:txBody>
                    <a:bodyPr/>
                    <a:lstStyle/>
                    <a:p>
                      <a:pPr algn="ctr" fontAlgn="t"/>
                      <a:r>
                        <a:rPr lang="en-US" sz="1600" dirty="0" smtClean="0">
                          <a:effectLst/>
                        </a:rPr>
                        <a:t>2</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INC @</a:t>
                      </a:r>
                      <a:r>
                        <a:rPr lang="en-US" sz="1600" dirty="0" err="1" smtClean="0">
                          <a:effectLst/>
                        </a:rPr>
                        <a:t>Ri</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a:effectLst/>
                        </a:rPr>
                        <a:t>2</a:t>
                      </a:r>
                    </a:p>
                  </a:txBody>
                  <a:tcPr marL="76200" marR="76200" marT="76200" marB="76200"/>
                </a:tc>
              </a:tr>
            </a:tbl>
          </a:graphicData>
        </a:graphic>
      </p:graphicFrame>
    </p:spTree>
    <p:extLst>
      <p:ext uri="{BB962C8B-B14F-4D97-AF65-F5344CB8AC3E}">
        <p14:creationId xmlns:p14="http://schemas.microsoft.com/office/powerpoint/2010/main" val="379538808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95350"/>
            <a:ext cx="9144001" cy="5810250"/>
          </a:xfrm>
        </p:spPr>
        <p:txBody>
          <a:bodyPr/>
          <a:lstStyle/>
          <a:p>
            <a:pPr marL="114300" indent="0">
              <a:buNone/>
            </a:pPr>
            <a:r>
              <a:rPr lang="en-US" sz="2400" dirty="0" smtClean="0"/>
              <a:t>We will </a:t>
            </a:r>
            <a:r>
              <a:rPr lang="en-US" sz="2400" dirty="0"/>
              <a:t>see the Mnemonics, Lengths, Execution Time in terms of the machine cycle, Number of </a:t>
            </a:r>
            <a:r>
              <a:rPr lang="en-US" sz="2400" dirty="0" err="1"/>
              <a:t>Opcodes</a:t>
            </a:r>
            <a:r>
              <a:rPr lang="en-US" sz="2400" dirty="0"/>
              <a:t> etc.</a:t>
            </a:r>
          </a:p>
          <a:p>
            <a:pPr marL="114300" indent="0" algn="just">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70903325"/>
              </p:ext>
            </p:extLst>
          </p:nvPr>
        </p:nvGraphicFramePr>
        <p:xfrm>
          <a:off x="1543050" y="1990864"/>
          <a:ext cx="6362700" cy="4401800"/>
        </p:xfrm>
        <a:graphic>
          <a:graphicData uri="http://schemas.openxmlformats.org/drawingml/2006/table">
            <a:tbl>
              <a:tblPr>
                <a:tableStyleId>{3C2FFA5D-87B4-456A-9821-1D502468CF0F}</a:tableStyleId>
              </a:tblPr>
              <a:tblGrid>
                <a:gridCol w="1733550"/>
                <a:gridCol w="1257969"/>
                <a:gridCol w="1544011"/>
                <a:gridCol w="1827170"/>
              </a:tblGrid>
              <a:tr h="447536">
                <a:tc>
                  <a:txBody>
                    <a:bodyPr/>
                    <a:lstStyle/>
                    <a:p>
                      <a:pPr algn="ctr" fontAlgn="t"/>
                      <a:r>
                        <a:rPr lang="en-US" sz="1600" b="1" dirty="0" smtClean="0">
                          <a:effectLst/>
                        </a:rPr>
                        <a:t>Mnemonics</a:t>
                      </a:r>
                      <a:endParaRPr lang="en-US" sz="1600" b="1" dirty="0">
                        <a:effectLst/>
                        <a:latin typeface="inherit"/>
                      </a:endParaRPr>
                    </a:p>
                  </a:txBody>
                  <a:tcPr marL="29192" marR="29192" marT="35031" marB="35031"/>
                </a:tc>
                <a:tc>
                  <a:txBody>
                    <a:bodyPr/>
                    <a:lstStyle/>
                    <a:p>
                      <a:pPr algn="ctr" fontAlgn="t"/>
                      <a:r>
                        <a:rPr lang="en-US" sz="1600" b="1" dirty="0">
                          <a:effectLst/>
                        </a:rPr>
                        <a:t>Byte </a:t>
                      </a:r>
                      <a:r>
                        <a:rPr lang="en-US" sz="1600" b="1" dirty="0" smtClean="0">
                          <a:effectLst/>
                        </a:rPr>
                        <a:t>Count</a:t>
                      </a:r>
                      <a:endParaRPr lang="en-US" sz="1600" b="1" dirty="0">
                        <a:effectLst/>
                        <a:latin typeface="inherit"/>
                      </a:endParaRPr>
                    </a:p>
                  </a:txBody>
                  <a:tcPr marL="29192" marR="29192" marT="35031" marB="35031"/>
                </a:tc>
                <a:tc>
                  <a:txBody>
                    <a:bodyPr/>
                    <a:lstStyle/>
                    <a:p>
                      <a:pPr algn="ctr" fontAlgn="t"/>
                      <a:r>
                        <a:rPr lang="en-US" sz="1600" b="1" dirty="0" smtClean="0">
                          <a:effectLst/>
                        </a:rPr>
                        <a:t>Execution </a:t>
                      </a:r>
                      <a:r>
                        <a:rPr lang="en-US" sz="1600" b="1" dirty="0">
                          <a:effectLst/>
                        </a:rPr>
                        <a:t>time</a:t>
                      </a:r>
                      <a:endParaRPr lang="en-US" sz="1600" b="1" dirty="0">
                        <a:effectLst/>
                        <a:latin typeface="inherit"/>
                      </a:endParaRPr>
                    </a:p>
                  </a:txBody>
                  <a:tcPr marL="29192" marR="29192" marT="35031" marB="35031"/>
                </a:tc>
                <a:tc>
                  <a:txBody>
                    <a:bodyPr/>
                    <a:lstStyle/>
                    <a:p>
                      <a:pPr algn="ctr" fontAlgn="t"/>
                      <a:r>
                        <a:rPr lang="en-US" sz="1600" b="1" dirty="0" err="1" smtClean="0">
                          <a:effectLst/>
                        </a:rPr>
                        <a:t>Opcode</a:t>
                      </a:r>
                      <a:r>
                        <a:rPr lang="en-US" sz="1600" b="1" baseline="0" dirty="0" smtClean="0">
                          <a:effectLst/>
                        </a:rPr>
                        <a:t> </a:t>
                      </a:r>
                      <a:r>
                        <a:rPr lang="en-US" sz="1600" b="1" dirty="0" smtClean="0">
                          <a:effectLst/>
                        </a:rPr>
                        <a:t>Count</a:t>
                      </a:r>
                      <a:endParaRPr lang="en-US" sz="1600" b="1" dirty="0">
                        <a:effectLst/>
                        <a:latin typeface="inherit"/>
                      </a:endParaRPr>
                    </a:p>
                  </a:txBody>
                  <a:tcPr marL="29192" marR="29192" marT="35031" marB="35031"/>
                </a:tc>
              </a:tr>
              <a:tr h="494283">
                <a:tc>
                  <a:txBody>
                    <a:bodyPr/>
                    <a:lstStyle/>
                    <a:p>
                      <a:pPr algn="ctr" fontAlgn="t"/>
                      <a:r>
                        <a:rPr lang="en-US" sz="1600" dirty="0">
                          <a:effectLst/>
                        </a:rPr>
                        <a:t>DEC </a:t>
                      </a:r>
                      <a:r>
                        <a:rPr lang="en-US" sz="1600" dirty="0" smtClean="0">
                          <a:effectLst/>
                        </a:rPr>
                        <a:t>A</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DEC </a:t>
                      </a:r>
                      <a:r>
                        <a:rPr lang="en-US" sz="1600" dirty="0" err="1" smtClean="0">
                          <a:effectLst/>
                        </a:rPr>
                        <a:t>Rn</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8</a:t>
                      </a:r>
                      <a:endParaRPr lang="en-US" sz="1600" dirty="0">
                        <a:effectLst/>
                      </a:endParaRPr>
                    </a:p>
                  </a:txBody>
                  <a:tcPr marL="76200" marR="76200" marT="76200" marB="76200"/>
                </a:tc>
              </a:tr>
              <a:tr h="494283">
                <a:tc>
                  <a:txBody>
                    <a:bodyPr/>
                    <a:lstStyle/>
                    <a:p>
                      <a:pPr algn="ctr" fontAlgn="t"/>
                      <a:r>
                        <a:rPr lang="en-US" sz="1600" dirty="0">
                          <a:effectLst/>
                        </a:rPr>
                        <a:t>DEC </a:t>
                      </a:r>
                      <a:r>
                        <a:rPr lang="en-US" sz="1600" dirty="0" smtClean="0">
                          <a:effectLst/>
                        </a:rPr>
                        <a:t>a8</a:t>
                      </a:r>
                      <a:endParaRPr lang="en-US" sz="1600" dirty="0">
                        <a:effectLst/>
                      </a:endParaRPr>
                    </a:p>
                  </a:txBody>
                  <a:tcPr marL="76200" marR="76200" marT="76200" marB="76200"/>
                </a:tc>
                <a:tc>
                  <a:txBody>
                    <a:bodyPr/>
                    <a:lstStyle/>
                    <a:p>
                      <a:pPr algn="ctr" fontAlgn="t"/>
                      <a:r>
                        <a:rPr lang="en-US" sz="1600" dirty="0" smtClean="0">
                          <a:effectLst/>
                        </a:rPr>
                        <a:t>2</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DEC @</a:t>
                      </a:r>
                      <a:r>
                        <a:rPr lang="en-US" sz="1600" dirty="0" err="1" smtClean="0">
                          <a:effectLst/>
                        </a:rPr>
                        <a:t>Ri</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2</a:t>
                      </a:r>
                      <a:endParaRPr lang="en-US" sz="1600" dirty="0">
                        <a:effectLst/>
                      </a:endParaRPr>
                    </a:p>
                  </a:txBody>
                  <a:tcPr marL="76200" marR="76200" marT="76200" marB="76200"/>
                </a:tc>
              </a:tr>
              <a:tr h="494283">
                <a:tc>
                  <a:txBody>
                    <a:bodyPr/>
                    <a:lstStyle/>
                    <a:p>
                      <a:pPr algn="ctr" fontAlgn="t"/>
                      <a:r>
                        <a:rPr lang="en-US" sz="1600" dirty="0">
                          <a:effectLst/>
                        </a:rPr>
                        <a:t>INC </a:t>
                      </a:r>
                      <a:r>
                        <a:rPr lang="en-US" sz="1600" dirty="0" smtClean="0">
                          <a:effectLst/>
                        </a:rPr>
                        <a:t>DPTR</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2</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MUL </a:t>
                      </a:r>
                      <a:r>
                        <a:rPr lang="en-US" sz="1600" dirty="0" smtClean="0">
                          <a:effectLst/>
                        </a:rPr>
                        <a:t>AB</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4</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DIV </a:t>
                      </a:r>
                      <a:r>
                        <a:rPr lang="en-US" sz="1600" dirty="0" smtClean="0">
                          <a:effectLst/>
                        </a:rPr>
                        <a:t>AB</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4</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r>
              <a:tr h="494283">
                <a:tc>
                  <a:txBody>
                    <a:bodyPr/>
                    <a:lstStyle/>
                    <a:p>
                      <a:pPr algn="ctr" fontAlgn="t"/>
                      <a:r>
                        <a:rPr lang="en-US" sz="1600" dirty="0">
                          <a:effectLst/>
                        </a:rPr>
                        <a:t>DA </a:t>
                      </a:r>
                      <a:r>
                        <a:rPr lang="en-US" sz="1600" dirty="0" smtClean="0">
                          <a:effectLst/>
                        </a:rPr>
                        <a:t>A</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smtClean="0">
                          <a:effectLst/>
                        </a:rPr>
                        <a:t>1</a:t>
                      </a:r>
                      <a:endParaRPr lang="en-US" sz="1600" dirty="0">
                        <a:effectLst/>
                      </a:endParaRPr>
                    </a:p>
                  </a:txBody>
                  <a:tcPr marL="76200" marR="76200" marT="76200" marB="76200"/>
                </a:tc>
                <a:tc>
                  <a:txBody>
                    <a:bodyPr/>
                    <a:lstStyle/>
                    <a:p>
                      <a:pPr algn="ctr" fontAlgn="t"/>
                      <a:r>
                        <a:rPr lang="en-US" sz="1600" dirty="0">
                          <a:effectLst/>
                        </a:rPr>
                        <a:t>1</a:t>
                      </a:r>
                    </a:p>
                  </a:txBody>
                  <a:tcPr marL="76200" marR="76200" marT="76200" marB="76200"/>
                </a:tc>
              </a:tr>
            </a:tbl>
          </a:graphicData>
        </a:graphic>
      </p:graphicFrame>
    </p:spTree>
    <p:extLst>
      <p:ext uri="{BB962C8B-B14F-4D97-AF65-F5344CB8AC3E}">
        <p14:creationId xmlns:p14="http://schemas.microsoft.com/office/powerpoint/2010/main" val="420875845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57250"/>
            <a:ext cx="9144001" cy="5848350"/>
          </a:xfrm>
        </p:spPr>
        <p:txBody>
          <a:bodyPr/>
          <a:lstStyle/>
          <a:p>
            <a:pPr marL="114300" indent="0">
              <a:buNone/>
            </a:pPr>
            <a:r>
              <a:rPr lang="en-US" sz="2400" b="1" dirty="0" smtClean="0"/>
              <a:t>Examples:</a:t>
            </a:r>
          </a:p>
          <a:p>
            <a:pPr marL="114300" indent="0">
              <a:buNone/>
            </a:pPr>
            <a:endParaRPr lang="en-US" sz="2400" dirty="0"/>
          </a:p>
          <a:p>
            <a:pPr marL="114300" indent="0" algn="just">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417245570"/>
              </p:ext>
            </p:extLst>
          </p:nvPr>
        </p:nvGraphicFramePr>
        <p:xfrm>
          <a:off x="266700" y="1555202"/>
          <a:ext cx="8572500" cy="4341638"/>
        </p:xfrm>
        <a:graphic>
          <a:graphicData uri="http://schemas.openxmlformats.org/drawingml/2006/table">
            <a:tbl>
              <a:tblPr>
                <a:tableStyleId>{3C2FFA5D-87B4-456A-9821-1D502468CF0F}</a:tableStyleId>
              </a:tblPr>
              <a:tblGrid>
                <a:gridCol w="933450"/>
                <a:gridCol w="7639050"/>
              </a:tblGrid>
              <a:tr h="445048">
                <a:tc>
                  <a:txBody>
                    <a:bodyPr/>
                    <a:lstStyle/>
                    <a:p>
                      <a:pPr algn="ctr" fontAlgn="t"/>
                      <a:r>
                        <a:rPr lang="en-US" sz="1800" b="1" dirty="0">
                          <a:effectLst/>
                        </a:rPr>
                        <a:t>Sr</a:t>
                      </a:r>
                      <a:r>
                        <a:rPr lang="en-US" sz="1800" b="1" dirty="0" smtClean="0">
                          <a:effectLst/>
                        </a:rPr>
                        <a:t>. No</a:t>
                      </a:r>
                      <a:endParaRPr lang="en-US" sz="1800" b="1" dirty="0">
                        <a:effectLst/>
                        <a:latin typeface="inherit"/>
                      </a:endParaRPr>
                    </a:p>
                  </a:txBody>
                  <a:tcPr marL="88122" marR="88122" marT="105747" marB="105747"/>
                </a:tc>
                <a:tc>
                  <a:txBody>
                    <a:bodyPr/>
                    <a:lstStyle/>
                    <a:p>
                      <a:pPr algn="ctr" fontAlgn="t"/>
                      <a:r>
                        <a:rPr lang="en-US" sz="1800" b="1" dirty="0">
                          <a:effectLst/>
                        </a:rPr>
                        <a:t>Instruction &amp; </a:t>
                      </a:r>
                      <a:r>
                        <a:rPr lang="en-US" sz="1800" b="1" dirty="0" smtClean="0">
                          <a:effectLst/>
                        </a:rPr>
                        <a:t>Description</a:t>
                      </a:r>
                      <a:endParaRPr lang="en-US" sz="1800" b="1" dirty="0">
                        <a:effectLst/>
                        <a:latin typeface="inherit"/>
                      </a:endParaRPr>
                    </a:p>
                  </a:txBody>
                  <a:tcPr marL="88122" marR="88122" marT="105747" marB="105747"/>
                </a:tc>
              </a:tr>
              <a:tr h="866014">
                <a:tc>
                  <a:txBody>
                    <a:bodyPr/>
                    <a:lstStyle/>
                    <a:p>
                      <a:pPr algn="ctr" fontAlgn="t"/>
                      <a:r>
                        <a:rPr lang="en-US" sz="1800" dirty="0">
                          <a:effectLst/>
                        </a:rPr>
                        <a:t>1</a:t>
                      </a:r>
                    </a:p>
                  </a:txBody>
                  <a:tcPr marL="70498" marR="70498" marT="70498" marB="70498"/>
                </a:tc>
                <a:tc>
                  <a:txBody>
                    <a:bodyPr/>
                    <a:lstStyle/>
                    <a:p>
                      <a:pPr algn="l" fontAlgn="t"/>
                      <a:r>
                        <a:rPr lang="en-US" sz="1800" b="1" dirty="0">
                          <a:effectLst/>
                        </a:rPr>
                        <a:t>ADD A, 32H</a:t>
                      </a:r>
                      <a:r>
                        <a:rPr lang="en-US" sz="1800" dirty="0">
                          <a:effectLst/>
                        </a:rPr>
                        <a:t/>
                      </a:r>
                      <a:br>
                        <a:rPr lang="en-US" sz="1800" dirty="0">
                          <a:effectLst/>
                        </a:rPr>
                      </a:br>
                      <a:r>
                        <a:rPr lang="en-US" sz="1800" dirty="0">
                          <a:effectLst/>
                        </a:rPr>
                        <a:t>This is an instruction of type ADD A, #d8. The immediate data 32H is added to register A. The result is also stored in A</a:t>
                      </a:r>
                      <a:r>
                        <a:rPr lang="en-US" sz="1800" dirty="0" smtClean="0">
                          <a:effectLst/>
                        </a:rPr>
                        <a:t>.</a:t>
                      </a:r>
                      <a:endParaRPr lang="en-US" sz="1800" dirty="0">
                        <a:effectLst/>
                      </a:endParaRPr>
                    </a:p>
                  </a:txBody>
                  <a:tcPr marL="70498" marR="70498" marT="70498" marB="70498"/>
                </a:tc>
              </a:tr>
              <a:tr h="869798">
                <a:tc>
                  <a:txBody>
                    <a:bodyPr/>
                    <a:lstStyle/>
                    <a:p>
                      <a:pPr algn="ctr" fontAlgn="t"/>
                      <a:r>
                        <a:rPr lang="en-US" sz="1800">
                          <a:effectLst/>
                        </a:rPr>
                        <a:t>2</a:t>
                      </a:r>
                    </a:p>
                  </a:txBody>
                  <a:tcPr marL="70498" marR="70498" marT="70498" marB="70498"/>
                </a:tc>
                <a:tc>
                  <a:txBody>
                    <a:bodyPr/>
                    <a:lstStyle/>
                    <a:p>
                      <a:pPr algn="l" fontAlgn="t"/>
                      <a:r>
                        <a:rPr lang="en-US" sz="1800" b="1" dirty="0">
                          <a:effectLst/>
                        </a:rPr>
                        <a:t>ADDC A, @R1</a:t>
                      </a:r>
                      <a:r>
                        <a:rPr lang="en-US" sz="1800" dirty="0">
                          <a:effectLst/>
                        </a:rPr>
                        <a:t/>
                      </a:r>
                      <a:br>
                        <a:rPr lang="en-US" sz="1800" dirty="0">
                          <a:effectLst/>
                        </a:rPr>
                      </a:br>
                      <a:r>
                        <a:rPr lang="en-US" sz="1800" dirty="0">
                          <a:effectLst/>
                        </a:rPr>
                        <a:t>This is an instruction of type ADDC A, @</a:t>
                      </a:r>
                      <a:r>
                        <a:rPr lang="en-US" sz="1800" dirty="0" err="1">
                          <a:effectLst/>
                        </a:rPr>
                        <a:t>Ri</a:t>
                      </a:r>
                      <a:r>
                        <a:rPr lang="en-US" sz="1800" dirty="0">
                          <a:effectLst/>
                        </a:rPr>
                        <a:t>. It means the content on internal RAM location which is pointed by register R1 is added to A</a:t>
                      </a:r>
                      <a:r>
                        <a:rPr lang="en-US" sz="1800" dirty="0" smtClean="0">
                          <a:effectLst/>
                        </a:rPr>
                        <a:t>.</a:t>
                      </a:r>
                      <a:endParaRPr lang="en-US" sz="1800" dirty="0">
                        <a:effectLst/>
                      </a:endParaRPr>
                    </a:p>
                  </a:txBody>
                  <a:tcPr marL="70498" marR="70498" marT="70498" marB="70498"/>
                </a:tc>
              </a:tr>
              <a:tr h="892632">
                <a:tc>
                  <a:txBody>
                    <a:bodyPr/>
                    <a:lstStyle/>
                    <a:p>
                      <a:pPr algn="ctr" fontAlgn="t"/>
                      <a:r>
                        <a:rPr lang="en-US" sz="1800">
                          <a:effectLst/>
                        </a:rPr>
                        <a:t>3</a:t>
                      </a:r>
                    </a:p>
                  </a:txBody>
                  <a:tcPr marL="70498" marR="70498" marT="70498" marB="70498"/>
                </a:tc>
                <a:tc>
                  <a:txBody>
                    <a:bodyPr/>
                    <a:lstStyle/>
                    <a:p>
                      <a:pPr algn="l" fontAlgn="t"/>
                      <a:r>
                        <a:rPr lang="en-US" sz="1800" b="1" dirty="0">
                          <a:effectLst/>
                        </a:rPr>
                        <a:t>SUBB A, R5</a:t>
                      </a:r>
                      <a:r>
                        <a:rPr lang="en-US" sz="1800" dirty="0">
                          <a:effectLst/>
                        </a:rPr>
                        <a:t/>
                      </a:r>
                      <a:br>
                        <a:rPr lang="en-US" sz="1800" dirty="0">
                          <a:effectLst/>
                        </a:rPr>
                      </a:br>
                      <a:r>
                        <a:rPr lang="en-US" sz="1800" dirty="0">
                          <a:effectLst/>
                        </a:rPr>
                        <a:t>This is SUBB A, </a:t>
                      </a:r>
                      <a:r>
                        <a:rPr lang="en-US" sz="1800" dirty="0" err="1">
                          <a:effectLst/>
                        </a:rPr>
                        <a:t>Rn</a:t>
                      </a:r>
                      <a:r>
                        <a:rPr lang="en-US" sz="1800" dirty="0">
                          <a:effectLst/>
                        </a:rPr>
                        <a:t> type instruction. The </a:t>
                      </a:r>
                      <a:r>
                        <a:rPr lang="en-US" sz="1800" dirty="0" err="1">
                          <a:effectLst/>
                        </a:rPr>
                        <a:t>SUBBstands</a:t>
                      </a:r>
                      <a:r>
                        <a:rPr lang="en-US" sz="1800" dirty="0">
                          <a:effectLst/>
                        </a:rPr>
                        <a:t> for Subtract with borrow. So the content of R5 will be subtracted from A</a:t>
                      </a:r>
                      <a:r>
                        <a:rPr lang="en-US" sz="1800" dirty="0" smtClean="0">
                          <a:effectLst/>
                        </a:rPr>
                        <a:t>.</a:t>
                      </a:r>
                      <a:endParaRPr lang="en-US" sz="1800" dirty="0">
                        <a:effectLst/>
                      </a:endParaRPr>
                    </a:p>
                  </a:txBody>
                  <a:tcPr marL="70498" marR="70498" marT="70498" marB="70498"/>
                </a:tc>
              </a:tr>
              <a:tr h="847095">
                <a:tc>
                  <a:txBody>
                    <a:bodyPr/>
                    <a:lstStyle/>
                    <a:p>
                      <a:pPr algn="ctr" fontAlgn="t"/>
                      <a:r>
                        <a:rPr lang="en-US" sz="1800">
                          <a:effectLst/>
                        </a:rPr>
                        <a:t>4</a:t>
                      </a:r>
                    </a:p>
                  </a:txBody>
                  <a:tcPr marL="70498" marR="70498" marT="70498" marB="70498"/>
                </a:tc>
                <a:tc>
                  <a:txBody>
                    <a:bodyPr/>
                    <a:lstStyle/>
                    <a:p>
                      <a:pPr algn="l" fontAlgn="t"/>
                      <a:r>
                        <a:rPr lang="en-US" sz="1800" b="1" dirty="0">
                          <a:effectLst/>
                        </a:rPr>
                        <a:t>INC 40H</a:t>
                      </a:r>
                      <a:r>
                        <a:rPr lang="en-US" sz="1800" dirty="0">
                          <a:effectLst/>
                        </a:rPr>
                        <a:t/>
                      </a:r>
                      <a:br>
                        <a:rPr lang="en-US" sz="1800" dirty="0">
                          <a:effectLst/>
                        </a:rPr>
                      </a:br>
                      <a:r>
                        <a:rPr lang="en-US" sz="1800" dirty="0">
                          <a:effectLst/>
                        </a:rPr>
                        <a:t>This is a type of INC a8. Here the content in local RAM whose address is 40H, it is increased by 1.</a:t>
                      </a:r>
                    </a:p>
                  </a:txBody>
                  <a:tcPr marL="70498" marR="70498" marT="70498" marB="70498"/>
                </a:tc>
              </a:tr>
            </a:tbl>
          </a:graphicData>
        </a:graphic>
      </p:graphicFrame>
    </p:spTree>
    <p:extLst>
      <p:ext uri="{BB962C8B-B14F-4D97-AF65-F5344CB8AC3E}">
        <p14:creationId xmlns:p14="http://schemas.microsoft.com/office/powerpoint/2010/main" val="23341669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Instruction </a:t>
            </a:r>
            <a:r>
              <a:rPr lang="en-US" b="1" dirty="0" smtClean="0"/>
              <a:t>Set </a:t>
            </a:r>
            <a:r>
              <a:rPr lang="en-US" b="1" dirty="0"/>
              <a:t>of 8051</a:t>
            </a:r>
          </a:p>
        </p:txBody>
      </p:sp>
      <p:sp>
        <p:nvSpPr>
          <p:cNvPr id="3" name="Text Placeholder 2"/>
          <p:cNvSpPr>
            <a:spLocks noGrp="1"/>
          </p:cNvSpPr>
          <p:nvPr>
            <p:ph type="body" idx="1"/>
          </p:nvPr>
        </p:nvSpPr>
        <p:spPr>
          <a:xfrm>
            <a:off x="-1" y="857250"/>
            <a:ext cx="9144001" cy="5848350"/>
          </a:xfrm>
        </p:spPr>
        <p:txBody>
          <a:bodyPr/>
          <a:lstStyle/>
          <a:p>
            <a:pPr marL="114300" indent="0">
              <a:buNone/>
            </a:pPr>
            <a:r>
              <a:rPr lang="en-US" sz="2400" b="1" dirty="0" smtClean="0"/>
              <a:t>Examples:</a:t>
            </a:r>
          </a:p>
          <a:p>
            <a:pPr marL="114300" indent="0">
              <a:buNone/>
            </a:pPr>
            <a:endParaRPr lang="en-US" sz="2400" dirty="0"/>
          </a:p>
          <a:p>
            <a:pPr marL="114300" indent="0" algn="just">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61</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178010009"/>
              </p:ext>
            </p:extLst>
          </p:nvPr>
        </p:nvGraphicFramePr>
        <p:xfrm>
          <a:off x="266700" y="1555202"/>
          <a:ext cx="8572500" cy="4539654"/>
        </p:xfrm>
        <a:graphic>
          <a:graphicData uri="http://schemas.openxmlformats.org/drawingml/2006/table">
            <a:tbl>
              <a:tblPr>
                <a:tableStyleId>{3C2FFA5D-87B4-456A-9821-1D502468CF0F}</a:tableStyleId>
              </a:tblPr>
              <a:tblGrid>
                <a:gridCol w="933450"/>
                <a:gridCol w="7639050"/>
              </a:tblGrid>
              <a:tr h="445048">
                <a:tc>
                  <a:txBody>
                    <a:bodyPr/>
                    <a:lstStyle/>
                    <a:p>
                      <a:pPr algn="ctr" fontAlgn="t"/>
                      <a:r>
                        <a:rPr lang="en-US" sz="2000" b="1" dirty="0">
                          <a:effectLst/>
                        </a:rPr>
                        <a:t>Sr</a:t>
                      </a:r>
                      <a:r>
                        <a:rPr lang="en-US" sz="2000" b="1" dirty="0" smtClean="0">
                          <a:effectLst/>
                        </a:rPr>
                        <a:t>. No</a:t>
                      </a:r>
                      <a:endParaRPr lang="en-US" sz="2000" b="1" dirty="0">
                        <a:effectLst/>
                        <a:latin typeface="inherit"/>
                      </a:endParaRPr>
                    </a:p>
                  </a:txBody>
                  <a:tcPr marL="88122" marR="88122" marT="105747" marB="105747"/>
                </a:tc>
                <a:tc>
                  <a:txBody>
                    <a:bodyPr/>
                    <a:lstStyle/>
                    <a:p>
                      <a:pPr algn="ctr" fontAlgn="t"/>
                      <a:r>
                        <a:rPr lang="en-US" sz="2000" b="1" dirty="0">
                          <a:effectLst/>
                        </a:rPr>
                        <a:t>Instruction &amp; </a:t>
                      </a:r>
                      <a:r>
                        <a:rPr lang="en-US" sz="2000" b="1" dirty="0" smtClean="0">
                          <a:effectLst/>
                        </a:rPr>
                        <a:t>Description</a:t>
                      </a:r>
                      <a:endParaRPr lang="en-US" sz="2000" b="1" dirty="0">
                        <a:effectLst/>
                        <a:latin typeface="inherit"/>
                      </a:endParaRPr>
                    </a:p>
                  </a:txBody>
                  <a:tcPr marL="88122" marR="88122" marT="105747" marB="105747"/>
                </a:tc>
              </a:tr>
              <a:tr h="866014">
                <a:tc>
                  <a:txBody>
                    <a:bodyPr/>
                    <a:lstStyle/>
                    <a:p>
                      <a:pPr algn="l" fontAlgn="t"/>
                      <a:r>
                        <a:rPr lang="en-US" sz="1800">
                          <a:effectLst/>
                          <a:latin typeface="+mn-lt"/>
                        </a:rPr>
                        <a:t>5</a:t>
                      </a:r>
                    </a:p>
                  </a:txBody>
                  <a:tcPr marL="76200" marR="76200" marT="76200" marB="76200"/>
                </a:tc>
                <a:tc>
                  <a:txBody>
                    <a:bodyPr/>
                    <a:lstStyle/>
                    <a:p>
                      <a:pPr algn="l" fontAlgn="t"/>
                      <a:r>
                        <a:rPr lang="en-US" sz="1800" b="1" dirty="0">
                          <a:effectLst/>
                          <a:latin typeface="+mn-lt"/>
                        </a:rPr>
                        <a:t>INC DPTR</a:t>
                      </a:r>
                      <a:r>
                        <a:rPr lang="en-US" sz="1800" dirty="0">
                          <a:effectLst/>
                          <a:latin typeface="+mn-lt"/>
                        </a:rPr>
                        <a:t/>
                      </a:r>
                      <a:br>
                        <a:rPr lang="en-US" sz="1800" dirty="0">
                          <a:effectLst/>
                          <a:latin typeface="+mn-lt"/>
                        </a:rPr>
                      </a:br>
                      <a:r>
                        <a:rPr lang="en-US" sz="1800" dirty="0">
                          <a:effectLst/>
                          <a:latin typeface="+mn-lt"/>
                        </a:rPr>
                        <a:t>It can increase the content of DPTR by 1. This instruction takes two machine cycle to execute.</a:t>
                      </a:r>
                      <a:br>
                        <a:rPr lang="en-US" sz="1800" dirty="0">
                          <a:effectLst/>
                          <a:latin typeface="+mn-lt"/>
                        </a:rPr>
                      </a:br>
                      <a:endParaRPr lang="en-US" sz="1800" dirty="0">
                        <a:effectLst/>
                        <a:latin typeface="+mn-lt"/>
                      </a:endParaRPr>
                    </a:p>
                  </a:txBody>
                  <a:tcPr marL="76200" marR="76200" marT="76200" marB="76200"/>
                </a:tc>
              </a:tr>
              <a:tr h="869798">
                <a:tc>
                  <a:txBody>
                    <a:bodyPr/>
                    <a:lstStyle/>
                    <a:p>
                      <a:pPr algn="l" fontAlgn="t"/>
                      <a:r>
                        <a:rPr lang="en-US" sz="1800">
                          <a:effectLst/>
                          <a:latin typeface="+mn-lt"/>
                        </a:rPr>
                        <a:t>6</a:t>
                      </a:r>
                    </a:p>
                  </a:txBody>
                  <a:tcPr marL="76200" marR="76200" marT="76200" marB="76200"/>
                </a:tc>
                <a:tc>
                  <a:txBody>
                    <a:bodyPr/>
                    <a:lstStyle/>
                    <a:p>
                      <a:pPr algn="l" fontAlgn="t"/>
                      <a:r>
                        <a:rPr lang="en-US" sz="1800" b="1" dirty="0">
                          <a:effectLst/>
                          <a:latin typeface="+mn-lt"/>
                        </a:rPr>
                        <a:t>MUL AB</a:t>
                      </a:r>
                      <a:r>
                        <a:rPr lang="en-US" sz="1800" dirty="0">
                          <a:effectLst/>
                          <a:latin typeface="+mn-lt"/>
                        </a:rPr>
                        <a:t/>
                      </a:r>
                      <a:br>
                        <a:rPr lang="en-US" sz="1800" dirty="0">
                          <a:effectLst/>
                          <a:latin typeface="+mn-lt"/>
                        </a:rPr>
                      </a:br>
                      <a:r>
                        <a:rPr lang="en-US" sz="1800" dirty="0">
                          <a:effectLst/>
                          <a:latin typeface="+mn-lt"/>
                        </a:rPr>
                        <a:t>This instruction is used to multiply the content of register A and B. The 16-bit address will be stored at B and A registers. The B will hold the MS byte, and A will hold the </a:t>
                      </a:r>
                      <a:r>
                        <a:rPr lang="en-US" sz="1800" dirty="0" err="1">
                          <a:effectLst/>
                          <a:latin typeface="+mn-lt"/>
                        </a:rPr>
                        <a:t>LSByte</a:t>
                      </a:r>
                      <a:r>
                        <a:rPr lang="en-US" sz="1800" dirty="0">
                          <a:effectLst/>
                          <a:latin typeface="+mn-lt"/>
                        </a:rPr>
                        <a:t>.</a:t>
                      </a:r>
                      <a:br>
                        <a:rPr lang="en-US" sz="1800" dirty="0">
                          <a:effectLst/>
                          <a:latin typeface="+mn-lt"/>
                        </a:rPr>
                      </a:br>
                      <a:endParaRPr lang="en-US" sz="1800" dirty="0">
                        <a:effectLst/>
                        <a:latin typeface="+mn-lt"/>
                      </a:endParaRPr>
                    </a:p>
                  </a:txBody>
                  <a:tcPr marL="76200" marR="76200" marT="76200" marB="76200"/>
                </a:tc>
              </a:tr>
              <a:tr h="892632">
                <a:tc>
                  <a:txBody>
                    <a:bodyPr/>
                    <a:lstStyle/>
                    <a:p>
                      <a:pPr algn="l" fontAlgn="t"/>
                      <a:r>
                        <a:rPr lang="en-US" sz="1800">
                          <a:effectLst/>
                          <a:latin typeface="+mn-lt"/>
                        </a:rPr>
                        <a:t>7</a:t>
                      </a:r>
                    </a:p>
                  </a:txBody>
                  <a:tcPr marL="76200" marR="76200" marT="76200" marB="76200"/>
                </a:tc>
                <a:tc>
                  <a:txBody>
                    <a:bodyPr/>
                    <a:lstStyle/>
                    <a:p>
                      <a:pPr algn="l" fontAlgn="t"/>
                      <a:r>
                        <a:rPr lang="en-US" sz="1800" b="1" dirty="0">
                          <a:effectLst/>
                          <a:latin typeface="+mn-lt"/>
                        </a:rPr>
                        <a:t>DIV AB</a:t>
                      </a:r>
                      <a:r>
                        <a:rPr lang="en-US" sz="1800" dirty="0">
                          <a:effectLst/>
                          <a:latin typeface="+mn-lt"/>
                        </a:rPr>
                        <a:t/>
                      </a:r>
                      <a:br>
                        <a:rPr lang="en-US" sz="1800" dirty="0">
                          <a:effectLst/>
                          <a:latin typeface="+mn-lt"/>
                        </a:rPr>
                      </a:br>
                      <a:r>
                        <a:rPr lang="en-US" sz="1800" dirty="0">
                          <a:effectLst/>
                          <a:latin typeface="+mn-lt"/>
                        </a:rPr>
                        <a:t>This instruction is used to divide the content of A register by B register. The 8-bit quotient is stored into the register A, and the 8-bit remainder is stored into the register B.</a:t>
                      </a:r>
                    </a:p>
                  </a:txBody>
                  <a:tcPr marL="76200" marR="76200" marT="76200" marB="76200"/>
                </a:tc>
              </a:tr>
            </a:tbl>
          </a:graphicData>
        </a:graphic>
      </p:graphicFrame>
    </p:spTree>
    <p:extLst>
      <p:ext uri="{BB962C8B-B14F-4D97-AF65-F5344CB8AC3E}">
        <p14:creationId xmlns:p14="http://schemas.microsoft.com/office/powerpoint/2010/main" val="349335573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895350"/>
            <a:ext cx="9144001" cy="5810250"/>
          </a:xfrm>
        </p:spPr>
        <p:txBody>
          <a:bodyPr/>
          <a:lstStyle/>
          <a:p>
            <a:pPr marL="114300" indent="0" algn="just">
              <a:buNone/>
            </a:pPr>
            <a:endParaRPr lang="en-US" sz="2800" b="1" dirty="0" smtClean="0"/>
          </a:p>
          <a:p>
            <a:pPr algn="just"/>
            <a:endParaRPr lang="en-US" b="1" dirty="0" smtClean="0"/>
          </a:p>
          <a:p>
            <a:pPr algn="just"/>
            <a:endParaRPr lang="en-US" b="1" dirty="0"/>
          </a:p>
          <a:p>
            <a:pPr algn="just"/>
            <a:r>
              <a:rPr lang="en-US" b="1" dirty="0" smtClean="0"/>
              <a:t>8051 Microcontroller </a:t>
            </a:r>
            <a:r>
              <a:rPr lang="en-US" b="1" dirty="0"/>
              <a:t>has capability to perform parallel as well as serial communication.</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62</a:t>
            </a:fld>
            <a:endParaRPr lang="en-US"/>
          </a:p>
        </p:txBody>
      </p:sp>
    </p:spTree>
    <p:extLst>
      <p:ext uri="{BB962C8B-B14F-4D97-AF65-F5344CB8AC3E}">
        <p14:creationId xmlns:p14="http://schemas.microsoft.com/office/powerpoint/2010/main" val="371955295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895350"/>
            <a:ext cx="9144001" cy="5810250"/>
          </a:xfrm>
        </p:spPr>
        <p:txBody>
          <a:bodyPr/>
          <a:lstStyle/>
          <a:p>
            <a:pPr marL="114300" indent="0" algn="just">
              <a:buNone/>
            </a:pPr>
            <a:r>
              <a:rPr lang="en-US" b="1" dirty="0"/>
              <a:t>Parallel communication in 8051:</a:t>
            </a:r>
          </a:p>
          <a:p>
            <a:pPr marL="114300" indent="0" algn="just">
              <a:buNone/>
            </a:pPr>
            <a:endParaRPr lang="en-US" sz="2800" b="1" dirty="0"/>
          </a:p>
          <a:p>
            <a:pPr marL="114300" indent="0" algn="just">
              <a:buNone/>
            </a:pPr>
            <a:endParaRPr lang="en-US" sz="2800" b="1" dirty="0"/>
          </a:p>
          <a:p>
            <a:pPr algn="just"/>
            <a:r>
              <a:rPr lang="en-US" dirty="0"/>
              <a:t>8051 can do 8-bit parallel communication as it has 8-bit ALU. For parallel communication, any of the ports ( P0 / P1 / P2 / P3 ) is used as a transmission channel between transmitter and receiver. </a:t>
            </a:r>
            <a:endParaRPr lang="en-US" sz="3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63</a:t>
            </a:fld>
            <a:endParaRPr lang="en-US"/>
          </a:p>
        </p:txBody>
      </p:sp>
    </p:spTree>
    <p:extLst>
      <p:ext uri="{BB962C8B-B14F-4D97-AF65-F5344CB8AC3E}">
        <p14:creationId xmlns:p14="http://schemas.microsoft.com/office/powerpoint/2010/main" val="256728483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895350"/>
            <a:ext cx="4914901" cy="5810250"/>
          </a:xfrm>
        </p:spPr>
        <p:txBody>
          <a:bodyPr/>
          <a:lstStyle/>
          <a:p>
            <a:pPr marL="114300" indent="0" algn="just">
              <a:buNone/>
            </a:pPr>
            <a:endParaRPr lang="en-US" b="1" dirty="0" smtClean="0"/>
          </a:p>
          <a:p>
            <a:pPr marL="114300" indent="0" algn="just">
              <a:buNone/>
            </a:pPr>
            <a:r>
              <a:rPr lang="en-US" b="1" dirty="0" smtClean="0"/>
              <a:t>Serial </a:t>
            </a:r>
            <a:r>
              <a:rPr lang="en-US" b="1" dirty="0"/>
              <a:t>communication in 8051:</a:t>
            </a:r>
          </a:p>
          <a:p>
            <a:pPr marL="114300" indent="0" algn="just">
              <a:buNone/>
            </a:pPr>
            <a:endParaRPr lang="en-US" b="1" dirty="0"/>
          </a:p>
          <a:p>
            <a:pPr algn="just"/>
            <a:r>
              <a:rPr lang="en-US" dirty="0"/>
              <a:t>For serial communication there are two separate pins known as serial port of 8051.</a:t>
            </a:r>
            <a:endParaRPr lang="en-US" sz="3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64</a:t>
            </a:fld>
            <a:endParaRPr lang="en-US"/>
          </a:p>
        </p:txBody>
      </p:sp>
      <p:pic>
        <p:nvPicPr>
          <p:cNvPr id="1027" name="Picture 3" descr="C:\Users\Manu\Desktop\serial po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0" y="1041400"/>
            <a:ext cx="3575050" cy="553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26686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895350"/>
            <a:ext cx="5772151" cy="5810250"/>
          </a:xfrm>
        </p:spPr>
        <p:txBody>
          <a:bodyPr/>
          <a:lstStyle/>
          <a:p>
            <a:pPr marL="114300" indent="0" algn="just">
              <a:buNone/>
            </a:pPr>
            <a:r>
              <a:rPr lang="en-US" b="1" dirty="0" err="1"/>
              <a:t>TxD</a:t>
            </a:r>
            <a:r>
              <a:rPr lang="en-US" b="1" dirty="0" smtClean="0"/>
              <a:t>:</a:t>
            </a:r>
            <a:endParaRPr lang="en-US" b="1" dirty="0"/>
          </a:p>
          <a:p>
            <a:pPr algn="just"/>
            <a:r>
              <a:rPr lang="en-US" sz="2400" dirty="0"/>
              <a:t>This pin basically acts as a transmitter ( sending data ), but in some other modes it doesn’t do the job of transmitter. </a:t>
            </a:r>
            <a:endParaRPr lang="en-US" sz="2400" dirty="0" smtClean="0"/>
          </a:p>
          <a:p>
            <a:pPr algn="just"/>
            <a:r>
              <a:rPr lang="en-US" sz="2400" dirty="0" smtClean="0"/>
              <a:t>As </a:t>
            </a:r>
            <a:r>
              <a:rPr lang="en-US" sz="2400" dirty="0"/>
              <a:t>it is serial communication, it sends bit by bit, the processor gives 8-bit at 1 time and those 8-bits are stored in a register named </a:t>
            </a:r>
            <a:r>
              <a:rPr lang="en-US" sz="2400" dirty="0" smtClean="0"/>
              <a:t>SBUF.</a:t>
            </a:r>
          </a:p>
          <a:p>
            <a:pPr algn="just"/>
            <a:r>
              <a:rPr lang="en-US" sz="2400" dirty="0" smtClean="0"/>
              <a:t>Processor </a:t>
            </a:r>
            <a:r>
              <a:rPr lang="en-US" sz="2400" dirty="0"/>
              <a:t>gives 1 byte of data that is to be transmitted to SBUF and from there bit by bit is transferred , firstly LSB and then at last MSB of the byte stored in SBUF. </a:t>
            </a:r>
            <a:endParaRPr lang="en-US" sz="2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65</a:t>
            </a:fld>
            <a:endParaRPr lang="en-US"/>
          </a:p>
        </p:txBody>
      </p:sp>
      <p:pic>
        <p:nvPicPr>
          <p:cNvPr id="1027" name="Picture 3" descr="C:\Users\Manu\Desktop\serial po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50" y="1041400"/>
            <a:ext cx="3200400" cy="553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78211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895350"/>
            <a:ext cx="5772151" cy="5810250"/>
          </a:xfrm>
        </p:spPr>
        <p:txBody>
          <a:bodyPr/>
          <a:lstStyle/>
          <a:p>
            <a:pPr algn="just"/>
            <a:endParaRPr lang="en-US" sz="2400" dirty="0" smtClean="0"/>
          </a:p>
          <a:p>
            <a:pPr algn="just"/>
            <a:endParaRPr lang="en-US" sz="2400" dirty="0"/>
          </a:p>
          <a:p>
            <a:pPr algn="just"/>
            <a:r>
              <a:rPr lang="en-US" sz="2400" dirty="0" smtClean="0"/>
              <a:t>Once </a:t>
            </a:r>
            <a:r>
              <a:rPr lang="en-US" sz="2400" dirty="0"/>
              <a:t>the total byte is transmitted, an interrupt is sent to the processor by making some flag 1, so that the processor can send more data for transmission as soon as the interrupt is received.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66</a:t>
            </a:fld>
            <a:endParaRPr lang="en-US"/>
          </a:p>
        </p:txBody>
      </p:sp>
      <p:pic>
        <p:nvPicPr>
          <p:cNvPr id="1027" name="Picture 3" descr="C:\Users\Manu\Desktop\serial po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50" y="1041400"/>
            <a:ext cx="3200400" cy="553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05169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895350"/>
            <a:ext cx="5772151" cy="5810250"/>
          </a:xfrm>
        </p:spPr>
        <p:txBody>
          <a:bodyPr/>
          <a:lstStyle/>
          <a:p>
            <a:pPr marL="114300" indent="0" algn="just" fontAlgn="base">
              <a:buNone/>
            </a:pPr>
            <a:r>
              <a:rPr lang="en-US" sz="2400" dirty="0"/>
              <a:t>After every bit is transmitted, it requires delay for next bit transmission. So SBUF needs triggering which is provided by</a:t>
            </a:r>
          </a:p>
          <a:p>
            <a:pPr algn="just" fontAlgn="base"/>
            <a:r>
              <a:rPr lang="en-US" sz="2400" dirty="0"/>
              <a:t>Timer T1 ( here T1 only needs to </a:t>
            </a:r>
            <a:r>
              <a:rPr lang="en-US" sz="2400" dirty="0" smtClean="0"/>
              <a:t>trigger). </a:t>
            </a:r>
            <a:r>
              <a:rPr lang="en-US" sz="2400" dirty="0"/>
              <a:t>Here we can vary the delay, so data transmission delay can be varied ( frequency can be varied ). It has a variable baud rate.</a:t>
            </a:r>
          </a:p>
          <a:p>
            <a:pPr algn="just" fontAlgn="base"/>
            <a:r>
              <a:rPr lang="en-US" sz="2400" dirty="0"/>
              <a:t>There is an internal clock in 8051 ( </a:t>
            </a:r>
            <a:r>
              <a:rPr lang="en-US" sz="2400" dirty="0" err="1"/>
              <a:t>f</a:t>
            </a:r>
            <a:r>
              <a:rPr lang="en-US" sz="2400" baseline="-25000" dirty="0" err="1"/>
              <a:t>osc</a:t>
            </a:r>
            <a:r>
              <a:rPr lang="en-US" sz="2400" dirty="0"/>
              <a:t> / 12 = 1Mhz ) , where delay cannot be varied, this has fixed trigger delay. So frequency cannot be varied</a:t>
            </a:r>
            <a:r>
              <a:rPr lang="en-US" sz="2400" dirty="0" smtClean="0"/>
              <a:t>. It </a:t>
            </a:r>
            <a:r>
              <a:rPr lang="en-US" sz="2400" dirty="0"/>
              <a:t>has a fixed baud rate</a:t>
            </a:r>
            <a:r>
              <a:rPr lang="en-US" sz="2400" dirty="0" smtClean="0"/>
              <a:t>.</a:t>
            </a: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67</a:t>
            </a:fld>
            <a:endParaRPr lang="en-US"/>
          </a:p>
        </p:txBody>
      </p:sp>
      <p:pic>
        <p:nvPicPr>
          <p:cNvPr id="1027" name="Picture 3" descr="C:\Users\Manu\Desktop\serial po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50" y="1041400"/>
            <a:ext cx="3200400" cy="553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3769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895350"/>
            <a:ext cx="5772151" cy="5810250"/>
          </a:xfrm>
        </p:spPr>
        <p:txBody>
          <a:bodyPr/>
          <a:lstStyle/>
          <a:p>
            <a:pPr algn="just" fontAlgn="base"/>
            <a:endParaRPr lang="en-US" sz="2400" dirty="0" smtClean="0"/>
          </a:p>
          <a:p>
            <a:pPr algn="just" fontAlgn="base"/>
            <a:endParaRPr lang="en-US" sz="2400" dirty="0"/>
          </a:p>
          <a:p>
            <a:pPr algn="just" fontAlgn="base"/>
            <a:r>
              <a:rPr lang="en-US" sz="2400" dirty="0" smtClean="0"/>
              <a:t>Whenever </a:t>
            </a:r>
            <a:r>
              <a:rPr lang="en-US" sz="2400" dirty="0"/>
              <a:t>SBUF transferred 8bit of data , T</a:t>
            </a:r>
            <a:r>
              <a:rPr lang="en-US" sz="2400" baseline="-25000" dirty="0"/>
              <a:t>i</a:t>
            </a:r>
            <a:r>
              <a:rPr lang="en-US" sz="2400" dirty="0"/>
              <a:t> flag becomes 1. Whenever processors go to ISR( in other interrupts the flag is auto </a:t>
            </a:r>
            <a:r>
              <a:rPr lang="en-US" sz="2400" dirty="0" smtClean="0"/>
              <a:t>cleared) </a:t>
            </a:r>
            <a:r>
              <a:rPr lang="en-US" sz="2400" dirty="0"/>
              <a:t>, in this the T</a:t>
            </a:r>
            <a:r>
              <a:rPr lang="en-US" sz="2400" baseline="-25000" dirty="0"/>
              <a:t>i</a:t>
            </a:r>
            <a:r>
              <a:rPr lang="en-US" sz="2400" dirty="0"/>
              <a:t> flag is not auto cleared.</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68</a:t>
            </a:fld>
            <a:endParaRPr lang="en-US"/>
          </a:p>
        </p:txBody>
      </p:sp>
      <p:pic>
        <p:nvPicPr>
          <p:cNvPr id="1027" name="Picture 3" descr="C:\Users\Manu\Desktop\serial po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50" y="1041400"/>
            <a:ext cx="3200400" cy="553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1809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723900"/>
            <a:ext cx="6534151" cy="5981700"/>
          </a:xfrm>
        </p:spPr>
        <p:txBody>
          <a:bodyPr/>
          <a:lstStyle/>
          <a:p>
            <a:pPr marL="114300" indent="0" algn="just" fontAlgn="base">
              <a:buNone/>
            </a:pPr>
            <a:r>
              <a:rPr lang="en-US" sz="2400" b="1" dirty="0" err="1"/>
              <a:t>RxD</a:t>
            </a:r>
            <a:r>
              <a:rPr lang="en-US" sz="2400" b="1" dirty="0"/>
              <a:t>:</a:t>
            </a:r>
            <a:endParaRPr lang="en-US" sz="2400" dirty="0"/>
          </a:p>
          <a:p>
            <a:pPr algn="just" fontAlgn="base"/>
            <a:r>
              <a:rPr lang="en-US" sz="2400" dirty="0"/>
              <a:t>This pin is basically for data reception . It received data bit by bit ( as the transmitter sends LSB first, it received LSB first </a:t>
            </a:r>
            <a:r>
              <a:rPr lang="en-US" sz="2400" dirty="0" smtClean="0"/>
              <a:t>).</a:t>
            </a:r>
          </a:p>
          <a:p>
            <a:pPr algn="just" fontAlgn="base"/>
            <a:r>
              <a:rPr lang="en-US" sz="2400" dirty="0" smtClean="0"/>
              <a:t>There </a:t>
            </a:r>
            <a:r>
              <a:rPr lang="en-US" sz="2400" dirty="0"/>
              <a:t>is also a register </a:t>
            </a:r>
            <a:r>
              <a:rPr lang="en-US" sz="2400" b="1" dirty="0"/>
              <a:t>SBUF</a:t>
            </a:r>
            <a:r>
              <a:rPr lang="en-US" sz="2400" dirty="0"/>
              <a:t> which stores 8 received bits. Once the 8 bits are received, instead of sending an interrupt it firstly checks for errors ( errors caused due to </a:t>
            </a:r>
            <a:r>
              <a:rPr lang="en-US" sz="2400" dirty="0" smtClean="0"/>
              <a:t>transmission).</a:t>
            </a:r>
          </a:p>
          <a:p>
            <a:pPr algn="just" fontAlgn="base"/>
            <a:r>
              <a:rPr lang="en-US" sz="2400" dirty="0" smtClean="0"/>
              <a:t>Once </a:t>
            </a:r>
            <a:r>
              <a:rPr lang="en-US" sz="2400" dirty="0"/>
              <a:t>there is no error in the received information </a:t>
            </a:r>
            <a:r>
              <a:rPr lang="en-US" sz="2400" dirty="0" err="1"/>
              <a:t>R</a:t>
            </a:r>
            <a:r>
              <a:rPr lang="en-US" sz="2400" baseline="-25000" dirty="0" err="1"/>
              <a:t>i</a:t>
            </a:r>
            <a:r>
              <a:rPr lang="en-US" sz="2400" dirty="0"/>
              <a:t> flag is set and an interrupt is sent to the processor. Processor goes to ISR ( here also </a:t>
            </a:r>
            <a:r>
              <a:rPr lang="en-US" sz="2400" dirty="0" err="1"/>
              <a:t>R</a:t>
            </a:r>
            <a:r>
              <a:rPr lang="en-US" sz="2400" baseline="-25000" dirty="0" err="1"/>
              <a:t>i</a:t>
            </a:r>
            <a:r>
              <a:rPr lang="en-US" sz="2400" dirty="0"/>
              <a:t> is not cleared automatically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69</a:t>
            </a:fld>
            <a:endParaRPr lang="en-US"/>
          </a:p>
        </p:txBody>
      </p:sp>
      <p:pic>
        <p:nvPicPr>
          <p:cNvPr id="1027" name="Picture 3" descr="C:\Users\Manu\Desktop\serial po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4150" y="1041400"/>
            <a:ext cx="2438400" cy="553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64638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Serial Port in 8051</a:t>
            </a:r>
          </a:p>
        </p:txBody>
      </p:sp>
      <p:sp>
        <p:nvSpPr>
          <p:cNvPr id="3" name="Text Placeholder 2"/>
          <p:cNvSpPr>
            <a:spLocks noGrp="1"/>
          </p:cNvSpPr>
          <p:nvPr>
            <p:ph type="body" idx="1"/>
          </p:nvPr>
        </p:nvSpPr>
        <p:spPr>
          <a:xfrm>
            <a:off x="-1" y="1352550"/>
            <a:ext cx="9144001" cy="5353050"/>
          </a:xfrm>
        </p:spPr>
        <p:txBody>
          <a:bodyPr/>
          <a:lstStyle/>
          <a:p>
            <a:pPr marL="114300" indent="0" algn="just" fontAlgn="base">
              <a:buNone/>
            </a:pPr>
            <a:r>
              <a:rPr lang="en-US" b="1" dirty="0"/>
              <a:t>How are SBUF in </a:t>
            </a:r>
            <a:r>
              <a:rPr lang="en-US" b="1" dirty="0" err="1"/>
              <a:t>TxD</a:t>
            </a:r>
            <a:r>
              <a:rPr lang="en-US" b="1" dirty="0"/>
              <a:t> and </a:t>
            </a:r>
            <a:r>
              <a:rPr lang="en-US" b="1" dirty="0" err="1"/>
              <a:t>RxD</a:t>
            </a:r>
            <a:r>
              <a:rPr lang="en-US" b="1" dirty="0"/>
              <a:t> different from each other ?</a:t>
            </a:r>
          </a:p>
          <a:p>
            <a:pPr algn="just" fontAlgn="base"/>
            <a:endParaRPr lang="en-US" sz="2400" dirty="0" smtClean="0"/>
          </a:p>
          <a:p>
            <a:pPr algn="just" fontAlgn="base"/>
            <a:r>
              <a:rPr lang="en-US" sz="2400" dirty="0" smtClean="0"/>
              <a:t>In </a:t>
            </a:r>
            <a:r>
              <a:rPr lang="en-US" sz="2400" dirty="0"/>
              <a:t>SBUF of </a:t>
            </a:r>
            <a:r>
              <a:rPr lang="en-US" sz="2400" dirty="0" err="1"/>
              <a:t>TxD</a:t>
            </a:r>
            <a:r>
              <a:rPr lang="en-US" sz="2400" dirty="0"/>
              <a:t>, data is sent from processor to SBUF</a:t>
            </a:r>
          </a:p>
          <a:p>
            <a:pPr algn="just" fontAlgn="base"/>
            <a:r>
              <a:rPr lang="en-US" sz="2400" dirty="0"/>
              <a:t>In SBUF of </a:t>
            </a:r>
            <a:r>
              <a:rPr lang="en-US" sz="2400" dirty="0" err="1"/>
              <a:t>RxD</a:t>
            </a:r>
            <a:r>
              <a:rPr lang="en-US" sz="2400" dirty="0"/>
              <a:t>, data is sent from SBUF to the processor.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70</a:t>
            </a:fld>
            <a:endParaRPr lang="en-US"/>
          </a:p>
        </p:txBody>
      </p:sp>
    </p:spTree>
    <p:extLst>
      <p:ext uri="{BB962C8B-B14F-4D97-AF65-F5344CB8AC3E}">
        <p14:creationId xmlns:p14="http://schemas.microsoft.com/office/powerpoint/2010/main" val="194120466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819150"/>
            <a:ext cx="9144001" cy="5886450"/>
          </a:xfrm>
        </p:spPr>
        <p:txBody>
          <a:bodyPr/>
          <a:lstStyle/>
          <a:p>
            <a:pPr marL="114300" indent="0" algn="just" fontAlgn="base">
              <a:buNone/>
            </a:pPr>
            <a:r>
              <a:rPr lang="fr-FR" sz="2800" b="1" dirty="0"/>
              <a:t>Mode 1 ( 8-bit UART communication </a:t>
            </a:r>
            <a:r>
              <a:rPr lang="fr-FR" sz="2800" b="1" dirty="0" smtClean="0"/>
              <a:t>):</a:t>
            </a:r>
          </a:p>
          <a:p>
            <a:pPr algn="just" fontAlgn="base"/>
            <a:endParaRPr lang="en-US" sz="2400" dirty="0" smtClean="0"/>
          </a:p>
          <a:p>
            <a:pPr algn="just" fontAlgn="base"/>
            <a:r>
              <a:rPr lang="en-US" sz="2800" dirty="0" smtClean="0"/>
              <a:t>UART </a:t>
            </a:r>
            <a:r>
              <a:rPr lang="en-US" sz="2800" dirty="0"/>
              <a:t>stands for universal asynchronous receiver-transmitter. It means receiver and transmitter are asynchronous which mean they don’t have a common clock. Normally 8 bits are transmitted through the channel, but in this mode 10 bits are transmitted. </a:t>
            </a:r>
            <a:endParaRPr lang="en-US" sz="2800" dirty="0" smtClean="0"/>
          </a:p>
          <a:p>
            <a:pPr marL="114300" indent="0" algn="just" fontAlgn="base">
              <a:buNone/>
            </a:pPr>
            <a:endParaRPr lang="en-US" sz="2800" dirty="0" smtClean="0"/>
          </a:p>
          <a:p>
            <a:pPr marL="114300" indent="0" algn="just" fontAlgn="base">
              <a:buNone/>
            </a:pPr>
            <a:endParaRPr lang="en-US" sz="2800" dirty="0"/>
          </a:p>
          <a:p>
            <a:pPr marL="114300" indent="0" algn="just" fontAlgn="base">
              <a:buNone/>
            </a:pPr>
            <a:endParaRPr lang="en-US" sz="2800" dirty="0" smtClean="0"/>
          </a:p>
          <a:p>
            <a:pPr fontAlgn="base"/>
            <a:r>
              <a:rPr lang="en-US" sz="2800" dirty="0"/>
              <a:t>Here start and stop bits are system generated</a:t>
            </a:r>
            <a:r>
              <a:rPr lang="en-US" sz="2800" dirty="0" smtClean="0"/>
              <a:t>.</a:t>
            </a:r>
            <a:endParaRPr lang="en-US" sz="2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71</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4076700"/>
            <a:ext cx="76200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453794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819150"/>
            <a:ext cx="9144001" cy="5886450"/>
          </a:xfrm>
        </p:spPr>
        <p:txBody>
          <a:bodyPr/>
          <a:lstStyle/>
          <a:p>
            <a:pPr marL="114300" indent="0" algn="just" fontAlgn="base">
              <a:buNone/>
            </a:pPr>
            <a:r>
              <a:rPr lang="en-US" sz="2400" b="1" dirty="0"/>
              <a:t>Significance of start and stop bit:</a:t>
            </a:r>
            <a:endParaRPr lang="en-US" sz="2400" dirty="0"/>
          </a:p>
          <a:p>
            <a:pPr algn="just" fontAlgn="base"/>
            <a:endParaRPr lang="en-US" sz="2400" dirty="0" smtClean="0"/>
          </a:p>
          <a:p>
            <a:pPr algn="just" fontAlgn="base"/>
            <a:endParaRPr lang="en-US" sz="2400" dirty="0"/>
          </a:p>
          <a:p>
            <a:pPr algn="just" fontAlgn="base"/>
            <a:endParaRPr lang="en-US" sz="2400" dirty="0" smtClean="0"/>
          </a:p>
          <a:p>
            <a:pPr algn="just" fontAlgn="base"/>
            <a:endParaRPr lang="en-US" sz="2400" dirty="0"/>
          </a:p>
          <a:p>
            <a:pPr algn="just" fontAlgn="base"/>
            <a:endParaRPr lang="en-US" sz="2400" dirty="0" smtClean="0"/>
          </a:p>
          <a:p>
            <a:pPr algn="just" fontAlgn="base"/>
            <a:endParaRPr lang="en-US" sz="2400" dirty="0"/>
          </a:p>
          <a:p>
            <a:pPr algn="just" fontAlgn="base"/>
            <a:r>
              <a:rPr lang="en-US" sz="2400" dirty="0" smtClean="0"/>
              <a:t>For </a:t>
            </a:r>
            <a:r>
              <a:rPr lang="en-US" sz="2400" dirty="0" err="1"/>
              <a:t>eg</a:t>
            </a:r>
            <a:r>
              <a:rPr lang="en-US" sz="2400" dirty="0"/>
              <a:t>: There is a transmitter and receiver. First C8H ( 1100 1000 ) data is transmitted and then for 10min there is no transmission and after that again 8EH ( 1000 1110 )is transmitted.</a:t>
            </a:r>
          </a:p>
          <a:p>
            <a:pPr algn="just" fontAlgn="base"/>
            <a:r>
              <a:rPr lang="en-US" sz="2400" dirty="0"/>
              <a:t>If there is no transmission, last bit transmitted would be remained in the </a:t>
            </a:r>
            <a:r>
              <a:rPr lang="en-US" sz="2400" dirty="0" smtClean="0"/>
              <a:t>channel</a:t>
            </a:r>
          </a:p>
          <a:p>
            <a:pPr algn="just" fontAlgn="base"/>
            <a:r>
              <a:rPr lang="en-US" sz="2400" dirty="0"/>
              <a:t>Receiver assumes blue data ( when there was no communication ) also as data.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72</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863" y="1357313"/>
            <a:ext cx="7534275" cy="233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445943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819150"/>
            <a:ext cx="9144001" cy="5886450"/>
          </a:xfrm>
        </p:spPr>
        <p:txBody>
          <a:bodyPr/>
          <a:lstStyle/>
          <a:p>
            <a:pPr marL="114300" indent="0" algn="just" fontAlgn="base">
              <a:buNone/>
            </a:pPr>
            <a:endParaRPr lang="en-US" sz="2400" dirty="0" smtClean="0"/>
          </a:p>
          <a:p>
            <a:pPr algn="just" fontAlgn="base"/>
            <a:endParaRPr lang="en-US" sz="2400" dirty="0"/>
          </a:p>
          <a:p>
            <a:pPr algn="just" fontAlgn="base"/>
            <a:endParaRPr lang="en-US" sz="2400" dirty="0" smtClean="0"/>
          </a:p>
          <a:p>
            <a:pPr algn="just" fontAlgn="base"/>
            <a:endParaRPr lang="en-US" sz="2400" dirty="0"/>
          </a:p>
          <a:p>
            <a:pPr algn="just" fontAlgn="base"/>
            <a:endParaRPr lang="en-US" sz="2400" dirty="0" smtClean="0"/>
          </a:p>
          <a:p>
            <a:pPr marL="114300" indent="0" algn="just" fontAlgn="base">
              <a:buNone/>
            </a:pPr>
            <a:endParaRPr lang="en-US" sz="2400" dirty="0" smtClean="0"/>
          </a:p>
          <a:p>
            <a:pPr algn="just" fontAlgn="base"/>
            <a:endParaRPr lang="en-US" sz="2400" dirty="0" smtClean="0"/>
          </a:p>
          <a:p>
            <a:pPr algn="just" fontAlgn="base"/>
            <a:r>
              <a:rPr lang="en-US" sz="2400" dirty="0" smtClean="0"/>
              <a:t>Here </a:t>
            </a:r>
            <a:r>
              <a:rPr lang="en-US" sz="2400" dirty="0"/>
              <a:t>green is the start bit which is zero. And then the yellow colored is stop bit which is 1. </a:t>
            </a:r>
            <a:endParaRPr lang="en-US" sz="2400" dirty="0" smtClean="0"/>
          </a:p>
          <a:p>
            <a:pPr algn="just" fontAlgn="base"/>
            <a:r>
              <a:rPr lang="en-US" sz="2400" dirty="0" smtClean="0"/>
              <a:t>Whenever </a:t>
            </a:r>
            <a:r>
              <a:rPr lang="en-US" sz="2400" dirty="0"/>
              <a:t>the first 0 bit comes, the receiver discards the start bit and accepts the next 8 bits and stores in SBUF. </a:t>
            </a:r>
            <a:endParaRPr lang="en-US" sz="2400" dirty="0" smtClean="0"/>
          </a:p>
          <a:p>
            <a:pPr algn="just" fontAlgn="base"/>
            <a:r>
              <a:rPr lang="en-US" sz="2400" dirty="0" smtClean="0"/>
              <a:t>Then </a:t>
            </a:r>
            <a:r>
              <a:rPr lang="en-US" sz="2400" dirty="0"/>
              <a:t>the 9th bit is 1 , this bit is stored in </a:t>
            </a:r>
            <a:r>
              <a:rPr lang="en-US" sz="2400" dirty="0" smtClean="0"/>
              <a:t>RB8.</a:t>
            </a:r>
          </a:p>
          <a:p>
            <a:pPr algn="just" fontAlgn="base"/>
            <a:r>
              <a:rPr lang="en-US" sz="2400" dirty="0" smtClean="0"/>
              <a:t>Then </a:t>
            </a:r>
            <a:r>
              <a:rPr lang="en-US" sz="2400" dirty="0"/>
              <a:t>after this whenever the next zero bit comes ( that zero bit is discarded and accepts the next 8 bits and so on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73</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862" y="895350"/>
            <a:ext cx="7534275"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321327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819150"/>
            <a:ext cx="9144001" cy="5886450"/>
          </a:xfrm>
        </p:spPr>
        <p:txBody>
          <a:bodyPr/>
          <a:lstStyle/>
          <a:p>
            <a:pPr marL="114300" indent="0" algn="just" fontAlgn="base">
              <a:buNone/>
            </a:pPr>
            <a:endParaRPr lang="en-US" sz="2400" dirty="0" smtClean="0"/>
          </a:p>
          <a:p>
            <a:pPr algn="just" fontAlgn="base"/>
            <a:endParaRPr lang="en-US" sz="2400" dirty="0"/>
          </a:p>
          <a:p>
            <a:pPr algn="just" fontAlgn="base"/>
            <a:endParaRPr lang="en-US" sz="2400" dirty="0" smtClean="0"/>
          </a:p>
          <a:p>
            <a:pPr algn="just" fontAlgn="base"/>
            <a:endParaRPr lang="en-US" sz="2400" dirty="0"/>
          </a:p>
          <a:p>
            <a:pPr algn="just" fontAlgn="base"/>
            <a:endParaRPr lang="en-US" sz="2400" dirty="0" smtClean="0"/>
          </a:p>
          <a:p>
            <a:pPr marL="114300" indent="0" algn="just" fontAlgn="base">
              <a:buNone/>
            </a:pPr>
            <a:endParaRPr lang="en-US" sz="2400" dirty="0" smtClean="0"/>
          </a:p>
          <a:p>
            <a:pPr algn="just" fontAlgn="base"/>
            <a:r>
              <a:rPr lang="en-US" sz="2400" dirty="0"/>
              <a:t>Stop bit is also used for error checking. Whenever SM2=1, It checks for error, If the RB8 = 1 ( which means stop = 1 received, so the data is received correctly ) and if RB8=0 ( transmitter generated stop as 1, but received as 0 ) so there is an error. If there is an error in received data, no interrupt is sent to the processor.</a:t>
            </a:r>
          </a:p>
          <a:p>
            <a:pPr algn="just" fontAlgn="base"/>
            <a:endParaRPr lang="en-US" sz="2400" dirty="0"/>
          </a:p>
          <a:p>
            <a:pPr algn="just" fontAlgn="base"/>
            <a:r>
              <a:rPr lang="en-US" sz="2400" dirty="0"/>
              <a:t>This mode is variable baud rate, which means it is triggered by timer 1.</a:t>
            </a:r>
          </a:p>
          <a:p>
            <a:pPr algn="just" fontAlgn="base"/>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74</a:t>
            </a:fld>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804863"/>
            <a:ext cx="7324725" cy="2478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340488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819150"/>
            <a:ext cx="9144001" cy="5886450"/>
          </a:xfrm>
        </p:spPr>
        <p:txBody>
          <a:bodyPr/>
          <a:lstStyle/>
          <a:p>
            <a:pPr marL="114300" indent="0" algn="just" fontAlgn="base">
              <a:buNone/>
            </a:pPr>
            <a:r>
              <a:rPr lang="fr-FR" sz="2800" b="1" dirty="0"/>
              <a:t>Mode 2 ( 9-bit UART communication </a:t>
            </a:r>
            <a:r>
              <a:rPr lang="fr-FR" sz="2800" b="1" dirty="0" smtClean="0"/>
              <a:t>):</a:t>
            </a:r>
          </a:p>
          <a:p>
            <a:pPr marL="114300" indent="0" algn="just" fontAlgn="base">
              <a:buNone/>
            </a:pPr>
            <a:endParaRPr lang="en-US" sz="2400" dirty="0" smtClean="0"/>
          </a:p>
          <a:p>
            <a:pPr marL="114300" indent="0" algn="just" fontAlgn="base">
              <a:buNone/>
            </a:pPr>
            <a:endParaRPr lang="en-US" sz="2400" dirty="0"/>
          </a:p>
          <a:p>
            <a:pPr marL="114300" indent="0" algn="just" fontAlgn="base">
              <a:buNone/>
            </a:pPr>
            <a:endParaRPr lang="en-US" sz="2400" dirty="0" smtClean="0"/>
          </a:p>
          <a:p>
            <a:pPr algn="just" fontAlgn="base"/>
            <a:r>
              <a:rPr lang="en-US" sz="2400" dirty="0"/>
              <a:t>The 9th bit is a programmable bit and it is given through TB8. Here 9th bit is 1 and it is used for error checking and stop bit for triggering the data high ( so start bit gets 0 and so on </a:t>
            </a:r>
            <a:r>
              <a:rPr lang="en-US" sz="2400" dirty="0" smtClean="0"/>
              <a:t>).</a:t>
            </a:r>
          </a:p>
          <a:p>
            <a:pPr marL="114300" indent="0" algn="just" fontAlgn="base">
              <a:buNone/>
            </a:pPr>
            <a:endParaRPr lang="en-US" sz="2400" dirty="0" smtClean="0"/>
          </a:p>
          <a:p>
            <a:pPr marL="114300" indent="0" algn="just" fontAlgn="base">
              <a:buNone/>
            </a:pPr>
            <a:r>
              <a:rPr lang="en-US" sz="2400" b="1" dirty="0"/>
              <a:t>Why the 9th bit , when the already stop bit exists?</a:t>
            </a:r>
          </a:p>
          <a:p>
            <a:pPr algn="just" fontAlgn="base"/>
            <a:r>
              <a:rPr lang="en-US" sz="2400" dirty="0"/>
              <a:t>Standard value of 9th bit is 1 and can be made 0.</a:t>
            </a:r>
          </a:p>
          <a:p>
            <a:pPr algn="just" fontAlgn="base"/>
            <a:r>
              <a:rPr lang="en-US" sz="2400" dirty="0"/>
              <a:t>Whenever SM2 = 1( receiver accepts only errorless data ) and if 9th bit is 1, then only errorless data is accepted or else discarded. Discarding data is a purpose.</a:t>
            </a:r>
            <a:endParaRPr lang="en-US" sz="2400" dirty="0" smtClean="0"/>
          </a:p>
          <a:p>
            <a:pPr marL="114300" indent="0" algn="just" fontAlgn="base">
              <a:buNone/>
            </a:pPr>
            <a:endParaRPr lang="en-US" sz="2400"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75</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713" y="1471613"/>
            <a:ext cx="6886575"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217253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704850"/>
            <a:ext cx="9144001" cy="5886450"/>
          </a:xfrm>
        </p:spPr>
        <p:txBody>
          <a:bodyPr/>
          <a:lstStyle/>
          <a:p>
            <a:pPr marL="114300" indent="0" algn="just" fontAlgn="base">
              <a:buNone/>
            </a:pPr>
            <a:r>
              <a:rPr lang="fr-FR" sz="2400" b="1" dirty="0"/>
              <a:t>Mode 2 ( 9-bit UART communication </a:t>
            </a:r>
            <a:r>
              <a:rPr lang="fr-FR" sz="2400" b="1" dirty="0" smtClean="0"/>
              <a:t>):</a:t>
            </a:r>
          </a:p>
          <a:p>
            <a:pPr marL="114300" indent="0" algn="just" fontAlgn="base">
              <a:buNone/>
            </a:pPr>
            <a:r>
              <a:rPr lang="en-US" sz="2400" b="1" dirty="0" smtClean="0"/>
              <a:t>Example: </a:t>
            </a:r>
            <a:r>
              <a:rPr lang="en-US" sz="2400" dirty="0"/>
              <a:t>For broadcast all the receivers should receive data, in this case 9th bit = 1, so that if the receiver has SM</a:t>
            </a:r>
            <a:r>
              <a:rPr lang="en-US" sz="2400" baseline="-25000" dirty="0"/>
              <a:t>2</a:t>
            </a:r>
            <a:r>
              <a:rPr lang="en-US" sz="2400" dirty="0"/>
              <a:t> = 1 or 0, it can receive data.</a:t>
            </a:r>
          </a:p>
          <a:p>
            <a:pPr algn="just" fontAlgn="base"/>
            <a:r>
              <a:rPr lang="en-US" sz="2400" dirty="0"/>
              <a:t>For selected transmission ( a paid channel in setup box ), in this case </a:t>
            </a:r>
          </a:p>
          <a:p>
            <a:pPr algn="just" fontAlgn="base"/>
            <a:r>
              <a:rPr lang="en-US" sz="2400" dirty="0"/>
              <a:t>If the person paid for the premium channel ( the paid channel’s 9th bit = 0 )</a:t>
            </a:r>
          </a:p>
          <a:p>
            <a:pPr algn="just" fontAlgn="base"/>
            <a:r>
              <a:rPr lang="en-US" sz="2400" dirty="0"/>
              <a:t>His setup box’s SM</a:t>
            </a:r>
            <a:r>
              <a:rPr lang="en-US" sz="2400" baseline="-25000" dirty="0"/>
              <a:t>2</a:t>
            </a:r>
            <a:r>
              <a:rPr lang="en-US" sz="2400" dirty="0"/>
              <a:t> = 0</a:t>
            </a:r>
          </a:p>
          <a:p>
            <a:pPr algn="just" fontAlgn="base"/>
            <a:r>
              <a:rPr lang="en-US" sz="2400" dirty="0"/>
              <a:t>So that he can receive data</a:t>
            </a:r>
          </a:p>
          <a:p>
            <a:pPr algn="just" fontAlgn="base"/>
            <a:r>
              <a:rPr lang="en-US" sz="2400" dirty="0"/>
              <a:t>If the person didn’t pay for that paid channel</a:t>
            </a:r>
          </a:p>
          <a:p>
            <a:pPr algn="just" fontAlgn="base"/>
            <a:r>
              <a:rPr lang="en-US" sz="2400" dirty="0"/>
              <a:t>His setup box’s SM</a:t>
            </a:r>
            <a:r>
              <a:rPr lang="en-US" sz="2400" baseline="-25000" dirty="0"/>
              <a:t>2</a:t>
            </a:r>
            <a:r>
              <a:rPr lang="en-US" sz="2400" dirty="0"/>
              <a:t> = 1 ( checks for error )</a:t>
            </a:r>
          </a:p>
          <a:p>
            <a:pPr algn="just" fontAlgn="base"/>
            <a:r>
              <a:rPr lang="en-US" sz="2400" dirty="0"/>
              <a:t>So he cannot receive data because it has error ( here error is not an error, according to receiver the premium channel has error and </a:t>
            </a:r>
            <a:r>
              <a:rPr lang="en-US" sz="2400" dirty="0" err="1"/>
              <a:t>dont</a:t>
            </a:r>
            <a:r>
              <a:rPr lang="en-US" sz="2400" dirty="0"/>
              <a:t> show it )</a:t>
            </a:r>
          </a:p>
          <a:p>
            <a:pPr algn="just" fontAlgn="base"/>
            <a:r>
              <a:rPr lang="en-US" sz="2400" dirty="0" smtClean="0"/>
              <a:t>This </a:t>
            </a:r>
            <a:r>
              <a:rPr lang="en-US" sz="2400" dirty="0"/>
              <a:t>mode also has varied frequency, it has varied baud rate.</a:t>
            </a:r>
          </a:p>
          <a:p>
            <a:pPr marL="114300" indent="0" algn="just" fontAlgn="base">
              <a:buNone/>
            </a:pPr>
            <a:endParaRPr lang="en-US" sz="2400" b="1"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76</a:t>
            </a:fld>
            <a:endParaRPr lang="en-US"/>
          </a:p>
        </p:txBody>
      </p:sp>
    </p:spTree>
    <p:extLst>
      <p:ext uri="{BB962C8B-B14F-4D97-AF65-F5344CB8AC3E}">
        <p14:creationId xmlns:p14="http://schemas.microsoft.com/office/powerpoint/2010/main" val="246956992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704850"/>
            <a:ext cx="9144001" cy="5886450"/>
          </a:xfrm>
        </p:spPr>
        <p:txBody>
          <a:bodyPr/>
          <a:lstStyle/>
          <a:p>
            <a:pPr marL="114300" indent="0" fontAlgn="base">
              <a:buNone/>
            </a:pPr>
            <a:r>
              <a:rPr lang="en-US" sz="2400" b="1" dirty="0"/>
              <a:t>Mode 3 ( 9-bit UART communication </a:t>
            </a:r>
            <a:r>
              <a:rPr lang="en-US" sz="2400" b="1" dirty="0" smtClean="0"/>
              <a:t>):</a:t>
            </a:r>
          </a:p>
          <a:p>
            <a:pPr marL="114300" indent="0" fontAlgn="base">
              <a:buNone/>
            </a:pPr>
            <a:endParaRPr lang="en-US" sz="2400" dirty="0"/>
          </a:p>
          <a:p>
            <a:pPr fontAlgn="base"/>
            <a:r>
              <a:rPr lang="en-US" sz="2400" dirty="0"/>
              <a:t>This mode is completely similar to mode 2, in mode 2 for triggering timer is used Whereas in this mode internal clock is used for triggering. It has a fixed baud rate. </a:t>
            </a:r>
          </a:p>
          <a:p>
            <a:pPr marL="114300" indent="0" fontAlgn="base">
              <a:buNone/>
            </a:pPr>
            <a:endParaRPr lang="en-US" sz="2400" b="1" dirty="0" smtClean="0"/>
          </a:p>
          <a:p>
            <a:pPr marL="114300" indent="0" fontAlgn="base">
              <a:buNone/>
            </a:pPr>
            <a:r>
              <a:rPr lang="en-US" sz="2400" b="1" dirty="0" smtClean="0"/>
              <a:t>Mode </a:t>
            </a:r>
            <a:r>
              <a:rPr lang="en-US" sz="2400" b="1" dirty="0"/>
              <a:t>0 </a:t>
            </a:r>
            <a:r>
              <a:rPr lang="en-US" sz="2400" b="1" dirty="0" smtClean="0"/>
              <a:t>:</a:t>
            </a:r>
          </a:p>
          <a:p>
            <a:pPr marL="114300" indent="0" fontAlgn="base">
              <a:buNone/>
            </a:pPr>
            <a:endParaRPr lang="en-US" sz="2400" dirty="0"/>
          </a:p>
          <a:p>
            <a:pPr fontAlgn="base"/>
            <a:r>
              <a:rPr lang="en-US" sz="2400" dirty="0"/>
              <a:t>Totally there were four modes in serial port of 8051, but for better understanding mode 0 is explained after three modes. In this mode data is transferred and received only through the </a:t>
            </a:r>
            <a:r>
              <a:rPr lang="en-US" sz="2400" dirty="0" err="1"/>
              <a:t>RxD</a:t>
            </a:r>
            <a:r>
              <a:rPr lang="en-US" sz="2400" dirty="0"/>
              <a:t> channel. </a:t>
            </a:r>
            <a:r>
              <a:rPr lang="en-US" sz="2400" dirty="0" err="1"/>
              <a:t>TxD</a:t>
            </a:r>
            <a:r>
              <a:rPr lang="en-US" sz="2400" dirty="0"/>
              <a:t> is used for clocks. This is synchronous mode of communication. </a:t>
            </a:r>
          </a:p>
          <a:p>
            <a:pPr fontAlgn="base"/>
            <a:r>
              <a:rPr lang="en-US" sz="2400" dirty="0"/>
              <a:t>Such a system is also known as half duplex mode. It has fixed baud rate.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77</a:t>
            </a:fld>
            <a:endParaRPr lang="en-US"/>
          </a:p>
        </p:txBody>
      </p:sp>
    </p:spTree>
    <p:extLst>
      <p:ext uri="{BB962C8B-B14F-4D97-AF65-F5344CB8AC3E}">
        <p14:creationId xmlns:p14="http://schemas.microsoft.com/office/powerpoint/2010/main" val="180056606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704850"/>
            <a:ext cx="9144001" cy="5886450"/>
          </a:xfrm>
        </p:spPr>
        <p:txBody>
          <a:bodyPr/>
          <a:lstStyle/>
          <a:p>
            <a:pPr marL="114300" indent="0" fontAlgn="base">
              <a:buNone/>
            </a:pPr>
            <a:r>
              <a:rPr lang="en-US" sz="2400" b="1" dirty="0"/>
              <a:t>SCON register</a:t>
            </a:r>
            <a:r>
              <a:rPr lang="en-US" sz="2400" b="1" dirty="0" smtClean="0"/>
              <a:t>:</a:t>
            </a:r>
          </a:p>
          <a:p>
            <a:pPr marL="114300" indent="0" fontAlgn="base">
              <a:buNone/>
            </a:pPr>
            <a:endParaRPr lang="en-US" sz="2400" b="1" dirty="0"/>
          </a:p>
          <a:p>
            <a:pPr marL="114300" indent="0" fontAlgn="base">
              <a:buNone/>
            </a:pPr>
            <a:endParaRPr lang="en-US" sz="2400" b="1" dirty="0" smtClean="0"/>
          </a:p>
          <a:p>
            <a:pPr fontAlgn="base"/>
            <a:r>
              <a:rPr lang="en-US" sz="2400" b="1" dirty="0"/>
              <a:t>SM</a:t>
            </a:r>
            <a:r>
              <a:rPr lang="en-US" sz="2400" b="1" baseline="-25000" dirty="0"/>
              <a:t>0</a:t>
            </a:r>
            <a:r>
              <a:rPr lang="en-US" sz="2400" b="1" dirty="0"/>
              <a:t> and </a:t>
            </a:r>
            <a:r>
              <a:rPr lang="en-US" sz="2400" b="1" dirty="0" smtClean="0"/>
              <a:t>SM</a:t>
            </a:r>
            <a:r>
              <a:rPr lang="en-US" sz="2400" b="1" baseline="-25000" dirty="0" smtClean="0"/>
              <a:t>1</a:t>
            </a:r>
            <a:r>
              <a:rPr lang="en-US" sz="2400" b="1" dirty="0" smtClean="0"/>
              <a:t>:</a:t>
            </a:r>
            <a:r>
              <a:rPr lang="en-US" sz="2400" dirty="0"/>
              <a:t> </a:t>
            </a:r>
            <a:r>
              <a:rPr lang="en-US" sz="2400" dirty="0" smtClean="0"/>
              <a:t>These </a:t>
            </a:r>
            <a:r>
              <a:rPr lang="en-US" sz="2400" dirty="0"/>
              <a:t>are used to select the mode</a:t>
            </a:r>
            <a:r>
              <a:rPr lang="en-US" sz="2400" dirty="0" smtClean="0"/>
              <a:t>.</a:t>
            </a:r>
          </a:p>
          <a:p>
            <a:pPr marL="114300" indent="0" fontAlgn="base">
              <a:buNone/>
            </a:pPr>
            <a:endParaRPr lang="en-US" sz="2400" dirty="0"/>
          </a:p>
          <a:p>
            <a:pPr marL="114300" indent="0" fontAlgn="base">
              <a:buNone/>
            </a:pPr>
            <a:endParaRPr lang="en-US" sz="2400" b="1" dirty="0" smtClean="0"/>
          </a:p>
          <a:p>
            <a:pPr marL="114300" indent="0" fontAlgn="base">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78</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62" y="1223963"/>
            <a:ext cx="70770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2001404700"/>
              </p:ext>
            </p:extLst>
          </p:nvPr>
        </p:nvGraphicFramePr>
        <p:xfrm>
          <a:off x="2714623" y="2834479"/>
          <a:ext cx="3714751" cy="3299620"/>
        </p:xfrm>
        <a:graphic>
          <a:graphicData uri="http://schemas.openxmlformats.org/drawingml/2006/table">
            <a:tbl>
              <a:tblPr>
                <a:tableStyleId>{3C2FFA5D-87B4-456A-9821-1D502468CF0F}</a:tableStyleId>
              </a:tblPr>
              <a:tblGrid>
                <a:gridCol w="1183460"/>
                <a:gridCol w="1150586"/>
                <a:gridCol w="1380705"/>
              </a:tblGrid>
              <a:tr h="659924">
                <a:tc>
                  <a:txBody>
                    <a:bodyPr/>
                    <a:lstStyle/>
                    <a:p>
                      <a:pPr algn="ctr" fontAlgn="base"/>
                      <a:r>
                        <a:rPr lang="en-US" sz="2800" b="1" dirty="0">
                          <a:effectLst/>
                        </a:rPr>
                        <a:t>SM</a:t>
                      </a:r>
                      <a:r>
                        <a:rPr lang="en-US" sz="2800" b="1" baseline="-25000" dirty="0">
                          <a:effectLst/>
                        </a:rPr>
                        <a:t>0</a:t>
                      </a:r>
                      <a:endParaRPr lang="en-US" sz="2800" b="1" dirty="0">
                        <a:effectLst/>
                      </a:endParaRPr>
                    </a:p>
                  </a:txBody>
                  <a:tcPr anchor="ctr"/>
                </a:tc>
                <a:tc>
                  <a:txBody>
                    <a:bodyPr/>
                    <a:lstStyle/>
                    <a:p>
                      <a:pPr algn="ctr" fontAlgn="base"/>
                      <a:r>
                        <a:rPr lang="en-US" sz="2800" b="1" dirty="0">
                          <a:effectLst/>
                        </a:rPr>
                        <a:t>SM</a:t>
                      </a:r>
                      <a:r>
                        <a:rPr lang="en-US" sz="2800" b="1" baseline="-25000" dirty="0">
                          <a:effectLst/>
                        </a:rPr>
                        <a:t>1</a:t>
                      </a:r>
                      <a:endParaRPr lang="en-US" sz="2800" b="1" dirty="0">
                        <a:effectLst/>
                      </a:endParaRPr>
                    </a:p>
                  </a:txBody>
                  <a:tcPr anchor="ctr"/>
                </a:tc>
                <a:tc>
                  <a:txBody>
                    <a:bodyPr/>
                    <a:lstStyle/>
                    <a:p>
                      <a:pPr algn="ctr" fontAlgn="base"/>
                      <a:r>
                        <a:rPr lang="en-US" sz="2800" b="1" dirty="0">
                          <a:effectLst/>
                        </a:rPr>
                        <a:t>Mode</a:t>
                      </a:r>
                    </a:p>
                  </a:txBody>
                  <a:tcPr anchor="ctr"/>
                </a:tc>
              </a:tr>
              <a:tr h="659924">
                <a:tc>
                  <a:txBody>
                    <a:bodyPr/>
                    <a:lstStyle/>
                    <a:p>
                      <a:pPr algn="ctr" fontAlgn="base"/>
                      <a:r>
                        <a:rPr lang="en-US" sz="2800">
                          <a:effectLst/>
                        </a:rPr>
                        <a:t>0</a:t>
                      </a:r>
                    </a:p>
                  </a:txBody>
                  <a:tcPr anchor="ctr"/>
                </a:tc>
                <a:tc>
                  <a:txBody>
                    <a:bodyPr/>
                    <a:lstStyle/>
                    <a:p>
                      <a:pPr algn="ctr" fontAlgn="base"/>
                      <a:r>
                        <a:rPr lang="en-US" sz="2800" dirty="0">
                          <a:effectLst/>
                        </a:rPr>
                        <a:t>0</a:t>
                      </a:r>
                    </a:p>
                  </a:txBody>
                  <a:tcPr anchor="ctr"/>
                </a:tc>
                <a:tc>
                  <a:txBody>
                    <a:bodyPr/>
                    <a:lstStyle/>
                    <a:p>
                      <a:pPr algn="ctr" fontAlgn="base"/>
                      <a:r>
                        <a:rPr lang="en-US" sz="2800" dirty="0">
                          <a:effectLst/>
                        </a:rPr>
                        <a:t>0</a:t>
                      </a:r>
                    </a:p>
                  </a:txBody>
                  <a:tcPr anchor="ctr"/>
                </a:tc>
              </a:tr>
              <a:tr h="659924">
                <a:tc>
                  <a:txBody>
                    <a:bodyPr/>
                    <a:lstStyle/>
                    <a:p>
                      <a:pPr algn="ctr" fontAlgn="base"/>
                      <a:r>
                        <a:rPr lang="en-US" sz="2800">
                          <a:effectLst/>
                        </a:rPr>
                        <a:t>0</a:t>
                      </a:r>
                    </a:p>
                  </a:txBody>
                  <a:tcPr anchor="ctr"/>
                </a:tc>
                <a:tc>
                  <a:txBody>
                    <a:bodyPr/>
                    <a:lstStyle/>
                    <a:p>
                      <a:pPr algn="ctr" fontAlgn="base"/>
                      <a:r>
                        <a:rPr lang="en-US" sz="2800">
                          <a:effectLst/>
                        </a:rPr>
                        <a:t>1</a:t>
                      </a:r>
                    </a:p>
                  </a:txBody>
                  <a:tcPr anchor="ctr"/>
                </a:tc>
                <a:tc>
                  <a:txBody>
                    <a:bodyPr/>
                    <a:lstStyle/>
                    <a:p>
                      <a:pPr algn="ctr" fontAlgn="base"/>
                      <a:r>
                        <a:rPr lang="en-US" sz="2800">
                          <a:effectLst/>
                        </a:rPr>
                        <a:t>1</a:t>
                      </a:r>
                    </a:p>
                  </a:txBody>
                  <a:tcPr anchor="ctr"/>
                </a:tc>
              </a:tr>
              <a:tr h="659924">
                <a:tc>
                  <a:txBody>
                    <a:bodyPr/>
                    <a:lstStyle/>
                    <a:p>
                      <a:pPr algn="ctr" fontAlgn="base"/>
                      <a:r>
                        <a:rPr lang="en-US" sz="2800">
                          <a:effectLst/>
                        </a:rPr>
                        <a:t>1</a:t>
                      </a:r>
                    </a:p>
                  </a:txBody>
                  <a:tcPr anchor="ctr"/>
                </a:tc>
                <a:tc>
                  <a:txBody>
                    <a:bodyPr/>
                    <a:lstStyle/>
                    <a:p>
                      <a:pPr algn="ctr" fontAlgn="base"/>
                      <a:r>
                        <a:rPr lang="en-US" sz="2800">
                          <a:effectLst/>
                        </a:rPr>
                        <a:t>0</a:t>
                      </a:r>
                    </a:p>
                  </a:txBody>
                  <a:tcPr anchor="ctr"/>
                </a:tc>
                <a:tc>
                  <a:txBody>
                    <a:bodyPr/>
                    <a:lstStyle/>
                    <a:p>
                      <a:pPr algn="ctr" fontAlgn="base"/>
                      <a:r>
                        <a:rPr lang="en-US" sz="2800">
                          <a:effectLst/>
                        </a:rPr>
                        <a:t>2</a:t>
                      </a:r>
                    </a:p>
                  </a:txBody>
                  <a:tcPr anchor="ctr"/>
                </a:tc>
              </a:tr>
              <a:tr h="659924">
                <a:tc>
                  <a:txBody>
                    <a:bodyPr/>
                    <a:lstStyle/>
                    <a:p>
                      <a:pPr algn="ctr" fontAlgn="base"/>
                      <a:r>
                        <a:rPr lang="en-US" sz="2800">
                          <a:effectLst/>
                        </a:rPr>
                        <a:t>1</a:t>
                      </a:r>
                    </a:p>
                  </a:txBody>
                  <a:tcPr anchor="ctr"/>
                </a:tc>
                <a:tc>
                  <a:txBody>
                    <a:bodyPr/>
                    <a:lstStyle/>
                    <a:p>
                      <a:pPr algn="ctr" fontAlgn="base"/>
                      <a:r>
                        <a:rPr lang="en-US" sz="2800">
                          <a:effectLst/>
                        </a:rPr>
                        <a:t>1</a:t>
                      </a:r>
                    </a:p>
                  </a:txBody>
                  <a:tcPr anchor="ctr"/>
                </a:tc>
                <a:tc>
                  <a:txBody>
                    <a:bodyPr/>
                    <a:lstStyle/>
                    <a:p>
                      <a:pPr algn="ctr" fontAlgn="base"/>
                      <a:r>
                        <a:rPr lang="en-US" sz="2800" dirty="0">
                          <a:effectLst/>
                        </a:rPr>
                        <a:t>3</a:t>
                      </a:r>
                    </a:p>
                  </a:txBody>
                  <a:tcPr anchor="ctr"/>
                </a:tc>
              </a:tr>
            </a:tbl>
          </a:graphicData>
        </a:graphic>
      </p:graphicFrame>
    </p:spTree>
    <p:extLst>
      <p:ext uri="{BB962C8B-B14F-4D97-AF65-F5344CB8AC3E}">
        <p14:creationId xmlns:p14="http://schemas.microsoft.com/office/powerpoint/2010/main" val="137249055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Modes in serial communication:</a:t>
            </a:r>
            <a:endParaRPr lang="en-US" b="1" dirty="0"/>
          </a:p>
        </p:txBody>
      </p:sp>
      <p:sp>
        <p:nvSpPr>
          <p:cNvPr id="3" name="Text Placeholder 2"/>
          <p:cNvSpPr>
            <a:spLocks noGrp="1"/>
          </p:cNvSpPr>
          <p:nvPr>
            <p:ph type="body" idx="1"/>
          </p:nvPr>
        </p:nvSpPr>
        <p:spPr>
          <a:xfrm>
            <a:off x="-1" y="704850"/>
            <a:ext cx="9144001" cy="5886450"/>
          </a:xfrm>
        </p:spPr>
        <p:txBody>
          <a:bodyPr/>
          <a:lstStyle/>
          <a:p>
            <a:pPr marL="114300" indent="0" fontAlgn="base">
              <a:buNone/>
            </a:pPr>
            <a:r>
              <a:rPr lang="en-US" sz="2400" b="1" dirty="0" smtClean="0"/>
              <a:t>SCON register:</a:t>
            </a:r>
          </a:p>
          <a:p>
            <a:pPr marL="114300" indent="0" fontAlgn="base">
              <a:buNone/>
            </a:pPr>
            <a:endParaRPr lang="en-US" sz="2400" b="1" dirty="0"/>
          </a:p>
          <a:p>
            <a:pPr fontAlgn="base"/>
            <a:endParaRPr lang="en-US" sz="2400" b="1" dirty="0" smtClean="0"/>
          </a:p>
          <a:p>
            <a:pPr fontAlgn="base"/>
            <a:r>
              <a:rPr lang="en-US" sz="2400" b="1" dirty="0" smtClean="0"/>
              <a:t>SM</a:t>
            </a:r>
            <a:r>
              <a:rPr lang="en-US" sz="2400" b="1" baseline="-25000" dirty="0" smtClean="0"/>
              <a:t>2</a:t>
            </a:r>
            <a:r>
              <a:rPr lang="en-US" sz="2400" b="1" dirty="0" smtClean="0"/>
              <a:t>: </a:t>
            </a:r>
            <a:r>
              <a:rPr lang="en-US" sz="2400" dirty="0" smtClean="0"/>
              <a:t>If </a:t>
            </a:r>
            <a:r>
              <a:rPr lang="en-US" sz="2400" dirty="0"/>
              <a:t>SM</a:t>
            </a:r>
            <a:r>
              <a:rPr lang="en-US" sz="2400" baseline="-25000" dirty="0"/>
              <a:t>2</a:t>
            </a:r>
            <a:r>
              <a:rPr lang="en-US" sz="2400" dirty="0"/>
              <a:t> = 1, error is </a:t>
            </a:r>
            <a:r>
              <a:rPr lang="en-US" sz="2400" dirty="0" smtClean="0"/>
              <a:t>checked Or </a:t>
            </a:r>
            <a:r>
              <a:rPr lang="en-US" sz="2400" dirty="0"/>
              <a:t>else no error checking is done.</a:t>
            </a:r>
          </a:p>
          <a:p>
            <a:pPr fontAlgn="base"/>
            <a:r>
              <a:rPr lang="en-US" sz="2400" b="1" dirty="0" smtClean="0"/>
              <a:t>REN: </a:t>
            </a:r>
            <a:r>
              <a:rPr lang="en-US" sz="2400" dirty="0" smtClean="0"/>
              <a:t>Receiver </a:t>
            </a:r>
            <a:r>
              <a:rPr lang="en-US" sz="2400" dirty="0"/>
              <a:t>enable, If REN=1, receiver will receive the data or else not.</a:t>
            </a:r>
          </a:p>
          <a:p>
            <a:pPr fontAlgn="base"/>
            <a:r>
              <a:rPr lang="en-US" sz="2400" b="1" dirty="0"/>
              <a:t>TB</a:t>
            </a:r>
            <a:r>
              <a:rPr lang="en-US" sz="2400" b="1" baseline="-25000" dirty="0"/>
              <a:t>8</a:t>
            </a:r>
            <a:r>
              <a:rPr lang="en-US" sz="2400" b="1" dirty="0" smtClean="0"/>
              <a:t>: </a:t>
            </a:r>
            <a:r>
              <a:rPr lang="en-US" sz="2400" dirty="0" smtClean="0"/>
              <a:t>This </a:t>
            </a:r>
            <a:r>
              <a:rPr lang="en-US" sz="2400" dirty="0"/>
              <a:t>is the 9th bit to be transmitted.</a:t>
            </a:r>
          </a:p>
          <a:p>
            <a:pPr fontAlgn="base"/>
            <a:r>
              <a:rPr lang="en-US" sz="2400" b="1" dirty="0"/>
              <a:t>RB</a:t>
            </a:r>
            <a:r>
              <a:rPr lang="en-US" sz="2400" b="1" baseline="-25000" dirty="0"/>
              <a:t>8</a:t>
            </a:r>
            <a:r>
              <a:rPr lang="en-US" sz="2400" b="1" dirty="0" smtClean="0"/>
              <a:t>: </a:t>
            </a:r>
            <a:r>
              <a:rPr lang="en-US" sz="2400" dirty="0" smtClean="0"/>
              <a:t>This </a:t>
            </a:r>
            <a:r>
              <a:rPr lang="en-US" sz="2400" dirty="0"/>
              <a:t>is the 9th bit to be received.</a:t>
            </a:r>
          </a:p>
          <a:p>
            <a:pPr fontAlgn="base"/>
            <a:r>
              <a:rPr lang="en-US" sz="2400" b="1" dirty="0"/>
              <a:t>T</a:t>
            </a:r>
            <a:r>
              <a:rPr lang="en-US" sz="2400" b="1" baseline="-25000" dirty="0"/>
              <a:t>i</a:t>
            </a:r>
            <a:r>
              <a:rPr lang="en-US" sz="2400" b="1" dirty="0"/>
              <a:t> </a:t>
            </a:r>
            <a:r>
              <a:rPr lang="en-US" sz="2400" b="1" dirty="0" smtClean="0"/>
              <a:t>: </a:t>
            </a:r>
            <a:r>
              <a:rPr lang="en-US" sz="2400" dirty="0" smtClean="0"/>
              <a:t>When </a:t>
            </a:r>
            <a:r>
              <a:rPr lang="en-US" sz="2400" dirty="0"/>
              <a:t>8-bits are received in SBUF , then </a:t>
            </a:r>
            <a:r>
              <a:rPr lang="en-US" sz="2400" dirty="0" err="1"/>
              <a:t>R</a:t>
            </a:r>
            <a:r>
              <a:rPr lang="en-US" sz="2400" baseline="-25000" dirty="0" err="1"/>
              <a:t>i</a:t>
            </a:r>
            <a:r>
              <a:rPr lang="en-US" sz="2400" dirty="0"/>
              <a:t> = 1, that would send an interrupt to the processor. </a:t>
            </a:r>
          </a:p>
          <a:p>
            <a:pPr fontAlgn="base"/>
            <a:r>
              <a:rPr lang="en-US" sz="2400" b="1" dirty="0" err="1"/>
              <a:t>R</a:t>
            </a:r>
            <a:r>
              <a:rPr lang="en-US" sz="2400" b="1" baseline="-25000" dirty="0" err="1"/>
              <a:t>i</a:t>
            </a:r>
            <a:r>
              <a:rPr lang="en-US" sz="2400" b="1" dirty="0"/>
              <a:t> </a:t>
            </a:r>
            <a:r>
              <a:rPr lang="en-US" sz="2400" b="1" dirty="0" smtClean="0"/>
              <a:t>: </a:t>
            </a:r>
            <a:r>
              <a:rPr lang="en-US" sz="2400" dirty="0" smtClean="0"/>
              <a:t>When </a:t>
            </a:r>
            <a:r>
              <a:rPr lang="en-US" sz="2400" dirty="0"/>
              <a:t>8-bits are sent from </a:t>
            </a:r>
            <a:r>
              <a:rPr lang="en-US" sz="2400" dirty="0" err="1"/>
              <a:t>SBUF,and</a:t>
            </a:r>
            <a:r>
              <a:rPr lang="en-US" sz="2400" dirty="0"/>
              <a:t> SBUF is empty , then </a:t>
            </a:r>
            <a:r>
              <a:rPr lang="en-US" sz="2400" dirty="0" err="1"/>
              <a:t>R</a:t>
            </a:r>
            <a:r>
              <a:rPr lang="en-US" sz="2400" baseline="-25000" dirty="0" err="1"/>
              <a:t>i</a:t>
            </a:r>
            <a:r>
              <a:rPr lang="en-US" sz="2400" dirty="0"/>
              <a:t> = 1, that would send an interrupt to the processor. Before </a:t>
            </a:r>
            <a:r>
              <a:rPr lang="en-US" sz="2400" dirty="0" err="1"/>
              <a:t>R</a:t>
            </a:r>
            <a:r>
              <a:rPr lang="en-US" sz="2400" baseline="-25000" dirty="0" err="1"/>
              <a:t>i</a:t>
            </a:r>
            <a:r>
              <a:rPr lang="en-US" sz="2400" dirty="0"/>
              <a:t>=1, it checks for error based on SM</a:t>
            </a:r>
            <a:r>
              <a:rPr lang="en-US" sz="2400" baseline="-25000" dirty="0"/>
              <a:t>2</a:t>
            </a:r>
            <a:r>
              <a:rPr lang="en-US" sz="2400" dirty="0"/>
              <a:t>.</a:t>
            </a:r>
          </a:p>
          <a:p>
            <a:pPr marL="114300" indent="0" fontAlgn="base">
              <a:buNone/>
            </a:pPr>
            <a:endParaRPr lang="en-US" sz="2400" dirty="0" smtClean="0"/>
          </a:p>
          <a:p>
            <a:pPr marL="114300" indent="0" fontAlgn="base">
              <a:buNone/>
            </a:pPr>
            <a:endParaRPr lang="en-US" sz="2400" b="1" dirty="0" smtClean="0"/>
          </a:p>
          <a:p>
            <a:pPr marL="114300" indent="0" fontAlgn="base">
              <a:buNone/>
            </a:pPr>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79</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62" y="1223963"/>
            <a:ext cx="7077075"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95743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16189</TotalTime>
  <Words>5933</Words>
  <Application>Microsoft Office PowerPoint</Application>
  <PresentationFormat>On-screen Show (4:3)</PresentationFormat>
  <Paragraphs>981</Paragraphs>
  <Slides>79</Slides>
  <Notes>1</Notes>
  <HiddenSlides>0</HiddenSlides>
  <MMClips>0</MMClips>
  <ScaleCrop>false</ScaleCrop>
  <HeadingPairs>
    <vt:vector size="4" baseType="variant">
      <vt:variant>
        <vt:lpstr>Theme</vt:lpstr>
      </vt:variant>
      <vt:variant>
        <vt:i4>1</vt:i4>
      </vt:variant>
      <vt:variant>
        <vt:lpstr>Slide Titles</vt:lpstr>
      </vt:variant>
      <vt:variant>
        <vt:i4>79</vt:i4>
      </vt:variant>
    </vt:vector>
  </HeadingPairs>
  <TitlesOfParts>
    <vt:vector size="80" baseType="lpstr">
      <vt:lpstr>Office Theme</vt:lpstr>
      <vt:lpstr>PowerPoint Presentation</vt:lpstr>
      <vt:lpstr>Microcontrollers</vt:lpstr>
      <vt:lpstr>Difference between Microprocessor and Microcontroller</vt:lpstr>
      <vt:lpstr>Types of Microcontrollers</vt:lpstr>
      <vt:lpstr>Types of Microcontrollers</vt:lpstr>
      <vt:lpstr>Types of Microcontrollers</vt:lpstr>
      <vt:lpstr>Applications of Microcontrollers</vt:lpstr>
      <vt:lpstr>Microcontrollers - 8051 Architecture</vt:lpstr>
      <vt:lpstr>Microcontrollers - 8051 Architecture</vt:lpstr>
      <vt:lpstr>Microcontrollers - 8051 Pin Description</vt:lpstr>
      <vt:lpstr>Microcontrollers - 8051 Pin Description</vt:lpstr>
      <vt:lpstr>Microcontrollers - 8051 Pin Description</vt:lpstr>
      <vt:lpstr>Microcontrollers 8051 Input Output Ports</vt:lpstr>
      <vt:lpstr>Microcontrollers 8051 Input Output Ports</vt:lpstr>
      <vt:lpstr>Microcontrollers 8051 Input Output Ports</vt:lpstr>
      <vt:lpstr>Pins Current Limitations</vt:lpstr>
      <vt:lpstr>Microcontrollers - 8051 Interrupts</vt:lpstr>
      <vt:lpstr>Microcontrollers - 8051 Interrupts</vt:lpstr>
      <vt:lpstr>Microcontrollers - 8051 Interrupts</vt:lpstr>
      <vt:lpstr>Microcontrollers - 8051 Interrupts</vt:lpstr>
      <vt:lpstr>8255A - Programmable Peripheral Interface</vt:lpstr>
      <vt:lpstr>8255A - Programmable Peripheral Interface</vt:lpstr>
      <vt:lpstr>8255A - Programmable Peripheral Interface</vt:lpstr>
      <vt:lpstr>8255A - Programmable Peripheral Interface</vt:lpstr>
      <vt:lpstr>Intel 8255A - Pin Description</vt:lpstr>
      <vt:lpstr>Intel 8255A - Pin Description</vt:lpstr>
      <vt:lpstr>Intel 8255A - Pin Description</vt:lpstr>
      <vt:lpstr>Intel 8253 - Programmable Interval Timer</vt:lpstr>
      <vt:lpstr>Intel 8253 - Programmable Interval Timer</vt:lpstr>
      <vt:lpstr>8254 Pin Description</vt:lpstr>
      <vt:lpstr>8254 Pin Description</vt:lpstr>
      <vt:lpstr>8254 Pin Description</vt:lpstr>
      <vt:lpstr>8254 Pin Description</vt:lpstr>
      <vt:lpstr>8254 Pin Description</vt:lpstr>
      <vt:lpstr>8254 Pin Description</vt:lpstr>
      <vt:lpstr>Intel 8253/54 - Operational Modes</vt:lpstr>
      <vt:lpstr>Intel 8253/54 - Operational Modes</vt:lpstr>
      <vt:lpstr>Intel 8253/54 - Operational Modes</vt:lpstr>
      <vt:lpstr>PSW (Program Status Word) Register in 8051 Microcontroller</vt:lpstr>
      <vt:lpstr>PSW (Program Status Word) Register in 8051 Microcontroller</vt:lpstr>
      <vt:lpstr>PSW (Program Status Word) Register in 8051 Microcontroller</vt:lpstr>
      <vt:lpstr>PSW (Program Status Word) Register in 8051 Microcontroller</vt:lpstr>
      <vt:lpstr>PSW (Program Status Word) Register in 8051 Microcontroller</vt:lpstr>
      <vt:lpstr>PSW (Program Status Word) Register in 8051 Microcontroller</vt:lpstr>
      <vt:lpstr>Addressing Modes of 8051</vt:lpstr>
      <vt:lpstr>Addressing Modes of 8051</vt:lpstr>
      <vt:lpstr>Addressing Modes of 8051</vt:lpstr>
      <vt:lpstr>Addressing Modes of 8051</vt:lpstr>
      <vt:lpstr>Addressing Modes of 8051</vt:lpstr>
      <vt:lpstr>Addressing Modes of 8051</vt:lpstr>
      <vt:lpstr>Addressing Modes of 8051</vt:lpstr>
      <vt:lpstr>Addressing Modes of 8051</vt:lpstr>
      <vt:lpstr>Addressing Modes of 8051</vt:lpstr>
      <vt:lpstr>Instruction Set of 8051</vt:lpstr>
      <vt:lpstr>Instruction Set of 8051</vt:lpstr>
      <vt:lpstr>Instruction Set of 8051</vt:lpstr>
      <vt:lpstr>Instruction Set of 8051</vt:lpstr>
      <vt:lpstr>Instruction Set of 8051</vt:lpstr>
      <vt:lpstr>Instruction Set of 8051</vt:lpstr>
      <vt:lpstr>Instruction Set of 8051</vt:lpstr>
      <vt:lpstr>Instruction Set of 8051</vt:lpstr>
      <vt:lpstr>Serial Port in 8051</vt:lpstr>
      <vt:lpstr>Serial Port in 8051</vt:lpstr>
      <vt:lpstr>Serial Port in 8051</vt:lpstr>
      <vt:lpstr>Serial Port in 8051</vt:lpstr>
      <vt:lpstr>Serial Port in 8051</vt:lpstr>
      <vt:lpstr>Serial Port in 8051</vt:lpstr>
      <vt:lpstr>Serial Port in 8051</vt:lpstr>
      <vt:lpstr>Serial Port in 8051</vt:lpstr>
      <vt:lpstr>Serial Port in 8051</vt:lpstr>
      <vt:lpstr>Modes in serial communication:</vt:lpstr>
      <vt:lpstr>Modes in serial communication:</vt:lpstr>
      <vt:lpstr>Modes in serial communication:</vt:lpstr>
      <vt:lpstr>Modes in serial communication:</vt:lpstr>
      <vt:lpstr>Modes in serial communication:</vt:lpstr>
      <vt:lpstr>Modes in serial communication:</vt:lpstr>
      <vt:lpstr>Modes in serial communication:</vt:lpstr>
      <vt:lpstr>Modes in serial communication:</vt:lpstr>
      <vt:lpstr>Modes in serial communication: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Manu</cp:lastModifiedBy>
  <cp:revision>128</cp:revision>
  <dcterms:created xsi:type="dcterms:W3CDTF">2010-04-09T07:36:15Z</dcterms:created>
  <dcterms:modified xsi:type="dcterms:W3CDTF">2024-07-17T09:12:27Z</dcterms:modified>
</cp:coreProperties>
</file>