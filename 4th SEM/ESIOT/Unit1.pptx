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3"/>
  </p:notesMasterIdLst>
  <p:sldIdLst>
    <p:sldId id="256" r:id="rId2"/>
    <p:sldId id="344" r:id="rId3"/>
    <p:sldId id="346" r:id="rId4"/>
    <p:sldId id="347" r:id="rId5"/>
    <p:sldId id="348" r:id="rId6"/>
    <p:sldId id="349" r:id="rId7"/>
    <p:sldId id="350" r:id="rId8"/>
    <p:sldId id="351" r:id="rId9"/>
    <p:sldId id="352" r:id="rId10"/>
    <p:sldId id="354" r:id="rId11"/>
    <p:sldId id="355" r:id="rId12"/>
    <p:sldId id="353" r:id="rId13"/>
    <p:sldId id="356" r:id="rId14"/>
    <p:sldId id="357" r:id="rId15"/>
    <p:sldId id="414" r:id="rId16"/>
    <p:sldId id="415" r:id="rId17"/>
    <p:sldId id="416" r:id="rId18"/>
    <p:sldId id="417" r:id="rId19"/>
    <p:sldId id="418" r:id="rId20"/>
    <p:sldId id="419" r:id="rId21"/>
    <p:sldId id="420" r:id="rId22"/>
    <p:sldId id="421" r:id="rId23"/>
    <p:sldId id="422" r:id="rId24"/>
    <p:sldId id="423" r:id="rId25"/>
    <p:sldId id="424" r:id="rId26"/>
    <p:sldId id="425" r:id="rId27"/>
    <p:sldId id="426" r:id="rId28"/>
    <p:sldId id="427" r:id="rId29"/>
    <p:sldId id="428" r:id="rId30"/>
    <p:sldId id="429" r:id="rId31"/>
    <p:sldId id="430" r:id="rId32"/>
    <p:sldId id="431" r:id="rId33"/>
    <p:sldId id="432" r:id="rId34"/>
    <p:sldId id="433" r:id="rId35"/>
    <p:sldId id="434" r:id="rId36"/>
    <p:sldId id="435" r:id="rId37"/>
    <p:sldId id="851" r:id="rId38"/>
    <p:sldId id="852" r:id="rId39"/>
    <p:sldId id="436" r:id="rId40"/>
    <p:sldId id="437" r:id="rId41"/>
    <p:sldId id="438" r:id="rId42"/>
    <p:sldId id="439" r:id="rId43"/>
    <p:sldId id="440" r:id="rId44"/>
    <p:sldId id="441" r:id="rId45"/>
    <p:sldId id="442" r:id="rId46"/>
    <p:sldId id="443" r:id="rId47"/>
    <p:sldId id="444" r:id="rId48"/>
    <p:sldId id="445" r:id="rId49"/>
    <p:sldId id="446" r:id="rId50"/>
    <p:sldId id="447" r:id="rId51"/>
    <p:sldId id="448" r:id="rId52"/>
    <p:sldId id="449" r:id="rId53"/>
    <p:sldId id="450" r:id="rId54"/>
    <p:sldId id="451" r:id="rId55"/>
    <p:sldId id="452" r:id="rId56"/>
    <p:sldId id="453" r:id="rId57"/>
    <p:sldId id="454" r:id="rId58"/>
    <p:sldId id="455" r:id="rId59"/>
    <p:sldId id="456" r:id="rId60"/>
    <p:sldId id="457" r:id="rId61"/>
    <p:sldId id="458" r:id="rId62"/>
    <p:sldId id="459" r:id="rId63"/>
    <p:sldId id="460" r:id="rId64"/>
    <p:sldId id="461" r:id="rId65"/>
    <p:sldId id="807" r:id="rId66"/>
    <p:sldId id="848" r:id="rId67"/>
    <p:sldId id="826" r:id="rId68"/>
    <p:sldId id="827" r:id="rId69"/>
    <p:sldId id="829" r:id="rId70"/>
    <p:sldId id="828" r:id="rId71"/>
    <p:sldId id="830" r:id="rId72"/>
    <p:sldId id="831" r:id="rId73"/>
    <p:sldId id="832" r:id="rId74"/>
    <p:sldId id="833" r:id="rId75"/>
    <p:sldId id="834" r:id="rId76"/>
    <p:sldId id="845" r:id="rId77"/>
    <p:sldId id="835" r:id="rId78"/>
    <p:sldId id="836" r:id="rId79"/>
    <p:sldId id="846" r:id="rId80"/>
    <p:sldId id="837" r:id="rId81"/>
    <p:sldId id="838" r:id="rId82"/>
    <p:sldId id="847" r:id="rId83"/>
    <p:sldId id="839" r:id="rId84"/>
    <p:sldId id="850" r:id="rId85"/>
    <p:sldId id="840" r:id="rId86"/>
    <p:sldId id="841" r:id="rId87"/>
    <p:sldId id="842" r:id="rId88"/>
    <p:sldId id="843" r:id="rId89"/>
    <p:sldId id="844" r:id="rId90"/>
    <p:sldId id="849" r:id="rId91"/>
    <p:sldId id="294" r:id="rId9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5" roundtripDataSignature="AMtx7mhM6yxCcS7ctRrPdTZuYYrdZAEn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39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2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125"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400317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8" name="Google Shape;3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4329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4809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4522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5570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165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70044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9471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0800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4826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5921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5972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8659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17714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40136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98036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26098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92486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47264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92693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37407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88298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66237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3955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2850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41752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03930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3249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9791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21253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63507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71590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02736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21656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99328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66225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34151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51915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57334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90593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45253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28587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7398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30358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27456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 name="Google Shape;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9215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8"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8"/>
          <p:cNvGrpSpPr/>
          <p:nvPr/>
        </p:nvGrpSpPr>
        <p:grpSpPr>
          <a:xfrm>
            <a:off x="6146800" y="0"/>
            <a:ext cx="2997200" cy="876300"/>
            <a:chOff x="6096000" y="3924300"/>
            <a:chExt cx="2997200" cy="876300"/>
          </a:xfrm>
        </p:grpSpPr>
        <p:sp>
          <p:nvSpPr>
            <p:cNvPr id="27" name="Google Shape;27;p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8"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8"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3211606" y="6356349"/>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0CDBE53D-3CE6-409E-9293-712455EB5B4F}" type="datetimeFigureOut">
              <a:rPr lang="en-US"/>
              <a:pPr>
                <a:defRPr/>
              </a:pPr>
              <a:t>24-Jun-24</a:t>
            </a:fld>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p:txBody>
          <a:bodyPr/>
          <a:lstStyle>
            <a:lvl1pPr>
              <a:defRPr/>
            </a:lvl1pPr>
          </a:lstStyle>
          <a:p>
            <a:fld id="{C8D4858B-A23F-404F-9446-EF39D924105B}" type="slidenum">
              <a:rPr lang="en-US" altLang="en-US"/>
              <a:pPr/>
              <a:t>‹#›</a:t>
            </a:fld>
            <a:endParaRPr lang="en-US" altLang="en-US"/>
          </a:p>
        </p:txBody>
      </p:sp>
    </p:spTree>
    <p:extLst>
      <p:ext uri="{BB962C8B-B14F-4D97-AF65-F5344CB8AC3E}">
        <p14:creationId xmlns:p14="http://schemas.microsoft.com/office/powerpoint/2010/main" val="3767972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800" cy="487363"/>
          </a:xfrm>
        </p:spPr>
        <p:txBody>
          <a:bodyPr/>
          <a:lstStyle/>
          <a:p>
            <a:r>
              <a:rPr lang="en-US"/>
              <a:t>Click to edit Master title style</a:t>
            </a:r>
          </a:p>
        </p:txBody>
      </p:sp>
      <p:sp>
        <p:nvSpPr>
          <p:cNvPr id="3" name="Text Placeholder 2"/>
          <p:cNvSpPr>
            <a:spLocks noGrp="1"/>
          </p:cNvSpPr>
          <p:nvPr>
            <p:ph type="body" sz="half" idx="1"/>
          </p:nvPr>
        </p:nvSpPr>
        <p:spPr>
          <a:xfrm>
            <a:off x="304800" y="990600"/>
            <a:ext cx="4191000" cy="5135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90600"/>
            <a:ext cx="4191000" cy="5135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 presentation of eSyst.org</a:t>
            </a:r>
          </a:p>
        </p:txBody>
      </p:sp>
      <p:sp>
        <p:nvSpPr>
          <p:cNvPr id="6" name="Rectangle 6"/>
          <p:cNvSpPr>
            <a:spLocks noGrp="1" noChangeArrowheads="1"/>
          </p:cNvSpPr>
          <p:nvPr>
            <p:ph type="sldNum" sz="quarter" idx="11"/>
          </p:nvPr>
        </p:nvSpPr>
        <p:spPr>
          <a:ln/>
        </p:spPr>
        <p:txBody>
          <a:bodyPr/>
          <a:lstStyle>
            <a:lvl1pPr>
              <a:defRPr/>
            </a:lvl1pPr>
          </a:lstStyle>
          <a:p>
            <a:fld id="{2749D493-8DDA-4B99-B7CC-61042BCC6AA7}" type="slidenum">
              <a:rPr lang="en-US" altLang="en-US"/>
              <a:pPr/>
              <a:t>‹#›</a:t>
            </a:fld>
            <a:endParaRPr lang="en-US" altLang="en-US"/>
          </a:p>
        </p:txBody>
      </p:sp>
    </p:spTree>
    <p:extLst>
      <p:ext uri="{BB962C8B-B14F-4D97-AF65-F5344CB8AC3E}">
        <p14:creationId xmlns:p14="http://schemas.microsoft.com/office/powerpoint/2010/main" val="29142218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7"/>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7"/>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7"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pic>
        <p:nvPicPr>
          <p:cNvPr id="18" name="Google Shape;18;p7"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grpSp>
        <p:nvGrpSpPr>
          <p:cNvPr id="19" name="Google Shape;19;p7"/>
          <p:cNvGrpSpPr/>
          <p:nvPr/>
        </p:nvGrpSpPr>
        <p:grpSpPr>
          <a:xfrm>
            <a:off x="6146800" y="0"/>
            <a:ext cx="2997200" cy="876300"/>
            <a:chOff x="6096000" y="3924300"/>
            <a:chExt cx="2997200" cy="876300"/>
          </a:xfrm>
        </p:grpSpPr>
        <p:sp>
          <p:nvSpPr>
            <p:cNvPr id="20" name="Google Shape;20;p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7" descr="LOGO.gif"/>
            <p:cNvPicPr preferRelativeResize="0"/>
            <p:nvPr/>
          </p:nvPicPr>
          <p:blipFill rotWithShape="1">
            <a:blip r:embed="rId5">
              <a:alphaModFix/>
            </a:blip>
            <a:srcRect b="10713"/>
            <a:stretch/>
          </p:blipFill>
          <p:spPr>
            <a:xfrm>
              <a:off x="6502400" y="4152900"/>
              <a:ext cx="2057400" cy="635000"/>
            </a:xfrm>
            <a:prstGeom prst="rect">
              <a:avLst/>
            </a:prstGeom>
            <a:noFill/>
            <a:ln>
              <a:noFill/>
            </a:ln>
          </p:spPr>
        </p:pic>
        <p:sp>
          <p:nvSpPr>
            <p:cNvPr id="22" name="Google Shape;22;p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3" name="Google Shape;23;p7" descr="logo.jpg"/>
          <p:cNvPicPr preferRelativeResize="0"/>
          <p:nvPr/>
        </p:nvPicPr>
        <p:blipFill rotWithShape="1">
          <a:blip r:embed="rId6">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1.e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8.png"/><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7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1</a:t>
            </a:fld>
            <a:endParaRPr>
              <a:latin typeface="Times New Roman"/>
              <a:ea typeface="Times New Roman"/>
              <a:cs typeface="Times New Roman"/>
              <a:sym typeface="Times New Roman"/>
            </a:endParaRPr>
          </a:p>
        </p:txBody>
      </p:sp>
      <p:pic>
        <p:nvPicPr>
          <p:cNvPr id="41" name="Google Shape;41;p10"/>
          <p:cNvPicPr preferRelativeResize="0"/>
          <p:nvPr/>
        </p:nvPicPr>
        <p:blipFill rotWithShape="1">
          <a:blip r:embed="rId3">
            <a:alphaModFix/>
          </a:blip>
          <a:srcRect/>
          <a:stretch/>
        </p:blipFill>
        <p:spPr>
          <a:xfrm>
            <a:off x="521110" y="173569"/>
            <a:ext cx="1720645" cy="723209"/>
          </a:xfrm>
          <a:prstGeom prst="rect">
            <a:avLst/>
          </a:prstGeom>
          <a:noFill/>
          <a:ln>
            <a:noFill/>
          </a:ln>
        </p:spPr>
      </p:pic>
      <p:sp>
        <p:nvSpPr>
          <p:cNvPr id="42" name="Google Shape;42;p10"/>
          <p:cNvSpPr txBox="1"/>
          <p:nvPr/>
        </p:nvSpPr>
        <p:spPr>
          <a:xfrm>
            <a:off x="-147711" y="2897944"/>
            <a:ext cx="9144000" cy="3786485"/>
          </a:xfrm>
          <a:prstGeom prst="rect">
            <a:avLst/>
          </a:prstGeom>
          <a:noFill/>
          <a:ln>
            <a:noFill/>
          </a:ln>
        </p:spPr>
        <p:txBody>
          <a:bodyPr spcFirstLastPara="1" wrap="square" lIns="91425" tIns="331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lang="en-US" sz="2800" b="1" i="0" u="none" strike="noStrike" cap="none" dirty="0">
              <a:solidFill>
                <a:srgbClr val="002060"/>
              </a:solidFill>
              <a:latin typeface="Times New Roman"/>
              <a:ea typeface="Times New Roman"/>
              <a:cs typeface="Times New Roman"/>
              <a:sym typeface="Times New Roman"/>
            </a:endParaRPr>
          </a:p>
          <a:p>
            <a:pPr lvl="0" algn="ctr">
              <a:buSzPts val="3200"/>
            </a:pPr>
            <a:r>
              <a:rPr lang="en-US" sz="2800" b="1" dirty="0">
                <a:solidFill>
                  <a:srgbClr val="002060"/>
                </a:solidFill>
                <a:latin typeface="Times New Roman"/>
                <a:ea typeface="Times New Roman"/>
                <a:cs typeface="Times New Roman"/>
                <a:sym typeface="Times New Roman"/>
              </a:rPr>
              <a:t>Embedded System and Internet of Things </a:t>
            </a:r>
            <a:r>
              <a:rPr lang="en-US" sz="2800" b="1" i="0" u="none" strike="noStrike" cap="none" dirty="0">
                <a:solidFill>
                  <a:srgbClr val="002060"/>
                </a:solidFill>
                <a:latin typeface="Times New Roman"/>
                <a:ea typeface="Times New Roman"/>
                <a:cs typeface="Times New Roman"/>
                <a:sym typeface="Times New Roman"/>
              </a:rPr>
              <a:t>(ESIOT)</a:t>
            </a:r>
            <a:endParaRPr sz="2800" b="1" i="0" u="none" strike="noStrike" cap="none" dirty="0">
              <a:solidFill>
                <a:srgbClr val="00206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lang="en-US" sz="2800" b="1" i="0" u="none" strike="noStrike" cap="none" dirty="0">
              <a:solidFill>
                <a:srgbClr val="FF0000"/>
              </a:solidFill>
              <a:latin typeface="Times New Roman"/>
              <a:ea typeface="Times New Roman"/>
              <a:cs typeface="Times New Roman"/>
              <a:sym typeface="Times New Roman"/>
            </a:endParaRPr>
          </a:p>
          <a:p>
            <a:pPr lvl="0" algn="ctr">
              <a:buSzPts val="3200"/>
            </a:pPr>
            <a:r>
              <a:rPr lang="en-US" sz="2800" b="1" dirty="0">
                <a:solidFill>
                  <a:srgbClr val="FF0000"/>
                </a:solidFill>
                <a:latin typeface="Times New Roman"/>
                <a:ea typeface="Times New Roman"/>
                <a:cs typeface="Times New Roman"/>
                <a:sym typeface="Times New Roman"/>
              </a:rPr>
              <a:t>Introduction to Embedded Systems </a:t>
            </a:r>
            <a:r>
              <a:rPr lang="en-US" sz="2400" b="1" i="1" u="none" strike="noStrike" cap="none" dirty="0">
                <a:solidFill>
                  <a:srgbClr val="FF0000"/>
                </a:solidFill>
                <a:latin typeface="Times New Roman"/>
                <a:ea typeface="Times New Roman"/>
                <a:cs typeface="Times New Roman"/>
                <a:sym typeface="Times New Roman"/>
              </a:rPr>
              <a:t>(Unit-1): </a:t>
            </a:r>
          </a:p>
          <a:p>
            <a:pPr lvl="0" algn="ctr">
              <a:buSzPts val="3200"/>
            </a:pPr>
            <a:endParaRPr lang="en-US" sz="1800" dirty="0">
              <a:solidFill>
                <a:srgbClr val="366092"/>
              </a:solidFill>
              <a:latin typeface="Times New Roman"/>
              <a:cs typeface="Times New Roman"/>
              <a:sym typeface="Times New Roman"/>
            </a:endParaRPr>
          </a:p>
          <a:p>
            <a:pPr lvl="0" algn="ctr"/>
            <a:endParaRPr lang="en-US" sz="1800" b="1" dirty="0">
              <a:solidFill>
                <a:srgbClr val="366092"/>
              </a:solidFill>
              <a:latin typeface="Times New Roman"/>
              <a:ea typeface="Times New Roman"/>
              <a:cs typeface="Times New Roman"/>
              <a:sym typeface="Times New Roman"/>
            </a:endParaRPr>
          </a:p>
          <a:p>
            <a:pPr lvl="0" algn="ctr"/>
            <a:endParaRPr lang="en-US" sz="1800" b="1" i="0" u="none" strike="noStrike" cap="none" dirty="0">
              <a:solidFill>
                <a:srgbClr val="366092"/>
              </a:solidFill>
              <a:latin typeface="Times New Roman"/>
              <a:ea typeface="Times New Roman"/>
              <a:cs typeface="Times New Roman"/>
              <a:sym typeface="Times New Roman"/>
            </a:endParaRPr>
          </a:p>
          <a:p>
            <a:pPr lvl="0" algn="ctr"/>
            <a:endParaRPr sz="24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FF0000"/>
                </a:solidFill>
                <a:latin typeface="Times New Roman"/>
                <a:ea typeface="Times New Roman"/>
                <a:cs typeface="Times New Roman"/>
                <a:sym typeface="Times New Roman"/>
              </a:rPr>
              <a:t>B.E.-CSE 3</a:t>
            </a:r>
            <a:r>
              <a:rPr lang="en-US" sz="2400" b="1" i="0" u="none" strike="noStrike" cap="none" baseline="30000" dirty="0">
                <a:solidFill>
                  <a:srgbClr val="FF0000"/>
                </a:solidFill>
                <a:latin typeface="Times New Roman"/>
                <a:ea typeface="Times New Roman"/>
                <a:cs typeface="Times New Roman"/>
                <a:sym typeface="Times New Roman"/>
              </a:rPr>
              <a:t>rd</a:t>
            </a:r>
            <a:r>
              <a:rPr lang="en-US" sz="2400" b="1" i="0" u="none" strike="noStrike" cap="none" dirty="0">
                <a:solidFill>
                  <a:srgbClr val="FF0000"/>
                </a:solidFill>
                <a:latin typeface="Times New Roman"/>
                <a:ea typeface="Times New Roman"/>
                <a:cs typeface="Times New Roman"/>
                <a:sym typeface="Times New Roman"/>
              </a:rPr>
              <a:t> Sem.</a:t>
            </a:r>
            <a:endParaRPr dirty="0"/>
          </a:p>
          <a:p>
            <a:pPr marL="0" marR="0" lvl="0" indent="0" algn="ctr" rtl="0">
              <a:lnSpc>
                <a:spcPct val="100000"/>
              </a:lnSpc>
              <a:spcBef>
                <a:spcPts val="0"/>
              </a:spcBef>
              <a:spcAft>
                <a:spcPts val="0"/>
              </a:spcAft>
              <a:buClr>
                <a:srgbClr val="000000"/>
              </a:buClr>
              <a:buSzPts val="2400"/>
              <a:buFont typeface="Arial"/>
              <a:buNone/>
            </a:pPr>
            <a:endParaRPr sz="24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Times New Roman"/>
                <a:ea typeface="Times New Roman"/>
                <a:cs typeface="Times New Roman"/>
                <a:sym typeface="Times New Roman"/>
              </a:rPr>
              <a:t>Department of Interdisciplinary Courses in Engineering (DICE)</a:t>
            </a:r>
            <a:endParaRPr dirty="0"/>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4000"/>
              <a:buFont typeface="Arial"/>
              <a:buNone/>
            </a:pPr>
            <a:endParaRPr sz="40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4000"/>
              <a:buFont typeface="Arial"/>
              <a:buNone/>
            </a:pPr>
            <a:endParaRPr sz="40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Embedded system</a:t>
            </a:r>
          </a:p>
        </p:txBody>
      </p:sp>
      <p:sp>
        <p:nvSpPr>
          <p:cNvPr id="3" name="Text Placeholder 2"/>
          <p:cNvSpPr>
            <a:spLocks noGrp="1"/>
          </p:cNvSpPr>
          <p:nvPr>
            <p:ph type="body" idx="1"/>
          </p:nvPr>
        </p:nvSpPr>
        <p:spPr>
          <a:xfrm>
            <a:off x="71120" y="975360"/>
            <a:ext cx="4876800" cy="5110480"/>
          </a:xfrm>
        </p:spPr>
        <p:txBody>
          <a:bodyPr/>
          <a:lstStyle/>
          <a:p>
            <a:pPr marL="114300" indent="0" algn="just">
              <a:buNone/>
            </a:pPr>
            <a:r>
              <a:rPr lang="en-US" sz="2000" dirty="0"/>
              <a:t>Embedded systems are a combination of hardware and software where software is usually known as firmware that is embedded into the hardware. One of its most important characteristics of these systems is, it gives the o/p within the time limits. Embedded systems support to make the work more perfect and convenient. So, we frequently use embedded systems in simple and complex devices too. </a:t>
            </a:r>
          </a:p>
          <a:p>
            <a:pPr marL="114300" indent="0" algn="just">
              <a:buNone/>
            </a:pPr>
            <a:r>
              <a:rPr lang="en-US" sz="2000" dirty="0"/>
              <a:t>The applications of embedded systems mainly involve in our real life for several devices like microwave, calculators, TV remote control, home security and neighborhood traffic control systems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a:p>
        </p:txBody>
      </p:sp>
      <p:pic>
        <p:nvPicPr>
          <p:cNvPr id="5" name="Picture 4"/>
          <p:cNvPicPr>
            <a:picLocks noChangeAspect="1"/>
          </p:cNvPicPr>
          <p:nvPr/>
        </p:nvPicPr>
        <p:blipFill>
          <a:blip r:embed="rId2"/>
          <a:stretch>
            <a:fillRect/>
          </a:stretch>
        </p:blipFill>
        <p:spPr>
          <a:xfrm>
            <a:off x="5093236" y="1750615"/>
            <a:ext cx="3854648" cy="3092609"/>
          </a:xfrm>
          <a:prstGeom prst="rect">
            <a:avLst/>
          </a:prstGeom>
        </p:spPr>
      </p:pic>
    </p:spTree>
    <p:extLst>
      <p:ext uri="{BB962C8B-B14F-4D97-AF65-F5344CB8AC3E}">
        <p14:creationId xmlns:p14="http://schemas.microsoft.com/office/powerpoint/2010/main" val="785138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Embedded Processor?</a:t>
            </a:r>
          </a:p>
        </p:txBody>
      </p:sp>
      <p:sp>
        <p:nvSpPr>
          <p:cNvPr id="3" name="Text Placeholder 2"/>
          <p:cNvSpPr>
            <a:spLocks noGrp="1"/>
          </p:cNvSpPr>
          <p:nvPr>
            <p:ph type="body" idx="1"/>
          </p:nvPr>
        </p:nvSpPr>
        <p:spPr>
          <a:xfrm>
            <a:off x="71120" y="975360"/>
            <a:ext cx="8757920" cy="5110480"/>
          </a:xfrm>
        </p:spPr>
        <p:txBody>
          <a:bodyPr/>
          <a:lstStyle/>
          <a:p>
            <a:r>
              <a:rPr lang="en-US" sz="2000" dirty="0"/>
              <a:t>An embedded processor is a microprocessor that is used in an embedded system. An embedded system is a computer system that is designed to perform a specific task within a larger system. It is a self-contained system that is embedded within a larger device or system and is used to control the operation of the device. </a:t>
            </a:r>
          </a:p>
          <a:p>
            <a:pPr>
              <a:buFont typeface="Arial" panose="020B0604020202020204" pitchFamily="34" charset="0"/>
              <a:buChar char="•"/>
            </a:pPr>
            <a:r>
              <a:rPr lang="en-US" sz="2000" dirty="0"/>
              <a:t>Embedded processors are typically found in devices that require real-time processing capabilities, such as industrial control systems, automotive systems, and consumer electronics.</a:t>
            </a:r>
          </a:p>
          <a:p>
            <a:pPr>
              <a:buFont typeface="Arial" panose="020B0604020202020204" pitchFamily="34" charset="0"/>
              <a:buChar char="•"/>
            </a:pPr>
            <a:r>
              <a:rPr lang="en-US" sz="2000" dirty="0"/>
              <a:t>Embedded processors are designed to be small, low-power, and efficient, as they are typically used in devices where space and power are at a premium. </a:t>
            </a:r>
          </a:p>
          <a:p>
            <a:pPr>
              <a:buFont typeface="Arial" panose="020B0604020202020204" pitchFamily="34" charset="0"/>
              <a:buChar char="•"/>
            </a:pPr>
            <a:r>
              <a:rPr lang="en-US" sz="2000" dirty="0"/>
              <a:t>They are also designed to be reliable and to operate for long periods of time without failure. </a:t>
            </a:r>
          </a:p>
          <a:p>
            <a:pPr>
              <a:buFont typeface="Arial" panose="020B0604020202020204" pitchFamily="34" charset="0"/>
              <a:buChar char="•"/>
            </a:pPr>
            <a:r>
              <a:rPr lang="en-US" sz="2000" dirty="0"/>
              <a:t>Some examples of devices that use embedded processors include smartphones, TVs, washing machines, and aircraft systems.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a:t>
            </a:fld>
            <a:endParaRPr lang="en-US"/>
          </a:p>
        </p:txBody>
      </p:sp>
    </p:spTree>
    <p:extLst>
      <p:ext uri="{BB962C8B-B14F-4D97-AF65-F5344CB8AC3E}">
        <p14:creationId xmlns:p14="http://schemas.microsoft.com/office/powerpoint/2010/main" val="1945644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Embedded Processors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a:p>
        </p:txBody>
      </p:sp>
      <p:sp>
        <p:nvSpPr>
          <p:cNvPr id="6" name="Text Placeholder 5"/>
          <p:cNvSpPr>
            <a:spLocks noGrp="1"/>
          </p:cNvSpPr>
          <p:nvPr>
            <p:ph type="body" idx="1"/>
          </p:nvPr>
        </p:nvSpPr>
        <p:spPr/>
        <p:txBody>
          <a:bodyPr/>
          <a:lstStyle/>
          <a:p>
            <a:r>
              <a:rPr lang="en-US" b="1" dirty="0"/>
              <a:t>General Purpose Processors (GPPs)</a:t>
            </a:r>
          </a:p>
          <a:p>
            <a:r>
              <a:rPr lang="en-US" b="1" dirty="0"/>
              <a:t>Microprocessors</a:t>
            </a:r>
          </a:p>
          <a:p>
            <a:r>
              <a:rPr lang="en-US" b="1" dirty="0"/>
              <a:t>Microcontrollers</a:t>
            </a:r>
          </a:p>
          <a:p>
            <a:r>
              <a:rPr lang="en-US" b="1" dirty="0"/>
              <a:t>Digital Signal Processor (DSP)</a:t>
            </a:r>
          </a:p>
          <a:p>
            <a:r>
              <a:rPr lang="en-US" b="1" dirty="0"/>
              <a:t>Single-Purpose Embedded Processor</a:t>
            </a:r>
          </a:p>
          <a:p>
            <a:r>
              <a:rPr lang="en-US" b="1" dirty="0"/>
              <a:t>System-on-Chip (</a:t>
            </a:r>
            <a:r>
              <a:rPr lang="en-US" b="1" dirty="0" err="1"/>
              <a:t>SoC</a:t>
            </a:r>
            <a:r>
              <a:rPr lang="en-US" b="1" dirty="0"/>
              <a:t>)</a:t>
            </a:r>
          </a:p>
          <a:p>
            <a:endParaRPr lang="en-US" b="1" dirty="0"/>
          </a:p>
        </p:txBody>
      </p:sp>
    </p:spTree>
    <p:extLst>
      <p:ext uri="{BB962C8B-B14F-4D97-AF65-F5344CB8AC3E}">
        <p14:creationId xmlns:p14="http://schemas.microsoft.com/office/powerpoint/2010/main" val="2011202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Microprocessor</a:t>
            </a:r>
          </a:p>
        </p:txBody>
      </p:sp>
      <p:sp>
        <p:nvSpPr>
          <p:cNvPr id="3" name="Text Placeholder 2"/>
          <p:cNvSpPr>
            <a:spLocks noGrp="1"/>
          </p:cNvSpPr>
          <p:nvPr>
            <p:ph type="body" idx="1"/>
          </p:nvPr>
        </p:nvSpPr>
        <p:spPr>
          <a:xfrm>
            <a:off x="0" y="934720"/>
            <a:ext cx="9001760" cy="5516880"/>
          </a:xfrm>
        </p:spPr>
        <p:txBody>
          <a:bodyPr/>
          <a:lstStyle/>
          <a:p>
            <a:pPr algn="just"/>
            <a:r>
              <a:rPr lang="en-US" sz="1800" dirty="0"/>
              <a:t>A microprocessor is a processor that is contained on a microchip, or integrated circuit (IC). It is a central processing unit (CPU) that executes the instructions of a computer program. Some features of microprocessors include:</a:t>
            </a:r>
          </a:p>
          <a:p>
            <a:pPr algn="just"/>
            <a:r>
              <a:rPr lang="en-US" sz="1800" b="1" dirty="0"/>
              <a:t>Instruction set: </a:t>
            </a:r>
            <a:r>
              <a:rPr lang="en-US" sz="1800" dirty="0"/>
              <a:t>Microprocessors have a specific instruction set that defines the operations that they can perform.</a:t>
            </a:r>
          </a:p>
          <a:p>
            <a:pPr algn="just"/>
            <a:r>
              <a:rPr lang="en-US" sz="1800" b="1" dirty="0"/>
              <a:t>Clock speed: </a:t>
            </a:r>
            <a:r>
              <a:rPr lang="en-US" sz="1800" dirty="0"/>
              <a:t>The clock speed of a microprocessor determines how fast it can execute instructions. Microprocessors typically have high clock speeds, which allows them to perform tasks quickly.</a:t>
            </a:r>
          </a:p>
          <a:p>
            <a:pPr algn="just"/>
            <a:r>
              <a:rPr lang="en-US" sz="1800" b="1" dirty="0"/>
              <a:t>Data bus: </a:t>
            </a:r>
            <a:r>
              <a:rPr lang="en-US" sz="1800" dirty="0"/>
              <a:t>The data bus is a communication pathway that is used to transfer data between the microprocessor and other components in a system.</a:t>
            </a:r>
          </a:p>
          <a:p>
            <a:pPr algn="just"/>
            <a:r>
              <a:rPr lang="en-US" sz="1800" b="1" dirty="0"/>
              <a:t>Address bus: </a:t>
            </a:r>
            <a:r>
              <a:rPr lang="en-US" sz="1800" dirty="0"/>
              <a:t>The address bus is a communication pathway that is used to transfer the address of a memory location between the microprocessor and other components in a system.</a:t>
            </a:r>
          </a:p>
          <a:p>
            <a:pPr algn="just"/>
            <a:r>
              <a:rPr lang="en-US" sz="1800" b="1" dirty="0"/>
              <a:t>Cache:</a:t>
            </a:r>
            <a:r>
              <a:rPr lang="en-US" sz="1800" dirty="0"/>
              <a:t> Many microprocessors have one or more levels of cache, which is a small amount of high-speed memory that is used to store frequently accessed data. This helps to improve the performance of the microprocessor.</a:t>
            </a:r>
          </a:p>
          <a:p>
            <a:pPr algn="just"/>
            <a:endParaRPr lang="en-US"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3881497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Microprocessor</a:t>
            </a:r>
          </a:p>
        </p:txBody>
      </p:sp>
      <p:sp>
        <p:nvSpPr>
          <p:cNvPr id="3" name="Text Placeholder 2"/>
          <p:cNvSpPr>
            <a:spLocks noGrp="1"/>
          </p:cNvSpPr>
          <p:nvPr>
            <p:ph type="body" idx="1"/>
          </p:nvPr>
        </p:nvSpPr>
        <p:spPr>
          <a:xfrm>
            <a:off x="71120" y="1178560"/>
            <a:ext cx="3911600" cy="4525963"/>
          </a:xfrm>
        </p:spPr>
        <p:txBody>
          <a:bodyPr/>
          <a:lstStyle/>
          <a:p>
            <a:pPr algn="just"/>
            <a:r>
              <a:rPr lang="en-US" sz="1800" b="1" dirty="0"/>
              <a:t>Power consumption: </a:t>
            </a:r>
            <a:r>
              <a:rPr lang="en-US" sz="1800" dirty="0"/>
              <a:t>Microprocessors can have relatively high power consumption, which can be a concern in devices where power is limited.</a:t>
            </a:r>
          </a:p>
          <a:p>
            <a:pPr algn="just"/>
            <a:r>
              <a:rPr lang="en-US" sz="1800" b="1" dirty="0"/>
              <a:t>Size: </a:t>
            </a:r>
            <a:r>
              <a:rPr lang="en-US" sz="1800" dirty="0"/>
              <a:t>Microprocessors are designed to be small, as they are typically used in devices where space is at a premium.</a:t>
            </a:r>
          </a:p>
          <a:p>
            <a:pPr algn="just"/>
            <a:r>
              <a:rPr lang="en-US" sz="1800" b="1" dirty="0"/>
              <a:t>Cost: </a:t>
            </a:r>
            <a:r>
              <a:rPr lang="en-US" sz="1800" dirty="0"/>
              <a:t>Microprocessors can vary in cost depending on their capabilities and features.</a:t>
            </a:r>
          </a:p>
          <a:p>
            <a:endParaRPr lang="en-US"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pic>
        <p:nvPicPr>
          <p:cNvPr id="6" name="Picture 5"/>
          <p:cNvPicPr>
            <a:picLocks noChangeAspect="1"/>
          </p:cNvPicPr>
          <p:nvPr/>
        </p:nvPicPr>
        <p:blipFill>
          <a:blip r:embed="rId2"/>
          <a:stretch>
            <a:fillRect/>
          </a:stretch>
        </p:blipFill>
        <p:spPr>
          <a:xfrm>
            <a:off x="4205473" y="2022389"/>
            <a:ext cx="4547718" cy="2925531"/>
          </a:xfrm>
          <a:prstGeom prst="rect">
            <a:avLst/>
          </a:prstGeom>
        </p:spPr>
      </p:pic>
    </p:spTree>
    <p:extLst>
      <p:ext uri="{BB962C8B-B14F-4D97-AF65-F5344CB8AC3E}">
        <p14:creationId xmlns:p14="http://schemas.microsoft.com/office/powerpoint/2010/main" val="3980838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Microcontroller</a:t>
            </a:r>
          </a:p>
        </p:txBody>
      </p:sp>
      <p:sp>
        <p:nvSpPr>
          <p:cNvPr id="3" name="Text Placeholder 2"/>
          <p:cNvSpPr>
            <a:spLocks noGrp="1"/>
          </p:cNvSpPr>
          <p:nvPr>
            <p:ph type="body" idx="1"/>
          </p:nvPr>
        </p:nvSpPr>
        <p:spPr>
          <a:xfrm>
            <a:off x="243840" y="838200"/>
            <a:ext cx="8641080" cy="1635958"/>
          </a:xfrm>
        </p:spPr>
        <p:txBody>
          <a:bodyPr/>
          <a:lstStyle/>
          <a:p>
            <a:pPr marL="114300" indent="0" algn="just">
              <a:lnSpc>
                <a:spcPct val="150000"/>
              </a:lnSpc>
              <a:buNone/>
            </a:pPr>
            <a:r>
              <a:rPr lang="en-US" sz="1800" dirty="0"/>
              <a:t>A microcontroller is a small, low-power computer that is contained in a single integrated circuit (IC). It is a type of embedded processor that is used in a wide range of devices, including consumer electronics, industrial control systems, and automotive systems. Some features of microcontrollers include: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9" name="Rectangle 5"/>
          <p:cNvSpPr>
            <a:spLocks noChangeArrowheads="1"/>
          </p:cNvSpPr>
          <p:nvPr/>
        </p:nvSpPr>
        <p:spPr bwMode="auto">
          <a:xfrm>
            <a:off x="243840" y="2495639"/>
            <a:ext cx="855472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On-chip peripherals: </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Many microcontrollers have a variety of on-chip peripherals, such as timers, serial ports, and analog-to-digital converters, which allow them to interface with external devices.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Memory: </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Microcontrollers have both program memory, which stores the instructions that are executed by the processor, and data memory, which is used to store variables and other data.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Input/output (I/O) pins:</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Microcontrollers have a set of I/O pins that can be used to interface with external devices, such as sensors or actuators.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Low power consumption: </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Microcontrollers are designed to be low-power, which makes them suitable for use in battery-powered devices. </a:t>
            </a:r>
          </a:p>
        </p:txBody>
      </p:sp>
    </p:spTree>
    <p:extLst>
      <p:ext uri="{BB962C8B-B14F-4D97-AF65-F5344CB8AC3E}">
        <p14:creationId xmlns:p14="http://schemas.microsoft.com/office/powerpoint/2010/main" val="139223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Microcontroller</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5" name="Rectangle 1"/>
          <p:cNvSpPr>
            <a:spLocks noGrp="1" noChangeArrowheads="1"/>
          </p:cNvSpPr>
          <p:nvPr>
            <p:ph type="body" idx="1"/>
          </p:nvPr>
        </p:nvSpPr>
        <p:spPr bwMode="auto">
          <a:xfrm>
            <a:off x="203200" y="994300"/>
            <a:ext cx="3728720"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Cost:</a:t>
            </a:r>
            <a:r>
              <a:rPr kumimoji="0" lang="en-US" altLang="en-US" sz="1800" b="0" i="0" u="none" strike="noStrike" cap="none" normalizeH="0" baseline="0" dirty="0">
                <a:ln>
                  <a:noFill/>
                </a:ln>
                <a:solidFill>
                  <a:schemeClr val="tx1"/>
                </a:solidFill>
                <a:effectLst/>
                <a:latin typeface="Arial" panose="020B0604020202020204" pitchFamily="34" charset="0"/>
              </a:rPr>
              <a:t> Microcontrollers are typically less expensive than general-purpose processors, as they are designed for specific tasks and do not have as many capabilities.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Size: </a:t>
            </a:r>
            <a:r>
              <a:rPr kumimoji="0" lang="en-US" altLang="en-US" sz="1800" b="0" i="0" u="none" strike="noStrike" cap="none" normalizeH="0" baseline="0" dirty="0">
                <a:ln>
                  <a:noFill/>
                </a:ln>
                <a:solidFill>
                  <a:schemeClr val="tx1"/>
                </a:solidFill>
                <a:effectLst/>
                <a:latin typeface="Arial" panose="020B0604020202020204" pitchFamily="34" charset="0"/>
              </a:rPr>
              <a:t>Microcontrollers are small, which makes them suitable for use in compact devices.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Flexibility: </a:t>
            </a:r>
            <a:r>
              <a:rPr kumimoji="0" lang="en-US" altLang="en-US" sz="1800" b="0" i="0" u="none" strike="noStrike" cap="none" normalizeH="0" baseline="0" dirty="0">
                <a:ln>
                  <a:noFill/>
                </a:ln>
                <a:solidFill>
                  <a:schemeClr val="tx1"/>
                </a:solidFill>
                <a:effectLst/>
                <a:latin typeface="Arial" panose="020B0604020202020204" pitchFamily="34" charset="0"/>
              </a:rPr>
              <a:t>Microcontrollers are highly flexible and can be programmed to perform a wide range of tasks. </a:t>
            </a:r>
          </a:p>
        </p:txBody>
      </p:sp>
      <p:pic>
        <p:nvPicPr>
          <p:cNvPr id="6" name="Picture 5"/>
          <p:cNvPicPr>
            <a:picLocks noChangeAspect="1"/>
          </p:cNvPicPr>
          <p:nvPr/>
        </p:nvPicPr>
        <p:blipFill>
          <a:blip r:embed="rId2"/>
          <a:stretch>
            <a:fillRect/>
          </a:stretch>
        </p:blipFill>
        <p:spPr>
          <a:xfrm>
            <a:off x="4073413" y="1722039"/>
            <a:ext cx="4349974" cy="3149762"/>
          </a:xfrm>
          <a:prstGeom prst="rect">
            <a:avLst/>
          </a:prstGeom>
        </p:spPr>
      </p:pic>
    </p:spTree>
    <p:extLst>
      <p:ext uri="{BB962C8B-B14F-4D97-AF65-F5344CB8AC3E}">
        <p14:creationId xmlns:p14="http://schemas.microsoft.com/office/powerpoint/2010/main" val="410152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Microprocessor vs Microcontroller</a:t>
            </a:r>
          </a:p>
        </p:txBody>
      </p:sp>
      <p:pic>
        <p:nvPicPr>
          <p:cNvPr id="5" name="Picture 4"/>
          <p:cNvPicPr>
            <a:picLocks noChangeAspect="1"/>
          </p:cNvPicPr>
          <p:nvPr/>
        </p:nvPicPr>
        <p:blipFill>
          <a:blip r:embed="rId2"/>
          <a:stretch>
            <a:fillRect/>
          </a:stretch>
        </p:blipFill>
        <p:spPr>
          <a:xfrm>
            <a:off x="741680" y="1209040"/>
            <a:ext cx="7945120" cy="5309552"/>
          </a:xfrm>
          <a:prstGeom prst="rect">
            <a:avLst/>
          </a:prstGeom>
        </p:spPr>
      </p:pic>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322242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Embedded System</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5" name="Rectangle 4"/>
          <p:cNvSpPr/>
          <p:nvPr/>
        </p:nvSpPr>
        <p:spPr>
          <a:xfrm>
            <a:off x="111760" y="812165"/>
            <a:ext cx="8727440" cy="5447645"/>
          </a:xfrm>
          <a:prstGeom prst="rect">
            <a:avLst/>
          </a:prstGeom>
        </p:spPr>
        <p:txBody>
          <a:bodyPr wrap="square">
            <a:spAutoFit/>
          </a:bodyPr>
          <a:lstStyle/>
          <a:p>
            <a:pPr algn="just">
              <a:lnSpc>
                <a:spcPct val="150000"/>
              </a:lnSpc>
            </a:pPr>
            <a:r>
              <a:rPr lang="en-US" sz="2000" dirty="0">
                <a:latin typeface="Calibri" panose="020F0502020204030204" pitchFamily="34" charset="0"/>
                <a:ea typeface="Calibri" panose="020F0502020204030204" pitchFamily="34" charset="0"/>
                <a:cs typeface="Calibri" panose="020F0502020204030204" pitchFamily="34" charset="0"/>
              </a:rPr>
              <a:t>Generally, an embedded system executes a particular operation and does the similar work continually. For instance: A pager is constantly functioning as a pager.</a:t>
            </a:r>
          </a:p>
          <a:p>
            <a:pPr marL="342900" indent="-342900" algn="just">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Embedded system must posses the design metric in terms of execution features like size, power, cost and also performance.</a:t>
            </a:r>
          </a:p>
          <a:p>
            <a:pPr marL="342900" indent="-342900" algn="just">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It must perform fast enough and consume less power to increase battery life.</a:t>
            </a:r>
          </a:p>
          <a:p>
            <a:pPr marL="342900" indent="-342900" algn="just">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Several embedded systems should constantly react to changes in the system and also calculate particular results in real time without any delay. For instance, a car cruise controller; it continuously displays and responds to speed &amp; brake sensors. It must calculate acceleration/de-accelerations frequently in a limited time; a delayed computation can consequence in letdown to control the car.</a:t>
            </a:r>
          </a:p>
          <a:p>
            <a:pPr algn="just"/>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2394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Embedded System</a:t>
            </a:r>
          </a:p>
        </p:txBody>
      </p:sp>
      <p:sp>
        <p:nvSpPr>
          <p:cNvPr id="3" name="Text Placeholder 2"/>
          <p:cNvSpPr>
            <a:spLocks noGrp="1"/>
          </p:cNvSpPr>
          <p:nvPr>
            <p:ph type="body" idx="1"/>
          </p:nvPr>
        </p:nvSpPr>
        <p:spPr>
          <a:xfrm>
            <a:off x="375920" y="1183640"/>
            <a:ext cx="8229600" cy="4525963"/>
          </a:xfrm>
        </p:spPr>
        <p:txBody>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It must be based on a microcontroller or microprocessor based.</a:t>
            </a:r>
          </a:p>
          <a:p>
            <a:pPr algn="just"/>
            <a:r>
              <a:rPr lang="en-US" sz="2400" dirty="0">
                <a:latin typeface="Calibri" panose="020F0502020204030204" pitchFamily="34" charset="0"/>
                <a:ea typeface="Calibri" panose="020F0502020204030204" pitchFamily="34" charset="0"/>
                <a:cs typeface="Calibri" panose="020F0502020204030204" pitchFamily="34" charset="0"/>
              </a:rPr>
              <a:t>It must require a memory, as its software generally inserts in ROM. It does not require any secondary memories in the PC.</a:t>
            </a:r>
          </a:p>
          <a:p>
            <a:pPr algn="just"/>
            <a:r>
              <a:rPr lang="en-US" sz="2400" dirty="0">
                <a:latin typeface="Calibri" panose="020F0502020204030204" pitchFamily="34" charset="0"/>
                <a:ea typeface="Calibri" panose="020F0502020204030204" pitchFamily="34" charset="0"/>
                <a:cs typeface="Calibri" panose="020F0502020204030204" pitchFamily="34" charset="0"/>
              </a:rPr>
              <a:t>It must need connected peripherals to attach input &amp; output devices.</a:t>
            </a:r>
          </a:p>
          <a:p>
            <a:pPr algn="just"/>
            <a:r>
              <a:rPr lang="en-US" sz="2400" dirty="0">
                <a:latin typeface="Calibri" panose="020F0502020204030204" pitchFamily="34" charset="0"/>
                <a:ea typeface="Calibri" panose="020F0502020204030204" pitchFamily="34" charset="0"/>
                <a:cs typeface="Calibri" panose="020F0502020204030204" pitchFamily="34" charset="0"/>
              </a:rPr>
              <a:t>An Embedded system is inbuilt with hardware and software where the hardware is used for security and performance and Software is used for more flexibility and features.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4018622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020"/>
            <a:ext cx="6442841" cy="817179"/>
          </a:xfrm>
        </p:spPr>
        <p:txBody>
          <a:bodyPr/>
          <a:lstStyle/>
          <a:p>
            <a:r>
              <a:rPr lang="en-US" dirty="0"/>
              <a:t>Applications of Embedded systems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8" name="Rectangle 1"/>
          <p:cNvSpPr>
            <a:spLocks noChangeArrowheads="1"/>
          </p:cNvSpPr>
          <p:nvPr/>
        </p:nvSpPr>
        <p:spPr bwMode="auto">
          <a:xfrm>
            <a:off x="264816" y="1126736"/>
            <a:ext cx="8371840"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Consumer electronics:</a:t>
            </a:r>
            <a:r>
              <a:rPr kumimoji="0" lang="en-US" altLang="en-US" sz="1800" b="0" i="0" u="none" strike="noStrike" cap="none" normalizeH="0" baseline="0" dirty="0">
                <a:ln>
                  <a:noFill/>
                </a:ln>
                <a:solidFill>
                  <a:schemeClr val="tx1"/>
                </a:solidFill>
                <a:effectLst/>
                <a:latin typeface="Arial" panose="020B0604020202020204" pitchFamily="34" charset="0"/>
              </a:rPr>
              <a:t> Embedded systems are used in many types of consumer electronics, such as smartphones,</a:t>
            </a:r>
            <a:r>
              <a:rPr kumimoji="0" lang="en-US" altLang="en-US" sz="1800" b="0" i="0" u="none" strike="noStrike" cap="none" normalizeH="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tablets, laptops, and other portable devices.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Industrial control systems:</a:t>
            </a:r>
            <a:r>
              <a:rPr kumimoji="0" lang="en-US" altLang="en-US" sz="1800" b="0" i="0" u="none" strike="noStrike" cap="none" normalizeH="0" baseline="0" dirty="0">
                <a:ln>
                  <a:noFill/>
                </a:ln>
                <a:solidFill>
                  <a:schemeClr val="tx1"/>
                </a:solidFill>
                <a:effectLst/>
                <a:latin typeface="Arial" panose="020B0604020202020204" pitchFamily="34" charset="0"/>
              </a:rPr>
              <a:t> Embedded systems are used to control and monitoring industrial equipment, such as robots, conveyor belts, and other manufacturing systems. </a:t>
            </a:r>
          </a:p>
          <a:p>
            <a:pPr lvl="0" algn="just" eaLnBrk="0" fontAlgn="base" hangingPunct="0">
              <a:lnSpc>
                <a:spcPct val="150000"/>
              </a:lnSpc>
              <a:spcBef>
                <a:spcPct val="0"/>
              </a:spcBef>
              <a:spcAft>
                <a:spcPct val="0"/>
              </a:spcAft>
              <a:buClrTx/>
            </a:pPr>
            <a:r>
              <a:rPr lang="en-US" altLang="en-US" sz="1800" b="1" dirty="0">
                <a:solidFill>
                  <a:schemeClr val="tx1"/>
                </a:solidFill>
                <a:latin typeface="Arial" panose="020B0604020202020204" pitchFamily="34" charset="0"/>
              </a:rPr>
              <a:t>Automotive systems:</a:t>
            </a:r>
            <a:r>
              <a:rPr lang="en-US" altLang="en-US" sz="1800" dirty="0">
                <a:solidFill>
                  <a:schemeClr val="tx1"/>
                </a:solidFill>
                <a:latin typeface="Arial" panose="020B0604020202020204" pitchFamily="34" charset="0"/>
              </a:rPr>
              <a:t> Embedded systems are used in automotive systems, such as engine control, traction control, and advanced driver assistance systems (ADAS). </a:t>
            </a:r>
          </a:p>
          <a:p>
            <a:pPr lvl="0" algn="just" eaLnBrk="0" fontAlgn="base" hangingPunct="0">
              <a:lnSpc>
                <a:spcPct val="150000"/>
              </a:lnSpc>
              <a:spcBef>
                <a:spcPct val="0"/>
              </a:spcBef>
              <a:spcAft>
                <a:spcPct val="0"/>
              </a:spcAft>
              <a:buClrTx/>
            </a:pPr>
            <a:r>
              <a:rPr lang="en-US" altLang="en-US" sz="1800" b="1" dirty="0">
                <a:solidFill>
                  <a:schemeClr val="tx1"/>
                </a:solidFill>
                <a:latin typeface="Arial" panose="020B0604020202020204" pitchFamily="34" charset="0"/>
              </a:rPr>
              <a:t>Medical devices: </a:t>
            </a:r>
            <a:r>
              <a:rPr lang="en-US" altLang="en-US" sz="1800" dirty="0">
                <a:solidFill>
                  <a:schemeClr val="tx1"/>
                </a:solidFill>
                <a:latin typeface="Arial" panose="020B0604020202020204" pitchFamily="34" charset="0"/>
              </a:rPr>
              <a:t>Embedded systems are used in medical devices, such as monitoring devices, imaging devices, and drug delivery systems. </a:t>
            </a:r>
          </a:p>
          <a:p>
            <a:pPr lvl="0" eaLnBrk="0" fontAlgn="base" hangingPunct="0">
              <a:spcBef>
                <a:spcPct val="0"/>
              </a:spcBef>
              <a:spcAft>
                <a:spcPct val="0"/>
              </a:spcAft>
              <a:buClrTx/>
              <a:buFontTx/>
              <a:buChar char="•"/>
            </a:pPr>
            <a:endParaRPr lang="en-US" altLang="en-US" sz="1800" dirty="0">
              <a:solidFill>
                <a:schemeClr val="tx1"/>
              </a:solidFill>
              <a:latin typeface="Arial" panose="020B0604020202020204" pitchFamily="34" charset="0"/>
            </a:endParaRPr>
          </a:p>
        </p:txBody>
      </p:sp>
    </p:spTree>
    <p:extLst>
      <p:ext uri="{BB962C8B-B14F-4D97-AF65-F5344CB8AC3E}">
        <p14:creationId xmlns:p14="http://schemas.microsoft.com/office/powerpoint/2010/main" val="1817098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Embedded systems</a:t>
            </a:r>
          </a:p>
        </p:txBody>
      </p:sp>
      <p:sp>
        <p:nvSpPr>
          <p:cNvPr id="3" name="Text Placeholder 2"/>
          <p:cNvSpPr>
            <a:spLocks noGrp="1"/>
          </p:cNvSpPr>
          <p:nvPr>
            <p:ph type="body" idx="1"/>
          </p:nvPr>
        </p:nvSpPr>
        <p:spPr/>
        <p:txBody>
          <a:bodyPr/>
          <a:lstStyle/>
          <a:p>
            <a:pPr marL="114300" indent="0" algn="just">
              <a:buNone/>
            </a:pPr>
            <a:r>
              <a:rPr lang="en-US" sz="2000" b="1" dirty="0">
                <a:latin typeface="+mj-lt"/>
              </a:rPr>
              <a:t>Military systems:</a:t>
            </a:r>
            <a:r>
              <a:rPr lang="en-US" sz="2000" dirty="0">
                <a:latin typeface="+mj-lt"/>
              </a:rPr>
              <a:t> Embedded </a:t>
            </a:r>
            <a:r>
              <a:rPr lang="en-US" altLang="en-US" sz="2000" dirty="0">
                <a:solidFill>
                  <a:schemeClr val="tx1"/>
                </a:solidFill>
                <a:latin typeface="+mj-lt"/>
              </a:rPr>
              <a:t>systems</a:t>
            </a:r>
            <a:r>
              <a:rPr lang="en-US" sz="2000" dirty="0">
                <a:latin typeface="+mj-lt"/>
              </a:rPr>
              <a:t> are used in military systems, such as missiles, aircraft, and other defense systems.</a:t>
            </a:r>
          </a:p>
          <a:p>
            <a:pPr marL="114300" indent="0" algn="just">
              <a:buNone/>
            </a:pPr>
            <a:r>
              <a:rPr lang="en-US" sz="2000" b="1" dirty="0">
                <a:latin typeface="+mj-lt"/>
              </a:rPr>
              <a:t>Communication systems:</a:t>
            </a:r>
            <a:r>
              <a:rPr lang="en-US" sz="2000" dirty="0">
                <a:latin typeface="+mj-lt"/>
              </a:rPr>
              <a:t> Embedded </a:t>
            </a:r>
            <a:r>
              <a:rPr lang="en-US" altLang="en-US" sz="2000" dirty="0">
                <a:solidFill>
                  <a:schemeClr val="tx1"/>
                </a:solidFill>
                <a:latin typeface="+mj-lt"/>
              </a:rPr>
              <a:t>systems</a:t>
            </a:r>
            <a:r>
              <a:rPr lang="en-US" sz="2000" dirty="0">
                <a:latin typeface="+mj-lt"/>
              </a:rPr>
              <a:t> are used in communication systems, such as routers, switches, and other networking equipment.</a:t>
            </a:r>
          </a:p>
          <a:p>
            <a:pPr marL="114300" indent="0" algn="just">
              <a:buNone/>
            </a:pPr>
            <a:r>
              <a:rPr lang="en-US" sz="2000" b="1" dirty="0">
                <a:latin typeface="+mj-lt"/>
              </a:rPr>
              <a:t>Home automation systems:</a:t>
            </a:r>
            <a:r>
              <a:rPr lang="en-US" sz="2000" dirty="0">
                <a:latin typeface="+mj-lt"/>
              </a:rPr>
              <a:t> Embedded </a:t>
            </a:r>
            <a:r>
              <a:rPr lang="en-US" altLang="en-US" sz="2000" dirty="0">
                <a:solidFill>
                  <a:schemeClr val="tx1"/>
                </a:solidFill>
                <a:latin typeface="+mj-lt"/>
              </a:rPr>
              <a:t>systems</a:t>
            </a:r>
            <a:r>
              <a:rPr lang="en-US" sz="2000" dirty="0">
                <a:latin typeface="+mj-lt"/>
              </a:rPr>
              <a:t> are used in home automation systems, such as smart thermostats, security systems, and lighting control systems.</a:t>
            </a:r>
          </a:p>
          <a:p>
            <a:pPr marL="114300" indent="0" algn="just">
              <a:buNone/>
            </a:pPr>
            <a:r>
              <a:rPr lang="en-US" sz="2000" b="1" dirty="0">
                <a:latin typeface="+mj-lt"/>
              </a:rPr>
              <a:t>Other applications:</a:t>
            </a:r>
            <a:r>
              <a:rPr lang="en-US" sz="2000" dirty="0">
                <a:latin typeface="+mj-lt"/>
              </a:rPr>
              <a:t> Embedded </a:t>
            </a:r>
            <a:r>
              <a:rPr lang="en-US" altLang="en-US" sz="2000" dirty="0">
                <a:solidFill>
                  <a:schemeClr val="tx1"/>
                </a:solidFill>
                <a:latin typeface="+mj-lt"/>
              </a:rPr>
              <a:t>systems</a:t>
            </a:r>
            <a:r>
              <a:rPr lang="en-US" sz="2000" dirty="0">
                <a:latin typeface="+mj-lt"/>
              </a:rPr>
              <a:t> are used in many other applications, such as point-of-sale systems, cash registers, vending machines, and many others.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2163632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76200" y="15240"/>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dirty="0">
                <a:latin typeface="Times New Roman"/>
                <a:ea typeface="Times New Roman"/>
                <a:cs typeface="Times New Roman"/>
                <a:sym typeface="Times New Roman"/>
              </a:rPr>
              <a:t>Introduction to Von Neumann Architecture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292048"/>
          </a:xfrm>
          <a:prstGeom prst="rect">
            <a:avLst/>
          </a:prstGeom>
          <a:noFill/>
          <a:ln>
            <a:noFill/>
          </a:ln>
        </p:spPr>
        <p:txBody>
          <a:bodyPr spcFirstLastPara="1" wrap="square" lIns="91425" tIns="45700" rIns="91425" bIns="45700" anchor="t" anchorCtr="0">
            <a:noAutofit/>
          </a:bodyPr>
          <a:lstStyle/>
          <a:p>
            <a:pPr marL="114300" lvl="0" indent="0" algn="just">
              <a:lnSpc>
                <a:spcPct val="150000"/>
              </a:lnSpc>
              <a:buNone/>
            </a:pPr>
            <a:r>
              <a:rPr lang="en-US" sz="2000" dirty="0">
                <a:latin typeface="Times New Roman" panose="02020603050405020304" pitchFamily="18" charset="0"/>
                <a:cs typeface="Times New Roman" panose="02020603050405020304" pitchFamily="18" charset="0"/>
              </a:rPr>
              <a:t>Von Neumann Architecture is a digital computer architecture whose design is based on the concept of stored program computers where program data and instruction data are stored in the same memory. This architecture was designed by the famous mathematician and physicist </a:t>
            </a:r>
            <a:r>
              <a:rPr lang="en-US" sz="2000" b="1" dirty="0">
                <a:latin typeface="Times New Roman" panose="02020603050405020304" pitchFamily="18" charset="0"/>
                <a:cs typeface="Times New Roman" panose="02020603050405020304" pitchFamily="18" charset="0"/>
              </a:rPr>
              <a:t>John Von Neumann</a:t>
            </a:r>
            <a:r>
              <a:rPr lang="en-US" sz="2000" dirty="0">
                <a:latin typeface="Times New Roman" panose="02020603050405020304" pitchFamily="18" charset="0"/>
                <a:cs typeface="Times New Roman" panose="02020603050405020304" pitchFamily="18" charset="0"/>
              </a:rPr>
              <a:t> in 1945.</a:t>
            </a:r>
            <a:endParaRPr sz="2000" dirty="0">
              <a:latin typeface="Times New Roman" panose="02020603050405020304" pitchFamily="18" charset="0"/>
              <a:ea typeface="Times New Roman"/>
              <a:cs typeface="Times New Roman" panose="02020603050405020304" pitchFamily="18" charset="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pic>
        <p:nvPicPr>
          <p:cNvPr id="1026" name="Picture 2"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0906" y="3288181"/>
            <a:ext cx="3922294" cy="3068169"/>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58;p12"/>
          <p:cNvSpPr txBox="1"/>
          <p:nvPr/>
        </p:nvSpPr>
        <p:spPr>
          <a:xfrm>
            <a:off x="2434390" y="6356350"/>
            <a:ext cx="473242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 1.  Block diagram of </a:t>
            </a:r>
            <a:r>
              <a:rPr lang="en-US" dirty="0"/>
              <a:t>Von Neumann Architecture</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76200" y="15240"/>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dirty="0">
                <a:latin typeface="Times New Roman"/>
                <a:ea typeface="Times New Roman"/>
                <a:cs typeface="Times New Roman"/>
                <a:sym typeface="Times New Roman"/>
              </a:rPr>
              <a:t>Introduction to Harvard Architecture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292048"/>
          </a:xfrm>
          <a:prstGeom prst="rect">
            <a:avLst/>
          </a:prstGeom>
          <a:noFill/>
          <a:ln>
            <a:noFill/>
          </a:ln>
        </p:spPr>
        <p:txBody>
          <a:bodyPr spcFirstLastPara="1" wrap="square" lIns="91425" tIns="45700" rIns="91425" bIns="45700" anchor="t" anchorCtr="0">
            <a:noAutofit/>
          </a:bodyPr>
          <a:lstStyle/>
          <a:p>
            <a:pPr marL="114300" lvl="0" indent="0" algn="just">
              <a:lnSpc>
                <a:spcPct val="150000"/>
              </a:lnSpc>
              <a:buNone/>
            </a:pPr>
            <a:r>
              <a:rPr lang="en-US" sz="2000" dirty="0">
                <a:latin typeface="Times New Roman" panose="02020603050405020304" pitchFamily="18" charset="0"/>
                <a:cs typeface="Times New Roman" panose="02020603050405020304" pitchFamily="18" charset="0"/>
              </a:rPr>
              <a:t>Harvard Architecture is the digital computer architecture whose design is based on the concept where there are separate storage and separate buses (signal path) for instruction and data. It was basically developed to overcome the bottleneck of Von Neumann Architecture. </a:t>
            </a:r>
            <a:endParaRPr sz="2000" dirty="0">
              <a:latin typeface="Times New Roman" panose="02020603050405020304" pitchFamily="18" charset="0"/>
              <a:ea typeface="Times New Roman"/>
              <a:cs typeface="Times New Roman" panose="02020603050405020304" pitchFamily="18" charset="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6" name="Google Shape;58;p12"/>
          <p:cNvSpPr txBox="1"/>
          <p:nvPr/>
        </p:nvSpPr>
        <p:spPr>
          <a:xfrm>
            <a:off x="2977257" y="6356350"/>
            <a:ext cx="473242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 2.  Block diagram of </a:t>
            </a:r>
            <a:r>
              <a:rPr lang="en-US" dirty="0"/>
              <a:t>Harvard Architecture</a:t>
            </a:r>
            <a:endParaRPr dirty="0"/>
          </a:p>
        </p:txBody>
      </p:sp>
      <p:pic>
        <p:nvPicPr>
          <p:cNvPr id="2" name="Picture 1"/>
          <p:cNvPicPr>
            <a:picLocks noChangeAspect="1"/>
          </p:cNvPicPr>
          <p:nvPr/>
        </p:nvPicPr>
        <p:blipFill>
          <a:blip r:embed="rId3"/>
          <a:stretch>
            <a:fillRect/>
          </a:stretch>
        </p:blipFill>
        <p:spPr>
          <a:xfrm>
            <a:off x="2711116" y="2854725"/>
            <a:ext cx="3842084" cy="3595001"/>
          </a:xfrm>
          <a:prstGeom prst="rect">
            <a:avLst/>
          </a:prstGeom>
        </p:spPr>
      </p:pic>
    </p:spTree>
    <p:extLst>
      <p:ext uri="{BB962C8B-B14F-4D97-AF65-F5344CB8AC3E}">
        <p14:creationId xmlns:p14="http://schemas.microsoft.com/office/powerpoint/2010/main" val="2028494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76200" y="15240"/>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dirty="0">
                <a:latin typeface="Times New Roman"/>
                <a:ea typeface="Times New Roman"/>
                <a:cs typeface="Times New Roman"/>
                <a:sym typeface="Times New Roman"/>
              </a:rPr>
              <a:t>Difference Between Harvard an Von Neumann Architecture</a:t>
            </a:r>
            <a:endParaRPr sz="4400" b="1" dirty="0">
              <a:solidFill>
                <a:srgbClr val="0C0C0C"/>
              </a:solidFill>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graphicFrame>
        <p:nvGraphicFramePr>
          <p:cNvPr id="4" name="Table 3"/>
          <p:cNvGraphicFramePr>
            <a:graphicFrameLocks noGrp="1"/>
          </p:cNvGraphicFramePr>
          <p:nvPr/>
        </p:nvGraphicFramePr>
        <p:xfrm>
          <a:off x="106680" y="929640"/>
          <a:ext cx="8915400" cy="6057900"/>
        </p:xfrm>
        <a:graphic>
          <a:graphicData uri="http://schemas.openxmlformats.org/drawingml/2006/table">
            <a:tbl>
              <a:tblPr firstRow="1" bandRow="1">
                <a:tableStyleId>{5C22544A-7EE6-4342-B048-85BDC9FD1C3A}</a:tableStyleId>
              </a:tblPr>
              <a:tblGrid>
                <a:gridCol w="4457700">
                  <a:extLst>
                    <a:ext uri="{9D8B030D-6E8A-4147-A177-3AD203B41FA5}">
                      <a16:colId xmlns:a16="http://schemas.microsoft.com/office/drawing/2014/main" xmlns="" val="20000"/>
                    </a:ext>
                  </a:extLst>
                </a:gridCol>
                <a:gridCol w="4457700">
                  <a:extLst>
                    <a:ext uri="{9D8B030D-6E8A-4147-A177-3AD203B41FA5}">
                      <a16:colId xmlns:a16="http://schemas.microsoft.com/office/drawing/2014/main" xmlns="" val="20001"/>
                    </a:ext>
                  </a:extLst>
                </a:gridCol>
              </a:tblGrid>
              <a:tr h="198119">
                <a:tc>
                  <a:txBody>
                    <a:bodyPr/>
                    <a:lstStyle/>
                    <a:p>
                      <a:pPr algn="ctr"/>
                      <a:r>
                        <a:rPr lang="" sz="1800" dirty="0">
                          <a:latin typeface="Times New Roman" panose="02020603050405020304" pitchFamily="18" charset="0"/>
                          <a:cs typeface="Times New Roman" panose="02020603050405020304" pitchFamily="18" charset="0"/>
                        </a:rPr>
                        <a:t>Von</a:t>
                      </a:r>
                      <a:r>
                        <a:rPr lang="" sz="1800" baseline="0" dirty="0">
                          <a:latin typeface="Times New Roman" panose="02020603050405020304" pitchFamily="18" charset="0"/>
                          <a:cs typeface="Times New Roman" panose="02020603050405020304" pitchFamily="18" charset="0"/>
                        </a:rPr>
                        <a:t> Neumann Architecture</a:t>
                      </a:r>
                      <a:endParaRPr lang="" sz="1800" dirty="0">
                        <a:latin typeface="Times New Roman" panose="02020603050405020304" pitchFamily="18" charset="0"/>
                        <a:cs typeface="Times New Roman" panose="02020603050405020304" pitchFamily="18" charset="0"/>
                      </a:endParaRPr>
                    </a:p>
                  </a:txBody>
                  <a:tcPr/>
                </a:tc>
                <a:tc>
                  <a:txBody>
                    <a:bodyPr/>
                    <a:lstStyle/>
                    <a:p>
                      <a:pPr algn="ctr"/>
                      <a:r>
                        <a:rPr lang="" sz="1800" dirty="0">
                          <a:latin typeface="Times New Roman" panose="02020603050405020304" pitchFamily="18" charset="0"/>
                          <a:cs typeface="Times New Roman" panose="02020603050405020304" pitchFamily="18" charset="0"/>
                        </a:rPr>
                        <a:t>Harvard Architecture</a:t>
                      </a:r>
                    </a:p>
                  </a:txBody>
                  <a:tcPr/>
                </a:tc>
                <a:extLst>
                  <a:ext uri="{0D108BD9-81ED-4DB2-BD59-A6C34878D82A}">
                    <a16:rowId xmlns:a16="http://schemas.microsoft.com/office/drawing/2014/main" xmlns="" val="10000"/>
                  </a:ext>
                </a:extLst>
              </a:tr>
              <a:tr h="441631">
                <a:tc>
                  <a:txBody>
                    <a:bodyPr/>
                    <a:lstStyle/>
                    <a:p>
                      <a:pPr algn="just">
                        <a:lnSpc>
                          <a:spcPct val="150000"/>
                        </a:lnSpc>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is ancient computer architecture based on stored program computer concept.</a:t>
                      </a:r>
                      <a:endParaRPr lang="" sz="1700" dirty="0">
                        <a:latin typeface="Times New Roman" panose="02020603050405020304" pitchFamily="18" charset="0"/>
                        <a:cs typeface="Times New Roman" panose="02020603050405020304" pitchFamily="18" charset="0"/>
                      </a:endParaRPr>
                    </a:p>
                  </a:txBody>
                  <a:tcPr/>
                </a:tc>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is modern computer architecture based on Harvard Mark I relay based model.</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xmlns="" val="10001"/>
                  </a:ext>
                </a:extLst>
              </a:tr>
              <a:tr h="441631">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Same physical memory address is used for instructions and data.</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Separate physical memory address is used for instructions and data.</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xmlns="" val="10002"/>
                  </a:ext>
                </a:extLst>
              </a:tr>
              <a:tr h="441631">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There is common bus for data and instruction transfer.</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Separate buses are used for transferring data and instruction.</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xmlns="" val="10003"/>
                  </a:ext>
                </a:extLst>
              </a:tr>
              <a:tr h="441631">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Two clock cycles are required to execute single instruction.</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An instruction is executed in a single cycle.</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xmlns="" val="10004"/>
                  </a:ext>
                </a:extLst>
              </a:tr>
              <a:tr h="441631">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is cheaper in cost.</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is costly than Von Neumann Architecture.</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xmlns="" val="10005"/>
                  </a:ext>
                </a:extLst>
              </a:tr>
              <a:tr h="441631">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CPU can not access instructions and read/write at the same time.</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CPU can access instructions and read/write at the same time.</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xmlns="" val="10006"/>
                  </a:ext>
                </a:extLst>
              </a:tr>
              <a:tr h="441631">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is used in personal computers and small computers.</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R="0" algn="just" rtl="0">
                        <a:lnSpc>
                          <a:spcPct val="150000"/>
                        </a:lnSpc>
                        <a:spcBef>
                          <a:spcPts val="0"/>
                        </a:spcBef>
                        <a:spcAft>
                          <a:spcPts val="0"/>
                        </a:spcAft>
                        <a:buClr>
                          <a:srgbClr val="000000"/>
                        </a:buClr>
                        <a:buFont typeface="Arial"/>
                      </a:pPr>
                      <a:r>
                        <a:rPr lang="en-US"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is used in micro controllers and signal processing.</a:t>
                      </a:r>
                      <a:endParaRPr lang="" sz="17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246226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Embedded Systems Architecture</a:t>
            </a:r>
          </a:p>
        </p:txBody>
      </p:sp>
      <p:sp>
        <p:nvSpPr>
          <p:cNvPr id="3" name="Text Placeholder 2"/>
          <p:cNvSpPr>
            <a:spLocks noGrp="1"/>
          </p:cNvSpPr>
          <p:nvPr>
            <p:ph type="body" idx="1"/>
          </p:nvPr>
        </p:nvSpPr>
        <p:spPr>
          <a:xfrm>
            <a:off x="0" y="1005840"/>
            <a:ext cx="9144000" cy="5821680"/>
          </a:xfrm>
        </p:spPr>
        <p:txBody>
          <a:bodyPr/>
          <a:lstStyle/>
          <a:p>
            <a:pPr marL="114300" indent="0" algn="just">
              <a:buNone/>
            </a:pPr>
            <a:r>
              <a:rPr lang="en-US" sz="2400" dirty="0">
                <a:solidFill>
                  <a:schemeClr val="tx1"/>
                </a:solidFill>
                <a:latin typeface="Times New Roman" panose="02020603050405020304" pitchFamily="18" charset="0"/>
                <a:cs typeface="Times New Roman" panose="02020603050405020304" pitchFamily="18" charset="0"/>
              </a:rPr>
              <a:t>The architecture of an embedded system is an abstraction of the embedded device, meaning that it is a generalization of the system that typically doesn’t show detailed implementation information such as software source code or hardware circuit design. At the architectural level, the hardware and software components in an embedded system are instead represented as some composition of interacting elements. Elements are representations of hardware and/or software whose implementation details have been abstracted out, leaving only behavioral and inter-relationship information. Architectural elements can be internally integrated within the embedded device, or exist externally to the embedded system and interact with internal elements. In short, an embedded architecture includes elements of the embedded system, elements interacting with an embedded system, the properties of each of the individual elements, and the interactive relationships between the elements.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17</a:t>
            </a:fld>
            <a:endParaRPr lang="en-US"/>
          </a:p>
        </p:txBody>
      </p:sp>
    </p:spTree>
    <p:extLst>
      <p:ext uri="{BB962C8B-B14F-4D97-AF65-F5344CB8AC3E}">
        <p14:creationId xmlns:p14="http://schemas.microsoft.com/office/powerpoint/2010/main" val="2451104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Block Diagram of Embedded Systems Architecture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18</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560" y="975360"/>
            <a:ext cx="8397240" cy="5196840"/>
          </a:xfrm>
          <a:prstGeom prst="rect">
            <a:avLst/>
          </a:prstGeom>
        </p:spPr>
      </p:pic>
    </p:spTree>
    <p:extLst>
      <p:ext uri="{BB962C8B-B14F-4D97-AF65-F5344CB8AC3E}">
        <p14:creationId xmlns:p14="http://schemas.microsoft.com/office/powerpoint/2010/main" val="2828937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Embedded Hardware Units and Devices in a System</a:t>
            </a:r>
          </a:p>
        </p:txBody>
      </p:sp>
      <p:sp>
        <p:nvSpPr>
          <p:cNvPr id="3" name="Text Placeholder 2"/>
          <p:cNvSpPr>
            <a:spLocks noGrp="1"/>
          </p:cNvSpPr>
          <p:nvPr>
            <p:ph type="body" idx="1"/>
          </p:nvPr>
        </p:nvSpPr>
        <p:spPr>
          <a:xfrm>
            <a:off x="76200" y="975360"/>
            <a:ext cx="8869680" cy="5821680"/>
          </a:xfrm>
        </p:spPr>
        <p:txBody>
          <a:bodyPr/>
          <a:lstStyle/>
          <a:p>
            <a:pPr marL="571500" indent="-457200" algn="just">
              <a:buFont typeface="+mj-lt"/>
              <a:buAutoNum type="arabicPeriod"/>
            </a:pPr>
            <a:r>
              <a:rPr lang="en-US" sz="2100" b="1" dirty="0">
                <a:solidFill>
                  <a:schemeClr val="tx1"/>
                </a:solidFill>
                <a:latin typeface="Times New Roman" panose="02020603050405020304" pitchFamily="18" charset="0"/>
                <a:cs typeface="Times New Roman" panose="02020603050405020304" pitchFamily="18" charset="0"/>
              </a:rPr>
              <a:t>Power Source:</a:t>
            </a:r>
            <a:r>
              <a:rPr lang="en-US" sz="2100" dirty="0">
                <a:solidFill>
                  <a:schemeClr val="tx1"/>
                </a:solidFill>
                <a:latin typeface="Times New Roman" panose="02020603050405020304" pitchFamily="18" charset="0"/>
                <a:cs typeface="Times New Roman" panose="02020603050405020304" pitchFamily="18" charset="0"/>
              </a:rPr>
              <a:t> Most systems have a power supply of their own. The Network Interface Card (NIC) and Graphic Accelerator are examples of embedded systems that do not have their own power supply and connect to PC power supply lines. The supply has a specific operation range or range of voltages. Various unis in an embedded system operate in one of the following four power ranges: 5.0V ± 0.25V, 3.3V ± 0.3V, 2.0V ± 0.2V and 1.5V ± 0.2V. There is generally an inverse relationship between propagation delay in the gates and operational voltage. Therefore, the 5V system processor and units are used in most high performance systems.</a:t>
            </a:r>
          </a:p>
          <a:p>
            <a:pPr marL="571500" indent="-457200" algn="just">
              <a:buFont typeface="+mj-lt"/>
              <a:buAutoNum type="arabicPeriod"/>
            </a:pPr>
            <a:r>
              <a:rPr lang="en-US" sz="2100" b="1" dirty="0">
                <a:solidFill>
                  <a:schemeClr val="tx1"/>
                </a:solidFill>
                <a:latin typeface="Times New Roman" panose="02020603050405020304" pitchFamily="18" charset="0"/>
                <a:cs typeface="Times New Roman" panose="02020603050405020304" pitchFamily="18" charset="0"/>
              </a:rPr>
              <a:t>Clock Oscillator Circuit and Clocking Units:</a:t>
            </a:r>
            <a:r>
              <a:rPr lang="en-US" sz="2100" dirty="0">
                <a:solidFill>
                  <a:schemeClr val="tx1"/>
                </a:solidFill>
                <a:latin typeface="Times New Roman" panose="02020603050405020304" pitchFamily="18" charset="0"/>
                <a:cs typeface="Times New Roman" panose="02020603050405020304" pitchFamily="18" charset="0"/>
              </a:rPr>
              <a:t> The clock controls the time for executing an instruction. After the power supply, the clock is the basic unit of a system. A processor needs a clock oscillator circuit. The clock controls the various clocking requirements of the CPU, of the system timers and the CPU machine cycles. The machine cycles are for fetching codes and date from memory and then decoding and executing them at the processor and for transferring the results to memory.</a:t>
            </a: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19</a:t>
            </a:fld>
            <a:endParaRPr lang="en-US"/>
          </a:p>
        </p:txBody>
      </p:sp>
    </p:spTree>
    <p:extLst>
      <p:ext uri="{BB962C8B-B14F-4D97-AF65-F5344CB8AC3E}">
        <p14:creationId xmlns:p14="http://schemas.microsoft.com/office/powerpoint/2010/main" val="1939862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Embedded Hardware Units and Devices in a System</a:t>
            </a:r>
          </a:p>
        </p:txBody>
      </p:sp>
      <p:sp>
        <p:nvSpPr>
          <p:cNvPr id="3" name="Text Placeholder 2"/>
          <p:cNvSpPr>
            <a:spLocks noGrp="1"/>
          </p:cNvSpPr>
          <p:nvPr>
            <p:ph type="body" idx="1"/>
          </p:nvPr>
        </p:nvSpPr>
        <p:spPr>
          <a:xfrm>
            <a:off x="76200" y="975360"/>
            <a:ext cx="8869680" cy="5821680"/>
          </a:xfrm>
        </p:spPr>
        <p:txBody>
          <a:bodyPr/>
          <a:lstStyle/>
          <a:p>
            <a:pPr marL="571500" indent="-457200" algn="just">
              <a:buFont typeface="+mj-lt"/>
              <a:buAutoNum type="arabicPeriod" startAt="3"/>
            </a:pPr>
            <a:r>
              <a:rPr lang="en-US" sz="2100" b="1" dirty="0">
                <a:solidFill>
                  <a:schemeClr val="tx1"/>
                </a:solidFill>
                <a:latin typeface="Times New Roman" panose="02020603050405020304" pitchFamily="18" charset="0"/>
                <a:cs typeface="Times New Roman" panose="02020603050405020304" pitchFamily="18" charset="0"/>
              </a:rPr>
              <a:t>System Timers and Real-time Clocks: </a:t>
            </a:r>
            <a:r>
              <a:rPr lang="en-US" sz="2100" dirty="0">
                <a:solidFill>
                  <a:schemeClr val="tx1"/>
                </a:solidFill>
                <a:latin typeface="Times New Roman" panose="02020603050405020304" pitchFamily="18" charset="0"/>
                <a:cs typeface="Times New Roman" panose="02020603050405020304" pitchFamily="18" charset="0"/>
              </a:rPr>
              <a:t>A timer circuit is suitably configured as the system clock, which ticks and generates system interrupts periodically; for example 60 times in 1s. The interrupt service routines then perform the required operation. A timer circuit is suitably configured as the real-time clock (RTC) that generates system interrupts periodically for the schedulers, real-time programs and for periodic saving of time and date in the system. The RTC or system timer is also used to obtain software-controlled delays and time-outs.</a:t>
            </a:r>
          </a:p>
          <a:p>
            <a:pPr marL="571500" indent="-457200" algn="just">
              <a:buFont typeface="+mj-lt"/>
              <a:buAutoNum type="arabicPeriod" startAt="3"/>
            </a:pPr>
            <a:r>
              <a:rPr lang="en-US" sz="2100" b="1" dirty="0">
                <a:solidFill>
                  <a:schemeClr val="tx1"/>
                </a:solidFill>
                <a:latin typeface="Times New Roman" panose="02020603050405020304" pitchFamily="18" charset="0"/>
                <a:cs typeface="Times New Roman" panose="02020603050405020304" pitchFamily="18" charset="0"/>
              </a:rPr>
              <a:t>Reset Circuit: </a:t>
            </a:r>
            <a:r>
              <a:rPr lang="en-US" sz="2100" dirty="0">
                <a:solidFill>
                  <a:schemeClr val="tx1"/>
                </a:solidFill>
                <a:latin typeface="Times New Roman" panose="02020603050405020304" pitchFamily="18" charset="0"/>
                <a:cs typeface="Times New Roman" panose="02020603050405020304" pitchFamily="18" charset="0"/>
              </a:rPr>
              <a:t>the reset circuit activates for a fixed period and then deactivates. The processor circuit keeps the reset pin active and then deactivates to let the program proceed from a default beginning address. The reset pin or the internal reset signal, if connected to the other units in the system, is activated again by the processor; it becomes an outgoing pin to enforce a reset state in other sister units of the system. On deactivation of the reset that succeeds the processor activation, a program executes from a start-up address.</a:t>
            </a: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20</a:t>
            </a:fld>
            <a:endParaRPr lang="en-US"/>
          </a:p>
        </p:txBody>
      </p:sp>
    </p:spTree>
    <p:extLst>
      <p:ext uri="{BB962C8B-B14F-4D97-AF65-F5344CB8AC3E}">
        <p14:creationId xmlns:p14="http://schemas.microsoft.com/office/powerpoint/2010/main" val="1895319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Embedded Hardware Units and Devices in a System</a:t>
            </a:r>
          </a:p>
        </p:txBody>
      </p:sp>
      <p:sp>
        <p:nvSpPr>
          <p:cNvPr id="3" name="Text Placeholder 2"/>
          <p:cNvSpPr>
            <a:spLocks noGrp="1"/>
          </p:cNvSpPr>
          <p:nvPr>
            <p:ph type="body" idx="1"/>
          </p:nvPr>
        </p:nvSpPr>
        <p:spPr>
          <a:xfrm>
            <a:off x="76200" y="975360"/>
            <a:ext cx="8869680" cy="5821680"/>
          </a:xfrm>
        </p:spPr>
        <p:txBody>
          <a:bodyPr/>
          <a:lstStyle/>
          <a:p>
            <a:pPr marL="571500" indent="-457200" algn="just">
              <a:buFont typeface="+mj-lt"/>
              <a:buAutoNum type="arabicPeriod" startAt="5"/>
            </a:pPr>
            <a:r>
              <a:rPr lang="en-US" sz="2100" b="1" dirty="0">
                <a:solidFill>
                  <a:schemeClr val="tx1"/>
                </a:solidFill>
                <a:latin typeface="Times New Roman" panose="02020603050405020304" pitchFamily="18" charset="0"/>
                <a:cs typeface="Times New Roman" panose="02020603050405020304" pitchFamily="18" charset="0"/>
              </a:rPr>
              <a:t>Watchdog Timer: </a:t>
            </a:r>
            <a:r>
              <a:rPr lang="en-US" sz="2100" dirty="0">
                <a:solidFill>
                  <a:schemeClr val="tx1"/>
                </a:solidFill>
                <a:latin typeface="Times New Roman" panose="02020603050405020304" pitchFamily="18" charset="0"/>
                <a:cs typeface="Times New Roman" panose="02020603050405020304" pitchFamily="18" charset="0"/>
              </a:rPr>
              <a:t>It is timing device that resets the system after a predefined timeout. It is activated within the first few clock cycles after power-up. It has number of applications. In many embedded systems reset by a watchdog timer is very essential because it helps in rescuing the system if a fault develops and the program gets stuck. On restart, the system can function normally.  </a:t>
            </a:r>
            <a:r>
              <a:rPr lang="en-US" sz="2100" b="1" dirty="0">
                <a:solidFill>
                  <a:schemeClr val="tx1"/>
                </a:solidFill>
                <a:latin typeface="Times New Roman" panose="02020603050405020304" pitchFamily="18" charset="0"/>
                <a:cs typeface="Times New Roman" panose="02020603050405020304" pitchFamily="18" charset="0"/>
              </a:rPr>
              <a:t> </a:t>
            </a:r>
          </a:p>
          <a:p>
            <a:pPr marL="571500" indent="-457200" algn="just">
              <a:buFont typeface="+mj-lt"/>
              <a:buAutoNum type="arabicPeriod" startAt="5"/>
            </a:pPr>
            <a:r>
              <a:rPr lang="en-US" sz="2100" b="1" dirty="0">
                <a:solidFill>
                  <a:schemeClr val="tx1"/>
                </a:solidFill>
                <a:latin typeface="Times New Roman" panose="02020603050405020304" pitchFamily="18" charset="0"/>
                <a:cs typeface="Times New Roman" panose="02020603050405020304" pitchFamily="18" charset="0"/>
              </a:rPr>
              <a:t>Memory: </a:t>
            </a:r>
            <a:r>
              <a:rPr lang="en-US" sz="2100" dirty="0">
                <a:solidFill>
                  <a:schemeClr val="tx1"/>
                </a:solidFill>
                <a:latin typeface="Times New Roman" panose="02020603050405020304" pitchFamily="18" charset="0"/>
                <a:cs typeface="Times New Roman" panose="02020603050405020304" pitchFamily="18" charset="0"/>
              </a:rPr>
              <a:t>In a system, there are various types of memory as shown below:</a:t>
            </a: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21</a:t>
            </a:fld>
            <a:endParaRPr lang="en-US"/>
          </a:p>
        </p:txBody>
      </p:sp>
      <p:pic>
        <p:nvPicPr>
          <p:cNvPr id="5" name="Picture 4"/>
          <p:cNvPicPr>
            <a:picLocks noChangeAspect="1"/>
          </p:cNvPicPr>
          <p:nvPr/>
        </p:nvPicPr>
        <p:blipFill>
          <a:blip r:embed="rId2"/>
          <a:stretch>
            <a:fillRect/>
          </a:stretch>
        </p:blipFill>
        <p:spPr>
          <a:xfrm>
            <a:off x="762000" y="3600849"/>
            <a:ext cx="7924800" cy="2618341"/>
          </a:xfrm>
          <a:prstGeom prst="rect">
            <a:avLst/>
          </a:prstGeom>
        </p:spPr>
      </p:pic>
    </p:spTree>
    <p:extLst>
      <p:ext uri="{BB962C8B-B14F-4D97-AF65-F5344CB8AC3E}">
        <p14:creationId xmlns:p14="http://schemas.microsoft.com/office/powerpoint/2010/main" val="1984694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Embedded Software in a System</a:t>
            </a:r>
          </a:p>
        </p:txBody>
      </p:sp>
      <p:sp>
        <p:nvSpPr>
          <p:cNvPr id="3" name="Text Placeholder 2"/>
          <p:cNvSpPr>
            <a:spLocks noGrp="1"/>
          </p:cNvSpPr>
          <p:nvPr>
            <p:ph type="body" idx="1"/>
          </p:nvPr>
        </p:nvSpPr>
        <p:spPr>
          <a:xfrm>
            <a:off x="76200" y="975360"/>
            <a:ext cx="8869680" cy="5821680"/>
          </a:xfrm>
        </p:spPr>
        <p:txBody>
          <a:bodyPr/>
          <a:lstStyle/>
          <a:p>
            <a:pPr marL="114300" indent="0" algn="just">
              <a:buNone/>
            </a:pPr>
            <a:r>
              <a:rPr lang="en-US" sz="2100" b="1" dirty="0">
                <a:solidFill>
                  <a:schemeClr val="tx1"/>
                </a:solidFill>
                <a:latin typeface="Times New Roman" panose="02020603050405020304" pitchFamily="18" charset="0"/>
                <a:cs typeface="Times New Roman" panose="02020603050405020304" pitchFamily="18" charset="0"/>
              </a:rPr>
              <a:t>The software is like the brain of the embedded system.</a:t>
            </a:r>
          </a:p>
          <a:p>
            <a:pPr marL="114300" indent="0" algn="just">
              <a:buNone/>
            </a:pPr>
            <a:endParaRPr lang="en-US" sz="2100" b="1" dirty="0">
              <a:solidFill>
                <a:schemeClr val="tx1"/>
              </a:solidFill>
              <a:latin typeface="Times New Roman" panose="02020603050405020304" pitchFamily="18" charset="0"/>
              <a:cs typeface="Times New Roman" panose="02020603050405020304" pitchFamily="18" charset="0"/>
            </a:endParaRPr>
          </a:p>
          <a:p>
            <a:pPr marL="571500" indent="-457200" algn="just">
              <a:buAutoNum type="arabicPeriod"/>
            </a:pPr>
            <a:r>
              <a:rPr lang="en-US" sz="2100" b="1" dirty="0">
                <a:solidFill>
                  <a:schemeClr val="tx1"/>
                </a:solidFill>
                <a:latin typeface="Times New Roman" panose="02020603050405020304" pitchFamily="18" charset="0"/>
                <a:cs typeface="Times New Roman" panose="02020603050405020304" pitchFamily="18" charset="0"/>
              </a:rPr>
              <a:t>Coding of Software in Machine Codes: </a:t>
            </a:r>
            <a:r>
              <a:rPr lang="en-US" sz="2100" dirty="0">
                <a:solidFill>
                  <a:schemeClr val="tx1"/>
                </a:solidFill>
                <a:latin typeface="Times New Roman" panose="02020603050405020304" pitchFamily="18" charset="0"/>
                <a:cs typeface="Times New Roman" panose="02020603050405020304" pitchFamily="18" charset="0"/>
              </a:rPr>
              <a:t>During coding in this format, the programmer defines the addresses and the corresponding bytes or bits at each address. In configuring some specific physical device or subsystem, machine code-based coding is used. For example, in a transceiver, placing certain machine code and bits can configure it to transmit at specific megabytes per second or gigabytes per second, using specific bus and networking protocols.</a:t>
            </a:r>
          </a:p>
          <a:p>
            <a:pPr marL="571500" indent="-457200" algn="just">
              <a:buAutoNum type="arabicPeriod"/>
            </a:pPr>
            <a:r>
              <a:rPr lang="en-US" sz="2100" b="1" dirty="0">
                <a:solidFill>
                  <a:schemeClr val="tx1"/>
                </a:solidFill>
                <a:latin typeface="Times New Roman" panose="02020603050405020304" pitchFamily="18" charset="0"/>
                <a:cs typeface="Times New Roman" panose="02020603050405020304" pitchFamily="18" charset="0"/>
              </a:rPr>
              <a:t>Software in High Level Language: </a:t>
            </a:r>
            <a:r>
              <a:rPr lang="en-US" sz="2100" dirty="0">
                <a:solidFill>
                  <a:schemeClr val="tx1"/>
                </a:solidFill>
                <a:latin typeface="Times New Roman" panose="02020603050405020304" pitchFamily="18" charset="0"/>
                <a:cs typeface="Times New Roman" panose="02020603050405020304" pitchFamily="18" charset="0"/>
              </a:rPr>
              <a:t>Since the coding in assembly language is very time consuming in most cases, software is developed in a high-level language, C or C++ or Java in most cases. C is usually the preferred language. The programmer needs to understand only the hardware organization when coding in high level language.</a:t>
            </a:r>
          </a:p>
          <a:p>
            <a:pPr marL="571500" indent="-457200" algn="just">
              <a:buAutoNum type="arabicPeriod"/>
            </a:pPr>
            <a:endParaRPr lang="en-US" sz="2100" dirty="0">
              <a:solidFill>
                <a:schemeClr val="tx1"/>
              </a:solidFill>
              <a:latin typeface="Times New Roman" panose="02020603050405020304" pitchFamily="18" charset="0"/>
              <a:cs typeface="Times New Roman" panose="02020603050405020304" pitchFamily="18" charset="0"/>
            </a:endParaRP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11430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22</a:t>
            </a:fld>
            <a:endParaRPr lang="en-US"/>
          </a:p>
        </p:txBody>
      </p:sp>
    </p:spTree>
    <p:extLst>
      <p:ext uri="{BB962C8B-B14F-4D97-AF65-F5344CB8AC3E}">
        <p14:creationId xmlns:p14="http://schemas.microsoft.com/office/powerpoint/2010/main" val="2681096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4989"/>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Application Specific Integrated Circuit (ASIC)</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292048"/>
          </a:xfrm>
          <a:prstGeom prst="rect">
            <a:avLst/>
          </a:prstGeom>
          <a:noFill/>
          <a:ln>
            <a:noFill/>
          </a:ln>
        </p:spPr>
        <p:txBody>
          <a:bodyPr spcFirstLastPara="1" wrap="square" lIns="91425" tIns="45700" rIns="91425" bIns="45700" anchor="t" anchorCtr="0">
            <a:noAutofit/>
          </a:bodyPr>
          <a:lstStyle/>
          <a:p>
            <a:pPr marL="114300" indent="0" algn="just">
              <a:buNone/>
            </a:pPr>
            <a:r>
              <a:rPr lang="en-US" sz="2400" b="1" dirty="0">
                <a:solidFill>
                  <a:srgbClr val="2980B9"/>
                </a:solidFill>
                <a:effectLst/>
              </a:rPr>
              <a:t>What is an ASIC Chip (Application Specific Integrated Circuit)?</a:t>
            </a:r>
          </a:p>
          <a:p>
            <a:pPr algn="just"/>
            <a:r>
              <a:rPr lang="en-US" sz="2800" dirty="0">
                <a:solidFill>
                  <a:srgbClr val="000000"/>
                </a:solidFill>
                <a:effectLst/>
              </a:rPr>
              <a:t>ASICs are integrated circuits that are specifically designed and tailored for a particular application or use.</a:t>
            </a:r>
          </a:p>
          <a:p>
            <a:pPr marL="114300" indent="0" algn="just">
              <a:buNone/>
            </a:pPr>
            <a:r>
              <a:rPr lang="en-US" sz="2800" dirty="0">
                <a:solidFill>
                  <a:srgbClr val="000000"/>
                </a:solidFill>
                <a:effectLst/>
              </a:rPr>
              <a:t> </a:t>
            </a:r>
          </a:p>
          <a:p>
            <a:pPr algn="just"/>
            <a:r>
              <a:rPr lang="en-US" sz="2800" dirty="0">
                <a:solidFill>
                  <a:srgbClr val="000000"/>
                </a:solidFill>
                <a:effectLst/>
              </a:rPr>
              <a:t>Unlike general-purpose integrated circuits that can be used in a variety of devices, they are usually created from the ground up, based on the specific needs of the application they are intended for.</a:t>
            </a:r>
          </a:p>
          <a:p>
            <a:pPr marL="114300" indent="0" algn="just">
              <a:buNone/>
            </a:pPr>
            <a:endParaRPr lang="en-US" sz="2800" dirty="0">
              <a:solidFill>
                <a:srgbClr val="000000"/>
              </a:solidFill>
              <a:effectLst/>
            </a:endParaRPr>
          </a:p>
          <a:p>
            <a:pPr algn="just"/>
            <a:r>
              <a:rPr lang="en-US" sz="2800" dirty="0">
                <a:solidFill>
                  <a:srgbClr val="000000"/>
                </a:solidFill>
                <a:effectLst/>
              </a:rPr>
              <a:t> Examples include chips found in toys or those used for the interfacing of memory and microprocessors.</a:t>
            </a:r>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Types of ASIC</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292048"/>
          </a:xfrm>
          <a:prstGeom prst="rect">
            <a:avLst/>
          </a:prstGeom>
          <a:noFill/>
          <a:ln>
            <a:noFill/>
          </a:ln>
        </p:spPr>
        <p:txBody>
          <a:bodyPr spcFirstLastPara="1" wrap="square" lIns="91425" tIns="45700" rIns="91425" bIns="45700" anchor="t" anchorCtr="0">
            <a:noAutofit/>
          </a:bodyPr>
          <a:lstStyle/>
          <a:p>
            <a:pPr marL="114300" indent="0" algn="just">
              <a:buNone/>
            </a:pPr>
            <a:r>
              <a:rPr lang="en-US" sz="2800" dirty="0">
                <a:latin typeface="Times New Roman"/>
                <a:ea typeface="Times New Roman"/>
                <a:cs typeface="Times New Roman"/>
                <a:sym typeface="Times New Roman"/>
              </a:rPr>
              <a:t>.</a:t>
            </a:r>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pic>
        <p:nvPicPr>
          <p:cNvPr id="3" name="Picture 2">
            <a:extLst>
              <a:ext uri="{FF2B5EF4-FFF2-40B4-BE49-F238E27FC236}">
                <a16:creationId xmlns:a16="http://schemas.microsoft.com/office/drawing/2014/main" xmlns="" id="{572C02A9-7CA5-5E22-2116-D2F4AB13B29B}"/>
              </a:ext>
            </a:extLst>
          </p:cNvPr>
          <p:cNvPicPr>
            <a:picLocks noChangeAspect="1"/>
          </p:cNvPicPr>
          <p:nvPr/>
        </p:nvPicPr>
        <p:blipFill>
          <a:blip r:embed="rId3"/>
          <a:stretch>
            <a:fillRect/>
          </a:stretch>
        </p:blipFill>
        <p:spPr>
          <a:xfrm>
            <a:off x="948127" y="1395750"/>
            <a:ext cx="7191531" cy="4854283"/>
          </a:xfrm>
          <a:prstGeom prst="rect">
            <a:avLst/>
          </a:prstGeom>
        </p:spPr>
      </p:pic>
    </p:spTree>
    <p:extLst>
      <p:ext uri="{BB962C8B-B14F-4D97-AF65-F5344CB8AC3E}">
        <p14:creationId xmlns:p14="http://schemas.microsoft.com/office/powerpoint/2010/main" val="3269981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Types of ASIC</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buNone/>
            </a:pPr>
            <a:r>
              <a:rPr lang="en-US" sz="1800" b="1" dirty="0">
                <a:solidFill>
                  <a:srgbClr val="2980B9"/>
                </a:solidFill>
                <a:effectLst/>
              </a:rPr>
              <a:t>1. Full Custom ASICs</a:t>
            </a:r>
            <a:endParaRPr lang="en-US" sz="1800" b="1" dirty="0"/>
          </a:p>
          <a:p>
            <a:pPr algn="just"/>
            <a:r>
              <a:rPr lang="en-US" sz="1800" dirty="0">
                <a:effectLst/>
              </a:rPr>
              <a:t>These ASICs are designed from the ground up for a specific application. Every aspect of the chip, from the logic gates to the layout of the circuit, is custom-made to meet the precise requirements of the intended application. </a:t>
            </a:r>
          </a:p>
          <a:p>
            <a:pPr algn="just"/>
            <a:r>
              <a:rPr lang="en-US" sz="1800" dirty="0">
                <a:effectLst/>
              </a:rPr>
              <a:t>Full custom ASICs offer the highest performance and the lowest power consumption, but they are also the most expensive and time-consuming to design and manufacture. </a:t>
            </a:r>
          </a:p>
          <a:p>
            <a:pPr algn="just"/>
            <a:r>
              <a:rPr lang="en-US" sz="1800" dirty="0">
                <a:effectLst/>
              </a:rPr>
              <a:t>They are typically used in applications where the volume is high enough or the performance requirements are strict enough to justify the additional cost and effort.</a:t>
            </a:r>
            <a:endParaRPr lang="en-US" sz="1800" dirty="0"/>
          </a:p>
          <a:p>
            <a:pPr marL="114300" indent="0" algn="just">
              <a:buNone/>
            </a:pPr>
            <a:r>
              <a:rPr lang="en-IN" sz="1800" b="1" dirty="0">
                <a:solidFill>
                  <a:srgbClr val="2980B9"/>
                </a:solidFill>
                <a:effectLst/>
              </a:rPr>
              <a:t>2. Semi-Custom ASICs</a:t>
            </a:r>
          </a:p>
          <a:p>
            <a:pPr marL="114300" indent="0" algn="just">
              <a:buNone/>
            </a:pPr>
            <a:r>
              <a:rPr lang="en-US" sz="1800" dirty="0"/>
              <a:t>Semi-custom ASICs, including Standard Cell ASICs and Gate Array ASICs, offer a balance between customization and cost.</a:t>
            </a:r>
          </a:p>
          <a:p>
            <a:pPr algn="just"/>
            <a:r>
              <a:rPr lang="en-US" sz="1800" b="1" dirty="0">
                <a:solidFill>
                  <a:srgbClr val="2980B9"/>
                </a:solidFill>
              </a:rPr>
              <a:t>Standard Cell ASICs: </a:t>
            </a:r>
            <a:r>
              <a:rPr lang="en-US" sz="1800" dirty="0"/>
              <a:t>In standard cell-based ASIC design, a standard cell library contains pre-designed logic cells like AND gates, OR gates, multiplexers, and flip-flops. </a:t>
            </a:r>
          </a:p>
          <a:p>
            <a:pPr algn="just"/>
            <a:r>
              <a:rPr lang="en-US" sz="1800" dirty="0"/>
              <a:t>These cells are standardized and stored for use in ASIC chip designs. </a:t>
            </a:r>
          </a:p>
          <a:p>
            <a:pPr algn="just"/>
            <a:r>
              <a:rPr lang="en-US" sz="1800" dirty="0"/>
              <a:t>The ASIC chip typically includes a standard cell area or flexible block, made up of these cells arranged in rows, and may also incorporate mega cells such as microcontrollers or microprocessors, referred to as mega functions, system-level macros, or fixed blocks/functional standard blocks.</a:t>
            </a:r>
            <a:endParaRPr lang="en-IN" sz="1800" dirty="0"/>
          </a:p>
          <a:p>
            <a:pPr marL="114300" indent="0" algn="just">
              <a:buNone/>
            </a:pPr>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spTree>
    <p:extLst>
      <p:ext uri="{BB962C8B-B14F-4D97-AF65-F5344CB8AC3E}">
        <p14:creationId xmlns:p14="http://schemas.microsoft.com/office/powerpoint/2010/main" val="3802858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114300" indent="0">
              <a:buNone/>
            </a:pPr>
            <a:r>
              <a:rPr lang="en-US" sz="2800" b="1" dirty="0">
                <a:latin typeface="Times New Roman"/>
                <a:ea typeface="Times New Roman"/>
                <a:cs typeface="Times New Roman"/>
                <a:sym typeface="Times New Roman"/>
              </a:rPr>
              <a:t>Standard Cell ASIC</a:t>
            </a: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dirty="0">
                <a:latin typeface="Times New Roman"/>
                <a:ea typeface="Times New Roman"/>
                <a:cs typeface="Times New Roman"/>
                <a:sym typeface="Times New Roman"/>
              </a:rPr>
              <a:t>Standard Cell ASIC</a:t>
            </a:r>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pic>
        <p:nvPicPr>
          <p:cNvPr id="3" name="Picture 2">
            <a:extLst>
              <a:ext uri="{FF2B5EF4-FFF2-40B4-BE49-F238E27FC236}">
                <a16:creationId xmlns:a16="http://schemas.microsoft.com/office/drawing/2014/main" xmlns="" id="{1EB6D41A-C3B9-EF95-0B44-C0425585DF97}"/>
              </a:ext>
            </a:extLst>
          </p:cNvPr>
          <p:cNvPicPr>
            <a:picLocks noChangeAspect="1"/>
          </p:cNvPicPr>
          <p:nvPr/>
        </p:nvPicPr>
        <p:blipFill>
          <a:blip r:embed="rId3"/>
          <a:stretch>
            <a:fillRect/>
          </a:stretch>
        </p:blipFill>
        <p:spPr>
          <a:xfrm>
            <a:off x="1038225" y="1633928"/>
            <a:ext cx="7067550" cy="4362138"/>
          </a:xfrm>
          <a:prstGeom prst="rect">
            <a:avLst/>
          </a:prstGeom>
        </p:spPr>
      </p:pic>
    </p:spTree>
    <p:extLst>
      <p:ext uri="{BB962C8B-B14F-4D97-AF65-F5344CB8AC3E}">
        <p14:creationId xmlns:p14="http://schemas.microsoft.com/office/powerpoint/2010/main" val="42940121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Gate Array ASIC</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algn="just"/>
            <a:r>
              <a:rPr lang="en-US" sz="1600" b="1" dirty="0">
                <a:solidFill>
                  <a:srgbClr val="2980B9"/>
                </a:solidFill>
                <a:effectLst/>
              </a:rPr>
              <a:t>Gate Array ASICs:</a:t>
            </a:r>
            <a:r>
              <a:rPr lang="en-US" sz="1600" dirty="0">
                <a:effectLst/>
              </a:rPr>
              <a:t> Gate Array ASICs are a type of semi-custom ASIC with predefined transistors on the silicon wafer, where the designer cannot alter the transistor placement but can change the interconnections between them using the die's initial metal layers. </a:t>
            </a:r>
          </a:p>
          <a:p>
            <a:pPr algn="just"/>
            <a:r>
              <a:rPr lang="en-US" sz="1600" dirty="0">
                <a:effectLst/>
              </a:rPr>
              <a:t>The design utilizes a gate array library for configuration, typically resulting in </a:t>
            </a:r>
            <a:r>
              <a:rPr lang="en-US" sz="1600" b="1" dirty="0">
                <a:effectLst/>
              </a:rPr>
              <a:t>Channeled, Channel-less, or Structured Gate Arrays</a:t>
            </a:r>
            <a:r>
              <a:rPr lang="en-US" sz="1600" dirty="0">
                <a:effectLst/>
              </a:rPr>
              <a:t>, each varying in interconnection approach. This method, known as Masked Gate Array, relies on a base array pattern and base cells for circuit design.</a:t>
            </a:r>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pic>
        <p:nvPicPr>
          <p:cNvPr id="3" name="Picture 2">
            <a:extLst>
              <a:ext uri="{FF2B5EF4-FFF2-40B4-BE49-F238E27FC236}">
                <a16:creationId xmlns:a16="http://schemas.microsoft.com/office/drawing/2014/main" xmlns="" id="{6F3DA64E-755D-34CE-971E-8FE3A81B1457}"/>
              </a:ext>
            </a:extLst>
          </p:cNvPr>
          <p:cNvPicPr>
            <a:picLocks noChangeAspect="1"/>
          </p:cNvPicPr>
          <p:nvPr/>
        </p:nvPicPr>
        <p:blipFill>
          <a:blip r:embed="rId3"/>
          <a:stretch>
            <a:fillRect/>
          </a:stretch>
        </p:blipFill>
        <p:spPr>
          <a:xfrm>
            <a:off x="14989" y="3123287"/>
            <a:ext cx="9144000" cy="3008209"/>
          </a:xfrm>
          <a:prstGeom prst="rect">
            <a:avLst/>
          </a:prstGeom>
        </p:spPr>
      </p:pic>
    </p:spTree>
    <p:extLst>
      <p:ext uri="{BB962C8B-B14F-4D97-AF65-F5344CB8AC3E}">
        <p14:creationId xmlns:p14="http://schemas.microsoft.com/office/powerpoint/2010/main" val="27302740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Gate Array ASIC and Programmable ASIC</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algn="just">
              <a:buFont typeface="Arial" panose="020B0604020202020204" pitchFamily="34" charset="0"/>
              <a:buChar char="•"/>
            </a:pPr>
            <a:r>
              <a:rPr lang="en-US" sz="1800" b="1" dirty="0">
                <a:effectLst/>
              </a:rPr>
              <a:t>Channeled Gate Arrays: </a:t>
            </a:r>
            <a:r>
              <a:rPr lang="en-US" sz="1800" dirty="0">
                <a:effectLst/>
              </a:rPr>
              <a:t>Utilize predefined routing channels between logic cells for wire connections, suitable for standardized designs needing flexible interconnect pathways. </a:t>
            </a:r>
            <a:endParaRPr lang="en-US" sz="1800" dirty="0"/>
          </a:p>
          <a:p>
            <a:pPr algn="just">
              <a:buFont typeface="Arial" panose="020B0604020202020204" pitchFamily="34" charset="0"/>
              <a:buChar char="•"/>
            </a:pPr>
            <a:r>
              <a:rPr lang="en-US" sz="1800" b="1" dirty="0">
                <a:effectLst/>
              </a:rPr>
              <a:t>Channel-less Gate Arrays:</a:t>
            </a:r>
            <a:r>
              <a:rPr lang="en-US" sz="1800" dirty="0">
                <a:effectLst/>
              </a:rPr>
              <a:t> Lack predefined routing channels, allowing more compact designs by placing interconnects directly over cells, enhancing chip density. </a:t>
            </a:r>
            <a:endParaRPr lang="en-US" sz="1800" dirty="0"/>
          </a:p>
          <a:p>
            <a:pPr algn="just">
              <a:buFont typeface="Arial" panose="020B0604020202020204" pitchFamily="34" charset="0"/>
              <a:buChar char="•"/>
            </a:pPr>
            <a:r>
              <a:rPr lang="en-US" sz="1800" b="1" dirty="0">
                <a:effectLst/>
              </a:rPr>
              <a:t>Structured Gate Arrays:</a:t>
            </a:r>
            <a:r>
              <a:rPr lang="en-US" sz="1800" dirty="0">
                <a:effectLst/>
              </a:rPr>
              <a:t> Combine predefined logic blocks with customizable interconnect layers, offering a balance between design flexibility and rapid development.</a:t>
            </a:r>
            <a:endParaRPr lang="en-US" sz="1800" dirty="0"/>
          </a:p>
          <a:p>
            <a:pPr algn="just"/>
            <a:endParaRPr lang="en-US" sz="2800" dirty="0">
              <a:latin typeface="Times New Roman"/>
              <a:ea typeface="Times New Roman"/>
              <a:cs typeface="Times New Roman"/>
              <a:sym typeface="Times New Roman"/>
            </a:endParaRPr>
          </a:p>
          <a:p>
            <a:pPr marL="114300" indent="0">
              <a:buNone/>
            </a:pPr>
            <a:r>
              <a:rPr lang="en-US" sz="2000" b="1" dirty="0">
                <a:solidFill>
                  <a:srgbClr val="2980B9"/>
                </a:solidFill>
                <a:effectLst/>
              </a:rPr>
              <a:t>3. Programmable ASICs</a:t>
            </a:r>
            <a:endParaRPr lang="en-US" sz="2000" b="1" dirty="0"/>
          </a:p>
          <a:p>
            <a:pPr algn="just">
              <a:buFont typeface="Arial" panose="020B0604020202020204" pitchFamily="34" charset="0"/>
              <a:buChar char="•"/>
            </a:pPr>
            <a:r>
              <a:rPr lang="en-US" sz="2000" b="1" dirty="0">
                <a:solidFill>
                  <a:srgbClr val="2980B9"/>
                </a:solidFill>
                <a:effectLst/>
              </a:rPr>
              <a:t>Programmable Logic Devices (PLD):</a:t>
            </a:r>
            <a:r>
              <a:rPr lang="en-US" sz="2000" dirty="0">
                <a:effectLst/>
              </a:rPr>
              <a:t> a type of digital integrated circuit that can be programmed to perform a wide range of logical operations. They are used in various applications to implement custom logic circuits without the need for custom semiconductor manufacturing.</a:t>
            </a:r>
            <a:endParaRPr lang="en-US" sz="2000" dirty="0"/>
          </a:p>
          <a:p>
            <a:pPr algn="just">
              <a:buFont typeface="Arial" panose="020B0604020202020204" pitchFamily="34" charset="0"/>
              <a:buChar char="•"/>
            </a:pPr>
            <a:r>
              <a:rPr lang="en-US" sz="2000" b="1" dirty="0">
                <a:solidFill>
                  <a:srgbClr val="2980B9"/>
                </a:solidFill>
                <a:effectLst/>
              </a:rPr>
              <a:t>FPGAs:</a:t>
            </a:r>
            <a:r>
              <a:rPr lang="en-US" sz="2000" dirty="0">
                <a:effectLst/>
              </a:rPr>
              <a:t> Reprogrammable and can be used for various applications. They can be configured by the user after manufacturing according to different needs.</a:t>
            </a:r>
            <a:endParaRPr lang="en-US" sz="2000" dirty="0"/>
          </a:p>
          <a:p>
            <a:pPr algn="just"/>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Tree>
    <p:extLst>
      <p:ext uri="{BB962C8B-B14F-4D97-AF65-F5344CB8AC3E}">
        <p14:creationId xmlns:p14="http://schemas.microsoft.com/office/powerpoint/2010/main" val="2345939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Applications of ASIC</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algn="just"/>
            <a:r>
              <a:rPr lang="en-US" sz="2400" dirty="0">
                <a:effectLst/>
              </a:rPr>
              <a:t>The distinct characteristics of ASICs have transformed electronic manufacturing, leading to smaller die sizes and greater logic gate density per chip. </a:t>
            </a:r>
          </a:p>
          <a:p>
            <a:pPr algn="just"/>
            <a:r>
              <a:rPr lang="en-US" sz="2400" dirty="0">
                <a:effectLst/>
              </a:rPr>
              <a:t>Typically chosen for advanced applications, ASIC chips serve as IP cores in satellites, are crucial in ROM production, and are utilized in microcontrollers, as well as in a wide array of medical and research applications. </a:t>
            </a:r>
          </a:p>
          <a:p>
            <a:pPr algn="just"/>
            <a:r>
              <a:rPr lang="en-US" sz="2400" dirty="0">
                <a:effectLst/>
              </a:rPr>
              <a:t>Currently, one of the most notable uses of ASIC technology is in Bitcoin mining.</a:t>
            </a:r>
            <a:endParaRPr lang="en-US" sz="2400" dirty="0"/>
          </a:p>
          <a:p>
            <a:pPr algn="just"/>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Tree>
    <p:extLst>
      <p:ext uri="{BB962C8B-B14F-4D97-AF65-F5344CB8AC3E}">
        <p14:creationId xmlns:p14="http://schemas.microsoft.com/office/powerpoint/2010/main" val="4077325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4989"/>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Embedded Networking and Standards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Communication Interface:</a:t>
            </a:r>
          </a:p>
          <a:p>
            <a:pPr algn="just"/>
            <a:r>
              <a:rPr lang="en-US" sz="2800" dirty="0">
                <a:latin typeface="Times New Roman"/>
                <a:ea typeface="Times New Roman"/>
                <a:cs typeface="Times New Roman"/>
                <a:sym typeface="Times New Roman"/>
              </a:rPr>
              <a:t>Communication interface is essential for communicating with various subsystems of the embedded system and with the external world.</a:t>
            </a:r>
          </a:p>
          <a:p>
            <a:pPr algn="just"/>
            <a:endParaRPr lang="en-US" sz="2800" dirty="0">
              <a:latin typeface="Times New Roman"/>
              <a:ea typeface="Times New Roman"/>
              <a:cs typeface="Times New Roman"/>
              <a:sym typeface="Times New Roman"/>
            </a:endParaRPr>
          </a:p>
          <a:p>
            <a:pPr algn="just"/>
            <a:r>
              <a:rPr lang="en-US" sz="2800" dirty="0">
                <a:latin typeface="Times New Roman"/>
                <a:ea typeface="Times New Roman"/>
                <a:cs typeface="Times New Roman"/>
                <a:sym typeface="Times New Roman"/>
              </a:rPr>
              <a:t>The communication interface can be viewed in two different perspectives, namely:</a:t>
            </a:r>
          </a:p>
          <a:p>
            <a:pPr marL="114300" indent="0" algn="just">
              <a:buNone/>
            </a:pPr>
            <a:r>
              <a:rPr lang="en-US" sz="2800" dirty="0">
                <a:latin typeface="Times New Roman"/>
                <a:ea typeface="Times New Roman"/>
                <a:cs typeface="Times New Roman"/>
                <a:sym typeface="Times New Roman"/>
              </a:rPr>
              <a:t>	1. Device/board level communication interface (Onboard Communication Interface)</a:t>
            </a:r>
          </a:p>
          <a:p>
            <a:pPr marL="114300" indent="0" algn="just">
              <a:buNone/>
            </a:pPr>
            <a:r>
              <a:rPr lang="en-US" sz="2800" dirty="0">
                <a:latin typeface="Times New Roman"/>
                <a:ea typeface="Times New Roman"/>
                <a:cs typeface="Times New Roman"/>
                <a:sym typeface="Times New Roman"/>
              </a:rPr>
              <a:t>	2. Product level communication interface (External Communication Interface)</a:t>
            </a:r>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spTree>
    <p:extLst>
      <p:ext uri="{BB962C8B-B14F-4D97-AF65-F5344CB8AC3E}">
        <p14:creationId xmlns:p14="http://schemas.microsoft.com/office/powerpoint/2010/main" val="3652678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Embedded Networking and Standards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628650" indent="-514350" algn="just">
              <a:buAutoNum type="arabicPeriod"/>
            </a:pPr>
            <a:r>
              <a:rPr lang="en-US" sz="2800" b="1" dirty="0">
                <a:latin typeface="Times New Roman"/>
                <a:ea typeface="Times New Roman"/>
                <a:cs typeface="Times New Roman"/>
                <a:sym typeface="Times New Roman"/>
              </a:rPr>
              <a:t>Device/board level communication interface (Onboard Communication Interface):</a:t>
            </a:r>
          </a:p>
          <a:p>
            <a:pPr marL="114300" indent="0" algn="just">
              <a:buNone/>
            </a:pPr>
            <a:endParaRPr lang="en-US" sz="2800" dirty="0">
              <a:latin typeface="Times New Roman"/>
              <a:ea typeface="Times New Roman"/>
              <a:cs typeface="Times New Roman"/>
              <a:sym typeface="Times New Roman"/>
            </a:endParaRPr>
          </a:p>
          <a:p>
            <a:pPr marL="114300" indent="0" algn="just">
              <a:buNone/>
            </a:pPr>
            <a:r>
              <a:rPr lang="en-US" sz="2800" dirty="0">
                <a:latin typeface="Times New Roman"/>
                <a:ea typeface="Times New Roman"/>
                <a:cs typeface="Times New Roman"/>
                <a:sym typeface="Times New Roman"/>
              </a:rPr>
              <a:t>The communication channel which interconnects the various components within an embedded product is referred as Device/board level communication interface (Onboard</a:t>
            </a:r>
          </a:p>
          <a:p>
            <a:pPr marL="114300" indent="0" algn="just">
              <a:buNone/>
            </a:pPr>
            <a:r>
              <a:rPr lang="en-US" sz="2800" dirty="0">
                <a:latin typeface="Times New Roman"/>
                <a:ea typeface="Times New Roman"/>
                <a:cs typeface="Times New Roman"/>
                <a:sym typeface="Times New Roman"/>
              </a:rPr>
              <a:t>Communication Interface)</a:t>
            </a:r>
          </a:p>
          <a:p>
            <a:pPr marL="114300" indent="0" algn="just">
              <a:buNone/>
            </a:pPr>
            <a:endParaRPr lang="en-US" sz="2800" dirty="0">
              <a:latin typeface="Times New Roman"/>
              <a:ea typeface="Times New Roman"/>
              <a:cs typeface="Times New Roman"/>
              <a:sym typeface="Times New Roman"/>
            </a:endParaRPr>
          </a:p>
          <a:p>
            <a:pPr marL="114300" indent="0" algn="just">
              <a:buNone/>
            </a:pPr>
            <a:r>
              <a:rPr lang="en-US" sz="2800" dirty="0">
                <a:latin typeface="Times New Roman"/>
                <a:ea typeface="Times New Roman"/>
                <a:cs typeface="Times New Roman"/>
                <a:sym typeface="Times New Roman"/>
              </a:rPr>
              <a:t>Examples: Serial interfaces like I2C, SPI, UART, Parallel bus interface etc.</a:t>
            </a:r>
            <a:endParaRPr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31</a:t>
            </a:fld>
            <a:endParaRPr/>
          </a:p>
        </p:txBody>
      </p:sp>
    </p:spTree>
    <p:extLst>
      <p:ext uri="{BB962C8B-B14F-4D97-AF65-F5344CB8AC3E}">
        <p14:creationId xmlns:p14="http://schemas.microsoft.com/office/powerpoint/2010/main" val="3193180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Embedded Networking and Standards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2. Product level communication interface (External Communication Interface):</a:t>
            </a:r>
          </a:p>
          <a:p>
            <a:pPr marL="114300" indent="0" algn="just">
              <a:buNone/>
            </a:pPr>
            <a:r>
              <a:rPr lang="en-US" sz="2400" dirty="0">
                <a:latin typeface="Times New Roman"/>
                <a:ea typeface="Times New Roman"/>
                <a:cs typeface="Times New Roman"/>
                <a:sym typeface="Times New Roman"/>
              </a:rPr>
              <a:t>The Product level communication interface (External Communication Interface) is responsible for data transfer between the embedded system and other devices or modules. The external communication interface can be either wired media or wireless media and it can be a serial or parallel interface.</a:t>
            </a:r>
          </a:p>
          <a:p>
            <a:pPr marL="114300" indent="0" algn="just">
              <a:buNone/>
            </a:pPr>
            <a:endParaRPr lang="en-US" sz="2400" dirty="0">
              <a:latin typeface="Times New Roman"/>
              <a:ea typeface="Times New Roman"/>
              <a:cs typeface="Times New Roman"/>
              <a:sym typeface="Times New Roman"/>
            </a:endParaRPr>
          </a:p>
          <a:p>
            <a:pPr marL="114300" indent="0" algn="just">
              <a:buNone/>
            </a:pPr>
            <a:r>
              <a:rPr lang="en-US" sz="2400" dirty="0">
                <a:latin typeface="Times New Roman"/>
                <a:ea typeface="Times New Roman"/>
                <a:cs typeface="Times New Roman"/>
                <a:sym typeface="Times New Roman"/>
              </a:rPr>
              <a:t>Examples for wireless communication interface: Infrared (IR), Bluetooth (BT), Wireless LAN (Wi-Fi), Radio Frequency waves (RF), GPRS etc.</a:t>
            </a:r>
          </a:p>
          <a:p>
            <a:pPr marL="114300" indent="0" algn="just">
              <a:buNone/>
            </a:pPr>
            <a:r>
              <a:rPr lang="en-US" sz="2400" dirty="0">
                <a:latin typeface="Times New Roman"/>
                <a:ea typeface="Times New Roman"/>
                <a:cs typeface="Times New Roman"/>
                <a:sym typeface="Times New Roman"/>
              </a:rPr>
              <a:t>Examples for wired interfaces: RS-232C/RS-422/RS 485, USB, Ethernet (TCP-IP), Parallel port etc</a:t>
            </a:r>
            <a:r>
              <a:rPr lang="en-US" sz="2800" dirty="0">
                <a:latin typeface="Times New Roman"/>
                <a:ea typeface="Times New Roman"/>
                <a:cs typeface="Times New Roman"/>
                <a:sym typeface="Times New Roman"/>
              </a:rPr>
              <a:t>.</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32</a:t>
            </a:fld>
            <a:endParaRPr/>
          </a:p>
        </p:txBody>
      </p:sp>
    </p:spTree>
    <p:extLst>
      <p:ext uri="{BB962C8B-B14F-4D97-AF65-F5344CB8AC3E}">
        <p14:creationId xmlns:p14="http://schemas.microsoft.com/office/powerpoint/2010/main" val="48573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Serial Communication-RS232</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algn="just"/>
            <a:r>
              <a:rPr lang="en-US" sz="2800" dirty="0">
                <a:latin typeface="Times New Roman"/>
                <a:ea typeface="Times New Roman"/>
                <a:cs typeface="Times New Roman"/>
                <a:sym typeface="Times New Roman"/>
              </a:rPr>
              <a:t>A popular way to transfer commands and data between a personal computer and a microcontroller is the use of standard interface, like the one described by protocols RS232 (older) or USB (newer).</a:t>
            </a:r>
          </a:p>
          <a:p>
            <a:pPr algn="just"/>
            <a:r>
              <a:rPr lang="en-US" sz="2800" dirty="0">
                <a:latin typeface="Times New Roman"/>
                <a:ea typeface="Times New Roman"/>
                <a:cs typeface="Times New Roman"/>
                <a:sym typeface="Times New Roman"/>
              </a:rPr>
              <a:t>The protocol RS232 defines the signals used in communication, and the hardware to transfer signals between devices.</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pic>
        <p:nvPicPr>
          <p:cNvPr id="3" name="Picture 2">
            <a:extLst>
              <a:ext uri="{FF2B5EF4-FFF2-40B4-BE49-F238E27FC236}">
                <a16:creationId xmlns:a16="http://schemas.microsoft.com/office/drawing/2014/main" xmlns="" id="{EB379828-5A01-30D5-D923-6B082C5E24A0}"/>
              </a:ext>
            </a:extLst>
          </p:cNvPr>
          <p:cNvPicPr>
            <a:picLocks noChangeAspect="1"/>
          </p:cNvPicPr>
          <p:nvPr/>
        </p:nvPicPr>
        <p:blipFill>
          <a:blip r:embed="rId3"/>
          <a:stretch>
            <a:fillRect/>
          </a:stretch>
        </p:blipFill>
        <p:spPr>
          <a:xfrm>
            <a:off x="2952832" y="4204090"/>
            <a:ext cx="3524168" cy="2152260"/>
          </a:xfrm>
          <a:prstGeom prst="rect">
            <a:avLst/>
          </a:prstGeom>
        </p:spPr>
      </p:pic>
    </p:spTree>
    <p:extLst>
      <p:ext uri="{BB962C8B-B14F-4D97-AF65-F5344CB8AC3E}">
        <p14:creationId xmlns:p14="http://schemas.microsoft.com/office/powerpoint/2010/main" val="41427615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Serial Communication-RS232</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algn="just"/>
            <a:r>
              <a:rPr lang="en-US" sz="2800" dirty="0">
                <a:latin typeface="Times New Roman"/>
                <a:ea typeface="Times New Roman"/>
                <a:cs typeface="Times New Roman"/>
                <a:sym typeface="Times New Roman"/>
              </a:rPr>
              <a:t>An RS232 serial bus consists of just two communication wires - one for sending data and another for receiving. As such, serial devices should have two serial pins: the receiver, RX, and the transmitter, TX.</a:t>
            </a:r>
          </a:p>
          <a:p>
            <a:pPr marL="114300" indent="0" algn="just">
              <a:buNone/>
            </a:pPr>
            <a:endParaRPr lang="en-US" sz="2800" dirty="0">
              <a:latin typeface="Times New Roman"/>
              <a:ea typeface="Times New Roman"/>
              <a:cs typeface="Times New Roman"/>
              <a:sym typeface="Times New Roman"/>
            </a:endParaRPr>
          </a:p>
          <a:p>
            <a:pPr algn="just"/>
            <a:r>
              <a:rPr lang="en-US" sz="2800" dirty="0">
                <a:latin typeface="Times New Roman"/>
                <a:ea typeface="Times New Roman"/>
                <a:cs typeface="Times New Roman"/>
                <a:sym typeface="Times New Roman"/>
              </a:rPr>
              <a:t>RS232 data is sent serially, each bit is sent one after the next because there is only one data line in each direction. This mode of data transmission also requires that the receiver knows when the actual data bits are arriving so that it can synchronize itself to the incoming data.</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34</a:t>
            </a:fld>
            <a:endParaRPr/>
          </a:p>
        </p:txBody>
      </p:sp>
    </p:spTree>
    <p:extLst>
      <p:ext uri="{BB962C8B-B14F-4D97-AF65-F5344CB8AC3E}">
        <p14:creationId xmlns:p14="http://schemas.microsoft.com/office/powerpoint/2010/main" val="1807026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Serial Communication-RS232</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5226259"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RS-232 Signals:</a:t>
            </a:r>
          </a:p>
          <a:p>
            <a:pPr algn="just"/>
            <a:r>
              <a:rPr lang="en-US" sz="2800" dirty="0">
                <a:latin typeface="Times New Roman"/>
                <a:ea typeface="Times New Roman"/>
                <a:cs typeface="Times New Roman"/>
                <a:sym typeface="Times New Roman"/>
              </a:rPr>
              <a:t>Architecturally RS-232 is a bi-directional point to point link. </a:t>
            </a:r>
          </a:p>
          <a:p>
            <a:pPr algn="just"/>
            <a:r>
              <a:rPr lang="en-US" sz="2800" dirty="0">
                <a:latin typeface="Times New Roman"/>
                <a:ea typeface="Times New Roman"/>
                <a:cs typeface="Times New Roman"/>
                <a:sym typeface="Times New Roman"/>
              </a:rPr>
              <a:t>Two independent channels are established for two-way (full-duplex) communications.</a:t>
            </a:r>
          </a:p>
          <a:p>
            <a:pPr algn="just"/>
            <a:r>
              <a:rPr lang="en-US" sz="2800" dirty="0">
                <a:latin typeface="Times New Roman"/>
                <a:ea typeface="Times New Roman"/>
                <a:cs typeface="Times New Roman"/>
                <a:sym typeface="Times New Roman"/>
              </a:rPr>
              <a:t>RS-232 can also carry additional signals used for flow control (RTS, CTS) and modem control (DCD, DTR, DSR, RI).</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35</a:t>
            </a:fld>
            <a:endParaRPr/>
          </a:p>
        </p:txBody>
      </p:sp>
      <p:pic>
        <p:nvPicPr>
          <p:cNvPr id="3" name="Picture 2">
            <a:extLst>
              <a:ext uri="{FF2B5EF4-FFF2-40B4-BE49-F238E27FC236}">
                <a16:creationId xmlns:a16="http://schemas.microsoft.com/office/drawing/2014/main" xmlns="" id="{96236FEA-6A0E-3F09-BBB6-EB4781447683}"/>
              </a:ext>
            </a:extLst>
          </p:cNvPr>
          <p:cNvPicPr>
            <a:picLocks noChangeAspect="1"/>
          </p:cNvPicPr>
          <p:nvPr/>
        </p:nvPicPr>
        <p:blipFill>
          <a:blip r:embed="rId3"/>
          <a:stretch>
            <a:fillRect/>
          </a:stretch>
        </p:blipFill>
        <p:spPr>
          <a:xfrm>
            <a:off x="5391150" y="839448"/>
            <a:ext cx="3295650" cy="3810000"/>
          </a:xfrm>
          <a:prstGeom prst="rect">
            <a:avLst/>
          </a:prstGeom>
        </p:spPr>
      </p:pic>
      <p:pic>
        <p:nvPicPr>
          <p:cNvPr id="5" name="Picture 4">
            <a:extLst>
              <a:ext uri="{FF2B5EF4-FFF2-40B4-BE49-F238E27FC236}">
                <a16:creationId xmlns:a16="http://schemas.microsoft.com/office/drawing/2014/main" xmlns="" id="{AAAFBF6F-E628-4AB0-6D86-68075B53DD9B}"/>
              </a:ext>
            </a:extLst>
          </p:cNvPr>
          <p:cNvPicPr>
            <a:picLocks noChangeAspect="1"/>
          </p:cNvPicPr>
          <p:nvPr/>
        </p:nvPicPr>
        <p:blipFill>
          <a:blip r:embed="rId4"/>
          <a:stretch>
            <a:fillRect/>
          </a:stretch>
        </p:blipFill>
        <p:spPr>
          <a:xfrm>
            <a:off x="5391150" y="4874302"/>
            <a:ext cx="3749642" cy="1721370"/>
          </a:xfrm>
          <a:prstGeom prst="rect">
            <a:avLst/>
          </a:prstGeom>
        </p:spPr>
      </p:pic>
    </p:spTree>
    <p:extLst>
      <p:ext uri="{BB962C8B-B14F-4D97-AF65-F5344CB8AC3E}">
        <p14:creationId xmlns:p14="http://schemas.microsoft.com/office/powerpoint/2010/main" val="1904864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Serial Communication-RS232</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How fast can RS-232 be?</a:t>
            </a:r>
          </a:p>
          <a:p>
            <a:pPr marL="114300" indent="0" algn="just">
              <a:buNone/>
            </a:pPr>
            <a:r>
              <a:rPr lang="en-US" sz="2800" dirty="0">
                <a:latin typeface="Times New Roman"/>
                <a:ea typeface="Times New Roman"/>
                <a:cs typeface="Times New Roman"/>
                <a:sym typeface="Times New Roman"/>
              </a:rPr>
              <a:t>• The maximum speed, according to the standard, is 20kbit/s. However, modern equipment can operate much faster than this. (i.e. Lynx can reach 115200 baud.)</a:t>
            </a:r>
          </a:p>
          <a:p>
            <a:pPr marL="114300" indent="0" algn="just">
              <a:buNone/>
            </a:pPr>
            <a:r>
              <a:rPr lang="en-US" sz="2800" dirty="0">
                <a:latin typeface="Times New Roman"/>
                <a:ea typeface="Times New Roman"/>
                <a:cs typeface="Times New Roman"/>
                <a:sym typeface="Times New Roman"/>
              </a:rPr>
              <a:t>• The length of the cable also plays a part in maximum speed. The longer the cable the slower the speed at which you can obtain accurate results.</a:t>
            </a:r>
          </a:p>
          <a:p>
            <a:pPr marL="114300" indent="0" algn="just">
              <a:buNone/>
            </a:pPr>
            <a:r>
              <a:rPr lang="en-US" sz="2800" dirty="0">
                <a:latin typeface="Times New Roman"/>
                <a:ea typeface="Times New Roman"/>
                <a:cs typeface="Times New Roman"/>
                <a:sym typeface="Times New Roman"/>
              </a:rPr>
              <a:t>• A large wire capacitance and inductance limits the maximum length of the cable and/or the maximum speed; Moreover higher is the capacitance of the cable higher is the interference between two adjacent signal wire.</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36</a:t>
            </a:fld>
            <a:endParaRPr/>
          </a:p>
        </p:txBody>
      </p:sp>
    </p:spTree>
    <p:extLst>
      <p:ext uri="{BB962C8B-B14F-4D97-AF65-F5344CB8AC3E}">
        <p14:creationId xmlns:p14="http://schemas.microsoft.com/office/powerpoint/2010/main" val="29998432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Serial Communication-RS485</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algn="just"/>
            <a:r>
              <a:rPr lang="en-US" sz="2400" dirty="0"/>
              <a:t>RS-485 is a standard interface for physical communication. It is a form of serial communication. </a:t>
            </a:r>
          </a:p>
          <a:p>
            <a:pPr algn="just"/>
            <a:r>
              <a:rPr lang="en-US" sz="2400" dirty="0"/>
              <a:t>Typical serial communication standards are RS232 and RS485. RS485 expands the physical function on the basis RS232 interface.</a:t>
            </a:r>
          </a:p>
          <a:p>
            <a:pPr algn="just"/>
            <a:r>
              <a:rPr lang="en-US" sz="2400" dirty="0"/>
              <a:t>RS-485 adopts balanced transmission and differential reception, so it has the ability to suppress common mode interference. </a:t>
            </a:r>
          </a:p>
          <a:p>
            <a:pPr algn="just"/>
            <a:r>
              <a:rPr lang="en-US" sz="2400" dirty="0"/>
              <a:t>In addition, the bus transceiver has high sensitivity and can detect voltages as low as 200mv, so the transmission signal can be recovered from kilometers away.</a:t>
            </a:r>
          </a:p>
          <a:p>
            <a:pPr algn="just"/>
            <a:r>
              <a:rPr lang="en-US" sz="2400" dirty="0"/>
              <a:t>The RS485 maximum transmission rate is 10Mbps. </a:t>
            </a:r>
          </a:p>
          <a:p>
            <a:pPr algn="just"/>
            <a:r>
              <a:rPr lang="en-US" sz="2400" dirty="0"/>
              <a:t>The RS485 interface is strong, and the anti-noise interference is good.</a:t>
            </a:r>
            <a:endParaRPr lang="en-US" sz="40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37</a:t>
            </a:fld>
            <a:endParaRPr/>
          </a:p>
        </p:txBody>
      </p:sp>
    </p:spTree>
    <p:extLst>
      <p:ext uri="{BB962C8B-B14F-4D97-AF65-F5344CB8AC3E}">
        <p14:creationId xmlns:p14="http://schemas.microsoft.com/office/powerpoint/2010/main" val="24308012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Difference Between RS 485 and RS 232</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ctr">
              <a:buNone/>
            </a:pPr>
            <a:r>
              <a:rPr lang="en-US" sz="2800" b="1" dirty="0">
                <a:latin typeface="Times New Roman"/>
                <a:ea typeface="Times New Roman"/>
                <a:cs typeface="Times New Roman"/>
                <a:sym typeface="Times New Roman"/>
              </a:rPr>
              <a:t>Difference Between RS 485 and RS 232</a:t>
            </a:r>
            <a:endParaRPr lang="en-US" sz="28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38</a:t>
            </a:fld>
            <a:endParaRPr/>
          </a:p>
        </p:txBody>
      </p:sp>
      <p:pic>
        <p:nvPicPr>
          <p:cNvPr id="3" name="Picture 2">
            <a:extLst>
              <a:ext uri="{FF2B5EF4-FFF2-40B4-BE49-F238E27FC236}">
                <a16:creationId xmlns:a16="http://schemas.microsoft.com/office/drawing/2014/main" xmlns="" id="{74F6ED19-2016-80FA-3DC8-1D6C9D8D20E7}"/>
              </a:ext>
            </a:extLst>
          </p:cNvPr>
          <p:cNvPicPr>
            <a:picLocks noChangeAspect="1"/>
          </p:cNvPicPr>
          <p:nvPr/>
        </p:nvPicPr>
        <p:blipFill>
          <a:blip r:embed="rId3"/>
          <a:stretch>
            <a:fillRect/>
          </a:stretch>
        </p:blipFill>
        <p:spPr>
          <a:xfrm>
            <a:off x="280562" y="1952285"/>
            <a:ext cx="8110182" cy="4291638"/>
          </a:xfrm>
          <a:prstGeom prst="rect">
            <a:avLst/>
          </a:prstGeom>
        </p:spPr>
      </p:pic>
    </p:spTree>
    <p:extLst>
      <p:ext uri="{BB962C8B-B14F-4D97-AF65-F5344CB8AC3E}">
        <p14:creationId xmlns:p14="http://schemas.microsoft.com/office/powerpoint/2010/main" val="39252801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sz="4400" b="1" dirty="0">
                <a:solidFill>
                  <a:srgbClr val="0C0C0C"/>
                </a:solidFill>
                <a:latin typeface="Times New Roman"/>
                <a:ea typeface="Times New Roman"/>
                <a:cs typeface="Times New Roman"/>
                <a:sym typeface="Times New Roman"/>
              </a:rPr>
              <a:t> </a:t>
            </a:r>
            <a:r>
              <a:rPr lang="en-IN" sz="3200" b="1" dirty="0">
                <a:solidFill>
                  <a:srgbClr val="0C0C0C"/>
                </a:solidFill>
                <a:latin typeface="Times New Roman"/>
                <a:ea typeface="Times New Roman"/>
                <a:cs typeface="Times New Roman"/>
                <a:sym typeface="Times New Roman"/>
              </a:rPr>
              <a:t>Serial Peripheral Interface (SPI) </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algn="just"/>
            <a:r>
              <a:rPr lang="en-US" sz="2800" dirty="0">
                <a:latin typeface="Times New Roman"/>
                <a:ea typeface="Times New Roman"/>
                <a:cs typeface="Times New Roman"/>
                <a:sym typeface="Times New Roman"/>
              </a:rPr>
              <a:t>The Serial Peripheral Interface Bus (SPI) is a synchronous bi-directional full duplex four wire serial interface bus. The concept of SPI is introduced by Motorola. SPI is a single master multi-slave system.</a:t>
            </a:r>
          </a:p>
          <a:p>
            <a:pPr algn="just"/>
            <a:r>
              <a:rPr lang="en-US" sz="2800" dirty="0">
                <a:latin typeface="Times New Roman"/>
                <a:ea typeface="Times New Roman"/>
                <a:cs typeface="Times New Roman"/>
                <a:sym typeface="Times New Roman"/>
              </a:rPr>
              <a:t>It is possible to have a system where more than one SPI device can be master, provided the condition only one master device is active at any given point of time, is satisfied.</a:t>
            </a:r>
          </a:p>
          <a:p>
            <a:pPr algn="just"/>
            <a:r>
              <a:rPr lang="en-US" sz="2800" dirty="0">
                <a:latin typeface="Times New Roman"/>
                <a:ea typeface="Times New Roman"/>
                <a:cs typeface="Times New Roman"/>
                <a:sym typeface="Times New Roman"/>
              </a:rPr>
              <a:t>SPI is used to send data between Microcontrollers and small peripherals such as shift registers, sensors, and SD cards.</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39</a:t>
            </a:fld>
            <a:endParaRPr/>
          </a:p>
        </p:txBody>
      </p:sp>
    </p:spTree>
    <p:extLst>
      <p:ext uri="{BB962C8B-B14F-4D97-AF65-F5344CB8AC3E}">
        <p14:creationId xmlns:p14="http://schemas.microsoft.com/office/powerpoint/2010/main" val="10071938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sz="4400" b="1" dirty="0">
                <a:solidFill>
                  <a:srgbClr val="0C0C0C"/>
                </a:solidFill>
                <a:latin typeface="Times New Roman"/>
                <a:ea typeface="Times New Roman"/>
                <a:cs typeface="Times New Roman"/>
                <a:sym typeface="Times New Roman"/>
              </a:rPr>
              <a:t> </a:t>
            </a:r>
            <a:r>
              <a:rPr lang="en-IN" sz="3200" b="1" dirty="0">
                <a:solidFill>
                  <a:srgbClr val="0C0C0C"/>
                </a:solidFill>
                <a:latin typeface="Times New Roman"/>
                <a:ea typeface="Times New Roman"/>
                <a:cs typeface="Times New Roman"/>
                <a:sym typeface="Times New Roman"/>
              </a:rPr>
              <a:t>Serial Peripheral Interface (SPI) </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dirty="0">
                <a:latin typeface="Times New Roman"/>
                <a:ea typeface="Times New Roman"/>
                <a:cs typeface="Times New Roman"/>
                <a:sym typeface="Times New Roman"/>
              </a:rPr>
              <a:t>.</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40</a:t>
            </a:fld>
            <a:endParaRPr/>
          </a:p>
        </p:txBody>
      </p:sp>
      <p:pic>
        <p:nvPicPr>
          <p:cNvPr id="3" name="Picture 2">
            <a:extLst>
              <a:ext uri="{FF2B5EF4-FFF2-40B4-BE49-F238E27FC236}">
                <a16:creationId xmlns:a16="http://schemas.microsoft.com/office/drawing/2014/main" xmlns="" id="{8554FCDE-12CF-D217-D257-E59F80774655}"/>
              </a:ext>
            </a:extLst>
          </p:cNvPr>
          <p:cNvPicPr>
            <a:picLocks noChangeAspect="1"/>
          </p:cNvPicPr>
          <p:nvPr/>
        </p:nvPicPr>
        <p:blipFill>
          <a:blip r:embed="rId3"/>
          <a:stretch>
            <a:fillRect/>
          </a:stretch>
        </p:blipFill>
        <p:spPr>
          <a:xfrm>
            <a:off x="856362" y="1449260"/>
            <a:ext cx="7431275" cy="4344438"/>
          </a:xfrm>
          <a:prstGeom prst="rect">
            <a:avLst/>
          </a:prstGeom>
        </p:spPr>
      </p:pic>
    </p:spTree>
    <p:extLst>
      <p:ext uri="{BB962C8B-B14F-4D97-AF65-F5344CB8AC3E}">
        <p14:creationId xmlns:p14="http://schemas.microsoft.com/office/powerpoint/2010/main" val="32929833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I2C (Inter Integrated Circuit)</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I2C:</a:t>
            </a:r>
          </a:p>
          <a:p>
            <a:pPr algn="just"/>
            <a:r>
              <a:rPr lang="en-US" sz="2400" b="0" i="0" u="none" strike="noStrike" baseline="0" dirty="0">
                <a:solidFill>
                  <a:srgbClr val="000000"/>
                </a:solidFill>
                <a:latin typeface="Times New Roman" panose="02020603050405020304" pitchFamily="18" charset="0"/>
              </a:rPr>
              <a:t>Inter Integrated Circuit Bus (I2C - Pronounced as I square C) is a synchronous bi-directional half duplex (one-directional communication at a given point of time).</a:t>
            </a:r>
          </a:p>
          <a:p>
            <a:pPr algn="just"/>
            <a:r>
              <a:rPr lang="en-US" sz="2400" b="0" i="0" u="none" strike="noStrike" baseline="0" dirty="0">
                <a:solidFill>
                  <a:srgbClr val="000000"/>
                </a:solidFill>
                <a:latin typeface="Times New Roman" panose="02020603050405020304" pitchFamily="18" charset="0"/>
              </a:rPr>
              <a:t>The concept of I2C bus was developed by Philips Semiconductors in the early 1980’s. </a:t>
            </a:r>
          </a:p>
          <a:p>
            <a:pPr algn="just"/>
            <a:r>
              <a:rPr lang="en-US" sz="2400" b="0" i="0" u="none" strike="noStrike" baseline="0" dirty="0">
                <a:solidFill>
                  <a:srgbClr val="000000"/>
                </a:solidFill>
                <a:latin typeface="Times New Roman" panose="02020603050405020304" pitchFamily="18" charset="0"/>
              </a:rPr>
              <a:t>The original intention of I2C was to provide an easy way of connection between a microprocessor/microcontroller system and the peripheral chips in Television sets</a:t>
            </a:r>
            <a:r>
              <a:rPr lang="en-US" sz="1800" b="0" i="0" u="none" strike="noStrike" baseline="0" dirty="0">
                <a:solidFill>
                  <a:srgbClr val="000000"/>
                </a:solidFill>
                <a:latin typeface="Times New Roman" panose="02020603050405020304" pitchFamily="18" charset="0"/>
              </a:rPr>
              <a:t>. </a:t>
            </a:r>
          </a:p>
          <a:p>
            <a:pPr algn="just"/>
            <a:endParaRPr lang="en-US" sz="1800" dirty="0">
              <a:solidFill>
                <a:srgbClr val="000000"/>
              </a:solidFill>
              <a:latin typeface="Times New Roman" panose="02020603050405020304" pitchFamily="18" charset="0"/>
              <a:ea typeface="Times New Roman"/>
              <a:cs typeface="Times New Roman"/>
              <a:sym typeface="Times New Roman"/>
            </a:endParaRPr>
          </a:p>
          <a:p>
            <a:pPr algn="just"/>
            <a:endParaRPr lang="en-US" sz="1800" dirty="0">
              <a:solidFill>
                <a:srgbClr val="000000"/>
              </a:solidFill>
              <a:latin typeface="Times New Roman" panose="02020603050405020304" pitchFamily="18" charset="0"/>
              <a:ea typeface="Times New Roman"/>
              <a:cs typeface="Times New Roman"/>
              <a:sym typeface="Times New Roman"/>
            </a:endParaRPr>
          </a:p>
          <a:p>
            <a:pPr algn="just"/>
            <a:r>
              <a:rPr lang="en-US" sz="2400" b="0" i="0" u="none" strike="noStrike" baseline="0" dirty="0">
                <a:solidFill>
                  <a:srgbClr val="000000"/>
                </a:solidFill>
                <a:latin typeface="Times New Roman" panose="02020603050405020304" pitchFamily="18" charset="0"/>
              </a:rPr>
              <a:t>The I2C bus is comprised of two bus lines, namely: Serial Clock – SCL and Serial Data – SDA. </a:t>
            </a:r>
            <a:endParaRPr lang="en-US" sz="3600"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41</a:t>
            </a:fld>
            <a:endParaRPr/>
          </a:p>
        </p:txBody>
      </p:sp>
    </p:spTree>
    <p:extLst>
      <p:ext uri="{BB962C8B-B14F-4D97-AF65-F5344CB8AC3E}">
        <p14:creationId xmlns:p14="http://schemas.microsoft.com/office/powerpoint/2010/main" val="10578238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I2C (Inter Integrated Circuit)</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3600" dirty="0">
                <a:latin typeface="Times New Roman"/>
                <a:ea typeface="Times New Roman"/>
                <a:cs typeface="Times New Roman"/>
                <a:sym typeface="Times New Roman"/>
              </a:rPr>
              <a:t>I2C Bus</a:t>
            </a: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42</a:t>
            </a:fld>
            <a:endParaRPr/>
          </a:p>
        </p:txBody>
      </p:sp>
      <p:pic>
        <p:nvPicPr>
          <p:cNvPr id="5" name="Picture 4">
            <a:extLst>
              <a:ext uri="{FF2B5EF4-FFF2-40B4-BE49-F238E27FC236}">
                <a16:creationId xmlns:a16="http://schemas.microsoft.com/office/drawing/2014/main" xmlns="" id="{A2D8869F-7B34-B1DB-A32B-215692299414}"/>
              </a:ext>
            </a:extLst>
          </p:cNvPr>
          <p:cNvPicPr>
            <a:picLocks noChangeAspect="1"/>
          </p:cNvPicPr>
          <p:nvPr/>
        </p:nvPicPr>
        <p:blipFill>
          <a:blip r:embed="rId3"/>
          <a:stretch>
            <a:fillRect/>
          </a:stretch>
        </p:blipFill>
        <p:spPr>
          <a:xfrm>
            <a:off x="2227601" y="1258748"/>
            <a:ext cx="5921582" cy="2979530"/>
          </a:xfrm>
          <a:prstGeom prst="rect">
            <a:avLst/>
          </a:prstGeom>
        </p:spPr>
      </p:pic>
      <p:pic>
        <p:nvPicPr>
          <p:cNvPr id="7" name="Picture 6">
            <a:extLst>
              <a:ext uri="{FF2B5EF4-FFF2-40B4-BE49-F238E27FC236}">
                <a16:creationId xmlns:a16="http://schemas.microsoft.com/office/drawing/2014/main" xmlns="" id="{F4154061-E369-9699-B478-D3AE8CFB36D3}"/>
              </a:ext>
            </a:extLst>
          </p:cNvPr>
          <p:cNvPicPr>
            <a:picLocks noChangeAspect="1"/>
          </p:cNvPicPr>
          <p:nvPr/>
        </p:nvPicPr>
        <p:blipFill>
          <a:blip r:embed="rId4"/>
          <a:stretch>
            <a:fillRect/>
          </a:stretch>
        </p:blipFill>
        <p:spPr>
          <a:xfrm>
            <a:off x="0" y="4506522"/>
            <a:ext cx="9144000" cy="2351478"/>
          </a:xfrm>
          <a:prstGeom prst="rect">
            <a:avLst/>
          </a:prstGeom>
        </p:spPr>
      </p:pic>
    </p:spTree>
    <p:extLst>
      <p:ext uri="{BB962C8B-B14F-4D97-AF65-F5344CB8AC3E}">
        <p14:creationId xmlns:p14="http://schemas.microsoft.com/office/powerpoint/2010/main" val="23022627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I2C (Inter Integrated Circuit)</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I2C:</a:t>
            </a:r>
          </a:p>
          <a:p>
            <a:pPr algn="just"/>
            <a:r>
              <a:rPr lang="en-US" sz="2000" b="0" i="0" u="none" strike="noStrike" baseline="0" dirty="0">
                <a:solidFill>
                  <a:srgbClr val="000000"/>
                </a:solidFill>
                <a:latin typeface="Times New Roman" panose="02020603050405020304" pitchFamily="18" charset="0"/>
              </a:rPr>
              <a:t>SCL line is responsible for generating synchronization clock pulses and SDA is responsible for transmitting the serial data across devices.</a:t>
            </a:r>
          </a:p>
          <a:p>
            <a:pPr algn="just"/>
            <a:r>
              <a:rPr lang="en-US" sz="2000" b="0" i="0" u="none" strike="noStrike" baseline="0" dirty="0">
                <a:solidFill>
                  <a:srgbClr val="000000"/>
                </a:solidFill>
                <a:latin typeface="Times New Roman" panose="02020603050405020304" pitchFamily="18" charset="0"/>
              </a:rPr>
              <a:t>I2C bus is a shared bus system to which many number of I2C devices can be connected. Devices connected to the I2C bus can act as either Master device or Slave device. </a:t>
            </a:r>
            <a:endParaRPr lang="en-US" b="1" i="0" u="none" strike="noStrike" baseline="0" dirty="0">
              <a:solidFill>
                <a:srgbClr val="000000"/>
              </a:solidFill>
              <a:latin typeface="Times New Roman"/>
              <a:cs typeface="Times New Roman"/>
              <a:sym typeface="Times New Roman"/>
            </a:endParaRPr>
          </a:p>
          <a:p>
            <a:pPr algn="just"/>
            <a:r>
              <a:rPr lang="en-US" sz="2000" b="0" i="0" u="none" strike="noStrike" baseline="0" dirty="0">
                <a:solidFill>
                  <a:srgbClr val="000000"/>
                </a:solidFill>
                <a:latin typeface="Times New Roman" panose="02020603050405020304" pitchFamily="18" charset="0"/>
              </a:rPr>
              <a:t>The Master device is responsible for controlling the communication by initiating/terminating data transfer, sending data and generating necessary synchronization clock pulses.</a:t>
            </a:r>
            <a:endParaRPr lang="en-US" sz="2000" dirty="0">
              <a:solidFill>
                <a:srgbClr val="000000"/>
              </a:solidFill>
              <a:latin typeface="Wingdings" panose="05000000000000000000" pitchFamily="2" charset="2"/>
            </a:endParaRPr>
          </a:p>
          <a:p>
            <a:pPr algn="just"/>
            <a:r>
              <a:rPr lang="en-US" sz="2000" b="0" i="0" u="none" strike="noStrike" baseline="0" dirty="0">
                <a:solidFill>
                  <a:srgbClr val="000000"/>
                </a:solidFill>
                <a:latin typeface="Times New Roman" panose="02020603050405020304" pitchFamily="18" charset="0"/>
              </a:rPr>
              <a:t>Slave devices wait for the commands from the master and respond upon receiving the commands. </a:t>
            </a:r>
          </a:p>
          <a:p>
            <a:pPr algn="just"/>
            <a:r>
              <a:rPr lang="en-US" sz="2000" b="0" i="0" u="none" strike="noStrike" baseline="0" dirty="0">
                <a:solidFill>
                  <a:srgbClr val="000000"/>
                </a:solidFill>
                <a:latin typeface="Times New Roman" panose="02020603050405020304" pitchFamily="18" charset="0"/>
              </a:rPr>
              <a:t>Master and Slave devices can act as either transmitter or receiver. Regardless whether a master is acting as transmitter or receiver, the synchronization clock signal is generated by the Master device only.</a:t>
            </a:r>
          </a:p>
          <a:p>
            <a:pPr algn="just"/>
            <a:r>
              <a:rPr lang="en-US" sz="2000" b="0" i="0" u="none" strike="noStrike" baseline="0" dirty="0">
                <a:solidFill>
                  <a:srgbClr val="000000"/>
                </a:solidFill>
                <a:latin typeface="Times New Roman" panose="02020603050405020304" pitchFamily="18" charset="0"/>
              </a:rPr>
              <a:t>I2C supports multi masters on the same bus.</a:t>
            </a:r>
            <a:endParaRPr lang="en-US" b="1" dirty="0">
              <a:latin typeface="Times New Roman"/>
              <a:ea typeface="Times New Roman"/>
              <a:cs typeface="Times New Roman"/>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43</a:t>
            </a:fld>
            <a:endParaRPr/>
          </a:p>
        </p:txBody>
      </p:sp>
    </p:spTree>
    <p:extLst>
      <p:ext uri="{BB962C8B-B14F-4D97-AF65-F5344CB8AC3E}">
        <p14:creationId xmlns:p14="http://schemas.microsoft.com/office/powerpoint/2010/main" val="32453794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USB (Universal Serial Bus)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164891" y="1064302"/>
            <a:ext cx="8844197"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USB:</a:t>
            </a:r>
          </a:p>
          <a:p>
            <a:pPr algn="just"/>
            <a:r>
              <a:rPr lang="en-US" sz="2800" dirty="0"/>
              <a:t>A common interface that is used to allow communication between different peripheral devices like mouse, digital cameras, printers, keyboards, media devices, scanners, flash drives &amp; external hard drives as well as a host controller like a smartphone or PC is known as USB protocol.</a:t>
            </a:r>
          </a:p>
          <a:p>
            <a:pPr marL="114300" indent="0" algn="just">
              <a:buNone/>
            </a:pPr>
            <a:endParaRPr lang="en-US" sz="2800" dirty="0"/>
          </a:p>
          <a:p>
            <a:pPr algn="just"/>
            <a:r>
              <a:rPr lang="en-US" sz="2800" dirty="0"/>
              <a:t>There are different types of USB connectors available in the market where Type A and Type B are the most frequently used ones. At present, older connectors are replaced by Mini-USB, Micro-USB &amp; USB-C cables.</a:t>
            </a:r>
            <a:endParaRPr lang="en-US" sz="28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44</a:t>
            </a:fld>
            <a:endParaRPr/>
          </a:p>
        </p:txBody>
      </p:sp>
    </p:spTree>
    <p:extLst>
      <p:ext uri="{BB962C8B-B14F-4D97-AF65-F5344CB8AC3E}">
        <p14:creationId xmlns:p14="http://schemas.microsoft.com/office/powerpoint/2010/main" val="40941116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USB (Universal Serial Bus)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7455108"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800" b="1" dirty="0">
                <a:latin typeface="Times New Roman"/>
                <a:ea typeface="Times New Roman"/>
                <a:cs typeface="Times New Roman"/>
                <a:sym typeface="Times New Roman"/>
              </a:rPr>
              <a:t>Pin Configuration of USB:</a:t>
            </a:r>
          </a:p>
          <a:p>
            <a:pPr algn="just"/>
            <a:r>
              <a:rPr lang="en-US" sz="2000" dirty="0"/>
              <a:t>The typical Type-A USB connector is used in various applications. </a:t>
            </a:r>
          </a:p>
          <a:p>
            <a:pPr algn="just"/>
            <a:r>
              <a:rPr lang="en-US" sz="2000" dirty="0"/>
              <a:t>These USBs include 4 pins that are given below. </a:t>
            </a:r>
          </a:p>
          <a:p>
            <a:pPr algn="just"/>
            <a:r>
              <a:rPr lang="en-US" sz="2000" dirty="0"/>
              <a:t>This type of USB is observed mostly in connecting various devices to PC because it is the typical four-pin USB connector. </a:t>
            </a:r>
          </a:p>
          <a:p>
            <a:pPr algn="just"/>
            <a:r>
              <a:rPr lang="en-US" sz="2000" dirty="0"/>
              <a:t>This connector is taller and narrower including 4-pins arranged within a box.</a:t>
            </a:r>
          </a:p>
          <a:p>
            <a:pPr algn="just"/>
            <a:endParaRPr lang="en-US" sz="2000" dirty="0"/>
          </a:p>
          <a:p>
            <a:pPr algn="just"/>
            <a:endParaRPr lang="en-US" sz="2000" dirty="0"/>
          </a:p>
          <a:p>
            <a:pPr marL="114300" indent="0">
              <a:buNone/>
            </a:pPr>
            <a:r>
              <a:rPr lang="en-US" sz="1800" dirty="0"/>
              <a:t>The pins of Type A USB are indicated with color wires to perform a particular function.</a:t>
            </a:r>
          </a:p>
          <a:p>
            <a:pPr>
              <a:buFont typeface="Arial" panose="020B0604020202020204" pitchFamily="34" charset="0"/>
              <a:buChar char="•"/>
            </a:pPr>
            <a:r>
              <a:rPr lang="en-US" sz="1800" b="1" dirty="0"/>
              <a:t>Pin1 (VBUS):</a:t>
            </a:r>
            <a:r>
              <a:rPr lang="en-US" sz="1800" dirty="0"/>
              <a:t> It is a red color wire, used for providing power supply.</a:t>
            </a:r>
          </a:p>
          <a:p>
            <a:pPr>
              <a:buFont typeface="Arial" panose="020B0604020202020204" pitchFamily="34" charset="0"/>
              <a:buChar char="•"/>
            </a:pPr>
            <a:r>
              <a:rPr lang="en-US" sz="1800" b="1" dirty="0"/>
              <a:t>Pin2 (D-):</a:t>
            </a:r>
            <a:r>
              <a:rPr lang="en-US" sz="1800" dirty="0"/>
              <a:t> It is a differential pair pin available in white color, used for connectivity of USB.</a:t>
            </a:r>
          </a:p>
          <a:p>
            <a:pPr>
              <a:buFont typeface="Arial" panose="020B0604020202020204" pitchFamily="34" charset="0"/>
              <a:buChar char="•"/>
            </a:pPr>
            <a:r>
              <a:rPr lang="en-US" sz="1800" b="1" dirty="0"/>
              <a:t>Pin3 (D+):</a:t>
            </a:r>
            <a:r>
              <a:rPr lang="en-US" sz="1800" dirty="0"/>
              <a:t> It is a differential pair pin available in green color, used for connectivity of USB.</a:t>
            </a:r>
          </a:p>
          <a:p>
            <a:pPr>
              <a:buFont typeface="Arial" panose="020B0604020202020204" pitchFamily="34" charset="0"/>
              <a:buChar char="•"/>
            </a:pPr>
            <a:r>
              <a:rPr lang="en-US" sz="1800" b="1" dirty="0"/>
              <a:t>Pin4 (GND):</a:t>
            </a:r>
            <a:r>
              <a:rPr lang="en-US" sz="1800" dirty="0"/>
              <a:t> It is a Ground pin, available in black color.</a:t>
            </a:r>
          </a:p>
          <a:p>
            <a:pPr algn="just"/>
            <a:endParaRPr lang="en-US" sz="2000" dirty="0"/>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45</a:t>
            </a:fld>
            <a:endParaRPr/>
          </a:p>
        </p:txBody>
      </p:sp>
      <p:pic>
        <p:nvPicPr>
          <p:cNvPr id="3" name="Picture 2">
            <a:extLst>
              <a:ext uri="{FF2B5EF4-FFF2-40B4-BE49-F238E27FC236}">
                <a16:creationId xmlns:a16="http://schemas.microsoft.com/office/drawing/2014/main" xmlns="" id="{34B54A7E-4368-2354-5E97-09AAD68E3298}"/>
              </a:ext>
            </a:extLst>
          </p:cNvPr>
          <p:cNvPicPr>
            <a:picLocks noChangeAspect="1"/>
          </p:cNvPicPr>
          <p:nvPr/>
        </p:nvPicPr>
        <p:blipFill>
          <a:blip r:embed="rId3"/>
          <a:stretch>
            <a:fillRect/>
          </a:stretch>
        </p:blipFill>
        <p:spPr>
          <a:xfrm>
            <a:off x="7470100" y="3029236"/>
            <a:ext cx="1695450" cy="2143125"/>
          </a:xfrm>
          <a:prstGeom prst="rect">
            <a:avLst/>
          </a:prstGeom>
        </p:spPr>
      </p:pic>
    </p:spTree>
    <p:extLst>
      <p:ext uri="{BB962C8B-B14F-4D97-AF65-F5344CB8AC3E}">
        <p14:creationId xmlns:p14="http://schemas.microsoft.com/office/powerpoint/2010/main" val="15548682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USB (Universal Serial Bus)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7455108" cy="5531370"/>
          </a:xfrm>
          <a:prstGeom prst="rect">
            <a:avLst/>
          </a:prstGeom>
          <a:noFill/>
          <a:ln>
            <a:noFill/>
          </a:ln>
        </p:spPr>
        <p:txBody>
          <a:bodyPr spcFirstLastPara="1" wrap="square" lIns="91425" tIns="45700" rIns="91425" bIns="45700" anchor="t" anchorCtr="0">
            <a:noAutofit/>
          </a:bodyPr>
          <a:lstStyle/>
          <a:p>
            <a:pPr algn="just"/>
            <a:r>
              <a:rPr lang="en-US" sz="2000" dirty="0"/>
              <a:t>In the above pins, both the D+ &amp; D- pins indicate the transfer of data. When a ‘1’ is sent across the wires, then the D+ line will have positive flow, and if ‘0’ is sent then the reverse happens.</a:t>
            </a:r>
            <a:endParaRPr lang="en-US" sz="3600" dirty="0"/>
          </a:p>
          <a:p>
            <a:pPr algn="just"/>
            <a:endParaRPr lang="en-US" sz="2000" dirty="0">
              <a:sym typeface="Times New Roman"/>
            </a:endParaRPr>
          </a:p>
          <a:p>
            <a:pPr marL="114300" indent="0" algn="just">
              <a:buNone/>
            </a:pPr>
            <a:r>
              <a:rPr lang="en-US" sz="2000" b="1" dirty="0"/>
              <a:t>How Does The USB Protocol Work?</a:t>
            </a:r>
          </a:p>
          <a:p>
            <a:pPr algn="just"/>
            <a:r>
              <a:rPr lang="en-US" sz="2000" dirty="0"/>
              <a:t>The USB protocol simply works on the polling principle because, in polling, the processor continuously checks whether the input/output device is prepared for transmitting data or not. Thus, the I/O devices do not have to update the processor regarding their conditions because it is the main responsibility of the processor to check continuously. So this will make the USB low-cost &amp; simple.</a:t>
            </a:r>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46</a:t>
            </a:fld>
            <a:endParaRPr/>
          </a:p>
        </p:txBody>
      </p:sp>
      <p:pic>
        <p:nvPicPr>
          <p:cNvPr id="3" name="Picture 2">
            <a:extLst>
              <a:ext uri="{FF2B5EF4-FFF2-40B4-BE49-F238E27FC236}">
                <a16:creationId xmlns:a16="http://schemas.microsoft.com/office/drawing/2014/main" xmlns="" id="{34B54A7E-4368-2354-5E97-09AAD68E3298}"/>
              </a:ext>
            </a:extLst>
          </p:cNvPr>
          <p:cNvPicPr>
            <a:picLocks noChangeAspect="1"/>
          </p:cNvPicPr>
          <p:nvPr/>
        </p:nvPicPr>
        <p:blipFill>
          <a:blip r:embed="rId3"/>
          <a:stretch>
            <a:fillRect/>
          </a:stretch>
        </p:blipFill>
        <p:spPr>
          <a:xfrm>
            <a:off x="7470100" y="3029236"/>
            <a:ext cx="1695450" cy="2143125"/>
          </a:xfrm>
          <a:prstGeom prst="rect">
            <a:avLst/>
          </a:prstGeom>
        </p:spPr>
      </p:pic>
    </p:spTree>
    <p:extLst>
      <p:ext uri="{BB962C8B-B14F-4D97-AF65-F5344CB8AC3E}">
        <p14:creationId xmlns:p14="http://schemas.microsoft.com/office/powerpoint/2010/main" val="5001332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USB (Universal Serial Bus)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5" y="1007542"/>
            <a:ext cx="9061555" cy="5531370"/>
          </a:xfrm>
          <a:prstGeom prst="rect">
            <a:avLst/>
          </a:prstGeom>
          <a:noFill/>
          <a:ln>
            <a:noFill/>
          </a:ln>
        </p:spPr>
        <p:txBody>
          <a:bodyPr spcFirstLastPara="1" wrap="square" lIns="91425" tIns="45700" rIns="91425" bIns="45700" anchor="t" anchorCtr="0">
            <a:noAutofit/>
          </a:bodyPr>
          <a:lstStyle/>
          <a:p>
            <a:pPr marL="114300" indent="0" algn="just">
              <a:buNone/>
            </a:pPr>
            <a:r>
              <a:rPr lang="en-US" sz="2000" b="1" dirty="0"/>
              <a:t>USB Protocol Features</a:t>
            </a:r>
          </a:p>
          <a:p>
            <a:pPr marL="114300" indent="0" algn="just">
              <a:buNone/>
            </a:pPr>
            <a:r>
              <a:rPr lang="en-US" sz="2000" dirty="0"/>
              <a:t>The </a:t>
            </a:r>
            <a:r>
              <a:rPr lang="en-US" sz="2000" b="1" dirty="0"/>
              <a:t>features of USB</a:t>
            </a:r>
            <a:r>
              <a:rPr lang="en-US" sz="2000" dirty="0"/>
              <a:t> include the following.</a:t>
            </a:r>
          </a:p>
          <a:p>
            <a:pPr algn="just">
              <a:buFont typeface="Arial" panose="020B0604020202020204" pitchFamily="34" charset="0"/>
              <a:buChar char="•"/>
            </a:pPr>
            <a:r>
              <a:rPr lang="en-US" sz="2000" dirty="0"/>
              <a:t>The maximum speed of USB 2.0 is up to 480 Mbps.</a:t>
            </a:r>
          </a:p>
          <a:p>
            <a:pPr algn="just">
              <a:buFont typeface="Arial" panose="020B0604020202020204" pitchFamily="34" charset="0"/>
              <a:buChar char="•"/>
            </a:pPr>
            <a:r>
              <a:rPr lang="en-US" sz="2000" dirty="0"/>
              <a:t>An individual USB length can reach up to 40 meters including a hub and up to five meters without a hub</a:t>
            </a:r>
          </a:p>
          <a:p>
            <a:pPr algn="just">
              <a:buFont typeface="Arial" panose="020B0604020202020204" pitchFamily="34" charset="0"/>
              <a:buChar char="•"/>
            </a:pPr>
            <a:r>
              <a:rPr lang="en-US" sz="2000" dirty="0"/>
              <a:t>USB is a plug &amp; play device.</a:t>
            </a:r>
          </a:p>
          <a:p>
            <a:pPr algn="just">
              <a:buFont typeface="Arial" panose="020B0604020202020204" pitchFamily="34" charset="0"/>
              <a:buChar char="•"/>
            </a:pPr>
            <a:r>
              <a:rPr lang="en-US" sz="2000" dirty="0"/>
              <a:t>It can draw power from a computer or through its own supply.</a:t>
            </a:r>
          </a:p>
          <a:p>
            <a:pPr algn="just">
              <a:buFont typeface="Arial" panose="020B0604020202020204" pitchFamily="34" charset="0"/>
              <a:buChar char="•"/>
            </a:pPr>
            <a:r>
              <a:rPr lang="en-US" sz="2000" dirty="0"/>
              <a:t>By using a single USB host controller, above 100 peripherals can be connected.</a:t>
            </a:r>
          </a:p>
          <a:p>
            <a:pPr algn="just">
              <a:buFont typeface="Arial" panose="020B0604020202020204" pitchFamily="34" charset="0"/>
              <a:buChar char="•"/>
            </a:pPr>
            <a:r>
              <a:rPr lang="en-US" sz="2000" dirty="0"/>
              <a:t>The power used by a USB device is up to 5 V &amp; delivers up to 500 mA.</a:t>
            </a:r>
          </a:p>
          <a:p>
            <a:pPr algn="just">
              <a:buFont typeface="Arial" panose="020B0604020202020204" pitchFamily="34" charset="0"/>
              <a:buChar char="•"/>
            </a:pPr>
            <a:r>
              <a:rPr lang="en-US" sz="2000" dirty="0"/>
              <a:t>Once a computer changes into power-saving mode then some types of USBs convert automatically into sleep mode.</a:t>
            </a:r>
          </a:p>
          <a:p>
            <a:pPr algn="just">
              <a:buFont typeface="Arial" panose="020B0604020202020204" pitchFamily="34" charset="0"/>
              <a:buChar char="•"/>
            </a:pPr>
            <a:r>
              <a:rPr lang="en-US" sz="2000" dirty="0"/>
              <a:t>A USB includes two wires; one wire is used for power &amp; another is used for carrying the data.</a:t>
            </a:r>
          </a:p>
          <a:p>
            <a:pPr algn="just">
              <a:buFont typeface="Arial" panose="020B0604020202020204" pitchFamily="34" charset="0"/>
              <a:buChar char="•"/>
            </a:pPr>
            <a:r>
              <a:rPr lang="en-US" sz="2000" dirty="0"/>
              <a:t>At 5V, the computer can provide power up to 500mA on the power wires.</a:t>
            </a:r>
          </a:p>
          <a:p>
            <a:pPr algn="just">
              <a:buFont typeface="Arial" panose="020B0604020202020204" pitchFamily="34" charset="0"/>
              <a:buChar char="•"/>
            </a:pPr>
            <a:r>
              <a:rPr lang="en-US" sz="2000" dirty="0"/>
              <a:t>Low-power-based devices can draw their power from the USB directly.</a:t>
            </a:r>
          </a:p>
          <a:p>
            <a:pPr algn="just">
              <a:buFont typeface="Arial" panose="020B0604020202020204" pitchFamily="34" charset="0"/>
              <a:buChar char="•"/>
            </a:pPr>
            <a:r>
              <a:rPr lang="en-US" sz="2000" dirty="0"/>
              <a:t>Two-way communication is possible by using a USB in between the computer &amp; peripheral devices.</a:t>
            </a:r>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Tree>
    <p:extLst>
      <p:ext uri="{BB962C8B-B14F-4D97-AF65-F5344CB8AC3E}">
        <p14:creationId xmlns:p14="http://schemas.microsoft.com/office/powerpoint/2010/main" val="29262980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USB (Universal Serial Bus)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5" y="1007542"/>
            <a:ext cx="9061555" cy="5531370"/>
          </a:xfrm>
          <a:prstGeom prst="rect">
            <a:avLst/>
          </a:prstGeom>
          <a:noFill/>
          <a:ln>
            <a:noFill/>
          </a:ln>
        </p:spPr>
        <p:txBody>
          <a:bodyPr spcFirstLastPara="1" wrap="square" lIns="91425" tIns="45700" rIns="91425" bIns="45700" anchor="t" anchorCtr="0">
            <a:noAutofit/>
          </a:bodyPr>
          <a:lstStyle/>
          <a:p>
            <a:pPr marL="114300" indent="0" algn="just">
              <a:buNone/>
            </a:pPr>
            <a:r>
              <a:rPr lang="en-IN" sz="2800" b="1" dirty="0"/>
              <a:t>USB Standards and Specifications</a:t>
            </a:r>
          </a:p>
          <a:p>
            <a:pPr marL="114300" indent="0">
              <a:buNone/>
            </a:pPr>
            <a:r>
              <a:rPr lang="en-US" sz="2000" dirty="0"/>
              <a:t>The </a:t>
            </a:r>
            <a:r>
              <a:rPr lang="en-US" sz="2000" b="1" dirty="0"/>
              <a:t>specifications of USB</a:t>
            </a:r>
            <a:r>
              <a:rPr lang="en-US" sz="2000" dirty="0"/>
              <a:t> will change based on USB standards that include the following.</a:t>
            </a:r>
          </a:p>
          <a:p>
            <a:pPr marL="114300" indent="0">
              <a:buNone/>
            </a:pPr>
            <a:r>
              <a:rPr lang="en-US" sz="2000" dirty="0"/>
              <a:t>USB supports three types of speed low speed -1.5 Mbps, Full speed -12 Mbps &amp; High speed – 480 Mbps.</a:t>
            </a:r>
          </a:p>
          <a:p>
            <a:pPr marL="114300" indent="0">
              <a:buNone/>
            </a:pPr>
            <a:r>
              <a:rPr lang="en-US" sz="2000" b="1" dirty="0"/>
              <a:t>USB 2.0 Standard</a:t>
            </a:r>
          </a:p>
          <a:p>
            <a:pPr>
              <a:buFont typeface="Arial" panose="020B0604020202020204" pitchFamily="34" charset="0"/>
              <a:buChar char="•"/>
            </a:pPr>
            <a:r>
              <a:rPr lang="en-US" sz="2000" dirty="0"/>
              <a:t>It is a high-speed USB with 480Mbps of maximum data transfer speed. This USB supports all connectors.</a:t>
            </a:r>
          </a:p>
          <a:p>
            <a:pPr>
              <a:buFont typeface="Arial" panose="020B0604020202020204" pitchFamily="34" charset="0"/>
              <a:buChar char="•"/>
            </a:pPr>
            <a:r>
              <a:rPr lang="en-US" sz="2000" dirty="0"/>
              <a:t>The maximum length of the cable is 5 meters.</a:t>
            </a:r>
          </a:p>
          <a:p>
            <a:pPr>
              <a:buFont typeface="Arial" panose="020B0604020202020204" pitchFamily="34" charset="0"/>
              <a:buChar char="•"/>
            </a:pPr>
            <a:r>
              <a:rPr lang="en-US" sz="2000" dirty="0"/>
              <a:t>Its max charging power is up to 15w.</a:t>
            </a:r>
          </a:p>
          <a:p>
            <a:pPr marL="114300" indent="0">
              <a:buNone/>
            </a:pPr>
            <a:r>
              <a:rPr lang="en-US" sz="2000" b="1" dirty="0"/>
              <a:t>USB 3.2 Standard</a:t>
            </a:r>
          </a:p>
          <a:p>
            <a:pPr>
              <a:buFont typeface="Arial" panose="020B0604020202020204" pitchFamily="34" charset="0"/>
              <a:buChar char="•"/>
            </a:pPr>
            <a:r>
              <a:rPr lang="en-US" sz="2000" dirty="0"/>
              <a:t>USB 3.2 (Generation1) is a super speed USB with 5Gbps of maximum data transfer speed.</a:t>
            </a:r>
          </a:p>
          <a:p>
            <a:pPr>
              <a:buFont typeface="Arial" panose="020B0604020202020204" pitchFamily="34" charset="0"/>
              <a:buChar char="•"/>
            </a:pPr>
            <a:r>
              <a:rPr lang="en-US" sz="2000" dirty="0"/>
              <a:t>It supports different connectors like USB 3 USB-A, USB 3 USB-B &amp; USB-C.</a:t>
            </a:r>
          </a:p>
          <a:p>
            <a:pPr>
              <a:buFont typeface="Arial" panose="020B0604020202020204" pitchFamily="34" charset="0"/>
              <a:buChar char="•"/>
            </a:pPr>
            <a:r>
              <a:rPr lang="en-US" sz="2000" dirty="0"/>
              <a:t>The maximum length of cable for this USB is 3 meters.</a:t>
            </a:r>
          </a:p>
          <a:p>
            <a:pPr>
              <a:buFont typeface="Arial" panose="020B0604020202020204" pitchFamily="34" charset="0"/>
              <a:buChar char="•"/>
            </a:pPr>
            <a:r>
              <a:rPr lang="en-US" sz="2000" dirty="0"/>
              <a:t>Its max charging power is up to 15w.</a:t>
            </a:r>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spTree>
    <p:extLst>
      <p:ext uri="{BB962C8B-B14F-4D97-AF65-F5344CB8AC3E}">
        <p14:creationId xmlns:p14="http://schemas.microsoft.com/office/powerpoint/2010/main" val="16440881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USB (Universal Serial Bus)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5" y="1007542"/>
            <a:ext cx="9061555" cy="5531370"/>
          </a:xfrm>
          <a:prstGeom prst="rect">
            <a:avLst/>
          </a:prstGeom>
          <a:noFill/>
          <a:ln>
            <a:noFill/>
          </a:ln>
        </p:spPr>
        <p:txBody>
          <a:bodyPr spcFirstLastPara="1" wrap="square" lIns="91425" tIns="45700" rIns="91425" bIns="45700" anchor="t" anchorCtr="0">
            <a:noAutofit/>
          </a:bodyPr>
          <a:lstStyle/>
          <a:p>
            <a:pPr marL="114300" indent="0" algn="just">
              <a:buNone/>
            </a:pPr>
            <a:r>
              <a:rPr lang="en-IN" sz="2800" b="1" dirty="0"/>
              <a:t>USB Standards and Specifications</a:t>
            </a:r>
          </a:p>
          <a:p>
            <a:pPr marL="114300" indent="0">
              <a:buNone/>
            </a:pPr>
            <a:r>
              <a:rPr lang="en-US" sz="1800" b="1" dirty="0"/>
              <a:t>USB 3.2 (Generation2)</a:t>
            </a:r>
          </a:p>
          <a:p>
            <a:pPr>
              <a:buFont typeface="Arial" panose="020B0604020202020204" pitchFamily="34" charset="0"/>
              <a:buChar char="•"/>
            </a:pPr>
            <a:r>
              <a:rPr lang="en-US" sz="1800" dirty="0"/>
              <a:t>USB 3.2 (Generation2) is also a super speed USB with 10Gbps of maximum data transfer speed.</a:t>
            </a:r>
          </a:p>
          <a:p>
            <a:pPr>
              <a:buFont typeface="Arial" panose="020B0604020202020204" pitchFamily="34" charset="0"/>
              <a:buChar char="•"/>
            </a:pPr>
            <a:r>
              <a:rPr lang="en-US" sz="1800" dirty="0"/>
              <a:t>The maximum length of cable for this USB is 1meter.</a:t>
            </a:r>
          </a:p>
          <a:p>
            <a:pPr>
              <a:buFont typeface="Arial" panose="020B0604020202020204" pitchFamily="34" charset="0"/>
              <a:buChar char="•"/>
            </a:pPr>
            <a:r>
              <a:rPr lang="en-US" sz="1800" dirty="0"/>
              <a:t>It also supports different connectors like USB 3 USB-A, USB 3 USB-B &amp; USB-C.</a:t>
            </a:r>
          </a:p>
          <a:p>
            <a:pPr>
              <a:buFont typeface="Arial" panose="020B0604020202020204" pitchFamily="34" charset="0"/>
              <a:buChar char="•"/>
            </a:pPr>
            <a:r>
              <a:rPr lang="en-US" sz="1800" dirty="0"/>
              <a:t>Its max charging power is up to 100w.</a:t>
            </a:r>
          </a:p>
          <a:p>
            <a:pPr marL="114300" indent="0">
              <a:buNone/>
            </a:pPr>
            <a:r>
              <a:rPr lang="en-US" sz="1800" b="1" dirty="0"/>
              <a:t>USB 3.2 Generation 2×2</a:t>
            </a:r>
          </a:p>
          <a:p>
            <a:pPr>
              <a:buFont typeface="Arial" panose="020B0604020202020204" pitchFamily="34" charset="0"/>
              <a:buChar char="•"/>
            </a:pPr>
            <a:r>
              <a:rPr lang="en-US" sz="1800" dirty="0"/>
              <a:t>USB 3.2 Generation 2×2 is a super speed USB with 20Gbps of maximum data transfer speed.</a:t>
            </a:r>
          </a:p>
          <a:p>
            <a:pPr>
              <a:buFont typeface="Arial" panose="020B0604020202020204" pitchFamily="34" charset="0"/>
              <a:buChar char="•"/>
            </a:pPr>
            <a:r>
              <a:rPr lang="en-US" sz="1800" dirty="0"/>
              <a:t>The maximum length of cable for this USB is 1meter.</a:t>
            </a:r>
          </a:p>
          <a:p>
            <a:pPr>
              <a:buFont typeface="Arial" panose="020B0604020202020204" pitchFamily="34" charset="0"/>
              <a:buChar char="•"/>
            </a:pPr>
            <a:r>
              <a:rPr lang="en-US" sz="1800" dirty="0"/>
              <a:t>It also supports USB Connector.</a:t>
            </a:r>
          </a:p>
          <a:p>
            <a:pPr>
              <a:buFont typeface="Arial" panose="020B0604020202020204" pitchFamily="34" charset="0"/>
              <a:buChar char="•"/>
            </a:pPr>
            <a:r>
              <a:rPr lang="en-US" sz="1800" dirty="0"/>
              <a:t>Its max charging power is up to 100w.</a:t>
            </a:r>
          </a:p>
          <a:p>
            <a:pPr marL="114300" indent="0">
              <a:buNone/>
            </a:pPr>
            <a:endParaRPr lang="en-US" sz="2000" dirty="0"/>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spTree>
    <p:extLst>
      <p:ext uri="{BB962C8B-B14F-4D97-AF65-F5344CB8AC3E}">
        <p14:creationId xmlns:p14="http://schemas.microsoft.com/office/powerpoint/2010/main" val="31303973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USB (Universal Serial Bus)</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5" y="1007542"/>
            <a:ext cx="9061555" cy="5531370"/>
          </a:xfrm>
          <a:prstGeom prst="rect">
            <a:avLst/>
          </a:prstGeom>
          <a:noFill/>
          <a:ln>
            <a:noFill/>
          </a:ln>
        </p:spPr>
        <p:txBody>
          <a:bodyPr spcFirstLastPara="1" wrap="square" lIns="91425" tIns="45700" rIns="91425" bIns="45700" anchor="t" anchorCtr="0">
            <a:noAutofit/>
          </a:bodyPr>
          <a:lstStyle/>
          <a:p>
            <a:pPr marL="114300" indent="0" algn="just">
              <a:buNone/>
            </a:pPr>
            <a:r>
              <a:rPr lang="en-IN" sz="2800" b="1" dirty="0"/>
              <a:t>USB Standards and Specifications</a:t>
            </a:r>
          </a:p>
          <a:p>
            <a:pPr marL="114300" indent="0" algn="just">
              <a:buNone/>
            </a:pPr>
            <a:r>
              <a:rPr lang="en-US" sz="2000" b="1" dirty="0"/>
              <a:t>Thunderbolt 3 Standard</a:t>
            </a:r>
          </a:p>
          <a:p>
            <a:pPr algn="just">
              <a:buFont typeface="Arial" panose="020B0604020202020204" pitchFamily="34" charset="0"/>
              <a:buChar char="•"/>
            </a:pPr>
            <a:r>
              <a:rPr lang="en-US" sz="2000" dirty="0"/>
              <a:t>This USB is also called thunderbolt including up to 40Gbps of maximum data transfer speed.</a:t>
            </a:r>
          </a:p>
          <a:p>
            <a:pPr algn="just">
              <a:buFont typeface="Arial" panose="020B0604020202020204" pitchFamily="34" charset="0"/>
              <a:buChar char="•"/>
            </a:pPr>
            <a:r>
              <a:rPr lang="en-US" sz="2000" dirty="0"/>
              <a:t>The maximum length of cable for this USB is 2 meters for active and 0.8meters for passive cables.</a:t>
            </a:r>
          </a:p>
          <a:p>
            <a:pPr algn="just">
              <a:buFont typeface="Arial" panose="020B0604020202020204" pitchFamily="34" charset="0"/>
              <a:buChar char="•"/>
            </a:pPr>
            <a:r>
              <a:rPr lang="en-US" sz="2000" dirty="0"/>
              <a:t>It supports USB Connector.</a:t>
            </a:r>
          </a:p>
          <a:p>
            <a:pPr algn="just">
              <a:buFont typeface="Arial" panose="020B0604020202020204" pitchFamily="34" charset="0"/>
              <a:buChar char="•"/>
            </a:pPr>
            <a:r>
              <a:rPr lang="en-US" sz="2000" dirty="0"/>
              <a:t>Its max charging power is up to 100w.</a:t>
            </a:r>
          </a:p>
          <a:p>
            <a:pPr marL="114300" indent="0" algn="just">
              <a:buNone/>
            </a:pPr>
            <a:r>
              <a:rPr lang="en-US" sz="2000" b="1" dirty="0"/>
              <a:t>USB 4 Standard</a:t>
            </a:r>
          </a:p>
          <a:p>
            <a:pPr algn="just">
              <a:buFont typeface="Arial" panose="020B0604020202020204" pitchFamily="34" charset="0"/>
              <a:buChar char="•"/>
            </a:pPr>
            <a:r>
              <a:rPr lang="en-US" sz="2000" dirty="0"/>
              <a:t>This USB is also known as Thunderbolt 4 with up to 40Gbps of maximum data transfer speed.</a:t>
            </a:r>
          </a:p>
          <a:p>
            <a:pPr algn="just">
              <a:buFont typeface="Arial" panose="020B0604020202020204" pitchFamily="34" charset="0"/>
              <a:buChar char="•"/>
            </a:pPr>
            <a:r>
              <a:rPr lang="en-US" sz="2000" dirty="0"/>
              <a:t>The maximum length of cable for this USB is 2m for active &amp; 0.8m for passive cables.</a:t>
            </a:r>
          </a:p>
          <a:p>
            <a:pPr algn="just">
              <a:buFont typeface="Arial" panose="020B0604020202020204" pitchFamily="34" charset="0"/>
              <a:buChar char="•"/>
            </a:pPr>
            <a:r>
              <a:rPr lang="en-US" sz="2000" dirty="0"/>
              <a:t>It supports USB Connector.</a:t>
            </a:r>
          </a:p>
          <a:p>
            <a:pPr algn="just">
              <a:buFont typeface="Arial" panose="020B0604020202020204" pitchFamily="34" charset="0"/>
              <a:buChar char="•"/>
            </a:pPr>
            <a:r>
              <a:rPr lang="en-US" sz="2000" dirty="0"/>
              <a:t>Its max charging power is up to 100w.</a:t>
            </a:r>
          </a:p>
          <a:p>
            <a:pPr marL="114300" indent="0">
              <a:buNone/>
            </a:pPr>
            <a:endParaRPr lang="en-US" sz="2000" dirty="0"/>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spTree>
    <p:extLst>
      <p:ext uri="{BB962C8B-B14F-4D97-AF65-F5344CB8AC3E}">
        <p14:creationId xmlns:p14="http://schemas.microsoft.com/office/powerpoint/2010/main" val="31452066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1BF0D1-5B66-B2BE-1739-4CDE2113568A}"/>
              </a:ext>
            </a:extLst>
          </p:cNvPr>
          <p:cNvSpPr>
            <a:spLocks noGrp="1"/>
          </p:cNvSpPr>
          <p:nvPr>
            <p:ph type="title"/>
          </p:nvPr>
        </p:nvSpPr>
        <p:spPr>
          <a:xfrm>
            <a:off x="228600" y="228600"/>
            <a:ext cx="6172200" cy="487363"/>
          </a:xfrm>
        </p:spPr>
        <p:txBody>
          <a:bodyPr/>
          <a:lstStyle/>
          <a:p>
            <a:r>
              <a:rPr lang="en-US" sz="3200" b="1" dirty="0">
                <a:latin typeface="Times New Roman"/>
                <a:ea typeface="Times New Roman"/>
                <a:cs typeface="Times New Roman"/>
                <a:sym typeface="Times New Roman"/>
              </a:rPr>
              <a:t>USB (Universal Serial Bus)</a:t>
            </a:r>
            <a:endParaRPr lang="en-IN" dirty="0"/>
          </a:p>
        </p:txBody>
      </p:sp>
      <p:sp>
        <p:nvSpPr>
          <p:cNvPr id="3" name="Text Placeholder 2">
            <a:extLst>
              <a:ext uri="{FF2B5EF4-FFF2-40B4-BE49-F238E27FC236}">
                <a16:creationId xmlns:a16="http://schemas.microsoft.com/office/drawing/2014/main" xmlns="" id="{748261E0-D2B7-CB33-702F-7C46E8C33B34}"/>
              </a:ext>
            </a:extLst>
          </p:cNvPr>
          <p:cNvSpPr>
            <a:spLocks noGrp="1"/>
          </p:cNvSpPr>
          <p:nvPr>
            <p:ph type="body" sz="half" idx="1"/>
          </p:nvPr>
        </p:nvSpPr>
        <p:spPr>
          <a:xfrm>
            <a:off x="119921" y="990600"/>
            <a:ext cx="4375879" cy="5638800"/>
          </a:xfrm>
        </p:spPr>
        <p:txBody>
          <a:bodyPr/>
          <a:lstStyle/>
          <a:p>
            <a:pPr marL="25400" indent="0" algn="just">
              <a:buNone/>
            </a:pPr>
            <a:r>
              <a:rPr lang="en-US" sz="2000" b="1" dirty="0"/>
              <a:t>Advantages of USB</a:t>
            </a:r>
          </a:p>
          <a:p>
            <a:pPr marL="25400" indent="0" algn="just">
              <a:buNone/>
            </a:pPr>
            <a:r>
              <a:rPr lang="en-US" sz="1600" dirty="0"/>
              <a:t>The </a:t>
            </a:r>
            <a:r>
              <a:rPr lang="en-US" sz="1600" b="1" dirty="0"/>
              <a:t>advantages of USB</a:t>
            </a:r>
            <a:r>
              <a:rPr lang="en-US" sz="1600" dirty="0"/>
              <a:t> include the following.</a:t>
            </a:r>
          </a:p>
          <a:p>
            <a:pPr algn="just">
              <a:buFont typeface="Arial" panose="020B0604020202020204" pitchFamily="34" charset="0"/>
              <a:buChar char="•"/>
            </a:pPr>
            <a:r>
              <a:rPr lang="en-US" sz="1800" dirty="0"/>
              <a:t>Easy to use.</a:t>
            </a:r>
          </a:p>
          <a:p>
            <a:pPr algn="just">
              <a:buFont typeface="Arial" panose="020B0604020202020204" pitchFamily="34" charset="0"/>
              <a:buChar char="•"/>
            </a:pPr>
            <a:r>
              <a:rPr lang="en-US" sz="1800" dirty="0"/>
              <a:t>For multiple devices, a single interface is used.</a:t>
            </a:r>
          </a:p>
          <a:p>
            <a:pPr algn="just">
              <a:buFont typeface="Arial" panose="020B0604020202020204" pitchFamily="34" charset="0"/>
              <a:buChar char="•"/>
            </a:pPr>
            <a:r>
              <a:rPr lang="en-US" sz="1800" dirty="0"/>
              <a:t>Its size is compact.</a:t>
            </a:r>
          </a:p>
          <a:p>
            <a:pPr algn="just">
              <a:buFont typeface="Arial" panose="020B0604020202020204" pitchFamily="34" charset="0"/>
              <a:buChar char="•"/>
            </a:pPr>
            <a:r>
              <a:rPr lang="en-US" sz="1800" dirty="0"/>
              <a:t>Its connector system is robust.</a:t>
            </a:r>
          </a:p>
          <a:p>
            <a:pPr algn="just">
              <a:buFont typeface="Arial" panose="020B0604020202020204" pitchFamily="34" charset="0"/>
              <a:buChar char="•"/>
            </a:pPr>
            <a:r>
              <a:rPr lang="en-US" sz="1800" dirty="0"/>
              <a:t>These are not expensive.</a:t>
            </a:r>
          </a:p>
          <a:p>
            <a:pPr algn="just">
              <a:buFont typeface="Arial" panose="020B0604020202020204" pitchFamily="34" charset="0"/>
              <a:buChar char="•"/>
            </a:pPr>
            <a:r>
              <a:rPr lang="en-US" sz="1800" dirty="0"/>
              <a:t>These are available in different sizes with different connectors.</a:t>
            </a:r>
          </a:p>
          <a:p>
            <a:pPr algn="just">
              <a:buFont typeface="Arial" panose="020B0604020202020204" pitchFamily="34" charset="0"/>
              <a:buChar char="•"/>
            </a:pPr>
            <a:r>
              <a:rPr lang="en-US" sz="1800" dirty="0"/>
              <a:t>Auto configuration.</a:t>
            </a:r>
          </a:p>
          <a:p>
            <a:pPr algn="just">
              <a:buFont typeface="Arial" panose="020B0604020202020204" pitchFamily="34" charset="0"/>
              <a:buChar char="•"/>
            </a:pPr>
            <a:r>
              <a:rPr lang="en-US" sz="1800" dirty="0"/>
              <a:t>Its expanding is easy.</a:t>
            </a:r>
          </a:p>
          <a:p>
            <a:pPr algn="just">
              <a:buFont typeface="Arial" panose="020B0604020202020204" pitchFamily="34" charset="0"/>
              <a:buChar char="•"/>
            </a:pPr>
            <a:r>
              <a:rPr lang="en-US" sz="1800" dirty="0"/>
              <a:t>High speed.</a:t>
            </a:r>
          </a:p>
          <a:p>
            <a:pPr algn="just">
              <a:buFont typeface="Arial" panose="020B0604020202020204" pitchFamily="34" charset="0"/>
              <a:buChar char="•"/>
            </a:pPr>
            <a:r>
              <a:rPr lang="en-US" sz="1800" dirty="0"/>
              <a:t>Reliable and low cost.</a:t>
            </a:r>
          </a:p>
          <a:p>
            <a:pPr algn="just">
              <a:buFont typeface="Arial" panose="020B0604020202020204" pitchFamily="34" charset="0"/>
              <a:buChar char="•"/>
            </a:pPr>
            <a:r>
              <a:rPr lang="en-US" sz="1800" dirty="0"/>
              <a:t>Power consumption is low.</a:t>
            </a:r>
          </a:p>
          <a:p>
            <a:pPr algn="just">
              <a:buFont typeface="Arial" panose="020B0604020202020204" pitchFamily="34" charset="0"/>
              <a:buChar char="•"/>
            </a:pPr>
            <a:r>
              <a:rPr lang="en-US" sz="1800" dirty="0"/>
              <a:t>Compatible and durable.</a:t>
            </a:r>
          </a:p>
          <a:p>
            <a:endParaRPr lang="en-IN" dirty="0"/>
          </a:p>
        </p:txBody>
      </p:sp>
      <p:sp>
        <p:nvSpPr>
          <p:cNvPr id="4" name="Content Placeholder 3">
            <a:extLst>
              <a:ext uri="{FF2B5EF4-FFF2-40B4-BE49-F238E27FC236}">
                <a16:creationId xmlns:a16="http://schemas.microsoft.com/office/drawing/2014/main" xmlns="" id="{01D741F3-5F13-6FE3-1965-8017BC28D3E7}"/>
              </a:ext>
            </a:extLst>
          </p:cNvPr>
          <p:cNvSpPr>
            <a:spLocks noGrp="1"/>
          </p:cNvSpPr>
          <p:nvPr>
            <p:ph sz="half" idx="2"/>
          </p:nvPr>
        </p:nvSpPr>
        <p:spPr/>
        <p:txBody>
          <a:bodyPr/>
          <a:lstStyle/>
          <a:p>
            <a:pPr marL="25400" indent="0">
              <a:buNone/>
            </a:pPr>
            <a:r>
              <a:rPr lang="en-US" sz="2000" b="1" dirty="0"/>
              <a:t>Disadvantages of USB</a:t>
            </a:r>
          </a:p>
          <a:p>
            <a:pPr marL="25400" indent="0">
              <a:buNone/>
            </a:pPr>
            <a:r>
              <a:rPr lang="en-US" sz="2000" dirty="0"/>
              <a:t>The </a:t>
            </a:r>
            <a:r>
              <a:rPr lang="en-US" sz="2000" b="1" dirty="0"/>
              <a:t>disadvantages of USB</a:t>
            </a:r>
            <a:r>
              <a:rPr lang="en-US" sz="2000" dirty="0"/>
              <a:t> include the following.</a:t>
            </a:r>
          </a:p>
          <a:p>
            <a:pPr algn="just">
              <a:buFont typeface="Arial" panose="020B0604020202020204" pitchFamily="34" charset="0"/>
              <a:buChar char="•"/>
            </a:pPr>
            <a:r>
              <a:rPr lang="en-US" sz="2000" dirty="0"/>
              <a:t>Some manufacturers design low-quality USBs with less cost.</a:t>
            </a:r>
          </a:p>
          <a:p>
            <a:pPr algn="just">
              <a:buFont typeface="Arial" panose="020B0604020202020204" pitchFamily="34" charset="0"/>
              <a:buChar char="•"/>
            </a:pPr>
            <a:r>
              <a:rPr lang="en-US" sz="2000" dirty="0"/>
              <a:t>Its capacity is limited.</a:t>
            </a:r>
          </a:p>
          <a:p>
            <a:pPr algn="just">
              <a:buFont typeface="Arial" panose="020B0604020202020204" pitchFamily="34" charset="0"/>
              <a:buChar char="•"/>
            </a:pPr>
            <a:r>
              <a:rPr lang="en-US" sz="2000" dirty="0"/>
              <a:t>As compared to other systems, its data transfer is not fast.</a:t>
            </a:r>
          </a:p>
          <a:p>
            <a:pPr algn="just">
              <a:buFont typeface="Arial" panose="020B0604020202020204" pitchFamily="34" charset="0"/>
              <a:buChar char="•"/>
            </a:pPr>
            <a:r>
              <a:rPr lang="en-US" sz="2000" dirty="0"/>
              <a:t>USB does not give the broadcasting feature, so individual messages are only communicated between the host &amp; peripheral.</a:t>
            </a:r>
          </a:p>
          <a:p>
            <a:endParaRPr lang="en-IN" dirty="0"/>
          </a:p>
        </p:txBody>
      </p:sp>
      <p:sp>
        <p:nvSpPr>
          <p:cNvPr id="5" name="Slide Number Placeholder 4">
            <a:extLst>
              <a:ext uri="{FF2B5EF4-FFF2-40B4-BE49-F238E27FC236}">
                <a16:creationId xmlns:a16="http://schemas.microsoft.com/office/drawing/2014/main" xmlns="" id="{94D3DA5A-A286-5C7D-D7FE-52D3991407E8}"/>
              </a:ext>
            </a:extLst>
          </p:cNvPr>
          <p:cNvSpPr>
            <a:spLocks noGrp="1"/>
          </p:cNvSpPr>
          <p:nvPr>
            <p:ph type="sldNum" sz="quarter" idx="11"/>
          </p:nvPr>
        </p:nvSpPr>
        <p:spPr/>
        <p:txBody>
          <a:bodyPr/>
          <a:lstStyle/>
          <a:p>
            <a:fld id="{2749D493-8DDA-4B99-B7CC-61042BCC6AA7}" type="slidenum">
              <a:rPr lang="en-US" altLang="en-US" smtClean="0"/>
              <a:pPr/>
              <a:t>51</a:t>
            </a:fld>
            <a:endParaRPr lang="en-US" altLang="en-US"/>
          </a:p>
        </p:txBody>
      </p:sp>
    </p:spTree>
    <p:extLst>
      <p:ext uri="{BB962C8B-B14F-4D97-AF65-F5344CB8AC3E}">
        <p14:creationId xmlns:p14="http://schemas.microsoft.com/office/powerpoint/2010/main" val="21375035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Bluetooth</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8791732" cy="5531370"/>
          </a:xfrm>
          <a:prstGeom prst="rect">
            <a:avLst/>
          </a:prstGeom>
          <a:noFill/>
          <a:ln>
            <a:noFill/>
          </a:ln>
        </p:spPr>
        <p:txBody>
          <a:bodyPr spcFirstLastPara="1" wrap="square" lIns="91425" tIns="45700" rIns="91425" bIns="45700" anchor="t" anchorCtr="0">
            <a:noAutofit/>
          </a:bodyPr>
          <a:lstStyle/>
          <a:p>
            <a:pPr algn="just"/>
            <a:r>
              <a:rPr lang="en-US" sz="2400" dirty="0"/>
              <a:t>Bluetooth is used for short-range wireless voice and data communication.</a:t>
            </a:r>
          </a:p>
          <a:p>
            <a:pPr algn="just"/>
            <a:r>
              <a:rPr lang="en-US" sz="2400" dirty="0"/>
              <a:t>It is a Wireless Personal Area Network (WPAN) technology and is used for data communications over smaller distances. </a:t>
            </a:r>
          </a:p>
          <a:p>
            <a:pPr algn="just"/>
            <a:r>
              <a:rPr lang="en-US" sz="2400" dirty="0"/>
              <a:t>It operates within the unlicensed, business, scientific, and clinical (ISM) bands from 2.4 GHz to 2.485 GHz. </a:t>
            </a:r>
          </a:p>
          <a:p>
            <a:pPr algn="just"/>
            <a:r>
              <a:rPr lang="en-US" sz="2400" dirty="0"/>
              <a:t>Bluetooth stages up to 10 meters. </a:t>
            </a:r>
          </a:p>
          <a:p>
            <a:pPr algn="just"/>
            <a:r>
              <a:rPr lang="en-US" sz="2400" dirty="0"/>
              <a:t>Depending upon the version, it presents information up to at least 1 Mbps or 3 Mbps. </a:t>
            </a:r>
          </a:p>
          <a:p>
            <a:pPr algn="just"/>
            <a:r>
              <a:rPr lang="en-US" sz="2400" dirty="0"/>
              <a:t>The spreading method that it uses is FHSS (Frequency-hopping unfold spectrum).</a:t>
            </a:r>
          </a:p>
          <a:p>
            <a:pPr algn="just"/>
            <a:r>
              <a:rPr lang="en-US" sz="2400" dirty="0"/>
              <a:t>A Bluetooth network is called a piconet and a group of interconnected piconets is called a scatternet.</a:t>
            </a:r>
            <a:endParaRPr lang="en-US" sz="4000" dirty="0"/>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pic>
        <p:nvPicPr>
          <p:cNvPr id="3" name="Picture 2">
            <a:extLst>
              <a:ext uri="{FF2B5EF4-FFF2-40B4-BE49-F238E27FC236}">
                <a16:creationId xmlns:a16="http://schemas.microsoft.com/office/drawing/2014/main" xmlns="" id="{49B460B0-7FD9-49D3-2D67-2B933727309A}"/>
              </a:ext>
            </a:extLst>
          </p:cNvPr>
          <p:cNvPicPr>
            <a:picLocks noChangeAspect="1"/>
          </p:cNvPicPr>
          <p:nvPr/>
        </p:nvPicPr>
        <p:blipFill>
          <a:blip r:embed="rId3"/>
          <a:stretch>
            <a:fillRect/>
          </a:stretch>
        </p:blipFill>
        <p:spPr>
          <a:xfrm>
            <a:off x="6553200" y="2995046"/>
            <a:ext cx="1600200" cy="867908"/>
          </a:xfrm>
          <a:prstGeom prst="rect">
            <a:avLst/>
          </a:prstGeom>
        </p:spPr>
      </p:pic>
    </p:spTree>
    <p:extLst>
      <p:ext uri="{BB962C8B-B14F-4D97-AF65-F5344CB8AC3E}">
        <p14:creationId xmlns:p14="http://schemas.microsoft.com/office/powerpoint/2010/main" val="42022909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Bluetooth</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8791732" cy="5531370"/>
          </a:xfrm>
          <a:prstGeom prst="rect">
            <a:avLst/>
          </a:prstGeom>
          <a:noFill/>
          <a:ln>
            <a:noFill/>
          </a:ln>
        </p:spPr>
        <p:txBody>
          <a:bodyPr spcFirstLastPara="1" wrap="square" lIns="91425" tIns="45700" rIns="91425" bIns="45700" anchor="t" anchorCtr="0">
            <a:noAutofit/>
          </a:bodyPr>
          <a:lstStyle/>
          <a:p>
            <a:pPr algn="just"/>
            <a:r>
              <a:rPr lang="en-US" sz="2000" dirty="0">
                <a:effectLst/>
              </a:rPr>
              <a:t>Bluetooth simply follows the principle of transmitting and receiving data using </a:t>
            </a:r>
            <a:r>
              <a:rPr lang="en-US" sz="2000" dirty="0"/>
              <a:t>radio waves. </a:t>
            </a:r>
          </a:p>
          <a:p>
            <a:pPr algn="just"/>
            <a:r>
              <a:rPr lang="en-US" sz="2000" dirty="0">
                <a:effectLst/>
              </a:rPr>
              <a:t>It can be paired with the other device which has also Bluetooth but it should be within the estimated communication range to connect. </a:t>
            </a:r>
          </a:p>
          <a:p>
            <a:pPr algn="just"/>
            <a:r>
              <a:rPr lang="en-US" sz="2000" dirty="0">
                <a:effectLst/>
              </a:rPr>
              <a:t>When two devices start to share data, they form a network called piconet which can further accommodate more than five devices.</a:t>
            </a:r>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pic>
        <p:nvPicPr>
          <p:cNvPr id="4" name="Picture 3">
            <a:extLst>
              <a:ext uri="{FF2B5EF4-FFF2-40B4-BE49-F238E27FC236}">
                <a16:creationId xmlns:a16="http://schemas.microsoft.com/office/drawing/2014/main" xmlns="" id="{10ADC8D0-0AEE-7F6F-C85F-51C6482F3290}"/>
              </a:ext>
            </a:extLst>
          </p:cNvPr>
          <p:cNvPicPr>
            <a:picLocks noChangeAspect="1"/>
          </p:cNvPicPr>
          <p:nvPr/>
        </p:nvPicPr>
        <p:blipFill>
          <a:blip r:embed="rId3"/>
          <a:stretch>
            <a:fillRect/>
          </a:stretch>
        </p:blipFill>
        <p:spPr>
          <a:xfrm>
            <a:off x="1869141" y="3156938"/>
            <a:ext cx="4261836" cy="3381973"/>
          </a:xfrm>
          <a:prstGeom prst="rect">
            <a:avLst/>
          </a:prstGeom>
        </p:spPr>
      </p:pic>
    </p:spTree>
    <p:extLst>
      <p:ext uri="{BB962C8B-B14F-4D97-AF65-F5344CB8AC3E}">
        <p14:creationId xmlns:p14="http://schemas.microsoft.com/office/powerpoint/2010/main" val="20406076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Bluetooth</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Key Features of Bluetooth</a:t>
            </a:r>
          </a:p>
          <a:p>
            <a:pPr>
              <a:buFont typeface="Arial" panose="020B0604020202020204" pitchFamily="34" charset="0"/>
              <a:buChar char="•"/>
            </a:pPr>
            <a:r>
              <a:rPr lang="en-US" sz="2800" dirty="0"/>
              <a:t>The transmission capacity of Bluetooth is 720 kbps.</a:t>
            </a:r>
          </a:p>
          <a:p>
            <a:pPr>
              <a:buFont typeface="Arial" panose="020B0604020202020204" pitchFamily="34" charset="0"/>
              <a:buChar char="•"/>
            </a:pPr>
            <a:r>
              <a:rPr lang="en-US" sz="2800" dirty="0"/>
              <a:t>Bluetooth is a wireless device.</a:t>
            </a:r>
          </a:p>
          <a:p>
            <a:pPr>
              <a:buFont typeface="Arial" panose="020B0604020202020204" pitchFamily="34" charset="0"/>
              <a:buChar char="•"/>
            </a:pPr>
            <a:r>
              <a:rPr lang="en-US" sz="2800" dirty="0"/>
              <a:t>Bluetooth is a Low-cost and short-distance radio communications standard.</a:t>
            </a:r>
          </a:p>
          <a:p>
            <a:pPr>
              <a:buFont typeface="Arial" panose="020B0604020202020204" pitchFamily="34" charset="0"/>
              <a:buChar char="•"/>
            </a:pPr>
            <a:r>
              <a:rPr lang="en-US" sz="2800" dirty="0"/>
              <a:t>Bluetooth is robust and flexible.</a:t>
            </a:r>
          </a:p>
          <a:p>
            <a:pPr>
              <a:buFont typeface="Arial" panose="020B0604020202020204" pitchFamily="34" charset="0"/>
              <a:buChar char="•"/>
            </a:pPr>
            <a:r>
              <a:rPr lang="en-US" sz="2800" dirty="0"/>
              <a:t>The basic architecture unit of Bluetooth is a piconet.</a:t>
            </a:r>
          </a:p>
          <a:p>
            <a:pPr algn="just"/>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Tree>
    <p:extLst>
      <p:ext uri="{BB962C8B-B14F-4D97-AF65-F5344CB8AC3E}">
        <p14:creationId xmlns:p14="http://schemas.microsoft.com/office/powerpoint/2010/main" val="39125979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Bluetooth</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Architecture of Bluetooth</a:t>
            </a:r>
          </a:p>
          <a:p>
            <a:pPr marL="114300" indent="0" algn="just" rtl="0">
              <a:buNone/>
            </a:pPr>
            <a:r>
              <a:rPr lang="en-US" sz="2600" dirty="0">
                <a:effectLst/>
              </a:rPr>
              <a:t>The architecture of Bluetooth defines two types of networks:</a:t>
            </a:r>
          </a:p>
          <a:p>
            <a:pPr algn="just" rtl="0"/>
            <a:r>
              <a:rPr lang="en-US" sz="2600" b="1" dirty="0">
                <a:effectLst/>
              </a:rPr>
              <a:t>Piconet:</a:t>
            </a:r>
            <a:r>
              <a:rPr lang="en-US" sz="2600" dirty="0">
                <a:effectLst/>
              </a:rPr>
              <a:t> Piconet is a type of Bluetooth network that contains</a:t>
            </a:r>
            <a:r>
              <a:rPr lang="en-US" sz="2600" b="1" dirty="0">
                <a:effectLst/>
              </a:rPr>
              <a:t> </a:t>
            </a:r>
            <a:r>
              <a:rPr lang="en-US" sz="2600" dirty="0">
                <a:effectLst/>
              </a:rPr>
              <a:t>one primary node called the master node and seven active secondary nodes called slave nodes. </a:t>
            </a:r>
          </a:p>
          <a:p>
            <a:pPr algn="just" rtl="0"/>
            <a:r>
              <a:rPr lang="en-US" sz="2600" dirty="0">
                <a:effectLst/>
              </a:rPr>
              <a:t>Thus, we can say that there is a total of 8 active nodes which are present at a distance of 10 meters. </a:t>
            </a:r>
          </a:p>
          <a:p>
            <a:pPr algn="just" rtl="0"/>
            <a:r>
              <a:rPr lang="en-US" sz="2600" dirty="0">
                <a:effectLst/>
              </a:rPr>
              <a:t>The communication between the primary and secondary nodes can be one-to-one or one-to-many. </a:t>
            </a:r>
          </a:p>
          <a:p>
            <a:pPr algn="just" rtl="0"/>
            <a:r>
              <a:rPr lang="en-US" sz="2600" dirty="0">
                <a:effectLst/>
              </a:rPr>
              <a:t>Possible communication is only between the master and slave</a:t>
            </a:r>
            <a:r>
              <a:rPr lang="en-US" sz="2600" dirty="0"/>
              <a:t>.</a:t>
            </a:r>
            <a:r>
              <a:rPr lang="en-US" sz="2600" dirty="0">
                <a:effectLst/>
              </a:rPr>
              <a:t> </a:t>
            </a:r>
          </a:p>
          <a:p>
            <a:pPr algn="just" rtl="0"/>
            <a:r>
              <a:rPr lang="en-US" sz="2600" dirty="0">
                <a:effectLst/>
              </a:rPr>
              <a:t>Slave-slave communication is not possible. </a:t>
            </a:r>
            <a:endParaRPr lang="en-US" sz="2000" dirty="0">
              <a:sym typeface="Times New Roman"/>
            </a:endParaRPr>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spTree>
    <p:extLst>
      <p:ext uri="{BB962C8B-B14F-4D97-AF65-F5344CB8AC3E}">
        <p14:creationId xmlns:p14="http://schemas.microsoft.com/office/powerpoint/2010/main" val="27572185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Bluetooth</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Architecture of Bluetooth</a:t>
            </a:r>
          </a:p>
          <a:p>
            <a:pPr marL="114300" indent="0">
              <a:buNone/>
            </a:pPr>
            <a:endParaRPr lang="en-US" sz="28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pic>
        <p:nvPicPr>
          <p:cNvPr id="3" name="Picture 2">
            <a:extLst>
              <a:ext uri="{FF2B5EF4-FFF2-40B4-BE49-F238E27FC236}">
                <a16:creationId xmlns:a16="http://schemas.microsoft.com/office/drawing/2014/main" xmlns="" id="{EAE0874C-CF5B-D821-7EAD-80C0813D3FDF}"/>
              </a:ext>
            </a:extLst>
          </p:cNvPr>
          <p:cNvPicPr>
            <a:picLocks noChangeAspect="1"/>
          </p:cNvPicPr>
          <p:nvPr/>
        </p:nvPicPr>
        <p:blipFill>
          <a:blip r:embed="rId3"/>
          <a:stretch>
            <a:fillRect/>
          </a:stretch>
        </p:blipFill>
        <p:spPr>
          <a:xfrm>
            <a:off x="383830" y="1847849"/>
            <a:ext cx="8677723" cy="4691063"/>
          </a:xfrm>
          <a:prstGeom prst="rect">
            <a:avLst/>
          </a:prstGeom>
        </p:spPr>
      </p:pic>
    </p:spTree>
    <p:extLst>
      <p:ext uri="{BB962C8B-B14F-4D97-AF65-F5344CB8AC3E}">
        <p14:creationId xmlns:p14="http://schemas.microsoft.com/office/powerpoint/2010/main" val="18243946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Bluetooth</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Architecture of Bluetooth</a:t>
            </a:r>
          </a:p>
          <a:p>
            <a:pPr marL="114300" indent="0" algn="just">
              <a:buNone/>
            </a:pPr>
            <a:r>
              <a:rPr lang="en-US" sz="2800" b="1" dirty="0"/>
              <a:t>Scatternet: </a:t>
            </a:r>
          </a:p>
          <a:p>
            <a:pPr algn="just"/>
            <a:r>
              <a:rPr lang="en-US" sz="2800" dirty="0"/>
              <a:t>It is formed by using various piconets. </a:t>
            </a:r>
          </a:p>
          <a:p>
            <a:pPr algn="just"/>
            <a:r>
              <a:rPr lang="en-US" sz="2800" dirty="0"/>
              <a:t>A slave that is present in one piconet can act as master or we can say primary in another piconet. </a:t>
            </a:r>
          </a:p>
          <a:p>
            <a:pPr algn="just"/>
            <a:r>
              <a:rPr lang="en-US" sz="2800" dirty="0"/>
              <a:t>This kind of node can receive a message from a master in one piconet and deliver the message to its slave in the other piconet where it is acting as a master. </a:t>
            </a:r>
          </a:p>
          <a:p>
            <a:pPr algn="just"/>
            <a:r>
              <a:rPr lang="en-US" sz="2800" dirty="0"/>
              <a:t>This type of node is referred to as a bridge node. A station cannot be mastered in two piconets.</a:t>
            </a:r>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57</a:t>
            </a:fld>
            <a:endParaRPr dirty="0"/>
          </a:p>
        </p:txBody>
      </p:sp>
    </p:spTree>
    <p:extLst>
      <p:ext uri="{BB962C8B-B14F-4D97-AF65-F5344CB8AC3E}">
        <p14:creationId xmlns:p14="http://schemas.microsoft.com/office/powerpoint/2010/main" val="1575474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a:ea typeface="Times New Roman"/>
                <a:cs typeface="Times New Roman"/>
                <a:sym typeface="Times New Roman"/>
              </a:rPr>
              <a:t>Bluetooth</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10075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Advantages of Bluetooth</a:t>
            </a:r>
          </a:p>
          <a:p>
            <a:pPr>
              <a:buFont typeface="Arial" panose="020B0604020202020204" pitchFamily="34" charset="0"/>
              <a:buChar char="•"/>
            </a:pPr>
            <a:r>
              <a:rPr lang="en-US" sz="2800" dirty="0"/>
              <a:t>It is a low-cost and easy-to-use device.</a:t>
            </a:r>
          </a:p>
          <a:p>
            <a:pPr>
              <a:buFont typeface="Arial" panose="020B0604020202020204" pitchFamily="34" charset="0"/>
              <a:buChar char="•"/>
            </a:pPr>
            <a:r>
              <a:rPr lang="en-US" sz="2800" dirty="0"/>
              <a:t>It can also penetrate through walls.</a:t>
            </a:r>
          </a:p>
          <a:p>
            <a:pPr>
              <a:buFont typeface="Arial" panose="020B0604020202020204" pitchFamily="34" charset="0"/>
              <a:buChar char="•"/>
            </a:pPr>
            <a:r>
              <a:rPr lang="en-US" sz="2800" dirty="0"/>
              <a:t>It creates an Ad-hoc connection immediately without any wires.</a:t>
            </a:r>
          </a:p>
          <a:p>
            <a:pPr>
              <a:buFont typeface="Arial" panose="020B0604020202020204" pitchFamily="34" charset="0"/>
              <a:buChar char="•"/>
            </a:pPr>
            <a:r>
              <a:rPr lang="en-US" sz="2800" dirty="0"/>
              <a:t>It is used for voice and data transfer.</a:t>
            </a:r>
          </a:p>
          <a:p>
            <a:pPr marL="114300" indent="0">
              <a:buNone/>
            </a:pPr>
            <a:r>
              <a:rPr lang="en-US" sz="2800" b="1" dirty="0"/>
              <a:t>Disadvantages of Bluetooth</a:t>
            </a:r>
          </a:p>
          <a:p>
            <a:pPr>
              <a:buFont typeface="Arial" panose="020B0604020202020204" pitchFamily="34" charset="0"/>
              <a:buChar char="•"/>
            </a:pPr>
            <a:r>
              <a:rPr lang="en-US" sz="2800" dirty="0"/>
              <a:t>It can be hacked and hence, less secure.</a:t>
            </a:r>
          </a:p>
          <a:p>
            <a:pPr>
              <a:buFont typeface="Arial" panose="020B0604020202020204" pitchFamily="34" charset="0"/>
              <a:buChar char="•"/>
            </a:pPr>
            <a:r>
              <a:rPr lang="en-US" sz="2800" dirty="0"/>
              <a:t>It has a slow data transfer rate of 3 Mbps.</a:t>
            </a:r>
          </a:p>
          <a:p>
            <a:pPr>
              <a:buFont typeface="Arial" panose="020B0604020202020204" pitchFamily="34" charset="0"/>
              <a:buChar char="•"/>
            </a:pPr>
            <a:r>
              <a:rPr lang="en-US" sz="2800" dirty="0"/>
              <a:t>Bluetooth communication does not support routing.</a:t>
            </a:r>
          </a:p>
          <a:p>
            <a:pPr marL="114300" indent="0">
              <a:buNone/>
            </a:pPr>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58</a:t>
            </a:fld>
            <a:endParaRPr dirty="0"/>
          </a:p>
        </p:txBody>
      </p:sp>
    </p:spTree>
    <p:extLst>
      <p:ext uri="{BB962C8B-B14F-4D97-AF65-F5344CB8AC3E}">
        <p14:creationId xmlns:p14="http://schemas.microsoft.com/office/powerpoint/2010/main" val="238977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solidFill>
                  <a:srgbClr val="0C0C0C"/>
                </a:solidFill>
                <a:latin typeface="Times New Roman"/>
                <a:ea typeface="Times New Roman"/>
                <a:cs typeface="Times New Roman"/>
                <a:sym typeface="Times New Roman"/>
              </a:rPr>
              <a:t>Zigbee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857642"/>
            <a:ext cx="8791732" cy="5531370"/>
          </a:xfrm>
          <a:prstGeom prst="rect">
            <a:avLst/>
          </a:prstGeom>
          <a:noFill/>
          <a:ln>
            <a:noFill/>
          </a:ln>
        </p:spPr>
        <p:txBody>
          <a:bodyPr spcFirstLastPara="1" wrap="square" lIns="91425" tIns="45700" rIns="91425" bIns="45700" anchor="t" anchorCtr="0">
            <a:noAutofit/>
          </a:bodyPr>
          <a:lstStyle/>
          <a:p>
            <a:pPr algn="just"/>
            <a:r>
              <a:rPr lang="en-US" sz="2400" dirty="0"/>
              <a:t>ZigBee is a technological standard created for controlling and sensing the network.</a:t>
            </a:r>
          </a:p>
          <a:p>
            <a:pPr algn="just"/>
            <a:r>
              <a:rPr lang="en-US" sz="2400" dirty="0"/>
              <a:t>ZigBee is the Personal Area Network and it is based on IEEE 802.15.4 and is created by Zigbee Alliance.</a:t>
            </a:r>
          </a:p>
          <a:p>
            <a:pPr algn="just"/>
            <a:r>
              <a:rPr lang="en-US" sz="2400" dirty="0"/>
              <a:t>ZigBee is an open, global, packet-based protocol designed to provide an easy-to-use architecture for secure, reliable, low power wireless networks.</a:t>
            </a:r>
            <a:endParaRPr lang="en-US" sz="4000" dirty="0"/>
          </a:p>
          <a:p>
            <a:pPr algn="just"/>
            <a:r>
              <a:rPr lang="en-US" sz="2400" dirty="0"/>
              <a:t>ZigBee is a standard that addresses the need for very low-cost implementation of Low power devices with Low data rates for short-range wireless communications.</a:t>
            </a:r>
            <a:endParaRPr lang="en-US" sz="4000" dirty="0"/>
          </a:p>
          <a:p>
            <a:pPr algn="just"/>
            <a:r>
              <a:rPr lang="en-US" sz="2400" dirty="0"/>
              <a:t>IEEE 802.15.4 supports star and peer-to-peer topologies. The ZigBee specification supports star and two kinds of peer-to-peer topologies, mesh and cluster tree. </a:t>
            </a:r>
          </a:p>
          <a:p>
            <a:pPr algn="just"/>
            <a:r>
              <a:rPr lang="en-US" sz="2400" dirty="0"/>
              <a:t>ZigBee-compliant devices are sometimes specified as supporting point-to-point and point-to-multipoint topologies.</a:t>
            </a:r>
            <a:endParaRPr lang="en-US" sz="4000" dirty="0"/>
          </a:p>
          <a:p>
            <a:pPr algn="just"/>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59</a:t>
            </a:fld>
            <a:endParaRPr dirty="0"/>
          </a:p>
        </p:txBody>
      </p:sp>
    </p:spTree>
    <p:extLst>
      <p:ext uri="{BB962C8B-B14F-4D97-AF65-F5344CB8AC3E}">
        <p14:creationId xmlns:p14="http://schemas.microsoft.com/office/powerpoint/2010/main" val="12169524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solidFill>
                  <a:srgbClr val="0C0C0C"/>
                </a:solidFill>
                <a:latin typeface="Times New Roman"/>
                <a:ea typeface="Times New Roman"/>
                <a:cs typeface="Times New Roman"/>
                <a:sym typeface="Times New Roman"/>
              </a:rPr>
              <a:t>Zigbee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8576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Types of ZigBee Devices:  </a:t>
            </a:r>
          </a:p>
          <a:p>
            <a:pPr algn="just">
              <a:buFont typeface="Arial" panose="020B0604020202020204" pitchFamily="34" charset="0"/>
              <a:buChar char="•"/>
            </a:pPr>
            <a:r>
              <a:rPr lang="en-US" sz="2800" b="1" dirty="0"/>
              <a:t>Zigbee Coordinator Device:</a:t>
            </a:r>
            <a:r>
              <a:rPr lang="en-US" sz="2800" dirty="0"/>
              <a:t> It communicates with routers. This device is used for connecting the devices.</a:t>
            </a:r>
          </a:p>
          <a:p>
            <a:pPr algn="just">
              <a:buFont typeface="Arial" panose="020B0604020202020204" pitchFamily="34" charset="0"/>
              <a:buChar char="•"/>
            </a:pPr>
            <a:r>
              <a:rPr lang="en-US" sz="2800" b="1" dirty="0"/>
              <a:t>Zigbee Router:</a:t>
            </a:r>
            <a:r>
              <a:rPr lang="en-US" sz="2800" dirty="0"/>
              <a:t> It is used for passing the data between devices.</a:t>
            </a:r>
          </a:p>
          <a:p>
            <a:pPr algn="just">
              <a:buFont typeface="Arial" panose="020B0604020202020204" pitchFamily="34" charset="0"/>
              <a:buChar char="•"/>
            </a:pPr>
            <a:r>
              <a:rPr lang="en-US" sz="2800" b="1" dirty="0"/>
              <a:t>Zigbee End Device:</a:t>
            </a:r>
            <a:r>
              <a:rPr lang="en-US" sz="2800" dirty="0"/>
              <a:t> It is the device that is going to be controlled.</a:t>
            </a:r>
          </a:p>
          <a:p>
            <a:pPr algn="just"/>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60</a:t>
            </a:fld>
            <a:endParaRPr dirty="0"/>
          </a:p>
        </p:txBody>
      </p:sp>
      <p:pic>
        <p:nvPicPr>
          <p:cNvPr id="3" name="Picture 2">
            <a:extLst>
              <a:ext uri="{FF2B5EF4-FFF2-40B4-BE49-F238E27FC236}">
                <a16:creationId xmlns:a16="http://schemas.microsoft.com/office/drawing/2014/main" xmlns="" id="{1B273A57-D1E1-F92F-8286-1391E454C132}"/>
              </a:ext>
            </a:extLst>
          </p:cNvPr>
          <p:cNvPicPr>
            <a:picLocks noChangeAspect="1"/>
          </p:cNvPicPr>
          <p:nvPr/>
        </p:nvPicPr>
        <p:blipFill>
          <a:blip r:embed="rId3"/>
          <a:stretch>
            <a:fillRect/>
          </a:stretch>
        </p:blipFill>
        <p:spPr>
          <a:xfrm>
            <a:off x="2590801" y="3737652"/>
            <a:ext cx="4905375" cy="2905125"/>
          </a:xfrm>
          <a:prstGeom prst="rect">
            <a:avLst/>
          </a:prstGeom>
        </p:spPr>
      </p:pic>
    </p:spTree>
    <p:extLst>
      <p:ext uri="{BB962C8B-B14F-4D97-AF65-F5344CB8AC3E}">
        <p14:creationId xmlns:p14="http://schemas.microsoft.com/office/powerpoint/2010/main" val="29070964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solidFill>
                  <a:srgbClr val="0C0C0C"/>
                </a:solidFill>
                <a:latin typeface="Times New Roman"/>
                <a:ea typeface="Times New Roman"/>
                <a:cs typeface="Times New Roman"/>
                <a:sym typeface="Times New Roman"/>
              </a:rPr>
              <a:t>Zigbee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8576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General Characteristics of Zigbee Standard:</a:t>
            </a:r>
          </a:p>
          <a:p>
            <a:pPr>
              <a:buFont typeface="Arial" panose="020B0604020202020204" pitchFamily="34" charset="0"/>
              <a:buChar char="•"/>
            </a:pPr>
            <a:r>
              <a:rPr lang="en-US" sz="2400" dirty="0"/>
              <a:t>Low Power Consumption</a:t>
            </a:r>
          </a:p>
          <a:p>
            <a:pPr>
              <a:buFont typeface="Arial" panose="020B0604020202020204" pitchFamily="34" charset="0"/>
              <a:buChar char="•"/>
            </a:pPr>
            <a:r>
              <a:rPr lang="en-US" sz="2400" dirty="0"/>
              <a:t>Low Data Rate (20- 250 kbps)</a:t>
            </a:r>
          </a:p>
          <a:p>
            <a:pPr>
              <a:buFont typeface="Arial" panose="020B0604020202020204" pitchFamily="34" charset="0"/>
              <a:buChar char="•"/>
            </a:pPr>
            <a:r>
              <a:rPr lang="en-US" sz="2400" dirty="0"/>
              <a:t>Short-Range (75-100 meters)</a:t>
            </a:r>
          </a:p>
          <a:p>
            <a:pPr>
              <a:buFont typeface="Arial" panose="020B0604020202020204" pitchFamily="34" charset="0"/>
              <a:buChar char="•"/>
            </a:pPr>
            <a:r>
              <a:rPr lang="en-US" sz="2400" dirty="0"/>
              <a:t>Network Join Time (~ 30 msec)</a:t>
            </a:r>
          </a:p>
          <a:p>
            <a:pPr>
              <a:buFont typeface="Arial" panose="020B0604020202020204" pitchFamily="34" charset="0"/>
              <a:buChar char="•"/>
            </a:pPr>
            <a:r>
              <a:rPr lang="en-US" sz="2400" dirty="0"/>
              <a:t>Support Small and Large Networks (up to 65000 devices (Theory); 240 devices (Practically))</a:t>
            </a:r>
          </a:p>
          <a:p>
            <a:pPr>
              <a:buFont typeface="Arial" panose="020B0604020202020204" pitchFamily="34" charset="0"/>
              <a:buChar char="•"/>
            </a:pPr>
            <a:r>
              <a:rPr lang="en-US" sz="2400" dirty="0"/>
              <a:t>Low Cost of Products and Cheap Implementation (Open Source Protocol)</a:t>
            </a:r>
          </a:p>
          <a:p>
            <a:pPr>
              <a:buFont typeface="Arial" panose="020B0604020202020204" pitchFamily="34" charset="0"/>
              <a:buChar char="•"/>
            </a:pPr>
            <a:r>
              <a:rPr lang="en-US" sz="2400" dirty="0"/>
              <a:t>3 frequency bands with 27 channels.</a:t>
            </a:r>
          </a:p>
          <a:p>
            <a:pPr marL="114300" indent="0">
              <a:buNone/>
            </a:pPr>
            <a:r>
              <a:rPr lang="en-US" sz="2000" b="1" dirty="0"/>
              <a:t>Operating Frequency Bands</a:t>
            </a:r>
            <a:r>
              <a:rPr lang="en-US" sz="2000" dirty="0"/>
              <a:t> (Only one channel will be selected for use in a network):</a:t>
            </a:r>
          </a:p>
          <a:p>
            <a:pPr>
              <a:buFont typeface="+mj-lt"/>
              <a:buAutoNum type="arabicPeriod"/>
            </a:pPr>
            <a:r>
              <a:rPr lang="en-US" sz="2000" b="1" dirty="0"/>
              <a:t>Channel 0</a:t>
            </a:r>
            <a:r>
              <a:rPr lang="en-US" sz="2000" dirty="0"/>
              <a:t>: 868 MHz (Europe)</a:t>
            </a:r>
          </a:p>
          <a:p>
            <a:pPr>
              <a:buFont typeface="+mj-lt"/>
              <a:buAutoNum type="arabicPeriod"/>
            </a:pPr>
            <a:r>
              <a:rPr lang="en-US" sz="2000" b="1" dirty="0"/>
              <a:t>Channel 1-10</a:t>
            </a:r>
            <a:r>
              <a:rPr lang="en-US" sz="2000" dirty="0"/>
              <a:t>: 915 MHz (the US and Australia)</a:t>
            </a:r>
          </a:p>
          <a:p>
            <a:pPr>
              <a:buFont typeface="+mj-lt"/>
              <a:buAutoNum type="arabicPeriod"/>
            </a:pPr>
            <a:r>
              <a:rPr lang="en-US" sz="2000" b="1" dirty="0"/>
              <a:t>Channel 11-26</a:t>
            </a:r>
            <a:r>
              <a:rPr lang="en-US" sz="2000" dirty="0"/>
              <a:t>: 2.4 GHz (Across the World)</a:t>
            </a:r>
          </a:p>
          <a:p>
            <a:pPr algn="just"/>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61</a:t>
            </a:fld>
            <a:endParaRPr dirty="0"/>
          </a:p>
        </p:txBody>
      </p:sp>
    </p:spTree>
    <p:extLst>
      <p:ext uri="{BB962C8B-B14F-4D97-AF65-F5344CB8AC3E}">
        <p14:creationId xmlns:p14="http://schemas.microsoft.com/office/powerpoint/2010/main" val="3245749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solidFill>
                  <a:srgbClr val="0C0C0C"/>
                </a:solidFill>
                <a:latin typeface="Times New Roman"/>
                <a:ea typeface="Times New Roman"/>
                <a:cs typeface="Times New Roman"/>
                <a:sym typeface="Times New Roman"/>
              </a:rPr>
              <a:t>Zigbee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8576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Zigbee Network Topologies:</a:t>
            </a:r>
          </a:p>
          <a:p>
            <a:pPr algn="just">
              <a:buFont typeface="Arial" panose="020B0604020202020204" pitchFamily="34" charset="0"/>
              <a:buChar char="•"/>
            </a:pPr>
            <a:r>
              <a:rPr lang="en-US" sz="2800" b="1" dirty="0"/>
              <a:t>Star Topology</a:t>
            </a:r>
            <a:r>
              <a:rPr lang="en-US" sz="2800" dirty="0"/>
              <a:t> (ZigBee Smart Energy): Consists of a coordinator and several end devices, end devices communicate only with the coordinator.</a:t>
            </a:r>
          </a:p>
          <a:p>
            <a:pPr algn="just">
              <a:buFont typeface="Arial" panose="020B0604020202020204" pitchFamily="34" charset="0"/>
              <a:buChar char="•"/>
            </a:pPr>
            <a:r>
              <a:rPr lang="en-US" sz="2800" b="1" dirty="0"/>
              <a:t>Mesh Topology</a:t>
            </a:r>
            <a:r>
              <a:rPr lang="en-US" sz="2800" dirty="0"/>
              <a:t> (Self Healing Process): Mesh topology consists of one coordinator, several routers, and end devices.</a:t>
            </a:r>
          </a:p>
          <a:p>
            <a:pPr algn="just">
              <a:buFont typeface="Arial" panose="020B0604020202020204" pitchFamily="34" charset="0"/>
              <a:buChar char="•"/>
            </a:pPr>
            <a:r>
              <a:rPr lang="en-US" sz="2800" b="1" dirty="0"/>
              <a:t>Tree Topology</a:t>
            </a:r>
            <a:r>
              <a:rPr lang="en-US" sz="2800" dirty="0"/>
              <a:t>: In this topology, the network consists of a central node which is a coordinator, several routers, and end devices. the function of the router is to extend the network coverage. </a:t>
            </a:r>
          </a:p>
          <a:p>
            <a:pPr algn="just"/>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62</a:t>
            </a:fld>
            <a:endParaRPr dirty="0"/>
          </a:p>
        </p:txBody>
      </p:sp>
    </p:spTree>
    <p:extLst>
      <p:ext uri="{BB962C8B-B14F-4D97-AF65-F5344CB8AC3E}">
        <p14:creationId xmlns:p14="http://schemas.microsoft.com/office/powerpoint/2010/main" val="10417502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solidFill>
                  <a:srgbClr val="0C0C0C"/>
                </a:solidFill>
                <a:latin typeface="Times New Roman"/>
                <a:ea typeface="Times New Roman"/>
                <a:cs typeface="Times New Roman"/>
                <a:sym typeface="Times New Roman"/>
              </a:rPr>
              <a:t>Zigbee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8576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Zigbee Network:</a:t>
            </a:r>
          </a:p>
          <a:p>
            <a:pPr algn="just"/>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63</a:t>
            </a:fld>
            <a:endParaRPr dirty="0"/>
          </a:p>
        </p:txBody>
      </p:sp>
      <p:pic>
        <p:nvPicPr>
          <p:cNvPr id="3" name="Picture 2">
            <a:extLst>
              <a:ext uri="{FF2B5EF4-FFF2-40B4-BE49-F238E27FC236}">
                <a16:creationId xmlns:a16="http://schemas.microsoft.com/office/drawing/2014/main" xmlns="" id="{355F3AAD-0A78-E294-2982-ED2EFD970A57}"/>
              </a:ext>
            </a:extLst>
          </p:cNvPr>
          <p:cNvPicPr>
            <a:picLocks noChangeAspect="1"/>
          </p:cNvPicPr>
          <p:nvPr/>
        </p:nvPicPr>
        <p:blipFill>
          <a:blip r:embed="rId3"/>
          <a:stretch>
            <a:fillRect/>
          </a:stretch>
        </p:blipFill>
        <p:spPr>
          <a:xfrm>
            <a:off x="824459" y="1637363"/>
            <a:ext cx="7749915" cy="4457537"/>
          </a:xfrm>
          <a:prstGeom prst="rect">
            <a:avLst/>
          </a:prstGeom>
        </p:spPr>
      </p:pic>
    </p:spTree>
    <p:extLst>
      <p:ext uri="{BB962C8B-B14F-4D97-AF65-F5344CB8AC3E}">
        <p14:creationId xmlns:p14="http://schemas.microsoft.com/office/powerpoint/2010/main" val="17035040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0" y="-1"/>
            <a:ext cx="6477000" cy="83944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solidFill>
                  <a:srgbClr val="0C0C0C"/>
                </a:solidFill>
                <a:latin typeface="Times New Roman"/>
                <a:ea typeface="Times New Roman"/>
                <a:cs typeface="Times New Roman"/>
                <a:sym typeface="Times New Roman"/>
              </a:rPr>
              <a:t>Zigbee</a:t>
            </a:r>
            <a:endParaRPr sz="4400" b="1" dirty="0">
              <a:solidFill>
                <a:srgbClr val="0C0C0C"/>
              </a:solidFill>
              <a:latin typeface="Times New Roman"/>
              <a:ea typeface="Times New Roman"/>
              <a:cs typeface="Times New Roman"/>
              <a:sym typeface="Times New Roman"/>
            </a:endParaRPr>
          </a:p>
        </p:txBody>
      </p:sp>
      <p:sp>
        <p:nvSpPr>
          <p:cNvPr id="48" name="Google Shape;48;p11"/>
          <p:cNvSpPr txBox="1">
            <a:spLocks noGrp="1"/>
          </p:cNvSpPr>
          <p:nvPr>
            <p:ph type="body" idx="1"/>
          </p:nvPr>
        </p:nvSpPr>
        <p:spPr>
          <a:xfrm>
            <a:off x="82446" y="857642"/>
            <a:ext cx="8791732" cy="553137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Zigbee Applications:</a:t>
            </a:r>
          </a:p>
          <a:p>
            <a:pPr>
              <a:buFont typeface="+mj-lt"/>
              <a:buAutoNum type="arabicPeriod"/>
            </a:pPr>
            <a:r>
              <a:rPr lang="en-US" sz="2800" dirty="0"/>
              <a:t>Home Automation</a:t>
            </a:r>
          </a:p>
          <a:p>
            <a:pPr>
              <a:buFont typeface="+mj-lt"/>
              <a:buAutoNum type="arabicPeriod"/>
            </a:pPr>
            <a:r>
              <a:rPr lang="en-US" sz="2800" dirty="0"/>
              <a:t>Medical Data Collection</a:t>
            </a:r>
          </a:p>
          <a:p>
            <a:pPr>
              <a:buFont typeface="+mj-lt"/>
              <a:buAutoNum type="arabicPeriod"/>
            </a:pPr>
            <a:r>
              <a:rPr lang="en-US" sz="2800" dirty="0"/>
              <a:t>Industrial Control Systems</a:t>
            </a:r>
          </a:p>
          <a:p>
            <a:pPr>
              <a:buFont typeface="+mj-lt"/>
              <a:buAutoNum type="arabicPeriod"/>
            </a:pPr>
            <a:r>
              <a:rPr lang="en-US" sz="2800" dirty="0"/>
              <a:t>meter reading system </a:t>
            </a:r>
          </a:p>
          <a:p>
            <a:pPr>
              <a:buFont typeface="+mj-lt"/>
              <a:buAutoNum type="arabicPeriod"/>
            </a:pPr>
            <a:r>
              <a:rPr lang="en-US" sz="2800" dirty="0"/>
              <a:t>light control system</a:t>
            </a:r>
          </a:p>
          <a:p>
            <a:pPr>
              <a:buFont typeface="+mj-lt"/>
              <a:buAutoNum type="arabicPeriod"/>
            </a:pPr>
            <a:r>
              <a:rPr lang="en-US" sz="2800" dirty="0"/>
              <a:t>Commercial</a:t>
            </a:r>
          </a:p>
          <a:p>
            <a:pPr>
              <a:buFont typeface="+mj-lt"/>
              <a:buAutoNum type="arabicPeriod"/>
            </a:pPr>
            <a:r>
              <a:rPr lang="en-US" sz="2800" dirty="0"/>
              <a:t>Government Markets Worldwide</a:t>
            </a:r>
          </a:p>
          <a:p>
            <a:pPr>
              <a:buFont typeface="+mj-lt"/>
              <a:buAutoNum type="arabicPeriod"/>
            </a:pPr>
            <a:r>
              <a:rPr lang="en-US" sz="2800" dirty="0"/>
              <a:t>Home Networking</a:t>
            </a:r>
          </a:p>
          <a:p>
            <a:pPr algn="just"/>
            <a:endParaRPr lang="en-US" sz="4400" b="1" dirty="0"/>
          </a:p>
        </p:txBody>
      </p:sp>
      <p:sp>
        <p:nvSpPr>
          <p:cNvPr id="49" name="Google Shape;4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64</a:t>
            </a:fld>
            <a:endParaRPr dirty="0"/>
          </a:p>
        </p:txBody>
      </p:sp>
    </p:spTree>
    <p:extLst>
      <p:ext uri="{BB962C8B-B14F-4D97-AF65-F5344CB8AC3E}">
        <p14:creationId xmlns:p14="http://schemas.microsoft.com/office/powerpoint/2010/main" val="33718003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xmlns="" id="{087775C8-4ED3-2EB9-9D9E-D51BCBB9EBFB}"/>
              </a:ext>
            </a:extLst>
          </p:cNvPr>
          <p:cNvSpPr>
            <a:spLocks noGrp="1"/>
          </p:cNvSpPr>
          <p:nvPr>
            <p:ph sz="quarter" idx="1"/>
          </p:nvPr>
        </p:nvSpPr>
        <p:spPr>
          <a:xfrm>
            <a:off x="0" y="836613"/>
            <a:ext cx="6551613" cy="5905500"/>
          </a:xfrm>
        </p:spPr>
        <p:txBody>
          <a:bodyPr>
            <a:normAutofit fontScale="70000" lnSpcReduction="20000"/>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	Real Time Embedded Systems</a:t>
            </a:r>
            <a:r>
              <a:rPr lang="en-US" sz="3400" dirty="0">
                <a:solidFill>
                  <a:schemeClr val="tx1"/>
                </a:solidFill>
              </a:rPr>
              <a:t>	</a:t>
            </a:r>
          </a:p>
          <a:p>
            <a:pPr algn="just">
              <a:defRPr/>
            </a:pPr>
            <a:r>
              <a:rPr lang="en-US" sz="2800" dirty="0">
                <a:solidFill>
                  <a:schemeClr val="tx1"/>
                </a:solidFill>
              </a:rPr>
              <a:t>One of the earliest decision points in embedded systems design is whether the system will require real-time computing capabilities</a:t>
            </a:r>
          </a:p>
          <a:p>
            <a:pPr algn="just">
              <a:defRPr/>
            </a:pPr>
            <a:r>
              <a:rPr lang="en-US" sz="2800" dirty="0">
                <a:solidFill>
                  <a:schemeClr val="tx1"/>
                </a:solidFill>
              </a:rPr>
              <a:t>From controlling elevators, stoplights, the valves of your washing machine or even how long your toaster toasts, embedded computing is everywhere. </a:t>
            </a:r>
          </a:p>
          <a:p>
            <a:pPr algn="just">
              <a:defRPr/>
            </a:pPr>
            <a:r>
              <a:rPr lang="en-US" sz="2800" dirty="0">
                <a:solidFill>
                  <a:schemeClr val="tx1"/>
                </a:solidFill>
              </a:rPr>
              <a:t>Real time systems are those systems that work within strict time constraints and provide a worst case time estimate for critical situations</a:t>
            </a:r>
          </a:p>
          <a:p>
            <a:pPr algn="just">
              <a:defRPr/>
            </a:pPr>
            <a:r>
              <a:rPr lang="en-US" sz="2800" dirty="0">
                <a:solidFill>
                  <a:schemeClr val="tx1"/>
                </a:solidFill>
              </a:rPr>
              <a:t>Think of a car’s airbag deployment system. If the microcontroller doesn’t detect a collision or electronically trigger the airbag within a fraction of a second, the result is tragic.</a:t>
            </a:r>
          </a:p>
          <a:p>
            <a:pPr algn="just">
              <a:defRPr/>
            </a:pPr>
            <a:r>
              <a:rPr lang="en-US" sz="2800" dirty="0">
                <a:solidFill>
                  <a:schemeClr val="tx1"/>
                </a:solidFill>
              </a:rPr>
              <a:t>Real time computing describes the ability to react to inputs and deliver the prescribed output within a constrained time frame. Devices that use real-time computing are deployed in applications where their correct functioning can make the difference between life and death.</a:t>
            </a:r>
          </a:p>
        </p:txBody>
      </p:sp>
      <p:pic>
        <p:nvPicPr>
          <p:cNvPr id="2051" name="Picture 6">
            <a:extLst>
              <a:ext uri="{FF2B5EF4-FFF2-40B4-BE49-F238E27FC236}">
                <a16:creationId xmlns:a16="http://schemas.microsoft.com/office/drawing/2014/main" xmlns="" id="{F45506C1-FB44-118A-48C4-8656310277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1">
            <a:extLst>
              <a:ext uri="{FF2B5EF4-FFF2-40B4-BE49-F238E27FC236}">
                <a16:creationId xmlns:a16="http://schemas.microsoft.com/office/drawing/2014/main" xmlns="" id="{54AFAED4-79E7-4036-9541-5B36E573DC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4638" y="2024063"/>
            <a:ext cx="2411412"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xmlns="" id="{19F016E9-6181-2715-66ED-785E3423DF56}"/>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Embedded Systems v/s Real Time Embedded Systems</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3075" name="Picture 6">
            <a:extLst>
              <a:ext uri="{FF2B5EF4-FFF2-40B4-BE49-F238E27FC236}">
                <a16:creationId xmlns:a16="http://schemas.microsoft.com/office/drawing/2014/main" xmlns="" id="{3BCCC64D-6DC5-1CAC-3DC8-A563AB78AF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Table 2">
            <a:extLst>
              <a:ext uri="{FF2B5EF4-FFF2-40B4-BE49-F238E27FC236}">
                <a16:creationId xmlns:a16="http://schemas.microsoft.com/office/drawing/2014/main" xmlns="" id="{F6FCB8A3-BE84-3881-7D30-317D491A0838}"/>
              </a:ext>
            </a:extLst>
          </p:cNvPr>
          <p:cNvGraphicFramePr>
            <a:graphicFrameLocks noGrp="1"/>
          </p:cNvGraphicFramePr>
          <p:nvPr/>
        </p:nvGraphicFramePr>
        <p:xfrm>
          <a:off x="395288" y="2335213"/>
          <a:ext cx="8353425" cy="3719593"/>
        </p:xfrm>
        <a:graphic>
          <a:graphicData uri="http://schemas.openxmlformats.org/drawingml/2006/table">
            <a:tbl>
              <a:tblPr/>
              <a:tblGrid>
                <a:gridCol w="2196375">
                  <a:extLst>
                    <a:ext uri="{9D8B030D-6E8A-4147-A177-3AD203B41FA5}">
                      <a16:colId xmlns:a16="http://schemas.microsoft.com/office/drawing/2014/main" xmlns="" val="20000"/>
                    </a:ext>
                  </a:extLst>
                </a:gridCol>
                <a:gridCol w="3096529">
                  <a:extLst>
                    <a:ext uri="{9D8B030D-6E8A-4147-A177-3AD203B41FA5}">
                      <a16:colId xmlns:a16="http://schemas.microsoft.com/office/drawing/2014/main" xmlns="" val="20001"/>
                    </a:ext>
                  </a:extLst>
                </a:gridCol>
                <a:gridCol w="3060521">
                  <a:extLst>
                    <a:ext uri="{9D8B030D-6E8A-4147-A177-3AD203B41FA5}">
                      <a16:colId xmlns:a16="http://schemas.microsoft.com/office/drawing/2014/main" xmlns="" val="20002"/>
                    </a:ext>
                  </a:extLst>
                </a:gridCol>
              </a:tblGrid>
              <a:tr h="397790">
                <a:tc>
                  <a:txBody>
                    <a:bodyPr/>
                    <a:lstStyle/>
                    <a:p>
                      <a:pPr fontAlgn="b"/>
                      <a:r>
                        <a:rPr lang="en-US" sz="1600" b="1" dirty="0">
                          <a:effectLst/>
                        </a:rPr>
                        <a:t>Feature</a:t>
                      </a:r>
                    </a:p>
                  </a:txBody>
                  <a:tcPr marL="56846" marR="56846" marT="28413" marB="28413" anchor="b">
                    <a:lnL w="9525" cap="flat" cmpd="sng" algn="ctr">
                      <a:solidFill>
                        <a:srgbClr val="90063C"/>
                      </a:solidFill>
                      <a:prstDash val="solid"/>
                      <a:round/>
                      <a:headEnd type="none" w="med" len="med"/>
                      <a:tailEnd type="none" w="med" len="med"/>
                    </a:lnL>
                    <a:lnR w="9525" cap="flat" cmpd="sng" algn="ctr">
                      <a:solidFill>
                        <a:srgbClr val="30B63C"/>
                      </a:solidFill>
                      <a:prstDash val="solid"/>
                      <a:round/>
                      <a:headEnd type="none" w="med" len="med"/>
                      <a:tailEnd type="none" w="med" len="med"/>
                    </a:lnR>
                    <a:lnT w="9525" cap="flat" cmpd="sng" algn="ctr">
                      <a:solidFill>
                        <a:srgbClr val="90063C"/>
                      </a:solidFill>
                      <a:prstDash val="solid"/>
                      <a:round/>
                      <a:headEnd type="none" w="med" len="med"/>
                      <a:tailEnd type="none" w="med" len="med"/>
                    </a:lnT>
                    <a:lnB w="12700" cap="flat" cmpd="sng" algn="ctr">
                      <a:solidFill>
                        <a:srgbClr val="F0ACA6"/>
                      </a:solidFill>
                      <a:prstDash val="solid"/>
                      <a:round/>
                      <a:headEnd type="none" w="med" len="med"/>
                      <a:tailEnd type="none" w="med" len="med"/>
                    </a:lnB>
                    <a:solidFill>
                      <a:srgbClr val="FFFFFF"/>
                    </a:solidFill>
                  </a:tcPr>
                </a:tc>
                <a:tc>
                  <a:txBody>
                    <a:bodyPr/>
                    <a:lstStyle/>
                    <a:p>
                      <a:pPr fontAlgn="b"/>
                      <a:r>
                        <a:rPr lang="en-US" sz="1600" b="1">
                          <a:effectLst/>
                        </a:rPr>
                        <a:t>Embedded System</a:t>
                      </a:r>
                    </a:p>
                  </a:txBody>
                  <a:tcPr marL="56846" marR="56846" marT="28413" marB="28413" anchor="b">
                    <a:lnL w="9525" cap="flat" cmpd="sng" algn="ctr">
                      <a:solidFill>
                        <a:srgbClr val="30B63C"/>
                      </a:solidFill>
                      <a:prstDash val="solid"/>
                      <a:round/>
                      <a:headEnd type="none" w="med" len="med"/>
                      <a:tailEnd type="none" w="med" len="med"/>
                    </a:lnL>
                    <a:lnR w="9525" cap="flat" cmpd="sng" algn="ctr">
                      <a:solidFill>
                        <a:srgbClr val="302C3B"/>
                      </a:solidFill>
                      <a:prstDash val="solid"/>
                      <a:round/>
                      <a:headEnd type="none" w="med" len="med"/>
                      <a:tailEnd type="none" w="med" len="med"/>
                    </a:lnR>
                    <a:lnT w="9525" cap="flat" cmpd="sng" algn="ctr">
                      <a:solidFill>
                        <a:srgbClr val="30B63C"/>
                      </a:solidFill>
                      <a:prstDash val="solid"/>
                      <a:round/>
                      <a:headEnd type="none" w="med" len="med"/>
                      <a:tailEnd type="none" w="med" len="med"/>
                    </a:lnT>
                    <a:lnB w="12700" cap="flat" cmpd="sng" algn="ctr">
                      <a:solidFill>
                        <a:srgbClr val="70083C"/>
                      </a:solidFill>
                      <a:prstDash val="solid"/>
                      <a:round/>
                      <a:headEnd type="none" w="med" len="med"/>
                      <a:tailEnd type="none" w="med" len="med"/>
                    </a:lnB>
                    <a:solidFill>
                      <a:srgbClr val="FFFFFF"/>
                    </a:solidFill>
                  </a:tcPr>
                </a:tc>
                <a:tc>
                  <a:txBody>
                    <a:bodyPr/>
                    <a:lstStyle/>
                    <a:p>
                      <a:pPr fontAlgn="b"/>
                      <a:r>
                        <a:rPr lang="en-US" sz="1600" b="1">
                          <a:effectLst/>
                        </a:rPr>
                        <a:t>Real-Time Embedded System</a:t>
                      </a:r>
                    </a:p>
                  </a:txBody>
                  <a:tcPr marL="56846" marR="56846" marT="28413" marB="28413" anchor="b">
                    <a:lnL w="9525" cap="flat" cmpd="sng" algn="ctr">
                      <a:solidFill>
                        <a:srgbClr val="302C3B"/>
                      </a:solidFill>
                      <a:prstDash val="solid"/>
                      <a:round/>
                      <a:headEnd type="none" w="med" len="med"/>
                      <a:tailEnd type="none" w="med" len="med"/>
                    </a:lnL>
                    <a:lnR w="9525" cap="flat" cmpd="sng" algn="ctr">
                      <a:solidFill>
                        <a:srgbClr val="302C3B"/>
                      </a:solidFill>
                      <a:prstDash val="solid"/>
                      <a:round/>
                      <a:headEnd type="none" w="med" len="med"/>
                      <a:tailEnd type="none" w="med" len="med"/>
                    </a:lnR>
                    <a:lnT w="9525" cap="flat" cmpd="sng" algn="ctr">
                      <a:solidFill>
                        <a:srgbClr val="302C3B"/>
                      </a:solidFill>
                      <a:prstDash val="solid"/>
                      <a:round/>
                      <a:headEnd type="none" w="med" len="med"/>
                      <a:tailEnd type="none" w="med" len="med"/>
                    </a:lnT>
                    <a:lnB w="12700" cap="flat" cmpd="sng" algn="ctr">
                      <a:solidFill>
                        <a:srgbClr val="20FD03"/>
                      </a:solidFill>
                      <a:prstDash val="solid"/>
                      <a:round/>
                      <a:headEnd type="none" w="med" len="med"/>
                      <a:tailEnd type="none" w="med" len="med"/>
                    </a:lnB>
                    <a:solidFill>
                      <a:srgbClr val="FFFFFF"/>
                    </a:solidFill>
                  </a:tcPr>
                </a:tc>
                <a:extLst>
                  <a:ext uri="{0D108BD9-81ED-4DB2-BD59-A6C34878D82A}">
                    <a16:rowId xmlns:a16="http://schemas.microsoft.com/office/drawing/2014/main" xmlns="" val="10000"/>
                  </a:ext>
                </a:extLst>
              </a:tr>
              <a:tr h="909235">
                <a:tc>
                  <a:txBody>
                    <a:bodyPr/>
                    <a:lstStyle/>
                    <a:p>
                      <a:pPr fontAlgn="base"/>
                      <a:r>
                        <a:rPr lang="en-US" sz="1600" b="1">
                          <a:effectLst/>
                        </a:rPr>
                        <a:t>Definition</a:t>
                      </a:r>
                      <a:endParaRPr lang="en-US" sz="1600">
                        <a:effectLst/>
                      </a:endParaRPr>
                    </a:p>
                  </a:txBody>
                  <a:tcPr marL="56846" marR="56846" marT="28413" marB="28413" anchor="ctr">
                    <a:lnL w="9525" cap="flat" cmpd="sng" algn="ctr">
                      <a:solidFill>
                        <a:srgbClr val="F0ACA6"/>
                      </a:solidFill>
                      <a:prstDash val="solid"/>
                      <a:round/>
                      <a:headEnd type="none" w="med" len="med"/>
                      <a:tailEnd type="none" w="med" len="med"/>
                    </a:lnL>
                    <a:lnR w="9525" cap="flat" cmpd="sng" algn="ctr">
                      <a:solidFill>
                        <a:srgbClr val="70083C"/>
                      </a:solidFill>
                      <a:prstDash val="solid"/>
                      <a:round/>
                      <a:headEnd type="none" w="med" len="med"/>
                      <a:tailEnd type="none" w="med" len="med"/>
                    </a:lnR>
                    <a:lnT w="12700" cap="flat" cmpd="sng" algn="ctr">
                      <a:solidFill>
                        <a:srgbClr val="F0ACA6"/>
                      </a:solidFill>
                      <a:prstDash val="solid"/>
                      <a:round/>
                      <a:headEnd type="none" w="med" len="med"/>
                      <a:tailEnd type="none" w="med" len="med"/>
                    </a:lnT>
                    <a:lnB w="12700" cap="flat" cmpd="sng" algn="ctr">
                      <a:solidFill>
                        <a:srgbClr val="C00F41"/>
                      </a:solidFill>
                      <a:prstDash val="solid"/>
                      <a:round/>
                      <a:headEnd type="none" w="med" len="med"/>
                      <a:tailEnd type="none" w="med" len="med"/>
                    </a:lnB>
                    <a:solidFill>
                      <a:srgbClr val="FFFFFF"/>
                    </a:solidFill>
                  </a:tcPr>
                </a:tc>
                <a:tc>
                  <a:txBody>
                    <a:bodyPr/>
                    <a:lstStyle/>
                    <a:p>
                      <a:pPr fontAlgn="base"/>
                      <a:r>
                        <a:rPr lang="en-US" sz="1600">
                          <a:effectLst/>
                        </a:rPr>
                        <a:t>Specialized computing system performing dedicated functions within a larger system</a:t>
                      </a:r>
                    </a:p>
                  </a:txBody>
                  <a:tcPr marL="56846" marR="56846" marT="28413" marB="28413" anchor="ctr">
                    <a:lnL w="9525" cap="flat" cmpd="sng" algn="ctr">
                      <a:solidFill>
                        <a:srgbClr val="70083C"/>
                      </a:solidFill>
                      <a:prstDash val="solid"/>
                      <a:round/>
                      <a:headEnd type="none" w="med" len="med"/>
                      <a:tailEnd type="none" w="med" len="med"/>
                    </a:lnL>
                    <a:lnR w="9525" cap="flat" cmpd="sng" algn="ctr">
                      <a:solidFill>
                        <a:srgbClr val="20FD03"/>
                      </a:solidFill>
                      <a:prstDash val="solid"/>
                      <a:round/>
                      <a:headEnd type="none" w="med" len="med"/>
                      <a:tailEnd type="none" w="med" len="med"/>
                    </a:lnR>
                    <a:lnT w="12700" cap="flat" cmpd="sng" algn="ctr">
                      <a:solidFill>
                        <a:srgbClr val="70083C"/>
                      </a:solidFill>
                      <a:prstDash val="solid"/>
                      <a:round/>
                      <a:headEnd type="none" w="med" len="med"/>
                      <a:tailEnd type="none" w="med" len="med"/>
                    </a:lnT>
                    <a:lnB w="12700" cap="flat" cmpd="sng" algn="ctr">
                      <a:solidFill>
                        <a:srgbClr val="B03143"/>
                      </a:solidFill>
                      <a:prstDash val="solid"/>
                      <a:round/>
                      <a:headEnd type="none" w="med" len="med"/>
                      <a:tailEnd type="none" w="med" len="med"/>
                    </a:lnB>
                    <a:solidFill>
                      <a:srgbClr val="FFFFFF"/>
                    </a:solidFill>
                  </a:tcPr>
                </a:tc>
                <a:tc>
                  <a:txBody>
                    <a:bodyPr/>
                    <a:lstStyle/>
                    <a:p>
                      <a:pPr fontAlgn="base"/>
                      <a:r>
                        <a:rPr lang="en-US" sz="1600">
                          <a:effectLst/>
                        </a:rPr>
                        <a:t>Subset of embedded systems designed to perform tasks within strict timing constraints</a:t>
                      </a:r>
                    </a:p>
                  </a:txBody>
                  <a:tcPr marL="56846" marR="56846" marT="28413" marB="28413" anchor="ctr">
                    <a:lnL w="9525" cap="flat" cmpd="sng" algn="ctr">
                      <a:solidFill>
                        <a:srgbClr val="20FD03"/>
                      </a:solidFill>
                      <a:prstDash val="solid"/>
                      <a:round/>
                      <a:headEnd type="none" w="med" len="med"/>
                      <a:tailEnd type="none" w="med" len="med"/>
                    </a:lnL>
                    <a:lnR w="9525" cap="flat" cmpd="sng" algn="ctr">
                      <a:solidFill>
                        <a:srgbClr val="20FD03"/>
                      </a:solidFill>
                      <a:prstDash val="solid"/>
                      <a:round/>
                      <a:headEnd type="none" w="med" len="med"/>
                      <a:tailEnd type="none" w="med" len="med"/>
                    </a:lnR>
                    <a:lnT w="12700" cap="flat" cmpd="sng" algn="ctr">
                      <a:solidFill>
                        <a:srgbClr val="20FD03"/>
                      </a:solidFill>
                      <a:prstDash val="solid"/>
                      <a:round/>
                      <a:headEnd type="none" w="med" len="med"/>
                      <a:tailEnd type="none" w="med" len="med"/>
                    </a:lnT>
                    <a:lnB w="12700" cap="flat" cmpd="sng" algn="ctr">
                      <a:solidFill>
                        <a:srgbClr val="B05143"/>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544473">
                <a:tc>
                  <a:txBody>
                    <a:bodyPr/>
                    <a:lstStyle/>
                    <a:p>
                      <a:pPr fontAlgn="base"/>
                      <a:r>
                        <a:rPr lang="en-US" sz="1600" b="1">
                          <a:effectLst/>
                        </a:rPr>
                        <a:t>Timing Constraints</a:t>
                      </a:r>
                      <a:endParaRPr lang="en-US" sz="1600">
                        <a:effectLst/>
                      </a:endParaRPr>
                    </a:p>
                  </a:txBody>
                  <a:tcPr marL="56846" marR="56846" marT="28413" marB="28413" anchor="ctr">
                    <a:lnL w="9525" cap="flat" cmpd="sng" algn="ctr">
                      <a:solidFill>
                        <a:srgbClr val="C00F41"/>
                      </a:solidFill>
                      <a:prstDash val="solid"/>
                      <a:round/>
                      <a:headEnd type="none" w="med" len="med"/>
                      <a:tailEnd type="none" w="med" len="med"/>
                    </a:lnL>
                    <a:lnR w="9525" cap="flat" cmpd="sng" algn="ctr">
                      <a:solidFill>
                        <a:srgbClr val="B03143"/>
                      </a:solidFill>
                      <a:prstDash val="solid"/>
                      <a:round/>
                      <a:headEnd type="none" w="med" len="med"/>
                      <a:tailEnd type="none" w="med" len="med"/>
                    </a:lnR>
                    <a:lnT w="12700" cap="flat" cmpd="sng" algn="ctr">
                      <a:solidFill>
                        <a:srgbClr val="C00F41"/>
                      </a:solidFill>
                      <a:prstDash val="solid"/>
                      <a:round/>
                      <a:headEnd type="none" w="med" len="med"/>
                      <a:tailEnd type="none" w="med" len="med"/>
                    </a:lnT>
                    <a:lnB w="12700" cap="flat" cmpd="sng" algn="ctr">
                      <a:solidFill>
                        <a:srgbClr val="B0343E"/>
                      </a:solidFill>
                      <a:prstDash val="solid"/>
                      <a:round/>
                      <a:headEnd type="none" w="med" len="med"/>
                      <a:tailEnd type="none" w="med" len="med"/>
                    </a:lnB>
                    <a:solidFill>
                      <a:srgbClr val="FFFFFF"/>
                    </a:solidFill>
                  </a:tcPr>
                </a:tc>
                <a:tc>
                  <a:txBody>
                    <a:bodyPr/>
                    <a:lstStyle/>
                    <a:p>
                      <a:pPr fontAlgn="base"/>
                      <a:r>
                        <a:rPr lang="en-US" sz="1600">
                          <a:effectLst/>
                        </a:rPr>
                        <a:t>May or may not have real-time constraints</a:t>
                      </a:r>
                    </a:p>
                  </a:txBody>
                  <a:tcPr marL="56846" marR="56846" marT="28413" marB="28413" anchor="ctr">
                    <a:lnL w="9525" cap="flat" cmpd="sng" algn="ctr">
                      <a:solidFill>
                        <a:srgbClr val="B03143"/>
                      </a:solidFill>
                      <a:prstDash val="solid"/>
                      <a:round/>
                      <a:headEnd type="none" w="med" len="med"/>
                      <a:tailEnd type="none" w="med" len="med"/>
                    </a:lnL>
                    <a:lnR w="9525" cap="flat" cmpd="sng" algn="ctr">
                      <a:solidFill>
                        <a:srgbClr val="B05143"/>
                      </a:solidFill>
                      <a:prstDash val="solid"/>
                      <a:round/>
                      <a:headEnd type="none" w="med" len="med"/>
                      <a:tailEnd type="none" w="med" len="med"/>
                    </a:lnR>
                    <a:lnT w="12700" cap="flat" cmpd="sng" algn="ctr">
                      <a:solidFill>
                        <a:srgbClr val="B03143"/>
                      </a:solidFill>
                      <a:prstDash val="solid"/>
                      <a:round/>
                      <a:headEnd type="none" w="med" len="med"/>
                      <a:tailEnd type="none" w="med" len="med"/>
                    </a:lnT>
                    <a:lnB w="12700" cap="flat" cmpd="sng" algn="ctr">
                      <a:solidFill>
                        <a:srgbClr val="305643"/>
                      </a:solidFill>
                      <a:prstDash val="solid"/>
                      <a:round/>
                      <a:headEnd type="none" w="med" len="med"/>
                      <a:tailEnd type="none" w="med" len="med"/>
                    </a:lnB>
                    <a:solidFill>
                      <a:srgbClr val="FFFFFF"/>
                    </a:solidFill>
                  </a:tcPr>
                </a:tc>
                <a:tc>
                  <a:txBody>
                    <a:bodyPr/>
                    <a:lstStyle/>
                    <a:p>
                      <a:pPr fontAlgn="base"/>
                      <a:r>
                        <a:rPr lang="en-US" sz="1600" dirty="0">
                          <a:effectLst/>
                        </a:rPr>
                        <a:t>Always have strict timing constraints</a:t>
                      </a:r>
                    </a:p>
                  </a:txBody>
                  <a:tcPr marL="56846" marR="56846" marT="28413" marB="28413" anchor="ctr">
                    <a:lnL w="9525" cap="flat" cmpd="sng" algn="ctr">
                      <a:solidFill>
                        <a:srgbClr val="B05143"/>
                      </a:solidFill>
                      <a:prstDash val="solid"/>
                      <a:round/>
                      <a:headEnd type="none" w="med" len="med"/>
                      <a:tailEnd type="none" w="med" len="med"/>
                    </a:lnL>
                    <a:lnR w="9525" cap="flat" cmpd="sng" algn="ctr">
                      <a:solidFill>
                        <a:srgbClr val="B05143"/>
                      </a:solidFill>
                      <a:prstDash val="solid"/>
                      <a:round/>
                      <a:headEnd type="none" w="med" len="med"/>
                      <a:tailEnd type="none" w="med" len="med"/>
                    </a:lnR>
                    <a:lnT w="12700" cap="flat" cmpd="sng" algn="ctr">
                      <a:solidFill>
                        <a:srgbClr val="B05143"/>
                      </a:solidFill>
                      <a:prstDash val="solid"/>
                      <a:round/>
                      <a:headEnd type="none" w="med" len="med"/>
                      <a:tailEnd type="none" w="med" len="med"/>
                    </a:lnT>
                    <a:lnB w="12700" cap="flat" cmpd="sng" algn="ctr">
                      <a:solidFill>
                        <a:srgbClr val="C05F43"/>
                      </a:solidFill>
                      <a:prstDash val="solid"/>
                      <a:round/>
                      <a:headEnd type="none" w="med" len="med"/>
                      <a:tailEnd type="none" w="med" len="med"/>
                    </a:lnB>
                    <a:solidFill>
                      <a:srgbClr val="FFFFFF"/>
                    </a:solidFill>
                  </a:tcPr>
                </a:tc>
                <a:extLst>
                  <a:ext uri="{0D108BD9-81ED-4DB2-BD59-A6C34878D82A}">
                    <a16:rowId xmlns:a16="http://schemas.microsoft.com/office/drawing/2014/main" xmlns="" val="10002"/>
                  </a:ext>
                </a:extLst>
              </a:tr>
              <a:tr h="788297">
                <a:tc>
                  <a:txBody>
                    <a:bodyPr/>
                    <a:lstStyle/>
                    <a:p>
                      <a:pPr fontAlgn="base"/>
                      <a:r>
                        <a:rPr lang="en-US" sz="1600" b="1">
                          <a:effectLst/>
                        </a:rPr>
                        <a:t>Application Sensitivity</a:t>
                      </a:r>
                      <a:endParaRPr lang="en-US" sz="1600">
                        <a:effectLst/>
                      </a:endParaRPr>
                    </a:p>
                  </a:txBody>
                  <a:tcPr marL="56846" marR="56846" marT="28413" marB="28413" anchor="ctr">
                    <a:lnL w="9525" cap="flat" cmpd="sng" algn="ctr">
                      <a:solidFill>
                        <a:srgbClr val="B0343E"/>
                      </a:solidFill>
                      <a:prstDash val="solid"/>
                      <a:round/>
                      <a:headEnd type="none" w="med" len="med"/>
                      <a:tailEnd type="none" w="med" len="med"/>
                    </a:lnL>
                    <a:lnR w="9525" cap="flat" cmpd="sng" algn="ctr">
                      <a:solidFill>
                        <a:srgbClr val="305643"/>
                      </a:solidFill>
                      <a:prstDash val="solid"/>
                      <a:round/>
                      <a:headEnd type="none" w="med" len="med"/>
                      <a:tailEnd type="none" w="med" len="med"/>
                    </a:lnR>
                    <a:lnT w="12700" cap="flat" cmpd="sng" algn="ctr">
                      <a:solidFill>
                        <a:srgbClr val="B0343E"/>
                      </a:solidFill>
                      <a:prstDash val="solid"/>
                      <a:round/>
                      <a:headEnd type="none" w="med" len="med"/>
                      <a:tailEnd type="none" w="med" len="med"/>
                    </a:lnT>
                    <a:lnB w="12700" cap="flat" cmpd="sng" algn="ctr">
                      <a:solidFill>
                        <a:srgbClr val="403B43"/>
                      </a:solidFill>
                      <a:prstDash val="solid"/>
                      <a:round/>
                      <a:headEnd type="none" w="med" len="med"/>
                      <a:tailEnd type="none" w="med" len="med"/>
                    </a:lnB>
                    <a:solidFill>
                      <a:srgbClr val="FFFFFF"/>
                    </a:solidFill>
                  </a:tcPr>
                </a:tc>
                <a:tc>
                  <a:txBody>
                    <a:bodyPr/>
                    <a:lstStyle/>
                    <a:p>
                      <a:pPr fontAlgn="base"/>
                      <a:r>
                        <a:rPr lang="en-US" sz="1600" dirty="0">
                          <a:effectLst/>
                        </a:rPr>
                        <a:t>Timing is less critical</a:t>
                      </a:r>
                    </a:p>
                    <a:p>
                      <a:pPr fontAlgn="base"/>
                      <a:r>
                        <a:rPr lang="en-US" sz="1600" dirty="0">
                          <a:effectLst/>
                        </a:rPr>
                        <a:t>Focus on reliability and functionality</a:t>
                      </a:r>
                    </a:p>
                  </a:txBody>
                  <a:tcPr marL="56846" marR="56846" marT="28413" marB="28413" anchor="ctr">
                    <a:lnL w="9525" cap="flat" cmpd="sng" algn="ctr">
                      <a:solidFill>
                        <a:srgbClr val="305643"/>
                      </a:solidFill>
                      <a:prstDash val="solid"/>
                      <a:round/>
                      <a:headEnd type="none" w="med" len="med"/>
                      <a:tailEnd type="none" w="med" len="med"/>
                    </a:lnL>
                    <a:lnR w="9525" cap="flat" cmpd="sng" algn="ctr">
                      <a:solidFill>
                        <a:srgbClr val="C05F43"/>
                      </a:solidFill>
                      <a:prstDash val="solid"/>
                      <a:round/>
                      <a:headEnd type="none" w="med" len="med"/>
                      <a:tailEnd type="none" w="med" len="med"/>
                    </a:lnR>
                    <a:lnT w="12700" cap="flat" cmpd="sng" algn="ctr">
                      <a:solidFill>
                        <a:srgbClr val="305643"/>
                      </a:solidFill>
                      <a:prstDash val="solid"/>
                      <a:round/>
                      <a:headEnd type="none" w="med" len="med"/>
                      <a:tailEnd type="none" w="med" len="med"/>
                    </a:lnT>
                    <a:lnB w="12700" cap="flat" cmpd="sng" algn="ctr">
                      <a:solidFill>
                        <a:srgbClr val="F05343"/>
                      </a:solidFill>
                      <a:prstDash val="solid"/>
                      <a:round/>
                      <a:headEnd type="none" w="med" len="med"/>
                      <a:tailEnd type="none" w="med" len="med"/>
                    </a:lnB>
                    <a:solidFill>
                      <a:srgbClr val="FFFFFF"/>
                    </a:solidFill>
                  </a:tcPr>
                </a:tc>
                <a:tc>
                  <a:txBody>
                    <a:bodyPr/>
                    <a:lstStyle/>
                    <a:p>
                      <a:pPr fontAlgn="base"/>
                      <a:r>
                        <a:rPr lang="en-US" sz="1600" dirty="0">
                          <a:effectLst/>
                        </a:rPr>
                        <a:t>Timing is crucial</a:t>
                      </a:r>
                    </a:p>
                    <a:p>
                      <a:pPr fontAlgn="base"/>
                      <a:r>
                        <a:rPr lang="en-US" sz="1600" dirty="0">
                          <a:effectLst/>
                        </a:rPr>
                        <a:t>Deadlines must be met to avoid unacceptable consequences</a:t>
                      </a:r>
                    </a:p>
                  </a:txBody>
                  <a:tcPr marL="56846" marR="56846" marT="28413" marB="28413" anchor="ctr">
                    <a:lnL w="9525" cap="flat" cmpd="sng" algn="ctr">
                      <a:solidFill>
                        <a:srgbClr val="C05F43"/>
                      </a:solidFill>
                      <a:prstDash val="solid"/>
                      <a:round/>
                      <a:headEnd type="none" w="med" len="med"/>
                      <a:tailEnd type="none" w="med" len="med"/>
                    </a:lnL>
                    <a:lnR w="9525" cap="flat" cmpd="sng" algn="ctr">
                      <a:solidFill>
                        <a:srgbClr val="C05F43"/>
                      </a:solidFill>
                      <a:prstDash val="solid"/>
                      <a:round/>
                      <a:headEnd type="none" w="med" len="med"/>
                      <a:tailEnd type="none" w="med" len="med"/>
                    </a:lnR>
                    <a:lnT w="12700" cap="flat" cmpd="sng" algn="ctr">
                      <a:solidFill>
                        <a:srgbClr val="C05F43"/>
                      </a:solidFill>
                      <a:prstDash val="solid"/>
                      <a:round/>
                      <a:headEnd type="none" w="med" len="med"/>
                      <a:tailEnd type="none" w="med" len="med"/>
                    </a:lnT>
                    <a:lnB w="12700" cap="flat" cmpd="sng" algn="ctr">
                      <a:solidFill>
                        <a:srgbClr val="205443"/>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r h="1079716">
                <a:tc>
                  <a:txBody>
                    <a:bodyPr/>
                    <a:lstStyle/>
                    <a:p>
                      <a:pPr fontAlgn="base"/>
                      <a:r>
                        <a:rPr lang="en-US" sz="1600" b="1">
                          <a:effectLst/>
                        </a:rPr>
                        <a:t>Design Complexity</a:t>
                      </a:r>
                      <a:endParaRPr lang="en-US" sz="1600">
                        <a:effectLst/>
                      </a:endParaRPr>
                    </a:p>
                  </a:txBody>
                  <a:tcPr marL="56846" marR="56846" marT="28413" marB="28413" anchor="ctr">
                    <a:lnL w="9525" cap="flat" cmpd="sng" algn="ctr">
                      <a:solidFill>
                        <a:srgbClr val="403B43"/>
                      </a:solidFill>
                      <a:prstDash val="solid"/>
                      <a:round/>
                      <a:headEnd type="none" w="med" len="med"/>
                      <a:tailEnd type="none" w="med" len="med"/>
                    </a:lnL>
                    <a:lnR w="9525" cap="flat" cmpd="sng" algn="ctr">
                      <a:solidFill>
                        <a:srgbClr val="F05343"/>
                      </a:solidFill>
                      <a:prstDash val="solid"/>
                      <a:round/>
                      <a:headEnd type="none" w="med" len="med"/>
                      <a:tailEnd type="none" w="med" len="med"/>
                    </a:lnR>
                    <a:lnT w="12700" cap="flat" cmpd="sng" algn="ctr">
                      <a:solidFill>
                        <a:srgbClr val="403B43"/>
                      </a:solidFill>
                      <a:prstDash val="solid"/>
                      <a:round/>
                      <a:headEnd type="none" w="med" len="med"/>
                      <a:tailEnd type="none" w="med" len="med"/>
                    </a:lnT>
                    <a:lnB w="9525" cap="flat" cmpd="sng" algn="ctr">
                      <a:solidFill>
                        <a:srgbClr val="403B43"/>
                      </a:solidFill>
                      <a:prstDash val="solid"/>
                      <a:round/>
                      <a:headEnd type="none" w="med" len="med"/>
                      <a:tailEnd type="none" w="med" len="med"/>
                    </a:lnB>
                    <a:solidFill>
                      <a:srgbClr val="FFFFFF"/>
                    </a:solidFill>
                  </a:tcPr>
                </a:tc>
                <a:tc>
                  <a:txBody>
                    <a:bodyPr/>
                    <a:lstStyle/>
                    <a:p>
                      <a:pPr fontAlgn="base"/>
                      <a:r>
                        <a:rPr lang="en-US" sz="1600" dirty="0">
                          <a:effectLst/>
                        </a:rPr>
                        <a:t>Can range from simple to complex, focusing on functionality, efficiency</a:t>
                      </a:r>
                      <a:r>
                        <a:rPr lang="en-US" sz="1600" baseline="0" dirty="0">
                          <a:effectLst/>
                        </a:rPr>
                        <a:t> </a:t>
                      </a:r>
                      <a:r>
                        <a:rPr lang="en-US" sz="1600" dirty="0">
                          <a:effectLst/>
                        </a:rPr>
                        <a:t>and cost</a:t>
                      </a:r>
                    </a:p>
                  </a:txBody>
                  <a:tcPr marL="56846" marR="56846" marT="28413" marB="28413" anchor="ctr">
                    <a:lnL w="9525" cap="flat" cmpd="sng" algn="ctr">
                      <a:solidFill>
                        <a:srgbClr val="F05343"/>
                      </a:solidFill>
                      <a:prstDash val="solid"/>
                      <a:round/>
                      <a:headEnd type="none" w="med" len="med"/>
                      <a:tailEnd type="none" w="med" len="med"/>
                    </a:lnL>
                    <a:lnR w="9525" cap="flat" cmpd="sng" algn="ctr">
                      <a:solidFill>
                        <a:srgbClr val="205443"/>
                      </a:solidFill>
                      <a:prstDash val="solid"/>
                      <a:round/>
                      <a:headEnd type="none" w="med" len="med"/>
                      <a:tailEnd type="none" w="med" len="med"/>
                    </a:lnR>
                    <a:lnT w="12700" cap="flat" cmpd="sng" algn="ctr">
                      <a:solidFill>
                        <a:srgbClr val="F05343"/>
                      </a:solidFill>
                      <a:prstDash val="solid"/>
                      <a:round/>
                      <a:headEnd type="none" w="med" len="med"/>
                      <a:tailEnd type="none" w="med" len="med"/>
                    </a:lnT>
                    <a:lnB w="9525" cap="flat" cmpd="sng" algn="ctr">
                      <a:solidFill>
                        <a:srgbClr val="F05343"/>
                      </a:solidFill>
                      <a:prstDash val="solid"/>
                      <a:round/>
                      <a:headEnd type="none" w="med" len="med"/>
                      <a:tailEnd type="none" w="med" len="med"/>
                    </a:lnB>
                    <a:solidFill>
                      <a:srgbClr val="FFFFFF"/>
                    </a:solidFill>
                  </a:tcPr>
                </a:tc>
                <a:tc>
                  <a:txBody>
                    <a:bodyPr/>
                    <a:lstStyle/>
                    <a:p>
                      <a:pPr fontAlgn="base"/>
                      <a:r>
                        <a:rPr lang="en-US" sz="1600" dirty="0">
                          <a:effectLst/>
                        </a:rPr>
                        <a:t>Generally more complex due to the need to guarantee timely responses, predictability, and reliability</a:t>
                      </a:r>
                    </a:p>
                  </a:txBody>
                  <a:tcPr marL="56846" marR="56846" marT="28413" marB="28413" anchor="ctr">
                    <a:lnL w="9525" cap="flat" cmpd="sng" algn="ctr">
                      <a:solidFill>
                        <a:srgbClr val="205443"/>
                      </a:solidFill>
                      <a:prstDash val="solid"/>
                      <a:round/>
                      <a:headEnd type="none" w="med" len="med"/>
                      <a:tailEnd type="none" w="med" len="med"/>
                    </a:lnL>
                    <a:lnR w="9525" cap="flat" cmpd="sng" algn="ctr">
                      <a:solidFill>
                        <a:srgbClr val="205443"/>
                      </a:solidFill>
                      <a:prstDash val="solid"/>
                      <a:round/>
                      <a:headEnd type="none" w="med" len="med"/>
                      <a:tailEnd type="none" w="med" len="med"/>
                    </a:lnR>
                    <a:lnT w="12700" cap="flat" cmpd="sng" algn="ctr">
                      <a:solidFill>
                        <a:srgbClr val="205443"/>
                      </a:solidFill>
                      <a:prstDash val="solid"/>
                      <a:round/>
                      <a:headEnd type="none" w="med" len="med"/>
                      <a:tailEnd type="none" w="med" len="med"/>
                    </a:lnT>
                    <a:lnB w="9525" cap="flat" cmpd="sng" algn="ctr">
                      <a:solidFill>
                        <a:srgbClr val="205443"/>
                      </a:solidFill>
                      <a:prstDash val="solid"/>
                      <a:round/>
                      <a:headEnd type="none" w="med" len="med"/>
                      <a:tailEnd type="none" w="med" len="med"/>
                    </a:lnB>
                    <a:solidFill>
                      <a:srgbClr val="FFFFFF"/>
                    </a:solidFill>
                  </a:tcPr>
                </a:tc>
                <a:extLst>
                  <a:ext uri="{0D108BD9-81ED-4DB2-BD59-A6C34878D82A}">
                    <a16:rowId xmlns:a16="http://schemas.microsoft.com/office/drawing/2014/main" xmlns="" val="10004"/>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9">
            <a:extLst>
              <a:ext uri="{FF2B5EF4-FFF2-40B4-BE49-F238E27FC236}">
                <a16:creationId xmlns:a16="http://schemas.microsoft.com/office/drawing/2014/main" xmlns="" id="{9070EC76-976A-1481-6701-F35EED61C850}"/>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	Real Time Systems</a:t>
            </a:r>
          </a:p>
          <a:p>
            <a:pPr>
              <a:buFont typeface="Wingdings 2" panose="05020102010507070707" pitchFamily="18" charset="2"/>
              <a:buNone/>
            </a:pPr>
            <a:endParaRPr lang="en-US" altLang="en-US" sz="2600">
              <a:solidFill>
                <a:schemeClr val="tx1"/>
              </a:solidFill>
            </a:endParaRPr>
          </a:p>
          <a:p>
            <a:pPr>
              <a:buFont typeface="Wingdings 2" panose="05020102010507070707" pitchFamily="18" charset="2"/>
              <a:buNone/>
            </a:pPr>
            <a:endParaRPr lang="en-US" altLang="en-US" sz="2600">
              <a:solidFill>
                <a:schemeClr val="tx1"/>
              </a:solidFill>
            </a:endParaRPr>
          </a:p>
          <a:p>
            <a:pPr>
              <a:buFont typeface="Wingdings 2" panose="05020102010507070707" pitchFamily="18" charset="2"/>
              <a:buNone/>
            </a:pPr>
            <a:endParaRPr lang="en-US" altLang="en-US" sz="2600">
              <a:solidFill>
                <a:schemeClr val="tx1"/>
              </a:solidFill>
            </a:endParaRPr>
          </a:p>
          <a:p>
            <a:pPr>
              <a:buFont typeface="Wingdings 2" panose="05020102010507070707" pitchFamily="18" charset="2"/>
              <a:buNone/>
            </a:pPr>
            <a:endParaRPr lang="en-US" altLang="en-US" sz="2600">
              <a:solidFill>
                <a:schemeClr val="tx1"/>
              </a:solidFill>
            </a:endParaRPr>
          </a:p>
          <a:p>
            <a:pPr>
              <a:buFont typeface="Wingdings 2" panose="05020102010507070707" pitchFamily="18" charset="2"/>
              <a:buNone/>
            </a:pPr>
            <a:endParaRPr lang="en-US" altLang="en-US" sz="2600">
              <a:solidFill>
                <a:schemeClr val="tx1"/>
              </a:solidFill>
            </a:endParaRPr>
          </a:p>
          <a:p>
            <a:pPr>
              <a:buFont typeface="Wingdings 2" panose="05020102010507070707" pitchFamily="18" charset="2"/>
              <a:buNone/>
            </a:pPr>
            <a:endParaRPr lang="en-US" altLang="en-US" sz="2600">
              <a:solidFill>
                <a:schemeClr val="tx1"/>
              </a:solidFill>
            </a:endParaRPr>
          </a:p>
          <a:p>
            <a:pPr>
              <a:buFont typeface="Wingdings 2" panose="05020102010507070707" pitchFamily="18" charset="2"/>
              <a:buNone/>
            </a:pPr>
            <a:r>
              <a:rPr lang="en-US" altLang="en-US" sz="2600">
                <a:solidFill>
                  <a:schemeClr val="tx1"/>
                </a:solidFill>
              </a:rPr>
              <a:t>	A real time system is a system that reacts to events in the environment by performing predefined actions </a:t>
            </a:r>
            <a:r>
              <a:rPr lang="en-US" altLang="en-US" sz="2600" u="sng">
                <a:solidFill>
                  <a:srgbClr val="FF0000"/>
                </a:solidFill>
              </a:rPr>
              <a:t>WITHIN SPECIFIED TIME INTEVALS </a:t>
            </a:r>
          </a:p>
          <a:p>
            <a:pPr>
              <a:buFont typeface="Wingdings 2" panose="05020102010507070707" pitchFamily="18" charset="2"/>
              <a:buNone/>
            </a:pPr>
            <a:endParaRPr lang="en-US" altLang="en-US" sz="3400">
              <a:solidFill>
                <a:schemeClr val="tx1"/>
              </a:solidFill>
            </a:endParaRPr>
          </a:p>
        </p:txBody>
      </p:sp>
      <p:pic>
        <p:nvPicPr>
          <p:cNvPr id="4099" name="Picture 6">
            <a:extLst>
              <a:ext uri="{FF2B5EF4-FFF2-40B4-BE49-F238E27FC236}">
                <a16:creationId xmlns:a16="http://schemas.microsoft.com/office/drawing/2014/main" xmlns="" id="{774D1A79-DCEB-2810-35CE-A08D65EDD6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081"/>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Rectangle 11">
            <a:extLst>
              <a:ext uri="{FF2B5EF4-FFF2-40B4-BE49-F238E27FC236}">
                <a16:creationId xmlns:a16="http://schemas.microsoft.com/office/drawing/2014/main" xmlns="" id="{93DAE85A-628E-A47F-41DB-DCB6AE410994}"/>
              </a:ext>
            </a:extLst>
          </p:cNvPr>
          <p:cNvSpPr>
            <a:spLocks noChangeArrowheads="1"/>
          </p:cNvSpPr>
          <p:nvPr/>
        </p:nvSpPr>
        <p:spPr bwMode="auto">
          <a:xfrm>
            <a:off x="3803650" y="2525713"/>
            <a:ext cx="793750" cy="292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4101" name="Group 48">
            <a:extLst>
              <a:ext uri="{FF2B5EF4-FFF2-40B4-BE49-F238E27FC236}">
                <a16:creationId xmlns:a16="http://schemas.microsoft.com/office/drawing/2014/main" xmlns="" id="{E59AE908-2D6E-B163-3401-D2AA43840C04}"/>
              </a:ext>
            </a:extLst>
          </p:cNvPr>
          <p:cNvGrpSpPr>
            <a:grpSpLocks/>
          </p:cNvGrpSpPr>
          <p:nvPr/>
        </p:nvGrpSpPr>
        <p:grpSpPr bwMode="auto">
          <a:xfrm>
            <a:off x="3482975" y="1758950"/>
            <a:ext cx="1716088" cy="2684463"/>
            <a:chOff x="2194" y="1108"/>
            <a:chExt cx="1081" cy="1691"/>
          </a:xfrm>
        </p:grpSpPr>
        <p:grpSp>
          <p:nvGrpSpPr>
            <p:cNvPr id="4135" name="Group 44">
              <a:extLst>
                <a:ext uri="{FF2B5EF4-FFF2-40B4-BE49-F238E27FC236}">
                  <a16:creationId xmlns:a16="http://schemas.microsoft.com/office/drawing/2014/main" xmlns="" id="{F4F9FF9E-53D4-5899-9BC4-939C77FE9718}"/>
                </a:ext>
              </a:extLst>
            </p:cNvPr>
            <p:cNvGrpSpPr>
              <a:grpSpLocks/>
            </p:cNvGrpSpPr>
            <p:nvPr/>
          </p:nvGrpSpPr>
          <p:grpSpPr bwMode="auto">
            <a:xfrm>
              <a:off x="2705" y="1194"/>
              <a:ext cx="570" cy="1605"/>
              <a:chOff x="2705" y="1194"/>
              <a:chExt cx="570" cy="1605"/>
            </a:xfrm>
          </p:grpSpPr>
          <p:sp>
            <p:nvSpPr>
              <p:cNvPr id="4142" name="Rectangle 14">
                <a:extLst>
                  <a:ext uri="{FF2B5EF4-FFF2-40B4-BE49-F238E27FC236}">
                    <a16:creationId xmlns:a16="http://schemas.microsoft.com/office/drawing/2014/main" xmlns="" id="{8EEA9B4A-6742-E211-0B1B-623DA7189337}"/>
                  </a:ext>
                </a:extLst>
              </p:cNvPr>
              <p:cNvSpPr>
                <a:spLocks noChangeArrowheads="1"/>
              </p:cNvSpPr>
              <p:nvPr/>
            </p:nvSpPr>
            <p:spPr bwMode="auto">
              <a:xfrm>
                <a:off x="2705" y="1194"/>
                <a:ext cx="5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00FF"/>
                    </a:solidFill>
                    <a:latin typeface="Times New Roman" panose="02020603050405020304" pitchFamily="18" charset="0"/>
                  </a:rPr>
                  <a:t>I/O - data</a:t>
                </a:r>
                <a:endParaRPr lang="en-US" altLang="en-US" sz="2400">
                  <a:latin typeface="Times New Roman" panose="02020603050405020304" pitchFamily="18" charset="0"/>
                </a:endParaRPr>
              </a:p>
            </p:txBody>
          </p:sp>
          <p:sp>
            <p:nvSpPr>
              <p:cNvPr id="4143" name="Rectangle 16">
                <a:extLst>
                  <a:ext uri="{FF2B5EF4-FFF2-40B4-BE49-F238E27FC236}">
                    <a16:creationId xmlns:a16="http://schemas.microsoft.com/office/drawing/2014/main" xmlns="" id="{E657369F-05A8-21A8-44C8-BB0D01B84F6B}"/>
                  </a:ext>
                </a:extLst>
              </p:cNvPr>
              <p:cNvSpPr>
                <a:spLocks noChangeArrowheads="1"/>
              </p:cNvSpPr>
              <p:nvPr/>
            </p:nvSpPr>
            <p:spPr bwMode="auto">
              <a:xfrm>
                <a:off x="2723" y="2626"/>
                <a:ext cx="5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00FF"/>
                    </a:solidFill>
                    <a:latin typeface="Times New Roman" panose="02020603050405020304" pitchFamily="18" charset="0"/>
                  </a:rPr>
                  <a:t>I/O - data</a:t>
                </a:r>
                <a:endParaRPr lang="en-US" altLang="en-US" sz="2400">
                  <a:latin typeface="Times New Roman" panose="02020603050405020304" pitchFamily="18" charset="0"/>
                </a:endParaRPr>
              </a:p>
            </p:txBody>
          </p:sp>
        </p:grpSp>
        <p:grpSp>
          <p:nvGrpSpPr>
            <p:cNvPr id="4136" name="Group 31">
              <a:extLst>
                <a:ext uri="{FF2B5EF4-FFF2-40B4-BE49-F238E27FC236}">
                  <a16:creationId xmlns:a16="http://schemas.microsoft.com/office/drawing/2014/main" xmlns="" id="{65730462-6AA9-9F3E-FE3C-1607B7DE08B8}"/>
                </a:ext>
              </a:extLst>
            </p:cNvPr>
            <p:cNvGrpSpPr>
              <a:grpSpLocks/>
            </p:cNvGrpSpPr>
            <p:nvPr/>
          </p:nvGrpSpPr>
          <p:grpSpPr bwMode="auto">
            <a:xfrm>
              <a:off x="2194" y="1108"/>
              <a:ext cx="826" cy="524"/>
              <a:chOff x="2194" y="1108"/>
              <a:chExt cx="826" cy="524"/>
            </a:xfrm>
          </p:grpSpPr>
          <p:sp>
            <p:nvSpPr>
              <p:cNvPr id="4140" name="Line 29">
                <a:extLst>
                  <a:ext uri="{FF2B5EF4-FFF2-40B4-BE49-F238E27FC236}">
                    <a16:creationId xmlns:a16="http://schemas.microsoft.com/office/drawing/2014/main" xmlns="" id="{9D0C659B-036F-7C1C-1217-82B8FBD45767}"/>
                  </a:ext>
                </a:extLst>
              </p:cNvPr>
              <p:cNvSpPr>
                <a:spLocks noChangeShapeType="1"/>
              </p:cNvSpPr>
              <p:nvPr/>
            </p:nvSpPr>
            <p:spPr bwMode="auto">
              <a:xfrm flipH="1" flipV="1">
                <a:off x="2224" y="1139"/>
                <a:ext cx="796" cy="493"/>
              </a:xfrm>
              <a:prstGeom prst="line">
                <a:avLst/>
              </a:prstGeom>
              <a:noFill/>
              <a:ln w="12700">
                <a:solidFill>
                  <a:srgbClr val="3366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41" name="Oval 30">
                <a:extLst>
                  <a:ext uri="{FF2B5EF4-FFF2-40B4-BE49-F238E27FC236}">
                    <a16:creationId xmlns:a16="http://schemas.microsoft.com/office/drawing/2014/main" xmlns="" id="{CB3ACD33-D962-669B-15C2-77E611DB07C0}"/>
                  </a:ext>
                </a:extLst>
              </p:cNvPr>
              <p:cNvSpPr>
                <a:spLocks noChangeArrowheads="1"/>
              </p:cNvSpPr>
              <p:nvPr/>
            </p:nvSpPr>
            <p:spPr bwMode="auto">
              <a:xfrm>
                <a:off x="2194" y="1108"/>
                <a:ext cx="62" cy="62"/>
              </a:xfrm>
              <a:prstGeom prst="ellipse">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4137" name="Group 34">
              <a:extLst>
                <a:ext uri="{FF2B5EF4-FFF2-40B4-BE49-F238E27FC236}">
                  <a16:creationId xmlns:a16="http://schemas.microsoft.com/office/drawing/2014/main" xmlns="" id="{5B980165-DE6D-0BBB-9EA9-ABDE95B097CF}"/>
                </a:ext>
              </a:extLst>
            </p:cNvPr>
            <p:cNvGrpSpPr>
              <a:grpSpLocks/>
            </p:cNvGrpSpPr>
            <p:nvPr/>
          </p:nvGrpSpPr>
          <p:grpSpPr bwMode="auto">
            <a:xfrm>
              <a:off x="2374" y="2024"/>
              <a:ext cx="575" cy="773"/>
              <a:chOff x="2374" y="2024"/>
              <a:chExt cx="575" cy="773"/>
            </a:xfrm>
          </p:grpSpPr>
          <p:sp>
            <p:nvSpPr>
              <p:cNvPr id="4138" name="Line 32">
                <a:extLst>
                  <a:ext uri="{FF2B5EF4-FFF2-40B4-BE49-F238E27FC236}">
                    <a16:creationId xmlns:a16="http://schemas.microsoft.com/office/drawing/2014/main" xmlns="" id="{FEBA081F-B449-AB55-0924-6F52B3BC8034}"/>
                  </a:ext>
                </a:extLst>
              </p:cNvPr>
              <p:cNvSpPr>
                <a:spLocks noChangeShapeType="1"/>
              </p:cNvSpPr>
              <p:nvPr/>
            </p:nvSpPr>
            <p:spPr bwMode="auto">
              <a:xfrm flipH="1">
                <a:off x="2402" y="2024"/>
                <a:ext cx="547" cy="744"/>
              </a:xfrm>
              <a:prstGeom prst="line">
                <a:avLst/>
              </a:prstGeom>
              <a:noFill/>
              <a:ln w="9525">
                <a:solidFill>
                  <a:srgbClr val="3366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39" name="Oval 33">
                <a:extLst>
                  <a:ext uri="{FF2B5EF4-FFF2-40B4-BE49-F238E27FC236}">
                    <a16:creationId xmlns:a16="http://schemas.microsoft.com/office/drawing/2014/main" xmlns="" id="{E2EAA6D4-E51F-4199-7BAB-426217547861}"/>
                  </a:ext>
                </a:extLst>
              </p:cNvPr>
              <p:cNvSpPr>
                <a:spLocks noChangeArrowheads="1"/>
              </p:cNvSpPr>
              <p:nvPr/>
            </p:nvSpPr>
            <p:spPr bwMode="auto">
              <a:xfrm>
                <a:off x="2374" y="2740"/>
                <a:ext cx="57" cy="57"/>
              </a:xfrm>
              <a:prstGeom prst="ellipse">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grpSp>
        <p:nvGrpSpPr>
          <p:cNvPr id="4102" name="Group 47">
            <a:extLst>
              <a:ext uri="{FF2B5EF4-FFF2-40B4-BE49-F238E27FC236}">
                <a16:creationId xmlns:a16="http://schemas.microsoft.com/office/drawing/2014/main" xmlns="" id="{1A8B479E-8699-FEA1-C12B-C47596AE8A04}"/>
              </a:ext>
            </a:extLst>
          </p:cNvPr>
          <p:cNvGrpSpPr>
            <a:grpSpLocks/>
          </p:cNvGrpSpPr>
          <p:nvPr/>
        </p:nvGrpSpPr>
        <p:grpSpPr bwMode="auto">
          <a:xfrm>
            <a:off x="4416425" y="2065338"/>
            <a:ext cx="2809875" cy="2124075"/>
            <a:chOff x="2782" y="1301"/>
            <a:chExt cx="1770" cy="1338"/>
          </a:xfrm>
        </p:grpSpPr>
        <p:sp>
          <p:nvSpPr>
            <p:cNvPr id="4128" name="Rectangle 8">
              <a:extLst>
                <a:ext uri="{FF2B5EF4-FFF2-40B4-BE49-F238E27FC236}">
                  <a16:creationId xmlns:a16="http://schemas.microsoft.com/office/drawing/2014/main" xmlns="" id="{4D4BC991-1851-C750-1BCC-377F426C5D49}"/>
                </a:ext>
              </a:extLst>
            </p:cNvPr>
            <p:cNvSpPr>
              <a:spLocks noChangeArrowheads="1"/>
            </p:cNvSpPr>
            <p:nvPr/>
          </p:nvSpPr>
          <p:spPr bwMode="auto">
            <a:xfrm>
              <a:off x="3125" y="1695"/>
              <a:ext cx="1084" cy="549"/>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4129" name="Group 45">
              <a:extLst>
                <a:ext uri="{FF2B5EF4-FFF2-40B4-BE49-F238E27FC236}">
                  <a16:creationId xmlns:a16="http://schemas.microsoft.com/office/drawing/2014/main" xmlns="" id="{25B7B396-79F1-8BD3-252B-EA1D27F50425}"/>
                </a:ext>
              </a:extLst>
            </p:cNvPr>
            <p:cNvGrpSpPr>
              <a:grpSpLocks/>
            </p:cNvGrpSpPr>
            <p:nvPr/>
          </p:nvGrpSpPr>
          <p:grpSpPr bwMode="auto">
            <a:xfrm>
              <a:off x="2782" y="1301"/>
              <a:ext cx="1770" cy="1338"/>
              <a:chOff x="2782" y="1301"/>
              <a:chExt cx="1770" cy="1338"/>
            </a:xfrm>
          </p:grpSpPr>
          <p:grpSp>
            <p:nvGrpSpPr>
              <p:cNvPr id="4130" name="Group 7">
                <a:extLst>
                  <a:ext uri="{FF2B5EF4-FFF2-40B4-BE49-F238E27FC236}">
                    <a16:creationId xmlns:a16="http://schemas.microsoft.com/office/drawing/2014/main" xmlns="" id="{5B90225A-1A29-209F-60CE-78073CC66553}"/>
                  </a:ext>
                </a:extLst>
              </p:cNvPr>
              <p:cNvGrpSpPr>
                <a:grpSpLocks/>
              </p:cNvGrpSpPr>
              <p:nvPr/>
            </p:nvGrpSpPr>
            <p:grpSpPr bwMode="auto">
              <a:xfrm>
                <a:off x="2782" y="1301"/>
                <a:ext cx="1770" cy="1338"/>
                <a:chOff x="2782" y="1301"/>
                <a:chExt cx="1770" cy="1338"/>
              </a:xfrm>
            </p:grpSpPr>
            <p:sp>
              <p:nvSpPr>
                <p:cNvPr id="4133" name="Oval 5">
                  <a:extLst>
                    <a:ext uri="{FF2B5EF4-FFF2-40B4-BE49-F238E27FC236}">
                      <a16:creationId xmlns:a16="http://schemas.microsoft.com/office/drawing/2014/main" xmlns="" id="{23F653C7-D9BD-07D2-D486-B2C10E53725E}"/>
                    </a:ext>
                  </a:extLst>
                </p:cNvPr>
                <p:cNvSpPr>
                  <a:spLocks noChangeArrowheads="1"/>
                </p:cNvSpPr>
                <p:nvPr/>
              </p:nvSpPr>
              <p:spPr bwMode="auto">
                <a:xfrm>
                  <a:off x="2782" y="1301"/>
                  <a:ext cx="1770" cy="1338"/>
                </a:xfrm>
                <a:prstGeom prst="ellipse">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34" name="Oval 6">
                  <a:extLst>
                    <a:ext uri="{FF2B5EF4-FFF2-40B4-BE49-F238E27FC236}">
                      <a16:creationId xmlns:a16="http://schemas.microsoft.com/office/drawing/2014/main" xmlns="" id="{A2F31DAF-E266-A012-0A82-E2DDE69C8BE6}"/>
                    </a:ext>
                  </a:extLst>
                </p:cNvPr>
                <p:cNvSpPr>
                  <a:spLocks noChangeArrowheads="1"/>
                </p:cNvSpPr>
                <p:nvPr/>
              </p:nvSpPr>
              <p:spPr bwMode="auto">
                <a:xfrm>
                  <a:off x="2782" y="1301"/>
                  <a:ext cx="1770" cy="1338"/>
                </a:xfrm>
                <a:prstGeom prst="ellipse">
                  <a:avLst/>
                </a:prstGeom>
                <a:noFill/>
                <a:ln w="12700">
                  <a:solidFill>
                    <a:srgbClr val="339966"/>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4131" name="Rectangle 9">
                <a:extLst>
                  <a:ext uri="{FF2B5EF4-FFF2-40B4-BE49-F238E27FC236}">
                    <a16:creationId xmlns:a16="http://schemas.microsoft.com/office/drawing/2014/main" xmlns="" id="{CAF98CA5-84DB-D98B-47BB-E9AF388B15CA}"/>
                  </a:ext>
                </a:extLst>
              </p:cNvPr>
              <p:cNvSpPr>
                <a:spLocks noChangeArrowheads="1"/>
              </p:cNvSpPr>
              <p:nvPr/>
            </p:nvSpPr>
            <p:spPr bwMode="auto">
              <a:xfrm>
                <a:off x="3385" y="1708"/>
                <a:ext cx="56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8000"/>
                    </a:solidFill>
                    <a:latin typeface="Times New Roman" panose="02020603050405020304" pitchFamily="18" charset="0"/>
                  </a:rPr>
                  <a:t>Real-time</a:t>
                </a:r>
                <a:endParaRPr lang="en-US" altLang="en-US" sz="2400">
                  <a:latin typeface="Times New Roman" panose="02020603050405020304" pitchFamily="18" charset="0"/>
                </a:endParaRPr>
              </a:p>
            </p:txBody>
          </p:sp>
          <p:sp>
            <p:nvSpPr>
              <p:cNvPr id="4132" name="Rectangle 10">
                <a:extLst>
                  <a:ext uri="{FF2B5EF4-FFF2-40B4-BE49-F238E27FC236}">
                    <a16:creationId xmlns:a16="http://schemas.microsoft.com/office/drawing/2014/main" xmlns="" id="{21469678-92BF-0670-799B-4A07DD0D493F}"/>
                  </a:ext>
                </a:extLst>
              </p:cNvPr>
              <p:cNvSpPr>
                <a:spLocks noChangeArrowheads="1"/>
              </p:cNvSpPr>
              <p:nvPr/>
            </p:nvSpPr>
            <p:spPr bwMode="auto">
              <a:xfrm>
                <a:off x="3145" y="1876"/>
                <a:ext cx="10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8000"/>
                    </a:solidFill>
                    <a:latin typeface="Times New Roman" panose="02020603050405020304" pitchFamily="18" charset="0"/>
                  </a:rPr>
                  <a:t>computing system</a:t>
                </a:r>
                <a:endParaRPr lang="en-US" altLang="en-US" sz="2400">
                  <a:latin typeface="Times New Roman" panose="02020603050405020304" pitchFamily="18" charset="0"/>
                </a:endParaRPr>
              </a:p>
            </p:txBody>
          </p:sp>
        </p:grpSp>
      </p:grpSp>
      <p:sp>
        <p:nvSpPr>
          <p:cNvPr id="4103" name="Rectangle 13">
            <a:extLst>
              <a:ext uri="{FF2B5EF4-FFF2-40B4-BE49-F238E27FC236}">
                <a16:creationId xmlns:a16="http://schemas.microsoft.com/office/drawing/2014/main" xmlns="" id="{00275B03-150B-3F28-5C8E-8903009D69DA}"/>
              </a:ext>
            </a:extLst>
          </p:cNvPr>
          <p:cNvSpPr>
            <a:spLocks noChangeArrowheads="1"/>
          </p:cNvSpPr>
          <p:nvPr/>
        </p:nvSpPr>
        <p:spPr bwMode="auto">
          <a:xfrm>
            <a:off x="4059238" y="1874838"/>
            <a:ext cx="1343025"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04" name="Rectangle 15">
            <a:extLst>
              <a:ext uri="{FF2B5EF4-FFF2-40B4-BE49-F238E27FC236}">
                <a16:creationId xmlns:a16="http://schemas.microsoft.com/office/drawing/2014/main" xmlns="" id="{F200AC30-9F74-C528-F96F-DDA7A5BFB64D}"/>
              </a:ext>
            </a:extLst>
          </p:cNvPr>
          <p:cNvSpPr>
            <a:spLocks noChangeArrowheads="1"/>
          </p:cNvSpPr>
          <p:nvPr/>
        </p:nvSpPr>
        <p:spPr bwMode="auto">
          <a:xfrm>
            <a:off x="4087813" y="4148138"/>
            <a:ext cx="134302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05" name="Rectangle 39">
            <a:extLst>
              <a:ext uri="{FF2B5EF4-FFF2-40B4-BE49-F238E27FC236}">
                <a16:creationId xmlns:a16="http://schemas.microsoft.com/office/drawing/2014/main" xmlns="" id="{1F0DFF45-909A-4628-234E-62D67B9E4804}"/>
              </a:ext>
            </a:extLst>
          </p:cNvPr>
          <p:cNvSpPr>
            <a:spLocks noChangeArrowheads="1"/>
          </p:cNvSpPr>
          <p:nvPr/>
        </p:nvSpPr>
        <p:spPr bwMode="auto">
          <a:xfrm>
            <a:off x="2879725" y="2355850"/>
            <a:ext cx="793750" cy="3778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06" name="Rectangle 41">
            <a:extLst>
              <a:ext uri="{FF2B5EF4-FFF2-40B4-BE49-F238E27FC236}">
                <a16:creationId xmlns:a16="http://schemas.microsoft.com/office/drawing/2014/main" xmlns="" id="{5660BE05-CDC4-6231-9A5E-EE56CA28AAD6}"/>
              </a:ext>
            </a:extLst>
          </p:cNvPr>
          <p:cNvSpPr>
            <a:spLocks noChangeArrowheads="1"/>
          </p:cNvSpPr>
          <p:nvPr/>
        </p:nvSpPr>
        <p:spPr bwMode="auto">
          <a:xfrm>
            <a:off x="2917825" y="3440113"/>
            <a:ext cx="792163" cy="3778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4107" name="Group 43">
            <a:extLst>
              <a:ext uri="{FF2B5EF4-FFF2-40B4-BE49-F238E27FC236}">
                <a16:creationId xmlns:a16="http://schemas.microsoft.com/office/drawing/2014/main" xmlns="" id="{5815F16B-5120-87F0-7531-F1A32597D99D}"/>
              </a:ext>
            </a:extLst>
          </p:cNvPr>
          <p:cNvGrpSpPr>
            <a:grpSpLocks/>
          </p:cNvGrpSpPr>
          <p:nvPr/>
        </p:nvGrpSpPr>
        <p:grpSpPr bwMode="auto">
          <a:xfrm>
            <a:off x="2274888" y="1677988"/>
            <a:ext cx="1343025" cy="2671762"/>
            <a:chOff x="1433" y="1057"/>
            <a:chExt cx="846" cy="1683"/>
          </a:xfrm>
        </p:grpSpPr>
        <p:grpSp>
          <p:nvGrpSpPr>
            <p:cNvPr id="4114" name="Group 28">
              <a:extLst>
                <a:ext uri="{FF2B5EF4-FFF2-40B4-BE49-F238E27FC236}">
                  <a16:creationId xmlns:a16="http://schemas.microsoft.com/office/drawing/2014/main" xmlns="" id="{4BC916B5-30E3-3FF1-03A3-B804282A73BF}"/>
                </a:ext>
              </a:extLst>
            </p:cNvPr>
            <p:cNvGrpSpPr>
              <a:grpSpLocks/>
            </p:cNvGrpSpPr>
            <p:nvPr/>
          </p:nvGrpSpPr>
          <p:grpSpPr bwMode="auto">
            <a:xfrm>
              <a:off x="1433" y="1057"/>
              <a:ext cx="482" cy="1683"/>
              <a:chOff x="1433" y="1057"/>
              <a:chExt cx="482" cy="1683"/>
            </a:xfrm>
          </p:grpSpPr>
          <p:sp>
            <p:nvSpPr>
              <p:cNvPr id="4117" name="Freeform 17">
                <a:extLst>
                  <a:ext uri="{FF2B5EF4-FFF2-40B4-BE49-F238E27FC236}">
                    <a16:creationId xmlns:a16="http://schemas.microsoft.com/office/drawing/2014/main" xmlns="" id="{DBADB536-5FBE-E322-876B-2AFB09130239}"/>
                  </a:ext>
                </a:extLst>
              </p:cNvPr>
              <p:cNvSpPr>
                <a:spLocks/>
              </p:cNvSpPr>
              <p:nvPr/>
            </p:nvSpPr>
            <p:spPr bwMode="auto">
              <a:xfrm>
                <a:off x="1518" y="2575"/>
                <a:ext cx="397" cy="165"/>
              </a:xfrm>
              <a:custGeom>
                <a:avLst/>
                <a:gdLst>
                  <a:gd name="T0" fmla="*/ 90 w 793"/>
                  <a:gd name="T1" fmla="*/ 61 h 329"/>
                  <a:gd name="T2" fmla="*/ 84 w 793"/>
                  <a:gd name="T3" fmla="*/ 50 h 329"/>
                  <a:gd name="T4" fmla="*/ 77 w 793"/>
                  <a:gd name="T5" fmla="*/ 35 h 329"/>
                  <a:gd name="T6" fmla="*/ 73 w 793"/>
                  <a:gd name="T7" fmla="*/ 29 h 329"/>
                  <a:gd name="T8" fmla="*/ 66 w 793"/>
                  <a:gd name="T9" fmla="*/ 25 h 329"/>
                  <a:gd name="T10" fmla="*/ 56 w 793"/>
                  <a:gd name="T11" fmla="*/ 23 h 329"/>
                  <a:gd name="T12" fmla="*/ 50 w 793"/>
                  <a:gd name="T13" fmla="*/ 21 h 329"/>
                  <a:gd name="T14" fmla="*/ 76 w 793"/>
                  <a:gd name="T15" fmla="*/ 19 h 329"/>
                  <a:gd name="T16" fmla="*/ 103 w 793"/>
                  <a:gd name="T17" fmla="*/ 20 h 329"/>
                  <a:gd name="T18" fmla="*/ 98 w 793"/>
                  <a:gd name="T19" fmla="*/ 22 h 329"/>
                  <a:gd name="T20" fmla="*/ 92 w 793"/>
                  <a:gd name="T21" fmla="*/ 24 h 329"/>
                  <a:gd name="T22" fmla="*/ 87 w 793"/>
                  <a:gd name="T23" fmla="*/ 26 h 329"/>
                  <a:gd name="T24" fmla="*/ 85 w 793"/>
                  <a:gd name="T25" fmla="*/ 31 h 329"/>
                  <a:gd name="T26" fmla="*/ 86 w 793"/>
                  <a:gd name="T27" fmla="*/ 36 h 329"/>
                  <a:gd name="T28" fmla="*/ 92 w 793"/>
                  <a:gd name="T29" fmla="*/ 50 h 329"/>
                  <a:gd name="T30" fmla="*/ 148 w 793"/>
                  <a:gd name="T31" fmla="*/ 60 h 329"/>
                  <a:gd name="T32" fmla="*/ 156 w 793"/>
                  <a:gd name="T33" fmla="*/ 60 h 329"/>
                  <a:gd name="T34" fmla="*/ 160 w 793"/>
                  <a:gd name="T35" fmla="*/ 59 h 329"/>
                  <a:gd name="T36" fmla="*/ 162 w 793"/>
                  <a:gd name="T37" fmla="*/ 57 h 329"/>
                  <a:gd name="T38" fmla="*/ 162 w 793"/>
                  <a:gd name="T39" fmla="*/ 55 h 329"/>
                  <a:gd name="T40" fmla="*/ 158 w 793"/>
                  <a:gd name="T41" fmla="*/ 47 h 329"/>
                  <a:gd name="T42" fmla="*/ 153 w 793"/>
                  <a:gd name="T43" fmla="*/ 34 h 329"/>
                  <a:gd name="T44" fmla="*/ 149 w 793"/>
                  <a:gd name="T45" fmla="*/ 26 h 329"/>
                  <a:gd name="T46" fmla="*/ 146 w 793"/>
                  <a:gd name="T47" fmla="*/ 21 h 329"/>
                  <a:gd name="T48" fmla="*/ 136 w 793"/>
                  <a:gd name="T49" fmla="*/ 13 h 329"/>
                  <a:gd name="T50" fmla="*/ 125 w 793"/>
                  <a:gd name="T51" fmla="*/ 8 h 329"/>
                  <a:gd name="T52" fmla="*/ 112 w 793"/>
                  <a:gd name="T53" fmla="*/ 3 h 329"/>
                  <a:gd name="T54" fmla="*/ 111 w 793"/>
                  <a:gd name="T55" fmla="*/ 0 h 329"/>
                  <a:gd name="T56" fmla="*/ 152 w 793"/>
                  <a:gd name="T57" fmla="*/ 9 h 329"/>
                  <a:gd name="T58" fmla="*/ 159 w 793"/>
                  <a:gd name="T59" fmla="*/ 31 h 329"/>
                  <a:gd name="T60" fmla="*/ 168 w 793"/>
                  <a:gd name="T61" fmla="*/ 54 h 329"/>
                  <a:gd name="T62" fmla="*/ 173 w 793"/>
                  <a:gd name="T63" fmla="*/ 64 h 329"/>
                  <a:gd name="T64" fmla="*/ 181 w 793"/>
                  <a:gd name="T65" fmla="*/ 72 h 329"/>
                  <a:gd name="T66" fmla="*/ 189 w 793"/>
                  <a:gd name="T67" fmla="*/ 77 h 329"/>
                  <a:gd name="T68" fmla="*/ 199 w 793"/>
                  <a:gd name="T69" fmla="*/ 79 h 329"/>
                  <a:gd name="T70" fmla="*/ 192 w 793"/>
                  <a:gd name="T71" fmla="*/ 79 h 329"/>
                  <a:gd name="T72" fmla="*/ 186 w 793"/>
                  <a:gd name="T73" fmla="*/ 77 h 329"/>
                  <a:gd name="T74" fmla="*/ 176 w 793"/>
                  <a:gd name="T75" fmla="*/ 74 h 329"/>
                  <a:gd name="T76" fmla="*/ 170 w 793"/>
                  <a:gd name="T77" fmla="*/ 73 h 329"/>
                  <a:gd name="T78" fmla="*/ 162 w 793"/>
                  <a:gd name="T79" fmla="*/ 73 h 329"/>
                  <a:gd name="T80" fmla="*/ 107 w 793"/>
                  <a:gd name="T81" fmla="*/ 74 h 329"/>
                  <a:gd name="T82" fmla="*/ 52 w 793"/>
                  <a:gd name="T83" fmla="*/ 75 h 329"/>
                  <a:gd name="T84" fmla="*/ 44 w 793"/>
                  <a:gd name="T85" fmla="*/ 76 h 329"/>
                  <a:gd name="T86" fmla="*/ 42 w 793"/>
                  <a:gd name="T87" fmla="*/ 78 h 329"/>
                  <a:gd name="T88" fmla="*/ 45 w 793"/>
                  <a:gd name="T89" fmla="*/ 81 h 329"/>
                  <a:gd name="T90" fmla="*/ 52 w 793"/>
                  <a:gd name="T91" fmla="*/ 82 h 329"/>
                  <a:gd name="T92" fmla="*/ 47 w 793"/>
                  <a:gd name="T93" fmla="*/ 83 h 329"/>
                  <a:gd name="T94" fmla="*/ 37 w 793"/>
                  <a:gd name="T95" fmla="*/ 81 h 329"/>
                  <a:gd name="T96" fmla="*/ 29 w 793"/>
                  <a:gd name="T97" fmla="*/ 76 h 329"/>
                  <a:gd name="T98" fmla="*/ 22 w 793"/>
                  <a:gd name="T99" fmla="*/ 67 h 329"/>
                  <a:gd name="T100" fmla="*/ 17 w 793"/>
                  <a:gd name="T101" fmla="*/ 57 h 329"/>
                  <a:gd name="T102" fmla="*/ 8 w 793"/>
                  <a:gd name="T103" fmla="*/ 35 h 329"/>
                  <a:gd name="T104" fmla="*/ 0 w 793"/>
                  <a:gd name="T105" fmla="*/ 12 h 329"/>
                  <a:gd name="T106" fmla="*/ 33 w 793"/>
                  <a:gd name="T107" fmla="*/ 10 h 329"/>
                  <a:gd name="T108" fmla="*/ 34 w 793"/>
                  <a:gd name="T109" fmla="*/ 13 h 329"/>
                  <a:gd name="T110" fmla="*/ 25 w 793"/>
                  <a:gd name="T111" fmla="*/ 16 h 329"/>
                  <a:gd name="T112" fmla="*/ 19 w 793"/>
                  <a:gd name="T113" fmla="*/ 17 h 329"/>
                  <a:gd name="T114" fmla="*/ 14 w 793"/>
                  <a:gd name="T115" fmla="*/ 23 h 329"/>
                  <a:gd name="T116" fmla="*/ 15 w 793"/>
                  <a:gd name="T117" fmla="*/ 28 h 329"/>
                  <a:gd name="T118" fmla="*/ 17 w 793"/>
                  <a:gd name="T119" fmla="*/ 35 h 329"/>
                  <a:gd name="T120" fmla="*/ 27 w 793"/>
                  <a:gd name="T121" fmla="*/ 56 h 32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93" h="329">
                    <a:moveTo>
                      <a:pt x="120" y="249"/>
                    </a:moveTo>
                    <a:lnTo>
                      <a:pt x="359" y="243"/>
                    </a:lnTo>
                    <a:lnTo>
                      <a:pt x="346" y="223"/>
                    </a:lnTo>
                    <a:lnTo>
                      <a:pt x="335" y="200"/>
                    </a:lnTo>
                    <a:lnTo>
                      <a:pt x="314" y="154"/>
                    </a:lnTo>
                    <a:lnTo>
                      <a:pt x="306" y="139"/>
                    </a:lnTo>
                    <a:lnTo>
                      <a:pt x="299" y="126"/>
                    </a:lnTo>
                    <a:lnTo>
                      <a:pt x="289" y="114"/>
                    </a:lnTo>
                    <a:lnTo>
                      <a:pt x="280" y="107"/>
                    </a:lnTo>
                    <a:lnTo>
                      <a:pt x="264" y="99"/>
                    </a:lnTo>
                    <a:lnTo>
                      <a:pt x="245" y="93"/>
                    </a:lnTo>
                    <a:lnTo>
                      <a:pt x="224" y="91"/>
                    </a:lnTo>
                    <a:lnTo>
                      <a:pt x="200" y="89"/>
                    </a:lnTo>
                    <a:lnTo>
                      <a:pt x="198" y="84"/>
                    </a:lnTo>
                    <a:lnTo>
                      <a:pt x="196" y="78"/>
                    </a:lnTo>
                    <a:lnTo>
                      <a:pt x="302" y="76"/>
                    </a:lnTo>
                    <a:lnTo>
                      <a:pt x="407" y="74"/>
                    </a:lnTo>
                    <a:lnTo>
                      <a:pt x="409" y="80"/>
                    </a:lnTo>
                    <a:lnTo>
                      <a:pt x="411" y="84"/>
                    </a:lnTo>
                    <a:lnTo>
                      <a:pt x="392" y="87"/>
                    </a:lnTo>
                    <a:lnTo>
                      <a:pt x="377" y="89"/>
                    </a:lnTo>
                    <a:lnTo>
                      <a:pt x="365" y="93"/>
                    </a:lnTo>
                    <a:lnTo>
                      <a:pt x="358" y="95"/>
                    </a:lnTo>
                    <a:lnTo>
                      <a:pt x="346" y="103"/>
                    </a:lnTo>
                    <a:lnTo>
                      <a:pt x="340" y="114"/>
                    </a:lnTo>
                    <a:lnTo>
                      <a:pt x="339" y="122"/>
                    </a:lnTo>
                    <a:lnTo>
                      <a:pt x="339" y="131"/>
                    </a:lnTo>
                    <a:lnTo>
                      <a:pt x="342" y="141"/>
                    </a:lnTo>
                    <a:lnTo>
                      <a:pt x="346" y="152"/>
                    </a:lnTo>
                    <a:lnTo>
                      <a:pt x="367" y="200"/>
                    </a:lnTo>
                    <a:lnTo>
                      <a:pt x="392" y="243"/>
                    </a:lnTo>
                    <a:lnTo>
                      <a:pt x="592" y="238"/>
                    </a:lnTo>
                    <a:lnTo>
                      <a:pt x="609" y="238"/>
                    </a:lnTo>
                    <a:lnTo>
                      <a:pt x="624" y="238"/>
                    </a:lnTo>
                    <a:lnTo>
                      <a:pt x="631" y="236"/>
                    </a:lnTo>
                    <a:lnTo>
                      <a:pt x="637" y="236"/>
                    </a:lnTo>
                    <a:lnTo>
                      <a:pt x="643" y="232"/>
                    </a:lnTo>
                    <a:lnTo>
                      <a:pt x="647" y="226"/>
                    </a:lnTo>
                    <a:lnTo>
                      <a:pt x="647" y="223"/>
                    </a:lnTo>
                    <a:lnTo>
                      <a:pt x="647" y="219"/>
                    </a:lnTo>
                    <a:lnTo>
                      <a:pt x="641" y="204"/>
                    </a:lnTo>
                    <a:lnTo>
                      <a:pt x="631" y="186"/>
                    </a:lnTo>
                    <a:lnTo>
                      <a:pt x="622" y="169"/>
                    </a:lnTo>
                    <a:lnTo>
                      <a:pt x="609" y="133"/>
                    </a:lnTo>
                    <a:lnTo>
                      <a:pt x="601" y="116"/>
                    </a:lnTo>
                    <a:lnTo>
                      <a:pt x="595" y="103"/>
                    </a:lnTo>
                    <a:lnTo>
                      <a:pt x="588" y="91"/>
                    </a:lnTo>
                    <a:lnTo>
                      <a:pt x="582" y="82"/>
                    </a:lnTo>
                    <a:lnTo>
                      <a:pt x="565" y="67"/>
                    </a:lnTo>
                    <a:lnTo>
                      <a:pt x="542" y="51"/>
                    </a:lnTo>
                    <a:lnTo>
                      <a:pt x="523" y="42"/>
                    </a:lnTo>
                    <a:lnTo>
                      <a:pt x="500" y="32"/>
                    </a:lnTo>
                    <a:lnTo>
                      <a:pt x="476" y="21"/>
                    </a:lnTo>
                    <a:lnTo>
                      <a:pt x="447" y="11"/>
                    </a:lnTo>
                    <a:lnTo>
                      <a:pt x="445" y="6"/>
                    </a:lnTo>
                    <a:lnTo>
                      <a:pt x="443" y="0"/>
                    </a:lnTo>
                    <a:lnTo>
                      <a:pt x="525" y="17"/>
                    </a:lnTo>
                    <a:lnTo>
                      <a:pt x="607" y="34"/>
                    </a:lnTo>
                    <a:lnTo>
                      <a:pt x="620" y="78"/>
                    </a:lnTo>
                    <a:lnTo>
                      <a:pt x="633" y="124"/>
                    </a:lnTo>
                    <a:lnTo>
                      <a:pt x="651" y="171"/>
                    </a:lnTo>
                    <a:lnTo>
                      <a:pt x="670" y="215"/>
                    </a:lnTo>
                    <a:lnTo>
                      <a:pt x="681" y="236"/>
                    </a:lnTo>
                    <a:lnTo>
                      <a:pt x="692" y="255"/>
                    </a:lnTo>
                    <a:lnTo>
                      <a:pt x="706" y="272"/>
                    </a:lnTo>
                    <a:lnTo>
                      <a:pt x="721" y="287"/>
                    </a:lnTo>
                    <a:lnTo>
                      <a:pt x="736" y="299"/>
                    </a:lnTo>
                    <a:lnTo>
                      <a:pt x="753" y="308"/>
                    </a:lnTo>
                    <a:lnTo>
                      <a:pt x="772" y="314"/>
                    </a:lnTo>
                    <a:lnTo>
                      <a:pt x="793" y="316"/>
                    </a:lnTo>
                    <a:lnTo>
                      <a:pt x="776" y="316"/>
                    </a:lnTo>
                    <a:lnTo>
                      <a:pt x="768" y="316"/>
                    </a:lnTo>
                    <a:lnTo>
                      <a:pt x="761" y="314"/>
                    </a:lnTo>
                    <a:lnTo>
                      <a:pt x="744" y="308"/>
                    </a:lnTo>
                    <a:lnTo>
                      <a:pt x="723" y="301"/>
                    </a:lnTo>
                    <a:lnTo>
                      <a:pt x="704" y="295"/>
                    </a:lnTo>
                    <a:lnTo>
                      <a:pt x="687" y="291"/>
                    </a:lnTo>
                    <a:lnTo>
                      <a:pt x="677" y="289"/>
                    </a:lnTo>
                    <a:lnTo>
                      <a:pt x="662" y="289"/>
                    </a:lnTo>
                    <a:lnTo>
                      <a:pt x="645" y="289"/>
                    </a:lnTo>
                    <a:lnTo>
                      <a:pt x="624" y="289"/>
                    </a:lnTo>
                    <a:lnTo>
                      <a:pt x="428" y="293"/>
                    </a:lnTo>
                    <a:lnTo>
                      <a:pt x="232" y="299"/>
                    </a:lnTo>
                    <a:lnTo>
                      <a:pt x="207" y="299"/>
                    </a:lnTo>
                    <a:lnTo>
                      <a:pt x="188" y="301"/>
                    </a:lnTo>
                    <a:lnTo>
                      <a:pt x="175" y="304"/>
                    </a:lnTo>
                    <a:lnTo>
                      <a:pt x="169" y="306"/>
                    </a:lnTo>
                    <a:lnTo>
                      <a:pt x="167" y="312"/>
                    </a:lnTo>
                    <a:lnTo>
                      <a:pt x="171" y="318"/>
                    </a:lnTo>
                    <a:lnTo>
                      <a:pt x="177" y="321"/>
                    </a:lnTo>
                    <a:lnTo>
                      <a:pt x="188" y="327"/>
                    </a:lnTo>
                    <a:lnTo>
                      <a:pt x="205" y="327"/>
                    </a:lnTo>
                    <a:lnTo>
                      <a:pt x="198" y="329"/>
                    </a:lnTo>
                    <a:lnTo>
                      <a:pt x="188" y="329"/>
                    </a:lnTo>
                    <a:lnTo>
                      <a:pt x="167" y="327"/>
                    </a:lnTo>
                    <a:lnTo>
                      <a:pt x="148" y="321"/>
                    </a:lnTo>
                    <a:lnTo>
                      <a:pt x="131" y="312"/>
                    </a:lnTo>
                    <a:lnTo>
                      <a:pt x="116" y="301"/>
                    </a:lnTo>
                    <a:lnTo>
                      <a:pt x="101" y="285"/>
                    </a:lnTo>
                    <a:lnTo>
                      <a:pt x="87" y="268"/>
                    </a:lnTo>
                    <a:lnTo>
                      <a:pt x="76" y="249"/>
                    </a:lnTo>
                    <a:lnTo>
                      <a:pt x="65" y="228"/>
                    </a:lnTo>
                    <a:lnTo>
                      <a:pt x="46" y="185"/>
                    </a:lnTo>
                    <a:lnTo>
                      <a:pt x="29" y="137"/>
                    </a:lnTo>
                    <a:lnTo>
                      <a:pt x="13" y="91"/>
                    </a:lnTo>
                    <a:lnTo>
                      <a:pt x="0" y="48"/>
                    </a:lnTo>
                    <a:lnTo>
                      <a:pt x="67" y="44"/>
                    </a:lnTo>
                    <a:lnTo>
                      <a:pt x="131" y="40"/>
                    </a:lnTo>
                    <a:lnTo>
                      <a:pt x="133" y="46"/>
                    </a:lnTo>
                    <a:lnTo>
                      <a:pt x="135" y="51"/>
                    </a:lnTo>
                    <a:lnTo>
                      <a:pt x="114" y="55"/>
                    </a:lnTo>
                    <a:lnTo>
                      <a:pt x="97" y="61"/>
                    </a:lnTo>
                    <a:lnTo>
                      <a:pt x="84" y="65"/>
                    </a:lnTo>
                    <a:lnTo>
                      <a:pt x="74" y="68"/>
                    </a:lnTo>
                    <a:lnTo>
                      <a:pt x="63" y="78"/>
                    </a:lnTo>
                    <a:lnTo>
                      <a:pt x="55" y="91"/>
                    </a:lnTo>
                    <a:lnTo>
                      <a:pt x="55" y="99"/>
                    </a:lnTo>
                    <a:lnTo>
                      <a:pt x="57" y="110"/>
                    </a:lnTo>
                    <a:lnTo>
                      <a:pt x="59" y="122"/>
                    </a:lnTo>
                    <a:lnTo>
                      <a:pt x="65" y="137"/>
                    </a:lnTo>
                    <a:lnTo>
                      <a:pt x="89" y="194"/>
                    </a:lnTo>
                    <a:lnTo>
                      <a:pt x="105" y="223"/>
                    </a:lnTo>
                    <a:lnTo>
                      <a:pt x="120" y="249"/>
                    </a:lnTo>
                    <a:close/>
                  </a:path>
                </a:pathLst>
              </a:custGeom>
              <a:solidFill>
                <a:srgbClr val="3366FF"/>
              </a:solidFill>
              <a:ln w="9525">
                <a:solidFill>
                  <a:srgbClr val="000000"/>
                </a:solidFill>
                <a:prstDash val="solid"/>
                <a:round/>
                <a:headEnd/>
                <a:tailEnd/>
              </a:ln>
            </p:spPr>
            <p:txBody>
              <a:bodyPr/>
              <a:lstStyle/>
              <a:p>
                <a:endParaRPr lang="en-IN"/>
              </a:p>
            </p:txBody>
          </p:sp>
          <p:sp>
            <p:nvSpPr>
              <p:cNvPr id="4118" name="Freeform 18">
                <a:extLst>
                  <a:ext uri="{FF2B5EF4-FFF2-40B4-BE49-F238E27FC236}">
                    <a16:creationId xmlns:a16="http://schemas.microsoft.com/office/drawing/2014/main" xmlns="" id="{8DC9FA06-7700-E867-A0B4-A72278606AF2}"/>
                  </a:ext>
                </a:extLst>
              </p:cNvPr>
              <p:cNvSpPr>
                <a:spLocks/>
              </p:cNvSpPr>
              <p:nvPr/>
            </p:nvSpPr>
            <p:spPr bwMode="auto">
              <a:xfrm>
                <a:off x="1578" y="2402"/>
                <a:ext cx="234" cy="166"/>
              </a:xfrm>
              <a:custGeom>
                <a:avLst/>
                <a:gdLst>
                  <a:gd name="T0" fmla="*/ 22 w 468"/>
                  <a:gd name="T1" fmla="*/ 54 h 333"/>
                  <a:gd name="T2" fmla="*/ 12 w 468"/>
                  <a:gd name="T3" fmla="*/ 48 h 333"/>
                  <a:gd name="T4" fmla="*/ 6 w 468"/>
                  <a:gd name="T5" fmla="*/ 41 h 333"/>
                  <a:gd name="T6" fmla="*/ 2 w 468"/>
                  <a:gd name="T7" fmla="*/ 36 h 333"/>
                  <a:gd name="T8" fmla="*/ 0 w 468"/>
                  <a:gd name="T9" fmla="*/ 30 h 333"/>
                  <a:gd name="T10" fmla="*/ 1 w 468"/>
                  <a:gd name="T11" fmla="*/ 24 h 333"/>
                  <a:gd name="T12" fmla="*/ 5 w 468"/>
                  <a:gd name="T13" fmla="*/ 20 h 333"/>
                  <a:gd name="T14" fmla="*/ 11 w 468"/>
                  <a:gd name="T15" fmla="*/ 16 h 333"/>
                  <a:gd name="T16" fmla="*/ 19 w 468"/>
                  <a:gd name="T17" fmla="*/ 14 h 333"/>
                  <a:gd name="T18" fmla="*/ 29 w 468"/>
                  <a:gd name="T19" fmla="*/ 13 h 333"/>
                  <a:gd name="T20" fmla="*/ 57 w 468"/>
                  <a:gd name="T21" fmla="*/ 12 h 333"/>
                  <a:gd name="T22" fmla="*/ 84 w 468"/>
                  <a:gd name="T23" fmla="*/ 11 h 333"/>
                  <a:gd name="T24" fmla="*/ 90 w 468"/>
                  <a:gd name="T25" fmla="*/ 11 h 333"/>
                  <a:gd name="T26" fmla="*/ 94 w 468"/>
                  <a:gd name="T27" fmla="*/ 9 h 333"/>
                  <a:gd name="T28" fmla="*/ 97 w 468"/>
                  <a:gd name="T29" fmla="*/ 4 h 333"/>
                  <a:gd name="T30" fmla="*/ 98 w 468"/>
                  <a:gd name="T31" fmla="*/ 0 h 333"/>
                  <a:gd name="T32" fmla="*/ 104 w 468"/>
                  <a:gd name="T33" fmla="*/ 18 h 333"/>
                  <a:gd name="T34" fmla="*/ 105 w 468"/>
                  <a:gd name="T35" fmla="*/ 37 h 333"/>
                  <a:gd name="T36" fmla="*/ 103 w 468"/>
                  <a:gd name="T37" fmla="*/ 36 h 333"/>
                  <a:gd name="T38" fmla="*/ 101 w 468"/>
                  <a:gd name="T39" fmla="*/ 30 h 333"/>
                  <a:gd name="T40" fmla="*/ 96 w 468"/>
                  <a:gd name="T41" fmla="*/ 26 h 333"/>
                  <a:gd name="T42" fmla="*/ 91 w 468"/>
                  <a:gd name="T43" fmla="*/ 25 h 333"/>
                  <a:gd name="T44" fmla="*/ 86 w 468"/>
                  <a:gd name="T45" fmla="*/ 25 h 333"/>
                  <a:gd name="T46" fmla="*/ 61 w 468"/>
                  <a:gd name="T47" fmla="*/ 25 h 333"/>
                  <a:gd name="T48" fmla="*/ 34 w 468"/>
                  <a:gd name="T49" fmla="*/ 26 h 333"/>
                  <a:gd name="T50" fmla="*/ 24 w 468"/>
                  <a:gd name="T51" fmla="*/ 28 h 333"/>
                  <a:gd name="T52" fmla="*/ 17 w 468"/>
                  <a:gd name="T53" fmla="*/ 30 h 333"/>
                  <a:gd name="T54" fmla="*/ 15 w 468"/>
                  <a:gd name="T55" fmla="*/ 35 h 333"/>
                  <a:gd name="T56" fmla="*/ 17 w 468"/>
                  <a:gd name="T57" fmla="*/ 43 h 333"/>
                  <a:gd name="T58" fmla="*/ 27 w 468"/>
                  <a:gd name="T59" fmla="*/ 52 h 333"/>
                  <a:gd name="T60" fmla="*/ 61 w 468"/>
                  <a:gd name="T61" fmla="*/ 56 h 333"/>
                  <a:gd name="T62" fmla="*/ 93 w 468"/>
                  <a:gd name="T63" fmla="*/ 55 h 333"/>
                  <a:gd name="T64" fmla="*/ 99 w 468"/>
                  <a:gd name="T65" fmla="*/ 55 h 333"/>
                  <a:gd name="T66" fmla="*/ 103 w 468"/>
                  <a:gd name="T67" fmla="*/ 53 h 333"/>
                  <a:gd name="T68" fmla="*/ 105 w 468"/>
                  <a:gd name="T69" fmla="*/ 50 h 333"/>
                  <a:gd name="T70" fmla="*/ 105 w 468"/>
                  <a:gd name="T71" fmla="*/ 46 h 333"/>
                  <a:gd name="T72" fmla="*/ 107 w 468"/>
                  <a:gd name="T73" fmla="*/ 43 h 333"/>
                  <a:gd name="T74" fmla="*/ 113 w 468"/>
                  <a:gd name="T75" fmla="*/ 61 h 333"/>
                  <a:gd name="T76" fmla="*/ 115 w 468"/>
                  <a:gd name="T77" fmla="*/ 79 h 333"/>
                  <a:gd name="T78" fmla="*/ 114 w 468"/>
                  <a:gd name="T79" fmla="*/ 79 h 333"/>
                  <a:gd name="T80" fmla="*/ 112 w 468"/>
                  <a:gd name="T81" fmla="*/ 75 h 333"/>
                  <a:gd name="T82" fmla="*/ 109 w 468"/>
                  <a:gd name="T83" fmla="*/ 71 h 333"/>
                  <a:gd name="T84" fmla="*/ 104 w 468"/>
                  <a:gd name="T85" fmla="*/ 69 h 333"/>
                  <a:gd name="T86" fmla="*/ 97 w 468"/>
                  <a:gd name="T87" fmla="*/ 69 h 333"/>
                  <a:gd name="T88" fmla="*/ 73 w 468"/>
                  <a:gd name="T89" fmla="*/ 69 h 333"/>
                  <a:gd name="T90" fmla="*/ 45 w 468"/>
                  <a:gd name="T91" fmla="*/ 70 h 333"/>
                  <a:gd name="T92" fmla="*/ 36 w 468"/>
                  <a:gd name="T93" fmla="*/ 70 h 333"/>
                  <a:gd name="T94" fmla="*/ 32 w 468"/>
                  <a:gd name="T95" fmla="*/ 71 h 333"/>
                  <a:gd name="T96" fmla="*/ 29 w 468"/>
                  <a:gd name="T97" fmla="*/ 71 h 333"/>
                  <a:gd name="T98" fmla="*/ 26 w 468"/>
                  <a:gd name="T99" fmla="*/ 73 h 333"/>
                  <a:gd name="T100" fmla="*/ 26 w 468"/>
                  <a:gd name="T101" fmla="*/ 76 h 333"/>
                  <a:gd name="T102" fmla="*/ 29 w 468"/>
                  <a:gd name="T103" fmla="*/ 81 h 333"/>
                  <a:gd name="T104" fmla="*/ 25 w 468"/>
                  <a:gd name="T105" fmla="*/ 83 h 333"/>
                  <a:gd name="T106" fmla="*/ 7 w 468"/>
                  <a:gd name="T107" fmla="*/ 61 h 333"/>
                  <a:gd name="T108" fmla="*/ 6 w 468"/>
                  <a:gd name="T109" fmla="*/ 57 h 333"/>
                  <a:gd name="T110" fmla="*/ 28 w 468"/>
                  <a:gd name="T111" fmla="*/ 57 h 3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68" h="333">
                    <a:moveTo>
                      <a:pt x="110" y="228"/>
                    </a:moveTo>
                    <a:lnTo>
                      <a:pt x="87" y="217"/>
                    </a:lnTo>
                    <a:lnTo>
                      <a:pt x="66" y="203"/>
                    </a:lnTo>
                    <a:lnTo>
                      <a:pt x="47" y="192"/>
                    </a:lnTo>
                    <a:lnTo>
                      <a:pt x="34" y="180"/>
                    </a:lnTo>
                    <a:lnTo>
                      <a:pt x="21" y="167"/>
                    </a:lnTo>
                    <a:lnTo>
                      <a:pt x="11" y="156"/>
                    </a:lnTo>
                    <a:lnTo>
                      <a:pt x="6" y="144"/>
                    </a:lnTo>
                    <a:lnTo>
                      <a:pt x="2" y="133"/>
                    </a:lnTo>
                    <a:lnTo>
                      <a:pt x="0" y="122"/>
                    </a:lnTo>
                    <a:lnTo>
                      <a:pt x="0" y="110"/>
                    </a:lnTo>
                    <a:lnTo>
                      <a:pt x="4" y="99"/>
                    </a:lnTo>
                    <a:lnTo>
                      <a:pt x="9" y="89"/>
                    </a:lnTo>
                    <a:lnTo>
                      <a:pt x="19" y="82"/>
                    </a:lnTo>
                    <a:lnTo>
                      <a:pt x="30" y="74"/>
                    </a:lnTo>
                    <a:lnTo>
                      <a:pt x="44" y="66"/>
                    </a:lnTo>
                    <a:lnTo>
                      <a:pt x="61" y="61"/>
                    </a:lnTo>
                    <a:lnTo>
                      <a:pt x="76" y="57"/>
                    </a:lnTo>
                    <a:lnTo>
                      <a:pt x="93" y="55"/>
                    </a:lnTo>
                    <a:lnTo>
                      <a:pt x="116" y="53"/>
                    </a:lnTo>
                    <a:lnTo>
                      <a:pt x="141" y="51"/>
                    </a:lnTo>
                    <a:lnTo>
                      <a:pt x="228" y="49"/>
                    </a:lnTo>
                    <a:lnTo>
                      <a:pt x="316" y="47"/>
                    </a:lnTo>
                    <a:lnTo>
                      <a:pt x="333" y="47"/>
                    </a:lnTo>
                    <a:lnTo>
                      <a:pt x="348" y="45"/>
                    </a:lnTo>
                    <a:lnTo>
                      <a:pt x="359" y="44"/>
                    </a:lnTo>
                    <a:lnTo>
                      <a:pt x="367" y="42"/>
                    </a:lnTo>
                    <a:lnTo>
                      <a:pt x="376" y="38"/>
                    </a:lnTo>
                    <a:lnTo>
                      <a:pt x="382" y="30"/>
                    </a:lnTo>
                    <a:lnTo>
                      <a:pt x="386" y="19"/>
                    </a:lnTo>
                    <a:lnTo>
                      <a:pt x="384" y="2"/>
                    </a:lnTo>
                    <a:lnTo>
                      <a:pt x="392" y="0"/>
                    </a:lnTo>
                    <a:lnTo>
                      <a:pt x="399" y="0"/>
                    </a:lnTo>
                    <a:lnTo>
                      <a:pt x="413" y="74"/>
                    </a:lnTo>
                    <a:lnTo>
                      <a:pt x="428" y="146"/>
                    </a:lnTo>
                    <a:lnTo>
                      <a:pt x="420" y="148"/>
                    </a:lnTo>
                    <a:lnTo>
                      <a:pt x="411" y="148"/>
                    </a:lnTo>
                    <a:lnTo>
                      <a:pt x="411" y="144"/>
                    </a:lnTo>
                    <a:lnTo>
                      <a:pt x="411" y="141"/>
                    </a:lnTo>
                    <a:lnTo>
                      <a:pt x="403" y="123"/>
                    </a:lnTo>
                    <a:lnTo>
                      <a:pt x="395" y="112"/>
                    </a:lnTo>
                    <a:lnTo>
                      <a:pt x="382" y="106"/>
                    </a:lnTo>
                    <a:lnTo>
                      <a:pt x="367" y="102"/>
                    </a:lnTo>
                    <a:lnTo>
                      <a:pt x="363" y="101"/>
                    </a:lnTo>
                    <a:lnTo>
                      <a:pt x="354" y="101"/>
                    </a:lnTo>
                    <a:lnTo>
                      <a:pt x="342" y="101"/>
                    </a:lnTo>
                    <a:lnTo>
                      <a:pt x="325" y="101"/>
                    </a:lnTo>
                    <a:lnTo>
                      <a:pt x="241" y="102"/>
                    </a:lnTo>
                    <a:lnTo>
                      <a:pt x="158" y="104"/>
                    </a:lnTo>
                    <a:lnTo>
                      <a:pt x="133" y="106"/>
                    </a:lnTo>
                    <a:lnTo>
                      <a:pt x="110" y="108"/>
                    </a:lnTo>
                    <a:lnTo>
                      <a:pt x="93" y="112"/>
                    </a:lnTo>
                    <a:lnTo>
                      <a:pt x="78" y="118"/>
                    </a:lnTo>
                    <a:lnTo>
                      <a:pt x="68" y="123"/>
                    </a:lnTo>
                    <a:lnTo>
                      <a:pt x="63" y="133"/>
                    </a:lnTo>
                    <a:lnTo>
                      <a:pt x="59" y="142"/>
                    </a:lnTo>
                    <a:lnTo>
                      <a:pt x="61" y="154"/>
                    </a:lnTo>
                    <a:lnTo>
                      <a:pt x="68" y="173"/>
                    </a:lnTo>
                    <a:lnTo>
                      <a:pt x="84" y="192"/>
                    </a:lnTo>
                    <a:lnTo>
                      <a:pt x="106" y="209"/>
                    </a:lnTo>
                    <a:lnTo>
                      <a:pt x="135" y="228"/>
                    </a:lnTo>
                    <a:lnTo>
                      <a:pt x="243" y="226"/>
                    </a:lnTo>
                    <a:lnTo>
                      <a:pt x="352" y="224"/>
                    </a:lnTo>
                    <a:lnTo>
                      <a:pt x="371" y="222"/>
                    </a:lnTo>
                    <a:lnTo>
                      <a:pt x="384" y="222"/>
                    </a:lnTo>
                    <a:lnTo>
                      <a:pt x="395" y="220"/>
                    </a:lnTo>
                    <a:lnTo>
                      <a:pt x="401" y="219"/>
                    </a:lnTo>
                    <a:lnTo>
                      <a:pt x="411" y="213"/>
                    </a:lnTo>
                    <a:lnTo>
                      <a:pt x="418" y="205"/>
                    </a:lnTo>
                    <a:lnTo>
                      <a:pt x="420" y="201"/>
                    </a:lnTo>
                    <a:lnTo>
                      <a:pt x="420" y="194"/>
                    </a:lnTo>
                    <a:lnTo>
                      <a:pt x="418" y="186"/>
                    </a:lnTo>
                    <a:lnTo>
                      <a:pt x="416" y="175"/>
                    </a:lnTo>
                    <a:lnTo>
                      <a:pt x="426" y="173"/>
                    </a:lnTo>
                    <a:lnTo>
                      <a:pt x="434" y="173"/>
                    </a:lnTo>
                    <a:lnTo>
                      <a:pt x="449" y="247"/>
                    </a:lnTo>
                    <a:lnTo>
                      <a:pt x="468" y="319"/>
                    </a:lnTo>
                    <a:lnTo>
                      <a:pt x="460" y="319"/>
                    </a:lnTo>
                    <a:lnTo>
                      <a:pt x="453" y="319"/>
                    </a:lnTo>
                    <a:lnTo>
                      <a:pt x="453" y="317"/>
                    </a:lnTo>
                    <a:lnTo>
                      <a:pt x="451" y="314"/>
                    </a:lnTo>
                    <a:lnTo>
                      <a:pt x="447" y="302"/>
                    </a:lnTo>
                    <a:lnTo>
                      <a:pt x="441" y="293"/>
                    </a:lnTo>
                    <a:lnTo>
                      <a:pt x="435" y="287"/>
                    </a:lnTo>
                    <a:lnTo>
                      <a:pt x="426" y="283"/>
                    </a:lnTo>
                    <a:lnTo>
                      <a:pt x="416" y="279"/>
                    </a:lnTo>
                    <a:lnTo>
                      <a:pt x="401" y="278"/>
                    </a:lnTo>
                    <a:lnTo>
                      <a:pt x="386" y="276"/>
                    </a:lnTo>
                    <a:lnTo>
                      <a:pt x="365" y="276"/>
                    </a:lnTo>
                    <a:lnTo>
                      <a:pt x="289" y="278"/>
                    </a:lnTo>
                    <a:lnTo>
                      <a:pt x="213" y="279"/>
                    </a:lnTo>
                    <a:lnTo>
                      <a:pt x="179" y="281"/>
                    </a:lnTo>
                    <a:lnTo>
                      <a:pt x="154" y="283"/>
                    </a:lnTo>
                    <a:lnTo>
                      <a:pt x="142" y="283"/>
                    </a:lnTo>
                    <a:lnTo>
                      <a:pt x="135" y="283"/>
                    </a:lnTo>
                    <a:lnTo>
                      <a:pt x="127" y="285"/>
                    </a:lnTo>
                    <a:lnTo>
                      <a:pt x="123" y="285"/>
                    </a:lnTo>
                    <a:lnTo>
                      <a:pt x="116" y="285"/>
                    </a:lnTo>
                    <a:lnTo>
                      <a:pt x="110" y="287"/>
                    </a:lnTo>
                    <a:lnTo>
                      <a:pt x="103" y="293"/>
                    </a:lnTo>
                    <a:lnTo>
                      <a:pt x="101" y="298"/>
                    </a:lnTo>
                    <a:lnTo>
                      <a:pt x="101" y="304"/>
                    </a:lnTo>
                    <a:lnTo>
                      <a:pt x="104" y="316"/>
                    </a:lnTo>
                    <a:lnTo>
                      <a:pt x="114" y="327"/>
                    </a:lnTo>
                    <a:lnTo>
                      <a:pt x="106" y="331"/>
                    </a:lnTo>
                    <a:lnTo>
                      <a:pt x="99" y="333"/>
                    </a:lnTo>
                    <a:lnTo>
                      <a:pt x="63" y="289"/>
                    </a:lnTo>
                    <a:lnTo>
                      <a:pt x="26" y="245"/>
                    </a:lnTo>
                    <a:lnTo>
                      <a:pt x="25" y="238"/>
                    </a:lnTo>
                    <a:lnTo>
                      <a:pt x="23" y="230"/>
                    </a:lnTo>
                    <a:lnTo>
                      <a:pt x="66" y="230"/>
                    </a:lnTo>
                    <a:lnTo>
                      <a:pt x="110" y="228"/>
                    </a:lnTo>
                    <a:close/>
                  </a:path>
                </a:pathLst>
              </a:custGeom>
              <a:solidFill>
                <a:srgbClr val="3366FF"/>
              </a:solidFill>
              <a:ln w="9525">
                <a:solidFill>
                  <a:srgbClr val="000000"/>
                </a:solidFill>
                <a:prstDash val="solid"/>
                <a:round/>
                <a:headEnd/>
                <a:tailEnd/>
              </a:ln>
            </p:spPr>
            <p:txBody>
              <a:bodyPr/>
              <a:lstStyle/>
              <a:p>
                <a:endParaRPr lang="en-IN"/>
              </a:p>
            </p:txBody>
          </p:sp>
          <p:sp>
            <p:nvSpPr>
              <p:cNvPr id="4119" name="Freeform 19">
                <a:extLst>
                  <a:ext uri="{FF2B5EF4-FFF2-40B4-BE49-F238E27FC236}">
                    <a16:creationId xmlns:a16="http://schemas.microsoft.com/office/drawing/2014/main" xmlns="" id="{68996CA2-C2D9-5E6B-8D94-2618E2CD4503}"/>
                  </a:ext>
                </a:extLst>
              </p:cNvPr>
              <p:cNvSpPr>
                <a:spLocks/>
              </p:cNvSpPr>
              <p:nvPr/>
            </p:nvSpPr>
            <p:spPr bwMode="auto">
              <a:xfrm>
                <a:off x="1552" y="2241"/>
                <a:ext cx="220" cy="162"/>
              </a:xfrm>
              <a:custGeom>
                <a:avLst/>
                <a:gdLst>
                  <a:gd name="T0" fmla="*/ 10 w 441"/>
                  <a:gd name="T1" fmla="*/ 81 h 324"/>
                  <a:gd name="T2" fmla="*/ 8 w 441"/>
                  <a:gd name="T3" fmla="*/ 64 h 324"/>
                  <a:gd name="T4" fmla="*/ 5 w 441"/>
                  <a:gd name="T5" fmla="*/ 46 h 324"/>
                  <a:gd name="T6" fmla="*/ 9 w 441"/>
                  <a:gd name="T7" fmla="*/ 46 h 324"/>
                  <a:gd name="T8" fmla="*/ 9 w 441"/>
                  <a:gd name="T9" fmla="*/ 47 h 324"/>
                  <a:gd name="T10" fmla="*/ 10 w 441"/>
                  <a:gd name="T11" fmla="*/ 48 h 324"/>
                  <a:gd name="T12" fmla="*/ 10 w 441"/>
                  <a:gd name="T13" fmla="*/ 51 h 324"/>
                  <a:gd name="T14" fmla="*/ 12 w 441"/>
                  <a:gd name="T15" fmla="*/ 53 h 324"/>
                  <a:gd name="T16" fmla="*/ 15 w 441"/>
                  <a:gd name="T17" fmla="*/ 54 h 324"/>
                  <a:gd name="T18" fmla="*/ 18 w 441"/>
                  <a:gd name="T19" fmla="*/ 55 h 324"/>
                  <a:gd name="T20" fmla="*/ 22 w 441"/>
                  <a:gd name="T21" fmla="*/ 54 h 324"/>
                  <a:gd name="T22" fmla="*/ 27 w 441"/>
                  <a:gd name="T23" fmla="*/ 53 h 324"/>
                  <a:gd name="T24" fmla="*/ 81 w 441"/>
                  <a:gd name="T25" fmla="*/ 34 h 324"/>
                  <a:gd name="T26" fmla="*/ 51 w 441"/>
                  <a:gd name="T27" fmla="*/ 26 h 324"/>
                  <a:gd name="T28" fmla="*/ 20 w 441"/>
                  <a:gd name="T29" fmla="*/ 18 h 324"/>
                  <a:gd name="T30" fmla="*/ 15 w 441"/>
                  <a:gd name="T31" fmla="*/ 17 h 324"/>
                  <a:gd name="T32" fmla="*/ 13 w 441"/>
                  <a:gd name="T33" fmla="*/ 16 h 324"/>
                  <a:gd name="T34" fmla="*/ 11 w 441"/>
                  <a:gd name="T35" fmla="*/ 16 h 324"/>
                  <a:gd name="T36" fmla="*/ 10 w 441"/>
                  <a:gd name="T37" fmla="*/ 17 h 324"/>
                  <a:gd name="T38" fmla="*/ 8 w 441"/>
                  <a:gd name="T39" fmla="*/ 17 h 324"/>
                  <a:gd name="T40" fmla="*/ 7 w 441"/>
                  <a:gd name="T41" fmla="*/ 18 h 324"/>
                  <a:gd name="T42" fmla="*/ 6 w 441"/>
                  <a:gd name="T43" fmla="*/ 19 h 324"/>
                  <a:gd name="T44" fmla="*/ 6 w 441"/>
                  <a:gd name="T45" fmla="*/ 22 h 324"/>
                  <a:gd name="T46" fmla="*/ 6 w 441"/>
                  <a:gd name="T47" fmla="*/ 25 h 324"/>
                  <a:gd name="T48" fmla="*/ 4 w 441"/>
                  <a:gd name="T49" fmla="*/ 25 h 324"/>
                  <a:gd name="T50" fmla="*/ 2 w 441"/>
                  <a:gd name="T51" fmla="*/ 25 h 324"/>
                  <a:gd name="T52" fmla="*/ 0 w 441"/>
                  <a:gd name="T53" fmla="*/ 13 h 324"/>
                  <a:gd name="T54" fmla="*/ 0 w 441"/>
                  <a:gd name="T55" fmla="*/ 0 h 324"/>
                  <a:gd name="T56" fmla="*/ 1 w 441"/>
                  <a:gd name="T57" fmla="*/ 0 h 324"/>
                  <a:gd name="T58" fmla="*/ 3 w 441"/>
                  <a:gd name="T59" fmla="*/ 0 h 324"/>
                  <a:gd name="T60" fmla="*/ 5 w 441"/>
                  <a:gd name="T61" fmla="*/ 4 h 324"/>
                  <a:gd name="T62" fmla="*/ 7 w 441"/>
                  <a:gd name="T63" fmla="*/ 7 h 324"/>
                  <a:gd name="T64" fmla="*/ 9 w 441"/>
                  <a:gd name="T65" fmla="*/ 8 h 324"/>
                  <a:gd name="T66" fmla="*/ 11 w 441"/>
                  <a:gd name="T67" fmla="*/ 9 h 324"/>
                  <a:gd name="T68" fmla="*/ 14 w 441"/>
                  <a:gd name="T69" fmla="*/ 10 h 324"/>
                  <a:gd name="T70" fmla="*/ 18 w 441"/>
                  <a:gd name="T71" fmla="*/ 11 h 324"/>
                  <a:gd name="T72" fmla="*/ 64 w 441"/>
                  <a:gd name="T73" fmla="*/ 24 h 324"/>
                  <a:gd name="T74" fmla="*/ 109 w 441"/>
                  <a:gd name="T75" fmla="*/ 36 h 324"/>
                  <a:gd name="T76" fmla="*/ 109 w 441"/>
                  <a:gd name="T77" fmla="*/ 38 h 324"/>
                  <a:gd name="T78" fmla="*/ 110 w 441"/>
                  <a:gd name="T79" fmla="*/ 39 h 324"/>
                  <a:gd name="T80" fmla="*/ 68 w 441"/>
                  <a:gd name="T81" fmla="*/ 54 h 324"/>
                  <a:gd name="T82" fmla="*/ 27 w 441"/>
                  <a:gd name="T83" fmla="*/ 68 h 324"/>
                  <a:gd name="T84" fmla="*/ 25 w 441"/>
                  <a:gd name="T85" fmla="*/ 68 h 324"/>
                  <a:gd name="T86" fmla="*/ 22 w 441"/>
                  <a:gd name="T87" fmla="*/ 69 h 324"/>
                  <a:gd name="T88" fmla="*/ 19 w 441"/>
                  <a:gd name="T89" fmla="*/ 71 h 324"/>
                  <a:gd name="T90" fmla="*/ 17 w 441"/>
                  <a:gd name="T91" fmla="*/ 73 h 324"/>
                  <a:gd name="T92" fmla="*/ 15 w 441"/>
                  <a:gd name="T93" fmla="*/ 76 h 324"/>
                  <a:gd name="T94" fmla="*/ 15 w 441"/>
                  <a:gd name="T95" fmla="*/ 78 h 324"/>
                  <a:gd name="T96" fmla="*/ 14 w 441"/>
                  <a:gd name="T97" fmla="*/ 81 h 324"/>
                  <a:gd name="T98" fmla="*/ 12 w 441"/>
                  <a:gd name="T99" fmla="*/ 81 h 324"/>
                  <a:gd name="T100" fmla="*/ 10 w 441"/>
                  <a:gd name="T101" fmla="*/ 81 h 32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41" h="324">
                    <a:moveTo>
                      <a:pt x="43" y="324"/>
                    </a:moveTo>
                    <a:lnTo>
                      <a:pt x="32" y="253"/>
                    </a:lnTo>
                    <a:lnTo>
                      <a:pt x="20" y="183"/>
                    </a:lnTo>
                    <a:lnTo>
                      <a:pt x="38" y="183"/>
                    </a:lnTo>
                    <a:lnTo>
                      <a:pt x="38" y="187"/>
                    </a:lnTo>
                    <a:lnTo>
                      <a:pt x="40" y="192"/>
                    </a:lnTo>
                    <a:lnTo>
                      <a:pt x="43" y="202"/>
                    </a:lnTo>
                    <a:lnTo>
                      <a:pt x="51" y="211"/>
                    </a:lnTo>
                    <a:lnTo>
                      <a:pt x="60" y="215"/>
                    </a:lnTo>
                    <a:lnTo>
                      <a:pt x="74" y="217"/>
                    </a:lnTo>
                    <a:lnTo>
                      <a:pt x="91" y="215"/>
                    </a:lnTo>
                    <a:lnTo>
                      <a:pt x="110" y="210"/>
                    </a:lnTo>
                    <a:lnTo>
                      <a:pt x="327" y="135"/>
                    </a:lnTo>
                    <a:lnTo>
                      <a:pt x="205" y="103"/>
                    </a:lnTo>
                    <a:lnTo>
                      <a:pt x="83" y="71"/>
                    </a:lnTo>
                    <a:lnTo>
                      <a:pt x="60" y="65"/>
                    </a:lnTo>
                    <a:lnTo>
                      <a:pt x="53" y="63"/>
                    </a:lnTo>
                    <a:lnTo>
                      <a:pt x="45" y="63"/>
                    </a:lnTo>
                    <a:lnTo>
                      <a:pt x="40" y="65"/>
                    </a:lnTo>
                    <a:lnTo>
                      <a:pt x="34" y="67"/>
                    </a:lnTo>
                    <a:lnTo>
                      <a:pt x="30" y="71"/>
                    </a:lnTo>
                    <a:lnTo>
                      <a:pt x="26" y="76"/>
                    </a:lnTo>
                    <a:lnTo>
                      <a:pt x="24" y="86"/>
                    </a:lnTo>
                    <a:lnTo>
                      <a:pt x="26" y="99"/>
                    </a:lnTo>
                    <a:lnTo>
                      <a:pt x="19" y="99"/>
                    </a:lnTo>
                    <a:lnTo>
                      <a:pt x="11" y="99"/>
                    </a:lnTo>
                    <a:lnTo>
                      <a:pt x="3" y="50"/>
                    </a:lnTo>
                    <a:lnTo>
                      <a:pt x="0" y="0"/>
                    </a:lnTo>
                    <a:lnTo>
                      <a:pt x="7" y="0"/>
                    </a:lnTo>
                    <a:lnTo>
                      <a:pt x="15" y="0"/>
                    </a:lnTo>
                    <a:lnTo>
                      <a:pt x="20" y="15"/>
                    </a:lnTo>
                    <a:lnTo>
                      <a:pt x="28" y="25"/>
                    </a:lnTo>
                    <a:lnTo>
                      <a:pt x="36" y="29"/>
                    </a:lnTo>
                    <a:lnTo>
                      <a:pt x="47" y="35"/>
                    </a:lnTo>
                    <a:lnTo>
                      <a:pt x="59" y="40"/>
                    </a:lnTo>
                    <a:lnTo>
                      <a:pt x="74" y="44"/>
                    </a:lnTo>
                    <a:lnTo>
                      <a:pt x="256" y="93"/>
                    </a:lnTo>
                    <a:lnTo>
                      <a:pt x="439" y="141"/>
                    </a:lnTo>
                    <a:lnTo>
                      <a:pt x="439" y="149"/>
                    </a:lnTo>
                    <a:lnTo>
                      <a:pt x="441" y="156"/>
                    </a:lnTo>
                    <a:lnTo>
                      <a:pt x="275" y="213"/>
                    </a:lnTo>
                    <a:lnTo>
                      <a:pt x="110" y="269"/>
                    </a:lnTo>
                    <a:lnTo>
                      <a:pt x="100" y="272"/>
                    </a:lnTo>
                    <a:lnTo>
                      <a:pt x="91" y="276"/>
                    </a:lnTo>
                    <a:lnTo>
                      <a:pt x="78" y="284"/>
                    </a:lnTo>
                    <a:lnTo>
                      <a:pt x="70" y="291"/>
                    </a:lnTo>
                    <a:lnTo>
                      <a:pt x="62" y="301"/>
                    </a:lnTo>
                    <a:lnTo>
                      <a:pt x="60" y="310"/>
                    </a:lnTo>
                    <a:lnTo>
                      <a:pt x="59" y="324"/>
                    </a:lnTo>
                    <a:lnTo>
                      <a:pt x="51" y="324"/>
                    </a:lnTo>
                    <a:lnTo>
                      <a:pt x="43" y="324"/>
                    </a:lnTo>
                    <a:close/>
                  </a:path>
                </a:pathLst>
              </a:custGeom>
              <a:solidFill>
                <a:srgbClr val="3366FF"/>
              </a:solidFill>
              <a:ln w="9525">
                <a:solidFill>
                  <a:srgbClr val="000000"/>
                </a:solidFill>
                <a:prstDash val="solid"/>
                <a:round/>
                <a:headEnd/>
                <a:tailEnd/>
              </a:ln>
            </p:spPr>
            <p:txBody>
              <a:bodyPr/>
              <a:lstStyle/>
              <a:p>
                <a:endParaRPr lang="en-IN"/>
              </a:p>
            </p:txBody>
          </p:sp>
          <p:sp>
            <p:nvSpPr>
              <p:cNvPr id="4120" name="Freeform 20">
                <a:extLst>
                  <a:ext uri="{FF2B5EF4-FFF2-40B4-BE49-F238E27FC236}">
                    <a16:creationId xmlns:a16="http://schemas.microsoft.com/office/drawing/2014/main" xmlns="" id="{CEFBF675-FA6B-4FEC-1430-79F12FF52EAE}"/>
                  </a:ext>
                </a:extLst>
              </p:cNvPr>
              <p:cNvSpPr>
                <a:spLocks noEditPoints="1"/>
              </p:cNvSpPr>
              <p:nvPr/>
            </p:nvSpPr>
            <p:spPr bwMode="auto">
              <a:xfrm>
                <a:off x="1433" y="2149"/>
                <a:ext cx="321" cy="79"/>
              </a:xfrm>
              <a:custGeom>
                <a:avLst/>
                <a:gdLst>
                  <a:gd name="T0" fmla="*/ 1 w 643"/>
                  <a:gd name="T1" fmla="*/ 19 h 158"/>
                  <a:gd name="T2" fmla="*/ 6 w 643"/>
                  <a:gd name="T3" fmla="*/ 14 h 158"/>
                  <a:gd name="T4" fmla="*/ 15 w 643"/>
                  <a:gd name="T5" fmla="*/ 14 h 158"/>
                  <a:gd name="T6" fmla="*/ 21 w 643"/>
                  <a:gd name="T7" fmla="*/ 18 h 158"/>
                  <a:gd name="T8" fmla="*/ 22 w 643"/>
                  <a:gd name="T9" fmla="*/ 22 h 158"/>
                  <a:gd name="T10" fmla="*/ 21 w 643"/>
                  <a:gd name="T11" fmla="*/ 26 h 158"/>
                  <a:gd name="T12" fmla="*/ 16 w 643"/>
                  <a:gd name="T13" fmla="*/ 30 h 158"/>
                  <a:gd name="T14" fmla="*/ 7 w 643"/>
                  <a:gd name="T15" fmla="*/ 30 h 158"/>
                  <a:gd name="T16" fmla="*/ 1 w 643"/>
                  <a:gd name="T17" fmla="*/ 26 h 158"/>
                  <a:gd name="T18" fmla="*/ 0 w 643"/>
                  <a:gd name="T19" fmla="*/ 22 h 158"/>
                  <a:gd name="T20" fmla="*/ 94 w 643"/>
                  <a:gd name="T21" fmla="*/ 13 h 158"/>
                  <a:gd name="T22" fmla="*/ 139 w 643"/>
                  <a:gd name="T23" fmla="*/ 12 h 158"/>
                  <a:gd name="T24" fmla="*/ 146 w 643"/>
                  <a:gd name="T25" fmla="*/ 11 h 158"/>
                  <a:gd name="T26" fmla="*/ 150 w 643"/>
                  <a:gd name="T27" fmla="*/ 9 h 158"/>
                  <a:gd name="T28" fmla="*/ 152 w 643"/>
                  <a:gd name="T29" fmla="*/ 6 h 158"/>
                  <a:gd name="T30" fmla="*/ 153 w 643"/>
                  <a:gd name="T31" fmla="*/ 3 h 158"/>
                  <a:gd name="T32" fmla="*/ 157 w 643"/>
                  <a:gd name="T33" fmla="*/ 0 h 158"/>
                  <a:gd name="T34" fmla="*/ 160 w 643"/>
                  <a:gd name="T35" fmla="*/ 37 h 158"/>
                  <a:gd name="T36" fmla="*/ 156 w 643"/>
                  <a:gd name="T37" fmla="*/ 35 h 158"/>
                  <a:gd name="T38" fmla="*/ 154 w 643"/>
                  <a:gd name="T39" fmla="*/ 29 h 158"/>
                  <a:gd name="T40" fmla="*/ 149 w 643"/>
                  <a:gd name="T41" fmla="*/ 26 h 158"/>
                  <a:gd name="T42" fmla="*/ 144 w 643"/>
                  <a:gd name="T43" fmla="*/ 26 h 158"/>
                  <a:gd name="T44" fmla="*/ 136 w 643"/>
                  <a:gd name="T45" fmla="*/ 26 h 158"/>
                  <a:gd name="T46" fmla="*/ 97 w 643"/>
                  <a:gd name="T47" fmla="*/ 26 h 158"/>
                  <a:gd name="T48" fmla="*/ 83 w 643"/>
                  <a:gd name="T49" fmla="*/ 27 h 158"/>
                  <a:gd name="T50" fmla="*/ 75 w 643"/>
                  <a:gd name="T51" fmla="*/ 28 h 158"/>
                  <a:gd name="T52" fmla="*/ 70 w 643"/>
                  <a:gd name="T53" fmla="*/ 30 h 158"/>
                  <a:gd name="T54" fmla="*/ 69 w 643"/>
                  <a:gd name="T55" fmla="*/ 33 h 158"/>
                  <a:gd name="T56" fmla="*/ 71 w 643"/>
                  <a:gd name="T57" fmla="*/ 39 h 158"/>
                  <a:gd name="T58" fmla="*/ 68 w 643"/>
                  <a:gd name="T59" fmla="*/ 40 h 158"/>
                  <a:gd name="T60" fmla="*/ 53 w 643"/>
                  <a:gd name="T61" fmla="*/ 17 h 158"/>
                  <a:gd name="T62" fmla="*/ 52 w 643"/>
                  <a:gd name="T63" fmla="*/ 14 h 15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43" h="158">
                    <a:moveTo>
                      <a:pt x="0" y="87"/>
                    </a:moveTo>
                    <a:lnTo>
                      <a:pt x="4" y="74"/>
                    </a:lnTo>
                    <a:lnTo>
                      <a:pt x="11" y="63"/>
                    </a:lnTo>
                    <a:lnTo>
                      <a:pt x="25" y="55"/>
                    </a:lnTo>
                    <a:lnTo>
                      <a:pt x="42" y="53"/>
                    </a:lnTo>
                    <a:lnTo>
                      <a:pt x="61" y="55"/>
                    </a:lnTo>
                    <a:lnTo>
                      <a:pt x="76" y="61"/>
                    </a:lnTo>
                    <a:lnTo>
                      <a:pt x="87" y="72"/>
                    </a:lnTo>
                    <a:lnTo>
                      <a:pt x="89" y="78"/>
                    </a:lnTo>
                    <a:lnTo>
                      <a:pt x="91" y="85"/>
                    </a:lnTo>
                    <a:lnTo>
                      <a:pt x="89" y="97"/>
                    </a:lnTo>
                    <a:lnTo>
                      <a:pt x="85" y="102"/>
                    </a:lnTo>
                    <a:lnTo>
                      <a:pt x="80" y="108"/>
                    </a:lnTo>
                    <a:lnTo>
                      <a:pt x="66" y="118"/>
                    </a:lnTo>
                    <a:lnTo>
                      <a:pt x="49" y="120"/>
                    </a:lnTo>
                    <a:lnTo>
                      <a:pt x="30" y="118"/>
                    </a:lnTo>
                    <a:lnTo>
                      <a:pt x="15" y="110"/>
                    </a:lnTo>
                    <a:lnTo>
                      <a:pt x="5" y="101"/>
                    </a:lnTo>
                    <a:lnTo>
                      <a:pt x="0" y="87"/>
                    </a:lnTo>
                    <a:close/>
                    <a:moveTo>
                      <a:pt x="211" y="55"/>
                    </a:moveTo>
                    <a:lnTo>
                      <a:pt x="376" y="51"/>
                    </a:lnTo>
                    <a:lnTo>
                      <a:pt x="540" y="47"/>
                    </a:lnTo>
                    <a:lnTo>
                      <a:pt x="557" y="47"/>
                    </a:lnTo>
                    <a:lnTo>
                      <a:pt x="572" y="45"/>
                    </a:lnTo>
                    <a:lnTo>
                      <a:pt x="584" y="44"/>
                    </a:lnTo>
                    <a:lnTo>
                      <a:pt x="591" y="42"/>
                    </a:lnTo>
                    <a:lnTo>
                      <a:pt x="601" y="36"/>
                    </a:lnTo>
                    <a:lnTo>
                      <a:pt x="608" y="28"/>
                    </a:lnTo>
                    <a:lnTo>
                      <a:pt x="610" y="24"/>
                    </a:lnTo>
                    <a:lnTo>
                      <a:pt x="612" y="19"/>
                    </a:lnTo>
                    <a:lnTo>
                      <a:pt x="612" y="9"/>
                    </a:lnTo>
                    <a:lnTo>
                      <a:pt x="612" y="0"/>
                    </a:lnTo>
                    <a:lnTo>
                      <a:pt x="629" y="0"/>
                    </a:lnTo>
                    <a:lnTo>
                      <a:pt x="635" y="74"/>
                    </a:lnTo>
                    <a:lnTo>
                      <a:pt x="643" y="146"/>
                    </a:lnTo>
                    <a:lnTo>
                      <a:pt x="626" y="146"/>
                    </a:lnTo>
                    <a:lnTo>
                      <a:pt x="626" y="137"/>
                    </a:lnTo>
                    <a:lnTo>
                      <a:pt x="624" y="127"/>
                    </a:lnTo>
                    <a:lnTo>
                      <a:pt x="618" y="116"/>
                    </a:lnTo>
                    <a:lnTo>
                      <a:pt x="608" y="110"/>
                    </a:lnTo>
                    <a:lnTo>
                      <a:pt x="597" y="104"/>
                    </a:lnTo>
                    <a:lnTo>
                      <a:pt x="589" y="102"/>
                    </a:lnTo>
                    <a:lnTo>
                      <a:pt x="578" y="102"/>
                    </a:lnTo>
                    <a:lnTo>
                      <a:pt x="563" y="102"/>
                    </a:lnTo>
                    <a:lnTo>
                      <a:pt x="546" y="102"/>
                    </a:lnTo>
                    <a:lnTo>
                      <a:pt x="468" y="104"/>
                    </a:lnTo>
                    <a:lnTo>
                      <a:pt x="388" y="104"/>
                    </a:lnTo>
                    <a:lnTo>
                      <a:pt x="357" y="106"/>
                    </a:lnTo>
                    <a:lnTo>
                      <a:pt x="335" y="108"/>
                    </a:lnTo>
                    <a:lnTo>
                      <a:pt x="316" y="108"/>
                    </a:lnTo>
                    <a:lnTo>
                      <a:pt x="302" y="110"/>
                    </a:lnTo>
                    <a:lnTo>
                      <a:pt x="291" y="114"/>
                    </a:lnTo>
                    <a:lnTo>
                      <a:pt x="283" y="118"/>
                    </a:lnTo>
                    <a:lnTo>
                      <a:pt x="279" y="123"/>
                    </a:lnTo>
                    <a:lnTo>
                      <a:pt x="279" y="131"/>
                    </a:lnTo>
                    <a:lnTo>
                      <a:pt x="281" y="141"/>
                    </a:lnTo>
                    <a:lnTo>
                      <a:pt x="287" y="154"/>
                    </a:lnTo>
                    <a:lnTo>
                      <a:pt x="279" y="156"/>
                    </a:lnTo>
                    <a:lnTo>
                      <a:pt x="272" y="158"/>
                    </a:lnTo>
                    <a:lnTo>
                      <a:pt x="243" y="114"/>
                    </a:lnTo>
                    <a:lnTo>
                      <a:pt x="213" y="68"/>
                    </a:lnTo>
                    <a:lnTo>
                      <a:pt x="213" y="63"/>
                    </a:lnTo>
                    <a:lnTo>
                      <a:pt x="211" y="55"/>
                    </a:lnTo>
                    <a:close/>
                  </a:path>
                </a:pathLst>
              </a:custGeom>
              <a:solidFill>
                <a:srgbClr val="3366FF"/>
              </a:solidFill>
              <a:ln w="9525">
                <a:solidFill>
                  <a:srgbClr val="000000"/>
                </a:solidFill>
                <a:prstDash val="solid"/>
                <a:round/>
                <a:headEnd/>
                <a:tailEnd/>
              </a:ln>
            </p:spPr>
            <p:txBody>
              <a:bodyPr/>
              <a:lstStyle/>
              <a:p>
                <a:endParaRPr lang="en-IN"/>
              </a:p>
            </p:txBody>
          </p:sp>
          <p:sp>
            <p:nvSpPr>
              <p:cNvPr id="4121" name="Freeform 21">
                <a:extLst>
                  <a:ext uri="{FF2B5EF4-FFF2-40B4-BE49-F238E27FC236}">
                    <a16:creationId xmlns:a16="http://schemas.microsoft.com/office/drawing/2014/main" xmlns="" id="{E9744AB0-AF3E-8E4C-04A6-06790DE8152C}"/>
                  </a:ext>
                </a:extLst>
              </p:cNvPr>
              <p:cNvSpPr>
                <a:spLocks/>
              </p:cNvSpPr>
              <p:nvPr/>
            </p:nvSpPr>
            <p:spPr bwMode="auto">
              <a:xfrm>
                <a:off x="1530" y="2031"/>
                <a:ext cx="217" cy="111"/>
              </a:xfrm>
              <a:custGeom>
                <a:avLst/>
                <a:gdLst>
                  <a:gd name="T0" fmla="*/ 13 w 433"/>
                  <a:gd name="T1" fmla="*/ 30 h 222"/>
                  <a:gd name="T2" fmla="*/ 19 w 433"/>
                  <a:gd name="T3" fmla="*/ 27 h 222"/>
                  <a:gd name="T4" fmla="*/ 10 w 433"/>
                  <a:gd name="T5" fmla="*/ 23 h 222"/>
                  <a:gd name="T6" fmla="*/ 4 w 433"/>
                  <a:gd name="T7" fmla="*/ 18 h 222"/>
                  <a:gd name="T8" fmla="*/ 1 w 433"/>
                  <a:gd name="T9" fmla="*/ 13 h 222"/>
                  <a:gd name="T10" fmla="*/ 1 w 433"/>
                  <a:gd name="T11" fmla="*/ 7 h 222"/>
                  <a:gd name="T12" fmla="*/ 4 w 433"/>
                  <a:gd name="T13" fmla="*/ 3 h 222"/>
                  <a:gd name="T14" fmla="*/ 12 w 433"/>
                  <a:gd name="T15" fmla="*/ 0 h 222"/>
                  <a:gd name="T16" fmla="*/ 19 w 433"/>
                  <a:gd name="T17" fmla="*/ 2 h 222"/>
                  <a:gd name="T18" fmla="*/ 22 w 433"/>
                  <a:gd name="T19" fmla="*/ 5 h 222"/>
                  <a:gd name="T20" fmla="*/ 23 w 433"/>
                  <a:gd name="T21" fmla="*/ 8 h 222"/>
                  <a:gd name="T22" fmla="*/ 21 w 433"/>
                  <a:gd name="T23" fmla="*/ 12 h 222"/>
                  <a:gd name="T24" fmla="*/ 18 w 433"/>
                  <a:gd name="T25" fmla="*/ 16 h 222"/>
                  <a:gd name="T26" fmla="*/ 16 w 433"/>
                  <a:gd name="T27" fmla="*/ 19 h 222"/>
                  <a:gd name="T28" fmla="*/ 18 w 433"/>
                  <a:gd name="T29" fmla="*/ 22 h 222"/>
                  <a:gd name="T30" fmla="*/ 25 w 433"/>
                  <a:gd name="T31" fmla="*/ 26 h 222"/>
                  <a:gd name="T32" fmla="*/ 34 w 433"/>
                  <a:gd name="T33" fmla="*/ 29 h 222"/>
                  <a:gd name="T34" fmla="*/ 83 w 433"/>
                  <a:gd name="T35" fmla="*/ 28 h 222"/>
                  <a:gd name="T36" fmla="*/ 93 w 433"/>
                  <a:gd name="T37" fmla="*/ 27 h 222"/>
                  <a:gd name="T38" fmla="*/ 98 w 433"/>
                  <a:gd name="T39" fmla="*/ 25 h 222"/>
                  <a:gd name="T40" fmla="*/ 102 w 433"/>
                  <a:gd name="T41" fmla="*/ 19 h 222"/>
                  <a:gd name="T42" fmla="*/ 104 w 433"/>
                  <a:gd name="T43" fmla="*/ 15 h 222"/>
                  <a:gd name="T44" fmla="*/ 107 w 433"/>
                  <a:gd name="T45" fmla="*/ 34 h 222"/>
                  <a:gd name="T46" fmla="*/ 107 w 433"/>
                  <a:gd name="T47" fmla="*/ 53 h 222"/>
                  <a:gd name="T48" fmla="*/ 104 w 433"/>
                  <a:gd name="T49" fmla="*/ 51 h 222"/>
                  <a:gd name="T50" fmla="*/ 102 w 433"/>
                  <a:gd name="T51" fmla="*/ 45 h 222"/>
                  <a:gd name="T52" fmla="*/ 95 w 433"/>
                  <a:gd name="T53" fmla="*/ 42 h 222"/>
                  <a:gd name="T54" fmla="*/ 92 w 433"/>
                  <a:gd name="T55" fmla="*/ 42 h 222"/>
                  <a:gd name="T56" fmla="*/ 84 w 433"/>
                  <a:gd name="T57" fmla="*/ 42 h 222"/>
                  <a:gd name="T58" fmla="*/ 45 w 433"/>
                  <a:gd name="T59" fmla="*/ 43 h 222"/>
                  <a:gd name="T60" fmla="*/ 31 w 433"/>
                  <a:gd name="T61" fmla="*/ 44 h 222"/>
                  <a:gd name="T62" fmla="*/ 24 w 433"/>
                  <a:gd name="T63" fmla="*/ 44 h 222"/>
                  <a:gd name="T64" fmla="*/ 19 w 433"/>
                  <a:gd name="T65" fmla="*/ 46 h 222"/>
                  <a:gd name="T66" fmla="*/ 18 w 433"/>
                  <a:gd name="T67" fmla="*/ 49 h 222"/>
                  <a:gd name="T68" fmla="*/ 20 w 433"/>
                  <a:gd name="T69" fmla="*/ 56 h 222"/>
                  <a:gd name="T70" fmla="*/ 16 w 433"/>
                  <a:gd name="T71" fmla="*/ 56 h 222"/>
                  <a:gd name="T72" fmla="*/ 2 w 433"/>
                  <a:gd name="T73" fmla="*/ 34 h 222"/>
                  <a:gd name="T74" fmla="*/ 1 w 433"/>
                  <a:gd name="T75" fmla="*/ 30 h 22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33" h="222">
                    <a:moveTo>
                      <a:pt x="4" y="120"/>
                    </a:moveTo>
                    <a:lnTo>
                      <a:pt x="51" y="120"/>
                    </a:lnTo>
                    <a:lnTo>
                      <a:pt x="97" y="118"/>
                    </a:lnTo>
                    <a:lnTo>
                      <a:pt x="74" y="108"/>
                    </a:lnTo>
                    <a:lnTo>
                      <a:pt x="55" y="101"/>
                    </a:lnTo>
                    <a:lnTo>
                      <a:pt x="40" y="91"/>
                    </a:lnTo>
                    <a:lnTo>
                      <a:pt x="26" y="82"/>
                    </a:lnTo>
                    <a:lnTo>
                      <a:pt x="15" y="72"/>
                    </a:lnTo>
                    <a:lnTo>
                      <a:pt x="7" y="63"/>
                    </a:lnTo>
                    <a:lnTo>
                      <a:pt x="2" y="51"/>
                    </a:lnTo>
                    <a:lnTo>
                      <a:pt x="0" y="42"/>
                    </a:lnTo>
                    <a:lnTo>
                      <a:pt x="4" y="26"/>
                    </a:lnTo>
                    <a:lnTo>
                      <a:pt x="7" y="19"/>
                    </a:lnTo>
                    <a:lnTo>
                      <a:pt x="13" y="11"/>
                    </a:lnTo>
                    <a:lnTo>
                      <a:pt x="28" y="4"/>
                    </a:lnTo>
                    <a:lnTo>
                      <a:pt x="47" y="0"/>
                    </a:lnTo>
                    <a:lnTo>
                      <a:pt x="63" y="2"/>
                    </a:lnTo>
                    <a:lnTo>
                      <a:pt x="76" y="7"/>
                    </a:lnTo>
                    <a:lnTo>
                      <a:pt x="82" y="11"/>
                    </a:lnTo>
                    <a:lnTo>
                      <a:pt x="85" y="17"/>
                    </a:lnTo>
                    <a:lnTo>
                      <a:pt x="89" y="26"/>
                    </a:lnTo>
                    <a:lnTo>
                      <a:pt x="89" y="32"/>
                    </a:lnTo>
                    <a:lnTo>
                      <a:pt x="87" y="40"/>
                    </a:lnTo>
                    <a:lnTo>
                      <a:pt x="82" y="46"/>
                    </a:lnTo>
                    <a:lnTo>
                      <a:pt x="76" y="53"/>
                    </a:lnTo>
                    <a:lnTo>
                      <a:pt x="70" y="61"/>
                    </a:lnTo>
                    <a:lnTo>
                      <a:pt x="66" y="66"/>
                    </a:lnTo>
                    <a:lnTo>
                      <a:pt x="63" y="74"/>
                    </a:lnTo>
                    <a:lnTo>
                      <a:pt x="64" y="82"/>
                    </a:lnTo>
                    <a:lnTo>
                      <a:pt x="72" y="87"/>
                    </a:lnTo>
                    <a:lnTo>
                      <a:pt x="84" y="95"/>
                    </a:lnTo>
                    <a:lnTo>
                      <a:pt x="97" y="103"/>
                    </a:lnTo>
                    <a:lnTo>
                      <a:pt x="114" y="108"/>
                    </a:lnTo>
                    <a:lnTo>
                      <a:pt x="135" y="116"/>
                    </a:lnTo>
                    <a:lnTo>
                      <a:pt x="232" y="114"/>
                    </a:lnTo>
                    <a:lnTo>
                      <a:pt x="331" y="112"/>
                    </a:lnTo>
                    <a:lnTo>
                      <a:pt x="359" y="110"/>
                    </a:lnTo>
                    <a:lnTo>
                      <a:pt x="371" y="108"/>
                    </a:lnTo>
                    <a:lnTo>
                      <a:pt x="380" y="104"/>
                    </a:lnTo>
                    <a:lnTo>
                      <a:pt x="392" y="99"/>
                    </a:lnTo>
                    <a:lnTo>
                      <a:pt x="399" y="89"/>
                    </a:lnTo>
                    <a:lnTo>
                      <a:pt x="405" y="76"/>
                    </a:lnTo>
                    <a:lnTo>
                      <a:pt x="407" y="59"/>
                    </a:lnTo>
                    <a:lnTo>
                      <a:pt x="414" y="57"/>
                    </a:lnTo>
                    <a:lnTo>
                      <a:pt x="422" y="57"/>
                    </a:lnTo>
                    <a:lnTo>
                      <a:pt x="428" y="135"/>
                    </a:lnTo>
                    <a:lnTo>
                      <a:pt x="433" y="211"/>
                    </a:lnTo>
                    <a:lnTo>
                      <a:pt x="426" y="211"/>
                    </a:lnTo>
                    <a:lnTo>
                      <a:pt x="416" y="213"/>
                    </a:lnTo>
                    <a:lnTo>
                      <a:pt x="416" y="202"/>
                    </a:lnTo>
                    <a:lnTo>
                      <a:pt x="413" y="192"/>
                    </a:lnTo>
                    <a:lnTo>
                      <a:pt x="405" y="179"/>
                    </a:lnTo>
                    <a:lnTo>
                      <a:pt x="395" y="171"/>
                    </a:lnTo>
                    <a:lnTo>
                      <a:pt x="380" y="167"/>
                    </a:lnTo>
                    <a:lnTo>
                      <a:pt x="375" y="165"/>
                    </a:lnTo>
                    <a:lnTo>
                      <a:pt x="367" y="165"/>
                    </a:lnTo>
                    <a:lnTo>
                      <a:pt x="354" y="165"/>
                    </a:lnTo>
                    <a:lnTo>
                      <a:pt x="336" y="167"/>
                    </a:lnTo>
                    <a:lnTo>
                      <a:pt x="258" y="169"/>
                    </a:lnTo>
                    <a:lnTo>
                      <a:pt x="179" y="169"/>
                    </a:lnTo>
                    <a:lnTo>
                      <a:pt x="146" y="171"/>
                    </a:lnTo>
                    <a:lnTo>
                      <a:pt x="122" y="173"/>
                    </a:lnTo>
                    <a:lnTo>
                      <a:pt x="104" y="173"/>
                    </a:lnTo>
                    <a:lnTo>
                      <a:pt x="93" y="175"/>
                    </a:lnTo>
                    <a:lnTo>
                      <a:pt x="82" y="177"/>
                    </a:lnTo>
                    <a:lnTo>
                      <a:pt x="74" y="182"/>
                    </a:lnTo>
                    <a:lnTo>
                      <a:pt x="70" y="190"/>
                    </a:lnTo>
                    <a:lnTo>
                      <a:pt x="70" y="196"/>
                    </a:lnTo>
                    <a:lnTo>
                      <a:pt x="72" y="207"/>
                    </a:lnTo>
                    <a:lnTo>
                      <a:pt x="78" y="221"/>
                    </a:lnTo>
                    <a:lnTo>
                      <a:pt x="70" y="222"/>
                    </a:lnTo>
                    <a:lnTo>
                      <a:pt x="63" y="222"/>
                    </a:lnTo>
                    <a:lnTo>
                      <a:pt x="34" y="179"/>
                    </a:lnTo>
                    <a:lnTo>
                      <a:pt x="6" y="133"/>
                    </a:lnTo>
                    <a:lnTo>
                      <a:pt x="6" y="127"/>
                    </a:lnTo>
                    <a:lnTo>
                      <a:pt x="4" y="120"/>
                    </a:lnTo>
                    <a:close/>
                  </a:path>
                </a:pathLst>
              </a:custGeom>
              <a:solidFill>
                <a:srgbClr val="3366FF"/>
              </a:solidFill>
              <a:ln w="9525">
                <a:solidFill>
                  <a:srgbClr val="000000"/>
                </a:solidFill>
                <a:prstDash val="solid"/>
                <a:round/>
                <a:headEnd/>
                <a:tailEnd/>
              </a:ln>
            </p:spPr>
            <p:txBody>
              <a:bodyPr/>
              <a:lstStyle/>
              <a:p>
                <a:endParaRPr lang="en-IN"/>
              </a:p>
            </p:txBody>
          </p:sp>
          <p:sp>
            <p:nvSpPr>
              <p:cNvPr id="4122" name="Freeform 22">
                <a:extLst>
                  <a:ext uri="{FF2B5EF4-FFF2-40B4-BE49-F238E27FC236}">
                    <a16:creationId xmlns:a16="http://schemas.microsoft.com/office/drawing/2014/main" xmlns="" id="{1B2124C9-9813-0CF4-43DD-A56961AE4B87}"/>
                  </a:ext>
                </a:extLst>
              </p:cNvPr>
              <p:cNvSpPr>
                <a:spLocks noEditPoints="1"/>
              </p:cNvSpPr>
              <p:nvPr/>
            </p:nvSpPr>
            <p:spPr bwMode="auto">
              <a:xfrm>
                <a:off x="1525" y="1879"/>
                <a:ext cx="217" cy="141"/>
              </a:xfrm>
              <a:custGeom>
                <a:avLst/>
                <a:gdLst>
                  <a:gd name="T0" fmla="*/ 1 w 434"/>
                  <a:gd name="T1" fmla="*/ 29 h 282"/>
                  <a:gd name="T2" fmla="*/ 7 w 434"/>
                  <a:gd name="T3" fmla="*/ 17 h 282"/>
                  <a:gd name="T4" fmla="*/ 12 w 434"/>
                  <a:gd name="T5" fmla="*/ 12 h 282"/>
                  <a:gd name="T6" fmla="*/ 18 w 434"/>
                  <a:gd name="T7" fmla="*/ 9 h 282"/>
                  <a:gd name="T8" fmla="*/ 33 w 434"/>
                  <a:gd name="T9" fmla="*/ 3 h 282"/>
                  <a:gd name="T10" fmla="*/ 52 w 434"/>
                  <a:gd name="T11" fmla="*/ 0 h 282"/>
                  <a:gd name="T12" fmla="*/ 66 w 434"/>
                  <a:gd name="T13" fmla="*/ 1 h 282"/>
                  <a:gd name="T14" fmla="*/ 80 w 434"/>
                  <a:gd name="T15" fmla="*/ 4 h 282"/>
                  <a:gd name="T16" fmla="*/ 92 w 434"/>
                  <a:gd name="T17" fmla="*/ 9 h 282"/>
                  <a:gd name="T18" fmla="*/ 95 w 434"/>
                  <a:gd name="T19" fmla="*/ 10 h 282"/>
                  <a:gd name="T20" fmla="*/ 101 w 434"/>
                  <a:gd name="T21" fmla="*/ 16 h 282"/>
                  <a:gd name="T22" fmla="*/ 106 w 434"/>
                  <a:gd name="T23" fmla="*/ 24 h 282"/>
                  <a:gd name="T24" fmla="*/ 109 w 434"/>
                  <a:gd name="T25" fmla="*/ 34 h 282"/>
                  <a:gd name="T26" fmla="*/ 108 w 434"/>
                  <a:gd name="T27" fmla="*/ 42 h 282"/>
                  <a:gd name="T28" fmla="*/ 105 w 434"/>
                  <a:gd name="T29" fmla="*/ 49 h 282"/>
                  <a:gd name="T30" fmla="*/ 99 w 434"/>
                  <a:gd name="T31" fmla="*/ 56 h 282"/>
                  <a:gd name="T32" fmla="*/ 92 w 434"/>
                  <a:gd name="T33" fmla="*/ 62 h 282"/>
                  <a:gd name="T34" fmla="*/ 75 w 434"/>
                  <a:gd name="T35" fmla="*/ 69 h 282"/>
                  <a:gd name="T36" fmla="*/ 57 w 434"/>
                  <a:gd name="T37" fmla="*/ 71 h 282"/>
                  <a:gd name="T38" fmla="*/ 43 w 434"/>
                  <a:gd name="T39" fmla="*/ 70 h 282"/>
                  <a:gd name="T40" fmla="*/ 29 w 434"/>
                  <a:gd name="T41" fmla="*/ 66 h 282"/>
                  <a:gd name="T42" fmla="*/ 17 w 434"/>
                  <a:gd name="T43" fmla="*/ 61 h 282"/>
                  <a:gd name="T44" fmla="*/ 8 w 434"/>
                  <a:gd name="T45" fmla="*/ 53 h 282"/>
                  <a:gd name="T46" fmla="*/ 2 w 434"/>
                  <a:gd name="T47" fmla="*/ 45 h 282"/>
                  <a:gd name="T48" fmla="*/ 0 w 434"/>
                  <a:gd name="T49" fmla="*/ 36 h 282"/>
                  <a:gd name="T50" fmla="*/ 8 w 434"/>
                  <a:gd name="T51" fmla="*/ 38 h 282"/>
                  <a:gd name="T52" fmla="*/ 10 w 434"/>
                  <a:gd name="T53" fmla="*/ 45 h 282"/>
                  <a:gd name="T54" fmla="*/ 14 w 434"/>
                  <a:gd name="T55" fmla="*/ 49 h 282"/>
                  <a:gd name="T56" fmla="*/ 20 w 434"/>
                  <a:gd name="T57" fmla="*/ 52 h 282"/>
                  <a:gd name="T58" fmla="*/ 29 w 434"/>
                  <a:gd name="T59" fmla="*/ 55 h 282"/>
                  <a:gd name="T60" fmla="*/ 40 w 434"/>
                  <a:gd name="T61" fmla="*/ 56 h 282"/>
                  <a:gd name="T62" fmla="*/ 58 w 434"/>
                  <a:gd name="T63" fmla="*/ 55 h 282"/>
                  <a:gd name="T64" fmla="*/ 77 w 434"/>
                  <a:gd name="T65" fmla="*/ 51 h 282"/>
                  <a:gd name="T66" fmla="*/ 89 w 434"/>
                  <a:gd name="T67" fmla="*/ 47 h 282"/>
                  <a:gd name="T68" fmla="*/ 95 w 434"/>
                  <a:gd name="T69" fmla="*/ 43 h 282"/>
                  <a:gd name="T70" fmla="*/ 99 w 434"/>
                  <a:gd name="T71" fmla="*/ 39 h 282"/>
                  <a:gd name="T72" fmla="*/ 101 w 434"/>
                  <a:gd name="T73" fmla="*/ 34 h 282"/>
                  <a:gd name="T74" fmla="*/ 100 w 434"/>
                  <a:gd name="T75" fmla="*/ 27 h 282"/>
                  <a:gd name="T76" fmla="*/ 96 w 434"/>
                  <a:gd name="T77" fmla="*/ 20 h 282"/>
                  <a:gd name="T78" fmla="*/ 86 w 434"/>
                  <a:gd name="T79" fmla="*/ 16 h 282"/>
                  <a:gd name="T80" fmla="*/ 71 w 434"/>
                  <a:gd name="T81" fmla="*/ 14 h 282"/>
                  <a:gd name="T82" fmla="*/ 48 w 434"/>
                  <a:gd name="T83" fmla="*/ 15 h 282"/>
                  <a:gd name="T84" fmla="*/ 26 w 434"/>
                  <a:gd name="T85" fmla="*/ 19 h 282"/>
                  <a:gd name="T86" fmla="*/ 13 w 434"/>
                  <a:gd name="T87" fmla="*/ 26 h 282"/>
                  <a:gd name="T88" fmla="*/ 8 w 434"/>
                  <a:gd name="T89" fmla="*/ 34 h 282"/>
                  <a:gd name="T90" fmla="*/ 8 w 434"/>
                  <a:gd name="T91" fmla="*/ 38 h 28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34" h="282">
                    <a:moveTo>
                      <a:pt x="0" y="141"/>
                    </a:moveTo>
                    <a:lnTo>
                      <a:pt x="2" y="115"/>
                    </a:lnTo>
                    <a:lnTo>
                      <a:pt x="12" y="90"/>
                    </a:lnTo>
                    <a:lnTo>
                      <a:pt x="27" y="67"/>
                    </a:lnTo>
                    <a:lnTo>
                      <a:pt x="48" y="48"/>
                    </a:lnTo>
                    <a:lnTo>
                      <a:pt x="57" y="40"/>
                    </a:lnTo>
                    <a:lnTo>
                      <a:pt x="69" y="35"/>
                    </a:lnTo>
                    <a:lnTo>
                      <a:pt x="99" y="20"/>
                    </a:lnTo>
                    <a:lnTo>
                      <a:pt x="132" y="10"/>
                    </a:lnTo>
                    <a:lnTo>
                      <a:pt x="168" y="2"/>
                    </a:lnTo>
                    <a:lnTo>
                      <a:pt x="206" y="0"/>
                    </a:lnTo>
                    <a:lnTo>
                      <a:pt x="232" y="0"/>
                    </a:lnTo>
                    <a:lnTo>
                      <a:pt x="261" y="2"/>
                    </a:lnTo>
                    <a:lnTo>
                      <a:pt x="289" y="8"/>
                    </a:lnTo>
                    <a:lnTo>
                      <a:pt x="318" y="16"/>
                    </a:lnTo>
                    <a:lnTo>
                      <a:pt x="350" y="27"/>
                    </a:lnTo>
                    <a:lnTo>
                      <a:pt x="366" y="33"/>
                    </a:lnTo>
                    <a:lnTo>
                      <a:pt x="377" y="40"/>
                    </a:lnTo>
                    <a:lnTo>
                      <a:pt x="390" y="50"/>
                    </a:lnTo>
                    <a:lnTo>
                      <a:pt x="404" y="61"/>
                    </a:lnTo>
                    <a:lnTo>
                      <a:pt x="417" y="78"/>
                    </a:lnTo>
                    <a:lnTo>
                      <a:pt x="424" y="96"/>
                    </a:lnTo>
                    <a:lnTo>
                      <a:pt x="432" y="115"/>
                    </a:lnTo>
                    <a:lnTo>
                      <a:pt x="434" y="136"/>
                    </a:lnTo>
                    <a:lnTo>
                      <a:pt x="434" y="153"/>
                    </a:lnTo>
                    <a:lnTo>
                      <a:pt x="430" y="168"/>
                    </a:lnTo>
                    <a:lnTo>
                      <a:pt x="426" y="183"/>
                    </a:lnTo>
                    <a:lnTo>
                      <a:pt x="419" y="196"/>
                    </a:lnTo>
                    <a:lnTo>
                      <a:pt x="409" y="210"/>
                    </a:lnTo>
                    <a:lnTo>
                      <a:pt x="396" y="223"/>
                    </a:lnTo>
                    <a:lnTo>
                      <a:pt x="383" y="234"/>
                    </a:lnTo>
                    <a:lnTo>
                      <a:pt x="366" y="246"/>
                    </a:lnTo>
                    <a:lnTo>
                      <a:pt x="333" y="261"/>
                    </a:lnTo>
                    <a:lnTo>
                      <a:pt x="299" y="273"/>
                    </a:lnTo>
                    <a:lnTo>
                      <a:pt x="265" y="278"/>
                    </a:lnTo>
                    <a:lnTo>
                      <a:pt x="227" y="282"/>
                    </a:lnTo>
                    <a:lnTo>
                      <a:pt x="198" y="280"/>
                    </a:lnTo>
                    <a:lnTo>
                      <a:pt x="171" y="278"/>
                    </a:lnTo>
                    <a:lnTo>
                      <a:pt x="143" y="273"/>
                    </a:lnTo>
                    <a:lnTo>
                      <a:pt x="114" y="263"/>
                    </a:lnTo>
                    <a:lnTo>
                      <a:pt x="88" y="254"/>
                    </a:lnTo>
                    <a:lnTo>
                      <a:pt x="65" y="242"/>
                    </a:lnTo>
                    <a:lnTo>
                      <a:pt x="44" y="227"/>
                    </a:lnTo>
                    <a:lnTo>
                      <a:pt x="29" y="212"/>
                    </a:lnTo>
                    <a:lnTo>
                      <a:pt x="17" y="195"/>
                    </a:lnTo>
                    <a:lnTo>
                      <a:pt x="8" y="177"/>
                    </a:lnTo>
                    <a:lnTo>
                      <a:pt x="2" y="160"/>
                    </a:lnTo>
                    <a:lnTo>
                      <a:pt x="0" y="141"/>
                    </a:lnTo>
                    <a:close/>
                    <a:moveTo>
                      <a:pt x="29" y="151"/>
                    </a:moveTo>
                    <a:lnTo>
                      <a:pt x="35" y="168"/>
                    </a:lnTo>
                    <a:lnTo>
                      <a:pt x="38" y="177"/>
                    </a:lnTo>
                    <a:lnTo>
                      <a:pt x="44" y="185"/>
                    </a:lnTo>
                    <a:lnTo>
                      <a:pt x="54" y="193"/>
                    </a:lnTo>
                    <a:lnTo>
                      <a:pt x="65" y="200"/>
                    </a:lnTo>
                    <a:lnTo>
                      <a:pt x="78" y="208"/>
                    </a:lnTo>
                    <a:lnTo>
                      <a:pt x="95" y="214"/>
                    </a:lnTo>
                    <a:lnTo>
                      <a:pt x="114" y="217"/>
                    </a:lnTo>
                    <a:lnTo>
                      <a:pt x="135" y="221"/>
                    </a:lnTo>
                    <a:lnTo>
                      <a:pt x="160" y="221"/>
                    </a:lnTo>
                    <a:lnTo>
                      <a:pt x="187" y="221"/>
                    </a:lnTo>
                    <a:lnTo>
                      <a:pt x="230" y="219"/>
                    </a:lnTo>
                    <a:lnTo>
                      <a:pt x="268" y="214"/>
                    </a:lnTo>
                    <a:lnTo>
                      <a:pt x="307" y="204"/>
                    </a:lnTo>
                    <a:lnTo>
                      <a:pt x="339" y="193"/>
                    </a:lnTo>
                    <a:lnTo>
                      <a:pt x="354" y="185"/>
                    </a:lnTo>
                    <a:lnTo>
                      <a:pt x="367" y="177"/>
                    </a:lnTo>
                    <a:lnTo>
                      <a:pt x="379" y="170"/>
                    </a:lnTo>
                    <a:lnTo>
                      <a:pt x="388" y="160"/>
                    </a:lnTo>
                    <a:lnTo>
                      <a:pt x="394" y="153"/>
                    </a:lnTo>
                    <a:lnTo>
                      <a:pt x="400" y="143"/>
                    </a:lnTo>
                    <a:lnTo>
                      <a:pt x="402" y="134"/>
                    </a:lnTo>
                    <a:lnTo>
                      <a:pt x="402" y="122"/>
                    </a:lnTo>
                    <a:lnTo>
                      <a:pt x="400" y="107"/>
                    </a:lnTo>
                    <a:lnTo>
                      <a:pt x="392" y="92"/>
                    </a:lnTo>
                    <a:lnTo>
                      <a:pt x="381" y="80"/>
                    </a:lnTo>
                    <a:lnTo>
                      <a:pt x="364" y="69"/>
                    </a:lnTo>
                    <a:lnTo>
                      <a:pt x="343" y="61"/>
                    </a:lnTo>
                    <a:lnTo>
                      <a:pt x="316" y="56"/>
                    </a:lnTo>
                    <a:lnTo>
                      <a:pt x="282" y="54"/>
                    </a:lnTo>
                    <a:lnTo>
                      <a:pt x="242" y="54"/>
                    </a:lnTo>
                    <a:lnTo>
                      <a:pt x="189" y="58"/>
                    </a:lnTo>
                    <a:lnTo>
                      <a:pt x="143" y="63"/>
                    </a:lnTo>
                    <a:lnTo>
                      <a:pt x="103" y="75"/>
                    </a:lnTo>
                    <a:lnTo>
                      <a:pt x="71" y="90"/>
                    </a:lnTo>
                    <a:lnTo>
                      <a:pt x="52" y="103"/>
                    </a:lnTo>
                    <a:lnTo>
                      <a:pt x="38" y="118"/>
                    </a:lnTo>
                    <a:lnTo>
                      <a:pt x="31" y="134"/>
                    </a:lnTo>
                    <a:lnTo>
                      <a:pt x="29" y="151"/>
                    </a:lnTo>
                    <a:close/>
                  </a:path>
                </a:pathLst>
              </a:custGeom>
              <a:solidFill>
                <a:srgbClr val="3366FF"/>
              </a:solidFill>
              <a:ln w="9525">
                <a:solidFill>
                  <a:srgbClr val="000000"/>
                </a:solidFill>
                <a:prstDash val="solid"/>
                <a:round/>
                <a:headEnd/>
                <a:tailEnd/>
              </a:ln>
            </p:spPr>
            <p:txBody>
              <a:bodyPr/>
              <a:lstStyle/>
              <a:p>
                <a:endParaRPr lang="en-IN"/>
              </a:p>
            </p:txBody>
          </p:sp>
          <p:sp>
            <p:nvSpPr>
              <p:cNvPr id="4123" name="Freeform 23">
                <a:extLst>
                  <a:ext uri="{FF2B5EF4-FFF2-40B4-BE49-F238E27FC236}">
                    <a16:creationId xmlns:a16="http://schemas.microsoft.com/office/drawing/2014/main" xmlns="" id="{8248C333-FFC2-B61E-FF4A-5117EDA112F9}"/>
                  </a:ext>
                </a:extLst>
              </p:cNvPr>
              <p:cNvSpPr>
                <a:spLocks/>
              </p:cNvSpPr>
              <p:nvPr/>
            </p:nvSpPr>
            <p:spPr bwMode="auto">
              <a:xfrm>
                <a:off x="1523" y="1697"/>
                <a:ext cx="211" cy="169"/>
              </a:xfrm>
              <a:custGeom>
                <a:avLst/>
                <a:gdLst>
                  <a:gd name="T0" fmla="*/ 16 w 423"/>
                  <a:gd name="T1" fmla="*/ 55 h 339"/>
                  <a:gd name="T2" fmla="*/ 8 w 423"/>
                  <a:gd name="T3" fmla="*/ 49 h 339"/>
                  <a:gd name="T4" fmla="*/ 3 w 423"/>
                  <a:gd name="T5" fmla="*/ 42 h 339"/>
                  <a:gd name="T6" fmla="*/ 0 w 423"/>
                  <a:gd name="T7" fmla="*/ 36 h 339"/>
                  <a:gd name="T8" fmla="*/ 0 w 423"/>
                  <a:gd name="T9" fmla="*/ 30 h 339"/>
                  <a:gd name="T10" fmla="*/ 2 w 423"/>
                  <a:gd name="T11" fmla="*/ 25 h 339"/>
                  <a:gd name="T12" fmla="*/ 6 w 423"/>
                  <a:gd name="T13" fmla="*/ 20 h 339"/>
                  <a:gd name="T14" fmla="*/ 14 w 423"/>
                  <a:gd name="T15" fmla="*/ 16 h 339"/>
                  <a:gd name="T16" fmla="*/ 22 w 423"/>
                  <a:gd name="T17" fmla="*/ 14 h 339"/>
                  <a:gd name="T18" fmla="*/ 32 w 423"/>
                  <a:gd name="T19" fmla="*/ 13 h 339"/>
                  <a:gd name="T20" fmla="*/ 60 w 423"/>
                  <a:gd name="T21" fmla="*/ 12 h 339"/>
                  <a:gd name="T22" fmla="*/ 87 w 423"/>
                  <a:gd name="T23" fmla="*/ 12 h 339"/>
                  <a:gd name="T24" fmla="*/ 93 w 423"/>
                  <a:gd name="T25" fmla="*/ 11 h 339"/>
                  <a:gd name="T26" fmla="*/ 98 w 423"/>
                  <a:gd name="T27" fmla="*/ 9 h 339"/>
                  <a:gd name="T28" fmla="*/ 101 w 423"/>
                  <a:gd name="T29" fmla="*/ 4 h 339"/>
                  <a:gd name="T30" fmla="*/ 102 w 423"/>
                  <a:gd name="T31" fmla="*/ 0 h 339"/>
                  <a:gd name="T32" fmla="*/ 105 w 423"/>
                  <a:gd name="T33" fmla="*/ 0 h 339"/>
                  <a:gd name="T34" fmla="*/ 105 w 423"/>
                  <a:gd name="T35" fmla="*/ 37 h 339"/>
                  <a:gd name="T36" fmla="*/ 101 w 423"/>
                  <a:gd name="T37" fmla="*/ 37 h 339"/>
                  <a:gd name="T38" fmla="*/ 101 w 423"/>
                  <a:gd name="T39" fmla="*/ 35 h 339"/>
                  <a:gd name="T40" fmla="*/ 101 w 423"/>
                  <a:gd name="T41" fmla="*/ 31 h 339"/>
                  <a:gd name="T42" fmla="*/ 96 w 423"/>
                  <a:gd name="T43" fmla="*/ 26 h 339"/>
                  <a:gd name="T44" fmla="*/ 91 w 423"/>
                  <a:gd name="T45" fmla="*/ 25 h 339"/>
                  <a:gd name="T46" fmla="*/ 86 w 423"/>
                  <a:gd name="T47" fmla="*/ 25 h 339"/>
                  <a:gd name="T48" fmla="*/ 61 w 423"/>
                  <a:gd name="T49" fmla="*/ 26 h 339"/>
                  <a:gd name="T50" fmla="*/ 34 w 423"/>
                  <a:gd name="T51" fmla="*/ 26 h 339"/>
                  <a:gd name="T52" fmla="*/ 24 w 423"/>
                  <a:gd name="T53" fmla="*/ 28 h 339"/>
                  <a:gd name="T54" fmla="*/ 17 w 423"/>
                  <a:gd name="T55" fmla="*/ 31 h 339"/>
                  <a:gd name="T56" fmla="*/ 14 w 423"/>
                  <a:gd name="T57" fmla="*/ 36 h 339"/>
                  <a:gd name="T58" fmla="*/ 14 w 423"/>
                  <a:gd name="T59" fmla="*/ 43 h 339"/>
                  <a:gd name="T60" fmla="*/ 19 w 423"/>
                  <a:gd name="T61" fmla="*/ 51 h 339"/>
                  <a:gd name="T62" fmla="*/ 24 w 423"/>
                  <a:gd name="T63" fmla="*/ 55 h 339"/>
                  <a:gd name="T64" fmla="*/ 55 w 423"/>
                  <a:gd name="T65" fmla="*/ 57 h 339"/>
                  <a:gd name="T66" fmla="*/ 86 w 423"/>
                  <a:gd name="T67" fmla="*/ 56 h 339"/>
                  <a:gd name="T68" fmla="*/ 93 w 423"/>
                  <a:gd name="T69" fmla="*/ 56 h 339"/>
                  <a:gd name="T70" fmla="*/ 97 w 423"/>
                  <a:gd name="T71" fmla="*/ 54 h 339"/>
                  <a:gd name="T72" fmla="*/ 100 w 423"/>
                  <a:gd name="T73" fmla="*/ 51 h 339"/>
                  <a:gd name="T74" fmla="*/ 101 w 423"/>
                  <a:gd name="T75" fmla="*/ 44 h 339"/>
                  <a:gd name="T76" fmla="*/ 105 w 423"/>
                  <a:gd name="T77" fmla="*/ 81 h 339"/>
                  <a:gd name="T78" fmla="*/ 101 w 423"/>
                  <a:gd name="T79" fmla="*/ 81 h 339"/>
                  <a:gd name="T80" fmla="*/ 101 w 423"/>
                  <a:gd name="T81" fmla="*/ 77 h 339"/>
                  <a:gd name="T82" fmla="*/ 99 w 423"/>
                  <a:gd name="T83" fmla="*/ 73 h 339"/>
                  <a:gd name="T84" fmla="*/ 94 w 423"/>
                  <a:gd name="T85" fmla="*/ 71 h 339"/>
                  <a:gd name="T86" fmla="*/ 87 w 423"/>
                  <a:gd name="T87" fmla="*/ 70 h 339"/>
                  <a:gd name="T88" fmla="*/ 63 w 423"/>
                  <a:gd name="T89" fmla="*/ 71 h 339"/>
                  <a:gd name="T90" fmla="*/ 35 w 423"/>
                  <a:gd name="T91" fmla="*/ 71 h 339"/>
                  <a:gd name="T92" fmla="*/ 24 w 423"/>
                  <a:gd name="T93" fmla="*/ 71 h 339"/>
                  <a:gd name="T94" fmla="*/ 18 w 423"/>
                  <a:gd name="T95" fmla="*/ 73 h 339"/>
                  <a:gd name="T96" fmla="*/ 15 w 423"/>
                  <a:gd name="T97" fmla="*/ 76 h 339"/>
                  <a:gd name="T98" fmla="*/ 15 w 423"/>
                  <a:gd name="T99" fmla="*/ 80 h 339"/>
                  <a:gd name="T100" fmla="*/ 12 w 423"/>
                  <a:gd name="T101" fmla="*/ 84 h 339"/>
                  <a:gd name="T102" fmla="*/ 0 w 423"/>
                  <a:gd name="T103" fmla="*/ 62 h 339"/>
                  <a:gd name="T104" fmla="*/ 0 w 423"/>
                  <a:gd name="T105" fmla="*/ 58 h 339"/>
                  <a:gd name="T106" fmla="*/ 21 w 423"/>
                  <a:gd name="T107" fmla="*/ 58 h 33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23" h="339">
                    <a:moveTo>
                      <a:pt x="86" y="232"/>
                    </a:moveTo>
                    <a:lnTo>
                      <a:pt x="65" y="221"/>
                    </a:lnTo>
                    <a:lnTo>
                      <a:pt x="48" y="208"/>
                    </a:lnTo>
                    <a:lnTo>
                      <a:pt x="35" y="196"/>
                    </a:lnTo>
                    <a:lnTo>
                      <a:pt x="21" y="183"/>
                    </a:lnTo>
                    <a:lnTo>
                      <a:pt x="12" y="169"/>
                    </a:lnTo>
                    <a:lnTo>
                      <a:pt x="6" y="158"/>
                    </a:lnTo>
                    <a:lnTo>
                      <a:pt x="2" y="145"/>
                    </a:lnTo>
                    <a:lnTo>
                      <a:pt x="0" y="133"/>
                    </a:lnTo>
                    <a:lnTo>
                      <a:pt x="2" y="122"/>
                    </a:lnTo>
                    <a:lnTo>
                      <a:pt x="4" y="110"/>
                    </a:lnTo>
                    <a:lnTo>
                      <a:pt x="10" y="101"/>
                    </a:lnTo>
                    <a:lnTo>
                      <a:pt x="18" y="91"/>
                    </a:lnTo>
                    <a:lnTo>
                      <a:pt x="27" y="82"/>
                    </a:lnTo>
                    <a:lnTo>
                      <a:pt x="40" y="74"/>
                    </a:lnTo>
                    <a:lnTo>
                      <a:pt x="56" y="67"/>
                    </a:lnTo>
                    <a:lnTo>
                      <a:pt x="73" y="61"/>
                    </a:lnTo>
                    <a:lnTo>
                      <a:pt x="88" y="57"/>
                    </a:lnTo>
                    <a:lnTo>
                      <a:pt x="107" y="55"/>
                    </a:lnTo>
                    <a:lnTo>
                      <a:pt x="130" y="53"/>
                    </a:lnTo>
                    <a:lnTo>
                      <a:pt x="155" y="52"/>
                    </a:lnTo>
                    <a:lnTo>
                      <a:pt x="242" y="50"/>
                    </a:lnTo>
                    <a:lnTo>
                      <a:pt x="330" y="48"/>
                    </a:lnTo>
                    <a:lnTo>
                      <a:pt x="349" y="48"/>
                    </a:lnTo>
                    <a:lnTo>
                      <a:pt x="362" y="46"/>
                    </a:lnTo>
                    <a:lnTo>
                      <a:pt x="375" y="44"/>
                    </a:lnTo>
                    <a:lnTo>
                      <a:pt x="383" y="42"/>
                    </a:lnTo>
                    <a:lnTo>
                      <a:pt x="392" y="38"/>
                    </a:lnTo>
                    <a:lnTo>
                      <a:pt x="400" y="31"/>
                    </a:lnTo>
                    <a:lnTo>
                      <a:pt x="404" y="19"/>
                    </a:lnTo>
                    <a:lnTo>
                      <a:pt x="406" y="10"/>
                    </a:lnTo>
                    <a:lnTo>
                      <a:pt x="408" y="0"/>
                    </a:lnTo>
                    <a:lnTo>
                      <a:pt x="415" y="0"/>
                    </a:lnTo>
                    <a:lnTo>
                      <a:pt x="423" y="0"/>
                    </a:lnTo>
                    <a:lnTo>
                      <a:pt x="421" y="74"/>
                    </a:lnTo>
                    <a:lnTo>
                      <a:pt x="421" y="149"/>
                    </a:lnTo>
                    <a:lnTo>
                      <a:pt x="413" y="149"/>
                    </a:lnTo>
                    <a:lnTo>
                      <a:pt x="404" y="150"/>
                    </a:lnTo>
                    <a:lnTo>
                      <a:pt x="404" y="147"/>
                    </a:lnTo>
                    <a:lnTo>
                      <a:pt x="404" y="143"/>
                    </a:lnTo>
                    <a:lnTo>
                      <a:pt x="404" y="133"/>
                    </a:lnTo>
                    <a:lnTo>
                      <a:pt x="404" y="126"/>
                    </a:lnTo>
                    <a:lnTo>
                      <a:pt x="396" y="114"/>
                    </a:lnTo>
                    <a:lnTo>
                      <a:pt x="385" y="107"/>
                    </a:lnTo>
                    <a:lnTo>
                      <a:pt x="371" y="103"/>
                    </a:lnTo>
                    <a:lnTo>
                      <a:pt x="366" y="101"/>
                    </a:lnTo>
                    <a:lnTo>
                      <a:pt x="356" y="101"/>
                    </a:lnTo>
                    <a:lnTo>
                      <a:pt x="345" y="101"/>
                    </a:lnTo>
                    <a:lnTo>
                      <a:pt x="330" y="103"/>
                    </a:lnTo>
                    <a:lnTo>
                      <a:pt x="246" y="105"/>
                    </a:lnTo>
                    <a:lnTo>
                      <a:pt x="162" y="107"/>
                    </a:lnTo>
                    <a:lnTo>
                      <a:pt x="136" y="107"/>
                    </a:lnTo>
                    <a:lnTo>
                      <a:pt x="113" y="110"/>
                    </a:lnTo>
                    <a:lnTo>
                      <a:pt x="96" y="112"/>
                    </a:lnTo>
                    <a:lnTo>
                      <a:pt x="80" y="118"/>
                    </a:lnTo>
                    <a:lnTo>
                      <a:pt x="69" y="126"/>
                    </a:lnTo>
                    <a:lnTo>
                      <a:pt x="61" y="133"/>
                    </a:lnTo>
                    <a:lnTo>
                      <a:pt x="56" y="145"/>
                    </a:lnTo>
                    <a:lnTo>
                      <a:pt x="54" y="156"/>
                    </a:lnTo>
                    <a:lnTo>
                      <a:pt x="58" y="175"/>
                    </a:lnTo>
                    <a:lnTo>
                      <a:pt x="69" y="194"/>
                    </a:lnTo>
                    <a:lnTo>
                      <a:pt x="77" y="204"/>
                    </a:lnTo>
                    <a:lnTo>
                      <a:pt x="86" y="213"/>
                    </a:lnTo>
                    <a:lnTo>
                      <a:pt x="99" y="223"/>
                    </a:lnTo>
                    <a:lnTo>
                      <a:pt x="113" y="232"/>
                    </a:lnTo>
                    <a:lnTo>
                      <a:pt x="221" y="230"/>
                    </a:lnTo>
                    <a:lnTo>
                      <a:pt x="328" y="228"/>
                    </a:lnTo>
                    <a:lnTo>
                      <a:pt x="347" y="227"/>
                    </a:lnTo>
                    <a:lnTo>
                      <a:pt x="362" y="227"/>
                    </a:lnTo>
                    <a:lnTo>
                      <a:pt x="373" y="225"/>
                    </a:lnTo>
                    <a:lnTo>
                      <a:pt x="379" y="223"/>
                    </a:lnTo>
                    <a:lnTo>
                      <a:pt x="390" y="217"/>
                    </a:lnTo>
                    <a:lnTo>
                      <a:pt x="398" y="209"/>
                    </a:lnTo>
                    <a:lnTo>
                      <a:pt x="400" y="204"/>
                    </a:lnTo>
                    <a:lnTo>
                      <a:pt x="402" y="196"/>
                    </a:lnTo>
                    <a:lnTo>
                      <a:pt x="404" y="177"/>
                    </a:lnTo>
                    <a:lnTo>
                      <a:pt x="421" y="177"/>
                    </a:lnTo>
                    <a:lnTo>
                      <a:pt x="421" y="325"/>
                    </a:lnTo>
                    <a:lnTo>
                      <a:pt x="413" y="325"/>
                    </a:lnTo>
                    <a:lnTo>
                      <a:pt x="406" y="325"/>
                    </a:lnTo>
                    <a:lnTo>
                      <a:pt x="406" y="320"/>
                    </a:lnTo>
                    <a:lnTo>
                      <a:pt x="404" y="308"/>
                    </a:lnTo>
                    <a:lnTo>
                      <a:pt x="402" y="301"/>
                    </a:lnTo>
                    <a:lnTo>
                      <a:pt x="396" y="293"/>
                    </a:lnTo>
                    <a:lnTo>
                      <a:pt x="389" y="289"/>
                    </a:lnTo>
                    <a:lnTo>
                      <a:pt x="379" y="286"/>
                    </a:lnTo>
                    <a:lnTo>
                      <a:pt x="366" y="284"/>
                    </a:lnTo>
                    <a:lnTo>
                      <a:pt x="349" y="282"/>
                    </a:lnTo>
                    <a:lnTo>
                      <a:pt x="328" y="282"/>
                    </a:lnTo>
                    <a:lnTo>
                      <a:pt x="253" y="284"/>
                    </a:lnTo>
                    <a:lnTo>
                      <a:pt x="177" y="286"/>
                    </a:lnTo>
                    <a:lnTo>
                      <a:pt x="143" y="286"/>
                    </a:lnTo>
                    <a:lnTo>
                      <a:pt x="118" y="287"/>
                    </a:lnTo>
                    <a:lnTo>
                      <a:pt x="98" y="287"/>
                    </a:lnTo>
                    <a:lnTo>
                      <a:pt x="86" y="289"/>
                    </a:lnTo>
                    <a:lnTo>
                      <a:pt x="73" y="293"/>
                    </a:lnTo>
                    <a:lnTo>
                      <a:pt x="65" y="297"/>
                    </a:lnTo>
                    <a:lnTo>
                      <a:pt x="61" y="305"/>
                    </a:lnTo>
                    <a:lnTo>
                      <a:pt x="59" y="312"/>
                    </a:lnTo>
                    <a:lnTo>
                      <a:pt x="61" y="322"/>
                    </a:lnTo>
                    <a:lnTo>
                      <a:pt x="67" y="333"/>
                    </a:lnTo>
                    <a:lnTo>
                      <a:pt x="50" y="339"/>
                    </a:lnTo>
                    <a:lnTo>
                      <a:pt x="25" y="295"/>
                    </a:lnTo>
                    <a:lnTo>
                      <a:pt x="0" y="249"/>
                    </a:lnTo>
                    <a:lnTo>
                      <a:pt x="0" y="242"/>
                    </a:lnTo>
                    <a:lnTo>
                      <a:pt x="0" y="234"/>
                    </a:lnTo>
                    <a:lnTo>
                      <a:pt x="44" y="234"/>
                    </a:lnTo>
                    <a:lnTo>
                      <a:pt x="86" y="232"/>
                    </a:lnTo>
                    <a:close/>
                  </a:path>
                </a:pathLst>
              </a:custGeom>
              <a:solidFill>
                <a:srgbClr val="3366FF"/>
              </a:solidFill>
              <a:ln w="9525">
                <a:solidFill>
                  <a:srgbClr val="000000"/>
                </a:solidFill>
                <a:prstDash val="solid"/>
                <a:round/>
                <a:headEnd/>
                <a:tailEnd/>
              </a:ln>
            </p:spPr>
            <p:txBody>
              <a:bodyPr/>
              <a:lstStyle/>
              <a:p>
                <a:endParaRPr lang="en-IN"/>
              </a:p>
            </p:txBody>
          </p:sp>
          <p:sp>
            <p:nvSpPr>
              <p:cNvPr id="4124" name="Freeform 24">
                <a:extLst>
                  <a:ext uri="{FF2B5EF4-FFF2-40B4-BE49-F238E27FC236}">
                    <a16:creationId xmlns:a16="http://schemas.microsoft.com/office/drawing/2014/main" xmlns="" id="{97374321-CC6E-F3DA-DEF6-173EE3E84B2C}"/>
                  </a:ext>
                </a:extLst>
              </p:cNvPr>
              <p:cNvSpPr>
                <a:spLocks/>
              </p:cNvSpPr>
              <p:nvPr/>
            </p:nvSpPr>
            <p:spPr bwMode="auto">
              <a:xfrm>
                <a:off x="1526" y="1435"/>
                <a:ext cx="225" cy="262"/>
              </a:xfrm>
              <a:custGeom>
                <a:avLst/>
                <a:gdLst>
                  <a:gd name="T0" fmla="*/ 14 w 449"/>
                  <a:gd name="T1" fmla="*/ 98 h 525"/>
                  <a:gd name="T2" fmla="*/ 6 w 449"/>
                  <a:gd name="T3" fmla="*/ 91 h 525"/>
                  <a:gd name="T4" fmla="*/ 1 w 449"/>
                  <a:gd name="T5" fmla="*/ 79 h 525"/>
                  <a:gd name="T6" fmla="*/ 5 w 449"/>
                  <a:gd name="T7" fmla="*/ 69 h 525"/>
                  <a:gd name="T8" fmla="*/ 15 w 449"/>
                  <a:gd name="T9" fmla="*/ 62 h 525"/>
                  <a:gd name="T10" fmla="*/ 18 w 449"/>
                  <a:gd name="T11" fmla="*/ 55 h 525"/>
                  <a:gd name="T12" fmla="*/ 8 w 449"/>
                  <a:gd name="T13" fmla="*/ 45 h 525"/>
                  <a:gd name="T14" fmla="*/ 5 w 449"/>
                  <a:gd name="T15" fmla="*/ 36 h 525"/>
                  <a:gd name="T16" fmla="*/ 6 w 449"/>
                  <a:gd name="T17" fmla="*/ 27 h 525"/>
                  <a:gd name="T18" fmla="*/ 12 w 449"/>
                  <a:gd name="T19" fmla="*/ 20 h 525"/>
                  <a:gd name="T20" fmla="*/ 24 w 449"/>
                  <a:gd name="T21" fmla="*/ 14 h 525"/>
                  <a:gd name="T22" fmla="*/ 38 w 449"/>
                  <a:gd name="T23" fmla="*/ 12 h 525"/>
                  <a:gd name="T24" fmla="*/ 88 w 449"/>
                  <a:gd name="T25" fmla="*/ 12 h 525"/>
                  <a:gd name="T26" fmla="*/ 100 w 449"/>
                  <a:gd name="T27" fmla="*/ 11 h 525"/>
                  <a:gd name="T28" fmla="*/ 106 w 449"/>
                  <a:gd name="T29" fmla="*/ 7 h 525"/>
                  <a:gd name="T30" fmla="*/ 111 w 449"/>
                  <a:gd name="T31" fmla="*/ 0 h 525"/>
                  <a:gd name="T32" fmla="*/ 109 w 449"/>
                  <a:gd name="T33" fmla="*/ 37 h 525"/>
                  <a:gd name="T34" fmla="*/ 106 w 449"/>
                  <a:gd name="T35" fmla="*/ 35 h 525"/>
                  <a:gd name="T36" fmla="*/ 104 w 449"/>
                  <a:gd name="T37" fmla="*/ 28 h 525"/>
                  <a:gd name="T38" fmla="*/ 96 w 449"/>
                  <a:gd name="T39" fmla="*/ 25 h 525"/>
                  <a:gd name="T40" fmla="*/ 87 w 449"/>
                  <a:gd name="T41" fmla="*/ 25 h 525"/>
                  <a:gd name="T42" fmla="*/ 33 w 449"/>
                  <a:gd name="T43" fmla="*/ 27 h 525"/>
                  <a:gd name="T44" fmla="*/ 22 w 449"/>
                  <a:gd name="T45" fmla="*/ 31 h 525"/>
                  <a:gd name="T46" fmla="*/ 18 w 449"/>
                  <a:gd name="T47" fmla="*/ 39 h 525"/>
                  <a:gd name="T48" fmla="*/ 20 w 449"/>
                  <a:gd name="T49" fmla="*/ 48 h 525"/>
                  <a:gd name="T50" fmla="*/ 27 w 449"/>
                  <a:gd name="T51" fmla="*/ 55 h 525"/>
                  <a:gd name="T52" fmla="*/ 34 w 449"/>
                  <a:gd name="T53" fmla="*/ 58 h 525"/>
                  <a:gd name="T54" fmla="*/ 85 w 449"/>
                  <a:gd name="T55" fmla="*/ 57 h 525"/>
                  <a:gd name="T56" fmla="*/ 96 w 449"/>
                  <a:gd name="T57" fmla="*/ 56 h 525"/>
                  <a:gd name="T58" fmla="*/ 103 w 449"/>
                  <a:gd name="T59" fmla="*/ 52 h 525"/>
                  <a:gd name="T60" fmla="*/ 105 w 449"/>
                  <a:gd name="T61" fmla="*/ 44 h 525"/>
                  <a:gd name="T62" fmla="*/ 107 w 449"/>
                  <a:gd name="T63" fmla="*/ 63 h 525"/>
                  <a:gd name="T64" fmla="*/ 103 w 449"/>
                  <a:gd name="T65" fmla="*/ 82 h 525"/>
                  <a:gd name="T66" fmla="*/ 102 w 449"/>
                  <a:gd name="T67" fmla="*/ 75 h 525"/>
                  <a:gd name="T68" fmla="*/ 95 w 449"/>
                  <a:gd name="T69" fmla="*/ 71 h 525"/>
                  <a:gd name="T70" fmla="*/ 88 w 449"/>
                  <a:gd name="T71" fmla="*/ 71 h 525"/>
                  <a:gd name="T72" fmla="*/ 40 w 449"/>
                  <a:gd name="T73" fmla="*/ 71 h 525"/>
                  <a:gd name="T74" fmla="*/ 25 w 449"/>
                  <a:gd name="T75" fmla="*/ 73 h 525"/>
                  <a:gd name="T76" fmla="*/ 17 w 449"/>
                  <a:gd name="T77" fmla="*/ 79 h 525"/>
                  <a:gd name="T78" fmla="*/ 15 w 449"/>
                  <a:gd name="T79" fmla="*/ 90 h 525"/>
                  <a:gd name="T80" fmla="*/ 25 w 449"/>
                  <a:gd name="T81" fmla="*/ 102 h 525"/>
                  <a:gd name="T82" fmla="*/ 83 w 449"/>
                  <a:gd name="T83" fmla="*/ 103 h 525"/>
                  <a:gd name="T84" fmla="*/ 94 w 449"/>
                  <a:gd name="T85" fmla="*/ 102 h 525"/>
                  <a:gd name="T86" fmla="*/ 100 w 449"/>
                  <a:gd name="T87" fmla="*/ 98 h 525"/>
                  <a:gd name="T88" fmla="*/ 102 w 449"/>
                  <a:gd name="T89" fmla="*/ 93 h 525"/>
                  <a:gd name="T90" fmla="*/ 106 w 449"/>
                  <a:gd name="T91" fmla="*/ 90 h 525"/>
                  <a:gd name="T92" fmla="*/ 103 w 449"/>
                  <a:gd name="T93" fmla="*/ 128 h 525"/>
                  <a:gd name="T94" fmla="*/ 100 w 449"/>
                  <a:gd name="T95" fmla="*/ 123 h 525"/>
                  <a:gd name="T96" fmla="*/ 97 w 449"/>
                  <a:gd name="T97" fmla="*/ 119 h 525"/>
                  <a:gd name="T98" fmla="*/ 90 w 449"/>
                  <a:gd name="T99" fmla="*/ 117 h 525"/>
                  <a:gd name="T100" fmla="*/ 62 w 449"/>
                  <a:gd name="T101" fmla="*/ 117 h 525"/>
                  <a:gd name="T102" fmla="*/ 29 w 449"/>
                  <a:gd name="T103" fmla="*/ 118 h 525"/>
                  <a:gd name="T104" fmla="*/ 19 w 449"/>
                  <a:gd name="T105" fmla="*/ 119 h 525"/>
                  <a:gd name="T106" fmla="*/ 15 w 449"/>
                  <a:gd name="T107" fmla="*/ 122 h 525"/>
                  <a:gd name="T108" fmla="*/ 16 w 449"/>
                  <a:gd name="T109" fmla="*/ 129 h 525"/>
                  <a:gd name="T110" fmla="*/ 0 w 449"/>
                  <a:gd name="T111" fmla="*/ 107 h 525"/>
                  <a:gd name="T112" fmla="*/ 22 w 449"/>
                  <a:gd name="T113" fmla="*/ 104 h 52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449" h="525">
                    <a:moveTo>
                      <a:pt x="88" y="419"/>
                    </a:moveTo>
                    <a:lnTo>
                      <a:pt x="67" y="405"/>
                    </a:lnTo>
                    <a:lnTo>
                      <a:pt x="53" y="394"/>
                    </a:lnTo>
                    <a:lnTo>
                      <a:pt x="42" y="384"/>
                    </a:lnTo>
                    <a:lnTo>
                      <a:pt x="36" y="381"/>
                    </a:lnTo>
                    <a:lnTo>
                      <a:pt x="23" y="365"/>
                    </a:lnTo>
                    <a:lnTo>
                      <a:pt x="12" y="348"/>
                    </a:lnTo>
                    <a:lnTo>
                      <a:pt x="6" y="333"/>
                    </a:lnTo>
                    <a:lnTo>
                      <a:pt x="4" y="316"/>
                    </a:lnTo>
                    <a:lnTo>
                      <a:pt x="6" y="303"/>
                    </a:lnTo>
                    <a:lnTo>
                      <a:pt x="12" y="289"/>
                    </a:lnTo>
                    <a:lnTo>
                      <a:pt x="19" y="278"/>
                    </a:lnTo>
                    <a:lnTo>
                      <a:pt x="31" y="266"/>
                    </a:lnTo>
                    <a:lnTo>
                      <a:pt x="44" y="257"/>
                    </a:lnTo>
                    <a:lnTo>
                      <a:pt x="59" y="249"/>
                    </a:lnTo>
                    <a:lnTo>
                      <a:pt x="76" y="242"/>
                    </a:lnTo>
                    <a:lnTo>
                      <a:pt x="97" y="238"/>
                    </a:lnTo>
                    <a:lnTo>
                      <a:pt x="72" y="221"/>
                    </a:lnTo>
                    <a:lnTo>
                      <a:pt x="53" y="207"/>
                    </a:lnTo>
                    <a:lnTo>
                      <a:pt x="40" y="192"/>
                    </a:lnTo>
                    <a:lnTo>
                      <a:pt x="31" y="181"/>
                    </a:lnTo>
                    <a:lnTo>
                      <a:pt x="23" y="169"/>
                    </a:lnTo>
                    <a:lnTo>
                      <a:pt x="19" y="158"/>
                    </a:lnTo>
                    <a:lnTo>
                      <a:pt x="17" y="147"/>
                    </a:lnTo>
                    <a:lnTo>
                      <a:pt x="17" y="133"/>
                    </a:lnTo>
                    <a:lnTo>
                      <a:pt x="19" y="122"/>
                    </a:lnTo>
                    <a:lnTo>
                      <a:pt x="23" y="110"/>
                    </a:lnTo>
                    <a:lnTo>
                      <a:pt x="31" y="101"/>
                    </a:lnTo>
                    <a:lnTo>
                      <a:pt x="38" y="91"/>
                    </a:lnTo>
                    <a:lnTo>
                      <a:pt x="48" y="82"/>
                    </a:lnTo>
                    <a:lnTo>
                      <a:pt x="61" y="74"/>
                    </a:lnTo>
                    <a:lnTo>
                      <a:pt x="76" y="67"/>
                    </a:lnTo>
                    <a:lnTo>
                      <a:pt x="95" y="59"/>
                    </a:lnTo>
                    <a:lnTo>
                      <a:pt x="111" y="57"/>
                    </a:lnTo>
                    <a:lnTo>
                      <a:pt x="128" y="53"/>
                    </a:lnTo>
                    <a:lnTo>
                      <a:pt x="150" y="51"/>
                    </a:lnTo>
                    <a:lnTo>
                      <a:pt x="177" y="51"/>
                    </a:lnTo>
                    <a:lnTo>
                      <a:pt x="265" y="50"/>
                    </a:lnTo>
                    <a:lnTo>
                      <a:pt x="352" y="48"/>
                    </a:lnTo>
                    <a:lnTo>
                      <a:pt x="371" y="46"/>
                    </a:lnTo>
                    <a:lnTo>
                      <a:pt x="384" y="46"/>
                    </a:lnTo>
                    <a:lnTo>
                      <a:pt x="398" y="44"/>
                    </a:lnTo>
                    <a:lnTo>
                      <a:pt x="405" y="42"/>
                    </a:lnTo>
                    <a:lnTo>
                      <a:pt x="415" y="36"/>
                    </a:lnTo>
                    <a:lnTo>
                      <a:pt x="424" y="29"/>
                    </a:lnTo>
                    <a:lnTo>
                      <a:pt x="430" y="17"/>
                    </a:lnTo>
                    <a:lnTo>
                      <a:pt x="434" y="0"/>
                    </a:lnTo>
                    <a:lnTo>
                      <a:pt x="441" y="0"/>
                    </a:lnTo>
                    <a:lnTo>
                      <a:pt x="449" y="0"/>
                    </a:lnTo>
                    <a:lnTo>
                      <a:pt x="443" y="74"/>
                    </a:lnTo>
                    <a:lnTo>
                      <a:pt x="436" y="148"/>
                    </a:lnTo>
                    <a:lnTo>
                      <a:pt x="428" y="148"/>
                    </a:lnTo>
                    <a:lnTo>
                      <a:pt x="421" y="148"/>
                    </a:lnTo>
                    <a:lnTo>
                      <a:pt x="421" y="143"/>
                    </a:lnTo>
                    <a:lnTo>
                      <a:pt x="421" y="133"/>
                    </a:lnTo>
                    <a:lnTo>
                      <a:pt x="421" y="126"/>
                    </a:lnTo>
                    <a:lnTo>
                      <a:pt x="413" y="112"/>
                    </a:lnTo>
                    <a:lnTo>
                      <a:pt x="405" y="107"/>
                    </a:lnTo>
                    <a:lnTo>
                      <a:pt x="390" y="103"/>
                    </a:lnTo>
                    <a:lnTo>
                      <a:pt x="384" y="101"/>
                    </a:lnTo>
                    <a:lnTo>
                      <a:pt x="377" y="101"/>
                    </a:lnTo>
                    <a:lnTo>
                      <a:pt x="364" y="101"/>
                    </a:lnTo>
                    <a:lnTo>
                      <a:pt x="348" y="101"/>
                    </a:lnTo>
                    <a:lnTo>
                      <a:pt x="171" y="107"/>
                    </a:lnTo>
                    <a:lnTo>
                      <a:pt x="149" y="107"/>
                    </a:lnTo>
                    <a:lnTo>
                      <a:pt x="130" y="109"/>
                    </a:lnTo>
                    <a:lnTo>
                      <a:pt x="112" y="112"/>
                    </a:lnTo>
                    <a:lnTo>
                      <a:pt x="101" y="116"/>
                    </a:lnTo>
                    <a:lnTo>
                      <a:pt x="88" y="124"/>
                    </a:lnTo>
                    <a:lnTo>
                      <a:pt x="78" y="133"/>
                    </a:lnTo>
                    <a:lnTo>
                      <a:pt x="72" y="145"/>
                    </a:lnTo>
                    <a:lnTo>
                      <a:pt x="69" y="158"/>
                    </a:lnTo>
                    <a:lnTo>
                      <a:pt x="71" y="175"/>
                    </a:lnTo>
                    <a:lnTo>
                      <a:pt x="74" y="185"/>
                    </a:lnTo>
                    <a:lnTo>
                      <a:pt x="78" y="192"/>
                    </a:lnTo>
                    <a:lnTo>
                      <a:pt x="86" y="202"/>
                    </a:lnTo>
                    <a:lnTo>
                      <a:pt x="93" y="211"/>
                    </a:lnTo>
                    <a:lnTo>
                      <a:pt x="105" y="223"/>
                    </a:lnTo>
                    <a:lnTo>
                      <a:pt x="118" y="234"/>
                    </a:lnTo>
                    <a:lnTo>
                      <a:pt x="124" y="234"/>
                    </a:lnTo>
                    <a:lnTo>
                      <a:pt x="133" y="234"/>
                    </a:lnTo>
                    <a:lnTo>
                      <a:pt x="143" y="234"/>
                    </a:lnTo>
                    <a:lnTo>
                      <a:pt x="240" y="232"/>
                    </a:lnTo>
                    <a:lnTo>
                      <a:pt x="339" y="230"/>
                    </a:lnTo>
                    <a:lnTo>
                      <a:pt x="358" y="228"/>
                    </a:lnTo>
                    <a:lnTo>
                      <a:pt x="373" y="228"/>
                    </a:lnTo>
                    <a:lnTo>
                      <a:pt x="384" y="226"/>
                    </a:lnTo>
                    <a:lnTo>
                      <a:pt x="390" y="225"/>
                    </a:lnTo>
                    <a:lnTo>
                      <a:pt x="400" y="219"/>
                    </a:lnTo>
                    <a:lnTo>
                      <a:pt x="409" y="211"/>
                    </a:lnTo>
                    <a:lnTo>
                      <a:pt x="413" y="206"/>
                    </a:lnTo>
                    <a:lnTo>
                      <a:pt x="415" y="198"/>
                    </a:lnTo>
                    <a:lnTo>
                      <a:pt x="419" y="179"/>
                    </a:lnTo>
                    <a:lnTo>
                      <a:pt x="426" y="179"/>
                    </a:lnTo>
                    <a:lnTo>
                      <a:pt x="434" y="179"/>
                    </a:lnTo>
                    <a:lnTo>
                      <a:pt x="428" y="255"/>
                    </a:lnTo>
                    <a:lnTo>
                      <a:pt x="424" y="331"/>
                    </a:lnTo>
                    <a:lnTo>
                      <a:pt x="417" y="331"/>
                    </a:lnTo>
                    <a:lnTo>
                      <a:pt x="409" y="331"/>
                    </a:lnTo>
                    <a:lnTo>
                      <a:pt x="409" y="320"/>
                    </a:lnTo>
                    <a:lnTo>
                      <a:pt x="407" y="310"/>
                    </a:lnTo>
                    <a:lnTo>
                      <a:pt x="405" y="303"/>
                    </a:lnTo>
                    <a:lnTo>
                      <a:pt x="402" y="297"/>
                    </a:lnTo>
                    <a:lnTo>
                      <a:pt x="394" y="289"/>
                    </a:lnTo>
                    <a:lnTo>
                      <a:pt x="379" y="284"/>
                    </a:lnTo>
                    <a:lnTo>
                      <a:pt x="373" y="284"/>
                    </a:lnTo>
                    <a:lnTo>
                      <a:pt x="364" y="284"/>
                    </a:lnTo>
                    <a:lnTo>
                      <a:pt x="352" y="284"/>
                    </a:lnTo>
                    <a:lnTo>
                      <a:pt x="335" y="284"/>
                    </a:lnTo>
                    <a:lnTo>
                      <a:pt x="247" y="285"/>
                    </a:lnTo>
                    <a:lnTo>
                      <a:pt x="158" y="287"/>
                    </a:lnTo>
                    <a:lnTo>
                      <a:pt x="135" y="289"/>
                    </a:lnTo>
                    <a:lnTo>
                      <a:pt x="116" y="291"/>
                    </a:lnTo>
                    <a:lnTo>
                      <a:pt x="99" y="295"/>
                    </a:lnTo>
                    <a:lnTo>
                      <a:pt x="86" y="301"/>
                    </a:lnTo>
                    <a:lnTo>
                      <a:pt x="72" y="308"/>
                    </a:lnTo>
                    <a:lnTo>
                      <a:pt x="65" y="318"/>
                    </a:lnTo>
                    <a:lnTo>
                      <a:pt x="59" y="329"/>
                    </a:lnTo>
                    <a:lnTo>
                      <a:pt x="55" y="341"/>
                    </a:lnTo>
                    <a:lnTo>
                      <a:pt x="59" y="360"/>
                    </a:lnTo>
                    <a:lnTo>
                      <a:pt x="67" y="377"/>
                    </a:lnTo>
                    <a:lnTo>
                      <a:pt x="88" y="402"/>
                    </a:lnTo>
                    <a:lnTo>
                      <a:pt x="97" y="411"/>
                    </a:lnTo>
                    <a:lnTo>
                      <a:pt x="109" y="419"/>
                    </a:lnTo>
                    <a:lnTo>
                      <a:pt x="219" y="417"/>
                    </a:lnTo>
                    <a:lnTo>
                      <a:pt x="329" y="413"/>
                    </a:lnTo>
                    <a:lnTo>
                      <a:pt x="348" y="413"/>
                    </a:lnTo>
                    <a:lnTo>
                      <a:pt x="362" y="411"/>
                    </a:lnTo>
                    <a:lnTo>
                      <a:pt x="373" y="409"/>
                    </a:lnTo>
                    <a:lnTo>
                      <a:pt x="381" y="407"/>
                    </a:lnTo>
                    <a:lnTo>
                      <a:pt x="390" y="402"/>
                    </a:lnTo>
                    <a:lnTo>
                      <a:pt x="400" y="394"/>
                    </a:lnTo>
                    <a:lnTo>
                      <a:pt x="402" y="390"/>
                    </a:lnTo>
                    <a:lnTo>
                      <a:pt x="403" y="382"/>
                    </a:lnTo>
                    <a:lnTo>
                      <a:pt x="405" y="373"/>
                    </a:lnTo>
                    <a:lnTo>
                      <a:pt x="407" y="362"/>
                    </a:lnTo>
                    <a:lnTo>
                      <a:pt x="415" y="362"/>
                    </a:lnTo>
                    <a:lnTo>
                      <a:pt x="422" y="362"/>
                    </a:lnTo>
                    <a:lnTo>
                      <a:pt x="421" y="436"/>
                    </a:lnTo>
                    <a:lnTo>
                      <a:pt x="417" y="512"/>
                    </a:lnTo>
                    <a:lnTo>
                      <a:pt x="409" y="512"/>
                    </a:lnTo>
                    <a:lnTo>
                      <a:pt x="402" y="512"/>
                    </a:lnTo>
                    <a:lnTo>
                      <a:pt x="402" y="502"/>
                    </a:lnTo>
                    <a:lnTo>
                      <a:pt x="400" y="493"/>
                    </a:lnTo>
                    <a:lnTo>
                      <a:pt x="398" y="487"/>
                    </a:lnTo>
                    <a:lnTo>
                      <a:pt x="396" y="483"/>
                    </a:lnTo>
                    <a:lnTo>
                      <a:pt x="388" y="476"/>
                    </a:lnTo>
                    <a:lnTo>
                      <a:pt x="377" y="470"/>
                    </a:lnTo>
                    <a:lnTo>
                      <a:pt x="369" y="468"/>
                    </a:lnTo>
                    <a:lnTo>
                      <a:pt x="358" y="468"/>
                    </a:lnTo>
                    <a:lnTo>
                      <a:pt x="344" y="468"/>
                    </a:lnTo>
                    <a:lnTo>
                      <a:pt x="325" y="468"/>
                    </a:lnTo>
                    <a:lnTo>
                      <a:pt x="247" y="470"/>
                    </a:lnTo>
                    <a:lnTo>
                      <a:pt x="169" y="470"/>
                    </a:lnTo>
                    <a:lnTo>
                      <a:pt x="139" y="472"/>
                    </a:lnTo>
                    <a:lnTo>
                      <a:pt x="114" y="474"/>
                    </a:lnTo>
                    <a:lnTo>
                      <a:pt x="95" y="474"/>
                    </a:lnTo>
                    <a:lnTo>
                      <a:pt x="84" y="476"/>
                    </a:lnTo>
                    <a:lnTo>
                      <a:pt x="76" y="478"/>
                    </a:lnTo>
                    <a:lnTo>
                      <a:pt x="71" y="480"/>
                    </a:lnTo>
                    <a:lnTo>
                      <a:pt x="63" y="483"/>
                    </a:lnTo>
                    <a:lnTo>
                      <a:pt x="59" y="489"/>
                    </a:lnTo>
                    <a:lnTo>
                      <a:pt x="57" y="497"/>
                    </a:lnTo>
                    <a:lnTo>
                      <a:pt x="59" y="508"/>
                    </a:lnTo>
                    <a:lnTo>
                      <a:pt x="63" y="519"/>
                    </a:lnTo>
                    <a:lnTo>
                      <a:pt x="46" y="525"/>
                    </a:lnTo>
                    <a:lnTo>
                      <a:pt x="0" y="434"/>
                    </a:lnTo>
                    <a:lnTo>
                      <a:pt x="0" y="428"/>
                    </a:lnTo>
                    <a:lnTo>
                      <a:pt x="0" y="421"/>
                    </a:lnTo>
                    <a:lnTo>
                      <a:pt x="44" y="419"/>
                    </a:lnTo>
                    <a:lnTo>
                      <a:pt x="88" y="419"/>
                    </a:lnTo>
                    <a:close/>
                  </a:path>
                </a:pathLst>
              </a:custGeom>
              <a:solidFill>
                <a:srgbClr val="3366FF"/>
              </a:solidFill>
              <a:ln w="9525">
                <a:solidFill>
                  <a:srgbClr val="000000"/>
                </a:solidFill>
                <a:prstDash val="solid"/>
                <a:round/>
                <a:headEnd/>
                <a:tailEnd/>
              </a:ln>
            </p:spPr>
            <p:txBody>
              <a:bodyPr/>
              <a:lstStyle/>
              <a:p>
                <a:endParaRPr lang="en-IN"/>
              </a:p>
            </p:txBody>
          </p:sp>
          <p:sp>
            <p:nvSpPr>
              <p:cNvPr id="4125" name="Freeform 25">
                <a:extLst>
                  <a:ext uri="{FF2B5EF4-FFF2-40B4-BE49-F238E27FC236}">
                    <a16:creationId xmlns:a16="http://schemas.microsoft.com/office/drawing/2014/main" xmlns="" id="{59827058-DCF9-C53C-3B75-280C7C6DCD5B}"/>
                  </a:ext>
                </a:extLst>
              </p:cNvPr>
              <p:cNvSpPr>
                <a:spLocks noEditPoints="1"/>
              </p:cNvSpPr>
              <p:nvPr/>
            </p:nvSpPr>
            <p:spPr bwMode="auto">
              <a:xfrm>
                <a:off x="1550" y="1296"/>
                <a:ext cx="217" cy="126"/>
              </a:xfrm>
              <a:custGeom>
                <a:avLst/>
                <a:gdLst>
                  <a:gd name="T0" fmla="*/ 50 w 433"/>
                  <a:gd name="T1" fmla="*/ 51 h 253"/>
                  <a:gd name="T2" fmla="*/ 68 w 433"/>
                  <a:gd name="T3" fmla="*/ 47 h 253"/>
                  <a:gd name="T4" fmla="*/ 82 w 433"/>
                  <a:gd name="T5" fmla="*/ 39 h 253"/>
                  <a:gd name="T6" fmla="*/ 90 w 433"/>
                  <a:gd name="T7" fmla="*/ 29 h 253"/>
                  <a:gd name="T8" fmla="*/ 92 w 433"/>
                  <a:gd name="T9" fmla="*/ 20 h 253"/>
                  <a:gd name="T10" fmla="*/ 90 w 433"/>
                  <a:gd name="T11" fmla="*/ 14 h 253"/>
                  <a:gd name="T12" fmla="*/ 85 w 433"/>
                  <a:gd name="T13" fmla="*/ 8 h 253"/>
                  <a:gd name="T14" fmla="*/ 76 w 433"/>
                  <a:gd name="T15" fmla="*/ 4 h 253"/>
                  <a:gd name="T16" fmla="*/ 72 w 433"/>
                  <a:gd name="T17" fmla="*/ 1 h 253"/>
                  <a:gd name="T18" fmla="*/ 80 w 433"/>
                  <a:gd name="T19" fmla="*/ 1 h 253"/>
                  <a:gd name="T20" fmla="*/ 94 w 433"/>
                  <a:gd name="T21" fmla="*/ 5 h 253"/>
                  <a:gd name="T22" fmla="*/ 104 w 433"/>
                  <a:gd name="T23" fmla="*/ 13 h 253"/>
                  <a:gd name="T24" fmla="*/ 109 w 433"/>
                  <a:gd name="T25" fmla="*/ 23 h 253"/>
                  <a:gd name="T26" fmla="*/ 107 w 433"/>
                  <a:gd name="T27" fmla="*/ 36 h 253"/>
                  <a:gd name="T28" fmla="*/ 99 w 433"/>
                  <a:gd name="T29" fmla="*/ 47 h 253"/>
                  <a:gd name="T30" fmla="*/ 92 w 433"/>
                  <a:gd name="T31" fmla="*/ 53 h 253"/>
                  <a:gd name="T32" fmla="*/ 74 w 433"/>
                  <a:gd name="T33" fmla="*/ 60 h 253"/>
                  <a:gd name="T34" fmla="*/ 52 w 433"/>
                  <a:gd name="T35" fmla="*/ 63 h 253"/>
                  <a:gd name="T36" fmla="*/ 29 w 433"/>
                  <a:gd name="T37" fmla="*/ 61 h 253"/>
                  <a:gd name="T38" fmla="*/ 12 w 433"/>
                  <a:gd name="T39" fmla="*/ 54 h 253"/>
                  <a:gd name="T40" fmla="*/ 6 w 433"/>
                  <a:gd name="T41" fmla="*/ 49 h 253"/>
                  <a:gd name="T42" fmla="*/ 3 w 433"/>
                  <a:gd name="T43" fmla="*/ 43 h 253"/>
                  <a:gd name="T44" fmla="*/ 1 w 433"/>
                  <a:gd name="T45" fmla="*/ 37 h 253"/>
                  <a:gd name="T46" fmla="*/ 1 w 433"/>
                  <a:gd name="T47" fmla="*/ 30 h 253"/>
                  <a:gd name="T48" fmla="*/ 5 w 433"/>
                  <a:gd name="T49" fmla="*/ 18 h 253"/>
                  <a:gd name="T50" fmla="*/ 15 w 433"/>
                  <a:gd name="T51" fmla="*/ 9 h 253"/>
                  <a:gd name="T52" fmla="*/ 29 w 433"/>
                  <a:gd name="T53" fmla="*/ 3 h 253"/>
                  <a:gd name="T54" fmla="*/ 47 w 433"/>
                  <a:gd name="T55" fmla="*/ 0 h 253"/>
                  <a:gd name="T56" fmla="*/ 39 w 433"/>
                  <a:gd name="T57" fmla="*/ 52 h 253"/>
                  <a:gd name="T58" fmla="*/ 33 w 433"/>
                  <a:gd name="T59" fmla="*/ 52 h 253"/>
                  <a:gd name="T60" fmla="*/ 37 w 433"/>
                  <a:gd name="T61" fmla="*/ 17 h 253"/>
                  <a:gd name="T62" fmla="*/ 29 w 433"/>
                  <a:gd name="T63" fmla="*/ 18 h 253"/>
                  <a:gd name="T64" fmla="*/ 24 w 433"/>
                  <a:gd name="T65" fmla="*/ 19 h 253"/>
                  <a:gd name="T66" fmla="*/ 17 w 433"/>
                  <a:gd name="T67" fmla="*/ 22 h 253"/>
                  <a:gd name="T68" fmla="*/ 11 w 433"/>
                  <a:gd name="T69" fmla="*/ 28 h 253"/>
                  <a:gd name="T70" fmla="*/ 8 w 433"/>
                  <a:gd name="T71" fmla="*/ 34 h 253"/>
                  <a:gd name="T72" fmla="*/ 9 w 433"/>
                  <a:gd name="T73" fmla="*/ 41 h 253"/>
                  <a:gd name="T74" fmla="*/ 14 w 433"/>
                  <a:gd name="T75" fmla="*/ 46 h 253"/>
                  <a:gd name="T76" fmla="*/ 22 w 433"/>
                  <a:gd name="T77" fmla="*/ 50 h 253"/>
                  <a:gd name="T78" fmla="*/ 33 w 433"/>
                  <a:gd name="T79" fmla="*/ 52 h 25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33" h="253">
                    <a:moveTo>
                      <a:pt x="156" y="210"/>
                    </a:moveTo>
                    <a:lnTo>
                      <a:pt x="199" y="206"/>
                    </a:lnTo>
                    <a:lnTo>
                      <a:pt x="238" y="200"/>
                    </a:lnTo>
                    <a:lnTo>
                      <a:pt x="272" y="189"/>
                    </a:lnTo>
                    <a:lnTo>
                      <a:pt x="302" y="173"/>
                    </a:lnTo>
                    <a:lnTo>
                      <a:pt x="327" y="156"/>
                    </a:lnTo>
                    <a:lnTo>
                      <a:pt x="346" y="137"/>
                    </a:lnTo>
                    <a:lnTo>
                      <a:pt x="359" y="116"/>
                    </a:lnTo>
                    <a:lnTo>
                      <a:pt x="365" y="95"/>
                    </a:lnTo>
                    <a:lnTo>
                      <a:pt x="365" y="80"/>
                    </a:lnTo>
                    <a:lnTo>
                      <a:pt x="363" y="67"/>
                    </a:lnTo>
                    <a:lnTo>
                      <a:pt x="357" y="56"/>
                    </a:lnTo>
                    <a:lnTo>
                      <a:pt x="350" y="44"/>
                    </a:lnTo>
                    <a:lnTo>
                      <a:pt x="338" y="35"/>
                    </a:lnTo>
                    <a:lnTo>
                      <a:pt x="325" y="25"/>
                    </a:lnTo>
                    <a:lnTo>
                      <a:pt x="304" y="18"/>
                    </a:lnTo>
                    <a:lnTo>
                      <a:pt x="281" y="10"/>
                    </a:lnTo>
                    <a:lnTo>
                      <a:pt x="287" y="4"/>
                    </a:lnTo>
                    <a:lnTo>
                      <a:pt x="291" y="0"/>
                    </a:lnTo>
                    <a:lnTo>
                      <a:pt x="319" y="4"/>
                    </a:lnTo>
                    <a:lnTo>
                      <a:pt x="346" y="12"/>
                    </a:lnTo>
                    <a:lnTo>
                      <a:pt x="373" y="23"/>
                    </a:lnTo>
                    <a:lnTo>
                      <a:pt x="395" y="37"/>
                    </a:lnTo>
                    <a:lnTo>
                      <a:pt x="414" y="54"/>
                    </a:lnTo>
                    <a:lnTo>
                      <a:pt x="428" y="73"/>
                    </a:lnTo>
                    <a:lnTo>
                      <a:pt x="433" y="95"/>
                    </a:lnTo>
                    <a:lnTo>
                      <a:pt x="433" y="118"/>
                    </a:lnTo>
                    <a:lnTo>
                      <a:pt x="426" y="145"/>
                    </a:lnTo>
                    <a:lnTo>
                      <a:pt x="413" y="168"/>
                    </a:lnTo>
                    <a:lnTo>
                      <a:pt x="393" y="191"/>
                    </a:lnTo>
                    <a:lnTo>
                      <a:pt x="380" y="202"/>
                    </a:lnTo>
                    <a:lnTo>
                      <a:pt x="365" y="212"/>
                    </a:lnTo>
                    <a:lnTo>
                      <a:pt x="331" y="229"/>
                    </a:lnTo>
                    <a:lnTo>
                      <a:pt x="295" y="242"/>
                    </a:lnTo>
                    <a:lnTo>
                      <a:pt x="251" y="251"/>
                    </a:lnTo>
                    <a:lnTo>
                      <a:pt x="205" y="253"/>
                    </a:lnTo>
                    <a:lnTo>
                      <a:pt x="156" y="251"/>
                    </a:lnTo>
                    <a:lnTo>
                      <a:pt x="114" y="246"/>
                    </a:lnTo>
                    <a:lnTo>
                      <a:pt x="78" y="234"/>
                    </a:lnTo>
                    <a:lnTo>
                      <a:pt x="47" y="217"/>
                    </a:lnTo>
                    <a:lnTo>
                      <a:pt x="34" y="208"/>
                    </a:lnTo>
                    <a:lnTo>
                      <a:pt x="24" y="198"/>
                    </a:lnTo>
                    <a:lnTo>
                      <a:pt x="15" y="187"/>
                    </a:lnTo>
                    <a:lnTo>
                      <a:pt x="9" y="175"/>
                    </a:lnTo>
                    <a:lnTo>
                      <a:pt x="4" y="162"/>
                    </a:lnTo>
                    <a:lnTo>
                      <a:pt x="2" y="149"/>
                    </a:lnTo>
                    <a:lnTo>
                      <a:pt x="0" y="135"/>
                    </a:lnTo>
                    <a:lnTo>
                      <a:pt x="2" y="120"/>
                    </a:lnTo>
                    <a:lnTo>
                      <a:pt x="7" y="95"/>
                    </a:lnTo>
                    <a:lnTo>
                      <a:pt x="19" y="75"/>
                    </a:lnTo>
                    <a:lnTo>
                      <a:pt x="36" y="54"/>
                    </a:lnTo>
                    <a:lnTo>
                      <a:pt x="59" y="37"/>
                    </a:lnTo>
                    <a:lnTo>
                      <a:pt x="85" y="23"/>
                    </a:lnTo>
                    <a:lnTo>
                      <a:pt x="116" y="12"/>
                    </a:lnTo>
                    <a:lnTo>
                      <a:pt x="150" y="4"/>
                    </a:lnTo>
                    <a:lnTo>
                      <a:pt x="186" y="2"/>
                    </a:lnTo>
                    <a:lnTo>
                      <a:pt x="169" y="105"/>
                    </a:lnTo>
                    <a:lnTo>
                      <a:pt x="156" y="210"/>
                    </a:lnTo>
                    <a:close/>
                    <a:moveTo>
                      <a:pt x="129" y="210"/>
                    </a:moveTo>
                    <a:lnTo>
                      <a:pt x="139" y="141"/>
                    </a:lnTo>
                    <a:lnTo>
                      <a:pt x="148" y="71"/>
                    </a:lnTo>
                    <a:lnTo>
                      <a:pt x="129" y="73"/>
                    </a:lnTo>
                    <a:lnTo>
                      <a:pt x="116" y="75"/>
                    </a:lnTo>
                    <a:lnTo>
                      <a:pt x="102" y="76"/>
                    </a:lnTo>
                    <a:lnTo>
                      <a:pt x="93" y="78"/>
                    </a:lnTo>
                    <a:lnTo>
                      <a:pt x="80" y="84"/>
                    </a:lnTo>
                    <a:lnTo>
                      <a:pt x="68" y="90"/>
                    </a:lnTo>
                    <a:lnTo>
                      <a:pt x="49" y="105"/>
                    </a:lnTo>
                    <a:lnTo>
                      <a:pt x="42" y="113"/>
                    </a:lnTo>
                    <a:lnTo>
                      <a:pt x="36" y="120"/>
                    </a:lnTo>
                    <a:lnTo>
                      <a:pt x="30" y="137"/>
                    </a:lnTo>
                    <a:lnTo>
                      <a:pt x="30" y="151"/>
                    </a:lnTo>
                    <a:lnTo>
                      <a:pt x="34" y="164"/>
                    </a:lnTo>
                    <a:lnTo>
                      <a:pt x="42" y="175"/>
                    </a:lnTo>
                    <a:lnTo>
                      <a:pt x="53" y="187"/>
                    </a:lnTo>
                    <a:lnTo>
                      <a:pt x="68" y="196"/>
                    </a:lnTo>
                    <a:lnTo>
                      <a:pt x="85" y="202"/>
                    </a:lnTo>
                    <a:lnTo>
                      <a:pt x="104" y="208"/>
                    </a:lnTo>
                    <a:lnTo>
                      <a:pt x="129" y="210"/>
                    </a:lnTo>
                    <a:close/>
                  </a:path>
                </a:pathLst>
              </a:custGeom>
              <a:solidFill>
                <a:srgbClr val="3366FF"/>
              </a:solidFill>
              <a:ln w="9525">
                <a:solidFill>
                  <a:srgbClr val="000000"/>
                </a:solidFill>
                <a:prstDash val="solid"/>
                <a:round/>
                <a:headEnd/>
                <a:tailEnd/>
              </a:ln>
            </p:spPr>
            <p:txBody>
              <a:bodyPr/>
              <a:lstStyle/>
              <a:p>
                <a:endParaRPr lang="en-IN"/>
              </a:p>
            </p:txBody>
          </p:sp>
          <p:sp>
            <p:nvSpPr>
              <p:cNvPr id="4126" name="Freeform 26">
                <a:extLst>
                  <a:ext uri="{FF2B5EF4-FFF2-40B4-BE49-F238E27FC236}">
                    <a16:creationId xmlns:a16="http://schemas.microsoft.com/office/drawing/2014/main" xmlns="" id="{6D76BCB8-84A7-1C4F-11D2-B0EE330A8E90}"/>
                  </a:ext>
                </a:extLst>
              </p:cNvPr>
              <p:cNvSpPr>
                <a:spLocks/>
              </p:cNvSpPr>
              <p:nvPr/>
            </p:nvSpPr>
            <p:spPr bwMode="auto">
              <a:xfrm>
                <a:off x="1571" y="1124"/>
                <a:ext cx="245" cy="162"/>
              </a:xfrm>
              <a:custGeom>
                <a:avLst/>
                <a:gdLst>
                  <a:gd name="T0" fmla="*/ 18 w 490"/>
                  <a:gd name="T1" fmla="*/ 52 h 325"/>
                  <a:gd name="T2" fmla="*/ 12 w 490"/>
                  <a:gd name="T3" fmla="*/ 46 h 325"/>
                  <a:gd name="T4" fmla="*/ 8 w 490"/>
                  <a:gd name="T5" fmla="*/ 40 h 325"/>
                  <a:gd name="T6" fmla="*/ 7 w 490"/>
                  <a:gd name="T7" fmla="*/ 34 h 325"/>
                  <a:gd name="T8" fmla="*/ 8 w 490"/>
                  <a:gd name="T9" fmla="*/ 28 h 325"/>
                  <a:gd name="T10" fmla="*/ 12 w 490"/>
                  <a:gd name="T11" fmla="*/ 23 h 325"/>
                  <a:gd name="T12" fmla="*/ 18 w 490"/>
                  <a:gd name="T13" fmla="*/ 19 h 325"/>
                  <a:gd name="T14" fmla="*/ 26 w 490"/>
                  <a:gd name="T15" fmla="*/ 15 h 325"/>
                  <a:gd name="T16" fmla="*/ 35 w 490"/>
                  <a:gd name="T17" fmla="*/ 13 h 325"/>
                  <a:gd name="T18" fmla="*/ 45 w 490"/>
                  <a:gd name="T19" fmla="*/ 12 h 325"/>
                  <a:gd name="T20" fmla="*/ 74 w 490"/>
                  <a:gd name="T21" fmla="*/ 12 h 325"/>
                  <a:gd name="T22" fmla="*/ 100 w 490"/>
                  <a:gd name="T23" fmla="*/ 11 h 325"/>
                  <a:gd name="T24" fmla="*/ 107 w 490"/>
                  <a:gd name="T25" fmla="*/ 10 h 325"/>
                  <a:gd name="T26" fmla="*/ 112 w 490"/>
                  <a:gd name="T27" fmla="*/ 9 h 325"/>
                  <a:gd name="T28" fmla="*/ 117 w 490"/>
                  <a:gd name="T29" fmla="*/ 4 h 325"/>
                  <a:gd name="T30" fmla="*/ 123 w 490"/>
                  <a:gd name="T31" fmla="*/ 0 h 325"/>
                  <a:gd name="T32" fmla="*/ 111 w 490"/>
                  <a:gd name="T33" fmla="*/ 35 h 325"/>
                  <a:gd name="T34" fmla="*/ 107 w 490"/>
                  <a:gd name="T35" fmla="*/ 34 h 325"/>
                  <a:gd name="T36" fmla="*/ 108 w 490"/>
                  <a:gd name="T37" fmla="*/ 29 h 325"/>
                  <a:gd name="T38" fmla="*/ 105 w 490"/>
                  <a:gd name="T39" fmla="*/ 25 h 325"/>
                  <a:gd name="T40" fmla="*/ 101 w 490"/>
                  <a:gd name="T41" fmla="*/ 23 h 325"/>
                  <a:gd name="T42" fmla="*/ 95 w 490"/>
                  <a:gd name="T43" fmla="*/ 23 h 325"/>
                  <a:gd name="T44" fmla="*/ 70 w 490"/>
                  <a:gd name="T45" fmla="*/ 24 h 325"/>
                  <a:gd name="T46" fmla="*/ 43 w 490"/>
                  <a:gd name="T47" fmla="*/ 25 h 325"/>
                  <a:gd name="T48" fmla="*/ 32 w 490"/>
                  <a:gd name="T49" fmla="*/ 26 h 325"/>
                  <a:gd name="T50" fmla="*/ 25 w 490"/>
                  <a:gd name="T51" fmla="*/ 29 h 325"/>
                  <a:gd name="T52" fmla="*/ 21 w 490"/>
                  <a:gd name="T53" fmla="*/ 33 h 325"/>
                  <a:gd name="T54" fmla="*/ 19 w 490"/>
                  <a:gd name="T55" fmla="*/ 39 h 325"/>
                  <a:gd name="T56" fmla="*/ 20 w 490"/>
                  <a:gd name="T57" fmla="*/ 43 h 325"/>
                  <a:gd name="T58" fmla="*/ 24 w 490"/>
                  <a:gd name="T59" fmla="*/ 51 h 325"/>
                  <a:gd name="T60" fmla="*/ 56 w 490"/>
                  <a:gd name="T61" fmla="*/ 54 h 325"/>
                  <a:gd name="T62" fmla="*/ 88 w 490"/>
                  <a:gd name="T63" fmla="*/ 54 h 325"/>
                  <a:gd name="T64" fmla="*/ 94 w 490"/>
                  <a:gd name="T65" fmla="*/ 53 h 325"/>
                  <a:gd name="T66" fmla="*/ 99 w 490"/>
                  <a:gd name="T67" fmla="*/ 51 h 325"/>
                  <a:gd name="T68" fmla="*/ 103 w 490"/>
                  <a:gd name="T69" fmla="*/ 48 h 325"/>
                  <a:gd name="T70" fmla="*/ 104 w 490"/>
                  <a:gd name="T71" fmla="*/ 44 h 325"/>
                  <a:gd name="T72" fmla="*/ 107 w 490"/>
                  <a:gd name="T73" fmla="*/ 41 h 325"/>
                  <a:gd name="T74" fmla="*/ 105 w 490"/>
                  <a:gd name="T75" fmla="*/ 60 h 325"/>
                  <a:gd name="T76" fmla="*/ 99 w 490"/>
                  <a:gd name="T77" fmla="*/ 78 h 325"/>
                  <a:gd name="T78" fmla="*/ 97 w 490"/>
                  <a:gd name="T79" fmla="*/ 77 h 325"/>
                  <a:gd name="T80" fmla="*/ 98 w 490"/>
                  <a:gd name="T81" fmla="*/ 74 h 325"/>
                  <a:gd name="T82" fmla="*/ 96 w 490"/>
                  <a:gd name="T83" fmla="*/ 70 h 325"/>
                  <a:gd name="T84" fmla="*/ 93 w 490"/>
                  <a:gd name="T85" fmla="*/ 68 h 325"/>
                  <a:gd name="T86" fmla="*/ 85 w 490"/>
                  <a:gd name="T87" fmla="*/ 67 h 325"/>
                  <a:gd name="T88" fmla="*/ 62 w 490"/>
                  <a:gd name="T89" fmla="*/ 68 h 325"/>
                  <a:gd name="T90" fmla="*/ 34 w 490"/>
                  <a:gd name="T91" fmla="*/ 68 h 325"/>
                  <a:gd name="T92" fmla="*/ 23 w 490"/>
                  <a:gd name="T93" fmla="*/ 69 h 325"/>
                  <a:gd name="T94" fmla="*/ 16 w 490"/>
                  <a:gd name="T95" fmla="*/ 70 h 325"/>
                  <a:gd name="T96" fmla="*/ 13 w 490"/>
                  <a:gd name="T97" fmla="*/ 72 h 325"/>
                  <a:gd name="T98" fmla="*/ 12 w 490"/>
                  <a:gd name="T99" fmla="*/ 77 h 325"/>
                  <a:gd name="T100" fmla="*/ 11 w 490"/>
                  <a:gd name="T101" fmla="*/ 80 h 325"/>
                  <a:gd name="T102" fmla="*/ 5 w 490"/>
                  <a:gd name="T103" fmla="*/ 70 h 325"/>
                  <a:gd name="T104" fmla="*/ 1 w 490"/>
                  <a:gd name="T105" fmla="*/ 58 h 325"/>
                  <a:gd name="T106" fmla="*/ 12 w 490"/>
                  <a:gd name="T107" fmla="*/ 55 h 3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90" h="325">
                    <a:moveTo>
                      <a:pt x="89" y="223"/>
                    </a:moveTo>
                    <a:lnTo>
                      <a:pt x="72" y="211"/>
                    </a:lnTo>
                    <a:lnTo>
                      <a:pt x="57" y="198"/>
                    </a:lnTo>
                    <a:lnTo>
                      <a:pt x="45" y="186"/>
                    </a:lnTo>
                    <a:lnTo>
                      <a:pt x="36" y="175"/>
                    </a:lnTo>
                    <a:lnTo>
                      <a:pt x="30" y="162"/>
                    </a:lnTo>
                    <a:lnTo>
                      <a:pt x="26" y="150"/>
                    </a:lnTo>
                    <a:lnTo>
                      <a:pt x="26" y="137"/>
                    </a:lnTo>
                    <a:lnTo>
                      <a:pt x="28" y="126"/>
                    </a:lnTo>
                    <a:lnTo>
                      <a:pt x="32" y="114"/>
                    </a:lnTo>
                    <a:lnTo>
                      <a:pt x="38" y="105"/>
                    </a:lnTo>
                    <a:lnTo>
                      <a:pt x="47" y="95"/>
                    </a:lnTo>
                    <a:lnTo>
                      <a:pt x="57" y="86"/>
                    </a:lnTo>
                    <a:lnTo>
                      <a:pt x="70" y="78"/>
                    </a:lnTo>
                    <a:lnTo>
                      <a:pt x="85" y="70"/>
                    </a:lnTo>
                    <a:lnTo>
                      <a:pt x="102" y="63"/>
                    </a:lnTo>
                    <a:lnTo>
                      <a:pt x="121" y="57"/>
                    </a:lnTo>
                    <a:lnTo>
                      <a:pt x="137" y="53"/>
                    </a:lnTo>
                    <a:lnTo>
                      <a:pt x="157" y="51"/>
                    </a:lnTo>
                    <a:lnTo>
                      <a:pt x="180" y="50"/>
                    </a:lnTo>
                    <a:lnTo>
                      <a:pt x="207" y="50"/>
                    </a:lnTo>
                    <a:lnTo>
                      <a:pt x="294" y="48"/>
                    </a:lnTo>
                    <a:lnTo>
                      <a:pt x="380" y="46"/>
                    </a:lnTo>
                    <a:lnTo>
                      <a:pt x="399" y="44"/>
                    </a:lnTo>
                    <a:lnTo>
                      <a:pt x="414" y="44"/>
                    </a:lnTo>
                    <a:lnTo>
                      <a:pt x="426" y="42"/>
                    </a:lnTo>
                    <a:lnTo>
                      <a:pt x="435" y="40"/>
                    </a:lnTo>
                    <a:lnTo>
                      <a:pt x="447" y="36"/>
                    </a:lnTo>
                    <a:lnTo>
                      <a:pt x="456" y="29"/>
                    </a:lnTo>
                    <a:lnTo>
                      <a:pt x="466" y="17"/>
                    </a:lnTo>
                    <a:lnTo>
                      <a:pt x="473" y="0"/>
                    </a:lnTo>
                    <a:lnTo>
                      <a:pt x="490" y="0"/>
                    </a:lnTo>
                    <a:lnTo>
                      <a:pt x="464" y="70"/>
                    </a:lnTo>
                    <a:lnTo>
                      <a:pt x="443" y="141"/>
                    </a:lnTo>
                    <a:lnTo>
                      <a:pt x="426" y="141"/>
                    </a:lnTo>
                    <a:lnTo>
                      <a:pt x="428" y="139"/>
                    </a:lnTo>
                    <a:lnTo>
                      <a:pt x="428" y="135"/>
                    </a:lnTo>
                    <a:lnTo>
                      <a:pt x="431" y="118"/>
                    </a:lnTo>
                    <a:lnTo>
                      <a:pt x="428" y="107"/>
                    </a:lnTo>
                    <a:lnTo>
                      <a:pt x="420" y="101"/>
                    </a:lnTo>
                    <a:lnTo>
                      <a:pt x="405" y="97"/>
                    </a:lnTo>
                    <a:lnTo>
                      <a:pt x="401" y="95"/>
                    </a:lnTo>
                    <a:lnTo>
                      <a:pt x="391" y="95"/>
                    </a:lnTo>
                    <a:lnTo>
                      <a:pt x="380" y="95"/>
                    </a:lnTo>
                    <a:lnTo>
                      <a:pt x="363" y="97"/>
                    </a:lnTo>
                    <a:lnTo>
                      <a:pt x="279" y="99"/>
                    </a:lnTo>
                    <a:lnTo>
                      <a:pt x="196" y="101"/>
                    </a:lnTo>
                    <a:lnTo>
                      <a:pt x="171" y="101"/>
                    </a:lnTo>
                    <a:lnTo>
                      <a:pt x="148" y="105"/>
                    </a:lnTo>
                    <a:lnTo>
                      <a:pt x="127" y="107"/>
                    </a:lnTo>
                    <a:lnTo>
                      <a:pt x="112" y="112"/>
                    </a:lnTo>
                    <a:lnTo>
                      <a:pt x="99" y="118"/>
                    </a:lnTo>
                    <a:lnTo>
                      <a:pt x="89" y="128"/>
                    </a:lnTo>
                    <a:lnTo>
                      <a:pt x="81" y="135"/>
                    </a:lnTo>
                    <a:lnTo>
                      <a:pt x="78" y="147"/>
                    </a:lnTo>
                    <a:lnTo>
                      <a:pt x="76" y="156"/>
                    </a:lnTo>
                    <a:lnTo>
                      <a:pt x="76" y="166"/>
                    </a:lnTo>
                    <a:lnTo>
                      <a:pt x="78" y="175"/>
                    </a:lnTo>
                    <a:lnTo>
                      <a:pt x="81" y="185"/>
                    </a:lnTo>
                    <a:lnTo>
                      <a:pt x="95" y="204"/>
                    </a:lnTo>
                    <a:lnTo>
                      <a:pt x="116" y="221"/>
                    </a:lnTo>
                    <a:lnTo>
                      <a:pt x="224" y="219"/>
                    </a:lnTo>
                    <a:lnTo>
                      <a:pt x="331" y="217"/>
                    </a:lnTo>
                    <a:lnTo>
                      <a:pt x="350" y="217"/>
                    </a:lnTo>
                    <a:lnTo>
                      <a:pt x="365" y="215"/>
                    </a:lnTo>
                    <a:lnTo>
                      <a:pt x="376" y="213"/>
                    </a:lnTo>
                    <a:lnTo>
                      <a:pt x="384" y="211"/>
                    </a:lnTo>
                    <a:lnTo>
                      <a:pt x="395" y="206"/>
                    </a:lnTo>
                    <a:lnTo>
                      <a:pt x="405" y="198"/>
                    </a:lnTo>
                    <a:lnTo>
                      <a:pt x="409" y="194"/>
                    </a:lnTo>
                    <a:lnTo>
                      <a:pt x="412" y="186"/>
                    </a:lnTo>
                    <a:lnTo>
                      <a:pt x="416" y="179"/>
                    </a:lnTo>
                    <a:lnTo>
                      <a:pt x="420" y="167"/>
                    </a:lnTo>
                    <a:lnTo>
                      <a:pt x="428" y="167"/>
                    </a:lnTo>
                    <a:lnTo>
                      <a:pt x="435" y="167"/>
                    </a:lnTo>
                    <a:lnTo>
                      <a:pt x="418" y="240"/>
                    </a:lnTo>
                    <a:lnTo>
                      <a:pt x="403" y="312"/>
                    </a:lnTo>
                    <a:lnTo>
                      <a:pt x="395" y="314"/>
                    </a:lnTo>
                    <a:lnTo>
                      <a:pt x="388" y="314"/>
                    </a:lnTo>
                    <a:lnTo>
                      <a:pt x="388" y="310"/>
                    </a:lnTo>
                    <a:lnTo>
                      <a:pt x="390" y="306"/>
                    </a:lnTo>
                    <a:lnTo>
                      <a:pt x="390" y="297"/>
                    </a:lnTo>
                    <a:lnTo>
                      <a:pt x="388" y="287"/>
                    </a:lnTo>
                    <a:lnTo>
                      <a:pt x="384" y="282"/>
                    </a:lnTo>
                    <a:lnTo>
                      <a:pt x="378" y="276"/>
                    </a:lnTo>
                    <a:lnTo>
                      <a:pt x="369" y="274"/>
                    </a:lnTo>
                    <a:lnTo>
                      <a:pt x="357" y="270"/>
                    </a:lnTo>
                    <a:lnTo>
                      <a:pt x="340" y="270"/>
                    </a:lnTo>
                    <a:lnTo>
                      <a:pt x="319" y="270"/>
                    </a:lnTo>
                    <a:lnTo>
                      <a:pt x="245" y="272"/>
                    </a:lnTo>
                    <a:lnTo>
                      <a:pt x="169" y="274"/>
                    </a:lnTo>
                    <a:lnTo>
                      <a:pt x="135" y="274"/>
                    </a:lnTo>
                    <a:lnTo>
                      <a:pt x="110" y="276"/>
                    </a:lnTo>
                    <a:lnTo>
                      <a:pt x="89" y="276"/>
                    </a:lnTo>
                    <a:lnTo>
                      <a:pt x="78" y="278"/>
                    </a:lnTo>
                    <a:lnTo>
                      <a:pt x="64" y="282"/>
                    </a:lnTo>
                    <a:lnTo>
                      <a:pt x="55" y="285"/>
                    </a:lnTo>
                    <a:lnTo>
                      <a:pt x="49" y="291"/>
                    </a:lnTo>
                    <a:lnTo>
                      <a:pt x="47" y="299"/>
                    </a:lnTo>
                    <a:lnTo>
                      <a:pt x="45" y="310"/>
                    </a:lnTo>
                    <a:lnTo>
                      <a:pt x="49" y="322"/>
                    </a:lnTo>
                    <a:lnTo>
                      <a:pt x="41" y="323"/>
                    </a:lnTo>
                    <a:lnTo>
                      <a:pt x="32" y="325"/>
                    </a:lnTo>
                    <a:lnTo>
                      <a:pt x="17" y="282"/>
                    </a:lnTo>
                    <a:lnTo>
                      <a:pt x="0" y="238"/>
                    </a:lnTo>
                    <a:lnTo>
                      <a:pt x="2" y="232"/>
                    </a:lnTo>
                    <a:lnTo>
                      <a:pt x="3" y="225"/>
                    </a:lnTo>
                    <a:lnTo>
                      <a:pt x="47" y="223"/>
                    </a:lnTo>
                    <a:lnTo>
                      <a:pt x="89" y="223"/>
                    </a:lnTo>
                    <a:close/>
                  </a:path>
                </a:pathLst>
              </a:custGeom>
              <a:solidFill>
                <a:srgbClr val="3366FF"/>
              </a:solidFill>
              <a:ln w="9525">
                <a:solidFill>
                  <a:srgbClr val="000000"/>
                </a:solidFill>
                <a:prstDash val="solid"/>
                <a:round/>
                <a:headEnd/>
                <a:tailEnd/>
              </a:ln>
            </p:spPr>
            <p:txBody>
              <a:bodyPr/>
              <a:lstStyle/>
              <a:p>
                <a:endParaRPr lang="en-IN"/>
              </a:p>
            </p:txBody>
          </p:sp>
          <p:sp>
            <p:nvSpPr>
              <p:cNvPr id="4127" name="Freeform 27">
                <a:extLst>
                  <a:ext uri="{FF2B5EF4-FFF2-40B4-BE49-F238E27FC236}">
                    <a16:creationId xmlns:a16="http://schemas.microsoft.com/office/drawing/2014/main" xmlns="" id="{4276C0C4-FEFA-8BC3-E2D5-2E16C999296C}"/>
                  </a:ext>
                </a:extLst>
              </p:cNvPr>
              <p:cNvSpPr>
                <a:spLocks/>
              </p:cNvSpPr>
              <p:nvPr/>
            </p:nvSpPr>
            <p:spPr bwMode="auto">
              <a:xfrm>
                <a:off x="1569" y="1057"/>
                <a:ext cx="286" cy="67"/>
              </a:xfrm>
              <a:custGeom>
                <a:avLst/>
                <a:gdLst>
                  <a:gd name="T0" fmla="*/ 2 w 572"/>
                  <a:gd name="T1" fmla="*/ 13 h 133"/>
                  <a:gd name="T2" fmla="*/ 19 w 572"/>
                  <a:gd name="T3" fmla="*/ 13 h 133"/>
                  <a:gd name="T4" fmla="*/ 36 w 572"/>
                  <a:gd name="T5" fmla="*/ 12 h 133"/>
                  <a:gd name="T6" fmla="*/ 39 w 572"/>
                  <a:gd name="T7" fmla="*/ 9 h 133"/>
                  <a:gd name="T8" fmla="*/ 42 w 572"/>
                  <a:gd name="T9" fmla="*/ 6 h 133"/>
                  <a:gd name="T10" fmla="*/ 46 w 572"/>
                  <a:gd name="T11" fmla="*/ 4 h 133"/>
                  <a:gd name="T12" fmla="*/ 50 w 572"/>
                  <a:gd name="T13" fmla="*/ 3 h 133"/>
                  <a:gd name="T14" fmla="*/ 54 w 572"/>
                  <a:gd name="T15" fmla="*/ 3 h 133"/>
                  <a:gd name="T16" fmla="*/ 58 w 572"/>
                  <a:gd name="T17" fmla="*/ 2 h 133"/>
                  <a:gd name="T18" fmla="*/ 54 w 572"/>
                  <a:gd name="T19" fmla="*/ 4 h 133"/>
                  <a:gd name="T20" fmla="*/ 50 w 572"/>
                  <a:gd name="T21" fmla="*/ 6 h 133"/>
                  <a:gd name="T22" fmla="*/ 46 w 572"/>
                  <a:gd name="T23" fmla="*/ 9 h 133"/>
                  <a:gd name="T24" fmla="*/ 43 w 572"/>
                  <a:gd name="T25" fmla="*/ 12 h 133"/>
                  <a:gd name="T26" fmla="*/ 76 w 572"/>
                  <a:gd name="T27" fmla="*/ 11 h 133"/>
                  <a:gd name="T28" fmla="*/ 110 w 572"/>
                  <a:gd name="T29" fmla="*/ 10 h 133"/>
                  <a:gd name="T30" fmla="*/ 114 w 572"/>
                  <a:gd name="T31" fmla="*/ 10 h 133"/>
                  <a:gd name="T32" fmla="*/ 118 w 572"/>
                  <a:gd name="T33" fmla="*/ 10 h 133"/>
                  <a:gd name="T34" fmla="*/ 122 w 572"/>
                  <a:gd name="T35" fmla="*/ 9 h 133"/>
                  <a:gd name="T36" fmla="*/ 124 w 572"/>
                  <a:gd name="T37" fmla="*/ 9 h 133"/>
                  <a:gd name="T38" fmla="*/ 127 w 572"/>
                  <a:gd name="T39" fmla="*/ 8 h 133"/>
                  <a:gd name="T40" fmla="*/ 129 w 572"/>
                  <a:gd name="T41" fmla="*/ 7 h 133"/>
                  <a:gd name="T42" fmla="*/ 132 w 572"/>
                  <a:gd name="T43" fmla="*/ 5 h 133"/>
                  <a:gd name="T44" fmla="*/ 134 w 572"/>
                  <a:gd name="T45" fmla="*/ 3 h 133"/>
                  <a:gd name="T46" fmla="*/ 134 w 572"/>
                  <a:gd name="T47" fmla="*/ 2 h 133"/>
                  <a:gd name="T48" fmla="*/ 133 w 572"/>
                  <a:gd name="T49" fmla="*/ 1 h 133"/>
                  <a:gd name="T50" fmla="*/ 133 w 572"/>
                  <a:gd name="T51" fmla="*/ 1 h 133"/>
                  <a:gd name="T52" fmla="*/ 131 w 572"/>
                  <a:gd name="T53" fmla="*/ 1 h 133"/>
                  <a:gd name="T54" fmla="*/ 133 w 572"/>
                  <a:gd name="T55" fmla="*/ 1 h 133"/>
                  <a:gd name="T56" fmla="*/ 134 w 572"/>
                  <a:gd name="T57" fmla="*/ 0 h 133"/>
                  <a:gd name="T58" fmla="*/ 138 w 572"/>
                  <a:gd name="T59" fmla="*/ 0 h 133"/>
                  <a:gd name="T60" fmla="*/ 141 w 572"/>
                  <a:gd name="T61" fmla="*/ 1 h 133"/>
                  <a:gd name="T62" fmla="*/ 142 w 572"/>
                  <a:gd name="T63" fmla="*/ 1 h 133"/>
                  <a:gd name="T64" fmla="*/ 143 w 572"/>
                  <a:gd name="T65" fmla="*/ 2 h 133"/>
                  <a:gd name="T66" fmla="*/ 143 w 572"/>
                  <a:gd name="T67" fmla="*/ 4 h 133"/>
                  <a:gd name="T68" fmla="*/ 143 w 572"/>
                  <a:gd name="T69" fmla="*/ 5 h 133"/>
                  <a:gd name="T70" fmla="*/ 142 w 572"/>
                  <a:gd name="T71" fmla="*/ 7 h 133"/>
                  <a:gd name="T72" fmla="*/ 140 w 572"/>
                  <a:gd name="T73" fmla="*/ 9 h 133"/>
                  <a:gd name="T74" fmla="*/ 137 w 572"/>
                  <a:gd name="T75" fmla="*/ 12 h 133"/>
                  <a:gd name="T76" fmla="*/ 133 w 572"/>
                  <a:gd name="T77" fmla="*/ 15 h 133"/>
                  <a:gd name="T78" fmla="*/ 127 w 572"/>
                  <a:gd name="T79" fmla="*/ 17 h 133"/>
                  <a:gd name="T80" fmla="*/ 122 w 572"/>
                  <a:gd name="T81" fmla="*/ 20 h 133"/>
                  <a:gd name="T82" fmla="*/ 118 w 572"/>
                  <a:gd name="T83" fmla="*/ 20 h 133"/>
                  <a:gd name="T84" fmla="*/ 114 w 572"/>
                  <a:gd name="T85" fmla="*/ 21 h 133"/>
                  <a:gd name="T86" fmla="*/ 110 w 572"/>
                  <a:gd name="T87" fmla="*/ 21 h 133"/>
                  <a:gd name="T88" fmla="*/ 104 w 572"/>
                  <a:gd name="T89" fmla="*/ 22 h 133"/>
                  <a:gd name="T90" fmla="*/ 70 w 572"/>
                  <a:gd name="T91" fmla="*/ 23 h 133"/>
                  <a:gd name="T92" fmla="*/ 36 w 572"/>
                  <a:gd name="T93" fmla="*/ 23 h 133"/>
                  <a:gd name="T94" fmla="*/ 33 w 572"/>
                  <a:gd name="T95" fmla="*/ 28 h 133"/>
                  <a:gd name="T96" fmla="*/ 30 w 572"/>
                  <a:gd name="T97" fmla="*/ 34 h 133"/>
                  <a:gd name="T98" fmla="*/ 28 w 572"/>
                  <a:gd name="T99" fmla="*/ 34 h 133"/>
                  <a:gd name="T100" fmla="*/ 26 w 572"/>
                  <a:gd name="T101" fmla="*/ 34 h 133"/>
                  <a:gd name="T102" fmla="*/ 26 w 572"/>
                  <a:gd name="T103" fmla="*/ 32 h 133"/>
                  <a:gd name="T104" fmla="*/ 25 w 572"/>
                  <a:gd name="T105" fmla="*/ 30 h 133"/>
                  <a:gd name="T106" fmla="*/ 22 w 572"/>
                  <a:gd name="T107" fmla="*/ 26 h 133"/>
                  <a:gd name="T108" fmla="*/ 18 w 572"/>
                  <a:gd name="T109" fmla="*/ 22 h 133"/>
                  <a:gd name="T110" fmla="*/ 16 w 572"/>
                  <a:gd name="T111" fmla="*/ 20 h 133"/>
                  <a:gd name="T112" fmla="*/ 13 w 572"/>
                  <a:gd name="T113" fmla="*/ 18 h 133"/>
                  <a:gd name="T114" fmla="*/ 11 w 572"/>
                  <a:gd name="T115" fmla="*/ 18 h 133"/>
                  <a:gd name="T116" fmla="*/ 8 w 572"/>
                  <a:gd name="T117" fmla="*/ 17 h 133"/>
                  <a:gd name="T118" fmla="*/ 5 w 572"/>
                  <a:gd name="T119" fmla="*/ 16 h 133"/>
                  <a:gd name="T120" fmla="*/ 0 w 572"/>
                  <a:gd name="T121" fmla="*/ 15 h 133"/>
                  <a:gd name="T122" fmla="*/ 2 w 572"/>
                  <a:gd name="T123" fmla="*/ 13 h 13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572" h="133">
                    <a:moveTo>
                      <a:pt x="6" y="51"/>
                    </a:moveTo>
                    <a:lnTo>
                      <a:pt x="74" y="49"/>
                    </a:lnTo>
                    <a:lnTo>
                      <a:pt x="141" y="47"/>
                    </a:lnTo>
                    <a:lnTo>
                      <a:pt x="154" y="34"/>
                    </a:lnTo>
                    <a:lnTo>
                      <a:pt x="167" y="23"/>
                    </a:lnTo>
                    <a:lnTo>
                      <a:pt x="182" y="15"/>
                    </a:lnTo>
                    <a:lnTo>
                      <a:pt x="200" y="9"/>
                    </a:lnTo>
                    <a:lnTo>
                      <a:pt x="215" y="9"/>
                    </a:lnTo>
                    <a:lnTo>
                      <a:pt x="230" y="8"/>
                    </a:lnTo>
                    <a:lnTo>
                      <a:pt x="215" y="13"/>
                    </a:lnTo>
                    <a:lnTo>
                      <a:pt x="200" y="23"/>
                    </a:lnTo>
                    <a:lnTo>
                      <a:pt x="184" y="34"/>
                    </a:lnTo>
                    <a:lnTo>
                      <a:pt x="171" y="47"/>
                    </a:lnTo>
                    <a:lnTo>
                      <a:pt x="304" y="44"/>
                    </a:lnTo>
                    <a:lnTo>
                      <a:pt x="437" y="40"/>
                    </a:lnTo>
                    <a:lnTo>
                      <a:pt x="454" y="40"/>
                    </a:lnTo>
                    <a:lnTo>
                      <a:pt x="472" y="38"/>
                    </a:lnTo>
                    <a:lnTo>
                      <a:pt x="485" y="36"/>
                    </a:lnTo>
                    <a:lnTo>
                      <a:pt x="494" y="34"/>
                    </a:lnTo>
                    <a:lnTo>
                      <a:pt x="506" y="30"/>
                    </a:lnTo>
                    <a:lnTo>
                      <a:pt x="513" y="27"/>
                    </a:lnTo>
                    <a:lnTo>
                      <a:pt x="527" y="17"/>
                    </a:lnTo>
                    <a:lnTo>
                      <a:pt x="534" y="11"/>
                    </a:lnTo>
                    <a:lnTo>
                      <a:pt x="536" y="6"/>
                    </a:lnTo>
                    <a:lnTo>
                      <a:pt x="532" y="4"/>
                    </a:lnTo>
                    <a:lnTo>
                      <a:pt x="529" y="4"/>
                    </a:lnTo>
                    <a:lnTo>
                      <a:pt x="523" y="2"/>
                    </a:lnTo>
                    <a:lnTo>
                      <a:pt x="529" y="2"/>
                    </a:lnTo>
                    <a:lnTo>
                      <a:pt x="534" y="0"/>
                    </a:lnTo>
                    <a:lnTo>
                      <a:pt x="550" y="0"/>
                    </a:lnTo>
                    <a:lnTo>
                      <a:pt x="561" y="2"/>
                    </a:lnTo>
                    <a:lnTo>
                      <a:pt x="567" y="4"/>
                    </a:lnTo>
                    <a:lnTo>
                      <a:pt x="570" y="8"/>
                    </a:lnTo>
                    <a:lnTo>
                      <a:pt x="572" y="13"/>
                    </a:lnTo>
                    <a:lnTo>
                      <a:pt x="570" y="19"/>
                    </a:lnTo>
                    <a:lnTo>
                      <a:pt x="565" y="28"/>
                    </a:lnTo>
                    <a:lnTo>
                      <a:pt x="557" y="36"/>
                    </a:lnTo>
                    <a:lnTo>
                      <a:pt x="546" y="46"/>
                    </a:lnTo>
                    <a:lnTo>
                      <a:pt x="529" y="57"/>
                    </a:lnTo>
                    <a:lnTo>
                      <a:pt x="508" y="68"/>
                    </a:lnTo>
                    <a:lnTo>
                      <a:pt x="485" y="78"/>
                    </a:lnTo>
                    <a:lnTo>
                      <a:pt x="472" y="80"/>
                    </a:lnTo>
                    <a:lnTo>
                      <a:pt x="454" y="82"/>
                    </a:lnTo>
                    <a:lnTo>
                      <a:pt x="437" y="84"/>
                    </a:lnTo>
                    <a:lnTo>
                      <a:pt x="416" y="86"/>
                    </a:lnTo>
                    <a:lnTo>
                      <a:pt x="279" y="89"/>
                    </a:lnTo>
                    <a:lnTo>
                      <a:pt x="141" y="91"/>
                    </a:lnTo>
                    <a:lnTo>
                      <a:pt x="131" y="112"/>
                    </a:lnTo>
                    <a:lnTo>
                      <a:pt x="120" y="133"/>
                    </a:lnTo>
                    <a:lnTo>
                      <a:pt x="112" y="133"/>
                    </a:lnTo>
                    <a:lnTo>
                      <a:pt x="104" y="133"/>
                    </a:lnTo>
                    <a:lnTo>
                      <a:pt x="103" y="125"/>
                    </a:lnTo>
                    <a:lnTo>
                      <a:pt x="99" y="118"/>
                    </a:lnTo>
                    <a:lnTo>
                      <a:pt x="87" y="103"/>
                    </a:lnTo>
                    <a:lnTo>
                      <a:pt x="72" y="86"/>
                    </a:lnTo>
                    <a:lnTo>
                      <a:pt x="61" y="78"/>
                    </a:lnTo>
                    <a:lnTo>
                      <a:pt x="49" y="72"/>
                    </a:lnTo>
                    <a:lnTo>
                      <a:pt x="42" y="70"/>
                    </a:lnTo>
                    <a:lnTo>
                      <a:pt x="30" y="66"/>
                    </a:lnTo>
                    <a:lnTo>
                      <a:pt x="17" y="63"/>
                    </a:lnTo>
                    <a:lnTo>
                      <a:pt x="0" y="57"/>
                    </a:lnTo>
                    <a:lnTo>
                      <a:pt x="6" y="51"/>
                    </a:lnTo>
                    <a:close/>
                  </a:path>
                </a:pathLst>
              </a:custGeom>
              <a:solidFill>
                <a:srgbClr val="3366FF"/>
              </a:solidFill>
              <a:ln w="9525">
                <a:solidFill>
                  <a:srgbClr val="000000"/>
                </a:solidFill>
                <a:prstDash val="solid"/>
                <a:round/>
                <a:headEnd/>
                <a:tailEnd/>
              </a:ln>
            </p:spPr>
            <p:txBody>
              <a:bodyPr/>
              <a:lstStyle/>
              <a:p>
                <a:endParaRPr lang="en-IN"/>
              </a:p>
            </p:txBody>
          </p:sp>
        </p:grpSp>
        <p:sp>
          <p:nvSpPr>
            <p:cNvPr id="4115" name="Rectangle 40">
              <a:extLst>
                <a:ext uri="{FF2B5EF4-FFF2-40B4-BE49-F238E27FC236}">
                  <a16:creationId xmlns:a16="http://schemas.microsoft.com/office/drawing/2014/main" xmlns="" id="{31C85F2F-1BC7-AF7B-6C90-9AC9A3EAA424}"/>
                </a:ext>
              </a:extLst>
            </p:cNvPr>
            <p:cNvSpPr>
              <a:spLocks noChangeArrowheads="1"/>
            </p:cNvSpPr>
            <p:nvPr/>
          </p:nvSpPr>
          <p:spPr bwMode="auto">
            <a:xfrm>
              <a:off x="1871" y="1517"/>
              <a:ext cx="3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00FF"/>
                  </a:solidFill>
                </a:rPr>
                <a:t>event</a:t>
              </a:r>
              <a:endParaRPr lang="en-US" altLang="en-US" sz="2400">
                <a:latin typeface="Times New Roman" panose="02020603050405020304" pitchFamily="18" charset="0"/>
              </a:endParaRPr>
            </a:p>
          </p:txBody>
        </p:sp>
        <p:sp>
          <p:nvSpPr>
            <p:cNvPr id="4116" name="Rectangle 42">
              <a:extLst>
                <a:ext uri="{FF2B5EF4-FFF2-40B4-BE49-F238E27FC236}">
                  <a16:creationId xmlns:a16="http://schemas.microsoft.com/office/drawing/2014/main" xmlns="" id="{AA1E999D-A424-C8DC-7CEA-F0CB0B1E2046}"/>
                </a:ext>
              </a:extLst>
            </p:cNvPr>
            <p:cNvSpPr>
              <a:spLocks noChangeArrowheads="1"/>
            </p:cNvSpPr>
            <p:nvPr/>
          </p:nvSpPr>
          <p:spPr bwMode="auto">
            <a:xfrm>
              <a:off x="1895" y="2200"/>
              <a:ext cx="3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00FF"/>
                  </a:solidFill>
                </a:rPr>
                <a:t>action</a:t>
              </a:r>
              <a:endParaRPr lang="en-US" altLang="en-US" sz="2400">
                <a:latin typeface="Times New Roman" panose="02020603050405020304" pitchFamily="18" charset="0"/>
              </a:endParaRPr>
            </a:p>
          </p:txBody>
        </p:sp>
      </p:grpSp>
      <p:grpSp>
        <p:nvGrpSpPr>
          <p:cNvPr id="4108" name="Group 46">
            <a:extLst>
              <a:ext uri="{FF2B5EF4-FFF2-40B4-BE49-F238E27FC236}">
                <a16:creationId xmlns:a16="http://schemas.microsoft.com/office/drawing/2014/main" xmlns="" id="{124B24A7-4BB6-BCE0-67D9-BDA610D0E742}"/>
              </a:ext>
            </a:extLst>
          </p:cNvPr>
          <p:cNvGrpSpPr>
            <a:grpSpLocks/>
          </p:cNvGrpSpPr>
          <p:nvPr/>
        </p:nvGrpSpPr>
        <p:grpSpPr bwMode="auto">
          <a:xfrm>
            <a:off x="3217863" y="2008188"/>
            <a:ext cx="2397125" cy="2249487"/>
            <a:chOff x="2027" y="1265"/>
            <a:chExt cx="1510" cy="1417"/>
          </a:xfrm>
        </p:grpSpPr>
        <p:sp>
          <p:nvSpPr>
            <p:cNvPr id="4109" name="Rectangle 12">
              <a:extLst>
                <a:ext uri="{FF2B5EF4-FFF2-40B4-BE49-F238E27FC236}">
                  <a16:creationId xmlns:a16="http://schemas.microsoft.com/office/drawing/2014/main" xmlns="" id="{9A9FE7B7-470E-A3E7-BDF7-7822BB450D52}"/>
                </a:ext>
              </a:extLst>
            </p:cNvPr>
            <p:cNvSpPr>
              <a:spLocks noChangeArrowheads="1"/>
            </p:cNvSpPr>
            <p:nvPr/>
          </p:nvSpPr>
          <p:spPr bwMode="auto">
            <a:xfrm>
              <a:off x="2511" y="1624"/>
              <a:ext cx="2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FF0000"/>
                  </a:solidFill>
                </a:rPr>
                <a:t>time</a:t>
              </a:r>
              <a:endParaRPr lang="en-US" altLang="en-US" sz="2400">
                <a:latin typeface="Times New Roman" panose="02020603050405020304" pitchFamily="18" charset="0"/>
              </a:endParaRPr>
            </a:p>
          </p:txBody>
        </p:sp>
        <p:grpSp>
          <p:nvGrpSpPr>
            <p:cNvPr id="4110" name="Group 38">
              <a:extLst>
                <a:ext uri="{FF2B5EF4-FFF2-40B4-BE49-F238E27FC236}">
                  <a16:creationId xmlns:a16="http://schemas.microsoft.com/office/drawing/2014/main" xmlns="" id="{3A4E2E7A-3128-D984-03F3-AB6D6F7CDBE8}"/>
                </a:ext>
              </a:extLst>
            </p:cNvPr>
            <p:cNvGrpSpPr>
              <a:grpSpLocks/>
            </p:cNvGrpSpPr>
            <p:nvPr/>
          </p:nvGrpSpPr>
          <p:grpSpPr bwMode="auto">
            <a:xfrm>
              <a:off x="2027" y="1265"/>
              <a:ext cx="1510" cy="1417"/>
              <a:chOff x="2027" y="1265"/>
              <a:chExt cx="1510" cy="1417"/>
            </a:xfrm>
          </p:grpSpPr>
          <p:sp>
            <p:nvSpPr>
              <p:cNvPr id="4111" name="Freeform 35">
                <a:extLst>
                  <a:ext uri="{FF2B5EF4-FFF2-40B4-BE49-F238E27FC236}">
                    <a16:creationId xmlns:a16="http://schemas.microsoft.com/office/drawing/2014/main" xmlns="" id="{E62A973A-EE24-B074-9D0E-23610DB33B73}"/>
                  </a:ext>
                </a:extLst>
              </p:cNvPr>
              <p:cNvSpPr>
                <a:spLocks/>
              </p:cNvSpPr>
              <p:nvPr/>
            </p:nvSpPr>
            <p:spPr bwMode="auto">
              <a:xfrm>
                <a:off x="2055" y="1265"/>
                <a:ext cx="1482" cy="1417"/>
              </a:xfrm>
              <a:custGeom>
                <a:avLst/>
                <a:gdLst>
                  <a:gd name="T0" fmla="*/ 67 w 2963"/>
                  <a:gd name="T1" fmla="*/ 18 h 2832"/>
                  <a:gd name="T2" fmla="*/ 114 w 2963"/>
                  <a:gd name="T3" fmla="*/ 6 h 2832"/>
                  <a:gd name="T4" fmla="*/ 175 w 2963"/>
                  <a:gd name="T5" fmla="*/ 20 h 2832"/>
                  <a:gd name="T6" fmla="*/ 226 w 2963"/>
                  <a:gd name="T7" fmla="*/ 54 h 2832"/>
                  <a:gd name="T8" fmla="*/ 383 w 2963"/>
                  <a:gd name="T9" fmla="*/ 183 h 2832"/>
                  <a:gd name="T10" fmla="*/ 450 w 2963"/>
                  <a:gd name="T11" fmla="*/ 225 h 2832"/>
                  <a:gd name="T12" fmla="*/ 488 w 2963"/>
                  <a:gd name="T13" fmla="*/ 229 h 2832"/>
                  <a:gd name="T14" fmla="*/ 543 w 2963"/>
                  <a:gd name="T15" fmla="*/ 195 h 2832"/>
                  <a:gd name="T16" fmla="*/ 568 w 2963"/>
                  <a:gd name="T17" fmla="*/ 180 h 2832"/>
                  <a:gd name="T18" fmla="*/ 590 w 2963"/>
                  <a:gd name="T19" fmla="*/ 183 h 2832"/>
                  <a:gd name="T20" fmla="*/ 620 w 2963"/>
                  <a:gd name="T21" fmla="*/ 213 h 2832"/>
                  <a:gd name="T22" fmla="*/ 701 w 2963"/>
                  <a:gd name="T23" fmla="*/ 337 h 2832"/>
                  <a:gd name="T24" fmla="*/ 732 w 2963"/>
                  <a:gd name="T25" fmla="*/ 412 h 2832"/>
                  <a:gd name="T26" fmla="*/ 734 w 2963"/>
                  <a:gd name="T27" fmla="*/ 450 h 2832"/>
                  <a:gd name="T28" fmla="*/ 707 w 2963"/>
                  <a:gd name="T29" fmla="*/ 469 h 2832"/>
                  <a:gd name="T30" fmla="*/ 637 w 2963"/>
                  <a:gd name="T31" fmla="*/ 481 h 2832"/>
                  <a:gd name="T32" fmla="*/ 495 w 2963"/>
                  <a:gd name="T33" fmla="*/ 474 h 2832"/>
                  <a:gd name="T34" fmla="*/ 460 w 2963"/>
                  <a:gd name="T35" fmla="*/ 466 h 2832"/>
                  <a:gd name="T36" fmla="*/ 443 w 2963"/>
                  <a:gd name="T37" fmla="*/ 446 h 2832"/>
                  <a:gd name="T38" fmla="*/ 424 w 2963"/>
                  <a:gd name="T39" fmla="*/ 376 h 2832"/>
                  <a:gd name="T40" fmla="*/ 406 w 2963"/>
                  <a:gd name="T41" fmla="*/ 364 h 2832"/>
                  <a:gd name="T42" fmla="*/ 373 w 2963"/>
                  <a:gd name="T43" fmla="*/ 381 h 2832"/>
                  <a:gd name="T44" fmla="*/ 307 w 2963"/>
                  <a:gd name="T45" fmla="*/ 455 h 2832"/>
                  <a:gd name="T46" fmla="*/ 166 w 2963"/>
                  <a:gd name="T47" fmla="*/ 630 h 2832"/>
                  <a:gd name="T48" fmla="*/ 104 w 2963"/>
                  <a:gd name="T49" fmla="*/ 693 h 2832"/>
                  <a:gd name="T50" fmla="*/ 84 w 2963"/>
                  <a:gd name="T51" fmla="*/ 702 h 2832"/>
                  <a:gd name="T52" fmla="*/ 58 w 2963"/>
                  <a:gd name="T53" fmla="*/ 699 h 2832"/>
                  <a:gd name="T54" fmla="*/ 23 w 2963"/>
                  <a:gd name="T55" fmla="*/ 656 h 2832"/>
                  <a:gd name="T56" fmla="*/ 0 w 2963"/>
                  <a:gd name="T57" fmla="*/ 632 h 2832"/>
                  <a:gd name="T58" fmla="*/ 18 w 2963"/>
                  <a:gd name="T59" fmla="*/ 661 h 2832"/>
                  <a:gd name="T60" fmla="*/ 59 w 2963"/>
                  <a:gd name="T61" fmla="*/ 706 h 2832"/>
                  <a:gd name="T62" fmla="*/ 90 w 2963"/>
                  <a:gd name="T63" fmla="*/ 706 h 2832"/>
                  <a:gd name="T64" fmla="*/ 136 w 2963"/>
                  <a:gd name="T65" fmla="*/ 673 h 2832"/>
                  <a:gd name="T66" fmla="*/ 230 w 2963"/>
                  <a:gd name="T67" fmla="*/ 561 h 2832"/>
                  <a:gd name="T68" fmla="*/ 347 w 2963"/>
                  <a:gd name="T69" fmla="*/ 416 h 2832"/>
                  <a:gd name="T70" fmla="*/ 389 w 2963"/>
                  <a:gd name="T71" fmla="*/ 377 h 2832"/>
                  <a:gd name="T72" fmla="*/ 410 w 2963"/>
                  <a:gd name="T73" fmla="*/ 368 h 2832"/>
                  <a:gd name="T74" fmla="*/ 420 w 2963"/>
                  <a:gd name="T75" fmla="*/ 380 h 2832"/>
                  <a:gd name="T76" fmla="*/ 434 w 2963"/>
                  <a:gd name="T77" fmla="*/ 437 h 2832"/>
                  <a:gd name="T78" fmla="*/ 462 w 2963"/>
                  <a:gd name="T79" fmla="*/ 473 h 2832"/>
                  <a:gd name="T80" fmla="*/ 512 w 2963"/>
                  <a:gd name="T81" fmla="*/ 482 h 2832"/>
                  <a:gd name="T82" fmla="*/ 676 w 2963"/>
                  <a:gd name="T83" fmla="*/ 483 h 2832"/>
                  <a:gd name="T84" fmla="*/ 727 w 2963"/>
                  <a:gd name="T85" fmla="*/ 466 h 2832"/>
                  <a:gd name="T86" fmla="*/ 741 w 2963"/>
                  <a:gd name="T87" fmla="*/ 441 h 2832"/>
                  <a:gd name="T88" fmla="*/ 725 w 2963"/>
                  <a:gd name="T89" fmla="*/ 376 h 2832"/>
                  <a:gd name="T90" fmla="*/ 643 w 2963"/>
                  <a:gd name="T91" fmla="*/ 233 h 2832"/>
                  <a:gd name="T92" fmla="*/ 598 w 2963"/>
                  <a:gd name="T93" fmla="*/ 181 h 2832"/>
                  <a:gd name="T94" fmla="*/ 571 w 2963"/>
                  <a:gd name="T95" fmla="*/ 173 h 2832"/>
                  <a:gd name="T96" fmla="*/ 531 w 2963"/>
                  <a:gd name="T97" fmla="*/ 198 h 2832"/>
                  <a:gd name="T98" fmla="*/ 486 w 2963"/>
                  <a:gd name="T99" fmla="*/ 223 h 2832"/>
                  <a:gd name="T100" fmla="*/ 465 w 2963"/>
                  <a:gd name="T101" fmla="*/ 224 h 2832"/>
                  <a:gd name="T102" fmla="*/ 412 w 2963"/>
                  <a:gd name="T103" fmla="*/ 200 h 2832"/>
                  <a:gd name="T104" fmla="*/ 288 w 2963"/>
                  <a:gd name="T105" fmla="*/ 97 h 2832"/>
                  <a:gd name="T106" fmla="*/ 193 w 2963"/>
                  <a:gd name="T107" fmla="*/ 24 h 2832"/>
                  <a:gd name="T108" fmla="*/ 125 w 2963"/>
                  <a:gd name="T109" fmla="*/ 0 h 2832"/>
                  <a:gd name="T110" fmla="*/ 65 w 2963"/>
                  <a:gd name="T111" fmla="*/ 16 h 283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963" h="2832">
                    <a:moveTo>
                      <a:pt x="57" y="251"/>
                    </a:moveTo>
                    <a:lnTo>
                      <a:pt x="72" y="268"/>
                    </a:lnTo>
                    <a:lnTo>
                      <a:pt x="129" y="207"/>
                    </a:lnTo>
                    <a:lnTo>
                      <a:pt x="184" y="152"/>
                    </a:lnTo>
                    <a:lnTo>
                      <a:pt x="215" y="125"/>
                    </a:lnTo>
                    <a:lnTo>
                      <a:pt x="245" y="100"/>
                    </a:lnTo>
                    <a:lnTo>
                      <a:pt x="277" y="79"/>
                    </a:lnTo>
                    <a:lnTo>
                      <a:pt x="268" y="70"/>
                    </a:lnTo>
                    <a:lnTo>
                      <a:pt x="274" y="81"/>
                    </a:lnTo>
                    <a:lnTo>
                      <a:pt x="306" y="62"/>
                    </a:lnTo>
                    <a:lnTo>
                      <a:pt x="342" y="47"/>
                    </a:lnTo>
                    <a:lnTo>
                      <a:pt x="378" y="34"/>
                    </a:lnTo>
                    <a:lnTo>
                      <a:pt x="418" y="24"/>
                    </a:lnTo>
                    <a:lnTo>
                      <a:pt x="413" y="15"/>
                    </a:lnTo>
                    <a:lnTo>
                      <a:pt x="413" y="26"/>
                    </a:lnTo>
                    <a:lnTo>
                      <a:pt x="454" y="22"/>
                    </a:lnTo>
                    <a:lnTo>
                      <a:pt x="498" y="22"/>
                    </a:lnTo>
                    <a:lnTo>
                      <a:pt x="544" y="28"/>
                    </a:lnTo>
                    <a:lnTo>
                      <a:pt x="544" y="17"/>
                    </a:lnTo>
                    <a:lnTo>
                      <a:pt x="540" y="26"/>
                    </a:lnTo>
                    <a:lnTo>
                      <a:pt x="589" y="38"/>
                    </a:lnTo>
                    <a:lnTo>
                      <a:pt x="643" y="55"/>
                    </a:lnTo>
                    <a:lnTo>
                      <a:pt x="669" y="64"/>
                    </a:lnTo>
                    <a:lnTo>
                      <a:pt x="700" y="79"/>
                    </a:lnTo>
                    <a:lnTo>
                      <a:pt x="730" y="97"/>
                    </a:lnTo>
                    <a:lnTo>
                      <a:pt x="763" y="116"/>
                    </a:lnTo>
                    <a:lnTo>
                      <a:pt x="797" y="136"/>
                    </a:lnTo>
                    <a:lnTo>
                      <a:pt x="802" y="127"/>
                    </a:lnTo>
                    <a:lnTo>
                      <a:pt x="793" y="135"/>
                    </a:lnTo>
                    <a:lnTo>
                      <a:pt x="827" y="159"/>
                    </a:lnTo>
                    <a:lnTo>
                      <a:pt x="863" y="184"/>
                    </a:lnTo>
                    <a:lnTo>
                      <a:pt x="901" y="213"/>
                    </a:lnTo>
                    <a:lnTo>
                      <a:pt x="976" y="272"/>
                    </a:lnTo>
                    <a:lnTo>
                      <a:pt x="1055" y="334"/>
                    </a:lnTo>
                    <a:lnTo>
                      <a:pt x="1135" y="403"/>
                    </a:lnTo>
                    <a:lnTo>
                      <a:pt x="1215" y="471"/>
                    </a:lnTo>
                    <a:lnTo>
                      <a:pt x="1297" y="540"/>
                    </a:lnTo>
                    <a:lnTo>
                      <a:pt x="1377" y="606"/>
                    </a:lnTo>
                    <a:lnTo>
                      <a:pt x="1455" y="671"/>
                    </a:lnTo>
                    <a:lnTo>
                      <a:pt x="1531" y="732"/>
                    </a:lnTo>
                    <a:lnTo>
                      <a:pt x="1603" y="785"/>
                    </a:lnTo>
                    <a:lnTo>
                      <a:pt x="1638" y="810"/>
                    </a:lnTo>
                    <a:lnTo>
                      <a:pt x="1641" y="812"/>
                    </a:lnTo>
                    <a:lnTo>
                      <a:pt x="1676" y="833"/>
                    </a:lnTo>
                    <a:lnTo>
                      <a:pt x="1708" y="854"/>
                    </a:lnTo>
                    <a:lnTo>
                      <a:pt x="1738" y="871"/>
                    </a:lnTo>
                    <a:lnTo>
                      <a:pt x="1769" y="886"/>
                    </a:lnTo>
                    <a:lnTo>
                      <a:pt x="1797" y="899"/>
                    </a:lnTo>
                    <a:lnTo>
                      <a:pt x="1822" y="907"/>
                    </a:lnTo>
                    <a:lnTo>
                      <a:pt x="1849" y="915"/>
                    </a:lnTo>
                    <a:lnTo>
                      <a:pt x="1852" y="915"/>
                    </a:lnTo>
                    <a:lnTo>
                      <a:pt x="1877" y="918"/>
                    </a:lnTo>
                    <a:lnTo>
                      <a:pt x="1902" y="918"/>
                    </a:lnTo>
                    <a:lnTo>
                      <a:pt x="1925" y="918"/>
                    </a:lnTo>
                    <a:lnTo>
                      <a:pt x="1946" y="915"/>
                    </a:lnTo>
                    <a:lnTo>
                      <a:pt x="1951" y="913"/>
                    </a:lnTo>
                    <a:lnTo>
                      <a:pt x="1972" y="909"/>
                    </a:lnTo>
                    <a:lnTo>
                      <a:pt x="1991" y="901"/>
                    </a:lnTo>
                    <a:lnTo>
                      <a:pt x="2031" y="882"/>
                    </a:lnTo>
                    <a:lnTo>
                      <a:pt x="2067" y="859"/>
                    </a:lnTo>
                    <a:lnTo>
                      <a:pt x="2071" y="857"/>
                    </a:lnTo>
                    <a:lnTo>
                      <a:pt x="2105" y="833"/>
                    </a:lnTo>
                    <a:lnTo>
                      <a:pt x="2138" y="806"/>
                    </a:lnTo>
                    <a:lnTo>
                      <a:pt x="2170" y="779"/>
                    </a:lnTo>
                    <a:lnTo>
                      <a:pt x="2201" y="755"/>
                    </a:lnTo>
                    <a:lnTo>
                      <a:pt x="2231" y="734"/>
                    </a:lnTo>
                    <a:lnTo>
                      <a:pt x="2221" y="724"/>
                    </a:lnTo>
                    <a:lnTo>
                      <a:pt x="2227" y="736"/>
                    </a:lnTo>
                    <a:lnTo>
                      <a:pt x="2258" y="720"/>
                    </a:lnTo>
                    <a:lnTo>
                      <a:pt x="2273" y="715"/>
                    </a:lnTo>
                    <a:lnTo>
                      <a:pt x="2269" y="705"/>
                    </a:lnTo>
                    <a:lnTo>
                      <a:pt x="2269" y="717"/>
                    </a:lnTo>
                    <a:lnTo>
                      <a:pt x="2284" y="713"/>
                    </a:lnTo>
                    <a:lnTo>
                      <a:pt x="2299" y="711"/>
                    </a:lnTo>
                    <a:lnTo>
                      <a:pt x="2315" y="713"/>
                    </a:lnTo>
                    <a:lnTo>
                      <a:pt x="2315" y="701"/>
                    </a:lnTo>
                    <a:lnTo>
                      <a:pt x="2311" y="713"/>
                    </a:lnTo>
                    <a:lnTo>
                      <a:pt x="2328" y="715"/>
                    </a:lnTo>
                    <a:lnTo>
                      <a:pt x="2343" y="722"/>
                    </a:lnTo>
                    <a:lnTo>
                      <a:pt x="2360" y="732"/>
                    </a:lnTo>
                    <a:lnTo>
                      <a:pt x="2366" y="720"/>
                    </a:lnTo>
                    <a:lnTo>
                      <a:pt x="2357" y="730"/>
                    </a:lnTo>
                    <a:lnTo>
                      <a:pt x="2377" y="743"/>
                    </a:lnTo>
                    <a:lnTo>
                      <a:pt x="2393" y="759"/>
                    </a:lnTo>
                    <a:lnTo>
                      <a:pt x="2414" y="778"/>
                    </a:lnTo>
                    <a:lnTo>
                      <a:pt x="2435" y="798"/>
                    </a:lnTo>
                    <a:lnTo>
                      <a:pt x="2457" y="825"/>
                    </a:lnTo>
                    <a:lnTo>
                      <a:pt x="2480" y="852"/>
                    </a:lnTo>
                    <a:lnTo>
                      <a:pt x="2505" y="880"/>
                    </a:lnTo>
                    <a:lnTo>
                      <a:pt x="2530" y="913"/>
                    </a:lnTo>
                    <a:lnTo>
                      <a:pt x="2554" y="947"/>
                    </a:lnTo>
                    <a:lnTo>
                      <a:pt x="2606" y="1019"/>
                    </a:lnTo>
                    <a:lnTo>
                      <a:pt x="2657" y="1097"/>
                    </a:lnTo>
                    <a:lnTo>
                      <a:pt x="2708" y="1179"/>
                    </a:lnTo>
                    <a:lnTo>
                      <a:pt x="2758" y="1263"/>
                    </a:lnTo>
                    <a:lnTo>
                      <a:pt x="2804" y="1346"/>
                    </a:lnTo>
                    <a:lnTo>
                      <a:pt x="2843" y="1428"/>
                    </a:lnTo>
                    <a:lnTo>
                      <a:pt x="2880" y="1510"/>
                    </a:lnTo>
                    <a:lnTo>
                      <a:pt x="2887" y="1500"/>
                    </a:lnTo>
                    <a:lnTo>
                      <a:pt x="2876" y="1500"/>
                    </a:lnTo>
                    <a:lnTo>
                      <a:pt x="2893" y="1538"/>
                    </a:lnTo>
                    <a:lnTo>
                      <a:pt x="2906" y="1577"/>
                    </a:lnTo>
                    <a:lnTo>
                      <a:pt x="2918" y="1613"/>
                    </a:lnTo>
                    <a:lnTo>
                      <a:pt x="2927" y="1647"/>
                    </a:lnTo>
                    <a:lnTo>
                      <a:pt x="2935" y="1677"/>
                    </a:lnTo>
                    <a:lnTo>
                      <a:pt x="2939" y="1708"/>
                    </a:lnTo>
                    <a:lnTo>
                      <a:pt x="2940" y="1736"/>
                    </a:lnTo>
                    <a:lnTo>
                      <a:pt x="2940" y="1761"/>
                    </a:lnTo>
                    <a:lnTo>
                      <a:pt x="2937" y="1784"/>
                    </a:lnTo>
                    <a:lnTo>
                      <a:pt x="2948" y="1784"/>
                    </a:lnTo>
                    <a:lnTo>
                      <a:pt x="2940" y="1774"/>
                    </a:lnTo>
                    <a:lnTo>
                      <a:pt x="2933" y="1799"/>
                    </a:lnTo>
                    <a:lnTo>
                      <a:pt x="2923" y="1812"/>
                    </a:lnTo>
                    <a:lnTo>
                      <a:pt x="2910" y="1828"/>
                    </a:lnTo>
                    <a:lnTo>
                      <a:pt x="2893" y="1843"/>
                    </a:lnTo>
                    <a:lnTo>
                      <a:pt x="2902" y="1850"/>
                    </a:lnTo>
                    <a:lnTo>
                      <a:pt x="2897" y="1841"/>
                    </a:lnTo>
                    <a:lnTo>
                      <a:pt x="2876" y="1854"/>
                    </a:lnTo>
                    <a:lnTo>
                      <a:pt x="2853" y="1866"/>
                    </a:lnTo>
                    <a:lnTo>
                      <a:pt x="2826" y="1875"/>
                    </a:lnTo>
                    <a:lnTo>
                      <a:pt x="2798" y="1885"/>
                    </a:lnTo>
                    <a:lnTo>
                      <a:pt x="2767" y="1894"/>
                    </a:lnTo>
                    <a:lnTo>
                      <a:pt x="2733" y="1902"/>
                    </a:lnTo>
                    <a:lnTo>
                      <a:pt x="2739" y="1911"/>
                    </a:lnTo>
                    <a:lnTo>
                      <a:pt x="2739" y="1900"/>
                    </a:lnTo>
                    <a:lnTo>
                      <a:pt x="2703" y="1906"/>
                    </a:lnTo>
                    <a:lnTo>
                      <a:pt x="2627" y="1915"/>
                    </a:lnTo>
                    <a:lnTo>
                      <a:pt x="2547" y="1923"/>
                    </a:lnTo>
                    <a:lnTo>
                      <a:pt x="2461" y="1925"/>
                    </a:lnTo>
                    <a:lnTo>
                      <a:pt x="2376" y="1925"/>
                    </a:lnTo>
                    <a:lnTo>
                      <a:pt x="2290" y="1923"/>
                    </a:lnTo>
                    <a:lnTo>
                      <a:pt x="2206" y="1917"/>
                    </a:lnTo>
                    <a:lnTo>
                      <a:pt x="2124" y="1911"/>
                    </a:lnTo>
                    <a:lnTo>
                      <a:pt x="2048" y="1904"/>
                    </a:lnTo>
                    <a:lnTo>
                      <a:pt x="2014" y="1898"/>
                    </a:lnTo>
                    <a:lnTo>
                      <a:pt x="1980" y="1894"/>
                    </a:lnTo>
                    <a:lnTo>
                      <a:pt x="1949" y="1890"/>
                    </a:lnTo>
                    <a:lnTo>
                      <a:pt x="1921" y="1885"/>
                    </a:lnTo>
                    <a:lnTo>
                      <a:pt x="1894" y="1881"/>
                    </a:lnTo>
                    <a:lnTo>
                      <a:pt x="1894" y="1892"/>
                    </a:lnTo>
                    <a:lnTo>
                      <a:pt x="1900" y="1881"/>
                    </a:lnTo>
                    <a:lnTo>
                      <a:pt x="1873" y="1875"/>
                    </a:lnTo>
                    <a:lnTo>
                      <a:pt x="1856" y="1869"/>
                    </a:lnTo>
                    <a:lnTo>
                      <a:pt x="1837" y="1862"/>
                    </a:lnTo>
                    <a:lnTo>
                      <a:pt x="1820" y="1850"/>
                    </a:lnTo>
                    <a:lnTo>
                      <a:pt x="1816" y="1862"/>
                    </a:lnTo>
                    <a:lnTo>
                      <a:pt x="1824" y="1852"/>
                    </a:lnTo>
                    <a:lnTo>
                      <a:pt x="1811" y="1841"/>
                    </a:lnTo>
                    <a:lnTo>
                      <a:pt x="1786" y="1811"/>
                    </a:lnTo>
                    <a:lnTo>
                      <a:pt x="1767" y="1774"/>
                    </a:lnTo>
                    <a:lnTo>
                      <a:pt x="1759" y="1782"/>
                    </a:lnTo>
                    <a:lnTo>
                      <a:pt x="1771" y="1782"/>
                    </a:lnTo>
                    <a:lnTo>
                      <a:pt x="1755" y="1744"/>
                    </a:lnTo>
                    <a:lnTo>
                      <a:pt x="1744" y="1700"/>
                    </a:lnTo>
                    <a:lnTo>
                      <a:pt x="1735" y="1658"/>
                    </a:lnTo>
                    <a:lnTo>
                      <a:pt x="1727" y="1616"/>
                    </a:lnTo>
                    <a:lnTo>
                      <a:pt x="1719" y="1577"/>
                    </a:lnTo>
                    <a:lnTo>
                      <a:pt x="1710" y="1540"/>
                    </a:lnTo>
                    <a:lnTo>
                      <a:pt x="1698" y="1510"/>
                    </a:lnTo>
                    <a:lnTo>
                      <a:pt x="1695" y="1500"/>
                    </a:lnTo>
                    <a:lnTo>
                      <a:pt x="1687" y="1489"/>
                    </a:lnTo>
                    <a:lnTo>
                      <a:pt x="1679" y="1478"/>
                    </a:lnTo>
                    <a:lnTo>
                      <a:pt x="1670" y="1470"/>
                    </a:lnTo>
                    <a:lnTo>
                      <a:pt x="1666" y="1468"/>
                    </a:lnTo>
                    <a:lnTo>
                      <a:pt x="1655" y="1460"/>
                    </a:lnTo>
                    <a:lnTo>
                      <a:pt x="1643" y="1457"/>
                    </a:lnTo>
                    <a:lnTo>
                      <a:pt x="1638" y="1457"/>
                    </a:lnTo>
                    <a:lnTo>
                      <a:pt x="1624" y="1455"/>
                    </a:lnTo>
                    <a:lnTo>
                      <a:pt x="1609" y="1457"/>
                    </a:lnTo>
                    <a:lnTo>
                      <a:pt x="1603" y="1459"/>
                    </a:lnTo>
                    <a:lnTo>
                      <a:pt x="1586" y="1464"/>
                    </a:lnTo>
                    <a:lnTo>
                      <a:pt x="1567" y="1472"/>
                    </a:lnTo>
                    <a:lnTo>
                      <a:pt x="1544" y="1485"/>
                    </a:lnTo>
                    <a:lnTo>
                      <a:pt x="1521" y="1500"/>
                    </a:lnTo>
                    <a:lnTo>
                      <a:pt x="1518" y="1502"/>
                    </a:lnTo>
                    <a:lnTo>
                      <a:pt x="1491" y="1523"/>
                    </a:lnTo>
                    <a:lnTo>
                      <a:pt x="1464" y="1548"/>
                    </a:lnTo>
                    <a:lnTo>
                      <a:pt x="1434" y="1577"/>
                    </a:lnTo>
                    <a:lnTo>
                      <a:pt x="1404" y="1609"/>
                    </a:lnTo>
                    <a:lnTo>
                      <a:pt x="1369" y="1645"/>
                    </a:lnTo>
                    <a:lnTo>
                      <a:pt x="1335" y="1683"/>
                    </a:lnTo>
                    <a:lnTo>
                      <a:pt x="1299" y="1725"/>
                    </a:lnTo>
                    <a:lnTo>
                      <a:pt x="1263" y="1769"/>
                    </a:lnTo>
                    <a:lnTo>
                      <a:pt x="1225" y="1816"/>
                    </a:lnTo>
                    <a:lnTo>
                      <a:pt x="1147" y="1913"/>
                    </a:lnTo>
                    <a:lnTo>
                      <a:pt x="1065" y="2014"/>
                    </a:lnTo>
                    <a:lnTo>
                      <a:pt x="983" y="2121"/>
                    </a:lnTo>
                    <a:lnTo>
                      <a:pt x="901" y="2225"/>
                    </a:lnTo>
                    <a:lnTo>
                      <a:pt x="820" y="2328"/>
                    </a:lnTo>
                    <a:lnTo>
                      <a:pt x="740" y="2427"/>
                    </a:lnTo>
                    <a:lnTo>
                      <a:pt x="702" y="2473"/>
                    </a:lnTo>
                    <a:lnTo>
                      <a:pt x="664" y="2518"/>
                    </a:lnTo>
                    <a:lnTo>
                      <a:pt x="627" y="2560"/>
                    </a:lnTo>
                    <a:lnTo>
                      <a:pt x="593" y="2602"/>
                    </a:lnTo>
                    <a:lnTo>
                      <a:pt x="559" y="2638"/>
                    </a:lnTo>
                    <a:lnTo>
                      <a:pt x="527" y="2672"/>
                    </a:lnTo>
                    <a:lnTo>
                      <a:pt x="494" y="2703"/>
                    </a:lnTo>
                    <a:lnTo>
                      <a:pt x="466" y="2729"/>
                    </a:lnTo>
                    <a:lnTo>
                      <a:pt x="439" y="2752"/>
                    </a:lnTo>
                    <a:lnTo>
                      <a:pt x="416" y="2769"/>
                    </a:lnTo>
                    <a:lnTo>
                      <a:pt x="422" y="2779"/>
                    </a:lnTo>
                    <a:lnTo>
                      <a:pt x="416" y="2769"/>
                    </a:lnTo>
                    <a:lnTo>
                      <a:pt x="394" y="2783"/>
                    </a:lnTo>
                    <a:lnTo>
                      <a:pt x="371" y="2794"/>
                    </a:lnTo>
                    <a:lnTo>
                      <a:pt x="350" y="2802"/>
                    </a:lnTo>
                    <a:lnTo>
                      <a:pt x="329" y="2807"/>
                    </a:lnTo>
                    <a:lnTo>
                      <a:pt x="333" y="2819"/>
                    </a:lnTo>
                    <a:lnTo>
                      <a:pt x="333" y="2807"/>
                    </a:lnTo>
                    <a:lnTo>
                      <a:pt x="314" y="2809"/>
                    </a:lnTo>
                    <a:lnTo>
                      <a:pt x="293" y="2809"/>
                    </a:lnTo>
                    <a:lnTo>
                      <a:pt x="276" y="2807"/>
                    </a:lnTo>
                    <a:lnTo>
                      <a:pt x="276" y="2819"/>
                    </a:lnTo>
                    <a:lnTo>
                      <a:pt x="279" y="2809"/>
                    </a:lnTo>
                    <a:lnTo>
                      <a:pt x="262" y="2805"/>
                    </a:lnTo>
                    <a:lnTo>
                      <a:pt x="245" y="2800"/>
                    </a:lnTo>
                    <a:lnTo>
                      <a:pt x="230" y="2792"/>
                    </a:lnTo>
                    <a:lnTo>
                      <a:pt x="224" y="2802"/>
                    </a:lnTo>
                    <a:lnTo>
                      <a:pt x="234" y="2794"/>
                    </a:lnTo>
                    <a:lnTo>
                      <a:pt x="203" y="2773"/>
                    </a:lnTo>
                    <a:lnTo>
                      <a:pt x="177" y="2748"/>
                    </a:lnTo>
                    <a:lnTo>
                      <a:pt x="152" y="2720"/>
                    </a:lnTo>
                    <a:lnTo>
                      <a:pt x="129" y="2687"/>
                    </a:lnTo>
                    <a:lnTo>
                      <a:pt x="108" y="2655"/>
                    </a:lnTo>
                    <a:lnTo>
                      <a:pt x="89" y="2623"/>
                    </a:lnTo>
                    <a:lnTo>
                      <a:pt x="72" y="2590"/>
                    </a:lnTo>
                    <a:lnTo>
                      <a:pt x="57" y="2562"/>
                    </a:lnTo>
                    <a:lnTo>
                      <a:pt x="42" y="2539"/>
                    </a:lnTo>
                    <a:lnTo>
                      <a:pt x="28" y="2520"/>
                    </a:lnTo>
                    <a:lnTo>
                      <a:pt x="21" y="2512"/>
                    </a:lnTo>
                    <a:lnTo>
                      <a:pt x="17" y="2511"/>
                    </a:lnTo>
                    <a:lnTo>
                      <a:pt x="11" y="2507"/>
                    </a:lnTo>
                    <a:lnTo>
                      <a:pt x="0" y="2526"/>
                    </a:lnTo>
                    <a:lnTo>
                      <a:pt x="7" y="2531"/>
                    </a:lnTo>
                    <a:lnTo>
                      <a:pt x="13" y="2522"/>
                    </a:lnTo>
                    <a:lnTo>
                      <a:pt x="4" y="2530"/>
                    </a:lnTo>
                    <a:lnTo>
                      <a:pt x="11" y="2537"/>
                    </a:lnTo>
                    <a:lnTo>
                      <a:pt x="25" y="2556"/>
                    </a:lnTo>
                    <a:lnTo>
                      <a:pt x="40" y="2579"/>
                    </a:lnTo>
                    <a:lnTo>
                      <a:pt x="55" y="2608"/>
                    </a:lnTo>
                    <a:lnTo>
                      <a:pt x="72" y="2640"/>
                    </a:lnTo>
                    <a:lnTo>
                      <a:pt x="91" y="2672"/>
                    </a:lnTo>
                    <a:lnTo>
                      <a:pt x="112" y="2705"/>
                    </a:lnTo>
                    <a:lnTo>
                      <a:pt x="135" y="2737"/>
                    </a:lnTo>
                    <a:lnTo>
                      <a:pt x="160" y="2765"/>
                    </a:lnTo>
                    <a:lnTo>
                      <a:pt x="186" y="2790"/>
                    </a:lnTo>
                    <a:lnTo>
                      <a:pt x="217" y="2811"/>
                    </a:lnTo>
                    <a:lnTo>
                      <a:pt x="220" y="2813"/>
                    </a:lnTo>
                    <a:lnTo>
                      <a:pt x="236" y="2821"/>
                    </a:lnTo>
                    <a:lnTo>
                      <a:pt x="253" y="2826"/>
                    </a:lnTo>
                    <a:lnTo>
                      <a:pt x="270" y="2830"/>
                    </a:lnTo>
                    <a:lnTo>
                      <a:pt x="276" y="2830"/>
                    </a:lnTo>
                    <a:lnTo>
                      <a:pt x="293" y="2832"/>
                    </a:lnTo>
                    <a:lnTo>
                      <a:pt x="314" y="2832"/>
                    </a:lnTo>
                    <a:lnTo>
                      <a:pt x="333" y="2830"/>
                    </a:lnTo>
                    <a:lnTo>
                      <a:pt x="338" y="2828"/>
                    </a:lnTo>
                    <a:lnTo>
                      <a:pt x="359" y="2823"/>
                    </a:lnTo>
                    <a:lnTo>
                      <a:pt x="380" y="2815"/>
                    </a:lnTo>
                    <a:lnTo>
                      <a:pt x="403" y="2804"/>
                    </a:lnTo>
                    <a:lnTo>
                      <a:pt x="428" y="2788"/>
                    </a:lnTo>
                    <a:lnTo>
                      <a:pt x="430" y="2788"/>
                    </a:lnTo>
                    <a:lnTo>
                      <a:pt x="456" y="2769"/>
                    </a:lnTo>
                    <a:lnTo>
                      <a:pt x="483" y="2746"/>
                    </a:lnTo>
                    <a:lnTo>
                      <a:pt x="511" y="2720"/>
                    </a:lnTo>
                    <a:lnTo>
                      <a:pt x="544" y="2689"/>
                    </a:lnTo>
                    <a:lnTo>
                      <a:pt x="576" y="2655"/>
                    </a:lnTo>
                    <a:lnTo>
                      <a:pt x="610" y="2619"/>
                    </a:lnTo>
                    <a:lnTo>
                      <a:pt x="645" y="2577"/>
                    </a:lnTo>
                    <a:lnTo>
                      <a:pt x="681" y="2535"/>
                    </a:lnTo>
                    <a:lnTo>
                      <a:pt x="719" y="2490"/>
                    </a:lnTo>
                    <a:lnTo>
                      <a:pt x="757" y="2444"/>
                    </a:lnTo>
                    <a:lnTo>
                      <a:pt x="837" y="2345"/>
                    </a:lnTo>
                    <a:lnTo>
                      <a:pt x="919" y="2242"/>
                    </a:lnTo>
                    <a:lnTo>
                      <a:pt x="1000" y="2138"/>
                    </a:lnTo>
                    <a:lnTo>
                      <a:pt x="1082" y="2031"/>
                    </a:lnTo>
                    <a:lnTo>
                      <a:pt x="1164" y="1930"/>
                    </a:lnTo>
                    <a:lnTo>
                      <a:pt x="1242" y="1833"/>
                    </a:lnTo>
                    <a:lnTo>
                      <a:pt x="1280" y="1786"/>
                    </a:lnTo>
                    <a:lnTo>
                      <a:pt x="1316" y="1742"/>
                    </a:lnTo>
                    <a:lnTo>
                      <a:pt x="1352" y="1700"/>
                    </a:lnTo>
                    <a:lnTo>
                      <a:pt x="1386" y="1662"/>
                    </a:lnTo>
                    <a:lnTo>
                      <a:pt x="1421" y="1626"/>
                    </a:lnTo>
                    <a:lnTo>
                      <a:pt x="1451" y="1594"/>
                    </a:lnTo>
                    <a:lnTo>
                      <a:pt x="1482" y="1565"/>
                    </a:lnTo>
                    <a:lnTo>
                      <a:pt x="1508" y="1540"/>
                    </a:lnTo>
                    <a:lnTo>
                      <a:pt x="1535" y="1519"/>
                    </a:lnTo>
                    <a:lnTo>
                      <a:pt x="1527" y="1512"/>
                    </a:lnTo>
                    <a:lnTo>
                      <a:pt x="1531" y="1521"/>
                    </a:lnTo>
                    <a:lnTo>
                      <a:pt x="1556" y="1504"/>
                    </a:lnTo>
                    <a:lnTo>
                      <a:pt x="1577" y="1493"/>
                    </a:lnTo>
                    <a:lnTo>
                      <a:pt x="1596" y="1485"/>
                    </a:lnTo>
                    <a:lnTo>
                      <a:pt x="1613" y="1480"/>
                    </a:lnTo>
                    <a:lnTo>
                      <a:pt x="1609" y="1468"/>
                    </a:lnTo>
                    <a:lnTo>
                      <a:pt x="1609" y="1480"/>
                    </a:lnTo>
                    <a:lnTo>
                      <a:pt x="1624" y="1478"/>
                    </a:lnTo>
                    <a:lnTo>
                      <a:pt x="1638" y="1480"/>
                    </a:lnTo>
                    <a:lnTo>
                      <a:pt x="1638" y="1468"/>
                    </a:lnTo>
                    <a:lnTo>
                      <a:pt x="1634" y="1478"/>
                    </a:lnTo>
                    <a:lnTo>
                      <a:pt x="1645" y="1481"/>
                    </a:lnTo>
                    <a:lnTo>
                      <a:pt x="1657" y="1489"/>
                    </a:lnTo>
                    <a:lnTo>
                      <a:pt x="1660" y="1478"/>
                    </a:lnTo>
                    <a:lnTo>
                      <a:pt x="1653" y="1487"/>
                    </a:lnTo>
                    <a:lnTo>
                      <a:pt x="1662" y="1495"/>
                    </a:lnTo>
                    <a:lnTo>
                      <a:pt x="1670" y="1506"/>
                    </a:lnTo>
                    <a:lnTo>
                      <a:pt x="1677" y="1518"/>
                    </a:lnTo>
                    <a:lnTo>
                      <a:pt x="1687" y="1510"/>
                    </a:lnTo>
                    <a:lnTo>
                      <a:pt x="1676" y="1510"/>
                    </a:lnTo>
                    <a:lnTo>
                      <a:pt x="1687" y="1540"/>
                    </a:lnTo>
                    <a:lnTo>
                      <a:pt x="1696" y="1577"/>
                    </a:lnTo>
                    <a:lnTo>
                      <a:pt x="1704" y="1616"/>
                    </a:lnTo>
                    <a:lnTo>
                      <a:pt x="1712" y="1658"/>
                    </a:lnTo>
                    <a:lnTo>
                      <a:pt x="1721" y="1700"/>
                    </a:lnTo>
                    <a:lnTo>
                      <a:pt x="1733" y="1744"/>
                    </a:lnTo>
                    <a:lnTo>
                      <a:pt x="1748" y="1782"/>
                    </a:lnTo>
                    <a:lnTo>
                      <a:pt x="1750" y="1791"/>
                    </a:lnTo>
                    <a:lnTo>
                      <a:pt x="1769" y="1828"/>
                    </a:lnTo>
                    <a:lnTo>
                      <a:pt x="1793" y="1858"/>
                    </a:lnTo>
                    <a:lnTo>
                      <a:pt x="1807" y="1869"/>
                    </a:lnTo>
                    <a:lnTo>
                      <a:pt x="1811" y="1871"/>
                    </a:lnTo>
                    <a:lnTo>
                      <a:pt x="1828" y="1883"/>
                    </a:lnTo>
                    <a:lnTo>
                      <a:pt x="1847" y="1890"/>
                    </a:lnTo>
                    <a:lnTo>
                      <a:pt x="1870" y="1898"/>
                    </a:lnTo>
                    <a:lnTo>
                      <a:pt x="1891" y="1902"/>
                    </a:lnTo>
                    <a:lnTo>
                      <a:pt x="1894" y="1904"/>
                    </a:lnTo>
                    <a:lnTo>
                      <a:pt x="1921" y="1908"/>
                    </a:lnTo>
                    <a:lnTo>
                      <a:pt x="1949" y="1913"/>
                    </a:lnTo>
                    <a:lnTo>
                      <a:pt x="1980" y="1917"/>
                    </a:lnTo>
                    <a:lnTo>
                      <a:pt x="2014" y="1921"/>
                    </a:lnTo>
                    <a:lnTo>
                      <a:pt x="2048" y="1927"/>
                    </a:lnTo>
                    <a:lnTo>
                      <a:pt x="2124" y="1934"/>
                    </a:lnTo>
                    <a:lnTo>
                      <a:pt x="2206" y="1940"/>
                    </a:lnTo>
                    <a:lnTo>
                      <a:pt x="2290" y="1946"/>
                    </a:lnTo>
                    <a:lnTo>
                      <a:pt x="2376" y="1947"/>
                    </a:lnTo>
                    <a:lnTo>
                      <a:pt x="2461" y="1947"/>
                    </a:lnTo>
                    <a:lnTo>
                      <a:pt x="2547" y="1946"/>
                    </a:lnTo>
                    <a:lnTo>
                      <a:pt x="2627" y="1938"/>
                    </a:lnTo>
                    <a:lnTo>
                      <a:pt x="2703" y="1928"/>
                    </a:lnTo>
                    <a:lnTo>
                      <a:pt x="2739" y="1923"/>
                    </a:lnTo>
                    <a:lnTo>
                      <a:pt x="2743" y="1923"/>
                    </a:lnTo>
                    <a:lnTo>
                      <a:pt x="2777" y="1915"/>
                    </a:lnTo>
                    <a:lnTo>
                      <a:pt x="2807" y="1906"/>
                    </a:lnTo>
                    <a:lnTo>
                      <a:pt x="2836" y="1896"/>
                    </a:lnTo>
                    <a:lnTo>
                      <a:pt x="2862" y="1887"/>
                    </a:lnTo>
                    <a:lnTo>
                      <a:pt x="2885" y="1875"/>
                    </a:lnTo>
                    <a:lnTo>
                      <a:pt x="2906" y="1862"/>
                    </a:lnTo>
                    <a:lnTo>
                      <a:pt x="2910" y="1860"/>
                    </a:lnTo>
                    <a:lnTo>
                      <a:pt x="2927" y="1845"/>
                    </a:lnTo>
                    <a:lnTo>
                      <a:pt x="2940" y="1830"/>
                    </a:lnTo>
                    <a:lnTo>
                      <a:pt x="2952" y="1809"/>
                    </a:lnTo>
                    <a:lnTo>
                      <a:pt x="2958" y="1791"/>
                    </a:lnTo>
                    <a:lnTo>
                      <a:pt x="2960" y="1784"/>
                    </a:lnTo>
                    <a:lnTo>
                      <a:pt x="2963" y="1761"/>
                    </a:lnTo>
                    <a:lnTo>
                      <a:pt x="2963" y="1736"/>
                    </a:lnTo>
                    <a:lnTo>
                      <a:pt x="2961" y="1708"/>
                    </a:lnTo>
                    <a:lnTo>
                      <a:pt x="2958" y="1677"/>
                    </a:lnTo>
                    <a:lnTo>
                      <a:pt x="2950" y="1647"/>
                    </a:lnTo>
                    <a:lnTo>
                      <a:pt x="2940" y="1613"/>
                    </a:lnTo>
                    <a:lnTo>
                      <a:pt x="2929" y="1577"/>
                    </a:lnTo>
                    <a:lnTo>
                      <a:pt x="2916" y="1538"/>
                    </a:lnTo>
                    <a:lnTo>
                      <a:pt x="2899" y="1500"/>
                    </a:lnTo>
                    <a:lnTo>
                      <a:pt x="2897" y="1493"/>
                    </a:lnTo>
                    <a:lnTo>
                      <a:pt x="2861" y="1411"/>
                    </a:lnTo>
                    <a:lnTo>
                      <a:pt x="2821" y="1329"/>
                    </a:lnTo>
                    <a:lnTo>
                      <a:pt x="2775" y="1246"/>
                    </a:lnTo>
                    <a:lnTo>
                      <a:pt x="2726" y="1162"/>
                    </a:lnTo>
                    <a:lnTo>
                      <a:pt x="2674" y="1080"/>
                    </a:lnTo>
                    <a:lnTo>
                      <a:pt x="2623" y="1002"/>
                    </a:lnTo>
                    <a:lnTo>
                      <a:pt x="2571" y="930"/>
                    </a:lnTo>
                    <a:lnTo>
                      <a:pt x="2547" y="895"/>
                    </a:lnTo>
                    <a:lnTo>
                      <a:pt x="2522" y="863"/>
                    </a:lnTo>
                    <a:lnTo>
                      <a:pt x="2497" y="835"/>
                    </a:lnTo>
                    <a:lnTo>
                      <a:pt x="2474" y="808"/>
                    </a:lnTo>
                    <a:lnTo>
                      <a:pt x="2452" y="781"/>
                    </a:lnTo>
                    <a:lnTo>
                      <a:pt x="2431" y="760"/>
                    </a:lnTo>
                    <a:lnTo>
                      <a:pt x="2410" y="741"/>
                    </a:lnTo>
                    <a:lnTo>
                      <a:pt x="2391" y="724"/>
                    </a:lnTo>
                    <a:lnTo>
                      <a:pt x="2374" y="713"/>
                    </a:lnTo>
                    <a:lnTo>
                      <a:pt x="2370" y="711"/>
                    </a:lnTo>
                    <a:lnTo>
                      <a:pt x="2353" y="701"/>
                    </a:lnTo>
                    <a:lnTo>
                      <a:pt x="2338" y="694"/>
                    </a:lnTo>
                    <a:lnTo>
                      <a:pt x="2320" y="692"/>
                    </a:lnTo>
                    <a:lnTo>
                      <a:pt x="2315" y="690"/>
                    </a:lnTo>
                    <a:lnTo>
                      <a:pt x="2299" y="688"/>
                    </a:lnTo>
                    <a:lnTo>
                      <a:pt x="2284" y="690"/>
                    </a:lnTo>
                    <a:lnTo>
                      <a:pt x="2269" y="694"/>
                    </a:lnTo>
                    <a:lnTo>
                      <a:pt x="2263" y="694"/>
                    </a:lnTo>
                    <a:lnTo>
                      <a:pt x="2248" y="700"/>
                    </a:lnTo>
                    <a:lnTo>
                      <a:pt x="2218" y="715"/>
                    </a:lnTo>
                    <a:lnTo>
                      <a:pt x="2214" y="717"/>
                    </a:lnTo>
                    <a:lnTo>
                      <a:pt x="2183" y="738"/>
                    </a:lnTo>
                    <a:lnTo>
                      <a:pt x="2153" y="762"/>
                    </a:lnTo>
                    <a:lnTo>
                      <a:pt x="2121" y="789"/>
                    </a:lnTo>
                    <a:lnTo>
                      <a:pt x="2088" y="816"/>
                    </a:lnTo>
                    <a:lnTo>
                      <a:pt x="2054" y="840"/>
                    </a:lnTo>
                    <a:lnTo>
                      <a:pt x="2062" y="850"/>
                    </a:lnTo>
                    <a:lnTo>
                      <a:pt x="2058" y="838"/>
                    </a:lnTo>
                    <a:lnTo>
                      <a:pt x="2022" y="861"/>
                    </a:lnTo>
                    <a:lnTo>
                      <a:pt x="1982" y="880"/>
                    </a:lnTo>
                    <a:lnTo>
                      <a:pt x="1963" y="888"/>
                    </a:lnTo>
                    <a:lnTo>
                      <a:pt x="1942" y="892"/>
                    </a:lnTo>
                    <a:lnTo>
                      <a:pt x="1946" y="903"/>
                    </a:lnTo>
                    <a:lnTo>
                      <a:pt x="1946" y="892"/>
                    </a:lnTo>
                    <a:lnTo>
                      <a:pt x="1925" y="895"/>
                    </a:lnTo>
                    <a:lnTo>
                      <a:pt x="1902" y="895"/>
                    </a:lnTo>
                    <a:lnTo>
                      <a:pt x="1877" y="895"/>
                    </a:lnTo>
                    <a:lnTo>
                      <a:pt x="1852" y="892"/>
                    </a:lnTo>
                    <a:lnTo>
                      <a:pt x="1852" y="903"/>
                    </a:lnTo>
                    <a:lnTo>
                      <a:pt x="1858" y="894"/>
                    </a:lnTo>
                    <a:lnTo>
                      <a:pt x="1832" y="886"/>
                    </a:lnTo>
                    <a:lnTo>
                      <a:pt x="1807" y="878"/>
                    </a:lnTo>
                    <a:lnTo>
                      <a:pt x="1778" y="865"/>
                    </a:lnTo>
                    <a:lnTo>
                      <a:pt x="1748" y="850"/>
                    </a:lnTo>
                    <a:lnTo>
                      <a:pt x="1717" y="833"/>
                    </a:lnTo>
                    <a:lnTo>
                      <a:pt x="1685" y="812"/>
                    </a:lnTo>
                    <a:lnTo>
                      <a:pt x="1651" y="791"/>
                    </a:lnTo>
                    <a:lnTo>
                      <a:pt x="1647" y="800"/>
                    </a:lnTo>
                    <a:lnTo>
                      <a:pt x="1655" y="793"/>
                    </a:lnTo>
                    <a:lnTo>
                      <a:pt x="1620" y="768"/>
                    </a:lnTo>
                    <a:lnTo>
                      <a:pt x="1548" y="715"/>
                    </a:lnTo>
                    <a:lnTo>
                      <a:pt x="1472" y="654"/>
                    </a:lnTo>
                    <a:lnTo>
                      <a:pt x="1394" y="589"/>
                    </a:lnTo>
                    <a:lnTo>
                      <a:pt x="1314" y="523"/>
                    </a:lnTo>
                    <a:lnTo>
                      <a:pt x="1232" y="454"/>
                    </a:lnTo>
                    <a:lnTo>
                      <a:pt x="1152" y="386"/>
                    </a:lnTo>
                    <a:lnTo>
                      <a:pt x="1073" y="317"/>
                    </a:lnTo>
                    <a:lnTo>
                      <a:pt x="993" y="254"/>
                    </a:lnTo>
                    <a:lnTo>
                      <a:pt x="919" y="195"/>
                    </a:lnTo>
                    <a:lnTo>
                      <a:pt x="880" y="167"/>
                    </a:lnTo>
                    <a:lnTo>
                      <a:pt x="844" y="142"/>
                    </a:lnTo>
                    <a:lnTo>
                      <a:pt x="810" y="117"/>
                    </a:lnTo>
                    <a:lnTo>
                      <a:pt x="806" y="116"/>
                    </a:lnTo>
                    <a:lnTo>
                      <a:pt x="772" y="95"/>
                    </a:lnTo>
                    <a:lnTo>
                      <a:pt x="740" y="76"/>
                    </a:lnTo>
                    <a:lnTo>
                      <a:pt x="709" y="58"/>
                    </a:lnTo>
                    <a:lnTo>
                      <a:pt x="679" y="43"/>
                    </a:lnTo>
                    <a:lnTo>
                      <a:pt x="650" y="34"/>
                    </a:lnTo>
                    <a:lnTo>
                      <a:pt x="599" y="17"/>
                    </a:lnTo>
                    <a:lnTo>
                      <a:pt x="550" y="5"/>
                    </a:lnTo>
                    <a:lnTo>
                      <a:pt x="544" y="5"/>
                    </a:lnTo>
                    <a:lnTo>
                      <a:pt x="498" y="0"/>
                    </a:lnTo>
                    <a:lnTo>
                      <a:pt x="454" y="0"/>
                    </a:lnTo>
                    <a:lnTo>
                      <a:pt x="413" y="3"/>
                    </a:lnTo>
                    <a:lnTo>
                      <a:pt x="409" y="3"/>
                    </a:lnTo>
                    <a:lnTo>
                      <a:pt x="369" y="13"/>
                    </a:lnTo>
                    <a:lnTo>
                      <a:pt x="333" y="26"/>
                    </a:lnTo>
                    <a:lnTo>
                      <a:pt x="297" y="41"/>
                    </a:lnTo>
                    <a:lnTo>
                      <a:pt x="264" y="60"/>
                    </a:lnTo>
                    <a:lnTo>
                      <a:pt x="260" y="62"/>
                    </a:lnTo>
                    <a:lnTo>
                      <a:pt x="228" y="83"/>
                    </a:lnTo>
                    <a:lnTo>
                      <a:pt x="198" y="108"/>
                    </a:lnTo>
                    <a:lnTo>
                      <a:pt x="167" y="135"/>
                    </a:lnTo>
                    <a:lnTo>
                      <a:pt x="112" y="190"/>
                    </a:lnTo>
                    <a:lnTo>
                      <a:pt x="57" y="25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4112" name="Freeform 36">
                <a:extLst>
                  <a:ext uri="{FF2B5EF4-FFF2-40B4-BE49-F238E27FC236}">
                    <a16:creationId xmlns:a16="http://schemas.microsoft.com/office/drawing/2014/main" xmlns="" id="{C560D202-286A-4159-5BBC-EF6143DBB9B1}"/>
                  </a:ext>
                </a:extLst>
              </p:cNvPr>
              <p:cNvSpPr>
                <a:spLocks/>
              </p:cNvSpPr>
              <p:nvPr/>
            </p:nvSpPr>
            <p:spPr bwMode="auto">
              <a:xfrm>
                <a:off x="2059" y="1367"/>
                <a:ext cx="56" cy="56"/>
              </a:xfrm>
              <a:custGeom>
                <a:avLst/>
                <a:gdLst>
                  <a:gd name="T0" fmla="*/ 27 w 113"/>
                  <a:gd name="T1" fmla="*/ 0 h 112"/>
                  <a:gd name="T2" fmla="*/ 0 w 113"/>
                  <a:gd name="T3" fmla="*/ 1 h 112"/>
                  <a:gd name="T4" fmla="*/ 1 w 113"/>
                  <a:gd name="T5" fmla="*/ 28 h 112"/>
                  <a:gd name="T6" fmla="*/ 28 w 113"/>
                  <a:gd name="T7" fmla="*/ 27 h 112"/>
                  <a:gd name="T8" fmla="*/ 27 w 113"/>
                  <a:gd name="T9" fmla="*/ 0 h 1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 h="112">
                    <a:moveTo>
                      <a:pt x="109" y="0"/>
                    </a:moveTo>
                    <a:lnTo>
                      <a:pt x="0" y="2"/>
                    </a:lnTo>
                    <a:lnTo>
                      <a:pt x="4" y="112"/>
                    </a:lnTo>
                    <a:lnTo>
                      <a:pt x="113" y="107"/>
                    </a:lnTo>
                    <a:lnTo>
                      <a:pt x="10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4113" name="Freeform 37">
                <a:extLst>
                  <a:ext uri="{FF2B5EF4-FFF2-40B4-BE49-F238E27FC236}">
                    <a16:creationId xmlns:a16="http://schemas.microsoft.com/office/drawing/2014/main" xmlns="" id="{F47862AB-84A6-1D1F-49AB-A9BAA7CF6365}"/>
                  </a:ext>
                </a:extLst>
              </p:cNvPr>
              <p:cNvSpPr>
                <a:spLocks/>
              </p:cNvSpPr>
              <p:nvPr/>
            </p:nvSpPr>
            <p:spPr bwMode="auto">
              <a:xfrm>
                <a:off x="2027" y="2492"/>
                <a:ext cx="62" cy="62"/>
              </a:xfrm>
              <a:custGeom>
                <a:avLst/>
                <a:gdLst>
                  <a:gd name="T0" fmla="*/ 27 w 123"/>
                  <a:gd name="T1" fmla="*/ 31 h 124"/>
                  <a:gd name="T2" fmla="*/ 31 w 123"/>
                  <a:gd name="T3" fmla="*/ 4 h 124"/>
                  <a:gd name="T4" fmla="*/ 4 w 123"/>
                  <a:gd name="T5" fmla="*/ 0 h 124"/>
                  <a:gd name="T6" fmla="*/ 0 w 123"/>
                  <a:gd name="T7" fmla="*/ 28 h 124"/>
                  <a:gd name="T8" fmla="*/ 27 w 123"/>
                  <a:gd name="T9" fmla="*/ 31 h 1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124">
                    <a:moveTo>
                      <a:pt x="106" y="124"/>
                    </a:moveTo>
                    <a:lnTo>
                      <a:pt x="123" y="16"/>
                    </a:lnTo>
                    <a:lnTo>
                      <a:pt x="13" y="0"/>
                    </a:lnTo>
                    <a:lnTo>
                      <a:pt x="0" y="109"/>
                    </a:lnTo>
                    <a:lnTo>
                      <a:pt x="106" y="12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9">
            <a:extLst>
              <a:ext uri="{FF2B5EF4-FFF2-40B4-BE49-F238E27FC236}">
                <a16:creationId xmlns:a16="http://schemas.microsoft.com/office/drawing/2014/main" xmlns="" id="{0C5FBE58-CCE0-D2A7-E266-F68D5FB510BE}"/>
              </a:ext>
            </a:extLst>
          </p:cNvPr>
          <p:cNvSpPr>
            <a:spLocks noGrp="1"/>
          </p:cNvSpPr>
          <p:nvPr>
            <p:ph sz="quarter" idx="1"/>
          </p:nvPr>
        </p:nvSpPr>
        <p:spPr>
          <a:xfrm>
            <a:off x="0" y="836613"/>
            <a:ext cx="5184775"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Real Time Embedded Systems</a:t>
            </a:r>
            <a:r>
              <a:rPr lang="en-US" altLang="en-US" sz="3400">
                <a:solidFill>
                  <a:schemeClr val="tx1"/>
                </a:solidFill>
              </a:rPr>
              <a:t>	</a:t>
            </a:r>
          </a:p>
          <a:p>
            <a:pPr algn="just"/>
            <a:r>
              <a:rPr lang="en-US" altLang="en-US" sz="2400">
                <a:solidFill>
                  <a:schemeClr val="tx1"/>
                </a:solidFill>
              </a:rPr>
              <a:t>The embedded systems which respond to real time situation with the help of its embedded software and hardware, within the specified time constraints are called real time embedded systems</a:t>
            </a:r>
          </a:p>
          <a:p>
            <a:pPr algn="just"/>
            <a:endParaRPr lang="en-US" altLang="en-US" sz="2400">
              <a:solidFill>
                <a:schemeClr val="tx1"/>
              </a:solidFill>
            </a:endParaRPr>
          </a:p>
          <a:p>
            <a:pPr algn="just"/>
            <a:endParaRPr lang="en-US" altLang="en-US" sz="2800"/>
          </a:p>
          <a:p>
            <a:pPr algn="just"/>
            <a:endParaRPr lang="en-US" altLang="en-US" sz="2800"/>
          </a:p>
        </p:txBody>
      </p:sp>
      <p:pic>
        <p:nvPicPr>
          <p:cNvPr id="5123" name="Picture 6">
            <a:extLst>
              <a:ext uri="{FF2B5EF4-FFF2-40B4-BE49-F238E27FC236}">
                <a16:creationId xmlns:a16="http://schemas.microsoft.com/office/drawing/2014/main" xmlns="" id="{7B3D2140-FBAA-0E62-C458-78F9C6700A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Picture 2">
            <a:extLst>
              <a:ext uri="{FF2B5EF4-FFF2-40B4-BE49-F238E27FC236}">
                <a16:creationId xmlns:a16="http://schemas.microsoft.com/office/drawing/2014/main" xmlns="" id="{DED5E063-1B92-CD26-2E62-CC24E60DE5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7650" y="1341438"/>
            <a:ext cx="3629025" cy="353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xmlns="" id="{613A4796-87C4-8775-9B1B-34E57BF5127F}"/>
              </a:ext>
            </a:extLst>
          </p:cNvPr>
          <p:cNvSpPr>
            <a:spLocks noGrp="1"/>
          </p:cNvSpPr>
          <p:nvPr>
            <p:ph sz="quarter" idx="1"/>
          </p:nvPr>
        </p:nvSpPr>
        <p:spPr>
          <a:xfrm>
            <a:off x="0" y="836613"/>
            <a:ext cx="5184775" cy="5905500"/>
          </a:xfrm>
        </p:spPr>
        <p:txBody>
          <a:bodyPr>
            <a:normAutofit lnSpcReduction="10000"/>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Real Time Embedded Systems</a:t>
            </a:r>
            <a:r>
              <a:rPr lang="en-US" sz="3400" dirty="0">
                <a:solidFill>
                  <a:schemeClr val="tx1"/>
                </a:solidFill>
              </a:rPr>
              <a:t>	</a:t>
            </a:r>
          </a:p>
          <a:p>
            <a:pPr algn="just">
              <a:defRPr/>
            </a:pPr>
            <a:r>
              <a:rPr lang="en-US" sz="2600" dirty="0">
                <a:solidFill>
                  <a:schemeClr val="tx1"/>
                </a:solidFill>
              </a:rPr>
              <a:t>The Real time System is a system which is used for performing some specific tasks. </a:t>
            </a:r>
          </a:p>
          <a:p>
            <a:pPr algn="just">
              <a:defRPr/>
            </a:pPr>
            <a:r>
              <a:rPr lang="en-US" sz="2600" dirty="0">
                <a:solidFill>
                  <a:schemeClr val="tx1"/>
                </a:solidFill>
              </a:rPr>
              <a:t>The tasks assigned to real-time systems need to be completed in given time interval. </a:t>
            </a:r>
          </a:p>
          <a:p>
            <a:pPr algn="just">
              <a:defRPr/>
            </a:pPr>
            <a:r>
              <a:rPr lang="en-US" sz="2600" dirty="0">
                <a:solidFill>
                  <a:schemeClr val="tx1"/>
                </a:solidFill>
              </a:rPr>
              <a:t>A real-time embedded system combines the technologies of embedded systems and real-time computing. To achieve the most complete and accurate description</a:t>
            </a:r>
            <a:endParaRPr lang="en-US" sz="2800" dirty="0"/>
          </a:p>
          <a:p>
            <a:pPr algn="just">
              <a:defRPr/>
            </a:pPr>
            <a:endParaRPr lang="en-US" sz="2800" dirty="0"/>
          </a:p>
        </p:txBody>
      </p:sp>
      <p:pic>
        <p:nvPicPr>
          <p:cNvPr id="6147" name="Picture 6">
            <a:extLst>
              <a:ext uri="{FF2B5EF4-FFF2-40B4-BE49-F238E27FC236}">
                <a16:creationId xmlns:a16="http://schemas.microsoft.com/office/drawing/2014/main" xmlns="" id="{3F5EEE37-F31A-47A6-EF15-A2DBD865C2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3">
            <a:extLst>
              <a:ext uri="{FF2B5EF4-FFF2-40B4-BE49-F238E27FC236}">
                <a16:creationId xmlns:a16="http://schemas.microsoft.com/office/drawing/2014/main" xmlns="" id="{CFEECADE-89EA-ED2E-56F1-45BB11821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1052513"/>
            <a:ext cx="3786188" cy="507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9">
            <a:extLst>
              <a:ext uri="{FF2B5EF4-FFF2-40B4-BE49-F238E27FC236}">
                <a16:creationId xmlns:a16="http://schemas.microsoft.com/office/drawing/2014/main" xmlns="" id="{4BE0CB01-8FAB-F909-5117-53029C4722A6}"/>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	Real Time Operating  System (RTOS)</a:t>
            </a:r>
            <a:r>
              <a:rPr lang="en-US" altLang="en-US" sz="3400">
                <a:solidFill>
                  <a:schemeClr val="tx1"/>
                </a:solidFill>
              </a:rPr>
              <a:t>	</a:t>
            </a:r>
          </a:p>
          <a:p>
            <a:pPr algn="just"/>
            <a:r>
              <a:rPr lang="en-US" altLang="en-US" sz="2800">
                <a:solidFill>
                  <a:schemeClr val="tx1"/>
                </a:solidFill>
              </a:rPr>
              <a:t>An RTOS is used for embedded systems applications that are time sensitive or time critical. </a:t>
            </a:r>
          </a:p>
          <a:p>
            <a:pPr algn="just"/>
            <a:r>
              <a:rPr lang="en-US" altLang="en-US" sz="2800">
                <a:solidFill>
                  <a:schemeClr val="tx1"/>
                </a:solidFill>
              </a:rPr>
              <a:t> In a time-critical system, the value of completing a task is linked to its timeliness and tasks that are completed past the deadline may have a negative value. </a:t>
            </a:r>
          </a:p>
          <a:p>
            <a:pPr algn="just"/>
            <a:r>
              <a:rPr lang="en-US" altLang="en-US" sz="2800">
                <a:solidFill>
                  <a:schemeClr val="tx1"/>
                </a:solidFill>
              </a:rPr>
              <a:t>RTOS includes a task scheduler component whose goal is to ensure that critical tasks meet their deadline, even when it means sacrificing other areas of performance.</a:t>
            </a:r>
          </a:p>
          <a:p>
            <a:pPr algn="just"/>
            <a:endParaRPr lang="en-US" altLang="en-US" sz="2800">
              <a:solidFill>
                <a:schemeClr val="tx1"/>
              </a:solidFill>
            </a:endParaRPr>
          </a:p>
          <a:p>
            <a:pPr algn="just"/>
            <a:endParaRPr lang="en-US" altLang="en-US" sz="2800">
              <a:solidFill>
                <a:schemeClr val="tx1"/>
              </a:solidFill>
            </a:endParaRPr>
          </a:p>
        </p:txBody>
      </p:sp>
      <p:pic>
        <p:nvPicPr>
          <p:cNvPr id="7171" name="Picture 6">
            <a:extLst>
              <a:ext uri="{FF2B5EF4-FFF2-40B4-BE49-F238E27FC236}">
                <a16:creationId xmlns:a16="http://schemas.microsoft.com/office/drawing/2014/main" xmlns="" id="{123DAC08-C681-5F0D-6F5E-6C63A1CB5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xmlns="" id="{38832FA2-58BA-2803-3F3E-95F01B7344D3}"/>
              </a:ext>
            </a:extLst>
          </p:cNvPr>
          <p:cNvSpPr>
            <a:spLocks noGrp="1"/>
          </p:cNvSpPr>
          <p:nvPr>
            <p:ph sz="quarter" idx="1"/>
          </p:nvPr>
        </p:nvSpPr>
        <p:spPr>
          <a:xfrm>
            <a:off x="0" y="836613"/>
            <a:ext cx="8964613" cy="5905500"/>
          </a:xfrm>
        </p:spPr>
        <p:txBody>
          <a:bodyPr>
            <a:normAutofit lnSpcReduction="10000"/>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	Characteristics of RTES</a:t>
            </a:r>
            <a:r>
              <a:rPr lang="en-US" sz="3400" dirty="0">
                <a:solidFill>
                  <a:schemeClr val="tx1"/>
                </a:solidFill>
              </a:rPr>
              <a:t>	</a:t>
            </a:r>
          </a:p>
          <a:p>
            <a:pPr marL="514350" indent="-514350" algn="just">
              <a:buFont typeface="+mj-lt"/>
              <a:buAutoNum type="arabicPeriod"/>
              <a:defRPr/>
            </a:pPr>
            <a:r>
              <a:rPr lang="en-US" sz="2800" b="1" dirty="0">
                <a:solidFill>
                  <a:schemeClr val="tx1"/>
                </a:solidFill>
              </a:rPr>
              <a:t>Constant Response:</a:t>
            </a:r>
            <a:r>
              <a:rPr lang="en-US" sz="2800" dirty="0">
                <a:solidFill>
                  <a:schemeClr val="tx1"/>
                </a:solidFill>
              </a:rPr>
              <a:t> A real-time embedded system always responds in the same manner to a certain situation, it is not allowed to deviate from its normal designated output.</a:t>
            </a:r>
          </a:p>
          <a:p>
            <a:pPr marL="514350" indent="-514350" algn="just">
              <a:buFont typeface="+mj-lt"/>
              <a:buAutoNum type="arabicPeriod"/>
              <a:defRPr/>
            </a:pPr>
            <a:r>
              <a:rPr lang="en-US" sz="2800" b="1" dirty="0">
                <a:solidFill>
                  <a:schemeClr val="tx1"/>
                </a:solidFill>
              </a:rPr>
              <a:t>Deadline:</a:t>
            </a:r>
            <a:r>
              <a:rPr lang="en-US" sz="2800" dirty="0">
                <a:solidFill>
                  <a:schemeClr val="tx1"/>
                </a:solidFill>
              </a:rPr>
              <a:t> A deadline is crucial to the working of an embedded system, a missed deadline can cost lives and finances</a:t>
            </a:r>
          </a:p>
          <a:p>
            <a:pPr marL="514350" indent="-514350" algn="just">
              <a:buFont typeface="+mj-lt"/>
              <a:buAutoNum type="arabicPeriod"/>
              <a:defRPr/>
            </a:pPr>
            <a:r>
              <a:rPr lang="en-US" sz="2800" b="1" dirty="0">
                <a:solidFill>
                  <a:schemeClr val="tx1"/>
                </a:solidFill>
              </a:rPr>
              <a:t>Accuracy:</a:t>
            </a:r>
            <a:r>
              <a:rPr lang="en-US" sz="2800" dirty="0">
                <a:solidFill>
                  <a:schemeClr val="tx1"/>
                </a:solidFill>
              </a:rPr>
              <a:t>  Accuracy is important characteristic for RTES. what would happen if the pacemaker can't maintain the heartbeat, patient would eventually die</a:t>
            </a:r>
          </a:p>
          <a:p>
            <a:pPr marL="514350" indent="-514350" algn="just">
              <a:buFont typeface="+mj-lt"/>
              <a:buAutoNum type="arabicPeriod"/>
              <a:defRPr/>
            </a:pPr>
            <a:r>
              <a:rPr lang="en-US" sz="2800" b="1" dirty="0">
                <a:solidFill>
                  <a:schemeClr val="tx1"/>
                </a:solidFill>
              </a:rPr>
              <a:t>Quick Response: </a:t>
            </a:r>
            <a:r>
              <a:rPr lang="en-US" sz="2800" dirty="0">
                <a:solidFill>
                  <a:schemeClr val="tx1"/>
                </a:solidFill>
              </a:rPr>
              <a:t>The real-time embedded system must be swift enough to respond to the changing external environment with immediate effect</a:t>
            </a:r>
          </a:p>
        </p:txBody>
      </p:sp>
      <p:pic>
        <p:nvPicPr>
          <p:cNvPr id="8195" name="Picture 6">
            <a:extLst>
              <a:ext uri="{FF2B5EF4-FFF2-40B4-BE49-F238E27FC236}">
                <a16:creationId xmlns:a16="http://schemas.microsoft.com/office/drawing/2014/main" xmlns="" id="{AA3D647F-5058-7BC4-03D6-1AE31E9628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9">
            <a:extLst>
              <a:ext uri="{FF2B5EF4-FFF2-40B4-BE49-F238E27FC236}">
                <a16:creationId xmlns:a16="http://schemas.microsoft.com/office/drawing/2014/main" xmlns="" id="{4C74E11D-21BD-0617-E15F-A50D89B7FBAF}"/>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	Examples of RTES</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9219" name="Picture 6">
            <a:extLst>
              <a:ext uri="{FF2B5EF4-FFF2-40B4-BE49-F238E27FC236}">
                <a16:creationId xmlns:a16="http://schemas.microsoft.com/office/drawing/2014/main" xmlns="" id="{009B53E6-64E0-EB91-2002-34CD8E2132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Group 26">
            <a:extLst>
              <a:ext uri="{FF2B5EF4-FFF2-40B4-BE49-F238E27FC236}">
                <a16:creationId xmlns:a16="http://schemas.microsoft.com/office/drawing/2014/main" xmlns="" id="{C11C390A-3806-6195-F1D4-812ABEE4B141}"/>
              </a:ext>
            </a:extLst>
          </p:cNvPr>
          <p:cNvGraphicFramePr>
            <a:graphicFrameLocks/>
          </p:cNvGraphicFramePr>
          <p:nvPr/>
        </p:nvGraphicFramePr>
        <p:xfrm>
          <a:off x="863600" y="1719263"/>
          <a:ext cx="7772400" cy="4841876"/>
        </p:xfrm>
        <a:graphic>
          <a:graphicData uri="http://schemas.openxmlformats.org/drawingml/2006/table">
            <a:tbl>
              <a:tblPr/>
              <a:tblGrid>
                <a:gridCol w="3886200">
                  <a:extLst>
                    <a:ext uri="{9D8B030D-6E8A-4147-A177-3AD203B41FA5}">
                      <a16:colId xmlns:a16="http://schemas.microsoft.com/office/drawing/2014/main" xmlns="" val="20000"/>
                    </a:ext>
                  </a:extLst>
                </a:gridCol>
                <a:gridCol w="3886200">
                  <a:extLst>
                    <a:ext uri="{9D8B030D-6E8A-4147-A177-3AD203B41FA5}">
                      <a16:colId xmlns:a16="http://schemas.microsoft.com/office/drawing/2014/main" xmlns="" val="20001"/>
                    </a:ext>
                  </a:extLst>
                </a:gridCol>
              </a:tblGrid>
              <a:tr h="75565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1" i="0" u="none" strike="noStrike" cap="none" normalizeH="0" baseline="0" dirty="0">
                          <a:ln>
                            <a:noFill/>
                          </a:ln>
                          <a:solidFill>
                            <a:schemeClr val="tx1"/>
                          </a:solidFill>
                          <a:effectLst/>
                          <a:latin typeface="Arial" charset="0"/>
                        </a:rPr>
                        <a:t>Domain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1" i="0" u="none" strike="noStrike" cap="none" normalizeH="0" baseline="0">
                          <a:ln>
                            <a:noFill/>
                          </a:ln>
                          <a:solidFill>
                            <a:schemeClr val="tx1"/>
                          </a:solidFill>
                          <a:effectLst/>
                          <a:latin typeface="Arial" charset="0"/>
                        </a:rPr>
                        <a:t>Application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754063">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Avionics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Navigation; displays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75565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Multimedia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Games; simulators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75565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dirty="0">
                          <a:ln>
                            <a:noFill/>
                          </a:ln>
                          <a:solidFill>
                            <a:schemeClr val="tx1"/>
                          </a:solidFill>
                          <a:effectLst/>
                          <a:latin typeface="Arial" charset="0"/>
                        </a:rPr>
                        <a:t>Medicine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Robot surgery; remote surgery; medical imaging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754063">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Industrial systems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Robot assembly lines; automated inspection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106680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Civilian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dirty="0">
                          <a:ln>
                            <a:noFill/>
                          </a:ln>
                          <a:solidFill>
                            <a:schemeClr val="tx1"/>
                          </a:solidFill>
                          <a:effectLst/>
                          <a:latin typeface="Arial" charset="0"/>
                        </a:rPr>
                        <a:t>Elevator control</a:t>
                      </a:r>
                    </a:p>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dirty="0">
                          <a:ln>
                            <a:noFill/>
                          </a:ln>
                          <a:solidFill>
                            <a:schemeClr val="tx1"/>
                          </a:solidFill>
                          <a:effectLst/>
                          <a:latin typeface="Arial" charset="0"/>
                        </a:rPr>
                        <a:t>Automotive system; Global positioning system (GPS)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9">
            <a:extLst>
              <a:ext uri="{FF2B5EF4-FFF2-40B4-BE49-F238E27FC236}">
                <a16:creationId xmlns:a16="http://schemas.microsoft.com/office/drawing/2014/main" xmlns="" id="{2BF7EFFD-7A5C-F81B-207D-5DC789AD7FF2}"/>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	Types of RTES</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10243" name="Picture 6">
            <a:extLst>
              <a:ext uri="{FF2B5EF4-FFF2-40B4-BE49-F238E27FC236}">
                <a16:creationId xmlns:a16="http://schemas.microsoft.com/office/drawing/2014/main" xmlns="" id="{D5200AF2-42ED-4C07-36BA-13FC79A6DF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4" name="Picture 3">
            <a:extLst>
              <a:ext uri="{FF2B5EF4-FFF2-40B4-BE49-F238E27FC236}">
                <a16:creationId xmlns:a16="http://schemas.microsoft.com/office/drawing/2014/main" xmlns="" id="{32FFD4B9-3A58-E685-CE33-EC33D11059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1557338"/>
            <a:ext cx="4618038" cy="507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9">
            <a:extLst>
              <a:ext uri="{FF2B5EF4-FFF2-40B4-BE49-F238E27FC236}">
                <a16:creationId xmlns:a16="http://schemas.microsoft.com/office/drawing/2014/main" xmlns="" id="{847B8419-04E9-4437-8DB9-0DC1C9D01002}"/>
              </a:ext>
            </a:extLst>
          </p:cNvPr>
          <p:cNvSpPr>
            <a:spLocks noGrp="1"/>
          </p:cNvSpPr>
          <p:nvPr>
            <p:ph sz="quarter" idx="1"/>
          </p:nvPr>
        </p:nvSpPr>
        <p:spPr>
          <a:xfrm>
            <a:off x="0" y="692150"/>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	Hard Real Time Embedded System </a:t>
            </a:r>
            <a:r>
              <a:rPr lang="en-US" altLang="en-US" sz="3400">
                <a:solidFill>
                  <a:schemeClr val="tx1"/>
                </a:solidFill>
              </a:rPr>
              <a:t>	</a:t>
            </a:r>
          </a:p>
          <a:p>
            <a:pPr algn="just"/>
            <a:r>
              <a:rPr lang="en-US" altLang="en-US" sz="2600">
                <a:solidFill>
                  <a:schemeClr val="tx1"/>
                </a:solidFill>
              </a:rPr>
              <a:t>This type of system makes sure that all critical processes are completed within the given time frame. </a:t>
            </a:r>
          </a:p>
          <a:p>
            <a:pPr algn="just"/>
            <a:r>
              <a:rPr lang="en-US" altLang="en-US" sz="2600">
                <a:solidFill>
                  <a:schemeClr val="tx1"/>
                </a:solidFill>
              </a:rPr>
              <a:t>This means that all the delays in the system are strictly time bound. </a:t>
            </a:r>
          </a:p>
          <a:p>
            <a:pPr algn="just"/>
            <a:r>
              <a:rPr lang="en-US" altLang="en-US" sz="2600">
                <a:solidFill>
                  <a:schemeClr val="tx1"/>
                </a:solidFill>
              </a:rPr>
              <a:t>Also, there is little to no secondary memory and data is stored in short term memory or read only memory. </a:t>
            </a:r>
          </a:p>
          <a:p>
            <a:pPr algn="just"/>
            <a:r>
              <a:rPr lang="en-US" altLang="en-US" sz="2600">
                <a:solidFill>
                  <a:schemeClr val="tx1"/>
                </a:solidFill>
              </a:rPr>
              <a:t>Hard real time systems are used in various areas such as missiles, airplanes etc.</a:t>
            </a:r>
          </a:p>
          <a:p>
            <a:pPr algn="just"/>
            <a:endParaRPr lang="en-US" altLang="en-US" sz="2800">
              <a:solidFill>
                <a:schemeClr val="tx1"/>
              </a:solidFill>
            </a:endParaRPr>
          </a:p>
          <a:p>
            <a:pPr algn="just"/>
            <a:endParaRPr lang="en-US" altLang="en-US" sz="2800">
              <a:solidFill>
                <a:schemeClr val="tx1"/>
              </a:solidFill>
            </a:endParaRPr>
          </a:p>
        </p:txBody>
      </p:sp>
      <p:pic>
        <p:nvPicPr>
          <p:cNvPr id="11267" name="Picture 6">
            <a:extLst>
              <a:ext uri="{FF2B5EF4-FFF2-40B4-BE49-F238E27FC236}">
                <a16:creationId xmlns:a16="http://schemas.microsoft.com/office/drawing/2014/main" xmlns="" id="{34792BCC-5F32-6725-C4E0-42BFAB374C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2">
            <a:extLst>
              <a:ext uri="{FF2B5EF4-FFF2-40B4-BE49-F238E27FC236}">
                <a16:creationId xmlns:a16="http://schemas.microsoft.com/office/drawing/2014/main" xmlns="" id="{CCBB120E-FA72-FC10-CFAE-08336CDBE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0050" y="4868863"/>
            <a:ext cx="1714500" cy="167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9" name="TextBox 1">
            <a:extLst>
              <a:ext uri="{FF2B5EF4-FFF2-40B4-BE49-F238E27FC236}">
                <a16:creationId xmlns:a16="http://schemas.microsoft.com/office/drawing/2014/main" xmlns="" id="{2E616C5E-5164-935C-E582-14B46D8A8730}"/>
              </a:ext>
            </a:extLst>
          </p:cNvPr>
          <p:cNvSpPr txBox="1">
            <a:spLocks noChangeArrowheads="1"/>
          </p:cNvSpPr>
          <p:nvPr/>
        </p:nvSpPr>
        <p:spPr bwMode="auto">
          <a:xfrm>
            <a:off x="6848475" y="6521450"/>
            <a:ext cx="17637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Pacemaker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9">
            <a:extLst>
              <a:ext uri="{FF2B5EF4-FFF2-40B4-BE49-F238E27FC236}">
                <a16:creationId xmlns:a16="http://schemas.microsoft.com/office/drawing/2014/main" xmlns="" id="{5A2DA944-70A7-219A-9BF1-436449BE757E}"/>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Hard RTES Example </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12291" name="Picture 6">
            <a:extLst>
              <a:ext uri="{FF2B5EF4-FFF2-40B4-BE49-F238E27FC236}">
                <a16:creationId xmlns:a16="http://schemas.microsoft.com/office/drawing/2014/main" xmlns="" id="{AEA7925B-F313-9A14-1497-329AD2A1AF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Box 5">
            <a:extLst>
              <a:ext uri="{FF2B5EF4-FFF2-40B4-BE49-F238E27FC236}">
                <a16:creationId xmlns:a16="http://schemas.microsoft.com/office/drawing/2014/main" xmlns="" id="{B1DFF5AA-7D7E-2D58-300C-84DE47E39CE3}"/>
              </a:ext>
            </a:extLst>
          </p:cNvPr>
          <p:cNvSpPr txBox="1">
            <a:spLocks noChangeArrowheads="1"/>
          </p:cNvSpPr>
          <p:nvPr/>
        </p:nvSpPr>
        <p:spPr bwMode="auto">
          <a:xfrm>
            <a:off x="1066800" y="5943600"/>
            <a:ext cx="6858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Example of Hard RTES</a:t>
            </a:r>
          </a:p>
        </p:txBody>
      </p:sp>
      <p:pic>
        <p:nvPicPr>
          <p:cNvPr id="12293" name="Picture 2">
            <a:extLst>
              <a:ext uri="{FF2B5EF4-FFF2-40B4-BE49-F238E27FC236}">
                <a16:creationId xmlns:a16="http://schemas.microsoft.com/office/drawing/2014/main" xmlns="" id="{489F7910-F3AC-811E-B4D3-EAF8D03B9C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463" y="2060575"/>
            <a:ext cx="7839075"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xmlns="" id="{DC489CC3-CF8F-DF35-EEE5-1E808799EB72}"/>
              </a:ext>
            </a:extLst>
          </p:cNvPr>
          <p:cNvSpPr>
            <a:spLocks noGrp="1"/>
          </p:cNvSpPr>
          <p:nvPr>
            <p:ph sz="quarter" idx="1"/>
          </p:nvPr>
        </p:nvSpPr>
        <p:spPr>
          <a:xfrm>
            <a:off x="0" y="692150"/>
            <a:ext cx="8964613" cy="5905500"/>
          </a:xfrm>
        </p:spPr>
        <p:txBody>
          <a:bodyPr>
            <a:normAutofit fontScale="70000" lnSpcReduction="20000"/>
          </a:bodyPr>
          <a:lstStyle/>
          <a:p>
            <a:pPr>
              <a:buFont typeface="Wingdings 2" panose="05020102010507070707" pitchFamily="18" charset="2"/>
              <a:buNone/>
              <a:defRPr/>
            </a:pPr>
            <a:r>
              <a:rPr lang="en-US" sz="3400" b="1" dirty="0">
                <a:solidFill>
                  <a:schemeClr val="tx1"/>
                </a:solidFill>
              </a:rPr>
              <a:t>Hard Real Time Embedded System </a:t>
            </a:r>
            <a:r>
              <a:rPr lang="en-US" sz="3400" dirty="0">
                <a:solidFill>
                  <a:schemeClr val="tx1"/>
                </a:solidFill>
              </a:rPr>
              <a:t>	</a:t>
            </a:r>
          </a:p>
          <a:p>
            <a:pPr marL="0" indent="0">
              <a:buFont typeface="Wingdings 2" panose="05020102010507070707" pitchFamily="18" charset="2"/>
              <a:buNone/>
              <a:defRPr/>
            </a:pPr>
            <a:r>
              <a:rPr lang="en-US" sz="2800" b="1" dirty="0">
                <a:solidFill>
                  <a:schemeClr val="tx1"/>
                </a:solidFill>
              </a:rPr>
              <a:t>Advantages:</a:t>
            </a:r>
            <a:endParaRPr lang="en-US" sz="2800" dirty="0">
              <a:solidFill>
                <a:schemeClr val="tx1"/>
              </a:solidFill>
            </a:endParaRPr>
          </a:p>
          <a:p>
            <a:pPr algn="just">
              <a:defRPr/>
            </a:pPr>
            <a:r>
              <a:rPr lang="en-US" sz="2800" b="1" dirty="0">
                <a:solidFill>
                  <a:schemeClr val="tx1"/>
                </a:solidFill>
              </a:rPr>
              <a:t>Reliability and Predictability:</a:t>
            </a:r>
            <a:r>
              <a:rPr lang="en-US" sz="2800" dirty="0">
                <a:solidFill>
                  <a:schemeClr val="tx1"/>
                </a:solidFill>
              </a:rPr>
              <a:t> Ensures that critical tasks are completed within strict deadlines, which is essential for safety-critical applications.</a:t>
            </a:r>
          </a:p>
          <a:p>
            <a:pPr algn="just">
              <a:defRPr/>
            </a:pPr>
            <a:r>
              <a:rPr lang="en-US" sz="2800" b="1" dirty="0">
                <a:solidFill>
                  <a:schemeClr val="tx1"/>
                </a:solidFill>
              </a:rPr>
              <a:t>Safety:</a:t>
            </a:r>
            <a:r>
              <a:rPr lang="en-US" sz="2800" dirty="0">
                <a:solidFill>
                  <a:schemeClr val="tx1"/>
                </a:solidFill>
              </a:rPr>
              <a:t> Suitable for applications where failure to meet deadlines can result in catastrophic consequences, ensuring safety and compliance with regulatory standards.</a:t>
            </a:r>
          </a:p>
          <a:p>
            <a:pPr algn="just">
              <a:defRPr/>
            </a:pPr>
            <a:r>
              <a:rPr lang="en-US" sz="2800" b="1" dirty="0">
                <a:solidFill>
                  <a:schemeClr val="tx1"/>
                </a:solidFill>
              </a:rPr>
              <a:t>Deterministic Behavior:</a:t>
            </a:r>
            <a:r>
              <a:rPr lang="en-US" sz="2800" dirty="0">
                <a:solidFill>
                  <a:schemeClr val="tx1"/>
                </a:solidFill>
              </a:rPr>
              <a:t> Provides precise and deterministic system behavior, which is crucial for applications requiring high levels of precision and control.</a:t>
            </a:r>
          </a:p>
          <a:p>
            <a:pPr marL="0" indent="0" algn="just">
              <a:buFont typeface="Wingdings 2" panose="05020102010507070707" pitchFamily="18" charset="2"/>
              <a:buNone/>
              <a:defRPr/>
            </a:pPr>
            <a:r>
              <a:rPr lang="en-US" sz="2800" b="1" dirty="0">
                <a:solidFill>
                  <a:schemeClr val="tx1"/>
                </a:solidFill>
              </a:rPr>
              <a:t>Disadvantages:</a:t>
            </a:r>
            <a:endParaRPr lang="en-US" sz="2800" dirty="0">
              <a:solidFill>
                <a:schemeClr val="tx1"/>
              </a:solidFill>
            </a:endParaRPr>
          </a:p>
          <a:p>
            <a:pPr algn="just">
              <a:defRPr/>
            </a:pPr>
            <a:r>
              <a:rPr lang="en-US" sz="2800" b="1" dirty="0">
                <a:solidFill>
                  <a:schemeClr val="tx1"/>
                </a:solidFill>
              </a:rPr>
              <a:t>Complexity and Cost:</a:t>
            </a:r>
            <a:r>
              <a:rPr lang="en-US" sz="2800" dirty="0">
                <a:solidFill>
                  <a:schemeClr val="tx1"/>
                </a:solidFill>
              </a:rPr>
              <a:t> Designing and implementing hard real-time systems is complex and costly due to stringent timing and reliability requirements.</a:t>
            </a:r>
          </a:p>
          <a:p>
            <a:pPr algn="just">
              <a:defRPr/>
            </a:pPr>
            <a:r>
              <a:rPr lang="en-US" sz="2800" b="1" dirty="0">
                <a:solidFill>
                  <a:schemeClr val="tx1"/>
                </a:solidFill>
              </a:rPr>
              <a:t>Resource Utilization:</a:t>
            </a:r>
            <a:r>
              <a:rPr lang="en-US" sz="2800" dirty="0">
                <a:solidFill>
                  <a:schemeClr val="tx1"/>
                </a:solidFill>
              </a:rPr>
              <a:t> Often requires over-provisioning of resources to guarantee deadlines, leading to potentially inefficient resource utilization.</a:t>
            </a:r>
          </a:p>
          <a:p>
            <a:pPr algn="just">
              <a:defRPr/>
            </a:pPr>
            <a:r>
              <a:rPr lang="en-US" sz="2800" b="1" dirty="0">
                <a:solidFill>
                  <a:schemeClr val="tx1"/>
                </a:solidFill>
              </a:rPr>
              <a:t>Inflexibility:</a:t>
            </a:r>
            <a:r>
              <a:rPr lang="en-US" sz="2800" dirty="0">
                <a:solidFill>
                  <a:schemeClr val="tx1"/>
                </a:solidFill>
              </a:rPr>
              <a:t> Lack of flexibility in handling dynamic workloads and changes in the system environment, as strict adherence to deadlines is mandatory.</a:t>
            </a:r>
          </a:p>
        </p:txBody>
      </p:sp>
      <p:pic>
        <p:nvPicPr>
          <p:cNvPr id="13315" name="Picture 6">
            <a:extLst>
              <a:ext uri="{FF2B5EF4-FFF2-40B4-BE49-F238E27FC236}">
                <a16:creationId xmlns:a16="http://schemas.microsoft.com/office/drawing/2014/main" xmlns="" id="{8B97A2E9-29E0-7D97-DC55-6425EEB753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9">
            <a:extLst>
              <a:ext uri="{FF2B5EF4-FFF2-40B4-BE49-F238E27FC236}">
                <a16:creationId xmlns:a16="http://schemas.microsoft.com/office/drawing/2014/main" xmlns="" id="{7F60F9FE-6510-C460-2E40-906668489C41}"/>
              </a:ext>
            </a:extLst>
          </p:cNvPr>
          <p:cNvSpPr>
            <a:spLocks noGrp="1"/>
          </p:cNvSpPr>
          <p:nvPr>
            <p:ph sz="quarter" idx="1"/>
          </p:nvPr>
        </p:nvSpPr>
        <p:spPr>
          <a:xfrm>
            <a:off x="0" y="692150"/>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	Soft Real Time Embedded System </a:t>
            </a:r>
            <a:r>
              <a:rPr lang="en-US" altLang="en-US" sz="3400">
                <a:solidFill>
                  <a:schemeClr val="tx1"/>
                </a:solidFill>
              </a:rPr>
              <a:t>	</a:t>
            </a:r>
          </a:p>
          <a:p>
            <a:pPr algn="just"/>
            <a:r>
              <a:rPr lang="en-US" altLang="en-US" sz="2600">
                <a:solidFill>
                  <a:schemeClr val="tx1"/>
                </a:solidFill>
              </a:rPr>
              <a:t>This </a:t>
            </a:r>
            <a:r>
              <a:rPr lang="en-US" altLang="en-US" sz="2800">
                <a:solidFill>
                  <a:schemeClr val="tx1"/>
                </a:solidFill>
              </a:rPr>
              <a:t>These are much less constrictive than hard real time systems but the basic premise is the same i.e critical processes need to be completed within the given time frame.</a:t>
            </a:r>
          </a:p>
          <a:p>
            <a:pPr algn="just"/>
            <a:r>
              <a:rPr lang="en-US" altLang="en-US" sz="2800">
                <a:solidFill>
                  <a:schemeClr val="tx1"/>
                </a:solidFill>
              </a:rPr>
              <a:t> However, this time frame can be a little flexible. </a:t>
            </a:r>
          </a:p>
          <a:p>
            <a:pPr algn="just"/>
            <a:r>
              <a:rPr lang="en-US" altLang="en-US" sz="2800">
                <a:solidFill>
                  <a:schemeClr val="tx1"/>
                </a:solidFill>
              </a:rPr>
              <a:t>Soft real time systems are used in various areas such as multimedia, scientific projects etc.</a:t>
            </a:r>
          </a:p>
          <a:p>
            <a:pPr algn="just"/>
            <a:endParaRPr lang="en-US" altLang="en-US" sz="2800">
              <a:solidFill>
                <a:schemeClr val="tx1"/>
              </a:solidFill>
            </a:endParaRPr>
          </a:p>
          <a:p>
            <a:pPr algn="just"/>
            <a:endParaRPr lang="en-US" altLang="en-US" sz="2800">
              <a:solidFill>
                <a:schemeClr val="tx1"/>
              </a:solidFill>
            </a:endParaRPr>
          </a:p>
        </p:txBody>
      </p:sp>
      <p:pic>
        <p:nvPicPr>
          <p:cNvPr id="14339" name="Picture 6">
            <a:extLst>
              <a:ext uri="{FF2B5EF4-FFF2-40B4-BE49-F238E27FC236}">
                <a16:creationId xmlns:a16="http://schemas.microsoft.com/office/drawing/2014/main" xmlns="" id="{EB9CEEA8-05E9-0F8A-EA72-B1356206DF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9">
            <a:extLst>
              <a:ext uri="{FF2B5EF4-FFF2-40B4-BE49-F238E27FC236}">
                <a16:creationId xmlns:a16="http://schemas.microsoft.com/office/drawing/2014/main" xmlns="" id="{0E2DF067-FC69-6B0C-219E-BFBA0B8670CA}"/>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Soft RTES Example </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15363" name="Picture 6">
            <a:extLst>
              <a:ext uri="{FF2B5EF4-FFF2-40B4-BE49-F238E27FC236}">
                <a16:creationId xmlns:a16="http://schemas.microsoft.com/office/drawing/2014/main" xmlns="" id="{8F5BF96E-0C31-B7B7-5E1F-CE6F182AE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TextBox 5">
            <a:extLst>
              <a:ext uri="{FF2B5EF4-FFF2-40B4-BE49-F238E27FC236}">
                <a16:creationId xmlns:a16="http://schemas.microsoft.com/office/drawing/2014/main" xmlns="" id="{7E2119D6-0E07-EB5A-6B58-B89AECD9E339}"/>
              </a:ext>
            </a:extLst>
          </p:cNvPr>
          <p:cNvSpPr txBox="1">
            <a:spLocks noChangeArrowheads="1"/>
          </p:cNvSpPr>
          <p:nvPr/>
        </p:nvSpPr>
        <p:spPr bwMode="auto">
          <a:xfrm>
            <a:off x="1066800" y="5943600"/>
            <a:ext cx="6858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Examples of Soft RTES</a:t>
            </a:r>
          </a:p>
        </p:txBody>
      </p:sp>
      <p:pic>
        <p:nvPicPr>
          <p:cNvPr id="15365" name="Picture 2">
            <a:extLst>
              <a:ext uri="{FF2B5EF4-FFF2-40B4-BE49-F238E27FC236}">
                <a16:creationId xmlns:a16="http://schemas.microsoft.com/office/drawing/2014/main" xmlns="" id="{377CB231-5288-EB11-6E5D-333058DF4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2076450"/>
            <a:ext cx="1982788"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6" name="Picture 3">
            <a:extLst>
              <a:ext uri="{FF2B5EF4-FFF2-40B4-BE49-F238E27FC236}">
                <a16:creationId xmlns:a16="http://schemas.microsoft.com/office/drawing/2014/main" xmlns="" id="{12A8E847-FFE7-840F-5E31-61067AFAFC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2384425"/>
            <a:ext cx="112395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7" name="Picture 4">
            <a:extLst>
              <a:ext uri="{FF2B5EF4-FFF2-40B4-BE49-F238E27FC236}">
                <a16:creationId xmlns:a16="http://schemas.microsoft.com/office/drawing/2014/main" xmlns="" id="{A524E060-2DC2-CCB1-7FD1-5EEDDEF0F3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5913" y="4219575"/>
            <a:ext cx="1133475"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xmlns="" id="{A4CC5FD0-1B3E-8247-789C-92F57E2BB108}"/>
              </a:ext>
            </a:extLst>
          </p:cNvPr>
          <p:cNvSpPr>
            <a:spLocks noGrp="1"/>
          </p:cNvSpPr>
          <p:nvPr>
            <p:ph sz="quarter" idx="1"/>
          </p:nvPr>
        </p:nvSpPr>
        <p:spPr>
          <a:xfrm>
            <a:off x="0" y="692150"/>
            <a:ext cx="8964613" cy="5905500"/>
          </a:xfrm>
        </p:spPr>
        <p:txBody>
          <a:bodyPr>
            <a:normAutofit fontScale="62500" lnSpcReduction="20000"/>
          </a:bodyPr>
          <a:lstStyle/>
          <a:p>
            <a:pPr>
              <a:buFont typeface="Wingdings 2" panose="05020102010507070707" pitchFamily="18" charset="2"/>
              <a:buNone/>
              <a:defRPr/>
            </a:pPr>
            <a:r>
              <a:rPr lang="en-US" sz="5100" b="1" dirty="0">
                <a:solidFill>
                  <a:schemeClr val="tx1"/>
                </a:solidFill>
              </a:rPr>
              <a:t>Soft Real Time Embedded System </a:t>
            </a:r>
            <a:r>
              <a:rPr lang="en-US" sz="5100" dirty="0">
                <a:solidFill>
                  <a:schemeClr val="tx1"/>
                </a:solidFill>
              </a:rPr>
              <a:t>	</a:t>
            </a:r>
          </a:p>
          <a:p>
            <a:pPr marL="0" indent="0">
              <a:buFont typeface="Wingdings 2" panose="05020102010507070707" pitchFamily="18" charset="2"/>
              <a:buNone/>
              <a:defRPr/>
            </a:pPr>
            <a:r>
              <a:rPr lang="en-US" sz="3600" b="1" dirty="0">
                <a:solidFill>
                  <a:schemeClr val="tx1"/>
                </a:solidFill>
              </a:rPr>
              <a:t>Advantages:</a:t>
            </a:r>
            <a:endParaRPr lang="en-US" sz="3600" dirty="0">
              <a:solidFill>
                <a:schemeClr val="tx1"/>
              </a:solidFill>
            </a:endParaRPr>
          </a:p>
          <a:p>
            <a:pPr algn="just">
              <a:defRPr/>
            </a:pPr>
            <a:r>
              <a:rPr lang="en-US" sz="3600" b="1" dirty="0">
                <a:solidFill>
                  <a:schemeClr val="tx1"/>
                </a:solidFill>
              </a:rPr>
              <a:t>Flexibility:</a:t>
            </a:r>
            <a:r>
              <a:rPr lang="en-US" sz="3600" dirty="0">
                <a:solidFill>
                  <a:schemeClr val="tx1"/>
                </a:solidFill>
              </a:rPr>
              <a:t> Can handle dynamic and variable workloads, making them suitable for applications where occasional deadline misses are acceptable.</a:t>
            </a:r>
          </a:p>
          <a:p>
            <a:pPr algn="just">
              <a:defRPr/>
            </a:pPr>
            <a:r>
              <a:rPr lang="en-US" sz="3600" b="1" dirty="0">
                <a:solidFill>
                  <a:schemeClr val="tx1"/>
                </a:solidFill>
              </a:rPr>
              <a:t>Efficiency:</a:t>
            </a:r>
            <a:r>
              <a:rPr lang="en-US" sz="3600" dirty="0">
                <a:solidFill>
                  <a:schemeClr val="tx1"/>
                </a:solidFill>
              </a:rPr>
              <a:t> Higher resource utilization as the system can overcommit resources and manage priorities dynamically.</a:t>
            </a:r>
          </a:p>
          <a:p>
            <a:pPr algn="just">
              <a:defRPr/>
            </a:pPr>
            <a:r>
              <a:rPr lang="en-US" sz="3600" b="1" dirty="0">
                <a:solidFill>
                  <a:schemeClr val="tx1"/>
                </a:solidFill>
              </a:rPr>
              <a:t>Cost-Effective:</a:t>
            </a:r>
            <a:r>
              <a:rPr lang="en-US" sz="3600" dirty="0">
                <a:solidFill>
                  <a:schemeClr val="tx1"/>
                </a:solidFill>
              </a:rPr>
              <a:t> Generally cheaper to develop and maintain compared to hard real-time systems due to more relaxed timing constraints.</a:t>
            </a:r>
          </a:p>
          <a:p>
            <a:pPr marL="0" indent="0" algn="just">
              <a:buFont typeface="Wingdings 2" panose="05020102010507070707" pitchFamily="18" charset="2"/>
              <a:buNone/>
              <a:defRPr/>
            </a:pPr>
            <a:r>
              <a:rPr lang="en-US" sz="3600" b="1" dirty="0">
                <a:solidFill>
                  <a:schemeClr val="tx1"/>
                </a:solidFill>
              </a:rPr>
              <a:t>Disadvantages:</a:t>
            </a:r>
            <a:endParaRPr lang="en-US" sz="3600" dirty="0">
              <a:solidFill>
                <a:schemeClr val="tx1"/>
              </a:solidFill>
            </a:endParaRPr>
          </a:p>
          <a:p>
            <a:pPr algn="just">
              <a:defRPr/>
            </a:pPr>
            <a:r>
              <a:rPr lang="en-US" sz="3600" b="1" dirty="0">
                <a:solidFill>
                  <a:schemeClr val="tx1"/>
                </a:solidFill>
              </a:rPr>
              <a:t>Unpredictability:</a:t>
            </a:r>
            <a:r>
              <a:rPr lang="en-US" sz="3600" dirty="0">
                <a:solidFill>
                  <a:schemeClr val="tx1"/>
                </a:solidFill>
              </a:rPr>
              <a:t> Performance can be less predictable, and occasional deadline misses can lead to a degradation of service quality.</a:t>
            </a:r>
          </a:p>
          <a:p>
            <a:pPr algn="just">
              <a:defRPr/>
            </a:pPr>
            <a:r>
              <a:rPr lang="en-US" sz="3600" b="1" dirty="0">
                <a:solidFill>
                  <a:schemeClr val="tx1"/>
                </a:solidFill>
              </a:rPr>
              <a:t>Suitability:</a:t>
            </a:r>
            <a:r>
              <a:rPr lang="en-US" sz="3600" dirty="0">
                <a:solidFill>
                  <a:schemeClr val="tx1"/>
                </a:solidFill>
              </a:rPr>
              <a:t> Not suitable for safety-critical applications where missing deadlines can have severe consequences.</a:t>
            </a:r>
          </a:p>
          <a:p>
            <a:pPr algn="just">
              <a:defRPr/>
            </a:pPr>
            <a:r>
              <a:rPr lang="en-US" sz="3600" b="1" dirty="0">
                <a:solidFill>
                  <a:schemeClr val="tx1"/>
                </a:solidFill>
              </a:rPr>
              <a:t>Quality Variability:</a:t>
            </a:r>
            <a:r>
              <a:rPr lang="en-US" sz="3600" dirty="0">
                <a:solidFill>
                  <a:schemeClr val="tx1"/>
                </a:solidFill>
              </a:rPr>
              <a:t> The quality of service may vary depending on the system load and priority management, leading to potential user dissatisfaction. </a:t>
            </a:r>
          </a:p>
        </p:txBody>
      </p:sp>
      <p:pic>
        <p:nvPicPr>
          <p:cNvPr id="16387" name="Picture 6">
            <a:extLst>
              <a:ext uri="{FF2B5EF4-FFF2-40B4-BE49-F238E27FC236}">
                <a16:creationId xmlns:a16="http://schemas.microsoft.com/office/drawing/2014/main" xmlns="" id="{6DC20917-4784-8C3E-A0C8-792BBB4530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xmlns="" id="{293612FE-18A3-C56D-9D8E-B2754C6AD17F}"/>
              </a:ext>
            </a:extLst>
          </p:cNvPr>
          <p:cNvSpPr>
            <a:spLocks noGrp="1"/>
          </p:cNvSpPr>
          <p:nvPr>
            <p:ph sz="quarter" idx="1"/>
          </p:nvPr>
        </p:nvSpPr>
        <p:spPr>
          <a:xfrm>
            <a:off x="0" y="692150"/>
            <a:ext cx="8964613" cy="5905500"/>
          </a:xfrm>
        </p:spPr>
        <p:txBody>
          <a:bodyPr>
            <a:normAutofit/>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Firm Real Time Embedded System </a:t>
            </a:r>
            <a:r>
              <a:rPr lang="en-US" sz="3400" dirty="0">
                <a:solidFill>
                  <a:schemeClr val="tx1"/>
                </a:solidFill>
              </a:rPr>
              <a:t>	</a:t>
            </a:r>
          </a:p>
          <a:p>
            <a:pPr algn="just">
              <a:defRPr/>
            </a:pPr>
            <a:r>
              <a:rPr lang="en-US" sz="2800" dirty="0">
                <a:solidFill>
                  <a:schemeClr val="tx1"/>
                </a:solidFill>
              </a:rPr>
              <a:t>In a firm RTES, errors are occasionally permissible but there is an understanding that missed deadlines result in degraded performance of the device. </a:t>
            </a:r>
          </a:p>
          <a:p>
            <a:pPr algn="just">
              <a:defRPr/>
            </a:pPr>
            <a:r>
              <a:rPr lang="en-US" sz="2800" dirty="0">
                <a:solidFill>
                  <a:schemeClr val="tx1"/>
                </a:solidFill>
              </a:rPr>
              <a:t>A device using a firm RTES may occasionally miss a deadline, but the application can recover as long as failures are relatively infrequent. </a:t>
            </a:r>
          </a:p>
          <a:p>
            <a:pPr marL="0" indent="0" algn="just">
              <a:buFont typeface="Wingdings 2" panose="05020102010507070707" pitchFamily="18" charset="2"/>
              <a:buNone/>
              <a:defRPr/>
            </a:pPr>
            <a:endParaRPr lang="en-US" sz="2800" dirty="0">
              <a:solidFill>
                <a:schemeClr val="tx1"/>
              </a:solidFill>
            </a:endParaRPr>
          </a:p>
          <a:p>
            <a:pPr algn="just">
              <a:defRPr/>
            </a:pPr>
            <a:endParaRPr lang="en-US" sz="2800" dirty="0">
              <a:solidFill>
                <a:schemeClr val="tx1"/>
              </a:solidFill>
            </a:endParaRPr>
          </a:p>
          <a:p>
            <a:pPr algn="just">
              <a:defRPr/>
            </a:pPr>
            <a:endParaRPr lang="en-US" sz="2800" dirty="0">
              <a:solidFill>
                <a:schemeClr val="tx1"/>
              </a:solidFill>
            </a:endParaRPr>
          </a:p>
        </p:txBody>
      </p:sp>
      <p:pic>
        <p:nvPicPr>
          <p:cNvPr id="17411" name="Picture 6">
            <a:extLst>
              <a:ext uri="{FF2B5EF4-FFF2-40B4-BE49-F238E27FC236}">
                <a16:creationId xmlns:a16="http://schemas.microsoft.com/office/drawing/2014/main" xmlns="" id="{D82F9DDF-538E-27E2-65CF-252408EB88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9">
            <a:extLst>
              <a:ext uri="{FF2B5EF4-FFF2-40B4-BE49-F238E27FC236}">
                <a16:creationId xmlns:a16="http://schemas.microsoft.com/office/drawing/2014/main" xmlns="" id="{D2132BC8-86FF-989B-823B-D3FE69DE2D9A}"/>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Firm RTES Example </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18435" name="Picture 6">
            <a:extLst>
              <a:ext uri="{FF2B5EF4-FFF2-40B4-BE49-F238E27FC236}">
                <a16:creationId xmlns:a16="http://schemas.microsoft.com/office/drawing/2014/main" xmlns="" id="{7FDE6EFD-08FC-7004-9BE2-938CD3FDCF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TextBox 5">
            <a:extLst>
              <a:ext uri="{FF2B5EF4-FFF2-40B4-BE49-F238E27FC236}">
                <a16:creationId xmlns:a16="http://schemas.microsoft.com/office/drawing/2014/main" xmlns="" id="{0D9C24CD-467A-E88E-E50A-CC281F5D4A6A}"/>
              </a:ext>
            </a:extLst>
          </p:cNvPr>
          <p:cNvSpPr txBox="1">
            <a:spLocks noChangeArrowheads="1"/>
          </p:cNvSpPr>
          <p:nvPr/>
        </p:nvSpPr>
        <p:spPr bwMode="auto">
          <a:xfrm>
            <a:off x="1066800" y="5943600"/>
            <a:ext cx="6858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Example of Firm RTES</a:t>
            </a:r>
          </a:p>
        </p:txBody>
      </p:sp>
      <p:pic>
        <p:nvPicPr>
          <p:cNvPr id="18437" name="Picture 2">
            <a:extLst>
              <a:ext uri="{FF2B5EF4-FFF2-40B4-BE49-F238E27FC236}">
                <a16:creationId xmlns:a16="http://schemas.microsoft.com/office/drawing/2014/main" xmlns="" id="{B0EF967F-AE7C-B4B1-C291-C1538DE714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592263"/>
            <a:ext cx="6705600" cy="464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8" name="Rectangle 7">
            <a:extLst>
              <a:ext uri="{FF2B5EF4-FFF2-40B4-BE49-F238E27FC236}">
                <a16:creationId xmlns:a16="http://schemas.microsoft.com/office/drawing/2014/main" xmlns="" id="{101CC302-3AAD-FC4A-B57B-EACED1421399}"/>
              </a:ext>
            </a:extLst>
          </p:cNvPr>
          <p:cNvSpPr>
            <a:spLocks noChangeArrowheads="1"/>
          </p:cNvSpPr>
          <p:nvPr/>
        </p:nvSpPr>
        <p:spPr bwMode="auto">
          <a:xfrm>
            <a:off x="349250" y="6238875"/>
            <a:ext cx="8686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 fully automated assembly line doesn't crash when a task isn't performed in time, it rather ignores that missed part and continues to complete the rest.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xmlns="" id="{9BC89AC3-C22A-C8FB-0648-8F222256AD9F}"/>
              </a:ext>
            </a:extLst>
          </p:cNvPr>
          <p:cNvSpPr>
            <a:spLocks noGrp="1"/>
          </p:cNvSpPr>
          <p:nvPr>
            <p:ph sz="quarter" idx="1"/>
          </p:nvPr>
        </p:nvSpPr>
        <p:spPr>
          <a:xfrm>
            <a:off x="0" y="692150"/>
            <a:ext cx="8964613" cy="5905500"/>
          </a:xfrm>
        </p:spPr>
        <p:txBody>
          <a:bodyPr>
            <a:normAutofit lnSpcReduction="10000"/>
          </a:bodyPr>
          <a:lstStyle/>
          <a:p>
            <a:pPr>
              <a:buFont typeface="Wingdings 2" panose="05020102010507070707" pitchFamily="18" charset="2"/>
              <a:buNone/>
              <a:defRPr/>
            </a:pPr>
            <a:r>
              <a:rPr lang="en-US" sz="3600" b="1" dirty="0">
                <a:solidFill>
                  <a:schemeClr val="tx1"/>
                </a:solidFill>
              </a:rPr>
              <a:t>Firm Real Time Embedded System </a:t>
            </a:r>
            <a:r>
              <a:rPr lang="en-US" sz="3600" dirty="0">
                <a:solidFill>
                  <a:schemeClr val="tx1"/>
                </a:solidFill>
              </a:rPr>
              <a:t>	</a:t>
            </a:r>
          </a:p>
          <a:p>
            <a:pPr marL="0" indent="0">
              <a:buFont typeface="Wingdings 2" panose="05020102010507070707" pitchFamily="18" charset="2"/>
              <a:buNone/>
              <a:defRPr/>
            </a:pPr>
            <a:r>
              <a:rPr lang="en-US" sz="2000" b="1" dirty="0">
                <a:solidFill>
                  <a:schemeClr val="tx1"/>
                </a:solidFill>
              </a:rPr>
              <a:t>Advantages:</a:t>
            </a:r>
            <a:endParaRPr lang="en-US" sz="2000" dirty="0">
              <a:solidFill>
                <a:schemeClr val="tx1"/>
              </a:solidFill>
            </a:endParaRPr>
          </a:p>
          <a:p>
            <a:pPr>
              <a:defRPr/>
            </a:pPr>
            <a:r>
              <a:rPr lang="en-US" sz="2000" b="1" dirty="0">
                <a:solidFill>
                  <a:schemeClr val="tx1"/>
                </a:solidFill>
              </a:rPr>
              <a:t>Balanced Approach:</a:t>
            </a:r>
            <a:r>
              <a:rPr lang="en-US" sz="2000" dirty="0">
                <a:solidFill>
                  <a:schemeClr val="tx1"/>
                </a:solidFill>
              </a:rPr>
              <a:t> Combines the reliability of hard real-time systems with the flexibility of soft real-time systems, offering a balanced solution for many applications.</a:t>
            </a:r>
          </a:p>
          <a:p>
            <a:pPr>
              <a:defRPr/>
            </a:pPr>
            <a:r>
              <a:rPr lang="en-US" sz="2000" b="1" dirty="0">
                <a:solidFill>
                  <a:schemeClr val="tx1"/>
                </a:solidFill>
              </a:rPr>
              <a:t>Tolerance for Occasional Misses:</a:t>
            </a:r>
            <a:r>
              <a:rPr lang="en-US" sz="2000" dirty="0">
                <a:solidFill>
                  <a:schemeClr val="tx1"/>
                </a:solidFill>
              </a:rPr>
              <a:t> Can tolerate occasional deadline misses without catastrophic consequences, making them suitable for a wide range of applications.</a:t>
            </a:r>
          </a:p>
          <a:p>
            <a:pPr>
              <a:defRPr/>
            </a:pPr>
            <a:r>
              <a:rPr lang="en-US" sz="2000" b="1" dirty="0">
                <a:solidFill>
                  <a:schemeClr val="tx1"/>
                </a:solidFill>
              </a:rPr>
              <a:t>Resource Optimization:</a:t>
            </a:r>
            <a:r>
              <a:rPr lang="en-US" sz="2000" dirty="0">
                <a:solidFill>
                  <a:schemeClr val="tx1"/>
                </a:solidFill>
              </a:rPr>
              <a:t> Can achieve a good balance between resource utilization and deadline adherence, optimizing overall system performance.</a:t>
            </a:r>
          </a:p>
          <a:p>
            <a:pPr marL="0" indent="0">
              <a:buFont typeface="Wingdings 2" panose="05020102010507070707" pitchFamily="18" charset="2"/>
              <a:buNone/>
              <a:defRPr/>
            </a:pPr>
            <a:r>
              <a:rPr lang="en-US" sz="2000" b="1" dirty="0">
                <a:solidFill>
                  <a:schemeClr val="tx1"/>
                </a:solidFill>
              </a:rPr>
              <a:t>Disadvantages:</a:t>
            </a:r>
            <a:endParaRPr lang="en-US" sz="2000" dirty="0">
              <a:solidFill>
                <a:schemeClr val="tx1"/>
              </a:solidFill>
            </a:endParaRPr>
          </a:p>
          <a:p>
            <a:pPr>
              <a:defRPr/>
            </a:pPr>
            <a:r>
              <a:rPr lang="en-US" sz="2000" b="1" dirty="0">
                <a:solidFill>
                  <a:schemeClr val="tx1"/>
                </a:solidFill>
              </a:rPr>
              <a:t>Complexity:</a:t>
            </a:r>
            <a:r>
              <a:rPr lang="en-US" sz="2000" dirty="0">
                <a:solidFill>
                  <a:schemeClr val="tx1"/>
                </a:solidFill>
              </a:rPr>
              <a:t> Balancing strict deadlines with occasional flexibility adds complexity to system design and implementation.</a:t>
            </a:r>
          </a:p>
          <a:p>
            <a:pPr>
              <a:defRPr/>
            </a:pPr>
            <a:r>
              <a:rPr lang="en-US" sz="2000" b="1" dirty="0">
                <a:solidFill>
                  <a:schemeClr val="tx1"/>
                </a:solidFill>
              </a:rPr>
              <a:t>Resource Management:</a:t>
            </a:r>
            <a:r>
              <a:rPr lang="en-US" sz="2000" dirty="0">
                <a:solidFill>
                  <a:schemeClr val="tx1"/>
                </a:solidFill>
              </a:rPr>
              <a:t> Requires careful management of resources to ensure that the system remains reliable while allowing some flexibility.</a:t>
            </a:r>
          </a:p>
          <a:p>
            <a:pPr>
              <a:defRPr/>
            </a:pPr>
            <a:r>
              <a:rPr lang="en-US" sz="2000" b="1" dirty="0">
                <a:solidFill>
                  <a:schemeClr val="tx1"/>
                </a:solidFill>
              </a:rPr>
              <a:t>Potential for Degradation:</a:t>
            </a:r>
            <a:r>
              <a:rPr lang="en-US" sz="2000" dirty="0">
                <a:solidFill>
                  <a:schemeClr val="tx1"/>
                </a:solidFill>
              </a:rPr>
              <a:t> Repeated or excessive deadline misses can still lead to significant performance degradation or system errors, requiring robust handling mechanisms.</a:t>
            </a:r>
          </a:p>
        </p:txBody>
      </p:sp>
      <p:pic>
        <p:nvPicPr>
          <p:cNvPr id="19459" name="Picture 6">
            <a:extLst>
              <a:ext uri="{FF2B5EF4-FFF2-40B4-BE49-F238E27FC236}">
                <a16:creationId xmlns:a16="http://schemas.microsoft.com/office/drawing/2014/main" xmlns="" id="{A6BA16E3-D30A-0435-55A9-1E32D33298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6">
            <a:extLst>
              <a:ext uri="{FF2B5EF4-FFF2-40B4-BE49-F238E27FC236}">
                <a16:creationId xmlns:a16="http://schemas.microsoft.com/office/drawing/2014/main" xmlns="" id="{863173D1-A058-802B-5E68-41C36E1278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Content Placeholder 9">
            <a:extLst>
              <a:ext uri="{FF2B5EF4-FFF2-40B4-BE49-F238E27FC236}">
                <a16:creationId xmlns:a16="http://schemas.microsoft.com/office/drawing/2014/main" xmlns="" id="{03BA0DB4-666F-8CA1-BE76-D06875D19042}"/>
              </a:ext>
            </a:extLst>
          </p:cNvPr>
          <p:cNvSpPr>
            <a:spLocks noGrp="1"/>
          </p:cNvSpPr>
          <p:nvPr>
            <p:ph sz="quarter" idx="1"/>
          </p:nvPr>
        </p:nvSpPr>
        <p:spPr>
          <a:xfrm>
            <a:off x="1944688" y="7938"/>
            <a:ext cx="8964612"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Hard v/s Soft v/s Firm</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graphicFrame>
        <p:nvGraphicFramePr>
          <p:cNvPr id="10" name="Table 9">
            <a:extLst>
              <a:ext uri="{FF2B5EF4-FFF2-40B4-BE49-F238E27FC236}">
                <a16:creationId xmlns:a16="http://schemas.microsoft.com/office/drawing/2014/main" xmlns="" id="{F9E50046-52F8-562D-C267-8C5A23EED8DE}"/>
              </a:ext>
            </a:extLst>
          </p:cNvPr>
          <p:cNvGraphicFramePr>
            <a:graphicFrameLocks noGrp="1"/>
          </p:cNvGraphicFramePr>
          <p:nvPr/>
        </p:nvGraphicFramePr>
        <p:xfrm>
          <a:off x="152400" y="914400"/>
          <a:ext cx="8839200" cy="5984496"/>
        </p:xfrm>
        <a:graphic>
          <a:graphicData uri="http://schemas.openxmlformats.org/drawingml/2006/table">
            <a:tbl>
              <a:tblPr/>
              <a:tblGrid>
                <a:gridCol w="2057401">
                  <a:extLst>
                    <a:ext uri="{9D8B030D-6E8A-4147-A177-3AD203B41FA5}">
                      <a16:colId xmlns:a16="http://schemas.microsoft.com/office/drawing/2014/main" xmlns="" val="20000"/>
                    </a:ext>
                  </a:extLst>
                </a:gridCol>
                <a:gridCol w="2209799">
                  <a:extLst>
                    <a:ext uri="{9D8B030D-6E8A-4147-A177-3AD203B41FA5}">
                      <a16:colId xmlns:a16="http://schemas.microsoft.com/office/drawing/2014/main" xmlns="" val="20001"/>
                    </a:ext>
                  </a:extLst>
                </a:gridCol>
                <a:gridCol w="2362200">
                  <a:extLst>
                    <a:ext uri="{9D8B030D-6E8A-4147-A177-3AD203B41FA5}">
                      <a16:colId xmlns:a16="http://schemas.microsoft.com/office/drawing/2014/main" xmlns="" val="20002"/>
                    </a:ext>
                  </a:extLst>
                </a:gridCol>
                <a:gridCol w="2209800">
                  <a:extLst>
                    <a:ext uri="{9D8B030D-6E8A-4147-A177-3AD203B41FA5}">
                      <a16:colId xmlns:a16="http://schemas.microsoft.com/office/drawing/2014/main" xmlns="" val="20003"/>
                    </a:ext>
                  </a:extLst>
                </a:gridCol>
              </a:tblGrid>
              <a:tr h="451540">
                <a:tc>
                  <a:txBody>
                    <a:bodyPr/>
                    <a:lstStyle/>
                    <a:p>
                      <a:pPr algn="ctr" fontAlgn="b"/>
                      <a:r>
                        <a:rPr lang="en-US" sz="1400" b="1" dirty="0">
                          <a:effectLst/>
                        </a:rPr>
                        <a:t>Feature</a:t>
                      </a:r>
                    </a:p>
                  </a:txBody>
                  <a:tcPr marL="24868" marR="24868" marT="12432" marB="12432" anchor="b">
                    <a:lnL w="9525" cap="flat" cmpd="sng" algn="ctr">
                      <a:solidFill>
                        <a:srgbClr val="D0C526"/>
                      </a:solidFill>
                      <a:prstDash val="solid"/>
                      <a:round/>
                      <a:headEnd type="none" w="med" len="med"/>
                      <a:tailEnd type="none" w="med" len="med"/>
                    </a:lnL>
                    <a:lnR w="9525" cap="flat" cmpd="sng" algn="ctr">
                      <a:solidFill>
                        <a:srgbClr val="C02F0D"/>
                      </a:solidFill>
                      <a:prstDash val="solid"/>
                      <a:round/>
                      <a:headEnd type="none" w="med" len="med"/>
                      <a:tailEnd type="none" w="med" len="med"/>
                    </a:lnR>
                    <a:lnT w="9525" cap="flat" cmpd="sng" algn="ctr">
                      <a:solidFill>
                        <a:srgbClr val="D0C526"/>
                      </a:solidFill>
                      <a:prstDash val="solid"/>
                      <a:round/>
                      <a:headEnd type="none" w="med" len="med"/>
                      <a:tailEnd type="none" w="med" len="med"/>
                    </a:lnT>
                    <a:lnB w="12700" cap="flat" cmpd="sng" algn="ctr">
                      <a:solidFill>
                        <a:srgbClr val="308968"/>
                      </a:solidFill>
                      <a:prstDash val="solid"/>
                      <a:round/>
                      <a:headEnd type="none" w="med" len="med"/>
                      <a:tailEnd type="none" w="med" len="med"/>
                    </a:lnB>
                    <a:solidFill>
                      <a:srgbClr val="FFFFFF"/>
                    </a:solidFill>
                  </a:tcPr>
                </a:tc>
                <a:tc>
                  <a:txBody>
                    <a:bodyPr/>
                    <a:lstStyle/>
                    <a:p>
                      <a:pPr algn="ctr" fontAlgn="b"/>
                      <a:r>
                        <a:rPr lang="en-US" sz="1400" b="1">
                          <a:effectLst/>
                        </a:rPr>
                        <a:t>Hard Real-Time Embedded Systems</a:t>
                      </a:r>
                    </a:p>
                  </a:txBody>
                  <a:tcPr marL="24868" marR="24868" marT="12432" marB="12432" anchor="b">
                    <a:lnL w="9525" cap="flat" cmpd="sng" algn="ctr">
                      <a:solidFill>
                        <a:srgbClr val="C02F0D"/>
                      </a:solidFill>
                      <a:prstDash val="solid"/>
                      <a:round/>
                      <a:headEnd type="none" w="med" len="med"/>
                      <a:tailEnd type="none" w="med" len="med"/>
                    </a:lnL>
                    <a:lnR w="9525" cap="flat" cmpd="sng" algn="ctr">
                      <a:solidFill>
                        <a:srgbClr val="907027"/>
                      </a:solidFill>
                      <a:prstDash val="solid"/>
                      <a:round/>
                      <a:headEnd type="none" w="med" len="med"/>
                      <a:tailEnd type="none" w="med" len="med"/>
                    </a:lnR>
                    <a:lnT w="9525" cap="flat" cmpd="sng" algn="ctr">
                      <a:solidFill>
                        <a:srgbClr val="C02F0D"/>
                      </a:solidFill>
                      <a:prstDash val="solid"/>
                      <a:round/>
                      <a:headEnd type="none" w="med" len="med"/>
                      <a:tailEnd type="none" w="med" len="med"/>
                    </a:lnT>
                    <a:lnB w="12700" cap="flat" cmpd="sng" algn="ctr">
                      <a:solidFill>
                        <a:srgbClr val="40D80F"/>
                      </a:solidFill>
                      <a:prstDash val="solid"/>
                      <a:round/>
                      <a:headEnd type="none" w="med" len="med"/>
                      <a:tailEnd type="none" w="med" len="med"/>
                    </a:lnB>
                    <a:solidFill>
                      <a:srgbClr val="FFFFFF"/>
                    </a:solidFill>
                  </a:tcPr>
                </a:tc>
                <a:tc>
                  <a:txBody>
                    <a:bodyPr/>
                    <a:lstStyle/>
                    <a:p>
                      <a:pPr algn="ctr" fontAlgn="b"/>
                      <a:r>
                        <a:rPr lang="en-US" sz="1400" b="1">
                          <a:effectLst/>
                        </a:rPr>
                        <a:t>Soft Real-Time Embedded Systems</a:t>
                      </a:r>
                    </a:p>
                  </a:txBody>
                  <a:tcPr marL="24868" marR="24868" marT="12432" marB="12432" anchor="b">
                    <a:lnL w="9525" cap="flat" cmpd="sng" algn="ctr">
                      <a:solidFill>
                        <a:srgbClr val="907027"/>
                      </a:solidFill>
                      <a:prstDash val="solid"/>
                      <a:round/>
                      <a:headEnd type="none" w="med" len="med"/>
                      <a:tailEnd type="none" w="med" len="med"/>
                    </a:lnL>
                    <a:lnR w="9525" cap="flat" cmpd="sng" algn="ctr">
                      <a:solidFill>
                        <a:srgbClr val="609914"/>
                      </a:solidFill>
                      <a:prstDash val="solid"/>
                      <a:round/>
                      <a:headEnd type="none" w="med" len="med"/>
                      <a:tailEnd type="none" w="med" len="med"/>
                    </a:lnR>
                    <a:lnT w="9525" cap="flat" cmpd="sng" algn="ctr">
                      <a:solidFill>
                        <a:srgbClr val="907027"/>
                      </a:solidFill>
                      <a:prstDash val="solid"/>
                      <a:round/>
                      <a:headEnd type="none" w="med" len="med"/>
                      <a:tailEnd type="none" w="med" len="med"/>
                    </a:lnT>
                    <a:lnB w="12700" cap="flat" cmpd="sng" algn="ctr">
                      <a:solidFill>
                        <a:srgbClr val="C0366D"/>
                      </a:solidFill>
                      <a:prstDash val="solid"/>
                      <a:round/>
                      <a:headEnd type="none" w="med" len="med"/>
                      <a:tailEnd type="none" w="med" len="med"/>
                    </a:lnB>
                    <a:solidFill>
                      <a:srgbClr val="FFFFFF"/>
                    </a:solidFill>
                  </a:tcPr>
                </a:tc>
                <a:tc>
                  <a:txBody>
                    <a:bodyPr/>
                    <a:lstStyle/>
                    <a:p>
                      <a:pPr algn="ctr" fontAlgn="b"/>
                      <a:r>
                        <a:rPr lang="en-US" sz="1400" b="1">
                          <a:effectLst/>
                        </a:rPr>
                        <a:t>Firm Real-Time Embedded Systems</a:t>
                      </a:r>
                    </a:p>
                  </a:txBody>
                  <a:tcPr marL="24868" marR="24868" marT="12432" marB="12432" anchor="b">
                    <a:lnL w="9525" cap="flat" cmpd="sng" algn="ctr">
                      <a:solidFill>
                        <a:srgbClr val="609914"/>
                      </a:solidFill>
                      <a:prstDash val="solid"/>
                      <a:round/>
                      <a:headEnd type="none" w="med" len="med"/>
                      <a:tailEnd type="none" w="med" len="med"/>
                    </a:lnL>
                    <a:lnR w="9525" cap="flat" cmpd="sng" algn="ctr">
                      <a:solidFill>
                        <a:srgbClr val="609914"/>
                      </a:solidFill>
                      <a:prstDash val="solid"/>
                      <a:round/>
                      <a:headEnd type="none" w="med" len="med"/>
                      <a:tailEnd type="none" w="med" len="med"/>
                    </a:lnR>
                    <a:lnT w="9525" cap="flat" cmpd="sng" algn="ctr">
                      <a:solidFill>
                        <a:srgbClr val="609914"/>
                      </a:solidFill>
                      <a:prstDash val="solid"/>
                      <a:round/>
                      <a:headEnd type="none" w="med" len="med"/>
                      <a:tailEnd type="none" w="med" len="med"/>
                    </a:lnT>
                    <a:lnB w="12700" cap="flat" cmpd="sng" algn="ctr">
                      <a:solidFill>
                        <a:srgbClr val="D0724F"/>
                      </a:solidFill>
                      <a:prstDash val="solid"/>
                      <a:round/>
                      <a:headEnd type="none" w="med" len="med"/>
                      <a:tailEnd type="none" w="med" len="med"/>
                    </a:lnB>
                    <a:solidFill>
                      <a:srgbClr val="FFFFFF"/>
                    </a:solidFill>
                  </a:tcPr>
                </a:tc>
                <a:extLst>
                  <a:ext uri="{0D108BD9-81ED-4DB2-BD59-A6C34878D82A}">
                    <a16:rowId xmlns:a16="http://schemas.microsoft.com/office/drawing/2014/main" xmlns="" val="10000"/>
                  </a:ext>
                </a:extLst>
              </a:tr>
              <a:tr h="878216">
                <a:tc>
                  <a:txBody>
                    <a:bodyPr/>
                    <a:lstStyle/>
                    <a:p>
                      <a:pPr algn="ctr" fontAlgn="base"/>
                      <a:r>
                        <a:rPr lang="en-US" sz="1400" b="1" dirty="0">
                          <a:effectLst/>
                        </a:rPr>
                        <a:t>Definition</a:t>
                      </a:r>
                      <a:endParaRPr lang="en-US" sz="1400" dirty="0">
                        <a:effectLst/>
                      </a:endParaRPr>
                    </a:p>
                  </a:txBody>
                  <a:tcPr marL="24868" marR="24868" marT="12432" marB="12432" anchor="ctr">
                    <a:lnL w="9525" cap="flat" cmpd="sng" algn="ctr">
                      <a:solidFill>
                        <a:srgbClr val="308968"/>
                      </a:solidFill>
                      <a:prstDash val="solid"/>
                      <a:round/>
                      <a:headEnd type="none" w="med" len="med"/>
                      <a:tailEnd type="none" w="med" len="med"/>
                    </a:lnL>
                    <a:lnR w="9525" cap="flat" cmpd="sng" algn="ctr">
                      <a:solidFill>
                        <a:srgbClr val="40D80F"/>
                      </a:solidFill>
                      <a:prstDash val="solid"/>
                      <a:round/>
                      <a:headEnd type="none" w="med" len="med"/>
                      <a:tailEnd type="none" w="med" len="med"/>
                    </a:lnR>
                    <a:lnT w="12700" cap="flat" cmpd="sng" algn="ctr">
                      <a:solidFill>
                        <a:srgbClr val="308968"/>
                      </a:solidFill>
                      <a:prstDash val="solid"/>
                      <a:round/>
                      <a:headEnd type="none" w="med" len="med"/>
                      <a:tailEnd type="none" w="med" len="med"/>
                    </a:lnT>
                    <a:lnB w="12700" cap="flat" cmpd="sng" algn="ctr">
                      <a:solidFill>
                        <a:srgbClr val="400EF8"/>
                      </a:solidFill>
                      <a:prstDash val="solid"/>
                      <a:round/>
                      <a:headEnd type="none" w="med" len="med"/>
                      <a:tailEnd type="none" w="med" len="med"/>
                    </a:lnB>
                    <a:solidFill>
                      <a:srgbClr val="FFFFFF"/>
                    </a:solidFill>
                  </a:tcPr>
                </a:tc>
                <a:tc>
                  <a:txBody>
                    <a:bodyPr/>
                    <a:lstStyle/>
                    <a:p>
                      <a:pPr algn="ctr" fontAlgn="base"/>
                      <a:r>
                        <a:rPr lang="en-US" sz="1400" dirty="0">
                          <a:effectLst/>
                        </a:rPr>
                        <a:t>Systems where missing a deadline can lead to catastrophic failures.</a:t>
                      </a:r>
                    </a:p>
                  </a:txBody>
                  <a:tcPr marL="24868" marR="24868" marT="12432" marB="12432" anchor="ctr">
                    <a:lnL w="9525" cap="flat" cmpd="sng" algn="ctr">
                      <a:solidFill>
                        <a:srgbClr val="40D80F"/>
                      </a:solidFill>
                      <a:prstDash val="solid"/>
                      <a:round/>
                      <a:headEnd type="none" w="med" len="med"/>
                      <a:tailEnd type="none" w="med" len="med"/>
                    </a:lnL>
                    <a:lnR w="9525" cap="flat" cmpd="sng" algn="ctr">
                      <a:solidFill>
                        <a:srgbClr val="C0366D"/>
                      </a:solidFill>
                      <a:prstDash val="solid"/>
                      <a:round/>
                      <a:headEnd type="none" w="med" len="med"/>
                      <a:tailEnd type="none" w="med" len="med"/>
                    </a:lnR>
                    <a:lnT w="12700" cap="flat" cmpd="sng" algn="ctr">
                      <a:solidFill>
                        <a:srgbClr val="40D80F"/>
                      </a:solidFill>
                      <a:prstDash val="solid"/>
                      <a:round/>
                      <a:headEnd type="none" w="med" len="med"/>
                      <a:tailEnd type="none" w="med" len="med"/>
                    </a:lnT>
                    <a:lnB w="12700" cap="flat" cmpd="sng" algn="ctr">
                      <a:solidFill>
                        <a:srgbClr val="408E68"/>
                      </a:solidFill>
                      <a:prstDash val="solid"/>
                      <a:round/>
                      <a:headEnd type="none" w="med" len="med"/>
                      <a:tailEnd type="none" w="med" len="med"/>
                    </a:lnB>
                    <a:solidFill>
                      <a:srgbClr val="FFFFFF"/>
                    </a:solidFill>
                  </a:tcPr>
                </a:tc>
                <a:tc>
                  <a:txBody>
                    <a:bodyPr/>
                    <a:lstStyle/>
                    <a:p>
                      <a:pPr algn="ctr" fontAlgn="base"/>
                      <a:r>
                        <a:rPr lang="en-US" sz="1400">
                          <a:effectLst/>
                        </a:rPr>
                        <a:t>Systems where missing a deadline can degrade performance but is not catastrophic.</a:t>
                      </a:r>
                    </a:p>
                  </a:txBody>
                  <a:tcPr marL="24868" marR="24868" marT="12432" marB="12432" anchor="ctr">
                    <a:lnL w="9525" cap="flat" cmpd="sng" algn="ctr">
                      <a:solidFill>
                        <a:srgbClr val="C0366D"/>
                      </a:solidFill>
                      <a:prstDash val="solid"/>
                      <a:round/>
                      <a:headEnd type="none" w="med" len="med"/>
                      <a:tailEnd type="none" w="med" len="med"/>
                    </a:lnL>
                    <a:lnR w="9525" cap="flat" cmpd="sng" algn="ctr">
                      <a:solidFill>
                        <a:srgbClr val="D0724F"/>
                      </a:solidFill>
                      <a:prstDash val="solid"/>
                      <a:round/>
                      <a:headEnd type="none" w="med" len="med"/>
                      <a:tailEnd type="none" w="med" len="med"/>
                    </a:lnR>
                    <a:lnT w="12700" cap="flat" cmpd="sng" algn="ctr">
                      <a:solidFill>
                        <a:srgbClr val="C0366D"/>
                      </a:solidFill>
                      <a:prstDash val="solid"/>
                      <a:round/>
                      <a:headEnd type="none" w="med" len="med"/>
                      <a:tailEnd type="none" w="med" len="med"/>
                    </a:lnT>
                    <a:lnB w="12700" cap="flat" cmpd="sng" algn="ctr">
                      <a:solidFill>
                        <a:srgbClr val="B0411C"/>
                      </a:solidFill>
                      <a:prstDash val="solid"/>
                      <a:round/>
                      <a:headEnd type="none" w="med" len="med"/>
                      <a:tailEnd type="none" w="med" len="med"/>
                    </a:lnB>
                    <a:solidFill>
                      <a:srgbClr val="FFFFFF"/>
                    </a:solidFill>
                  </a:tcPr>
                </a:tc>
                <a:tc>
                  <a:txBody>
                    <a:bodyPr/>
                    <a:lstStyle/>
                    <a:p>
                      <a:pPr algn="ctr" fontAlgn="base"/>
                      <a:r>
                        <a:rPr lang="en-US" sz="1400">
                          <a:effectLst/>
                        </a:rPr>
                        <a:t>Systems where missing a deadline occasionally is tolerable but repeated misses are problematic.</a:t>
                      </a:r>
                    </a:p>
                  </a:txBody>
                  <a:tcPr marL="24868" marR="24868" marT="12432" marB="12432" anchor="ctr">
                    <a:lnL w="9525" cap="flat" cmpd="sng" algn="ctr">
                      <a:solidFill>
                        <a:srgbClr val="D0724F"/>
                      </a:solidFill>
                      <a:prstDash val="solid"/>
                      <a:round/>
                      <a:headEnd type="none" w="med" len="med"/>
                      <a:tailEnd type="none" w="med" len="med"/>
                    </a:lnL>
                    <a:lnR w="9525" cap="flat" cmpd="sng" algn="ctr">
                      <a:solidFill>
                        <a:srgbClr val="D0724F"/>
                      </a:solidFill>
                      <a:prstDash val="solid"/>
                      <a:round/>
                      <a:headEnd type="none" w="med" len="med"/>
                      <a:tailEnd type="none" w="med" len="med"/>
                    </a:lnR>
                    <a:lnT w="12700" cap="flat" cmpd="sng" algn="ctr">
                      <a:solidFill>
                        <a:srgbClr val="D0724F"/>
                      </a:solidFill>
                      <a:prstDash val="solid"/>
                      <a:round/>
                      <a:headEnd type="none" w="med" len="med"/>
                      <a:tailEnd type="none" w="med" len="med"/>
                    </a:lnT>
                    <a:lnB w="12700" cap="flat" cmpd="sng" algn="ctr">
                      <a:solidFill>
                        <a:srgbClr val="102811"/>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451540">
                <a:tc>
                  <a:txBody>
                    <a:bodyPr/>
                    <a:lstStyle/>
                    <a:p>
                      <a:pPr algn="ctr" fontAlgn="base"/>
                      <a:r>
                        <a:rPr lang="en-US" sz="1400" b="1">
                          <a:effectLst/>
                        </a:rPr>
                        <a:t>Examples</a:t>
                      </a:r>
                      <a:endParaRPr lang="en-US" sz="1400">
                        <a:effectLst/>
                      </a:endParaRPr>
                    </a:p>
                  </a:txBody>
                  <a:tcPr marL="24868" marR="24868" marT="12432" marB="12432" anchor="ctr">
                    <a:lnL w="9525" cap="flat" cmpd="sng" algn="ctr">
                      <a:solidFill>
                        <a:srgbClr val="400EF8"/>
                      </a:solidFill>
                      <a:prstDash val="solid"/>
                      <a:round/>
                      <a:headEnd type="none" w="med" len="med"/>
                      <a:tailEnd type="none" w="med" len="med"/>
                    </a:lnL>
                    <a:lnR w="9525" cap="flat" cmpd="sng" algn="ctr">
                      <a:solidFill>
                        <a:srgbClr val="408E68"/>
                      </a:solidFill>
                      <a:prstDash val="solid"/>
                      <a:round/>
                      <a:headEnd type="none" w="med" len="med"/>
                      <a:tailEnd type="none" w="med" len="med"/>
                    </a:lnR>
                    <a:lnT w="12700" cap="flat" cmpd="sng" algn="ctr">
                      <a:solidFill>
                        <a:srgbClr val="400EF8"/>
                      </a:solidFill>
                      <a:prstDash val="solid"/>
                      <a:round/>
                      <a:headEnd type="none" w="med" len="med"/>
                      <a:tailEnd type="none" w="med" len="med"/>
                    </a:lnT>
                    <a:lnB w="12700" cap="flat" cmpd="sng" algn="ctr">
                      <a:solidFill>
                        <a:srgbClr val="608C5B"/>
                      </a:solidFill>
                      <a:prstDash val="solid"/>
                      <a:round/>
                      <a:headEnd type="none" w="med" len="med"/>
                      <a:tailEnd type="none" w="med" len="med"/>
                    </a:lnB>
                    <a:solidFill>
                      <a:srgbClr val="FFFFFF"/>
                    </a:solidFill>
                  </a:tcPr>
                </a:tc>
                <a:tc>
                  <a:txBody>
                    <a:bodyPr/>
                    <a:lstStyle/>
                    <a:p>
                      <a:pPr algn="ctr" fontAlgn="base"/>
                      <a:r>
                        <a:rPr lang="en-US" sz="1400" dirty="0">
                          <a:effectLst/>
                        </a:rPr>
                        <a:t>Airbag systems, pacemakers, industrial control systems</a:t>
                      </a:r>
                    </a:p>
                  </a:txBody>
                  <a:tcPr marL="24868" marR="24868" marT="12432" marB="12432" anchor="ctr">
                    <a:lnL w="9525" cap="flat" cmpd="sng" algn="ctr">
                      <a:solidFill>
                        <a:srgbClr val="408E68"/>
                      </a:solidFill>
                      <a:prstDash val="solid"/>
                      <a:round/>
                      <a:headEnd type="none" w="med" len="med"/>
                      <a:tailEnd type="none" w="med" len="med"/>
                    </a:lnL>
                    <a:lnR w="9525" cap="flat" cmpd="sng" algn="ctr">
                      <a:solidFill>
                        <a:srgbClr val="B0411C"/>
                      </a:solidFill>
                      <a:prstDash val="solid"/>
                      <a:round/>
                      <a:headEnd type="none" w="med" len="med"/>
                      <a:tailEnd type="none" w="med" len="med"/>
                    </a:lnR>
                    <a:lnT w="12700" cap="flat" cmpd="sng" algn="ctr">
                      <a:solidFill>
                        <a:srgbClr val="408E68"/>
                      </a:solidFill>
                      <a:prstDash val="solid"/>
                      <a:round/>
                      <a:headEnd type="none" w="med" len="med"/>
                      <a:tailEnd type="none" w="med" len="med"/>
                    </a:lnT>
                    <a:lnB w="12700" cap="flat" cmpd="sng" algn="ctr">
                      <a:solidFill>
                        <a:srgbClr val="80EA74"/>
                      </a:solidFill>
                      <a:prstDash val="solid"/>
                      <a:round/>
                      <a:headEnd type="none" w="med" len="med"/>
                      <a:tailEnd type="none" w="med" len="med"/>
                    </a:lnB>
                    <a:solidFill>
                      <a:srgbClr val="FFFFFF"/>
                    </a:solidFill>
                  </a:tcPr>
                </a:tc>
                <a:tc>
                  <a:txBody>
                    <a:bodyPr/>
                    <a:lstStyle/>
                    <a:p>
                      <a:pPr algn="ctr" fontAlgn="base"/>
                      <a:r>
                        <a:rPr lang="en-US" sz="1400">
                          <a:effectLst/>
                        </a:rPr>
                        <a:t>Multimedia systems, online transaction processing</a:t>
                      </a:r>
                    </a:p>
                  </a:txBody>
                  <a:tcPr marL="24868" marR="24868" marT="12432" marB="12432" anchor="ctr">
                    <a:lnL w="9525" cap="flat" cmpd="sng" algn="ctr">
                      <a:solidFill>
                        <a:srgbClr val="B0411C"/>
                      </a:solidFill>
                      <a:prstDash val="solid"/>
                      <a:round/>
                      <a:headEnd type="none" w="med" len="med"/>
                      <a:tailEnd type="none" w="med" len="med"/>
                    </a:lnL>
                    <a:lnR w="9525" cap="flat" cmpd="sng" algn="ctr">
                      <a:solidFill>
                        <a:srgbClr val="102811"/>
                      </a:solidFill>
                      <a:prstDash val="solid"/>
                      <a:round/>
                      <a:headEnd type="none" w="med" len="med"/>
                      <a:tailEnd type="none" w="med" len="med"/>
                    </a:lnR>
                    <a:lnT w="12700" cap="flat" cmpd="sng" algn="ctr">
                      <a:solidFill>
                        <a:srgbClr val="B0411C"/>
                      </a:solidFill>
                      <a:prstDash val="solid"/>
                      <a:round/>
                      <a:headEnd type="none" w="med" len="med"/>
                      <a:tailEnd type="none" w="med" len="med"/>
                    </a:lnT>
                    <a:lnB w="12700" cap="flat" cmpd="sng" algn="ctr">
                      <a:solidFill>
                        <a:srgbClr val="F0C3CB"/>
                      </a:solidFill>
                      <a:prstDash val="solid"/>
                      <a:round/>
                      <a:headEnd type="none" w="med" len="med"/>
                      <a:tailEnd type="none" w="med" len="med"/>
                    </a:lnB>
                    <a:solidFill>
                      <a:srgbClr val="FFFFFF"/>
                    </a:solidFill>
                  </a:tcPr>
                </a:tc>
                <a:tc>
                  <a:txBody>
                    <a:bodyPr/>
                    <a:lstStyle/>
                    <a:p>
                      <a:pPr algn="ctr" fontAlgn="base"/>
                      <a:r>
                        <a:rPr lang="en-US" sz="1400">
                          <a:effectLst/>
                        </a:rPr>
                        <a:t>Automated teller machines (ATM), navigation systems</a:t>
                      </a:r>
                    </a:p>
                  </a:txBody>
                  <a:tcPr marL="24868" marR="24868" marT="12432" marB="12432" anchor="ctr">
                    <a:lnL w="9525" cap="flat" cmpd="sng" algn="ctr">
                      <a:solidFill>
                        <a:srgbClr val="102811"/>
                      </a:solidFill>
                      <a:prstDash val="solid"/>
                      <a:round/>
                      <a:headEnd type="none" w="med" len="med"/>
                      <a:tailEnd type="none" w="med" len="med"/>
                    </a:lnL>
                    <a:lnR w="9525" cap="flat" cmpd="sng" algn="ctr">
                      <a:solidFill>
                        <a:srgbClr val="102811"/>
                      </a:solidFill>
                      <a:prstDash val="solid"/>
                      <a:round/>
                      <a:headEnd type="none" w="med" len="med"/>
                      <a:tailEnd type="none" w="med" len="med"/>
                    </a:lnR>
                    <a:lnT w="12700" cap="flat" cmpd="sng" algn="ctr">
                      <a:solidFill>
                        <a:srgbClr val="102811"/>
                      </a:solidFill>
                      <a:prstDash val="solid"/>
                      <a:round/>
                      <a:headEnd type="none" w="med" len="med"/>
                      <a:tailEnd type="none" w="med" len="med"/>
                    </a:lnT>
                    <a:lnB w="12700" cap="flat" cmpd="sng" algn="ctr">
                      <a:solidFill>
                        <a:srgbClr val="0030CD"/>
                      </a:solidFill>
                      <a:prstDash val="solid"/>
                      <a:round/>
                      <a:headEnd type="none" w="med" len="med"/>
                      <a:tailEnd type="none" w="med" len="med"/>
                    </a:lnB>
                    <a:solidFill>
                      <a:srgbClr val="FFFFFF"/>
                    </a:solidFill>
                  </a:tcPr>
                </a:tc>
                <a:extLst>
                  <a:ext uri="{0D108BD9-81ED-4DB2-BD59-A6C34878D82A}">
                    <a16:rowId xmlns:a16="http://schemas.microsoft.com/office/drawing/2014/main" xmlns="" val="10002"/>
                  </a:ext>
                </a:extLst>
              </a:tr>
              <a:tr h="664878">
                <a:tc>
                  <a:txBody>
                    <a:bodyPr/>
                    <a:lstStyle/>
                    <a:p>
                      <a:pPr algn="ctr" fontAlgn="base"/>
                      <a:r>
                        <a:rPr lang="en-US" sz="1400" b="1">
                          <a:effectLst/>
                        </a:rPr>
                        <a:t>Deadline Importance</a:t>
                      </a:r>
                      <a:endParaRPr lang="en-US" sz="1400">
                        <a:effectLst/>
                      </a:endParaRPr>
                    </a:p>
                  </a:txBody>
                  <a:tcPr marL="24868" marR="24868" marT="12432" marB="12432" anchor="ctr">
                    <a:lnL w="9525" cap="flat" cmpd="sng" algn="ctr">
                      <a:solidFill>
                        <a:srgbClr val="608C5B"/>
                      </a:solidFill>
                      <a:prstDash val="solid"/>
                      <a:round/>
                      <a:headEnd type="none" w="med" len="med"/>
                      <a:tailEnd type="none" w="med" len="med"/>
                    </a:lnL>
                    <a:lnR w="9525" cap="flat" cmpd="sng" algn="ctr">
                      <a:solidFill>
                        <a:srgbClr val="80EA74"/>
                      </a:solidFill>
                      <a:prstDash val="solid"/>
                      <a:round/>
                      <a:headEnd type="none" w="med" len="med"/>
                      <a:tailEnd type="none" w="med" len="med"/>
                    </a:lnR>
                    <a:lnT w="12700" cap="flat" cmpd="sng" algn="ctr">
                      <a:solidFill>
                        <a:srgbClr val="608C5B"/>
                      </a:solidFill>
                      <a:prstDash val="solid"/>
                      <a:round/>
                      <a:headEnd type="none" w="med" len="med"/>
                      <a:tailEnd type="none" w="med" len="med"/>
                    </a:lnT>
                    <a:lnB w="12700" cap="flat" cmpd="sng" algn="ctr">
                      <a:solidFill>
                        <a:srgbClr val="40C2CB"/>
                      </a:solidFill>
                      <a:prstDash val="solid"/>
                      <a:round/>
                      <a:headEnd type="none" w="med" len="med"/>
                      <a:tailEnd type="none" w="med" len="med"/>
                    </a:lnB>
                    <a:solidFill>
                      <a:srgbClr val="FFFFFF"/>
                    </a:solidFill>
                  </a:tcPr>
                </a:tc>
                <a:tc>
                  <a:txBody>
                    <a:bodyPr/>
                    <a:lstStyle/>
                    <a:p>
                      <a:pPr algn="ctr" fontAlgn="base"/>
                      <a:r>
                        <a:rPr lang="en-US" sz="1400" dirty="0">
                          <a:effectLst/>
                        </a:rPr>
                        <a:t>Strict and non-negotiable</a:t>
                      </a:r>
                    </a:p>
                  </a:txBody>
                  <a:tcPr marL="24868" marR="24868" marT="12432" marB="12432" anchor="ctr">
                    <a:lnL w="9525" cap="flat" cmpd="sng" algn="ctr">
                      <a:solidFill>
                        <a:srgbClr val="80EA74"/>
                      </a:solidFill>
                      <a:prstDash val="solid"/>
                      <a:round/>
                      <a:headEnd type="none" w="med" len="med"/>
                      <a:tailEnd type="none" w="med" len="med"/>
                    </a:lnL>
                    <a:lnR w="9525" cap="flat" cmpd="sng" algn="ctr">
                      <a:solidFill>
                        <a:srgbClr val="F0C3CB"/>
                      </a:solidFill>
                      <a:prstDash val="solid"/>
                      <a:round/>
                      <a:headEnd type="none" w="med" len="med"/>
                      <a:tailEnd type="none" w="med" len="med"/>
                    </a:lnR>
                    <a:lnT w="12700" cap="flat" cmpd="sng" algn="ctr">
                      <a:solidFill>
                        <a:srgbClr val="80EA74"/>
                      </a:solidFill>
                      <a:prstDash val="solid"/>
                      <a:round/>
                      <a:headEnd type="none" w="med" len="med"/>
                      <a:tailEnd type="none" w="med" len="med"/>
                    </a:lnT>
                    <a:lnB w="12700" cap="flat" cmpd="sng" algn="ctr">
                      <a:solidFill>
                        <a:srgbClr val="40D203"/>
                      </a:solidFill>
                      <a:prstDash val="solid"/>
                      <a:round/>
                      <a:headEnd type="none" w="med" len="med"/>
                      <a:tailEnd type="none" w="med" len="med"/>
                    </a:lnB>
                    <a:solidFill>
                      <a:srgbClr val="FFFFFF"/>
                    </a:solidFill>
                  </a:tcPr>
                </a:tc>
                <a:tc>
                  <a:txBody>
                    <a:bodyPr/>
                    <a:lstStyle/>
                    <a:p>
                      <a:pPr algn="ctr" fontAlgn="base"/>
                      <a:r>
                        <a:rPr lang="en-US" sz="1400">
                          <a:effectLst/>
                        </a:rPr>
                        <a:t>Flexible, negotiable within limits</a:t>
                      </a:r>
                    </a:p>
                  </a:txBody>
                  <a:tcPr marL="24868" marR="24868" marT="12432" marB="12432" anchor="ctr">
                    <a:lnL w="9525" cap="flat" cmpd="sng" algn="ctr">
                      <a:solidFill>
                        <a:srgbClr val="F0C3CB"/>
                      </a:solidFill>
                      <a:prstDash val="solid"/>
                      <a:round/>
                      <a:headEnd type="none" w="med" len="med"/>
                      <a:tailEnd type="none" w="med" len="med"/>
                    </a:lnL>
                    <a:lnR w="9525" cap="flat" cmpd="sng" algn="ctr">
                      <a:solidFill>
                        <a:srgbClr val="0030CD"/>
                      </a:solidFill>
                      <a:prstDash val="solid"/>
                      <a:round/>
                      <a:headEnd type="none" w="med" len="med"/>
                      <a:tailEnd type="none" w="med" len="med"/>
                    </a:lnR>
                    <a:lnT w="12700" cap="flat" cmpd="sng" algn="ctr">
                      <a:solidFill>
                        <a:srgbClr val="F0C3CB"/>
                      </a:solidFill>
                      <a:prstDash val="solid"/>
                      <a:round/>
                      <a:headEnd type="none" w="med" len="med"/>
                      <a:tailEnd type="none" w="med" len="med"/>
                    </a:lnT>
                    <a:lnB w="12700" cap="flat" cmpd="sng" algn="ctr">
                      <a:solidFill>
                        <a:srgbClr val="70D503"/>
                      </a:solidFill>
                      <a:prstDash val="solid"/>
                      <a:round/>
                      <a:headEnd type="none" w="med" len="med"/>
                      <a:tailEnd type="none" w="med" len="med"/>
                    </a:lnB>
                    <a:solidFill>
                      <a:srgbClr val="FFFFFF"/>
                    </a:solidFill>
                  </a:tcPr>
                </a:tc>
                <a:tc>
                  <a:txBody>
                    <a:bodyPr/>
                    <a:lstStyle/>
                    <a:p>
                      <a:pPr algn="ctr" fontAlgn="base"/>
                      <a:r>
                        <a:rPr lang="en-US" sz="1400">
                          <a:effectLst/>
                        </a:rPr>
                        <a:t>Generally strict, but some deadlines can be missed occasionally</a:t>
                      </a:r>
                    </a:p>
                  </a:txBody>
                  <a:tcPr marL="24868" marR="24868" marT="12432" marB="12432" anchor="ctr">
                    <a:lnL w="9525" cap="flat" cmpd="sng" algn="ctr">
                      <a:solidFill>
                        <a:srgbClr val="0030CD"/>
                      </a:solidFill>
                      <a:prstDash val="solid"/>
                      <a:round/>
                      <a:headEnd type="none" w="med" len="med"/>
                      <a:tailEnd type="none" w="med" len="med"/>
                    </a:lnL>
                    <a:lnR w="9525" cap="flat" cmpd="sng" algn="ctr">
                      <a:solidFill>
                        <a:srgbClr val="0030CD"/>
                      </a:solidFill>
                      <a:prstDash val="solid"/>
                      <a:round/>
                      <a:headEnd type="none" w="med" len="med"/>
                      <a:tailEnd type="none" w="med" len="med"/>
                    </a:lnR>
                    <a:lnT w="12700" cap="flat" cmpd="sng" algn="ctr">
                      <a:solidFill>
                        <a:srgbClr val="0030CD"/>
                      </a:solidFill>
                      <a:prstDash val="solid"/>
                      <a:round/>
                      <a:headEnd type="none" w="med" len="med"/>
                      <a:tailEnd type="none" w="med" len="med"/>
                    </a:lnT>
                    <a:lnB w="12700" cap="flat" cmpd="sng" algn="ctr">
                      <a:solidFill>
                        <a:srgbClr val="A0D803"/>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r h="664878">
                <a:tc>
                  <a:txBody>
                    <a:bodyPr/>
                    <a:lstStyle/>
                    <a:p>
                      <a:pPr algn="ctr" fontAlgn="base"/>
                      <a:r>
                        <a:rPr lang="en-US" sz="1400" b="1">
                          <a:effectLst/>
                        </a:rPr>
                        <a:t>Consequences of Missing Deadlines</a:t>
                      </a:r>
                      <a:endParaRPr lang="en-US" sz="1400">
                        <a:effectLst/>
                      </a:endParaRPr>
                    </a:p>
                  </a:txBody>
                  <a:tcPr marL="24868" marR="24868" marT="12432" marB="12432" anchor="ctr">
                    <a:lnL w="9525" cap="flat" cmpd="sng" algn="ctr">
                      <a:solidFill>
                        <a:srgbClr val="40C2CB"/>
                      </a:solidFill>
                      <a:prstDash val="solid"/>
                      <a:round/>
                      <a:headEnd type="none" w="med" len="med"/>
                      <a:tailEnd type="none" w="med" len="med"/>
                    </a:lnL>
                    <a:lnR w="9525" cap="flat" cmpd="sng" algn="ctr">
                      <a:solidFill>
                        <a:srgbClr val="40D203"/>
                      </a:solidFill>
                      <a:prstDash val="solid"/>
                      <a:round/>
                      <a:headEnd type="none" w="med" len="med"/>
                      <a:tailEnd type="none" w="med" len="med"/>
                    </a:lnR>
                    <a:lnT w="12700" cap="flat" cmpd="sng" algn="ctr">
                      <a:solidFill>
                        <a:srgbClr val="40C2CB"/>
                      </a:solidFill>
                      <a:prstDash val="solid"/>
                      <a:round/>
                      <a:headEnd type="none" w="med" len="med"/>
                      <a:tailEnd type="none" w="med" len="med"/>
                    </a:lnT>
                    <a:lnB w="12700" cap="flat" cmpd="sng" algn="ctr">
                      <a:solidFill>
                        <a:srgbClr val="0030CD"/>
                      </a:solidFill>
                      <a:prstDash val="solid"/>
                      <a:round/>
                      <a:headEnd type="none" w="med" len="med"/>
                      <a:tailEnd type="none" w="med" len="med"/>
                    </a:lnB>
                    <a:solidFill>
                      <a:srgbClr val="FFFFFF"/>
                    </a:solidFill>
                  </a:tcPr>
                </a:tc>
                <a:tc>
                  <a:txBody>
                    <a:bodyPr/>
                    <a:lstStyle/>
                    <a:p>
                      <a:pPr algn="ctr" fontAlgn="base"/>
                      <a:r>
                        <a:rPr lang="en-US" sz="1400" dirty="0">
                          <a:effectLst/>
                        </a:rPr>
                        <a:t>Catastrophic failures, possible loss of life or major system failures</a:t>
                      </a:r>
                    </a:p>
                  </a:txBody>
                  <a:tcPr marL="24868" marR="24868" marT="12432" marB="12432" anchor="ctr">
                    <a:lnL w="9525" cap="flat" cmpd="sng" algn="ctr">
                      <a:solidFill>
                        <a:srgbClr val="40D203"/>
                      </a:solidFill>
                      <a:prstDash val="solid"/>
                      <a:round/>
                      <a:headEnd type="none" w="med" len="med"/>
                      <a:tailEnd type="none" w="med" len="med"/>
                    </a:lnL>
                    <a:lnR w="9525" cap="flat" cmpd="sng" algn="ctr">
                      <a:solidFill>
                        <a:srgbClr val="70D503"/>
                      </a:solidFill>
                      <a:prstDash val="solid"/>
                      <a:round/>
                      <a:headEnd type="none" w="med" len="med"/>
                      <a:tailEnd type="none" w="med" len="med"/>
                    </a:lnR>
                    <a:lnT w="12700" cap="flat" cmpd="sng" algn="ctr">
                      <a:solidFill>
                        <a:srgbClr val="40D203"/>
                      </a:solidFill>
                      <a:prstDash val="solid"/>
                      <a:round/>
                      <a:headEnd type="none" w="med" len="med"/>
                      <a:tailEnd type="none" w="med" len="med"/>
                    </a:lnT>
                    <a:lnB w="12700" cap="flat" cmpd="sng" algn="ctr">
                      <a:solidFill>
                        <a:srgbClr val="20D403"/>
                      </a:solidFill>
                      <a:prstDash val="solid"/>
                      <a:round/>
                      <a:headEnd type="none" w="med" len="med"/>
                      <a:tailEnd type="none" w="med" len="med"/>
                    </a:lnB>
                    <a:solidFill>
                      <a:srgbClr val="FFFFFF"/>
                    </a:solidFill>
                  </a:tcPr>
                </a:tc>
                <a:tc>
                  <a:txBody>
                    <a:bodyPr/>
                    <a:lstStyle/>
                    <a:p>
                      <a:pPr algn="ctr" fontAlgn="base"/>
                      <a:r>
                        <a:rPr lang="en-US" sz="1400" dirty="0">
                          <a:effectLst/>
                        </a:rPr>
                        <a:t>Reduced quality of service, performance degradation</a:t>
                      </a:r>
                    </a:p>
                  </a:txBody>
                  <a:tcPr marL="24868" marR="24868" marT="12432" marB="12432" anchor="ctr">
                    <a:lnL w="9525" cap="flat" cmpd="sng" algn="ctr">
                      <a:solidFill>
                        <a:srgbClr val="70D503"/>
                      </a:solidFill>
                      <a:prstDash val="solid"/>
                      <a:round/>
                      <a:headEnd type="none" w="med" len="med"/>
                      <a:tailEnd type="none" w="med" len="med"/>
                    </a:lnL>
                    <a:lnR w="9525" cap="flat" cmpd="sng" algn="ctr">
                      <a:solidFill>
                        <a:srgbClr val="A0D803"/>
                      </a:solidFill>
                      <a:prstDash val="solid"/>
                      <a:round/>
                      <a:headEnd type="none" w="med" len="med"/>
                      <a:tailEnd type="none" w="med" len="med"/>
                    </a:lnR>
                    <a:lnT w="12700" cap="flat" cmpd="sng" algn="ctr">
                      <a:solidFill>
                        <a:srgbClr val="70D503"/>
                      </a:solidFill>
                      <a:prstDash val="solid"/>
                      <a:round/>
                      <a:headEnd type="none" w="med" len="med"/>
                      <a:tailEnd type="none" w="med" len="med"/>
                    </a:lnT>
                    <a:lnB w="12700" cap="flat" cmpd="sng" algn="ctr">
                      <a:solidFill>
                        <a:srgbClr val="B0D103"/>
                      </a:solidFill>
                      <a:prstDash val="solid"/>
                      <a:round/>
                      <a:headEnd type="none" w="med" len="med"/>
                      <a:tailEnd type="none" w="med" len="med"/>
                    </a:lnB>
                    <a:solidFill>
                      <a:srgbClr val="FFFFFF"/>
                    </a:solidFill>
                  </a:tcPr>
                </a:tc>
                <a:tc>
                  <a:txBody>
                    <a:bodyPr/>
                    <a:lstStyle/>
                    <a:p>
                      <a:pPr algn="ctr" fontAlgn="base"/>
                      <a:r>
                        <a:rPr lang="en-US" sz="1400">
                          <a:effectLst/>
                        </a:rPr>
                        <a:t>Degradation in quality, potential for system errors if repeated misses occur</a:t>
                      </a:r>
                    </a:p>
                  </a:txBody>
                  <a:tcPr marL="24868" marR="24868" marT="12432" marB="12432" anchor="ctr">
                    <a:lnL w="9525" cap="flat" cmpd="sng" algn="ctr">
                      <a:solidFill>
                        <a:srgbClr val="A0D803"/>
                      </a:solidFill>
                      <a:prstDash val="solid"/>
                      <a:round/>
                      <a:headEnd type="none" w="med" len="med"/>
                      <a:tailEnd type="none" w="med" len="med"/>
                    </a:lnL>
                    <a:lnR w="9525" cap="flat" cmpd="sng" algn="ctr">
                      <a:solidFill>
                        <a:srgbClr val="A0D803"/>
                      </a:solidFill>
                      <a:prstDash val="solid"/>
                      <a:round/>
                      <a:headEnd type="none" w="med" len="med"/>
                      <a:tailEnd type="none" w="med" len="med"/>
                    </a:lnR>
                    <a:lnT w="12700" cap="flat" cmpd="sng" algn="ctr">
                      <a:solidFill>
                        <a:srgbClr val="A0D803"/>
                      </a:solidFill>
                      <a:prstDash val="solid"/>
                      <a:round/>
                      <a:headEnd type="none" w="med" len="med"/>
                      <a:tailEnd type="none" w="med" len="med"/>
                    </a:lnT>
                    <a:lnB w="12700" cap="flat" cmpd="sng" algn="ctr">
                      <a:solidFill>
                        <a:srgbClr val="60D303"/>
                      </a:solidFill>
                      <a:prstDash val="solid"/>
                      <a:round/>
                      <a:headEnd type="none" w="med" len="med"/>
                      <a:tailEnd type="none" w="med" len="med"/>
                    </a:lnB>
                    <a:solidFill>
                      <a:srgbClr val="FFFFFF"/>
                    </a:solidFill>
                  </a:tcPr>
                </a:tc>
                <a:extLst>
                  <a:ext uri="{0D108BD9-81ED-4DB2-BD59-A6C34878D82A}">
                    <a16:rowId xmlns:a16="http://schemas.microsoft.com/office/drawing/2014/main" xmlns="" val="10004"/>
                  </a:ext>
                </a:extLst>
              </a:tr>
              <a:tr h="664878">
                <a:tc>
                  <a:txBody>
                    <a:bodyPr/>
                    <a:lstStyle/>
                    <a:p>
                      <a:pPr algn="ctr" fontAlgn="base"/>
                      <a:r>
                        <a:rPr lang="en-US" sz="1400" b="1">
                          <a:effectLst/>
                        </a:rPr>
                        <a:t>System Predictability</a:t>
                      </a:r>
                      <a:endParaRPr lang="en-US" sz="1400">
                        <a:effectLst/>
                      </a:endParaRPr>
                    </a:p>
                  </a:txBody>
                  <a:tcPr marL="24868" marR="24868" marT="12432" marB="12432" anchor="ctr">
                    <a:lnL w="9525" cap="flat" cmpd="sng" algn="ctr">
                      <a:solidFill>
                        <a:srgbClr val="0030CD"/>
                      </a:solidFill>
                      <a:prstDash val="solid"/>
                      <a:round/>
                      <a:headEnd type="none" w="med" len="med"/>
                      <a:tailEnd type="none" w="med" len="med"/>
                    </a:lnL>
                    <a:lnR w="9525" cap="flat" cmpd="sng" algn="ctr">
                      <a:solidFill>
                        <a:srgbClr val="20D403"/>
                      </a:solidFill>
                      <a:prstDash val="solid"/>
                      <a:round/>
                      <a:headEnd type="none" w="med" len="med"/>
                      <a:tailEnd type="none" w="med" len="med"/>
                    </a:lnR>
                    <a:lnT w="12700" cap="flat" cmpd="sng" algn="ctr">
                      <a:solidFill>
                        <a:srgbClr val="0030CD"/>
                      </a:solidFill>
                      <a:prstDash val="solid"/>
                      <a:round/>
                      <a:headEnd type="none" w="med" len="med"/>
                      <a:tailEnd type="none" w="med" len="med"/>
                    </a:lnT>
                    <a:lnB w="12700" cap="flat" cmpd="sng" algn="ctr">
                      <a:solidFill>
                        <a:srgbClr val="C0B9CB"/>
                      </a:solidFill>
                      <a:prstDash val="solid"/>
                      <a:round/>
                      <a:headEnd type="none" w="med" len="med"/>
                      <a:tailEnd type="none" w="med" len="med"/>
                    </a:lnB>
                    <a:solidFill>
                      <a:srgbClr val="FFFFFF"/>
                    </a:solidFill>
                  </a:tcPr>
                </a:tc>
                <a:tc>
                  <a:txBody>
                    <a:bodyPr/>
                    <a:lstStyle/>
                    <a:p>
                      <a:pPr algn="ctr" fontAlgn="base"/>
                      <a:r>
                        <a:rPr lang="en-US" sz="1400" dirty="0">
                          <a:effectLst/>
                        </a:rPr>
                        <a:t>Highly predictable and deterministic</a:t>
                      </a:r>
                    </a:p>
                  </a:txBody>
                  <a:tcPr marL="24868" marR="24868" marT="12432" marB="12432" anchor="ctr">
                    <a:lnL w="9525" cap="flat" cmpd="sng" algn="ctr">
                      <a:solidFill>
                        <a:srgbClr val="20D403"/>
                      </a:solidFill>
                      <a:prstDash val="solid"/>
                      <a:round/>
                      <a:headEnd type="none" w="med" len="med"/>
                      <a:tailEnd type="none" w="med" len="med"/>
                    </a:lnL>
                    <a:lnR w="9525" cap="flat" cmpd="sng" algn="ctr">
                      <a:solidFill>
                        <a:srgbClr val="B0D103"/>
                      </a:solidFill>
                      <a:prstDash val="solid"/>
                      <a:round/>
                      <a:headEnd type="none" w="med" len="med"/>
                      <a:tailEnd type="none" w="med" len="med"/>
                    </a:lnR>
                    <a:lnT w="12700" cap="flat" cmpd="sng" algn="ctr">
                      <a:solidFill>
                        <a:srgbClr val="20D403"/>
                      </a:solidFill>
                      <a:prstDash val="solid"/>
                      <a:round/>
                      <a:headEnd type="none" w="med" len="med"/>
                      <a:tailEnd type="none" w="med" len="med"/>
                    </a:lnT>
                    <a:lnB w="12700" cap="flat" cmpd="sng" algn="ctr">
                      <a:solidFill>
                        <a:srgbClr val="00B6CB"/>
                      </a:solidFill>
                      <a:prstDash val="solid"/>
                      <a:round/>
                      <a:headEnd type="none" w="med" len="med"/>
                      <a:tailEnd type="none" w="med" len="med"/>
                    </a:lnB>
                    <a:solidFill>
                      <a:srgbClr val="FFFFFF"/>
                    </a:solidFill>
                  </a:tcPr>
                </a:tc>
                <a:tc>
                  <a:txBody>
                    <a:bodyPr/>
                    <a:lstStyle/>
                    <a:p>
                      <a:pPr algn="ctr" fontAlgn="base"/>
                      <a:r>
                        <a:rPr lang="en-US" sz="1400" dirty="0">
                          <a:effectLst/>
                        </a:rPr>
                        <a:t>Less predictable, can tolerate some variability</a:t>
                      </a:r>
                    </a:p>
                  </a:txBody>
                  <a:tcPr marL="24868" marR="24868" marT="12432" marB="12432" anchor="ctr">
                    <a:lnL w="9525" cap="flat" cmpd="sng" algn="ctr">
                      <a:solidFill>
                        <a:srgbClr val="B0D103"/>
                      </a:solidFill>
                      <a:prstDash val="solid"/>
                      <a:round/>
                      <a:headEnd type="none" w="med" len="med"/>
                      <a:tailEnd type="none" w="med" len="med"/>
                    </a:lnL>
                    <a:lnR w="9525" cap="flat" cmpd="sng" algn="ctr">
                      <a:solidFill>
                        <a:srgbClr val="60D303"/>
                      </a:solidFill>
                      <a:prstDash val="solid"/>
                      <a:round/>
                      <a:headEnd type="none" w="med" len="med"/>
                      <a:tailEnd type="none" w="med" len="med"/>
                    </a:lnR>
                    <a:lnT w="12700" cap="flat" cmpd="sng" algn="ctr">
                      <a:solidFill>
                        <a:srgbClr val="B0D103"/>
                      </a:solidFill>
                      <a:prstDash val="solid"/>
                      <a:round/>
                      <a:headEnd type="none" w="med" len="med"/>
                      <a:tailEnd type="none" w="med" len="med"/>
                    </a:lnT>
                    <a:lnB w="12700" cap="flat" cmpd="sng" algn="ctr">
                      <a:solidFill>
                        <a:srgbClr val="A0EB08"/>
                      </a:solidFill>
                      <a:prstDash val="solid"/>
                      <a:round/>
                      <a:headEnd type="none" w="med" len="med"/>
                      <a:tailEnd type="none" w="med" len="med"/>
                    </a:lnB>
                    <a:solidFill>
                      <a:srgbClr val="FFFFFF"/>
                    </a:solidFill>
                  </a:tcPr>
                </a:tc>
                <a:tc>
                  <a:txBody>
                    <a:bodyPr/>
                    <a:lstStyle/>
                    <a:p>
                      <a:pPr algn="ctr" fontAlgn="base"/>
                      <a:r>
                        <a:rPr lang="en-US" sz="1400">
                          <a:effectLst/>
                        </a:rPr>
                        <a:t>Predictable with some tolerance for infrequent deadline misses</a:t>
                      </a:r>
                    </a:p>
                  </a:txBody>
                  <a:tcPr marL="24868" marR="24868" marT="12432" marB="12432" anchor="ctr">
                    <a:lnL w="9525" cap="flat" cmpd="sng" algn="ctr">
                      <a:solidFill>
                        <a:srgbClr val="60D303"/>
                      </a:solidFill>
                      <a:prstDash val="solid"/>
                      <a:round/>
                      <a:headEnd type="none" w="med" len="med"/>
                      <a:tailEnd type="none" w="med" len="med"/>
                    </a:lnL>
                    <a:lnR w="9525" cap="flat" cmpd="sng" algn="ctr">
                      <a:solidFill>
                        <a:srgbClr val="60D303"/>
                      </a:solidFill>
                      <a:prstDash val="solid"/>
                      <a:round/>
                      <a:headEnd type="none" w="med" len="med"/>
                      <a:tailEnd type="none" w="med" len="med"/>
                    </a:lnR>
                    <a:lnT w="12700" cap="flat" cmpd="sng" algn="ctr">
                      <a:solidFill>
                        <a:srgbClr val="60D303"/>
                      </a:solidFill>
                      <a:prstDash val="solid"/>
                      <a:round/>
                      <a:headEnd type="none" w="med" len="med"/>
                      <a:tailEnd type="none" w="med" len="med"/>
                    </a:lnT>
                    <a:lnB w="12700" cap="flat" cmpd="sng" algn="ctr">
                      <a:solidFill>
                        <a:srgbClr val="40EE08"/>
                      </a:solidFill>
                      <a:prstDash val="solid"/>
                      <a:round/>
                      <a:headEnd type="none" w="med" len="med"/>
                      <a:tailEnd type="none" w="med" len="med"/>
                    </a:lnB>
                    <a:solidFill>
                      <a:srgbClr val="FFFFFF"/>
                    </a:solidFill>
                  </a:tcPr>
                </a:tc>
                <a:extLst>
                  <a:ext uri="{0D108BD9-81ED-4DB2-BD59-A6C34878D82A}">
                    <a16:rowId xmlns:a16="http://schemas.microsoft.com/office/drawing/2014/main" xmlns="" val="10005"/>
                  </a:ext>
                </a:extLst>
              </a:tr>
              <a:tr h="451540">
                <a:tc>
                  <a:txBody>
                    <a:bodyPr/>
                    <a:lstStyle/>
                    <a:p>
                      <a:pPr algn="ctr" fontAlgn="base"/>
                      <a:r>
                        <a:rPr lang="en-US" sz="1400" b="1">
                          <a:effectLst/>
                        </a:rPr>
                        <a:t>Scheduling Approach</a:t>
                      </a:r>
                      <a:endParaRPr lang="en-US" sz="1400">
                        <a:effectLst/>
                      </a:endParaRPr>
                    </a:p>
                  </a:txBody>
                  <a:tcPr marL="24868" marR="24868" marT="12432" marB="12432" anchor="ctr">
                    <a:lnL w="9525" cap="flat" cmpd="sng" algn="ctr">
                      <a:solidFill>
                        <a:srgbClr val="C0B9CB"/>
                      </a:solidFill>
                      <a:prstDash val="solid"/>
                      <a:round/>
                      <a:headEnd type="none" w="med" len="med"/>
                      <a:tailEnd type="none" w="med" len="med"/>
                    </a:lnL>
                    <a:lnR w="9525" cap="flat" cmpd="sng" algn="ctr">
                      <a:solidFill>
                        <a:srgbClr val="00B6CB"/>
                      </a:solidFill>
                      <a:prstDash val="solid"/>
                      <a:round/>
                      <a:headEnd type="none" w="med" len="med"/>
                      <a:tailEnd type="none" w="med" len="med"/>
                    </a:lnR>
                    <a:lnT w="12700" cap="flat" cmpd="sng" algn="ctr">
                      <a:solidFill>
                        <a:srgbClr val="C0B9CB"/>
                      </a:solidFill>
                      <a:prstDash val="solid"/>
                      <a:round/>
                      <a:headEnd type="none" w="med" len="med"/>
                      <a:tailEnd type="none" w="med" len="med"/>
                    </a:lnT>
                    <a:lnB w="12700" cap="flat" cmpd="sng" algn="ctr">
                      <a:solidFill>
                        <a:srgbClr val="B05704"/>
                      </a:solidFill>
                      <a:prstDash val="solid"/>
                      <a:round/>
                      <a:headEnd type="none" w="med" len="med"/>
                      <a:tailEnd type="none" w="med" len="med"/>
                    </a:lnB>
                    <a:solidFill>
                      <a:srgbClr val="FFFFFF"/>
                    </a:solidFill>
                  </a:tcPr>
                </a:tc>
                <a:tc>
                  <a:txBody>
                    <a:bodyPr/>
                    <a:lstStyle/>
                    <a:p>
                      <a:pPr algn="ctr" fontAlgn="base"/>
                      <a:r>
                        <a:rPr lang="en-US" sz="1400" dirty="0">
                          <a:effectLst/>
                        </a:rPr>
                        <a:t>Priority-based or time-triggered</a:t>
                      </a:r>
                    </a:p>
                  </a:txBody>
                  <a:tcPr marL="24868" marR="24868" marT="12432" marB="12432" anchor="ctr">
                    <a:lnL w="9525" cap="flat" cmpd="sng" algn="ctr">
                      <a:solidFill>
                        <a:srgbClr val="00B6CB"/>
                      </a:solidFill>
                      <a:prstDash val="solid"/>
                      <a:round/>
                      <a:headEnd type="none" w="med" len="med"/>
                      <a:tailEnd type="none" w="med" len="med"/>
                    </a:lnL>
                    <a:lnR w="9525" cap="flat" cmpd="sng" algn="ctr">
                      <a:solidFill>
                        <a:srgbClr val="A0EB08"/>
                      </a:solidFill>
                      <a:prstDash val="solid"/>
                      <a:round/>
                      <a:headEnd type="none" w="med" len="med"/>
                      <a:tailEnd type="none" w="med" len="med"/>
                    </a:lnR>
                    <a:lnT w="12700" cap="flat" cmpd="sng" algn="ctr">
                      <a:solidFill>
                        <a:srgbClr val="00B6CB"/>
                      </a:solidFill>
                      <a:prstDash val="solid"/>
                      <a:round/>
                      <a:headEnd type="none" w="med" len="med"/>
                      <a:tailEnd type="none" w="med" len="med"/>
                    </a:lnT>
                    <a:lnB w="12700" cap="flat" cmpd="sng" algn="ctr">
                      <a:solidFill>
                        <a:srgbClr val="E0240D"/>
                      </a:solidFill>
                      <a:prstDash val="solid"/>
                      <a:round/>
                      <a:headEnd type="none" w="med" len="med"/>
                      <a:tailEnd type="none" w="med" len="med"/>
                    </a:lnB>
                    <a:solidFill>
                      <a:srgbClr val="FFFFFF"/>
                    </a:solidFill>
                  </a:tcPr>
                </a:tc>
                <a:tc>
                  <a:txBody>
                    <a:bodyPr/>
                    <a:lstStyle/>
                    <a:p>
                      <a:pPr algn="ctr" fontAlgn="base"/>
                      <a:r>
                        <a:rPr lang="en-US" sz="1400" dirty="0">
                          <a:effectLst/>
                        </a:rPr>
                        <a:t>Best-effort or dynamic priority-based</a:t>
                      </a:r>
                    </a:p>
                  </a:txBody>
                  <a:tcPr marL="24868" marR="24868" marT="12432" marB="12432" anchor="ctr">
                    <a:lnL w="9525" cap="flat" cmpd="sng" algn="ctr">
                      <a:solidFill>
                        <a:srgbClr val="A0EB08"/>
                      </a:solidFill>
                      <a:prstDash val="solid"/>
                      <a:round/>
                      <a:headEnd type="none" w="med" len="med"/>
                      <a:tailEnd type="none" w="med" len="med"/>
                    </a:lnL>
                    <a:lnR w="9525" cap="flat" cmpd="sng" algn="ctr">
                      <a:solidFill>
                        <a:srgbClr val="40EE08"/>
                      </a:solidFill>
                      <a:prstDash val="solid"/>
                      <a:round/>
                      <a:headEnd type="none" w="med" len="med"/>
                      <a:tailEnd type="none" w="med" len="med"/>
                    </a:lnR>
                    <a:lnT w="12700" cap="flat" cmpd="sng" algn="ctr">
                      <a:solidFill>
                        <a:srgbClr val="A0EB08"/>
                      </a:solidFill>
                      <a:prstDash val="solid"/>
                      <a:round/>
                      <a:headEnd type="none" w="med" len="med"/>
                      <a:tailEnd type="none" w="med" len="med"/>
                    </a:lnT>
                    <a:lnB w="12700" cap="flat" cmpd="sng" algn="ctr">
                      <a:solidFill>
                        <a:srgbClr val="60290D"/>
                      </a:solidFill>
                      <a:prstDash val="solid"/>
                      <a:round/>
                      <a:headEnd type="none" w="med" len="med"/>
                      <a:tailEnd type="none" w="med" len="med"/>
                    </a:lnB>
                    <a:solidFill>
                      <a:srgbClr val="FFFFFF"/>
                    </a:solidFill>
                  </a:tcPr>
                </a:tc>
                <a:tc>
                  <a:txBody>
                    <a:bodyPr/>
                    <a:lstStyle/>
                    <a:p>
                      <a:pPr algn="ctr" fontAlgn="base"/>
                      <a:r>
                        <a:rPr lang="en-US" sz="1400" dirty="0">
                          <a:effectLst/>
                        </a:rPr>
                        <a:t>Mixture of hard and soft real-time scheduling</a:t>
                      </a:r>
                    </a:p>
                  </a:txBody>
                  <a:tcPr marL="24868" marR="24868" marT="12432" marB="12432" anchor="ctr">
                    <a:lnL w="9525" cap="flat" cmpd="sng" algn="ctr">
                      <a:solidFill>
                        <a:srgbClr val="40EE08"/>
                      </a:solidFill>
                      <a:prstDash val="solid"/>
                      <a:round/>
                      <a:headEnd type="none" w="med" len="med"/>
                      <a:tailEnd type="none" w="med" len="med"/>
                    </a:lnL>
                    <a:lnR w="9525" cap="flat" cmpd="sng" algn="ctr">
                      <a:solidFill>
                        <a:srgbClr val="40EE08"/>
                      </a:solidFill>
                      <a:prstDash val="solid"/>
                      <a:round/>
                      <a:headEnd type="none" w="med" len="med"/>
                      <a:tailEnd type="none" w="med" len="med"/>
                    </a:lnR>
                    <a:lnT w="12700" cap="flat" cmpd="sng" algn="ctr">
                      <a:solidFill>
                        <a:srgbClr val="40EE08"/>
                      </a:solidFill>
                      <a:prstDash val="solid"/>
                      <a:round/>
                      <a:headEnd type="none" w="med" len="med"/>
                      <a:tailEnd type="none" w="med" len="med"/>
                    </a:lnT>
                    <a:lnB w="12700" cap="flat" cmpd="sng" algn="ctr">
                      <a:solidFill>
                        <a:srgbClr val="D02B0D"/>
                      </a:solidFill>
                      <a:prstDash val="solid"/>
                      <a:round/>
                      <a:headEnd type="none" w="med" len="med"/>
                      <a:tailEnd type="none" w="med" len="med"/>
                    </a:lnB>
                    <a:solidFill>
                      <a:srgbClr val="FFFFFF"/>
                    </a:solidFill>
                  </a:tcPr>
                </a:tc>
                <a:extLst>
                  <a:ext uri="{0D108BD9-81ED-4DB2-BD59-A6C34878D82A}">
                    <a16:rowId xmlns:a16="http://schemas.microsoft.com/office/drawing/2014/main" xmlns="" val="10006"/>
                  </a:ext>
                </a:extLst>
              </a:tr>
              <a:tr h="664878">
                <a:tc>
                  <a:txBody>
                    <a:bodyPr/>
                    <a:lstStyle/>
                    <a:p>
                      <a:pPr algn="ctr" fontAlgn="base"/>
                      <a:r>
                        <a:rPr lang="en-US" sz="1400" b="1" dirty="0">
                          <a:effectLst/>
                        </a:rPr>
                        <a:t>System Design Complexity</a:t>
                      </a:r>
                      <a:endParaRPr lang="en-US" sz="1400" dirty="0">
                        <a:effectLst/>
                      </a:endParaRPr>
                    </a:p>
                  </a:txBody>
                  <a:tcPr marL="24868" marR="24868" marT="12432" marB="12432" anchor="ctr">
                    <a:lnL w="9525" cap="flat" cmpd="sng" algn="ctr">
                      <a:solidFill>
                        <a:srgbClr val="10250D"/>
                      </a:solidFill>
                      <a:prstDash val="solid"/>
                      <a:round/>
                      <a:headEnd type="none" w="med" len="med"/>
                      <a:tailEnd type="none" w="med" len="med"/>
                    </a:lnL>
                    <a:lnR w="9525" cap="flat" cmpd="sng" algn="ctr">
                      <a:solidFill>
                        <a:srgbClr val="B05704"/>
                      </a:solidFill>
                      <a:prstDash val="solid"/>
                      <a:round/>
                      <a:headEnd type="none" w="med" len="med"/>
                      <a:tailEnd type="none" w="med" len="med"/>
                    </a:lnR>
                    <a:lnT w="12700" cap="flat" cmpd="sng" algn="ctr">
                      <a:solidFill>
                        <a:srgbClr val="B05704"/>
                      </a:solidFill>
                      <a:prstDash val="solid"/>
                      <a:round/>
                      <a:headEnd type="none" w="med" len="med"/>
                      <a:tailEnd type="none" w="med" len="med"/>
                    </a:lnT>
                    <a:lnB w="12700" cap="flat" cmpd="sng" algn="ctr">
                      <a:solidFill>
                        <a:srgbClr val="A0CE5D"/>
                      </a:solidFill>
                      <a:prstDash val="solid"/>
                      <a:round/>
                      <a:headEnd type="none" w="med" len="med"/>
                      <a:tailEnd type="none" w="med" len="med"/>
                    </a:lnB>
                    <a:solidFill>
                      <a:srgbClr val="FFFFFF"/>
                    </a:solidFill>
                  </a:tcPr>
                </a:tc>
                <a:tc>
                  <a:txBody>
                    <a:bodyPr/>
                    <a:lstStyle/>
                    <a:p>
                      <a:pPr algn="ctr" fontAlgn="base"/>
                      <a:r>
                        <a:rPr lang="en-US" sz="1400">
                          <a:effectLst/>
                        </a:rPr>
                        <a:t>High, due to need for strict timing guarantees and predictability</a:t>
                      </a:r>
                    </a:p>
                  </a:txBody>
                  <a:tcPr marL="24868" marR="24868" marT="12432" marB="12432" anchor="ctr">
                    <a:lnL w="9525" cap="flat" cmpd="sng" algn="ctr">
                      <a:solidFill>
                        <a:srgbClr val="B05704"/>
                      </a:solidFill>
                      <a:prstDash val="solid"/>
                      <a:round/>
                      <a:headEnd type="none" w="med" len="med"/>
                      <a:tailEnd type="none" w="med" len="med"/>
                    </a:lnL>
                    <a:lnR w="9525" cap="flat" cmpd="sng" algn="ctr">
                      <a:solidFill>
                        <a:srgbClr val="A00E98"/>
                      </a:solidFill>
                      <a:prstDash val="solid"/>
                      <a:round/>
                      <a:headEnd type="none" w="med" len="med"/>
                      <a:tailEnd type="none" w="med" len="med"/>
                    </a:lnR>
                    <a:lnT w="12700" cap="flat" cmpd="sng" algn="ctr">
                      <a:solidFill>
                        <a:srgbClr val="E0240D"/>
                      </a:solidFill>
                      <a:prstDash val="solid"/>
                      <a:round/>
                      <a:headEnd type="none" w="med" len="med"/>
                      <a:tailEnd type="none" w="med" len="med"/>
                    </a:lnT>
                    <a:lnB w="12700" cap="flat" cmpd="sng" algn="ctr">
                      <a:solidFill>
                        <a:srgbClr val="A08B98"/>
                      </a:solidFill>
                      <a:prstDash val="solid"/>
                      <a:round/>
                      <a:headEnd type="none" w="med" len="med"/>
                      <a:tailEnd type="none" w="med" len="med"/>
                    </a:lnB>
                    <a:solidFill>
                      <a:srgbClr val="FFFFFF"/>
                    </a:solidFill>
                  </a:tcPr>
                </a:tc>
                <a:tc>
                  <a:txBody>
                    <a:bodyPr/>
                    <a:lstStyle/>
                    <a:p>
                      <a:pPr algn="ctr" fontAlgn="base"/>
                      <a:r>
                        <a:rPr lang="en-US" sz="1400">
                          <a:effectLst/>
                        </a:rPr>
                        <a:t>Moderate, balancing performance and deadline adherence</a:t>
                      </a:r>
                    </a:p>
                  </a:txBody>
                  <a:tcPr marL="24868" marR="24868" marT="12432" marB="12432" anchor="ctr">
                    <a:lnL w="9525" cap="flat" cmpd="sng" algn="ctr">
                      <a:solidFill>
                        <a:srgbClr val="A00E98"/>
                      </a:solidFill>
                      <a:prstDash val="solid"/>
                      <a:round/>
                      <a:headEnd type="none" w="med" len="med"/>
                      <a:tailEnd type="none" w="med" len="med"/>
                    </a:lnL>
                    <a:lnR w="9525" cap="flat" cmpd="sng" algn="ctr">
                      <a:solidFill>
                        <a:srgbClr val="608698"/>
                      </a:solidFill>
                      <a:prstDash val="solid"/>
                      <a:round/>
                      <a:headEnd type="none" w="med" len="med"/>
                      <a:tailEnd type="none" w="med" len="med"/>
                    </a:lnR>
                    <a:lnT w="12700" cap="flat" cmpd="sng" algn="ctr">
                      <a:solidFill>
                        <a:srgbClr val="60290D"/>
                      </a:solidFill>
                      <a:prstDash val="solid"/>
                      <a:round/>
                      <a:headEnd type="none" w="med" len="med"/>
                      <a:tailEnd type="none" w="med" len="med"/>
                    </a:lnT>
                    <a:lnB w="12700" cap="flat" cmpd="sng" algn="ctr">
                      <a:solidFill>
                        <a:srgbClr val="708E98"/>
                      </a:solidFill>
                      <a:prstDash val="solid"/>
                      <a:round/>
                      <a:headEnd type="none" w="med" len="med"/>
                      <a:tailEnd type="none" w="med" len="med"/>
                    </a:lnB>
                    <a:solidFill>
                      <a:srgbClr val="FFFFFF"/>
                    </a:solidFill>
                  </a:tcPr>
                </a:tc>
                <a:tc>
                  <a:txBody>
                    <a:bodyPr/>
                    <a:lstStyle/>
                    <a:p>
                      <a:pPr algn="ctr" fontAlgn="base"/>
                      <a:r>
                        <a:rPr lang="en-US" sz="1400" dirty="0">
                          <a:effectLst/>
                        </a:rPr>
                        <a:t>Moderate to high, depending on tolerance for deadline misses</a:t>
                      </a:r>
                    </a:p>
                  </a:txBody>
                  <a:tcPr marL="24868" marR="24868" marT="12432" marB="12432" anchor="ctr">
                    <a:lnL w="9525" cap="flat" cmpd="sng" algn="ctr">
                      <a:solidFill>
                        <a:srgbClr val="608698"/>
                      </a:solidFill>
                      <a:prstDash val="solid"/>
                      <a:round/>
                      <a:headEnd type="none" w="med" len="med"/>
                      <a:tailEnd type="none" w="med" len="med"/>
                    </a:lnL>
                    <a:lnR w="9525" cap="flat" cmpd="sng" algn="ctr">
                      <a:solidFill>
                        <a:srgbClr val="608698"/>
                      </a:solidFill>
                      <a:prstDash val="solid"/>
                      <a:round/>
                      <a:headEnd type="none" w="med" len="med"/>
                      <a:tailEnd type="none" w="med" len="med"/>
                    </a:lnR>
                    <a:lnT w="12700" cap="flat" cmpd="sng" algn="ctr">
                      <a:solidFill>
                        <a:srgbClr val="D02B0D"/>
                      </a:solidFill>
                      <a:prstDash val="solid"/>
                      <a:round/>
                      <a:headEnd type="none" w="med" len="med"/>
                      <a:tailEnd type="none" w="med" len="med"/>
                    </a:lnT>
                    <a:lnB w="12700" cap="flat" cmpd="sng" algn="ctr">
                      <a:solidFill>
                        <a:srgbClr val="F02099"/>
                      </a:solidFill>
                      <a:prstDash val="solid"/>
                      <a:round/>
                      <a:headEnd type="none" w="med" len="med"/>
                      <a:tailEnd type="none" w="med" len="med"/>
                    </a:lnB>
                    <a:solidFill>
                      <a:srgbClr val="FFFFFF"/>
                    </a:solidFill>
                  </a:tcPr>
                </a:tc>
                <a:extLst>
                  <a:ext uri="{0D108BD9-81ED-4DB2-BD59-A6C34878D82A}">
                    <a16:rowId xmlns:a16="http://schemas.microsoft.com/office/drawing/2014/main" xmlns="" val="10007"/>
                  </a:ext>
                </a:extLst>
              </a:tr>
              <a:tr h="878216">
                <a:tc>
                  <a:txBody>
                    <a:bodyPr/>
                    <a:lstStyle/>
                    <a:p>
                      <a:pPr algn="ctr" fontAlgn="base"/>
                      <a:r>
                        <a:rPr lang="en-US" sz="1400" b="1">
                          <a:effectLst/>
                        </a:rPr>
                        <a:t>Typical Use Cases</a:t>
                      </a:r>
                      <a:endParaRPr lang="en-US" sz="1400">
                        <a:effectLst/>
                      </a:endParaRPr>
                    </a:p>
                  </a:txBody>
                  <a:tcPr marL="24868" marR="24868" marT="12432" marB="12432" anchor="ctr">
                    <a:lnL w="9525" cap="flat" cmpd="sng" algn="ctr">
                      <a:solidFill>
                        <a:srgbClr val="A0CE5D"/>
                      </a:solidFill>
                      <a:prstDash val="solid"/>
                      <a:round/>
                      <a:headEnd type="none" w="med" len="med"/>
                      <a:tailEnd type="none" w="med" len="med"/>
                    </a:lnL>
                    <a:lnR w="9525" cap="flat" cmpd="sng" algn="ctr">
                      <a:solidFill>
                        <a:srgbClr val="A08B98"/>
                      </a:solidFill>
                      <a:prstDash val="solid"/>
                      <a:round/>
                      <a:headEnd type="none" w="med" len="med"/>
                      <a:tailEnd type="none" w="med" len="med"/>
                    </a:lnR>
                    <a:lnT w="12700" cap="flat" cmpd="sng" algn="ctr">
                      <a:solidFill>
                        <a:srgbClr val="A0CE5D"/>
                      </a:solidFill>
                      <a:prstDash val="solid"/>
                      <a:round/>
                      <a:headEnd type="none" w="med" len="med"/>
                      <a:tailEnd type="none" w="med" len="med"/>
                    </a:lnT>
                    <a:lnB w="9525" cap="flat" cmpd="sng" algn="ctr">
                      <a:solidFill>
                        <a:srgbClr val="A0CE5D"/>
                      </a:solidFill>
                      <a:prstDash val="solid"/>
                      <a:round/>
                      <a:headEnd type="none" w="med" len="med"/>
                      <a:tailEnd type="none" w="med" len="med"/>
                    </a:lnB>
                    <a:solidFill>
                      <a:srgbClr val="FFFFFF"/>
                    </a:solidFill>
                  </a:tcPr>
                </a:tc>
                <a:tc>
                  <a:txBody>
                    <a:bodyPr/>
                    <a:lstStyle/>
                    <a:p>
                      <a:pPr algn="ctr" fontAlgn="base"/>
                      <a:r>
                        <a:rPr lang="en-US" sz="1400">
                          <a:effectLst/>
                        </a:rPr>
                        <a:t>Critical systems where safety and reliability are paramount</a:t>
                      </a:r>
                    </a:p>
                  </a:txBody>
                  <a:tcPr marL="24868" marR="24868" marT="12432" marB="12432" anchor="ctr">
                    <a:lnL w="9525" cap="flat" cmpd="sng" algn="ctr">
                      <a:solidFill>
                        <a:srgbClr val="A08B98"/>
                      </a:solidFill>
                      <a:prstDash val="solid"/>
                      <a:round/>
                      <a:headEnd type="none" w="med" len="med"/>
                      <a:tailEnd type="none" w="med" len="med"/>
                    </a:lnL>
                    <a:lnR w="9525" cap="flat" cmpd="sng" algn="ctr">
                      <a:solidFill>
                        <a:srgbClr val="708E98"/>
                      </a:solidFill>
                      <a:prstDash val="solid"/>
                      <a:round/>
                      <a:headEnd type="none" w="med" len="med"/>
                      <a:tailEnd type="none" w="med" len="med"/>
                    </a:lnR>
                    <a:lnT w="12700" cap="flat" cmpd="sng" algn="ctr">
                      <a:solidFill>
                        <a:srgbClr val="A08B98"/>
                      </a:solidFill>
                      <a:prstDash val="solid"/>
                      <a:round/>
                      <a:headEnd type="none" w="med" len="med"/>
                      <a:tailEnd type="none" w="med" len="med"/>
                    </a:lnT>
                    <a:lnB w="9525" cap="flat" cmpd="sng" algn="ctr">
                      <a:solidFill>
                        <a:srgbClr val="A08B98"/>
                      </a:solidFill>
                      <a:prstDash val="solid"/>
                      <a:round/>
                      <a:headEnd type="none" w="med" len="med"/>
                      <a:tailEnd type="none" w="med" len="med"/>
                    </a:lnB>
                    <a:solidFill>
                      <a:srgbClr val="FFFFFF"/>
                    </a:solidFill>
                  </a:tcPr>
                </a:tc>
                <a:tc>
                  <a:txBody>
                    <a:bodyPr/>
                    <a:lstStyle/>
                    <a:p>
                      <a:pPr algn="ctr" fontAlgn="base"/>
                      <a:r>
                        <a:rPr lang="en-US" sz="1400">
                          <a:effectLst/>
                        </a:rPr>
                        <a:t>Consumer electronics, telecommunication systems</a:t>
                      </a:r>
                    </a:p>
                  </a:txBody>
                  <a:tcPr marL="24868" marR="24868" marT="12432" marB="12432" anchor="ctr">
                    <a:lnL w="9525" cap="flat" cmpd="sng" algn="ctr">
                      <a:solidFill>
                        <a:srgbClr val="708E98"/>
                      </a:solidFill>
                      <a:prstDash val="solid"/>
                      <a:round/>
                      <a:headEnd type="none" w="med" len="med"/>
                      <a:tailEnd type="none" w="med" len="med"/>
                    </a:lnL>
                    <a:lnR w="9525" cap="flat" cmpd="sng" algn="ctr">
                      <a:solidFill>
                        <a:srgbClr val="F02099"/>
                      </a:solidFill>
                      <a:prstDash val="solid"/>
                      <a:round/>
                      <a:headEnd type="none" w="med" len="med"/>
                      <a:tailEnd type="none" w="med" len="med"/>
                    </a:lnR>
                    <a:lnT w="12700" cap="flat" cmpd="sng" algn="ctr">
                      <a:solidFill>
                        <a:srgbClr val="708E98"/>
                      </a:solidFill>
                      <a:prstDash val="solid"/>
                      <a:round/>
                      <a:headEnd type="none" w="med" len="med"/>
                      <a:tailEnd type="none" w="med" len="med"/>
                    </a:lnT>
                    <a:lnB w="9525" cap="flat" cmpd="sng" algn="ctr">
                      <a:solidFill>
                        <a:srgbClr val="708E98"/>
                      </a:solidFill>
                      <a:prstDash val="solid"/>
                      <a:round/>
                      <a:headEnd type="none" w="med" len="med"/>
                      <a:tailEnd type="none" w="med" len="med"/>
                    </a:lnB>
                    <a:solidFill>
                      <a:srgbClr val="FFFFFF"/>
                    </a:solidFill>
                  </a:tcPr>
                </a:tc>
                <a:tc>
                  <a:txBody>
                    <a:bodyPr/>
                    <a:lstStyle/>
                    <a:p>
                      <a:pPr algn="ctr" fontAlgn="base"/>
                      <a:r>
                        <a:rPr lang="en-US" sz="1400" dirty="0">
                          <a:effectLst/>
                        </a:rPr>
                        <a:t>Financial systems, some mission-critical applications with tolerance for occasional misses</a:t>
                      </a:r>
                    </a:p>
                  </a:txBody>
                  <a:tcPr marL="24868" marR="24868" marT="12432" marB="12432" anchor="ctr">
                    <a:lnL w="9525" cap="flat" cmpd="sng" algn="ctr">
                      <a:solidFill>
                        <a:srgbClr val="F02099"/>
                      </a:solidFill>
                      <a:prstDash val="solid"/>
                      <a:round/>
                      <a:headEnd type="none" w="med" len="med"/>
                      <a:tailEnd type="none" w="med" len="med"/>
                    </a:lnL>
                    <a:lnR w="9525" cap="flat" cmpd="sng" algn="ctr">
                      <a:solidFill>
                        <a:srgbClr val="F02099"/>
                      </a:solidFill>
                      <a:prstDash val="solid"/>
                      <a:round/>
                      <a:headEnd type="none" w="med" len="med"/>
                      <a:tailEnd type="none" w="med" len="med"/>
                    </a:lnR>
                    <a:lnT w="12700" cap="flat" cmpd="sng" algn="ctr">
                      <a:solidFill>
                        <a:srgbClr val="F02099"/>
                      </a:solidFill>
                      <a:prstDash val="solid"/>
                      <a:round/>
                      <a:headEnd type="none" w="med" len="med"/>
                      <a:tailEnd type="none" w="med" len="med"/>
                    </a:lnT>
                    <a:lnB w="9525" cap="flat" cmpd="sng" algn="ctr">
                      <a:solidFill>
                        <a:srgbClr val="F02099"/>
                      </a:solidFill>
                      <a:prstDash val="solid"/>
                      <a:round/>
                      <a:headEnd type="none" w="med" len="med"/>
                      <a:tailEnd type="none" w="med" len="med"/>
                    </a:lnB>
                    <a:solidFill>
                      <a:srgbClr val="FFFFFF"/>
                    </a:solidFill>
                  </a:tcPr>
                </a:tc>
                <a:extLst>
                  <a:ext uri="{0D108BD9-81ED-4DB2-BD59-A6C34878D82A}">
                    <a16:rowId xmlns:a16="http://schemas.microsoft.com/office/drawing/2014/main" xmlns="" val="10008"/>
                  </a:ext>
                </a:extLst>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xmlns="" id="{00862EFB-9CF5-4D29-99BD-01BBD816DF2E}"/>
              </a:ext>
            </a:extLst>
          </p:cNvPr>
          <p:cNvSpPr>
            <a:spLocks noGrp="1"/>
          </p:cNvSpPr>
          <p:nvPr>
            <p:ph sz="quarter" idx="1"/>
          </p:nvPr>
        </p:nvSpPr>
        <p:spPr>
          <a:xfrm>
            <a:off x="0" y="403225"/>
            <a:ext cx="8964613" cy="5905500"/>
          </a:xfrm>
        </p:spPr>
        <p:txBody>
          <a:bodyPr>
            <a:normAutofit fontScale="55000" lnSpcReduction="20000"/>
          </a:bodyPr>
          <a:lstStyle/>
          <a:p>
            <a:pPr algn="just">
              <a:buFont typeface="Wingdings 2" panose="05020102010507070707" pitchFamily="18" charset="2"/>
              <a:buNone/>
              <a:defRPr/>
            </a:pPr>
            <a:r>
              <a:rPr lang="en-US" sz="5100" b="1" dirty="0">
                <a:solidFill>
                  <a:schemeClr val="tx1"/>
                </a:solidFill>
              </a:rPr>
              <a:t>Common Scheduling Algorithms for Real time systems</a:t>
            </a:r>
          </a:p>
          <a:p>
            <a:pPr marL="744537" indent="-457200" algn="just">
              <a:defRPr/>
            </a:pPr>
            <a:r>
              <a:rPr lang="en-US" sz="3600" dirty="0">
                <a:solidFill>
                  <a:schemeClr val="tx1"/>
                </a:solidFill>
              </a:rPr>
              <a:t>Rate Monotonic Scheduling (RMS): This algorithm assigns static priorities to tasks based on their periods, with shorter periods receiving higher priorities. It is suitable for periodic task sets and provides a simple and efficient scheduling mechanism. </a:t>
            </a:r>
          </a:p>
          <a:p>
            <a:pPr marL="744537" indent="-457200" algn="just">
              <a:defRPr/>
            </a:pPr>
            <a:r>
              <a:rPr lang="en-US" sz="3600" dirty="0">
                <a:solidFill>
                  <a:schemeClr val="tx1"/>
                </a:solidFill>
              </a:rPr>
              <a:t>Earliest Deadline First (EDF): In this algorithm, tasks are scheduled based on their absolute deadlines, with the task having the earliest deadline receiving the highest priority. EDF is an optimal scheduling algorithm for preemptive task sets and can achieve higher processor utilization than RMS. </a:t>
            </a:r>
          </a:p>
          <a:p>
            <a:pPr marL="744537" indent="-457200" algn="just">
              <a:defRPr/>
            </a:pPr>
            <a:r>
              <a:rPr lang="en-US" sz="3600" dirty="0">
                <a:solidFill>
                  <a:schemeClr val="tx1"/>
                </a:solidFill>
              </a:rPr>
              <a:t>Least Laxity First (LLF): This algorithm schedules tasks based on their laxity, which is the amount of time remaining before a task's deadline minus its remaining execution time. Tasks with lower laxity values are given higher priorities, as they have less flexibility in meeting their deadlines. </a:t>
            </a:r>
          </a:p>
          <a:p>
            <a:pPr marL="744537" indent="-457200" algn="just">
              <a:defRPr/>
            </a:pPr>
            <a:r>
              <a:rPr lang="en-US" sz="3600" dirty="0">
                <a:solidFill>
                  <a:schemeClr val="tx1"/>
                </a:solidFill>
              </a:rPr>
              <a:t>Priority-based Scheduling: In this approach, tasks are assigned static or dynamic priorities based on various factors, such as importance, criticality, or deadline requirements. Higher-priority tasks are scheduled before lower-priority tasks.</a:t>
            </a:r>
            <a:endParaRPr lang="en-US" sz="6500" dirty="0">
              <a:solidFill>
                <a:schemeClr val="tx1"/>
              </a:solidFill>
            </a:endParaRPr>
          </a:p>
        </p:txBody>
      </p:sp>
      <p:pic>
        <p:nvPicPr>
          <p:cNvPr id="21507" name="Picture 6">
            <a:extLst>
              <a:ext uri="{FF2B5EF4-FFF2-40B4-BE49-F238E27FC236}">
                <a16:creationId xmlns:a16="http://schemas.microsoft.com/office/drawing/2014/main" xmlns="" id="{60BD9142-AB65-D1B7-44EE-79A868530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9">
            <a:extLst>
              <a:ext uri="{FF2B5EF4-FFF2-40B4-BE49-F238E27FC236}">
                <a16:creationId xmlns:a16="http://schemas.microsoft.com/office/drawing/2014/main" xmlns="" id="{ADCDDA72-61B2-3D0B-E458-81E8EA902158}"/>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b="1">
                <a:solidFill>
                  <a:schemeClr val="tx1"/>
                </a:solidFill>
              </a:rPr>
              <a:t>Types of Event to trigger RTES</a:t>
            </a:r>
            <a:endParaRPr lang="en-US" altLang="en-US" sz="3400" b="1">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22531" name="Picture 6">
            <a:extLst>
              <a:ext uri="{FF2B5EF4-FFF2-40B4-BE49-F238E27FC236}">
                <a16:creationId xmlns:a16="http://schemas.microsoft.com/office/drawing/2014/main" xmlns="" id="{473BB57D-01CC-F8C5-7CEB-C4F52D5F22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4">
            <a:extLst>
              <a:ext uri="{FF2B5EF4-FFF2-40B4-BE49-F238E27FC236}">
                <a16:creationId xmlns:a16="http://schemas.microsoft.com/office/drawing/2014/main" xmlns="" id="{6301CB26-263B-3D05-6960-319BCDEDD4F4}"/>
              </a:ext>
            </a:extLst>
          </p:cNvPr>
          <p:cNvSpPr>
            <a:spLocks noGrp="1"/>
          </p:cNvSpPr>
          <p:nvPr>
            <p:ph type="sldNum" sz="quarter" idx="12"/>
          </p:nvPr>
        </p:nvSpPr>
        <p:spPr>
          <a:xfrm>
            <a:off x="6553200" y="7675563"/>
            <a:ext cx="1905000" cy="182562"/>
          </a:xfr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554AE36-F1F8-4B48-A344-FD4FAAC4DECD}" type="slidenum">
              <a:rPr lang="en-US" altLang="en-US">
                <a:solidFill>
                  <a:srgbClr val="903163"/>
                </a:solidFill>
                <a:latin typeface="Times New Roman" panose="02020603050405020304" pitchFamily="18" charset="0"/>
              </a:rPr>
              <a:pPr eaLnBrk="1" hangingPunct="1"/>
              <a:t>85</a:t>
            </a:fld>
            <a:endParaRPr lang="en-US" altLang="en-US">
              <a:solidFill>
                <a:srgbClr val="903163"/>
              </a:solidFill>
              <a:latin typeface="Times New Roman" panose="02020603050405020304" pitchFamily="18" charset="0"/>
            </a:endParaRPr>
          </a:p>
        </p:txBody>
      </p:sp>
      <p:sp>
        <p:nvSpPr>
          <p:cNvPr id="22533" name="Rectangle 3">
            <a:extLst>
              <a:ext uri="{FF2B5EF4-FFF2-40B4-BE49-F238E27FC236}">
                <a16:creationId xmlns:a16="http://schemas.microsoft.com/office/drawing/2014/main" xmlns="" id="{A0CE69D4-BBE9-1F57-A67C-697C3BF64777}"/>
              </a:ext>
            </a:extLst>
          </p:cNvPr>
          <p:cNvSpPr txBox="1">
            <a:spLocks noChangeArrowheads="1"/>
          </p:cNvSpPr>
          <p:nvPr/>
        </p:nvSpPr>
        <p:spPr bwMode="auto">
          <a:xfrm>
            <a:off x="685800" y="1838325"/>
            <a:ext cx="77724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04800" indent="-304800" defTabSz="457200" eaLnBrk="0" hangingPunct="0">
              <a:defRPr>
                <a:solidFill>
                  <a:schemeClr val="tx1"/>
                </a:solidFill>
                <a:latin typeface="Arial" panose="020B0604020202020204" pitchFamily="34" charset="0"/>
                <a:cs typeface="Arial" panose="020B0604020202020204" pitchFamily="34" charset="0"/>
              </a:defRPr>
            </a:lvl1pPr>
            <a:lvl2pPr marL="628650" indent="-304800" defTabSz="457200" eaLnBrk="0" hangingPunct="0">
              <a:defRPr>
                <a:solidFill>
                  <a:schemeClr val="tx1"/>
                </a:solidFill>
                <a:latin typeface="Arial" panose="020B0604020202020204" pitchFamily="34" charset="0"/>
                <a:cs typeface="Arial" panose="020B0604020202020204" pitchFamily="34" charset="0"/>
              </a:defRPr>
            </a:lvl2pPr>
            <a:lvl3pPr marL="1143000" indent="-228600" defTabSz="457200" eaLnBrk="0" hangingPunct="0">
              <a:defRPr>
                <a:solidFill>
                  <a:schemeClr val="tx1"/>
                </a:solidFill>
                <a:latin typeface="Arial" panose="020B0604020202020204" pitchFamily="34" charset="0"/>
                <a:cs typeface="Arial" panose="020B0604020202020204" pitchFamily="34" charset="0"/>
              </a:defRPr>
            </a:lvl3pPr>
            <a:lvl4pPr marL="1600200" indent="-228600" defTabSz="457200" eaLnBrk="0" hangingPunct="0">
              <a:defRPr>
                <a:solidFill>
                  <a:schemeClr val="tx1"/>
                </a:solidFill>
                <a:latin typeface="Arial" panose="020B0604020202020204" pitchFamily="34" charset="0"/>
                <a:cs typeface="Arial" panose="020B0604020202020204" pitchFamily="34" charset="0"/>
              </a:defRPr>
            </a:lvl4pPr>
            <a:lvl5pPr marL="2057400" indent="-228600" defTabSz="4572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20000"/>
              </a:spcBef>
              <a:spcAft>
                <a:spcPts val="600"/>
              </a:spcAft>
              <a:buClr>
                <a:schemeClr val="accent2"/>
              </a:buClr>
              <a:buSzPct val="92000"/>
              <a:buFont typeface="Wingdings 2" panose="05020102010507070707" pitchFamily="18" charset="2"/>
              <a:buChar char=""/>
            </a:pPr>
            <a:r>
              <a:rPr lang="en-US" altLang="en-US" sz="2400">
                <a:latin typeface="Times New Roman" panose="02020603050405020304" pitchFamily="18" charset="0"/>
              </a:rPr>
              <a:t>Periodic</a:t>
            </a:r>
          </a:p>
          <a:p>
            <a:pPr lvl="1">
              <a:spcBef>
                <a:spcPct val="20000"/>
              </a:spcBef>
              <a:spcAft>
                <a:spcPts val="600"/>
              </a:spcAft>
              <a:buClr>
                <a:schemeClr val="accent2"/>
              </a:buClr>
              <a:buSzPct val="92000"/>
              <a:buFont typeface="Wingdings 2" panose="05020102010507070707" pitchFamily="18" charset="2"/>
              <a:buChar char=""/>
            </a:pPr>
            <a:r>
              <a:rPr lang="en-US" altLang="en-US">
                <a:latin typeface="Times New Roman" panose="02020603050405020304" pitchFamily="18" charset="0"/>
              </a:rPr>
              <a:t>activity occurs repeatedly</a:t>
            </a:r>
          </a:p>
          <a:p>
            <a:pPr lvl="1">
              <a:spcBef>
                <a:spcPct val="20000"/>
              </a:spcBef>
              <a:spcAft>
                <a:spcPts val="600"/>
              </a:spcAft>
              <a:buClr>
                <a:schemeClr val="accent2"/>
              </a:buClr>
              <a:buSzPct val="92000"/>
              <a:buFont typeface="Wingdings 2" panose="05020102010507070707" pitchFamily="18" charset="2"/>
              <a:buChar char=""/>
            </a:pPr>
            <a:r>
              <a:rPr lang="en-US" altLang="en-US">
                <a:latin typeface="Times New Roman" panose="02020603050405020304" pitchFamily="18" charset="0"/>
              </a:rPr>
              <a:t>e.g., to monitor environment values, temperature, etc.</a:t>
            </a:r>
          </a:p>
        </p:txBody>
      </p:sp>
      <p:grpSp>
        <p:nvGrpSpPr>
          <p:cNvPr id="22534" name="Group 47">
            <a:extLst>
              <a:ext uri="{FF2B5EF4-FFF2-40B4-BE49-F238E27FC236}">
                <a16:creationId xmlns:a16="http://schemas.microsoft.com/office/drawing/2014/main" xmlns="" id="{65A462CD-0673-EBFC-7F00-EEDEB9238AF4}"/>
              </a:ext>
            </a:extLst>
          </p:cNvPr>
          <p:cNvGrpSpPr>
            <a:grpSpLocks/>
          </p:cNvGrpSpPr>
          <p:nvPr/>
        </p:nvGrpSpPr>
        <p:grpSpPr bwMode="auto">
          <a:xfrm>
            <a:off x="1322388" y="5203825"/>
            <a:ext cx="6491287" cy="660400"/>
            <a:chOff x="833" y="2552"/>
            <a:chExt cx="4089" cy="416"/>
          </a:xfrm>
        </p:grpSpPr>
        <p:sp>
          <p:nvSpPr>
            <p:cNvPr id="22578" name="Rectangle 48">
              <a:extLst>
                <a:ext uri="{FF2B5EF4-FFF2-40B4-BE49-F238E27FC236}">
                  <a16:creationId xmlns:a16="http://schemas.microsoft.com/office/drawing/2014/main" xmlns="" id="{2F5E09C0-302A-8C4F-516E-505E8280B494}"/>
                </a:ext>
              </a:extLst>
            </p:cNvPr>
            <p:cNvSpPr>
              <a:spLocks noChangeArrowheads="1"/>
            </p:cNvSpPr>
            <p:nvPr/>
          </p:nvSpPr>
          <p:spPr bwMode="auto">
            <a:xfrm>
              <a:off x="4480" y="2636"/>
              <a:ext cx="442" cy="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22579" name="Group 49">
              <a:extLst>
                <a:ext uri="{FF2B5EF4-FFF2-40B4-BE49-F238E27FC236}">
                  <a16:creationId xmlns:a16="http://schemas.microsoft.com/office/drawing/2014/main" xmlns="" id="{D0DED664-638B-5099-9753-52F57A9C9348}"/>
                </a:ext>
              </a:extLst>
            </p:cNvPr>
            <p:cNvGrpSpPr>
              <a:grpSpLocks/>
            </p:cNvGrpSpPr>
            <p:nvPr/>
          </p:nvGrpSpPr>
          <p:grpSpPr bwMode="auto">
            <a:xfrm>
              <a:off x="833" y="2552"/>
              <a:ext cx="4089" cy="280"/>
              <a:chOff x="833" y="2552"/>
              <a:chExt cx="4089" cy="280"/>
            </a:xfrm>
          </p:grpSpPr>
          <p:grpSp>
            <p:nvGrpSpPr>
              <p:cNvPr id="22580" name="Group 50">
                <a:extLst>
                  <a:ext uri="{FF2B5EF4-FFF2-40B4-BE49-F238E27FC236}">
                    <a16:creationId xmlns:a16="http://schemas.microsoft.com/office/drawing/2014/main" xmlns="" id="{E47B383D-767D-59CC-D231-3CB96ECEB899}"/>
                  </a:ext>
                </a:extLst>
              </p:cNvPr>
              <p:cNvGrpSpPr>
                <a:grpSpLocks/>
              </p:cNvGrpSpPr>
              <p:nvPr/>
            </p:nvGrpSpPr>
            <p:grpSpPr bwMode="auto">
              <a:xfrm>
                <a:off x="833" y="2552"/>
                <a:ext cx="4089" cy="59"/>
                <a:chOff x="833" y="2552"/>
                <a:chExt cx="4089" cy="59"/>
              </a:xfrm>
            </p:grpSpPr>
            <p:sp>
              <p:nvSpPr>
                <p:cNvPr id="22582" name="Line 51">
                  <a:extLst>
                    <a:ext uri="{FF2B5EF4-FFF2-40B4-BE49-F238E27FC236}">
                      <a16:creationId xmlns:a16="http://schemas.microsoft.com/office/drawing/2014/main" xmlns="" id="{F95FD94C-2271-4BD5-D74B-737662FA5668}"/>
                    </a:ext>
                  </a:extLst>
                </p:cNvPr>
                <p:cNvSpPr>
                  <a:spLocks noChangeShapeType="1"/>
                </p:cNvSpPr>
                <p:nvPr/>
              </p:nvSpPr>
              <p:spPr bwMode="auto">
                <a:xfrm>
                  <a:off x="833" y="2581"/>
                  <a:ext cx="403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83" name="Freeform 52">
                  <a:extLst>
                    <a:ext uri="{FF2B5EF4-FFF2-40B4-BE49-F238E27FC236}">
                      <a16:creationId xmlns:a16="http://schemas.microsoft.com/office/drawing/2014/main" xmlns="" id="{3FCB9716-9EF2-68C4-56C6-10F8B07E2335}"/>
                    </a:ext>
                  </a:extLst>
                </p:cNvPr>
                <p:cNvSpPr>
                  <a:spLocks/>
                </p:cNvSpPr>
                <p:nvPr/>
              </p:nvSpPr>
              <p:spPr bwMode="auto">
                <a:xfrm>
                  <a:off x="4862" y="2552"/>
                  <a:ext cx="60" cy="59"/>
                </a:xfrm>
                <a:custGeom>
                  <a:avLst/>
                  <a:gdLst>
                    <a:gd name="T0" fmla="*/ 0 w 120"/>
                    <a:gd name="T1" fmla="*/ 29 h 120"/>
                    <a:gd name="T2" fmla="*/ 30 w 120"/>
                    <a:gd name="T3" fmla="*/ 14 h 120"/>
                    <a:gd name="T4" fmla="*/ 0 w 120"/>
                    <a:gd name="T5" fmla="*/ 0 h 120"/>
                    <a:gd name="T6" fmla="*/ 0 w 120"/>
                    <a:gd name="T7" fmla="*/ 29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120"/>
                      </a:moveTo>
                      <a:lnTo>
                        <a:pt x="120" y="59"/>
                      </a:lnTo>
                      <a:lnTo>
                        <a:pt x="0" y="0"/>
                      </a:lnTo>
                      <a:lnTo>
                        <a:pt x="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2581" name="Rectangle 53">
                <a:extLst>
                  <a:ext uri="{FF2B5EF4-FFF2-40B4-BE49-F238E27FC236}">
                    <a16:creationId xmlns:a16="http://schemas.microsoft.com/office/drawing/2014/main" xmlns="" id="{D2BACC03-8DE9-7B9A-1464-0E8A50E13071}"/>
                  </a:ext>
                </a:extLst>
              </p:cNvPr>
              <p:cNvSpPr>
                <a:spLocks noChangeArrowheads="1"/>
              </p:cNvSpPr>
              <p:nvPr/>
            </p:nvSpPr>
            <p:spPr bwMode="auto">
              <a:xfrm>
                <a:off x="4535" y="2669"/>
                <a:ext cx="25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000000"/>
                    </a:solidFill>
                  </a:rPr>
                  <a:t>time</a:t>
                </a:r>
                <a:endParaRPr lang="en-US" altLang="en-US" sz="2400">
                  <a:latin typeface="Times New Roman" panose="02020603050405020304" pitchFamily="18" charset="0"/>
                </a:endParaRPr>
              </a:p>
            </p:txBody>
          </p:sp>
        </p:grpSp>
      </p:grpSp>
      <p:grpSp>
        <p:nvGrpSpPr>
          <p:cNvPr id="22535" name="Group 88">
            <a:extLst>
              <a:ext uri="{FF2B5EF4-FFF2-40B4-BE49-F238E27FC236}">
                <a16:creationId xmlns:a16="http://schemas.microsoft.com/office/drawing/2014/main" xmlns="" id="{20CDD030-397C-1C04-A9A9-ACFF6DDC920F}"/>
              </a:ext>
            </a:extLst>
          </p:cNvPr>
          <p:cNvGrpSpPr>
            <a:grpSpLocks/>
          </p:cNvGrpSpPr>
          <p:nvPr/>
        </p:nvGrpSpPr>
        <p:grpSpPr bwMode="auto">
          <a:xfrm>
            <a:off x="2238375" y="4460875"/>
            <a:ext cx="95250" cy="788988"/>
            <a:chOff x="1410" y="2084"/>
            <a:chExt cx="60" cy="497"/>
          </a:xfrm>
        </p:grpSpPr>
        <p:sp>
          <p:nvSpPr>
            <p:cNvPr id="22576" name="Line 89">
              <a:extLst>
                <a:ext uri="{FF2B5EF4-FFF2-40B4-BE49-F238E27FC236}">
                  <a16:creationId xmlns:a16="http://schemas.microsoft.com/office/drawing/2014/main" xmlns="" id="{F00D8849-ACAC-173A-A98C-277527AF8866}"/>
                </a:ext>
              </a:extLst>
            </p:cNvPr>
            <p:cNvSpPr>
              <a:spLocks noChangeShapeType="1"/>
            </p:cNvSpPr>
            <p:nvPr/>
          </p:nvSpPr>
          <p:spPr bwMode="auto">
            <a:xfrm>
              <a:off x="1440" y="2084"/>
              <a:ext cx="1" cy="439"/>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77" name="Freeform 90">
              <a:extLst>
                <a:ext uri="{FF2B5EF4-FFF2-40B4-BE49-F238E27FC236}">
                  <a16:creationId xmlns:a16="http://schemas.microsoft.com/office/drawing/2014/main" xmlns="" id="{65ABEE6A-72D0-25D8-A3C7-68C6DB3DDCF6}"/>
                </a:ext>
              </a:extLst>
            </p:cNvPr>
            <p:cNvSpPr>
              <a:spLocks/>
            </p:cNvSpPr>
            <p:nvPr/>
          </p:nvSpPr>
          <p:spPr bwMode="auto">
            <a:xfrm>
              <a:off x="1410"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2536" name="Group 91">
            <a:extLst>
              <a:ext uri="{FF2B5EF4-FFF2-40B4-BE49-F238E27FC236}">
                <a16:creationId xmlns:a16="http://schemas.microsoft.com/office/drawing/2014/main" xmlns="" id="{B86C1494-5D6C-B195-AE02-79407885CEE8}"/>
              </a:ext>
            </a:extLst>
          </p:cNvPr>
          <p:cNvGrpSpPr>
            <a:grpSpLocks/>
          </p:cNvGrpSpPr>
          <p:nvPr/>
        </p:nvGrpSpPr>
        <p:grpSpPr bwMode="auto">
          <a:xfrm>
            <a:off x="3116263" y="4460875"/>
            <a:ext cx="95250" cy="788988"/>
            <a:chOff x="1963" y="2084"/>
            <a:chExt cx="60" cy="497"/>
          </a:xfrm>
        </p:grpSpPr>
        <p:sp>
          <p:nvSpPr>
            <p:cNvPr id="22574" name="Line 92">
              <a:extLst>
                <a:ext uri="{FF2B5EF4-FFF2-40B4-BE49-F238E27FC236}">
                  <a16:creationId xmlns:a16="http://schemas.microsoft.com/office/drawing/2014/main" xmlns="" id="{599F3A29-00D6-B50E-5C43-401DAA7CB0EB}"/>
                </a:ext>
              </a:extLst>
            </p:cNvPr>
            <p:cNvSpPr>
              <a:spLocks noChangeShapeType="1"/>
            </p:cNvSpPr>
            <p:nvPr/>
          </p:nvSpPr>
          <p:spPr bwMode="auto">
            <a:xfrm>
              <a:off x="1993" y="2084"/>
              <a:ext cx="1" cy="439"/>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75" name="Freeform 93">
              <a:extLst>
                <a:ext uri="{FF2B5EF4-FFF2-40B4-BE49-F238E27FC236}">
                  <a16:creationId xmlns:a16="http://schemas.microsoft.com/office/drawing/2014/main" xmlns="" id="{2FCB7B53-7EB0-F1FC-A94F-6015026BDA96}"/>
                </a:ext>
              </a:extLst>
            </p:cNvPr>
            <p:cNvSpPr>
              <a:spLocks/>
            </p:cNvSpPr>
            <p:nvPr/>
          </p:nvSpPr>
          <p:spPr bwMode="auto">
            <a:xfrm>
              <a:off x="1963"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2537" name="Group 94">
            <a:extLst>
              <a:ext uri="{FF2B5EF4-FFF2-40B4-BE49-F238E27FC236}">
                <a16:creationId xmlns:a16="http://schemas.microsoft.com/office/drawing/2014/main" xmlns="" id="{5F84B4F0-DD75-983A-277A-ACC1A3EA0B8C}"/>
              </a:ext>
            </a:extLst>
          </p:cNvPr>
          <p:cNvGrpSpPr>
            <a:grpSpLocks/>
          </p:cNvGrpSpPr>
          <p:nvPr/>
        </p:nvGrpSpPr>
        <p:grpSpPr bwMode="auto">
          <a:xfrm>
            <a:off x="2244725" y="3892550"/>
            <a:ext cx="963613" cy="85725"/>
            <a:chOff x="1414" y="1726"/>
            <a:chExt cx="607" cy="54"/>
          </a:xfrm>
        </p:grpSpPr>
        <p:sp>
          <p:nvSpPr>
            <p:cNvPr id="22571" name="Line 95">
              <a:extLst>
                <a:ext uri="{FF2B5EF4-FFF2-40B4-BE49-F238E27FC236}">
                  <a16:creationId xmlns:a16="http://schemas.microsoft.com/office/drawing/2014/main" xmlns="" id="{D6EEF46F-E3D5-1FBB-6064-7660FC51D644}"/>
                </a:ext>
              </a:extLst>
            </p:cNvPr>
            <p:cNvSpPr>
              <a:spLocks noChangeShapeType="1"/>
            </p:cNvSpPr>
            <p:nvPr/>
          </p:nvSpPr>
          <p:spPr bwMode="auto">
            <a:xfrm>
              <a:off x="1440" y="1752"/>
              <a:ext cx="553" cy="1"/>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72" name="Oval 96">
              <a:extLst>
                <a:ext uri="{FF2B5EF4-FFF2-40B4-BE49-F238E27FC236}">
                  <a16:creationId xmlns:a16="http://schemas.microsoft.com/office/drawing/2014/main" xmlns="" id="{E6218FDE-4A28-5C78-43BA-CD2AFBBB76EC}"/>
                </a:ext>
              </a:extLst>
            </p:cNvPr>
            <p:cNvSpPr>
              <a:spLocks noChangeArrowheads="1"/>
            </p:cNvSpPr>
            <p:nvPr/>
          </p:nvSpPr>
          <p:spPr bwMode="auto">
            <a:xfrm>
              <a:off x="1414" y="1726"/>
              <a:ext cx="54"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73" name="Oval 97">
              <a:extLst>
                <a:ext uri="{FF2B5EF4-FFF2-40B4-BE49-F238E27FC236}">
                  <a16:creationId xmlns:a16="http://schemas.microsoft.com/office/drawing/2014/main" xmlns="" id="{A40276DC-8DFD-8BA7-D4CE-29F245828133}"/>
                </a:ext>
              </a:extLst>
            </p:cNvPr>
            <p:cNvSpPr>
              <a:spLocks noChangeArrowheads="1"/>
            </p:cNvSpPr>
            <p:nvPr/>
          </p:nvSpPr>
          <p:spPr bwMode="auto">
            <a:xfrm>
              <a:off x="1966" y="1726"/>
              <a:ext cx="55"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22538" name="Group 98">
            <a:extLst>
              <a:ext uri="{FF2B5EF4-FFF2-40B4-BE49-F238E27FC236}">
                <a16:creationId xmlns:a16="http://schemas.microsoft.com/office/drawing/2014/main" xmlns="" id="{26FDB666-3B05-C394-E044-D5AAC678882C}"/>
              </a:ext>
            </a:extLst>
          </p:cNvPr>
          <p:cNvGrpSpPr>
            <a:grpSpLocks/>
          </p:cNvGrpSpPr>
          <p:nvPr/>
        </p:nvGrpSpPr>
        <p:grpSpPr bwMode="auto">
          <a:xfrm>
            <a:off x="3121025" y="3892550"/>
            <a:ext cx="963613" cy="85725"/>
            <a:chOff x="1966" y="1726"/>
            <a:chExt cx="607" cy="54"/>
          </a:xfrm>
        </p:grpSpPr>
        <p:sp>
          <p:nvSpPr>
            <p:cNvPr id="22568" name="Line 99">
              <a:extLst>
                <a:ext uri="{FF2B5EF4-FFF2-40B4-BE49-F238E27FC236}">
                  <a16:creationId xmlns:a16="http://schemas.microsoft.com/office/drawing/2014/main" xmlns="" id="{02818013-C2D7-2952-E775-D72F1DAEEED1}"/>
                </a:ext>
              </a:extLst>
            </p:cNvPr>
            <p:cNvSpPr>
              <a:spLocks noChangeShapeType="1"/>
            </p:cNvSpPr>
            <p:nvPr/>
          </p:nvSpPr>
          <p:spPr bwMode="auto">
            <a:xfrm>
              <a:off x="1993" y="1752"/>
              <a:ext cx="553" cy="1"/>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69" name="Oval 100">
              <a:extLst>
                <a:ext uri="{FF2B5EF4-FFF2-40B4-BE49-F238E27FC236}">
                  <a16:creationId xmlns:a16="http://schemas.microsoft.com/office/drawing/2014/main" xmlns="" id="{656C82A8-EF1A-0248-8CFF-F5970C97C33C}"/>
                </a:ext>
              </a:extLst>
            </p:cNvPr>
            <p:cNvSpPr>
              <a:spLocks noChangeArrowheads="1"/>
            </p:cNvSpPr>
            <p:nvPr/>
          </p:nvSpPr>
          <p:spPr bwMode="auto">
            <a:xfrm>
              <a:off x="1966" y="1726"/>
              <a:ext cx="55"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70" name="Oval 101">
              <a:extLst>
                <a:ext uri="{FF2B5EF4-FFF2-40B4-BE49-F238E27FC236}">
                  <a16:creationId xmlns:a16="http://schemas.microsoft.com/office/drawing/2014/main" xmlns="" id="{8F03A9CD-7E93-7F0B-C7E7-EB56E41B6176}"/>
                </a:ext>
              </a:extLst>
            </p:cNvPr>
            <p:cNvSpPr>
              <a:spLocks noChangeArrowheads="1"/>
            </p:cNvSpPr>
            <p:nvPr/>
          </p:nvSpPr>
          <p:spPr bwMode="auto">
            <a:xfrm>
              <a:off x="2519" y="1726"/>
              <a:ext cx="54"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22539" name="Group 102">
            <a:extLst>
              <a:ext uri="{FF2B5EF4-FFF2-40B4-BE49-F238E27FC236}">
                <a16:creationId xmlns:a16="http://schemas.microsoft.com/office/drawing/2014/main" xmlns="" id="{58E4B132-F0C8-4E05-B5A9-B2D689AFB9A7}"/>
              </a:ext>
            </a:extLst>
          </p:cNvPr>
          <p:cNvGrpSpPr>
            <a:grpSpLocks/>
          </p:cNvGrpSpPr>
          <p:nvPr/>
        </p:nvGrpSpPr>
        <p:grpSpPr bwMode="auto">
          <a:xfrm>
            <a:off x="3992563" y="4460875"/>
            <a:ext cx="95250" cy="788988"/>
            <a:chOff x="2515" y="2084"/>
            <a:chExt cx="60" cy="497"/>
          </a:xfrm>
        </p:grpSpPr>
        <p:sp>
          <p:nvSpPr>
            <p:cNvPr id="22566" name="Line 103">
              <a:extLst>
                <a:ext uri="{FF2B5EF4-FFF2-40B4-BE49-F238E27FC236}">
                  <a16:creationId xmlns:a16="http://schemas.microsoft.com/office/drawing/2014/main" xmlns="" id="{2A9CF38A-1844-AA0F-2B91-4D46E00521BE}"/>
                </a:ext>
              </a:extLst>
            </p:cNvPr>
            <p:cNvSpPr>
              <a:spLocks noChangeShapeType="1"/>
            </p:cNvSpPr>
            <p:nvPr/>
          </p:nvSpPr>
          <p:spPr bwMode="auto">
            <a:xfrm>
              <a:off x="2546" y="2084"/>
              <a:ext cx="1" cy="439"/>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67" name="Freeform 104">
              <a:extLst>
                <a:ext uri="{FF2B5EF4-FFF2-40B4-BE49-F238E27FC236}">
                  <a16:creationId xmlns:a16="http://schemas.microsoft.com/office/drawing/2014/main" xmlns="" id="{0521ADBD-0A54-2457-5865-FC27D1D430DA}"/>
                </a:ext>
              </a:extLst>
            </p:cNvPr>
            <p:cNvSpPr>
              <a:spLocks/>
            </p:cNvSpPr>
            <p:nvPr/>
          </p:nvSpPr>
          <p:spPr bwMode="auto">
            <a:xfrm>
              <a:off x="2515" y="2521"/>
              <a:ext cx="60" cy="60"/>
            </a:xfrm>
            <a:custGeom>
              <a:avLst/>
              <a:gdLst>
                <a:gd name="T0" fmla="*/ 0 w 119"/>
                <a:gd name="T1" fmla="*/ 0 h 120"/>
                <a:gd name="T2" fmla="*/ 15 w 119"/>
                <a:gd name="T3" fmla="*/ 30 h 120"/>
                <a:gd name="T4" fmla="*/ 30 w 119"/>
                <a:gd name="T5" fmla="*/ 0 h 120"/>
                <a:gd name="T6" fmla="*/ 0 w 119"/>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9" h="120">
                  <a:moveTo>
                    <a:pt x="0" y="0"/>
                  </a:moveTo>
                  <a:lnTo>
                    <a:pt x="60" y="120"/>
                  </a:lnTo>
                  <a:lnTo>
                    <a:pt x="119" y="0"/>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2540" name="Group 105">
            <a:extLst>
              <a:ext uri="{FF2B5EF4-FFF2-40B4-BE49-F238E27FC236}">
                <a16:creationId xmlns:a16="http://schemas.microsoft.com/office/drawing/2014/main" xmlns="" id="{42EE1AE1-B83B-8236-B953-CF99C7831301}"/>
              </a:ext>
            </a:extLst>
          </p:cNvPr>
          <p:cNvGrpSpPr>
            <a:grpSpLocks/>
          </p:cNvGrpSpPr>
          <p:nvPr/>
        </p:nvGrpSpPr>
        <p:grpSpPr bwMode="auto">
          <a:xfrm>
            <a:off x="4870450" y="4460875"/>
            <a:ext cx="95250" cy="788988"/>
            <a:chOff x="3068" y="2084"/>
            <a:chExt cx="60" cy="497"/>
          </a:xfrm>
        </p:grpSpPr>
        <p:sp>
          <p:nvSpPr>
            <p:cNvPr id="22564" name="Line 106">
              <a:extLst>
                <a:ext uri="{FF2B5EF4-FFF2-40B4-BE49-F238E27FC236}">
                  <a16:creationId xmlns:a16="http://schemas.microsoft.com/office/drawing/2014/main" xmlns="" id="{0E6DF3E7-D145-2B89-D03F-6A76E28EC70D}"/>
                </a:ext>
              </a:extLst>
            </p:cNvPr>
            <p:cNvSpPr>
              <a:spLocks noChangeShapeType="1"/>
            </p:cNvSpPr>
            <p:nvPr/>
          </p:nvSpPr>
          <p:spPr bwMode="auto">
            <a:xfrm>
              <a:off x="3098" y="2084"/>
              <a:ext cx="1" cy="439"/>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65" name="Freeform 107">
              <a:extLst>
                <a:ext uri="{FF2B5EF4-FFF2-40B4-BE49-F238E27FC236}">
                  <a16:creationId xmlns:a16="http://schemas.microsoft.com/office/drawing/2014/main" xmlns="" id="{7144C08D-454F-335D-D70B-92BF5FE5FF87}"/>
                </a:ext>
              </a:extLst>
            </p:cNvPr>
            <p:cNvSpPr>
              <a:spLocks/>
            </p:cNvSpPr>
            <p:nvPr/>
          </p:nvSpPr>
          <p:spPr bwMode="auto">
            <a:xfrm>
              <a:off x="3068"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2541" name="Group 108">
            <a:extLst>
              <a:ext uri="{FF2B5EF4-FFF2-40B4-BE49-F238E27FC236}">
                <a16:creationId xmlns:a16="http://schemas.microsoft.com/office/drawing/2014/main" xmlns="" id="{74DE079E-9CDD-B9E9-3596-718F6D433204}"/>
              </a:ext>
            </a:extLst>
          </p:cNvPr>
          <p:cNvGrpSpPr>
            <a:grpSpLocks/>
          </p:cNvGrpSpPr>
          <p:nvPr/>
        </p:nvGrpSpPr>
        <p:grpSpPr bwMode="auto">
          <a:xfrm>
            <a:off x="3998913" y="3892550"/>
            <a:ext cx="963612" cy="85725"/>
            <a:chOff x="2519" y="1726"/>
            <a:chExt cx="607" cy="54"/>
          </a:xfrm>
        </p:grpSpPr>
        <p:sp>
          <p:nvSpPr>
            <p:cNvPr id="22561" name="Line 109">
              <a:extLst>
                <a:ext uri="{FF2B5EF4-FFF2-40B4-BE49-F238E27FC236}">
                  <a16:creationId xmlns:a16="http://schemas.microsoft.com/office/drawing/2014/main" xmlns="" id="{5A03AA80-9932-A0FF-A775-1AF09C2BD75D}"/>
                </a:ext>
              </a:extLst>
            </p:cNvPr>
            <p:cNvSpPr>
              <a:spLocks noChangeShapeType="1"/>
            </p:cNvSpPr>
            <p:nvPr/>
          </p:nvSpPr>
          <p:spPr bwMode="auto">
            <a:xfrm>
              <a:off x="2546" y="1752"/>
              <a:ext cx="552" cy="1"/>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62" name="Oval 110">
              <a:extLst>
                <a:ext uri="{FF2B5EF4-FFF2-40B4-BE49-F238E27FC236}">
                  <a16:creationId xmlns:a16="http://schemas.microsoft.com/office/drawing/2014/main" xmlns="" id="{C9E00C40-71B2-71F2-55DA-C3FB920081B1}"/>
                </a:ext>
              </a:extLst>
            </p:cNvPr>
            <p:cNvSpPr>
              <a:spLocks noChangeArrowheads="1"/>
            </p:cNvSpPr>
            <p:nvPr/>
          </p:nvSpPr>
          <p:spPr bwMode="auto">
            <a:xfrm>
              <a:off x="2519" y="1726"/>
              <a:ext cx="54"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63" name="Oval 111">
              <a:extLst>
                <a:ext uri="{FF2B5EF4-FFF2-40B4-BE49-F238E27FC236}">
                  <a16:creationId xmlns:a16="http://schemas.microsoft.com/office/drawing/2014/main" xmlns="" id="{9F96F5E5-BA04-0AAE-DD9C-B3A19E4EA9EB}"/>
                </a:ext>
              </a:extLst>
            </p:cNvPr>
            <p:cNvSpPr>
              <a:spLocks noChangeArrowheads="1"/>
            </p:cNvSpPr>
            <p:nvPr/>
          </p:nvSpPr>
          <p:spPr bwMode="auto">
            <a:xfrm>
              <a:off x="3072" y="1726"/>
              <a:ext cx="54"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22542" name="Group 112">
            <a:extLst>
              <a:ext uri="{FF2B5EF4-FFF2-40B4-BE49-F238E27FC236}">
                <a16:creationId xmlns:a16="http://schemas.microsoft.com/office/drawing/2014/main" xmlns="" id="{25F577ED-CB87-3EFF-0946-C4A4308209C6}"/>
              </a:ext>
            </a:extLst>
          </p:cNvPr>
          <p:cNvGrpSpPr>
            <a:grpSpLocks/>
          </p:cNvGrpSpPr>
          <p:nvPr/>
        </p:nvGrpSpPr>
        <p:grpSpPr bwMode="auto">
          <a:xfrm>
            <a:off x="4876800" y="3892550"/>
            <a:ext cx="963613" cy="85725"/>
            <a:chOff x="3072" y="1726"/>
            <a:chExt cx="607" cy="54"/>
          </a:xfrm>
        </p:grpSpPr>
        <p:sp>
          <p:nvSpPr>
            <p:cNvPr id="22558" name="Line 113">
              <a:extLst>
                <a:ext uri="{FF2B5EF4-FFF2-40B4-BE49-F238E27FC236}">
                  <a16:creationId xmlns:a16="http://schemas.microsoft.com/office/drawing/2014/main" xmlns="" id="{7911697B-85F1-F8D8-EB99-55F0FBB58420}"/>
                </a:ext>
              </a:extLst>
            </p:cNvPr>
            <p:cNvSpPr>
              <a:spLocks noChangeShapeType="1"/>
            </p:cNvSpPr>
            <p:nvPr/>
          </p:nvSpPr>
          <p:spPr bwMode="auto">
            <a:xfrm>
              <a:off x="3098" y="1752"/>
              <a:ext cx="553" cy="1"/>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59" name="Oval 114">
              <a:extLst>
                <a:ext uri="{FF2B5EF4-FFF2-40B4-BE49-F238E27FC236}">
                  <a16:creationId xmlns:a16="http://schemas.microsoft.com/office/drawing/2014/main" xmlns="" id="{25532A06-76EB-2205-2EC5-6064FE8EC399}"/>
                </a:ext>
              </a:extLst>
            </p:cNvPr>
            <p:cNvSpPr>
              <a:spLocks noChangeArrowheads="1"/>
            </p:cNvSpPr>
            <p:nvPr/>
          </p:nvSpPr>
          <p:spPr bwMode="auto">
            <a:xfrm>
              <a:off x="3072" y="1726"/>
              <a:ext cx="54"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60" name="Oval 115">
              <a:extLst>
                <a:ext uri="{FF2B5EF4-FFF2-40B4-BE49-F238E27FC236}">
                  <a16:creationId xmlns:a16="http://schemas.microsoft.com/office/drawing/2014/main" xmlns="" id="{1E60568D-8954-D3BE-92AE-CD46A3360E26}"/>
                </a:ext>
              </a:extLst>
            </p:cNvPr>
            <p:cNvSpPr>
              <a:spLocks noChangeArrowheads="1"/>
            </p:cNvSpPr>
            <p:nvPr/>
          </p:nvSpPr>
          <p:spPr bwMode="auto">
            <a:xfrm>
              <a:off x="3624" y="1726"/>
              <a:ext cx="55"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22543" name="Group 116">
            <a:extLst>
              <a:ext uri="{FF2B5EF4-FFF2-40B4-BE49-F238E27FC236}">
                <a16:creationId xmlns:a16="http://schemas.microsoft.com/office/drawing/2014/main" xmlns="" id="{51BE572F-AEC8-B9C5-455E-3F5291DB79EA}"/>
              </a:ext>
            </a:extLst>
          </p:cNvPr>
          <p:cNvGrpSpPr>
            <a:grpSpLocks/>
          </p:cNvGrpSpPr>
          <p:nvPr/>
        </p:nvGrpSpPr>
        <p:grpSpPr bwMode="auto">
          <a:xfrm>
            <a:off x="5746750" y="4460875"/>
            <a:ext cx="95250" cy="788988"/>
            <a:chOff x="3620" y="2084"/>
            <a:chExt cx="60" cy="497"/>
          </a:xfrm>
        </p:grpSpPr>
        <p:sp>
          <p:nvSpPr>
            <p:cNvPr id="22556" name="Line 117">
              <a:extLst>
                <a:ext uri="{FF2B5EF4-FFF2-40B4-BE49-F238E27FC236}">
                  <a16:creationId xmlns:a16="http://schemas.microsoft.com/office/drawing/2014/main" xmlns="" id="{71A9B7FD-1C2A-846C-1FB0-F79A0E1106FD}"/>
                </a:ext>
              </a:extLst>
            </p:cNvPr>
            <p:cNvSpPr>
              <a:spLocks noChangeShapeType="1"/>
            </p:cNvSpPr>
            <p:nvPr/>
          </p:nvSpPr>
          <p:spPr bwMode="auto">
            <a:xfrm>
              <a:off x="3651" y="2084"/>
              <a:ext cx="1" cy="439"/>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57" name="Freeform 118">
              <a:extLst>
                <a:ext uri="{FF2B5EF4-FFF2-40B4-BE49-F238E27FC236}">
                  <a16:creationId xmlns:a16="http://schemas.microsoft.com/office/drawing/2014/main" xmlns="" id="{7A320999-71B1-6160-A497-0B1F48E4FF99}"/>
                </a:ext>
              </a:extLst>
            </p:cNvPr>
            <p:cNvSpPr>
              <a:spLocks/>
            </p:cNvSpPr>
            <p:nvPr/>
          </p:nvSpPr>
          <p:spPr bwMode="auto">
            <a:xfrm>
              <a:off x="3620"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2544" name="Group 119">
            <a:extLst>
              <a:ext uri="{FF2B5EF4-FFF2-40B4-BE49-F238E27FC236}">
                <a16:creationId xmlns:a16="http://schemas.microsoft.com/office/drawing/2014/main" xmlns="" id="{FA334295-EF10-4BEF-BCDD-DB5796093534}"/>
              </a:ext>
            </a:extLst>
          </p:cNvPr>
          <p:cNvGrpSpPr>
            <a:grpSpLocks/>
          </p:cNvGrpSpPr>
          <p:nvPr/>
        </p:nvGrpSpPr>
        <p:grpSpPr bwMode="auto">
          <a:xfrm>
            <a:off x="5753100" y="3892550"/>
            <a:ext cx="657225" cy="85725"/>
            <a:chOff x="3624" y="1726"/>
            <a:chExt cx="414" cy="54"/>
          </a:xfrm>
        </p:grpSpPr>
        <p:sp>
          <p:nvSpPr>
            <p:cNvPr id="22554" name="Line 120">
              <a:extLst>
                <a:ext uri="{FF2B5EF4-FFF2-40B4-BE49-F238E27FC236}">
                  <a16:creationId xmlns:a16="http://schemas.microsoft.com/office/drawing/2014/main" xmlns="" id="{389ED5A4-00B6-9CF5-168B-04E145E3372C}"/>
                </a:ext>
              </a:extLst>
            </p:cNvPr>
            <p:cNvSpPr>
              <a:spLocks noChangeShapeType="1"/>
            </p:cNvSpPr>
            <p:nvPr/>
          </p:nvSpPr>
          <p:spPr bwMode="auto">
            <a:xfrm>
              <a:off x="3651" y="1752"/>
              <a:ext cx="387" cy="1"/>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55" name="Oval 121">
              <a:extLst>
                <a:ext uri="{FF2B5EF4-FFF2-40B4-BE49-F238E27FC236}">
                  <a16:creationId xmlns:a16="http://schemas.microsoft.com/office/drawing/2014/main" xmlns="" id="{BEA59BA5-B0F5-1056-C3B7-2BF586E83DA5}"/>
                </a:ext>
              </a:extLst>
            </p:cNvPr>
            <p:cNvSpPr>
              <a:spLocks noChangeArrowheads="1"/>
            </p:cNvSpPr>
            <p:nvPr/>
          </p:nvSpPr>
          <p:spPr bwMode="auto">
            <a:xfrm>
              <a:off x="3624" y="1726"/>
              <a:ext cx="55"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22545" name="Group 122">
            <a:extLst>
              <a:ext uri="{FF2B5EF4-FFF2-40B4-BE49-F238E27FC236}">
                <a16:creationId xmlns:a16="http://schemas.microsoft.com/office/drawing/2014/main" xmlns="" id="{28284800-DB21-C6A7-0382-B374F635B173}"/>
              </a:ext>
            </a:extLst>
          </p:cNvPr>
          <p:cNvGrpSpPr>
            <a:grpSpLocks/>
          </p:cNvGrpSpPr>
          <p:nvPr/>
        </p:nvGrpSpPr>
        <p:grpSpPr bwMode="auto">
          <a:xfrm>
            <a:off x="1673225" y="3892550"/>
            <a:ext cx="657225" cy="85725"/>
            <a:chOff x="1054" y="1726"/>
            <a:chExt cx="414" cy="54"/>
          </a:xfrm>
        </p:grpSpPr>
        <p:sp>
          <p:nvSpPr>
            <p:cNvPr id="22552" name="Line 123">
              <a:extLst>
                <a:ext uri="{FF2B5EF4-FFF2-40B4-BE49-F238E27FC236}">
                  <a16:creationId xmlns:a16="http://schemas.microsoft.com/office/drawing/2014/main" xmlns="" id="{AC2EF85F-0928-9DF3-2205-8FE897578FF4}"/>
                </a:ext>
              </a:extLst>
            </p:cNvPr>
            <p:cNvSpPr>
              <a:spLocks noChangeShapeType="1"/>
            </p:cNvSpPr>
            <p:nvPr/>
          </p:nvSpPr>
          <p:spPr bwMode="auto">
            <a:xfrm>
              <a:off x="1054" y="1752"/>
              <a:ext cx="386" cy="1"/>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553" name="Oval 124">
              <a:extLst>
                <a:ext uri="{FF2B5EF4-FFF2-40B4-BE49-F238E27FC236}">
                  <a16:creationId xmlns:a16="http://schemas.microsoft.com/office/drawing/2014/main" xmlns="" id="{576B0402-3B41-212D-0B51-4C9252E9327D}"/>
                </a:ext>
              </a:extLst>
            </p:cNvPr>
            <p:cNvSpPr>
              <a:spLocks noChangeArrowheads="1"/>
            </p:cNvSpPr>
            <p:nvPr/>
          </p:nvSpPr>
          <p:spPr bwMode="auto">
            <a:xfrm>
              <a:off x="1414" y="1726"/>
              <a:ext cx="54" cy="5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22546" name="Rectangle 125">
            <a:extLst>
              <a:ext uri="{FF2B5EF4-FFF2-40B4-BE49-F238E27FC236}">
                <a16:creationId xmlns:a16="http://schemas.microsoft.com/office/drawing/2014/main" xmlns="" id="{B35E4FFD-D70A-454C-E416-6D52821CD65F}"/>
              </a:ext>
            </a:extLst>
          </p:cNvPr>
          <p:cNvSpPr>
            <a:spLocks noChangeArrowheads="1"/>
          </p:cNvSpPr>
          <p:nvPr/>
        </p:nvSpPr>
        <p:spPr bwMode="auto">
          <a:xfrm>
            <a:off x="5006975" y="3495675"/>
            <a:ext cx="876300" cy="3508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47" name="Rectangle 126">
            <a:extLst>
              <a:ext uri="{FF2B5EF4-FFF2-40B4-BE49-F238E27FC236}">
                <a16:creationId xmlns:a16="http://schemas.microsoft.com/office/drawing/2014/main" xmlns="" id="{36BB018D-BB31-9205-5DDD-00B3BF33E2C3}"/>
              </a:ext>
            </a:extLst>
          </p:cNvPr>
          <p:cNvSpPr>
            <a:spLocks noChangeArrowheads="1"/>
          </p:cNvSpPr>
          <p:nvPr/>
        </p:nvSpPr>
        <p:spPr bwMode="auto">
          <a:xfrm>
            <a:off x="5094288" y="3546475"/>
            <a:ext cx="60166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0000FF"/>
                </a:solidFill>
              </a:rPr>
              <a:t>period</a:t>
            </a:r>
            <a:endParaRPr lang="en-US" altLang="en-US" sz="2400">
              <a:latin typeface="Times New Roman" panose="02020603050405020304" pitchFamily="18" charset="0"/>
            </a:endParaRPr>
          </a:p>
        </p:txBody>
      </p:sp>
      <p:grpSp>
        <p:nvGrpSpPr>
          <p:cNvPr id="22548" name="Group 127">
            <a:extLst>
              <a:ext uri="{FF2B5EF4-FFF2-40B4-BE49-F238E27FC236}">
                <a16:creationId xmlns:a16="http://schemas.microsoft.com/office/drawing/2014/main" xmlns="" id="{D1143BAC-4CAE-9875-C488-DD938DA55CAC}"/>
              </a:ext>
            </a:extLst>
          </p:cNvPr>
          <p:cNvGrpSpPr>
            <a:grpSpLocks/>
          </p:cNvGrpSpPr>
          <p:nvPr/>
        </p:nvGrpSpPr>
        <p:grpSpPr bwMode="auto">
          <a:xfrm>
            <a:off x="1409700" y="5688013"/>
            <a:ext cx="1052513" cy="350837"/>
            <a:chOff x="888" y="2857"/>
            <a:chExt cx="663" cy="221"/>
          </a:xfrm>
        </p:grpSpPr>
        <p:sp>
          <p:nvSpPr>
            <p:cNvPr id="22549" name="Rectangle 128">
              <a:extLst>
                <a:ext uri="{FF2B5EF4-FFF2-40B4-BE49-F238E27FC236}">
                  <a16:creationId xmlns:a16="http://schemas.microsoft.com/office/drawing/2014/main" xmlns="" id="{6077A177-8C3A-0F8C-BE82-477B1D3FD106}"/>
                </a:ext>
              </a:extLst>
            </p:cNvPr>
            <p:cNvSpPr>
              <a:spLocks noChangeArrowheads="1"/>
            </p:cNvSpPr>
            <p:nvPr/>
          </p:nvSpPr>
          <p:spPr bwMode="auto">
            <a:xfrm>
              <a:off x="943" y="2857"/>
              <a:ext cx="608" cy="2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50" name="Rectangle 129">
              <a:extLst>
                <a:ext uri="{FF2B5EF4-FFF2-40B4-BE49-F238E27FC236}">
                  <a16:creationId xmlns:a16="http://schemas.microsoft.com/office/drawing/2014/main" xmlns="" id="{21E6B5E7-D7A9-77C6-0F21-D36F9CC5CD7A}"/>
                </a:ext>
              </a:extLst>
            </p:cNvPr>
            <p:cNvSpPr>
              <a:spLocks noChangeArrowheads="1"/>
            </p:cNvSpPr>
            <p:nvPr/>
          </p:nvSpPr>
          <p:spPr bwMode="auto">
            <a:xfrm>
              <a:off x="998" y="2889"/>
              <a:ext cx="47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0000FF"/>
                  </a:solidFill>
                </a:rPr>
                <a:t>periodic</a:t>
              </a:r>
              <a:endParaRPr lang="en-US" altLang="en-US" sz="2400">
                <a:latin typeface="Times New Roman" panose="02020603050405020304" pitchFamily="18" charset="0"/>
              </a:endParaRPr>
            </a:p>
          </p:txBody>
        </p:sp>
        <p:sp>
          <p:nvSpPr>
            <p:cNvPr id="22551" name="Line 130">
              <a:extLst>
                <a:ext uri="{FF2B5EF4-FFF2-40B4-BE49-F238E27FC236}">
                  <a16:creationId xmlns:a16="http://schemas.microsoft.com/office/drawing/2014/main" xmlns="" id="{F85AC4A2-96F4-5ACB-CFCC-C5CC585ABEDC}"/>
                </a:ext>
              </a:extLst>
            </p:cNvPr>
            <p:cNvSpPr>
              <a:spLocks noChangeShapeType="1"/>
            </p:cNvSpPr>
            <p:nvPr/>
          </p:nvSpPr>
          <p:spPr bwMode="auto">
            <a:xfrm>
              <a:off x="888" y="2913"/>
              <a:ext cx="1" cy="11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9">
            <a:extLst>
              <a:ext uri="{FF2B5EF4-FFF2-40B4-BE49-F238E27FC236}">
                <a16:creationId xmlns:a16="http://schemas.microsoft.com/office/drawing/2014/main" xmlns="" id="{0384E71B-0530-B024-5542-60CEFDFA2FCD}"/>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b="1">
                <a:solidFill>
                  <a:schemeClr val="tx1"/>
                </a:solidFill>
              </a:rPr>
              <a:t>Types of Event to trigger RTES</a:t>
            </a:r>
            <a:endParaRPr lang="en-US" altLang="en-US" sz="3400" b="1">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23555" name="Picture 6">
            <a:extLst>
              <a:ext uri="{FF2B5EF4-FFF2-40B4-BE49-F238E27FC236}">
                <a16:creationId xmlns:a16="http://schemas.microsoft.com/office/drawing/2014/main" xmlns="" id="{5DDEEE31-D63C-DF15-644D-8BD4CB5DFB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Rectangle 3">
            <a:extLst>
              <a:ext uri="{FF2B5EF4-FFF2-40B4-BE49-F238E27FC236}">
                <a16:creationId xmlns:a16="http://schemas.microsoft.com/office/drawing/2014/main" xmlns="" id="{180974FC-0BCF-1AAB-549C-93FD259F8503}"/>
              </a:ext>
            </a:extLst>
          </p:cNvPr>
          <p:cNvSpPr txBox="1">
            <a:spLocks noChangeArrowheads="1"/>
          </p:cNvSpPr>
          <p:nvPr/>
        </p:nvSpPr>
        <p:spPr bwMode="auto">
          <a:xfrm>
            <a:off x="685800" y="1598613"/>
            <a:ext cx="7772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lnSpcReduction="10000"/>
          </a:bodyPr>
          <a:lstStyle>
            <a:lvl1pPr marL="304800" indent="-304800" algn="l" defTabSz="457200" rtl="0" eaLnBrk="0" fontAlgn="base" hangingPunct="0">
              <a:spcBef>
                <a:spcPct val="20000"/>
              </a:spcBef>
              <a:spcAft>
                <a:spcPts val="600"/>
              </a:spcAft>
              <a:buClr>
                <a:schemeClr val="accent2"/>
              </a:buClr>
              <a:buSzPct val="92000"/>
              <a:buFont typeface="Wingdings 2" pitchFamily="18" charset="2"/>
              <a:buChar char=""/>
              <a:defRPr sz="3200" kern="1200">
                <a:solidFill>
                  <a:schemeClr val="tx2"/>
                </a:solidFill>
                <a:latin typeface="+mn-lt"/>
                <a:ea typeface="+mn-ea"/>
                <a:cs typeface="+mn-cs"/>
              </a:defRPr>
            </a:lvl1pPr>
            <a:lvl2pPr marL="628650" indent="-304800" algn="l" defTabSz="457200" rtl="0" eaLnBrk="0" fontAlgn="base" hangingPunct="0">
              <a:spcBef>
                <a:spcPct val="20000"/>
              </a:spcBef>
              <a:spcAft>
                <a:spcPts val="600"/>
              </a:spcAft>
              <a:buClr>
                <a:schemeClr val="accent2"/>
              </a:buClr>
              <a:buSzPct val="92000"/>
              <a:buFont typeface="Wingdings 2" pitchFamily="18" charset="2"/>
              <a:buChar char=""/>
              <a:defRPr sz="1600" kern="1200">
                <a:solidFill>
                  <a:schemeClr val="tx2"/>
                </a:solidFill>
                <a:latin typeface="+mn-lt"/>
                <a:ea typeface="+mn-ea"/>
                <a:cs typeface="+mn-cs"/>
              </a:defRPr>
            </a:lvl2pPr>
            <a:lvl3pPr marL="898525" indent="-269875" algn="l" defTabSz="457200" rtl="0" eaLnBrk="0" fontAlgn="base" hangingPunct="0">
              <a:spcBef>
                <a:spcPct val="20000"/>
              </a:spcBef>
              <a:spcAft>
                <a:spcPts val="600"/>
              </a:spcAft>
              <a:buClr>
                <a:schemeClr val="accent2"/>
              </a:buClr>
              <a:buSzPct val="92000"/>
              <a:buFont typeface="Wingdings 2" pitchFamily="18" charset="2"/>
              <a:buChar char=""/>
              <a:defRPr sz="1400" kern="1200">
                <a:solidFill>
                  <a:schemeClr val="tx2"/>
                </a:solidFill>
                <a:latin typeface="+mn-lt"/>
                <a:ea typeface="+mn-ea"/>
                <a:cs typeface="+mn-cs"/>
              </a:defRPr>
            </a:lvl3pPr>
            <a:lvl4pPr marL="1241425" indent="-233363" algn="l" defTabSz="457200" rtl="0" eaLnBrk="0" fontAlgn="base" hangingPunct="0">
              <a:spcBef>
                <a:spcPct val="20000"/>
              </a:spcBef>
              <a:spcAft>
                <a:spcPts val="600"/>
              </a:spcAft>
              <a:buClr>
                <a:schemeClr val="accent2"/>
              </a:buClr>
              <a:buSzPct val="92000"/>
              <a:buFont typeface="Wingdings 2" pitchFamily="18" charset="2"/>
              <a:buChar char=""/>
              <a:defRPr sz="1200" kern="1200">
                <a:solidFill>
                  <a:schemeClr val="tx2"/>
                </a:solidFill>
                <a:latin typeface="+mn-lt"/>
                <a:ea typeface="+mn-ea"/>
                <a:cs typeface="+mn-cs"/>
              </a:defRPr>
            </a:lvl4pPr>
            <a:lvl5pPr marL="1601788" indent="-233363" algn="l" defTabSz="457200" rtl="0" eaLnBrk="0" fontAlgn="base" hangingPunct="0">
              <a:spcBef>
                <a:spcPct val="20000"/>
              </a:spcBef>
              <a:spcAft>
                <a:spcPts val="600"/>
              </a:spcAft>
              <a:buClr>
                <a:schemeClr val="accent2"/>
              </a:buClr>
              <a:buSzPct val="92000"/>
              <a:buFont typeface="Wingdings 2"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defRPr/>
            </a:pPr>
            <a:r>
              <a:rPr lang="en-US" dirty="0">
                <a:solidFill>
                  <a:schemeClr val="tx1"/>
                </a:solidFill>
              </a:rPr>
              <a:t>Aperiodic</a:t>
            </a:r>
          </a:p>
          <a:p>
            <a:pPr lvl="1">
              <a:defRPr/>
            </a:pPr>
            <a:r>
              <a:rPr lang="en-US" dirty="0">
                <a:solidFill>
                  <a:schemeClr val="tx1"/>
                </a:solidFill>
              </a:rPr>
              <a:t>can occur any time</a:t>
            </a:r>
          </a:p>
          <a:p>
            <a:pPr lvl="1">
              <a:defRPr/>
            </a:pPr>
            <a:r>
              <a:rPr lang="en-US" dirty="0">
                <a:solidFill>
                  <a:schemeClr val="tx1"/>
                </a:solidFill>
              </a:rPr>
              <a:t>no arrival pattern given</a:t>
            </a:r>
          </a:p>
        </p:txBody>
      </p:sp>
      <p:grpSp>
        <p:nvGrpSpPr>
          <p:cNvPr id="23557" name="Group 5">
            <a:extLst>
              <a:ext uri="{FF2B5EF4-FFF2-40B4-BE49-F238E27FC236}">
                <a16:creationId xmlns:a16="http://schemas.microsoft.com/office/drawing/2014/main" xmlns="" id="{17BF6D50-12F8-DBEB-C298-7030FF8DC10A}"/>
              </a:ext>
            </a:extLst>
          </p:cNvPr>
          <p:cNvGrpSpPr>
            <a:grpSpLocks/>
          </p:cNvGrpSpPr>
          <p:nvPr/>
        </p:nvGrpSpPr>
        <p:grpSpPr bwMode="auto">
          <a:xfrm>
            <a:off x="1322388" y="5040313"/>
            <a:ext cx="6491287" cy="660400"/>
            <a:chOff x="833" y="2552"/>
            <a:chExt cx="4089" cy="416"/>
          </a:xfrm>
        </p:grpSpPr>
        <p:sp>
          <p:nvSpPr>
            <p:cNvPr id="23604" name="Rectangle 6">
              <a:extLst>
                <a:ext uri="{FF2B5EF4-FFF2-40B4-BE49-F238E27FC236}">
                  <a16:creationId xmlns:a16="http://schemas.microsoft.com/office/drawing/2014/main" xmlns="" id="{9C56ED42-5662-FF66-192D-5AE01586F281}"/>
                </a:ext>
              </a:extLst>
            </p:cNvPr>
            <p:cNvSpPr>
              <a:spLocks noChangeArrowheads="1"/>
            </p:cNvSpPr>
            <p:nvPr/>
          </p:nvSpPr>
          <p:spPr bwMode="auto">
            <a:xfrm>
              <a:off x="4480" y="2636"/>
              <a:ext cx="442" cy="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23605" name="Group 7">
              <a:extLst>
                <a:ext uri="{FF2B5EF4-FFF2-40B4-BE49-F238E27FC236}">
                  <a16:creationId xmlns:a16="http://schemas.microsoft.com/office/drawing/2014/main" xmlns="" id="{EE37E32B-11F7-F10A-8BD7-17AC16A26832}"/>
                </a:ext>
              </a:extLst>
            </p:cNvPr>
            <p:cNvGrpSpPr>
              <a:grpSpLocks/>
            </p:cNvGrpSpPr>
            <p:nvPr/>
          </p:nvGrpSpPr>
          <p:grpSpPr bwMode="auto">
            <a:xfrm>
              <a:off x="833" y="2552"/>
              <a:ext cx="4089" cy="280"/>
              <a:chOff x="833" y="2552"/>
              <a:chExt cx="4089" cy="280"/>
            </a:xfrm>
          </p:grpSpPr>
          <p:grpSp>
            <p:nvGrpSpPr>
              <p:cNvPr id="23606" name="Group 8">
                <a:extLst>
                  <a:ext uri="{FF2B5EF4-FFF2-40B4-BE49-F238E27FC236}">
                    <a16:creationId xmlns:a16="http://schemas.microsoft.com/office/drawing/2014/main" xmlns="" id="{44DECC3F-572A-6863-1888-CC1FDA398253}"/>
                  </a:ext>
                </a:extLst>
              </p:cNvPr>
              <p:cNvGrpSpPr>
                <a:grpSpLocks/>
              </p:cNvGrpSpPr>
              <p:nvPr/>
            </p:nvGrpSpPr>
            <p:grpSpPr bwMode="auto">
              <a:xfrm>
                <a:off x="833" y="2552"/>
                <a:ext cx="4089" cy="59"/>
                <a:chOff x="833" y="2552"/>
                <a:chExt cx="4089" cy="59"/>
              </a:xfrm>
            </p:grpSpPr>
            <p:sp>
              <p:nvSpPr>
                <p:cNvPr id="23608" name="Line 9">
                  <a:extLst>
                    <a:ext uri="{FF2B5EF4-FFF2-40B4-BE49-F238E27FC236}">
                      <a16:creationId xmlns:a16="http://schemas.microsoft.com/office/drawing/2014/main" xmlns="" id="{61780ABD-CC49-F3F8-0F2C-EA55600938FA}"/>
                    </a:ext>
                  </a:extLst>
                </p:cNvPr>
                <p:cNvSpPr>
                  <a:spLocks noChangeShapeType="1"/>
                </p:cNvSpPr>
                <p:nvPr/>
              </p:nvSpPr>
              <p:spPr bwMode="auto">
                <a:xfrm>
                  <a:off x="833" y="2581"/>
                  <a:ext cx="403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3609" name="Freeform 10">
                  <a:extLst>
                    <a:ext uri="{FF2B5EF4-FFF2-40B4-BE49-F238E27FC236}">
                      <a16:creationId xmlns:a16="http://schemas.microsoft.com/office/drawing/2014/main" xmlns="" id="{6E6F244C-8F0D-AEEE-BE82-81812D96040C}"/>
                    </a:ext>
                  </a:extLst>
                </p:cNvPr>
                <p:cNvSpPr>
                  <a:spLocks/>
                </p:cNvSpPr>
                <p:nvPr/>
              </p:nvSpPr>
              <p:spPr bwMode="auto">
                <a:xfrm>
                  <a:off x="4862" y="2552"/>
                  <a:ext cx="60" cy="59"/>
                </a:xfrm>
                <a:custGeom>
                  <a:avLst/>
                  <a:gdLst>
                    <a:gd name="T0" fmla="*/ 0 w 120"/>
                    <a:gd name="T1" fmla="*/ 29 h 120"/>
                    <a:gd name="T2" fmla="*/ 30 w 120"/>
                    <a:gd name="T3" fmla="*/ 14 h 120"/>
                    <a:gd name="T4" fmla="*/ 0 w 120"/>
                    <a:gd name="T5" fmla="*/ 0 h 120"/>
                    <a:gd name="T6" fmla="*/ 0 w 120"/>
                    <a:gd name="T7" fmla="*/ 29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120"/>
                      </a:moveTo>
                      <a:lnTo>
                        <a:pt x="120" y="59"/>
                      </a:lnTo>
                      <a:lnTo>
                        <a:pt x="0" y="0"/>
                      </a:lnTo>
                      <a:lnTo>
                        <a:pt x="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3607" name="Rectangle 11">
                <a:extLst>
                  <a:ext uri="{FF2B5EF4-FFF2-40B4-BE49-F238E27FC236}">
                    <a16:creationId xmlns:a16="http://schemas.microsoft.com/office/drawing/2014/main" xmlns="" id="{98954728-6734-1B3B-9045-FC332B29D6BE}"/>
                  </a:ext>
                </a:extLst>
              </p:cNvPr>
              <p:cNvSpPr>
                <a:spLocks noChangeArrowheads="1"/>
              </p:cNvSpPr>
              <p:nvPr/>
            </p:nvSpPr>
            <p:spPr bwMode="auto">
              <a:xfrm>
                <a:off x="4535" y="2669"/>
                <a:ext cx="25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000000"/>
                    </a:solidFill>
                  </a:rPr>
                  <a:t>time</a:t>
                </a:r>
                <a:endParaRPr lang="en-US" altLang="en-US" sz="2400">
                  <a:latin typeface="Times New Roman" panose="02020603050405020304" pitchFamily="18" charset="0"/>
                </a:endParaRPr>
              </a:p>
            </p:txBody>
          </p:sp>
        </p:grpSp>
      </p:grpSp>
      <p:sp>
        <p:nvSpPr>
          <p:cNvPr id="23558" name="Rectangle 12">
            <a:extLst>
              <a:ext uri="{FF2B5EF4-FFF2-40B4-BE49-F238E27FC236}">
                <a16:creationId xmlns:a16="http://schemas.microsoft.com/office/drawing/2014/main" xmlns="" id="{13DBC6EF-E226-0952-65BE-FA5BBCFA4E18}"/>
              </a:ext>
            </a:extLst>
          </p:cNvPr>
          <p:cNvSpPr>
            <a:spLocks noChangeArrowheads="1"/>
          </p:cNvSpPr>
          <p:nvPr/>
        </p:nvSpPr>
        <p:spPr bwMode="auto">
          <a:xfrm>
            <a:off x="1584325" y="6188075"/>
            <a:ext cx="877888"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FF0000"/>
                </a:solidFill>
              </a:rPr>
              <a:t>aperiodic</a:t>
            </a:r>
            <a:endParaRPr lang="en-US" altLang="en-US" sz="2400">
              <a:latin typeface="Times New Roman" panose="02020603050405020304" pitchFamily="18" charset="0"/>
            </a:endParaRPr>
          </a:p>
        </p:txBody>
      </p:sp>
      <p:grpSp>
        <p:nvGrpSpPr>
          <p:cNvPr id="23559" name="Group 13">
            <a:extLst>
              <a:ext uri="{FF2B5EF4-FFF2-40B4-BE49-F238E27FC236}">
                <a16:creationId xmlns:a16="http://schemas.microsoft.com/office/drawing/2014/main" xmlns="" id="{6B397267-DED6-27C2-8AF4-F3E56B0CB42C}"/>
              </a:ext>
            </a:extLst>
          </p:cNvPr>
          <p:cNvGrpSpPr>
            <a:grpSpLocks/>
          </p:cNvGrpSpPr>
          <p:nvPr/>
        </p:nvGrpSpPr>
        <p:grpSpPr bwMode="auto">
          <a:xfrm>
            <a:off x="2420938" y="4292600"/>
            <a:ext cx="93662" cy="793750"/>
            <a:chOff x="1521" y="2081"/>
            <a:chExt cx="59" cy="500"/>
          </a:xfrm>
        </p:grpSpPr>
        <p:sp>
          <p:nvSpPr>
            <p:cNvPr id="23591" name="Freeform 14">
              <a:extLst>
                <a:ext uri="{FF2B5EF4-FFF2-40B4-BE49-F238E27FC236}">
                  <a16:creationId xmlns:a16="http://schemas.microsoft.com/office/drawing/2014/main" xmlns="" id="{C8D4DC4F-B1EF-5BEA-1A91-3E441028945E}"/>
                </a:ext>
              </a:extLst>
            </p:cNvPr>
            <p:cNvSpPr>
              <a:spLocks/>
            </p:cNvSpPr>
            <p:nvPr/>
          </p:nvSpPr>
          <p:spPr bwMode="auto">
            <a:xfrm>
              <a:off x="1548" y="2081"/>
              <a:ext cx="6" cy="28"/>
            </a:xfrm>
            <a:custGeom>
              <a:avLst/>
              <a:gdLst>
                <a:gd name="T0" fmla="*/ 3 w 12"/>
                <a:gd name="T1" fmla="*/ 2 h 55"/>
                <a:gd name="T2" fmla="*/ 3 w 12"/>
                <a:gd name="T3" fmla="*/ 2 h 55"/>
                <a:gd name="T4" fmla="*/ 3 w 12"/>
                <a:gd name="T5" fmla="*/ 1 h 55"/>
                <a:gd name="T6" fmla="*/ 2 w 12"/>
                <a:gd name="T7" fmla="*/ 1 h 55"/>
                <a:gd name="T8" fmla="*/ 2 w 12"/>
                <a:gd name="T9" fmla="*/ 0 h 55"/>
                <a:gd name="T10" fmla="*/ 2 w 12"/>
                <a:gd name="T11" fmla="*/ 0 h 55"/>
                <a:gd name="T12" fmla="*/ 1 w 12"/>
                <a:gd name="T13" fmla="*/ 1 h 55"/>
                <a:gd name="T14" fmla="*/ 1 w 12"/>
                <a:gd name="T15" fmla="*/ 1 h 55"/>
                <a:gd name="T16" fmla="*/ 0 w 12"/>
                <a:gd name="T17" fmla="*/ 2 h 55"/>
                <a:gd name="T18" fmla="*/ 0 w 12"/>
                <a:gd name="T19" fmla="*/ 12 h 55"/>
                <a:gd name="T20" fmla="*/ 0 w 12"/>
                <a:gd name="T21" fmla="*/ 13 h 55"/>
                <a:gd name="T22" fmla="*/ 1 w 12"/>
                <a:gd name="T23" fmla="*/ 13 h 55"/>
                <a:gd name="T24" fmla="*/ 1 w 12"/>
                <a:gd name="T25" fmla="*/ 14 h 55"/>
                <a:gd name="T26" fmla="*/ 2 w 12"/>
                <a:gd name="T27" fmla="*/ 14 h 55"/>
                <a:gd name="T28" fmla="*/ 2 w 12"/>
                <a:gd name="T29" fmla="*/ 14 h 55"/>
                <a:gd name="T30" fmla="*/ 3 w 12"/>
                <a:gd name="T31" fmla="*/ 14 h 55"/>
                <a:gd name="T32" fmla="*/ 3 w 12"/>
                <a:gd name="T33" fmla="*/ 13 h 55"/>
                <a:gd name="T34" fmla="*/ 3 w 12"/>
                <a:gd name="T35" fmla="*/ 13 h 55"/>
                <a:gd name="T36" fmla="*/ 3 w 12"/>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8"/>
                  </a:moveTo>
                  <a:lnTo>
                    <a:pt x="12" y="6"/>
                  </a:lnTo>
                  <a:lnTo>
                    <a:pt x="10" y="4"/>
                  </a:lnTo>
                  <a:lnTo>
                    <a:pt x="8" y="2"/>
                  </a:lnTo>
                  <a:lnTo>
                    <a:pt x="6" y="0"/>
                  </a:lnTo>
                  <a:lnTo>
                    <a:pt x="4" y="2"/>
                  </a:lnTo>
                  <a:lnTo>
                    <a:pt x="2" y="4"/>
                  </a:lnTo>
                  <a:lnTo>
                    <a:pt x="0" y="6"/>
                  </a:lnTo>
                  <a:lnTo>
                    <a:pt x="0" y="48"/>
                  </a:lnTo>
                  <a:lnTo>
                    <a:pt x="0" y="50"/>
                  </a:lnTo>
                  <a:lnTo>
                    <a:pt x="2" y="52"/>
                  </a:lnTo>
                  <a:lnTo>
                    <a:pt x="4" y="54"/>
                  </a:lnTo>
                  <a:lnTo>
                    <a:pt x="6" y="55"/>
                  </a:lnTo>
                  <a:lnTo>
                    <a:pt x="8" y="55"/>
                  </a:lnTo>
                  <a:lnTo>
                    <a:pt x="10" y="54"/>
                  </a:lnTo>
                  <a:lnTo>
                    <a:pt x="12" y="52"/>
                  </a:lnTo>
                  <a:lnTo>
                    <a:pt x="12" y="50"/>
                  </a:lnTo>
                  <a:lnTo>
                    <a:pt x="12" y="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2" name="Freeform 15">
              <a:extLst>
                <a:ext uri="{FF2B5EF4-FFF2-40B4-BE49-F238E27FC236}">
                  <a16:creationId xmlns:a16="http://schemas.microsoft.com/office/drawing/2014/main" xmlns="" id="{52B780CC-4B3D-662E-5846-403D00339F1E}"/>
                </a:ext>
              </a:extLst>
            </p:cNvPr>
            <p:cNvSpPr>
              <a:spLocks/>
            </p:cNvSpPr>
            <p:nvPr/>
          </p:nvSpPr>
          <p:spPr bwMode="auto">
            <a:xfrm>
              <a:off x="1548" y="2120"/>
              <a:ext cx="6" cy="27"/>
            </a:xfrm>
            <a:custGeom>
              <a:avLst/>
              <a:gdLst>
                <a:gd name="T0" fmla="*/ 3 w 12"/>
                <a:gd name="T1" fmla="*/ 1 h 55"/>
                <a:gd name="T2" fmla="*/ 3 w 12"/>
                <a:gd name="T3" fmla="*/ 0 h 55"/>
                <a:gd name="T4" fmla="*/ 3 w 12"/>
                <a:gd name="T5" fmla="*/ 0 h 55"/>
                <a:gd name="T6" fmla="*/ 3 w 12"/>
                <a:gd name="T7" fmla="*/ 0 h 55"/>
                <a:gd name="T8" fmla="*/ 2 w 12"/>
                <a:gd name="T9" fmla="*/ 0 h 55"/>
                <a:gd name="T10" fmla="*/ 2 w 12"/>
                <a:gd name="T11" fmla="*/ 0 h 55"/>
                <a:gd name="T12" fmla="*/ 1 w 12"/>
                <a:gd name="T13" fmla="*/ 0 h 55"/>
                <a:gd name="T14" fmla="*/ 1 w 12"/>
                <a:gd name="T15" fmla="*/ 0 h 55"/>
                <a:gd name="T16" fmla="*/ 0 w 12"/>
                <a:gd name="T17" fmla="*/ 0 h 55"/>
                <a:gd name="T18" fmla="*/ 0 w 12"/>
                <a:gd name="T19" fmla="*/ 11 h 55"/>
                <a:gd name="T20" fmla="*/ 0 w 12"/>
                <a:gd name="T21" fmla="*/ 12 h 55"/>
                <a:gd name="T22" fmla="*/ 1 w 12"/>
                <a:gd name="T23" fmla="*/ 12 h 55"/>
                <a:gd name="T24" fmla="*/ 1 w 12"/>
                <a:gd name="T25" fmla="*/ 13 h 55"/>
                <a:gd name="T26" fmla="*/ 2 w 12"/>
                <a:gd name="T27" fmla="*/ 13 h 55"/>
                <a:gd name="T28" fmla="*/ 2 w 12"/>
                <a:gd name="T29" fmla="*/ 13 h 55"/>
                <a:gd name="T30" fmla="*/ 3 w 12"/>
                <a:gd name="T31" fmla="*/ 13 h 55"/>
                <a:gd name="T32" fmla="*/ 3 w 12"/>
                <a:gd name="T33" fmla="*/ 12 h 55"/>
                <a:gd name="T34" fmla="*/ 3 w 12"/>
                <a:gd name="T35" fmla="*/ 12 h 55"/>
                <a:gd name="T36" fmla="*/ 3 w 12"/>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5"/>
                  </a:moveTo>
                  <a:lnTo>
                    <a:pt x="12" y="3"/>
                  </a:lnTo>
                  <a:lnTo>
                    <a:pt x="12" y="1"/>
                  </a:lnTo>
                  <a:lnTo>
                    <a:pt x="10" y="0"/>
                  </a:lnTo>
                  <a:lnTo>
                    <a:pt x="8" y="0"/>
                  </a:lnTo>
                  <a:lnTo>
                    <a:pt x="6" y="0"/>
                  </a:lnTo>
                  <a:lnTo>
                    <a:pt x="4" y="0"/>
                  </a:lnTo>
                  <a:lnTo>
                    <a:pt x="2" y="1"/>
                  </a:lnTo>
                  <a:lnTo>
                    <a:pt x="0" y="3"/>
                  </a:lnTo>
                  <a:lnTo>
                    <a:pt x="0" y="47"/>
                  </a:lnTo>
                  <a:lnTo>
                    <a:pt x="0" y="49"/>
                  </a:lnTo>
                  <a:lnTo>
                    <a:pt x="2" y="51"/>
                  </a:lnTo>
                  <a:lnTo>
                    <a:pt x="4" y="53"/>
                  </a:lnTo>
                  <a:lnTo>
                    <a:pt x="6" y="55"/>
                  </a:lnTo>
                  <a:lnTo>
                    <a:pt x="8" y="55"/>
                  </a:lnTo>
                  <a:lnTo>
                    <a:pt x="10" y="53"/>
                  </a:lnTo>
                  <a:lnTo>
                    <a:pt x="12" y="51"/>
                  </a:lnTo>
                  <a:lnTo>
                    <a:pt x="12" y="49"/>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3" name="Freeform 16">
              <a:extLst>
                <a:ext uri="{FF2B5EF4-FFF2-40B4-BE49-F238E27FC236}">
                  <a16:creationId xmlns:a16="http://schemas.microsoft.com/office/drawing/2014/main" xmlns="" id="{09C4B86C-A226-B1C2-92CD-95915F5AD196}"/>
                </a:ext>
              </a:extLst>
            </p:cNvPr>
            <p:cNvSpPr>
              <a:spLocks/>
            </p:cNvSpPr>
            <p:nvPr/>
          </p:nvSpPr>
          <p:spPr bwMode="auto">
            <a:xfrm>
              <a:off x="1548" y="2158"/>
              <a:ext cx="6" cy="28"/>
            </a:xfrm>
            <a:custGeom>
              <a:avLst/>
              <a:gdLst>
                <a:gd name="T0" fmla="*/ 3 w 12"/>
                <a:gd name="T1" fmla="*/ 2 h 55"/>
                <a:gd name="T2" fmla="*/ 3 w 12"/>
                <a:gd name="T3" fmla="*/ 1 h 55"/>
                <a:gd name="T4" fmla="*/ 3 w 12"/>
                <a:gd name="T5" fmla="*/ 1 h 55"/>
                <a:gd name="T6" fmla="*/ 3 w 12"/>
                <a:gd name="T7" fmla="*/ 0 h 55"/>
                <a:gd name="T8" fmla="*/ 2 w 12"/>
                <a:gd name="T9" fmla="*/ 0 h 55"/>
                <a:gd name="T10" fmla="*/ 2 w 12"/>
                <a:gd name="T11" fmla="*/ 0 h 55"/>
                <a:gd name="T12" fmla="*/ 1 w 12"/>
                <a:gd name="T13" fmla="*/ 0 h 55"/>
                <a:gd name="T14" fmla="*/ 1 w 12"/>
                <a:gd name="T15" fmla="*/ 1 h 55"/>
                <a:gd name="T16" fmla="*/ 0 w 12"/>
                <a:gd name="T17" fmla="*/ 1 h 55"/>
                <a:gd name="T18" fmla="*/ 0 w 12"/>
                <a:gd name="T19" fmla="*/ 12 h 55"/>
                <a:gd name="T20" fmla="*/ 0 w 12"/>
                <a:gd name="T21" fmla="*/ 13 h 55"/>
                <a:gd name="T22" fmla="*/ 1 w 12"/>
                <a:gd name="T23" fmla="*/ 13 h 55"/>
                <a:gd name="T24" fmla="*/ 1 w 12"/>
                <a:gd name="T25" fmla="*/ 14 h 55"/>
                <a:gd name="T26" fmla="*/ 2 w 12"/>
                <a:gd name="T27" fmla="*/ 14 h 55"/>
                <a:gd name="T28" fmla="*/ 2 w 12"/>
                <a:gd name="T29" fmla="*/ 14 h 55"/>
                <a:gd name="T30" fmla="*/ 3 w 12"/>
                <a:gd name="T31" fmla="*/ 14 h 55"/>
                <a:gd name="T32" fmla="*/ 3 w 12"/>
                <a:gd name="T33" fmla="*/ 13 h 55"/>
                <a:gd name="T34" fmla="*/ 3 w 12"/>
                <a:gd name="T35" fmla="*/ 13 h 55"/>
                <a:gd name="T36" fmla="*/ 3 w 12"/>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5"/>
                  </a:moveTo>
                  <a:lnTo>
                    <a:pt x="12" y="4"/>
                  </a:lnTo>
                  <a:lnTo>
                    <a:pt x="12" y="2"/>
                  </a:lnTo>
                  <a:lnTo>
                    <a:pt x="10" y="0"/>
                  </a:lnTo>
                  <a:lnTo>
                    <a:pt x="8" y="0"/>
                  </a:lnTo>
                  <a:lnTo>
                    <a:pt x="6" y="0"/>
                  </a:lnTo>
                  <a:lnTo>
                    <a:pt x="4" y="0"/>
                  </a:lnTo>
                  <a:lnTo>
                    <a:pt x="2" y="2"/>
                  </a:lnTo>
                  <a:lnTo>
                    <a:pt x="0" y="4"/>
                  </a:lnTo>
                  <a:lnTo>
                    <a:pt x="0" y="48"/>
                  </a:lnTo>
                  <a:lnTo>
                    <a:pt x="0" y="50"/>
                  </a:lnTo>
                  <a:lnTo>
                    <a:pt x="2" y="51"/>
                  </a:lnTo>
                  <a:lnTo>
                    <a:pt x="4" y="53"/>
                  </a:lnTo>
                  <a:lnTo>
                    <a:pt x="6" y="55"/>
                  </a:lnTo>
                  <a:lnTo>
                    <a:pt x="8" y="55"/>
                  </a:lnTo>
                  <a:lnTo>
                    <a:pt x="10" y="53"/>
                  </a:lnTo>
                  <a:lnTo>
                    <a:pt x="12" y="51"/>
                  </a:lnTo>
                  <a:lnTo>
                    <a:pt x="12" y="50"/>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4" name="Freeform 17">
              <a:extLst>
                <a:ext uri="{FF2B5EF4-FFF2-40B4-BE49-F238E27FC236}">
                  <a16:creationId xmlns:a16="http://schemas.microsoft.com/office/drawing/2014/main" xmlns="" id="{FE91A913-CDB8-81BA-E5AC-FD702C7AC501}"/>
                </a:ext>
              </a:extLst>
            </p:cNvPr>
            <p:cNvSpPr>
              <a:spLocks/>
            </p:cNvSpPr>
            <p:nvPr/>
          </p:nvSpPr>
          <p:spPr bwMode="auto">
            <a:xfrm>
              <a:off x="1548" y="2197"/>
              <a:ext cx="6" cy="28"/>
            </a:xfrm>
            <a:custGeom>
              <a:avLst/>
              <a:gdLst>
                <a:gd name="T0" fmla="*/ 3 w 12"/>
                <a:gd name="T1" fmla="*/ 2 h 56"/>
                <a:gd name="T2" fmla="*/ 3 w 12"/>
                <a:gd name="T3" fmla="*/ 1 h 56"/>
                <a:gd name="T4" fmla="*/ 3 w 12"/>
                <a:gd name="T5" fmla="*/ 1 h 56"/>
                <a:gd name="T6" fmla="*/ 3 w 12"/>
                <a:gd name="T7" fmla="*/ 0 h 56"/>
                <a:gd name="T8" fmla="*/ 2 w 12"/>
                <a:gd name="T9" fmla="*/ 0 h 56"/>
                <a:gd name="T10" fmla="*/ 2 w 12"/>
                <a:gd name="T11" fmla="*/ 0 h 56"/>
                <a:gd name="T12" fmla="*/ 1 w 12"/>
                <a:gd name="T13" fmla="*/ 0 h 56"/>
                <a:gd name="T14" fmla="*/ 1 w 12"/>
                <a:gd name="T15" fmla="*/ 1 h 56"/>
                <a:gd name="T16" fmla="*/ 0 w 12"/>
                <a:gd name="T17" fmla="*/ 1 h 56"/>
                <a:gd name="T18" fmla="*/ 0 w 12"/>
                <a:gd name="T19" fmla="*/ 12 h 56"/>
                <a:gd name="T20" fmla="*/ 0 w 12"/>
                <a:gd name="T21" fmla="*/ 13 h 56"/>
                <a:gd name="T22" fmla="*/ 1 w 12"/>
                <a:gd name="T23" fmla="*/ 13 h 56"/>
                <a:gd name="T24" fmla="*/ 1 w 12"/>
                <a:gd name="T25" fmla="*/ 14 h 56"/>
                <a:gd name="T26" fmla="*/ 2 w 12"/>
                <a:gd name="T27" fmla="*/ 14 h 56"/>
                <a:gd name="T28" fmla="*/ 2 w 12"/>
                <a:gd name="T29" fmla="*/ 14 h 56"/>
                <a:gd name="T30" fmla="*/ 3 w 12"/>
                <a:gd name="T31" fmla="*/ 14 h 56"/>
                <a:gd name="T32" fmla="*/ 3 w 12"/>
                <a:gd name="T33" fmla="*/ 13 h 56"/>
                <a:gd name="T34" fmla="*/ 3 w 12"/>
                <a:gd name="T35" fmla="*/ 13 h 56"/>
                <a:gd name="T36" fmla="*/ 3 w 12"/>
                <a:gd name="T37" fmla="*/ 2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6">
                  <a:moveTo>
                    <a:pt x="12" y="6"/>
                  </a:moveTo>
                  <a:lnTo>
                    <a:pt x="12" y="4"/>
                  </a:lnTo>
                  <a:lnTo>
                    <a:pt x="12" y="2"/>
                  </a:lnTo>
                  <a:lnTo>
                    <a:pt x="10" y="0"/>
                  </a:lnTo>
                  <a:lnTo>
                    <a:pt x="8" y="0"/>
                  </a:lnTo>
                  <a:lnTo>
                    <a:pt x="6" y="0"/>
                  </a:lnTo>
                  <a:lnTo>
                    <a:pt x="4" y="0"/>
                  </a:lnTo>
                  <a:lnTo>
                    <a:pt x="2" y="2"/>
                  </a:lnTo>
                  <a:lnTo>
                    <a:pt x="0" y="4"/>
                  </a:lnTo>
                  <a:lnTo>
                    <a:pt x="0" y="48"/>
                  </a:lnTo>
                  <a:lnTo>
                    <a:pt x="0" y="50"/>
                  </a:lnTo>
                  <a:lnTo>
                    <a:pt x="2" y="52"/>
                  </a:lnTo>
                  <a:lnTo>
                    <a:pt x="4" y="54"/>
                  </a:lnTo>
                  <a:lnTo>
                    <a:pt x="6" y="56"/>
                  </a:lnTo>
                  <a:lnTo>
                    <a:pt x="8" y="56"/>
                  </a:lnTo>
                  <a:lnTo>
                    <a:pt x="10" y="54"/>
                  </a:lnTo>
                  <a:lnTo>
                    <a:pt x="12" y="52"/>
                  </a:lnTo>
                  <a:lnTo>
                    <a:pt x="12" y="50"/>
                  </a:lnTo>
                  <a:lnTo>
                    <a:pt x="12" y="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5" name="Freeform 18">
              <a:extLst>
                <a:ext uri="{FF2B5EF4-FFF2-40B4-BE49-F238E27FC236}">
                  <a16:creationId xmlns:a16="http://schemas.microsoft.com/office/drawing/2014/main" xmlns="" id="{4BB2BB09-2886-4F25-1FCE-A5368B355894}"/>
                </a:ext>
              </a:extLst>
            </p:cNvPr>
            <p:cNvSpPr>
              <a:spLocks/>
            </p:cNvSpPr>
            <p:nvPr/>
          </p:nvSpPr>
          <p:spPr bwMode="auto">
            <a:xfrm>
              <a:off x="1548" y="2236"/>
              <a:ext cx="6" cy="27"/>
            </a:xfrm>
            <a:custGeom>
              <a:avLst/>
              <a:gdLst>
                <a:gd name="T0" fmla="*/ 3 w 12"/>
                <a:gd name="T1" fmla="*/ 1 h 55"/>
                <a:gd name="T2" fmla="*/ 3 w 12"/>
                <a:gd name="T3" fmla="*/ 0 h 55"/>
                <a:gd name="T4" fmla="*/ 3 w 12"/>
                <a:gd name="T5" fmla="*/ 0 h 55"/>
                <a:gd name="T6" fmla="*/ 3 w 12"/>
                <a:gd name="T7" fmla="*/ 0 h 55"/>
                <a:gd name="T8" fmla="*/ 2 w 12"/>
                <a:gd name="T9" fmla="*/ 0 h 55"/>
                <a:gd name="T10" fmla="*/ 2 w 12"/>
                <a:gd name="T11" fmla="*/ 0 h 55"/>
                <a:gd name="T12" fmla="*/ 1 w 12"/>
                <a:gd name="T13" fmla="*/ 0 h 55"/>
                <a:gd name="T14" fmla="*/ 1 w 12"/>
                <a:gd name="T15" fmla="*/ 0 h 55"/>
                <a:gd name="T16" fmla="*/ 0 w 12"/>
                <a:gd name="T17" fmla="*/ 0 h 55"/>
                <a:gd name="T18" fmla="*/ 0 w 12"/>
                <a:gd name="T19" fmla="*/ 11 h 55"/>
                <a:gd name="T20" fmla="*/ 0 w 12"/>
                <a:gd name="T21" fmla="*/ 12 h 55"/>
                <a:gd name="T22" fmla="*/ 1 w 12"/>
                <a:gd name="T23" fmla="*/ 12 h 55"/>
                <a:gd name="T24" fmla="*/ 1 w 12"/>
                <a:gd name="T25" fmla="*/ 13 h 55"/>
                <a:gd name="T26" fmla="*/ 2 w 12"/>
                <a:gd name="T27" fmla="*/ 13 h 55"/>
                <a:gd name="T28" fmla="*/ 2 w 12"/>
                <a:gd name="T29" fmla="*/ 13 h 55"/>
                <a:gd name="T30" fmla="*/ 3 w 12"/>
                <a:gd name="T31" fmla="*/ 13 h 55"/>
                <a:gd name="T32" fmla="*/ 3 w 12"/>
                <a:gd name="T33" fmla="*/ 12 h 55"/>
                <a:gd name="T34" fmla="*/ 3 w 12"/>
                <a:gd name="T35" fmla="*/ 12 h 55"/>
                <a:gd name="T36" fmla="*/ 3 w 12"/>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5"/>
                  </a:moveTo>
                  <a:lnTo>
                    <a:pt x="12" y="3"/>
                  </a:lnTo>
                  <a:lnTo>
                    <a:pt x="12" y="1"/>
                  </a:lnTo>
                  <a:lnTo>
                    <a:pt x="10" y="0"/>
                  </a:lnTo>
                  <a:lnTo>
                    <a:pt x="8" y="0"/>
                  </a:lnTo>
                  <a:lnTo>
                    <a:pt x="6" y="0"/>
                  </a:lnTo>
                  <a:lnTo>
                    <a:pt x="4" y="0"/>
                  </a:lnTo>
                  <a:lnTo>
                    <a:pt x="2" y="1"/>
                  </a:lnTo>
                  <a:lnTo>
                    <a:pt x="0" y="3"/>
                  </a:lnTo>
                  <a:lnTo>
                    <a:pt x="0" y="47"/>
                  </a:lnTo>
                  <a:lnTo>
                    <a:pt x="0" y="49"/>
                  </a:lnTo>
                  <a:lnTo>
                    <a:pt x="2" y="51"/>
                  </a:lnTo>
                  <a:lnTo>
                    <a:pt x="4" y="53"/>
                  </a:lnTo>
                  <a:lnTo>
                    <a:pt x="6" y="55"/>
                  </a:lnTo>
                  <a:lnTo>
                    <a:pt x="8" y="55"/>
                  </a:lnTo>
                  <a:lnTo>
                    <a:pt x="10" y="53"/>
                  </a:lnTo>
                  <a:lnTo>
                    <a:pt x="12" y="51"/>
                  </a:lnTo>
                  <a:lnTo>
                    <a:pt x="12" y="49"/>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6" name="Freeform 19">
              <a:extLst>
                <a:ext uri="{FF2B5EF4-FFF2-40B4-BE49-F238E27FC236}">
                  <a16:creationId xmlns:a16="http://schemas.microsoft.com/office/drawing/2014/main" xmlns="" id="{3D346C55-89BC-4A81-5344-E3E4A710DD01}"/>
                </a:ext>
              </a:extLst>
            </p:cNvPr>
            <p:cNvSpPr>
              <a:spLocks/>
            </p:cNvSpPr>
            <p:nvPr/>
          </p:nvSpPr>
          <p:spPr bwMode="auto">
            <a:xfrm>
              <a:off x="1548" y="2274"/>
              <a:ext cx="6" cy="28"/>
            </a:xfrm>
            <a:custGeom>
              <a:avLst/>
              <a:gdLst>
                <a:gd name="T0" fmla="*/ 3 w 12"/>
                <a:gd name="T1" fmla="*/ 2 h 55"/>
                <a:gd name="T2" fmla="*/ 3 w 12"/>
                <a:gd name="T3" fmla="*/ 1 h 55"/>
                <a:gd name="T4" fmla="*/ 3 w 12"/>
                <a:gd name="T5" fmla="*/ 1 h 55"/>
                <a:gd name="T6" fmla="*/ 3 w 12"/>
                <a:gd name="T7" fmla="*/ 0 h 55"/>
                <a:gd name="T8" fmla="*/ 2 w 12"/>
                <a:gd name="T9" fmla="*/ 0 h 55"/>
                <a:gd name="T10" fmla="*/ 2 w 12"/>
                <a:gd name="T11" fmla="*/ 0 h 55"/>
                <a:gd name="T12" fmla="*/ 1 w 12"/>
                <a:gd name="T13" fmla="*/ 0 h 55"/>
                <a:gd name="T14" fmla="*/ 1 w 12"/>
                <a:gd name="T15" fmla="*/ 1 h 55"/>
                <a:gd name="T16" fmla="*/ 0 w 12"/>
                <a:gd name="T17" fmla="*/ 1 h 55"/>
                <a:gd name="T18" fmla="*/ 0 w 12"/>
                <a:gd name="T19" fmla="*/ 12 h 55"/>
                <a:gd name="T20" fmla="*/ 0 w 12"/>
                <a:gd name="T21" fmla="*/ 13 h 55"/>
                <a:gd name="T22" fmla="*/ 1 w 12"/>
                <a:gd name="T23" fmla="*/ 13 h 55"/>
                <a:gd name="T24" fmla="*/ 1 w 12"/>
                <a:gd name="T25" fmla="*/ 14 h 55"/>
                <a:gd name="T26" fmla="*/ 2 w 12"/>
                <a:gd name="T27" fmla="*/ 14 h 55"/>
                <a:gd name="T28" fmla="*/ 2 w 12"/>
                <a:gd name="T29" fmla="*/ 14 h 55"/>
                <a:gd name="T30" fmla="*/ 3 w 12"/>
                <a:gd name="T31" fmla="*/ 14 h 55"/>
                <a:gd name="T32" fmla="*/ 3 w 12"/>
                <a:gd name="T33" fmla="*/ 13 h 55"/>
                <a:gd name="T34" fmla="*/ 3 w 12"/>
                <a:gd name="T35" fmla="*/ 13 h 55"/>
                <a:gd name="T36" fmla="*/ 3 w 12"/>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5"/>
                  </a:moveTo>
                  <a:lnTo>
                    <a:pt x="12" y="4"/>
                  </a:lnTo>
                  <a:lnTo>
                    <a:pt x="12" y="2"/>
                  </a:lnTo>
                  <a:lnTo>
                    <a:pt x="10" y="0"/>
                  </a:lnTo>
                  <a:lnTo>
                    <a:pt x="8" y="0"/>
                  </a:lnTo>
                  <a:lnTo>
                    <a:pt x="6" y="0"/>
                  </a:lnTo>
                  <a:lnTo>
                    <a:pt x="4" y="0"/>
                  </a:lnTo>
                  <a:lnTo>
                    <a:pt x="2" y="2"/>
                  </a:lnTo>
                  <a:lnTo>
                    <a:pt x="0" y="4"/>
                  </a:lnTo>
                  <a:lnTo>
                    <a:pt x="0" y="48"/>
                  </a:lnTo>
                  <a:lnTo>
                    <a:pt x="0" y="50"/>
                  </a:lnTo>
                  <a:lnTo>
                    <a:pt x="2" y="52"/>
                  </a:lnTo>
                  <a:lnTo>
                    <a:pt x="4" y="53"/>
                  </a:lnTo>
                  <a:lnTo>
                    <a:pt x="6" y="55"/>
                  </a:lnTo>
                  <a:lnTo>
                    <a:pt x="8" y="55"/>
                  </a:lnTo>
                  <a:lnTo>
                    <a:pt x="10" y="53"/>
                  </a:lnTo>
                  <a:lnTo>
                    <a:pt x="12" y="52"/>
                  </a:lnTo>
                  <a:lnTo>
                    <a:pt x="12" y="50"/>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7" name="Freeform 20">
              <a:extLst>
                <a:ext uri="{FF2B5EF4-FFF2-40B4-BE49-F238E27FC236}">
                  <a16:creationId xmlns:a16="http://schemas.microsoft.com/office/drawing/2014/main" xmlns="" id="{6B4C57BD-8B2B-3CFA-0AD7-ECA826F44BBD}"/>
                </a:ext>
              </a:extLst>
            </p:cNvPr>
            <p:cNvSpPr>
              <a:spLocks/>
            </p:cNvSpPr>
            <p:nvPr/>
          </p:nvSpPr>
          <p:spPr bwMode="auto">
            <a:xfrm>
              <a:off x="1548" y="2313"/>
              <a:ext cx="6" cy="28"/>
            </a:xfrm>
            <a:custGeom>
              <a:avLst/>
              <a:gdLst>
                <a:gd name="T0" fmla="*/ 3 w 12"/>
                <a:gd name="T1" fmla="*/ 2 h 56"/>
                <a:gd name="T2" fmla="*/ 3 w 12"/>
                <a:gd name="T3" fmla="*/ 1 h 56"/>
                <a:gd name="T4" fmla="*/ 3 w 12"/>
                <a:gd name="T5" fmla="*/ 1 h 56"/>
                <a:gd name="T6" fmla="*/ 3 w 12"/>
                <a:gd name="T7" fmla="*/ 0 h 56"/>
                <a:gd name="T8" fmla="*/ 2 w 12"/>
                <a:gd name="T9" fmla="*/ 0 h 56"/>
                <a:gd name="T10" fmla="*/ 2 w 12"/>
                <a:gd name="T11" fmla="*/ 0 h 56"/>
                <a:gd name="T12" fmla="*/ 1 w 12"/>
                <a:gd name="T13" fmla="*/ 0 h 56"/>
                <a:gd name="T14" fmla="*/ 1 w 12"/>
                <a:gd name="T15" fmla="*/ 1 h 56"/>
                <a:gd name="T16" fmla="*/ 0 w 12"/>
                <a:gd name="T17" fmla="*/ 1 h 56"/>
                <a:gd name="T18" fmla="*/ 0 w 12"/>
                <a:gd name="T19" fmla="*/ 12 h 56"/>
                <a:gd name="T20" fmla="*/ 0 w 12"/>
                <a:gd name="T21" fmla="*/ 13 h 56"/>
                <a:gd name="T22" fmla="*/ 1 w 12"/>
                <a:gd name="T23" fmla="*/ 13 h 56"/>
                <a:gd name="T24" fmla="*/ 1 w 12"/>
                <a:gd name="T25" fmla="*/ 14 h 56"/>
                <a:gd name="T26" fmla="*/ 2 w 12"/>
                <a:gd name="T27" fmla="*/ 14 h 56"/>
                <a:gd name="T28" fmla="*/ 2 w 12"/>
                <a:gd name="T29" fmla="*/ 14 h 56"/>
                <a:gd name="T30" fmla="*/ 3 w 12"/>
                <a:gd name="T31" fmla="*/ 14 h 56"/>
                <a:gd name="T32" fmla="*/ 3 w 12"/>
                <a:gd name="T33" fmla="*/ 13 h 56"/>
                <a:gd name="T34" fmla="*/ 3 w 12"/>
                <a:gd name="T35" fmla="*/ 13 h 56"/>
                <a:gd name="T36" fmla="*/ 3 w 12"/>
                <a:gd name="T37" fmla="*/ 2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6">
                  <a:moveTo>
                    <a:pt x="12" y="6"/>
                  </a:moveTo>
                  <a:lnTo>
                    <a:pt x="12" y="4"/>
                  </a:lnTo>
                  <a:lnTo>
                    <a:pt x="12" y="2"/>
                  </a:lnTo>
                  <a:lnTo>
                    <a:pt x="10" y="0"/>
                  </a:lnTo>
                  <a:lnTo>
                    <a:pt x="8" y="0"/>
                  </a:lnTo>
                  <a:lnTo>
                    <a:pt x="6" y="0"/>
                  </a:lnTo>
                  <a:lnTo>
                    <a:pt x="4" y="0"/>
                  </a:lnTo>
                  <a:lnTo>
                    <a:pt x="2" y="2"/>
                  </a:lnTo>
                  <a:lnTo>
                    <a:pt x="0" y="4"/>
                  </a:lnTo>
                  <a:lnTo>
                    <a:pt x="0" y="48"/>
                  </a:lnTo>
                  <a:lnTo>
                    <a:pt x="0" y="50"/>
                  </a:lnTo>
                  <a:lnTo>
                    <a:pt x="2" y="52"/>
                  </a:lnTo>
                  <a:lnTo>
                    <a:pt x="4" y="54"/>
                  </a:lnTo>
                  <a:lnTo>
                    <a:pt x="6" y="56"/>
                  </a:lnTo>
                  <a:lnTo>
                    <a:pt x="8" y="56"/>
                  </a:lnTo>
                  <a:lnTo>
                    <a:pt x="10" y="54"/>
                  </a:lnTo>
                  <a:lnTo>
                    <a:pt x="12" y="52"/>
                  </a:lnTo>
                  <a:lnTo>
                    <a:pt x="12" y="50"/>
                  </a:lnTo>
                  <a:lnTo>
                    <a:pt x="12" y="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8" name="Freeform 21">
              <a:extLst>
                <a:ext uri="{FF2B5EF4-FFF2-40B4-BE49-F238E27FC236}">
                  <a16:creationId xmlns:a16="http://schemas.microsoft.com/office/drawing/2014/main" xmlns="" id="{D88F52E1-8A63-93A9-2F64-1B557296FC01}"/>
                </a:ext>
              </a:extLst>
            </p:cNvPr>
            <p:cNvSpPr>
              <a:spLocks/>
            </p:cNvSpPr>
            <p:nvPr/>
          </p:nvSpPr>
          <p:spPr bwMode="auto">
            <a:xfrm>
              <a:off x="1548" y="2352"/>
              <a:ext cx="6" cy="27"/>
            </a:xfrm>
            <a:custGeom>
              <a:avLst/>
              <a:gdLst>
                <a:gd name="T0" fmla="*/ 3 w 12"/>
                <a:gd name="T1" fmla="*/ 1 h 55"/>
                <a:gd name="T2" fmla="*/ 3 w 12"/>
                <a:gd name="T3" fmla="*/ 0 h 55"/>
                <a:gd name="T4" fmla="*/ 3 w 12"/>
                <a:gd name="T5" fmla="*/ 0 h 55"/>
                <a:gd name="T6" fmla="*/ 3 w 12"/>
                <a:gd name="T7" fmla="*/ 0 h 55"/>
                <a:gd name="T8" fmla="*/ 2 w 12"/>
                <a:gd name="T9" fmla="*/ 0 h 55"/>
                <a:gd name="T10" fmla="*/ 2 w 12"/>
                <a:gd name="T11" fmla="*/ 0 h 55"/>
                <a:gd name="T12" fmla="*/ 1 w 12"/>
                <a:gd name="T13" fmla="*/ 0 h 55"/>
                <a:gd name="T14" fmla="*/ 1 w 12"/>
                <a:gd name="T15" fmla="*/ 0 h 55"/>
                <a:gd name="T16" fmla="*/ 0 w 12"/>
                <a:gd name="T17" fmla="*/ 0 h 55"/>
                <a:gd name="T18" fmla="*/ 0 w 12"/>
                <a:gd name="T19" fmla="*/ 11 h 55"/>
                <a:gd name="T20" fmla="*/ 0 w 12"/>
                <a:gd name="T21" fmla="*/ 12 h 55"/>
                <a:gd name="T22" fmla="*/ 1 w 12"/>
                <a:gd name="T23" fmla="*/ 12 h 55"/>
                <a:gd name="T24" fmla="*/ 1 w 12"/>
                <a:gd name="T25" fmla="*/ 13 h 55"/>
                <a:gd name="T26" fmla="*/ 2 w 12"/>
                <a:gd name="T27" fmla="*/ 13 h 55"/>
                <a:gd name="T28" fmla="*/ 2 w 12"/>
                <a:gd name="T29" fmla="*/ 13 h 55"/>
                <a:gd name="T30" fmla="*/ 3 w 12"/>
                <a:gd name="T31" fmla="*/ 13 h 55"/>
                <a:gd name="T32" fmla="*/ 3 w 12"/>
                <a:gd name="T33" fmla="*/ 12 h 55"/>
                <a:gd name="T34" fmla="*/ 3 w 12"/>
                <a:gd name="T35" fmla="*/ 12 h 55"/>
                <a:gd name="T36" fmla="*/ 3 w 12"/>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5"/>
                  </a:moveTo>
                  <a:lnTo>
                    <a:pt x="12" y="3"/>
                  </a:lnTo>
                  <a:lnTo>
                    <a:pt x="12" y="1"/>
                  </a:lnTo>
                  <a:lnTo>
                    <a:pt x="10" y="0"/>
                  </a:lnTo>
                  <a:lnTo>
                    <a:pt x="8" y="0"/>
                  </a:lnTo>
                  <a:lnTo>
                    <a:pt x="6" y="0"/>
                  </a:lnTo>
                  <a:lnTo>
                    <a:pt x="4" y="0"/>
                  </a:lnTo>
                  <a:lnTo>
                    <a:pt x="2" y="1"/>
                  </a:lnTo>
                  <a:lnTo>
                    <a:pt x="0" y="3"/>
                  </a:lnTo>
                  <a:lnTo>
                    <a:pt x="0" y="47"/>
                  </a:lnTo>
                  <a:lnTo>
                    <a:pt x="0" y="49"/>
                  </a:lnTo>
                  <a:lnTo>
                    <a:pt x="2" y="51"/>
                  </a:lnTo>
                  <a:lnTo>
                    <a:pt x="4" y="53"/>
                  </a:lnTo>
                  <a:lnTo>
                    <a:pt x="6" y="55"/>
                  </a:lnTo>
                  <a:lnTo>
                    <a:pt x="8" y="55"/>
                  </a:lnTo>
                  <a:lnTo>
                    <a:pt x="10" y="53"/>
                  </a:lnTo>
                  <a:lnTo>
                    <a:pt x="12" y="51"/>
                  </a:lnTo>
                  <a:lnTo>
                    <a:pt x="12" y="49"/>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9" name="Freeform 22">
              <a:extLst>
                <a:ext uri="{FF2B5EF4-FFF2-40B4-BE49-F238E27FC236}">
                  <a16:creationId xmlns:a16="http://schemas.microsoft.com/office/drawing/2014/main" xmlns="" id="{62C0C456-547F-A62D-9836-FA0C7E354E22}"/>
                </a:ext>
              </a:extLst>
            </p:cNvPr>
            <p:cNvSpPr>
              <a:spLocks/>
            </p:cNvSpPr>
            <p:nvPr/>
          </p:nvSpPr>
          <p:spPr bwMode="auto">
            <a:xfrm>
              <a:off x="1548" y="2390"/>
              <a:ext cx="6" cy="28"/>
            </a:xfrm>
            <a:custGeom>
              <a:avLst/>
              <a:gdLst>
                <a:gd name="T0" fmla="*/ 3 w 12"/>
                <a:gd name="T1" fmla="*/ 2 h 55"/>
                <a:gd name="T2" fmla="*/ 3 w 12"/>
                <a:gd name="T3" fmla="*/ 1 h 55"/>
                <a:gd name="T4" fmla="*/ 3 w 12"/>
                <a:gd name="T5" fmla="*/ 1 h 55"/>
                <a:gd name="T6" fmla="*/ 3 w 12"/>
                <a:gd name="T7" fmla="*/ 0 h 55"/>
                <a:gd name="T8" fmla="*/ 2 w 12"/>
                <a:gd name="T9" fmla="*/ 0 h 55"/>
                <a:gd name="T10" fmla="*/ 2 w 12"/>
                <a:gd name="T11" fmla="*/ 0 h 55"/>
                <a:gd name="T12" fmla="*/ 1 w 12"/>
                <a:gd name="T13" fmla="*/ 0 h 55"/>
                <a:gd name="T14" fmla="*/ 1 w 12"/>
                <a:gd name="T15" fmla="*/ 1 h 55"/>
                <a:gd name="T16" fmla="*/ 0 w 12"/>
                <a:gd name="T17" fmla="*/ 1 h 55"/>
                <a:gd name="T18" fmla="*/ 0 w 12"/>
                <a:gd name="T19" fmla="*/ 12 h 55"/>
                <a:gd name="T20" fmla="*/ 0 w 12"/>
                <a:gd name="T21" fmla="*/ 13 h 55"/>
                <a:gd name="T22" fmla="*/ 1 w 12"/>
                <a:gd name="T23" fmla="*/ 13 h 55"/>
                <a:gd name="T24" fmla="*/ 1 w 12"/>
                <a:gd name="T25" fmla="*/ 14 h 55"/>
                <a:gd name="T26" fmla="*/ 2 w 12"/>
                <a:gd name="T27" fmla="*/ 14 h 55"/>
                <a:gd name="T28" fmla="*/ 2 w 12"/>
                <a:gd name="T29" fmla="*/ 14 h 55"/>
                <a:gd name="T30" fmla="*/ 3 w 12"/>
                <a:gd name="T31" fmla="*/ 14 h 55"/>
                <a:gd name="T32" fmla="*/ 3 w 12"/>
                <a:gd name="T33" fmla="*/ 13 h 55"/>
                <a:gd name="T34" fmla="*/ 3 w 12"/>
                <a:gd name="T35" fmla="*/ 13 h 55"/>
                <a:gd name="T36" fmla="*/ 3 w 12"/>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5"/>
                  </a:moveTo>
                  <a:lnTo>
                    <a:pt x="12" y="4"/>
                  </a:lnTo>
                  <a:lnTo>
                    <a:pt x="12" y="2"/>
                  </a:lnTo>
                  <a:lnTo>
                    <a:pt x="10" y="0"/>
                  </a:lnTo>
                  <a:lnTo>
                    <a:pt x="8" y="0"/>
                  </a:lnTo>
                  <a:lnTo>
                    <a:pt x="6" y="0"/>
                  </a:lnTo>
                  <a:lnTo>
                    <a:pt x="4" y="0"/>
                  </a:lnTo>
                  <a:lnTo>
                    <a:pt x="2" y="2"/>
                  </a:lnTo>
                  <a:lnTo>
                    <a:pt x="0" y="4"/>
                  </a:lnTo>
                  <a:lnTo>
                    <a:pt x="0" y="48"/>
                  </a:lnTo>
                  <a:lnTo>
                    <a:pt x="0" y="50"/>
                  </a:lnTo>
                  <a:lnTo>
                    <a:pt x="2" y="52"/>
                  </a:lnTo>
                  <a:lnTo>
                    <a:pt x="4" y="53"/>
                  </a:lnTo>
                  <a:lnTo>
                    <a:pt x="6" y="55"/>
                  </a:lnTo>
                  <a:lnTo>
                    <a:pt x="8" y="55"/>
                  </a:lnTo>
                  <a:lnTo>
                    <a:pt x="10" y="53"/>
                  </a:lnTo>
                  <a:lnTo>
                    <a:pt x="12" y="52"/>
                  </a:lnTo>
                  <a:lnTo>
                    <a:pt x="12" y="50"/>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600" name="Freeform 23">
              <a:extLst>
                <a:ext uri="{FF2B5EF4-FFF2-40B4-BE49-F238E27FC236}">
                  <a16:creationId xmlns:a16="http://schemas.microsoft.com/office/drawing/2014/main" xmlns="" id="{9FD38251-E383-A948-25DA-E73D51DB3CA3}"/>
                </a:ext>
              </a:extLst>
            </p:cNvPr>
            <p:cNvSpPr>
              <a:spLocks/>
            </p:cNvSpPr>
            <p:nvPr/>
          </p:nvSpPr>
          <p:spPr bwMode="auto">
            <a:xfrm>
              <a:off x="1548" y="2429"/>
              <a:ext cx="6" cy="28"/>
            </a:xfrm>
            <a:custGeom>
              <a:avLst/>
              <a:gdLst>
                <a:gd name="T0" fmla="*/ 3 w 12"/>
                <a:gd name="T1" fmla="*/ 2 h 56"/>
                <a:gd name="T2" fmla="*/ 3 w 12"/>
                <a:gd name="T3" fmla="*/ 1 h 56"/>
                <a:gd name="T4" fmla="*/ 3 w 12"/>
                <a:gd name="T5" fmla="*/ 1 h 56"/>
                <a:gd name="T6" fmla="*/ 3 w 12"/>
                <a:gd name="T7" fmla="*/ 0 h 56"/>
                <a:gd name="T8" fmla="*/ 2 w 12"/>
                <a:gd name="T9" fmla="*/ 0 h 56"/>
                <a:gd name="T10" fmla="*/ 2 w 12"/>
                <a:gd name="T11" fmla="*/ 0 h 56"/>
                <a:gd name="T12" fmla="*/ 1 w 12"/>
                <a:gd name="T13" fmla="*/ 0 h 56"/>
                <a:gd name="T14" fmla="*/ 1 w 12"/>
                <a:gd name="T15" fmla="*/ 1 h 56"/>
                <a:gd name="T16" fmla="*/ 0 w 12"/>
                <a:gd name="T17" fmla="*/ 1 h 56"/>
                <a:gd name="T18" fmla="*/ 0 w 12"/>
                <a:gd name="T19" fmla="*/ 12 h 56"/>
                <a:gd name="T20" fmla="*/ 0 w 12"/>
                <a:gd name="T21" fmla="*/ 13 h 56"/>
                <a:gd name="T22" fmla="*/ 1 w 12"/>
                <a:gd name="T23" fmla="*/ 13 h 56"/>
                <a:gd name="T24" fmla="*/ 1 w 12"/>
                <a:gd name="T25" fmla="*/ 14 h 56"/>
                <a:gd name="T26" fmla="*/ 2 w 12"/>
                <a:gd name="T27" fmla="*/ 14 h 56"/>
                <a:gd name="T28" fmla="*/ 2 w 12"/>
                <a:gd name="T29" fmla="*/ 14 h 56"/>
                <a:gd name="T30" fmla="*/ 3 w 12"/>
                <a:gd name="T31" fmla="*/ 14 h 56"/>
                <a:gd name="T32" fmla="*/ 3 w 12"/>
                <a:gd name="T33" fmla="*/ 13 h 56"/>
                <a:gd name="T34" fmla="*/ 3 w 12"/>
                <a:gd name="T35" fmla="*/ 13 h 56"/>
                <a:gd name="T36" fmla="*/ 3 w 12"/>
                <a:gd name="T37" fmla="*/ 2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6">
                  <a:moveTo>
                    <a:pt x="12" y="6"/>
                  </a:moveTo>
                  <a:lnTo>
                    <a:pt x="12" y="4"/>
                  </a:lnTo>
                  <a:lnTo>
                    <a:pt x="12" y="2"/>
                  </a:lnTo>
                  <a:lnTo>
                    <a:pt x="10" y="0"/>
                  </a:lnTo>
                  <a:lnTo>
                    <a:pt x="8" y="0"/>
                  </a:lnTo>
                  <a:lnTo>
                    <a:pt x="6" y="0"/>
                  </a:lnTo>
                  <a:lnTo>
                    <a:pt x="4" y="0"/>
                  </a:lnTo>
                  <a:lnTo>
                    <a:pt x="2" y="2"/>
                  </a:lnTo>
                  <a:lnTo>
                    <a:pt x="0" y="4"/>
                  </a:lnTo>
                  <a:lnTo>
                    <a:pt x="0" y="48"/>
                  </a:lnTo>
                  <a:lnTo>
                    <a:pt x="0" y="50"/>
                  </a:lnTo>
                  <a:lnTo>
                    <a:pt x="2" y="52"/>
                  </a:lnTo>
                  <a:lnTo>
                    <a:pt x="4" y="54"/>
                  </a:lnTo>
                  <a:lnTo>
                    <a:pt x="6" y="56"/>
                  </a:lnTo>
                  <a:lnTo>
                    <a:pt x="8" y="56"/>
                  </a:lnTo>
                  <a:lnTo>
                    <a:pt x="10" y="54"/>
                  </a:lnTo>
                  <a:lnTo>
                    <a:pt x="12" y="52"/>
                  </a:lnTo>
                  <a:lnTo>
                    <a:pt x="12" y="50"/>
                  </a:lnTo>
                  <a:lnTo>
                    <a:pt x="12" y="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601" name="Freeform 24">
              <a:extLst>
                <a:ext uri="{FF2B5EF4-FFF2-40B4-BE49-F238E27FC236}">
                  <a16:creationId xmlns:a16="http://schemas.microsoft.com/office/drawing/2014/main" xmlns="" id="{03E3E1F0-0BC9-8036-5AE9-FFBDD94ED33F}"/>
                </a:ext>
              </a:extLst>
            </p:cNvPr>
            <p:cNvSpPr>
              <a:spLocks/>
            </p:cNvSpPr>
            <p:nvPr/>
          </p:nvSpPr>
          <p:spPr bwMode="auto">
            <a:xfrm>
              <a:off x="1548" y="2468"/>
              <a:ext cx="6" cy="27"/>
            </a:xfrm>
            <a:custGeom>
              <a:avLst/>
              <a:gdLst>
                <a:gd name="T0" fmla="*/ 3 w 12"/>
                <a:gd name="T1" fmla="*/ 1 h 55"/>
                <a:gd name="T2" fmla="*/ 3 w 12"/>
                <a:gd name="T3" fmla="*/ 0 h 55"/>
                <a:gd name="T4" fmla="*/ 3 w 12"/>
                <a:gd name="T5" fmla="*/ 0 h 55"/>
                <a:gd name="T6" fmla="*/ 3 w 12"/>
                <a:gd name="T7" fmla="*/ 0 h 55"/>
                <a:gd name="T8" fmla="*/ 2 w 12"/>
                <a:gd name="T9" fmla="*/ 0 h 55"/>
                <a:gd name="T10" fmla="*/ 2 w 12"/>
                <a:gd name="T11" fmla="*/ 0 h 55"/>
                <a:gd name="T12" fmla="*/ 1 w 12"/>
                <a:gd name="T13" fmla="*/ 0 h 55"/>
                <a:gd name="T14" fmla="*/ 1 w 12"/>
                <a:gd name="T15" fmla="*/ 0 h 55"/>
                <a:gd name="T16" fmla="*/ 0 w 12"/>
                <a:gd name="T17" fmla="*/ 0 h 55"/>
                <a:gd name="T18" fmla="*/ 0 w 12"/>
                <a:gd name="T19" fmla="*/ 12 h 55"/>
                <a:gd name="T20" fmla="*/ 0 w 12"/>
                <a:gd name="T21" fmla="*/ 12 h 55"/>
                <a:gd name="T22" fmla="*/ 1 w 12"/>
                <a:gd name="T23" fmla="*/ 12 h 55"/>
                <a:gd name="T24" fmla="*/ 1 w 12"/>
                <a:gd name="T25" fmla="*/ 13 h 55"/>
                <a:gd name="T26" fmla="*/ 2 w 12"/>
                <a:gd name="T27" fmla="*/ 13 h 55"/>
                <a:gd name="T28" fmla="*/ 2 w 12"/>
                <a:gd name="T29" fmla="*/ 13 h 55"/>
                <a:gd name="T30" fmla="*/ 3 w 12"/>
                <a:gd name="T31" fmla="*/ 13 h 55"/>
                <a:gd name="T32" fmla="*/ 3 w 12"/>
                <a:gd name="T33" fmla="*/ 12 h 55"/>
                <a:gd name="T34" fmla="*/ 3 w 12"/>
                <a:gd name="T35" fmla="*/ 12 h 55"/>
                <a:gd name="T36" fmla="*/ 3 w 12"/>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55">
                  <a:moveTo>
                    <a:pt x="12" y="5"/>
                  </a:moveTo>
                  <a:lnTo>
                    <a:pt x="12" y="3"/>
                  </a:lnTo>
                  <a:lnTo>
                    <a:pt x="12" y="1"/>
                  </a:lnTo>
                  <a:lnTo>
                    <a:pt x="10" y="0"/>
                  </a:lnTo>
                  <a:lnTo>
                    <a:pt x="8" y="0"/>
                  </a:lnTo>
                  <a:lnTo>
                    <a:pt x="6" y="0"/>
                  </a:lnTo>
                  <a:lnTo>
                    <a:pt x="4" y="0"/>
                  </a:lnTo>
                  <a:lnTo>
                    <a:pt x="2" y="1"/>
                  </a:lnTo>
                  <a:lnTo>
                    <a:pt x="0" y="3"/>
                  </a:lnTo>
                  <a:lnTo>
                    <a:pt x="0" y="48"/>
                  </a:lnTo>
                  <a:lnTo>
                    <a:pt x="0" y="49"/>
                  </a:lnTo>
                  <a:lnTo>
                    <a:pt x="2" y="51"/>
                  </a:lnTo>
                  <a:lnTo>
                    <a:pt x="4" y="53"/>
                  </a:lnTo>
                  <a:lnTo>
                    <a:pt x="6" y="55"/>
                  </a:lnTo>
                  <a:lnTo>
                    <a:pt x="8" y="55"/>
                  </a:lnTo>
                  <a:lnTo>
                    <a:pt x="10" y="53"/>
                  </a:lnTo>
                  <a:lnTo>
                    <a:pt x="12" y="51"/>
                  </a:lnTo>
                  <a:lnTo>
                    <a:pt x="12" y="49"/>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602" name="Freeform 25">
              <a:extLst>
                <a:ext uri="{FF2B5EF4-FFF2-40B4-BE49-F238E27FC236}">
                  <a16:creationId xmlns:a16="http://schemas.microsoft.com/office/drawing/2014/main" xmlns="" id="{84E870EF-9DCD-7EE2-640F-B7DEE983B84E}"/>
                </a:ext>
              </a:extLst>
            </p:cNvPr>
            <p:cNvSpPr>
              <a:spLocks/>
            </p:cNvSpPr>
            <p:nvPr/>
          </p:nvSpPr>
          <p:spPr bwMode="auto">
            <a:xfrm>
              <a:off x="1548" y="2506"/>
              <a:ext cx="6" cy="20"/>
            </a:xfrm>
            <a:custGeom>
              <a:avLst/>
              <a:gdLst>
                <a:gd name="T0" fmla="*/ 3 w 12"/>
                <a:gd name="T1" fmla="*/ 2 h 39"/>
                <a:gd name="T2" fmla="*/ 3 w 12"/>
                <a:gd name="T3" fmla="*/ 1 h 39"/>
                <a:gd name="T4" fmla="*/ 3 w 12"/>
                <a:gd name="T5" fmla="*/ 1 h 39"/>
                <a:gd name="T6" fmla="*/ 3 w 12"/>
                <a:gd name="T7" fmla="*/ 0 h 39"/>
                <a:gd name="T8" fmla="*/ 2 w 12"/>
                <a:gd name="T9" fmla="*/ 0 h 39"/>
                <a:gd name="T10" fmla="*/ 2 w 12"/>
                <a:gd name="T11" fmla="*/ 0 h 39"/>
                <a:gd name="T12" fmla="*/ 1 w 12"/>
                <a:gd name="T13" fmla="*/ 0 h 39"/>
                <a:gd name="T14" fmla="*/ 1 w 12"/>
                <a:gd name="T15" fmla="*/ 1 h 39"/>
                <a:gd name="T16" fmla="*/ 0 w 12"/>
                <a:gd name="T17" fmla="*/ 1 h 39"/>
                <a:gd name="T18" fmla="*/ 0 w 12"/>
                <a:gd name="T19" fmla="*/ 9 h 39"/>
                <a:gd name="T20" fmla="*/ 0 w 12"/>
                <a:gd name="T21" fmla="*/ 9 h 39"/>
                <a:gd name="T22" fmla="*/ 1 w 12"/>
                <a:gd name="T23" fmla="*/ 9 h 39"/>
                <a:gd name="T24" fmla="*/ 1 w 12"/>
                <a:gd name="T25" fmla="*/ 10 h 39"/>
                <a:gd name="T26" fmla="*/ 2 w 12"/>
                <a:gd name="T27" fmla="*/ 10 h 39"/>
                <a:gd name="T28" fmla="*/ 2 w 12"/>
                <a:gd name="T29" fmla="*/ 10 h 39"/>
                <a:gd name="T30" fmla="*/ 2 w 12"/>
                <a:gd name="T31" fmla="*/ 10 h 39"/>
                <a:gd name="T32" fmla="*/ 3 w 12"/>
                <a:gd name="T33" fmla="*/ 9 h 39"/>
                <a:gd name="T34" fmla="*/ 3 w 12"/>
                <a:gd name="T35" fmla="*/ 9 h 39"/>
                <a:gd name="T36" fmla="*/ 3 w 12"/>
                <a:gd name="T37" fmla="*/ 2 h 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39">
                  <a:moveTo>
                    <a:pt x="12" y="5"/>
                  </a:moveTo>
                  <a:lnTo>
                    <a:pt x="12" y="4"/>
                  </a:lnTo>
                  <a:lnTo>
                    <a:pt x="12" y="2"/>
                  </a:lnTo>
                  <a:lnTo>
                    <a:pt x="10" y="0"/>
                  </a:lnTo>
                  <a:lnTo>
                    <a:pt x="8" y="0"/>
                  </a:lnTo>
                  <a:lnTo>
                    <a:pt x="6" y="0"/>
                  </a:lnTo>
                  <a:lnTo>
                    <a:pt x="4" y="0"/>
                  </a:lnTo>
                  <a:lnTo>
                    <a:pt x="2" y="2"/>
                  </a:lnTo>
                  <a:lnTo>
                    <a:pt x="0" y="4"/>
                  </a:lnTo>
                  <a:lnTo>
                    <a:pt x="0" y="33"/>
                  </a:lnTo>
                  <a:lnTo>
                    <a:pt x="2" y="35"/>
                  </a:lnTo>
                  <a:lnTo>
                    <a:pt x="4" y="37"/>
                  </a:lnTo>
                  <a:lnTo>
                    <a:pt x="6" y="39"/>
                  </a:lnTo>
                  <a:lnTo>
                    <a:pt x="8" y="37"/>
                  </a:lnTo>
                  <a:lnTo>
                    <a:pt x="10" y="35"/>
                  </a:lnTo>
                  <a:lnTo>
                    <a:pt x="12" y="35"/>
                  </a:lnTo>
                  <a:lnTo>
                    <a:pt x="12"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603" name="Freeform 26">
              <a:extLst>
                <a:ext uri="{FF2B5EF4-FFF2-40B4-BE49-F238E27FC236}">
                  <a16:creationId xmlns:a16="http://schemas.microsoft.com/office/drawing/2014/main" xmlns="" id="{9E519D7D-C444-95C8-0AB8-9506397A83EC}"/>
                </a:ext>
              </a:extLst>
            </p:cNvPr>
            <p:cNvSpPr>
              <a:spLocks/>
            </p:cNvSpPr>
            <p:nvPr/>
          </p:nvSpPr>
          <p:spPr bwMode="auto">
            <a:xfrm>
              <a:off x="1521" y="2521"/>
              <a:ext cx="59" cy="60"/>
            </a:xfrm>
            <a:custGeom>
              <a:avLst/>
              <a:gdLst>
                <a:gd name="T0" fmla="*/ 0 w 120"/>
                <a:gd name="T1" fmla="*/ 0 h 120"/>
                <a:gd name="T2" fmla="*/ 15 w 120"/>
                <a:gd name="T3" fmla="*/ 30 h 120"/>
                <a:gd name="T4" fmla="*/ 29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3560" name="Group 27">
            <a:extLst>
              <a:ext uri="{FF2B5EF4-FFF2-40B4-BE49-F238E27FC236}">
                <a16:creationId xmlns:a16="http://schemas.microsoft.com/office/drawing/2014/main" xmlns="" id="{C1E825A3-2F7C-12E2-41FC-E95BDA2A6BBB}"/>
              </a:ext>
            </a:extLst>
          </p:cNvPr>
          <p:cNvGrpSpPr>
            <a:grpSpLocks/>
          </p:cNvGrpSpPr>
          <p:nvPr/>
        </p:nvGrpSpPr>
        <p:grpSpPr bwMode="auto">
          <a:xfrm>
            <a:off x="5662613" y="4292600"/>
            <a:ext cx="95250" cy="793750"/>
            <a:chOff x="3731" y="2081"/>
            <a:chExt cx="60" cy="500"/>
          </a:xfrm>
        </p:grpSpPr>
        <p:sp>
          <p:nvSpPr>
            <p:cNvPr id="23578" name="Freeform 28">
              <a:extLst>
                <a:ext uri="{FF2B5EF4-FFF2-40B4-BE49-F238E27FC236}">
                  <a16:creationId xmlns:a16="http://schemas.microsoft.com/office/drawing/2014/main" xmlns="" id="{AB63CF89-2E08-D414-C67B-DA58BBB2D5FC}"/>
                </a:ext>
              </a:extLst>
            </p:cNvPr>
            <p:cNvSpPr>
              <a:spLocks/>
            </p:cNvSpPr>
            <p:nvPr/>
          </p:nvSpPr>
          <p:spPr bwMode="auto">
            <a:xfrm>
              <a:off x="3759" y="2081"/>
              <a:ext cx="5" cy="28"/>
            </a:xfrm>
            <a:custGeom>
              <a:avLst/>
              <a:gdLst>
                <a:gd name="T0" fmla="*/ 2 w 11"/>
                <a:gd name="T1" fmla="*/ 2 h 55"/>
                <a:gd name="T2" fmla="*/ 2 w 11"/>
                <a:gd name="T3" fmla="*/ 2 h 55"/>
                <a:gd name="T4" fmla="*/ 2 w 11"/>
                <a:gd name="T5" fmla="*/ 1 h 55"/>
                <a:gd name="T6" fmla="*/ 2 w 11"/>
                <a:gd name="T7" fmla="*/ 1 h 55"/>
                <a:gd name="T8" fmla="*/ 1 w 11"/>
                <a:gd name="T9" fmla="*/ 0 h 55"/>
                <a:gd name="T10" fmla="*/ 1 w 11"/>
                <a:gd name="T11" fmla="*/ 0 h 55"/>
                <a:gd name="T12" fmla="*/ 1 w 11"/>
                <a:gd name="T13" fmla="*/ 1 h 55"/>
                <a:gd name="T14" fmla="*/ 0 w 11"/>
                <a:gd name="T15" fmla="*/ 1 h 55"/>
                <a:gd name="T16" fmla="*/ 0 w 11"/>
                <a:gd name="T17" fmla="*/ 2 h 55"/>
                <a:gd name="T18" fmla="*/ 0 w 11"/>
                <a:gd name="T19" fmla="*/ 12 h 55"/>
                <a:gd name="T20" fmla="*/ 0 w 11"/>
                <a:gd name="T21" fmla="*/ 13 h 55"/>
                <a:gd name="T22" fmla="*/ 0 w 11"/>
                <a:gd name="T23" fmla="*/ 13 h 55"/>
                <a:gd name="T24" fmla="*/ 1 w 11"/>
                <a:gd name="T25" fmla="*/ 14 h 55"/>
                <a:gd name="T26" fmla="*/ 1 w 11"/>
                <a:gd name="T27" fmla="*/ 14 h 55"/>
                <a:gd name="T28" fmla="*/ 2 w 11"/>
                <a:gd name="T29" fmla="*/ 14 h 55"/>
                <a:gd name="T30" fmla="*/ 2 w 11"/>
                <a:gd name="T31" fmla="*/ 14 h 55"/>
                <a:gd name="T32" fmla="*/ 2 w 11"/>
                <a:gd name="T33" fmla="*/ 13 h 55"/>
                <a:gd name="T34" fmla="*/ 2 w 11"/>
                <a:gd name="T35" fmla="*/ 13 h 55"/>
                <a:gd name="T36" fmla="*/ 2 w 11"/>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8"/>
                  </a:moveTo>
                  <a:lnTo>
                    <a:pt x="11" y="6"/>
                  </a:lnTo>
                  <a:lnTo>
                    <a:pt x="9" y="4"/>
                  </a:lnTo>
                  <a:lnTo>
                    <a:pt x="8" y="2"/>
                  </a:lnTo>
                  <a:lnTo>
                    <a:pt x="6" y="0"/>
                  </a:lnTo>
                  <a:lnTo>
                    <a:pt x="4" y="2"/>
                  </a:lnTo>
                  <a:lnTo>
                    <a:pt x="2" y="4"/>
                  </a:lnTo>
                  <a:lnTo>
                    <a:pt x="0" y="6"/>
                  </a:lnTo>
                  <a:lnTo>
                    <a:pt x="0" y="48"/>
                  </a:lnTo>
                  <a:lnTo>
                    <a:pt x="0" y="50"/>
                  </a:lnTo>
                  <a:lnTo>
                    <a:pt x="2" y="52"/>
                  </a:lnTo>
                  <a:lnTo>
                    <a:pt x="4" y="54"/>
                  </a:lnTo>
                  <a:lnTo>
                    <a:pt x="6" y="55"/>
                  </a:lnTo>
                  <a:lnTo>
                    <a:pt x="8" y="55"/>
                  </a:lnTo>
                  <a:lnTo>
                    <a:pt x="9" y="54"/>
                  </a:lnTo>
                  <a:lnTo>
                    <a:pt x="11" y="52"/>
                  </a:lnTo>
                  <a:lnTo>
                    <a:pt x="11" y="50"/>
                  </a:lnTo>
                  <a:lnTo>
                    <a:pt x="11" y="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79" name="Freeform 29">
              <a:extLst>
                <a:ext uri="{FF2B5EF4-FFF2-40B4-BE49-F238E27FC236}">
                  <a16:creationId xmlns:a16="http://schemas.microsoft.com/office/drawing/2014/main" xmlns="" id="{72F30A36-8928-A614-FF47-AD48B4E1865F}"/>
                </a:ext>
              </a:extLst>
            </p:cNvPr>
            <p:cNvSpPr>
              <a:spLocks/>
            </p:cNvSpPr>
            <p:nvPr/>
          </p:nvSpPr>
          <p:spPr bwMode="auto">
            <a:xfrm>
              <a:off x="3759" y="2120"/>
              <a:ext cx="5" cy="27"/>
            </a:xfrm>
            <a:custGeom>
              <a:avLst/>
              <a:gdLst>
                <a:gd name="T0" fmla="*/ 2 w 11"/>
                <a:gd name="T1" fmla="*/ 1 h 55"/>
                <a:gd name="T2" fmla="*/ 2 w 11"/>
                <a:gd name="T3" fmla="*/ 0 h 55"/>
                <a:gd name="T4" fmla="*/ 2 w 11"/>
                <a:gd name="T5" fmla="*/ 0 h 55"/>
                <a:gd name="T6" fmla="*/ 2 w 11"/>
                <a:gd name="T7" fmla="*/ 0 h 55"/>
                <a:gd name="T8" fmla="*/ 2 w 11"/>
                <a:gd name="T9" fmla="*/ 0 h 55"/>
                <a:gd name="T10" fmla="*/ 1 w 11"/>
                <a:gd name="T11" fmla="*/ 0 h 55"/>
                <a:gd name="T12" fmla="*/ 1 w 11"/>
                <a:gd name="T13" fmla="*/ 0 h 55"/>
                <a:gd name="T14" fmla="*/ 0 w 11"/>
                <a:gd name="T15" fmla="*/ 0 h 55"/>
                <a:gd name="T16" fmla="*/ 0 w 11"/>
                <a:gd name="T17" fmla="*/ 0 h 55"/>
                <a:gd name="T18" fmla="*/ 0 w 11"/>
                <a:gd name="T19" fmla="*/ 11 h 55"/>
                <a:gd name="T20" fmla="*/ 0 w 11"/>
                <a:gd name="T21" fmla="*/ 12 h 55"/>
                <a:gd name="T22" fmla="*/ 0 w 11"/>
                <a:gd name="T23" fmla="*/ 12 h 55"/>
                <a:gd name="T24" fmla="*/ 1 w 11"/>
                <a:gd name="T25" fmla="*/ 13 h 55"/>
                <a:gd name="T26" fmla="*/ 1 w 11"/>
                <a:gd name="T27" fmla="*/ 13 h 55"/>
                <a:gd name="T28" fmla="*/ 2 w 11"/>
                <a:gd name="T29" fmla="*/ 13 h 55"/>
                <a:gd name="T30" fmla="*/ 2 w 11"/>
                <a:gd name="T31" fmla="*/ 13 h 55"/>
                <a:gd name="T32" fmla="*/ 2 w 11"/>
                <a:gd name="T33" fmla="*/ 12 h 55"/>
                <a:gd name="T34" fmla="*/ 2 w 11"/>
                <a:gd name="T35" fmla="*/ 12 h 55"/>
                <a:gd name="T36" fmla="*/ 2 w 11"/>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3"/>
                  </a:lnTo>
                  <a:lnTo>
                    <a:pt x="11" y="1"/>
                  </a:lnTo>
                  <a:lnTo>
                    <a:pt x="9" y="0"/>
                  </a:lnTo>
                  <a:lnTo>
                    <a:pt x="8" y="0"/>
                  </a:lnTo>
                  <a:lnTo>
                    <a:pt x="6" y="0"/>
                  </a:lnTo>
                  <a:lnTo>
                    <a:pt x="4" y="0"/>
                  </a:lnTo>
                  <a:lnTo>
                    <a:pt x="2" y="1"/>
                  </a:lnTo>
                  <a:lnTo>
                    <a:pt x="0" y="3"/>
                  </a:lnTo>
                  <a:lnTo>
                    <a:pt x="0" y="47"/>
                  </a:lnTo>
                  <a:lnTo>
                    <a:pt x="0" y="49"/>
                  </a:lnTo>
                  <a:lnTo>
                    <a:pt x="2" y="51"/>
                  </a:lnTo>
                  <a:lnTo>
                    <a:pt x="4" y="53"/>
                  </a:lnTo>
                  <a:lnTo>
                    <a:pt x="6" y="55"/>
                  </a:lnTo>
                  <a:lnTo>
                    <a:pt x="8" y="55"/>
                  </a:lnTo>
                  <a:lnTo>
                    <a:pt x="9" y="53"/>
                  </a:lnTo>
                  <a:lnTo>
                    <a:pt x="11" y="51"/>
                  </a:lnTo>
                  <a:lnTo>
                    <a:pt x="11" y="49"/>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0" name="Freeform 30">
              <a:extLst>
                <a:ext uri="{FF2B5EF4-FFF2-40B4-BE49-F238E27FC236}">
                  <a16:creationId xmlns:a16="http://schemas.microsoft.com/office/drawing/2014/main" xmlns="" id="{7B88EC27-B393-B8C8-E606-9B2FCDAEDE05}"/>
                </a:ext>
              </a:extLst>
            </p:cNvPr>
            <p:cNvSpPr>
              <a:spLocks/>
            </p:cNvSpPr>
            <p:nvPr/>
          </p:nvSpPr>
          <p:spPr bwMode="auto">
            <a:xfrm>
              <a:off x="3759" y="2158"/>
              <a:ext cx="5" cy="28"/>
            </a:xfrm>
            <a:custGeom>
              <a:avLst/>
              <a:gdLst>
                <a:gd name="T0" fmla="*/ 2 w 11"/>
                <a:gd name="T1" fmla="*/ 2 h 55"/>
                <a:gd name="T2" fmla="*/ 2 w 11"/>
                <a:gd name="T3" fmla="*/ 1 h 55"/>
                <a:gd name="T4" fmla="*/ 2 w 11"/>
                <a:gd name="T5" fmla="*/ 1 h 55"/>
                <a:gd name="T6" fmla="*/ 2 w 11"/>
                <a:gd name="T7" fmla="*/ 0 h 55"/>
                <a:gd name="T8" fmla="*/ 2 w 11"/>
                <a:gd name="T9" fmla="*/ 0 h 55"/>
                <a:gd name="T10" fmla="*/ 1 w 11"/>
                <a:gd name="T11" fmla="*/ 0 h 55"/>
                <a:gd name="T12" fmla="*/ 1 w 11"/>
                <a:gd name="T13" fmla="*/ 0 h 55"/>
                <a:gd name="T14" fmla="*/ 0 w 11"/>
                <a:gd name="T15" fmla="*/ 1 h 55"/>
                <a:gd name="T16" fmla="*/ 0 w 11"/>
                <a:gd name="T17" fmla="*/ 1 h 55"/>
                <a:gd name="T18" fmla="*/ 0 w 11"/>
                <a:gd name="T19" fmla="*/ 12 h 55"/>
                <a:gd name="T20" fmla="*/ 0 w 11"/>
                <a:gd name="T21" fmla="*/ 13 h 55"/>
                <a:gd name="T22" fmla="*/ 0 w 11"/>
                <a:gd name="T23" fmla="*/ 13 h 55"/>
                <a:gd name="T24" fmla="*/ 1 w 11"/>
                <a:gd name="T25" fmla="*/ 14 h 55"/>
                <a:gd name="T26" fmla="*/ 1 w 11"/>
                <a:gd name="T27" fmla="*/ 14 h 55"/>
                <a:gd name="T28" fmla="*/ 2 w 11"/>
                <a:gd name="T29" fmla="*/ 14 h 55"/>
                <a:gd name="T30" fmla="*/ 2 w 11"/>
                <a:gd name="T31" fmla="*/ 14 h 55"/>
                <a:gd name="T32" fmla="*/ 2 w 11"/>
                <a:gd name="T33" fmla="*/ 13 h 55"/>
                <a:gd name="T34" fmla="*/ 2 w 11"/>
                <a:gd name="T35" fmla="*/ 13 h 55"/>
                <a:gd name="T36" fmla="*/ 2 w 11"/>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4"/>
                  </a:lnTo>
                  <a:lnTo>
                    <a:pt x="11" y="2"/>
                  </a:lnTo>
                  <a:lnTo>
                    <a:pt x="9" y="0"/>
                  </a:lnTo>
                  <a:lnTo>
                    <a:pt x="8" y="0"/>
                  </a:lnTo>
                  <a:lnTo>
                    <a:pt x="6" y="0"/>
                  </a:lnTo>
                  <a:lnTo>
                    <a:pt x="4" y="0"/>
                  </a:lnTo>
                  <a:lnTo>
                    <a:pt x="2" y="2"/>
                  </a:lnTo>
                  <a:lnTo>
                    <a:pt x="0" y="4"/>
                  </a:lnTo>
                  <a:lnTo>
                    <a:pt x="0" y="48"/>
                  </a:lnTo>
                  <a:lnTo>
                    <a:pt x="0" y="50"/>
                  </a:lnTo>
                  <a:lnTo>
                    <a:pt x="2" y="51"/>
                  </a:lnTo>
                  <a:lnTo>
                    <a:pt x="4" y="53"/>
                  </a:lnTo>
                  <a:lnTo>
                    <a:pt x="6" y="55"/>
                  </a:lnTo>
                  <a:lnTo>
                    <a:pt x="8" y="55"/>
                  </a:lnTo>
                  <a:lnTo>
                    <a:pt x="9" y="53"/>
                  </a:lnTo>
                  <a:lnTo>
                    <a:pt x="11" y="51"/>
                  </a:lnTo>
                  <a:lnTo>
                    <a:pt x="11" y="50"/>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1" name="Freeform 31">
              <a:extLst>
                <a:ext uri="{FF2B5EF4-FFF2-40B4-BE49-F238E27FC236}">
                  <a16:creationId xmlns:a16="http://schemas.microsoft.com/office/drawing/2014/main" xmlns="" id="{267FF2C4-49B2-8918-D9C2-04F0F0A56ED4}"/>
                </a:ext>
              </a:extLst>
            </p:cNvPr>
            <p:cNvSpPr>
              <a:spLocks/>
            </p:cNvSpPr>
            <p:nvPr/>
          </p:nvSpPr>
          <p:spPr bwMode="auto">
            <a:xfrm>
              <a:off x="3759" y="2197"/>
              <a:ext cx="5" cy="28"/>
            </a:xfrm>
            <a:custGeom>
              <a:avLst/>
              <a:gdLst>
                <a:gd name="T0" fmla="*/ 2 w 11"/>
                <a:gd name="T1" fmla="*/ 2 h 56"/>
                <a:gd name="T2" fmla="*/ 2 w 11"/>
                <a:gd name="T3" fmla="*/ 1 h 56"/>
                <a:gd name="T4" fmla="*/ 2 w 11"/>
                <a:gd name="T5" fmla="*/ 1 h 56"/>
                <a:gd name="T6" fmla="*/ 2 w 11"/>
                <a:gd name="T7" fmla="*/ 0 h 56"/>
                <a:gd name="T8" fmla="*/ 2 w 11"/>
                <a:gd name="T9" fmla="*/ 0 h 56"/>
                <a:gd name="T10" fmla="*/ 1 w 11"/>
                <a:gd name="T11" fmla="*/ 0 h 56"/>
                <a:gd name="T12" fmla="*/ 1 w 11"/>
                <a:gd name="T13" fmla="*/ 0 h 56"/>
                <a:gd name="T14" fmla="*/ 0 w 11"/>
                <a:gd name="T15" fmla="*/ 1 h 56"/>
                <a:gd name="T16" fmla="*/ 0 w 11"/>
                <a:gd name="T17" fmla="*/ 1 h 56"/>
                <a:gd name="T18" fmla="*/ 0 w 11"/>
                <a:gd name="T19" fmla="*/ 12 h 56"/>
                <a:gd name="T20" fmla="*/ 0 w 11"/>
                <a:gd name="T21" fmla="*/ 13 h 56"/>
                <a:gd name="T22" fmla="*/ 0 w 11"/>
                <a:gd name="T23" fmla="*/ 13 h 56"/>
                <a:gd name="T24" fmla="*/ 1 w 11"/>
                <a:gd name="T25" fmla="*/ 14 h 56"/>
                <a:gd name="T26" fmla="*/ 1 w 11"/>
                <a:gd name="T27" fmla="*/ 14 h 56"/>
                <a:gd name="T28" fmla="*/ 2 w 11"/>
                <a:gd name="T29" fmla="*/ 14 h 56"/>
                <a:gd name="T30" fmla="*/ 2 w 11"/>
                <a:gd name="T31" fmla="*/ 14 h 56"/>
                <a:gd name="T32" fmla="*/ 2 w 11"/>
                <a:gd name="T33" fmla="*/ 13 h 56"/>
                <a:gd name="T34" fmla="*/ 2 w 11"/>
                <a:gd name="T35" fmla="*/ 13 h 56"/>
                <a:gd name="T36" fmla="*/ 2 w 11"/>
                <a:gd name="T37" fmla="*/ 2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6">
                  <a:moveTo>
                    <a:pt x="11" y="6"/>
                  </a:moveTo>
                  <a:lnTo>
                    <a:pt x="11" y="4"/>
                  </a:lnTo>
                  <a:lnTo>
                    <a:pt x="11" y="2"/>
                  </a:lnTo>
                  <a:lnTo>
                    <a:pt x="9" y="0"/>
                  </a:lnTo>
                  <a:lnTo>
                    <a:pt x="8" y="0"/>
                  </a:lnTo>
                  <a:lnTo>
                    <a:pt x="6" y="0"/>
                  </a:lnTo>
                  <a:lnTo>
                    <a:pt x="4" y="0"/>
                  </a:lnTo>
                  <a:lnTo>
                    <a:pt x="2" y="2"/>
                  </a:lnTo>
                  <a:lnTo>
                    <a:pt x="0" y="4"/>
                  </a:lnTo>
                  <a:lnTo>
                    <a:pt x="0" y="48"/>
                  </a:lnTo>
                  <a:lnTo>
                    <a:pt x="0" y="50"/>
                  </a:lnTo>
                  <a:lnTo>
                    <a:pt x="2" y="52"/>
                  </a:lnTo>
                  <a:lnTo>
                    <a:pt x="4" y="54"/>
                  </a:lnTo>
                  <a:lnTo>
                    <a:pt x="6" y="56"/>
                  </a:lnTo>
                  <a:lnTo>
                    <a:pt x="8" y="56"/>
                  </a:lnTo>
                  <a:lnTo>
                    <a:pt x="9" y="54"/>
                  </a:lnTo>
                  <a:lnTo>
                    <a:pt x="11" y="52"/>
                  </a:lnTo>
                  <a:lnTo>
                    <a:pt x="11" y="50"/>
                  </a:lnTo>
                  <a:lnTo>
                    <a:pt x="11" y="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2" name="Freeform 32">
              <a:extLst>
                <a:ext uri="{FF2B5EF4-FFF2-40B4-BE49-F238E27FC236}">
                  <a16:creationId xmlns:a16="http://schemas.microsoft.com/office/drawing/2014/main" xmlns="" id="{E3A2AC50-DE51-4F2D-0526-59D6D7DFDA1B}"/>
                </a:ext>
              </a:extLst>
            </p:cNvPr>
            <p:cNvSpPr>
              <a:spLocks/>
            </p:cNvSpPr>
            <p:nvPr/>
          </p:nvSpPr>
          <p:spPr bwMode="auto">
            <a:xfrm>
              <a:off x="3759" y="2236"/>
              <a:ext cx="5" cy="27"/>
            </a:xfrm>
            <a:custGeom>
              <a:avLst/>
              <a:gdLst>
                <a:gd name="T0" fmla="*/ 2 w 11"/>
                <a:gd name="T1" fmla="*/ 1 h 55"/>
                <a:gd name="T2" fmla="*/ 2 w 11"/>
                <a:gd name="T3" fmla="*/ 0 h 55"/>
                <a:gd name="T4" fmla="*/ 2 w 11"/>
                <a:gd name="T5" fmla="*/ 0 h 55"/>
                <a:gd name="T6" fmla="*/ 2 w 11"/>
                <a:gd name="T7" fmla="*/ 0 h 55"/>
                <a:gd name="T8" fmla="*/ 2 w 11"/>
                <a:gd name="T9" fmla="*/ 0 h 55"/>
                <a:gd name="T10" fmla="*/ 1 w 11"/>
                <a:gd name="T11" fmla="*/ 0 h 55"/>
                <a:gd name="T12" fmla="*/ 1 w 11"/>
                <a:gd name="T13" fmla="*/ 0 h 55"/>
                <a:gd name="T14" fmla="*/ 0 w 11"/>
                <a:gd name="T15" fmla="*/ 0 h 55"/>
                <a:gd name="T16" fmla="*/ 0 w 11"/>
                <a:gd name="T17" fmla="*/ 0 h 55"/>
                <a:gd name="T18" fmla="*/ 0 w 11"/>
                <a:gd name="T19" fmla="*/ 11 h 55"/>
                <a:gd name="T20" fmla="*/ 0 w 11"/>
                <a:gd name="T21" fmla="*/ 12 h 55"/>
                <a:gd name="T22" fmla="*/ 0 w 11"/>
                <a:gd name="T23" fmla="*/ 12 h 55"/>
                <a:gd name="T24" fmla="*/ 1 w 11"/>
                <a:gd name="T25" fmla="*/ 13 h 55"/>
                <a:gd name="T26" fmla="*/ 1 w 11"/>
                <a:gd name="T27" fmla="*/ 13 h 55"/>
                <a:gd name="T28" fmla="*/ 2 w 11"/>
                <a:gd name="T29" fmla="*/ 13 h 55"/>
                <a:gd name="T30" fmla="*/ 2 w 11"/>
                <a:gd name="T31" fmla="*/ 13 h 55"/>
                <a:gd name="T32" fmla="*/ 2 w 11"/>
                <a:gd name="T33" fmla="*/ 12 h 55"/>
                <a:gd name="T34" fmla="*/ 2 w 11"/>
                <a:gd name="T35" fmla="*/ 12 h 55"/>
                <a:gd name="T36" fmla="*/ 2 w 11"/>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3"/>
                  </a:lnTo>
                  <a:lnTo>
                    <a:pt x="11" y="1"/>
                  </a:lnTo>
                  <a:lnTo>
                    <a:pt x="9" y="0"/>
                  </a:lnTo>
                  <a:lnTo>
                    <a:pt x="8" y="0"/>
                  </a:lnTo>
                  <a:lnTo>
                    <a:pt x="6" y="0"/>
                  </a:lnTo>
                  <a:lnTo>
                    <a:pt x="4" y="0"/>
                  </a:lnTo>
                  <a:lnTo>
                    <a:pt x="2" y="1"/>
                  </a:lnTo>
                  <a:lnTo>
                    <a:pt x="0" y="3"/>
                  </a:lnTo>
                  <a:lnTo>
                    <a:pt x="0" y="47"/>
                  </a:lnTo>
                  <a:lnTo>
                    <a:pt x="0" y="49"/>
                  </a:lnTo>
                  <a:lnTo>
                    <a:pt x="2" y="51"/>
                  </a:lnTo>
                  <a:lnTo>
                    <a:pt x="4" y="53"/>
                  </a:lnTo>
                  <a:lnTo>
                    <a:pt x="6" y="55"/>
                  </a:lnTo>
                  <a:lnTo>
                    <a:pt x="8" y="55"/>
                  </a:lnTo>
                  <a:lnTo>
                    <a:pt x="9" y="53"/>
                  </a:lnTo>
                  <a:lnTo>
                    <a:pt x="11" y="51"/>
                  </a:lnTo>
                  <a:lnTo>
                    <a:pt x="11" y="49"/>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3" name="Freeform 33">
              <a:extLst>
                <a:ext uri="{FF2B5EF4-FFF2-40B4-BE49-F238E27FC236}">
                  <a16:creationId xmlns:a16="http://schemas.microsoft.com/office/drawing/2014/main" xmlns="" id="{1B0F2EEB-750E-8AE7-7B3C-B3536257396C}"/>
                </a:ext>
              </a:extLst>
            </p:cNvPr>
            <p:cNvSpPr>
              <a:spLocks/>
            </p:cNvSpPr>
            <p:nvPr/>
          </p:nvSpPr>
          <p:spPr bwMode="auto">
            <a:xfrm>
              <a:off x="3759" y="2274"/>
              <a:ext cx="5" cy="28"/>
            </a:xfrm>
            <a:custGeom>
              <a:avLst/>
              <a:gdLst>
                <a:gd name="T0" fmla="*/ 2 w 11"/>
                <a:gd name="T1" fmla="*/ 2 h 55"/>
                <a:gd name="T2" fmla="*/ 2 w 11"/>
                <a:gd name="T3" fmla="*/ 1 h 55"/>
                <a:gd name="T4" fmla="*/ 2 w 11"/>
                <a:gd name="T5" fmla="*/ 1 h 55"/>
                <a:gd name="T6" fmla="*/ 2 w 11"/>
                <a:gd name="T7" fmla="*/ 0 h 55"/>
                <a:gd name="T8" fmla="*/ 2 w 11"/>
                <a:gd name="T9" fmla="*/ 0 h 55"/>
                <a:gd name="T10" fmla="*/ 1 w 11"/>
                <a:gd name="T11" fmla="*/ 0 h 55"/>
                <a:gd name="T12" fmla="*/ 1 w 11"/>
                <a:gd name="T13" fmla="*/ 0 h 55"/>
                <a:gd name="T14" fmla="*/ 0 w 11"/>
                <a:gd name="T15" fmla="*/ 1 h 55"/>
                <a:gd name="T16" fmla="*/ 0 w 11"/>
                <a:gd name="T17" fmla="*/ 1 h 55"/>
                <a:gd name="T18" fmla="*/ 0 w 11"/>
                <a:gd name="T19" fmla="*/ 12 h 55"/>
                <a:gd name="T20" fmla="*/ 0 w 11"/>
                <a:gd name="T21" fmla="*/ 13 h 55"/>
                <a:gd name="T22" fmla="*/ 0 w 11"/>
                <a:gd name="T23" fmla="*/ 13 h 55"/>
                <a:gd name="T24" fmla="*/ 1 w 11"/>
                <a:gd name="T25" fmla="*/ 14 h 55"/>
                <a:gd name="T26" fmla="*/ 1 w 11"/>
                <a:gd name="T27" fmla="*/ 14 h 55"/>
                <a:gd name="T28" fmla="*/ 2 w 11"/>
                <a:gd name="T29" fmla="*/ 14 h 55"/>
                <a:gd name="T30" fmla="*/ 2 w 11"/>
                <a:gd name="T31" fmla="*/ 14 h 55"/>
                <a:gd name="T32" fmla="*/ 2 w 11"/>
                <a:gd name="T33" fmla="*/ 13 h 55"/>
                <a:gd name="T34" fmla="*/ 2 w 11"/>
                <a:gd name="T35" fmla="*/ 13 h 55"/>
                <a:gd name="T36" fmla="*/ 2 w 11"/>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4"/>
                  </a:lnTo>
                  <a:lnTo>
                    <a:pt x="11" y="2"/>
                  </a:lnTo>
                  <a:lnTo>
                    <a:pt x="9" y="0"/>
                  </a:lnTo>
                  <a:lnTo>
                    <a:pt x="8" y="0"/>
                  </a:lnTo>
                  <a:lnTo>
                    <a:pt x="6" y="0"/>
                  </a:lnTo>
                  <a:lnTo>
                    <a:pt x="4" y="0"/>
                  </a:lnTo>
                  <a:lnTo>
                    <a:pt x="2" y="2"/>
                  </a:lnTo>
                  <a:lnTo>
                    <a:pt x="0" y="4"/>
                  </a:lnTo>
                  <a:lnTo>
                    <a:pt x="0" y="48"/>
                  </a:lnTo>
                  <a:lnTo>
                    <a:pt x="0" y="50"/>
                  </a:lnTo>
                  <a:lnTo>
                    <a:pt x="2" y="52"/>
                  </a:lnTo>
                  <a:lnTo>
                    <a:pt x="4" y="53"/>
                  </a:lnTo>
                  <a:lnTo>
                    <a:pt x="6" y="55"/>
                  </a:lnTo>
                  <a:lnTo>
                    <a:pt x="8" y="55"/>
                  </a:lnTo>
                  <a:lnTo>
                    <a:pt x="9" y="53"/>
                  </a:lnTo>
                  <a:lnTo>
                    <a:pt x="11" y="52"/>
                  </a:lnTo>
                  <a:lnTo>
                    <a:pt x="11" y="50"/>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4" name="Freeform 34">
              <a:extLst>
                <a:ext uri="{FF2B5EF4-FFF2-40B4-BE49-F238E27FC236}">
                  <a16:creationId xmlns:a16="http://schemas.microsoft.com/office/drawing/2014/main" xmlns="" id="{5A284401-78D9-D69E-5FB7-37744C7E35F3}"/>
                </a:ext>
              </a:extLst>
            </p:cNvPr>
            <p:cNvSpPr>
              <a:spLocks/>
            </p:cNvSpPr>
            <p:nvPr/>
          </p:nvSpPr>
          <p:spPr bwMode="auto">
            <a:xfrm>
              <a:off x="3759" y="2313"/>
              <a:ext cx="5" cy="28"/>
            </a:xfrm>
            <a:custGeom>
              <a:avLst/>
              <a:gdLst>
                <a:gd name="T0" fmla="*/ 2 w 11"/>
                <a:gd name="T1" fmla="*/ 2 h 56"/>
                <a:gd name="T2" fmla="*/ 2 w 11"/>
                <a:gd name="T3" fmla="*/ 1 h 56"/>
                <a:gd name="T4" fmla="*/ 2 w 11"/>
                <a:gd name="T5" fmla="*/ 1 h 56"/>
                <a:gd name="T6" fmla="*/ 2 w 11"/>
                <a:gd name="T7" fmla="*/ 0 h 56"/>
                <a:gd name="T8" fmla="*/ 2 w 11"/>
                <a:gd name="T9" fmla="*/ 0 h 56"/>
                <a:gd name="T10" fmla="*/ 1 w 11"/>
                <a:gd name="T11" fmla="*/ 0 h 56"/>
                <a:gd name="T12" fmla="*/ 1 w 11"/>
                <a:gd name="T13" fmla="*/ 0 h 56"/>
                <a:gd name="T14" fmla="*/ 0 w 11"/>
                <a:gd name="T15" fmla="*/ 1 h 56"/>
                <a:gd name="T16" fmla="*/ 0 w 11"/>
                <a:gd name="T17" fmla="*/ 1 h 56"/>
                <a:gd name="T18" fmla="*/ 0 w 11"/>
                <a:gd name="T19" fmla="*/ 12 h 56"/>
                <a:gd name="T20" fmla="*/ 0 w 11"/>
                <a:gd name="T21" fmla="*/ 13 h 56"/>
                <a:gd name="T22" fmla="*/ 0 w 11"/>
                <a:gd name="T23" fmla="*/ 13 h 56"/>
                <a:gd name="T24" fmla="*/ 1 w 11"/>
                <a:gd name="T25" fmla="*/ 14 h 56"/>
                <a:gd name="T26" fmla="*/ 1 w 11"/>
                <a:gd name="T27" fmla="*/ 14 h 56"/>
                <a:gd name="T28" fmla="*/ 2 w 11"/>
                <a:gd name="T29" fmla="*/ 14 h 56"/>
                <a:gd name="T30" fmla="*/ 2 w 11"/>
                <a:gd name="T31" fmla="*/ 14 h 56"/>
                <a:gd name="T32" fmla="*/ 2 w 11"/>
                <a:gd name="T33" fmla="*/ 13 h 56"/>
                <a:gd name="T34" fmla="*/ 2 w 11"/>
                <a:gd name="T35" fmla="*/ 13 h 56"/>
                <a:gd name="T36" fmla="*/ 2 w 11"/>
                <a:gd name="T37" fmla="*/ 2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6">
                  <a:moveTo>
                    <a:pt x="11" y="6"/>
                  </a:moveTo>
                  <a:lnTo>
                    <a:pt x="11" y="4"/>
                  </a:lnTo>
                  <a:lnTo>
                    <a:pt x="11" y="2"/>
                  </a:lnTo>
                  <a:lnTo>
                    <a:pt x="9" y="0"/>
                  </a:lnTo>
                  <a:lnTo>
                    <a:pt x="8" y="0"/>
                  </a:lnTo>
                  <a:lnTo>
                    <a:pt x="6" y="0"/>
                  </a:lnTo>
                  <a:lnTo>
                    <a:pt x="4" y="0"/>
                  </a:lnTo>
                  <a:lnTo>
                    <a:pt x="2" y="2"/>
                  </a:lnTo>
                  <a:lnTo>
                    <a:pt x="0" y="4"/>
                  </a:lnTo>
                  <a:lnTo>
                    <a:pt x="0" y="48"/>
                  </a:lnTo>
                  <a:lnTo>
                    <a:pt x="0" y="50"/>
                  </a:lnTo>
                  <a:lnTo>
                    <a:pt x="2" y="52"/>
                  </a:lnTo>
                  <a:lnTo>
                    <a:pt x="4" y="54"/>
                  </a:lnTo>
                  <a:lnTo>
                    <a:pt x="6" y="56"/>
                  </a:lnTo>
                  <a:lnTo>
                    <a:pt x="8" y="56"/>
                  </a:lnTo>
                  <a:lnTo>
                    <a:pt x="9" y="54"/>
                  </a:lnTo>
                  <a:lnTo>
                    <a:pt x="11" y="52"/>
                  </a:lnTo>
                  <a:lnTo>
                    <a:pt x="11" y="50"/>
                  </a:lnTo>
                  <a:lnTo>
                    <a:pt x="11" y="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5" name="Freeform 35">
              <a:extLst>
                <a:ext uri="{FF2B5EF4-FFF2-40B4-BE49-F238E27FC236}">
                  <a16:creationId xmlns:a16="http://schemas.microsoft.com/office/drawing/2014/main" xmlns="" id="{1D0E9502-6D3C-70B4-FA5E-C8630A3E52E7}"/>
                </a:ext>
              </a:extLst>
            </p:cNvPr>
            <p:cNvSpPr>
              <a:spLocks/>
            </p:cNvSpPr>
            <p:nvPr/>
          </p:nvSpPr>
          <p:spPr bwMode="auto">
            <a:xfrm>
              <a:off x="3759" y="2352"/>
              <a:ext cx="5" cy="27"/>
            </a:xfrm>
            <a:custGeom>
              <a:avLst/>
              <a:gdLst>
                <a:gd name="T0" fmla="*/ 2 w 11"/>
                <a:gd name="T1" fmla="*/ 1 h 55"/>
                <a:gd name="T2" fmla="*/ 2 w 11"/>
                <a:gd name="T3" fmla="*/ 0 h 55"/>
                <a:gd name="T4" fmla="*/ 2 w 11"/>
                <a:gd name="T5" fmla="*/ 0 h 55"/>
                <a:gd name="T6" fmla="*/ 2 w 11"/>
                <a:gd name="T7" fmla="*/ 0 h 55"/>
                <a:gd name="T8" fmla="*/ 2 w 11"/>
                <a:gd name="T9" fmla="*/ 0 h 55"/>
                <a:gd name="T10" fmla="*/ 1 w 11"/>
                <a:gd name="T11" fmla="*/ 0 h 55"/>
                <a:gd name="T12" fmla="*/ 1 w 11"/>
                <a:gd name="T13" fmla="*/ 0 h 55"/>
                <a:gd name="T14" fmla="*/ 0 w 11"/>
                <a:gd name="T15" fmla="*/ 0 h 55"/>
                <a:gd name="T16" fmla="*/ 0 w 11"/>
                <a:gd name="T17" fmla="*/ 0 h 55"/>
                <a:gd name="T18" fmla="*/ 0 w 11"/>
                <a:gd name="T19" fmla="*/ 11 h 55"/>
                <a:gd name="T20" fmla="*/ 0 w 11"/>
                <a:gd name="T21" fmla="*/ 12 h 55"/>
                <a:gd name="T22" fmla="*/ 0 w 11"/>
                <a:gd name="T23" fmla="*/ 12 h 55"/>
                <a:gd name="T24" fmla="*/ 1 w 11"/>
                <a:gd name="T25" fmla="*/ 13 h 55"/>
                <a:gd name="T26" fmla="*/ 1 w 11"/>
                <a:gd name="T27" fmla="*/ 13 h 55"/>
                <a:gd name="T28" fmla="*/ 2 w 11"/>
                <a:gd name="T29" fmla="*/ 13 h 55"/>
                <a:gd name="T30" fmla="*/ 2 w 11"/>
                <a:gd name="T31" fmla="*/ 13 h 55"/>
                <a:gd name="T32" fmla="*/ 2 w 11"/>
                <a:gd name="T33" fmla="*/ 12 h 55"/>
                <a:gd name="T34" fmla="*/ 2 w 11"/>
                <a:gd name="T35" fmla="*/ 12 h 55"/>
                <a:gd name="T36" fmla="*/ 2 w 11"/>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3"/>
                  </a:lnTo>
                  <a:lnTo>
                    <a:pt x="11" y="1"/>
                  </a:lnTo>
                  <a:lnTo>
                    <a:pt x="9" y="0"/>
                  </a:lnTo>
                  <a:lnTo>
                    <a:pt x="8" y="0"/>
                  </a:lnTo>
                  <a:lnTo>
                    <a:pt x="6" y="0"/>
                  </a:lnTo>
                  <a:lnTo>
                    <a:pt x="4" y="0"/>
                  </a:lnTo>
                  <a:lnTo>
                    <a:pt x="2" y="1"/>
                  </a:lnTo>
                  <a:lnTo>
                    <a:pt x="0" y="3"/>
                  </a:lnTo>
                  <a:lnTo>
                    <a:pt x="0" y="47"/>
                  </a:lnTo>
                  <a:lnTo>
                    <a:pt x="0" y="49"/>
                  </a:lnTo>
                  <a:lnTo>
                    <a:pt x="2" y="51"/>
                  </a:lnTo>
                  <a:lnTo>
                    <a:pt x="4" y="53"/>
                  </a:lnTo>
                  <a:lnTo>
                    <a:pt x="6" y="55"/>
                  </a:lnTo>
                  <a:lnTo>
                    <a:pt x="8" y="55"/>
                  </a:lnTo>
                  <a:lnTo>
                    <a:pt x="9" y="53"/>
                  </a:lnTo>
                  <a:lnTo>
                    <a:pt x="11" y="51"/>
                  </a:lnTo>
                  <a:lnTo>
                    <a:pt x="11" y="49"/>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6" name="Freeform 36">
              <a:extLst>
                <a:ext uri="{FF2B5EF4-FFF2-40B4-BE49-F238E27FC236}">
                  <a16:creationId xmlns:a16="http://schemas.microsoft.com/office/drawing/2014/main" xmlns="" id="{17C8346E-061F-432D-5D99-9C07F0DAEC2B}"/>
                </a:ext>
              </a:extLst>
            </p:cNvPr>
            <p:cNvSpPr>
              <a:spLocks/>
            </p:cNvSpPr>
            <p:nvPr/>
          </p:nvSpPr>
          <p:spPr bwMode="auto">
            <a:xfrm>
              <a:off x="3759" y="2390"/>
              <a:ext cx="5" cy="28"/>
            </a:xfrm>
            <a:custGeom>
              <a:avLst/>
              <a:gdLst>
                <a:gd name="T0" fmla="*/ 2 w 11"/>
                <a:gd name="T1" fmla="*/ 2 h 55"/>
                <a:gd name="T2" fmla="*/ 2 w 11"/>
                <a:gd name="T3" fmla="*/ 1 h 55"/>
                <a:gd name="T4" fmla="*/ 2 w 11"/>
                <a:gd name="T5" fmla="*/ 1 h 55"/>
                <a:gd name="T6" fmla="*/ 2 w 11"/>
                <a:gd name="T7" fmla="*/ 0 h 55"/>
                <a:gd name="T8" fmla="*/ 2 w 11"/>
                <a:gd name="T9" fmla="*/ 0 h 55"/>
                <a:gd name="T10" fmla="*/ 1 w 11"/>
                <a:gd name="T11" fmla="*/ 0 h 55"/>
                <a:gd name="T12" fmla="*/ 1 w 11"/>
                <a:gd name="T13" fmla="*/ 0 h 55"/>
                <a:gd name="T14" fmla="*/ 0 w 11"/>
                <a:gd name="T15" fmla="*/ 1 h 55"/>
                <a:gd name="T16" fmla="*/ 0 w 11"/>
                <a:gd name="T17" fmla="*/ 1 h 55"/>
                <a:gd name="T18" fmla="*/ 0 w 11"/>
                <a:gd name="T19" fmla="*/ 12 h 55"/>
                <a:gd name="T20" fmla="*/ 0 w 11"/>
                <a:gd name="T21" fmla="*/ 13 h 55"/>
                <a:gd name="T22" fmla="*/ 0 w 11"/>
                <a:gd name="T23" fmla="*/ 13 h 55"/>
                <a:gd name="T24" fmla="*/ 1 w 11"/>
                <a:gd name="T25" fmla="*/ 14 h 55"/>
                <a:gd name="T26" fmla="*/ 1 w 11"/>
                <a:gd name="T27" fmla="*/ 14 h 55"/>
                <a:gd name="T28" fmla="*/ 2 w 11"/>
                <a:gd name="T29" fmla="*/ 14 h 55"/>
                <a:gd name="T30" fmla="*/ 2 w 11"/>
                <a:gd name="T31" fmla="*/ 14 h 55"/>
                <a:gd name="T32" fmla="*/ 2 w 11"/>
                <a:gd name="T33" fmla="*/ 13 h 55"/>
                <a:gd name="T34" fmla="*/ 2 w 11"/>
                <a:gd name="T35" fmla="*/ 13 h 55"/>
                <a:gd name="T36" fmla="*/ 2 w 11"/>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4"/>
                  </a:lnTo>
                  <a:lnTo>
                    <a:pt x="11" y="2"/>
                  </a:lnTo>
                  <a:lnTo>
                    <a:pt x="9" y="0"/>
                  </a:lnTo>
                  <a:lnTo>
                    <a:pt x="8" y="0"/>
                  </a:lnTo>
                  <a:lnTo>
                    <a:pt x="6" y="0"/>
                  </a:lnTo>
                  <a:lnTo>
                    <a:pt x="4" y="0"/>
                  </a:lnTo>
                  <a:lnTo>
                    <a:pt x="2" y="2"/>
                  </a:lnTo>
                  <a:lnTo>
                    <a:pt x="0" y="4"/>
                  </a:lnTo>
                  <a:lnTo>
                    <a:pt x="0" y="48"/>
                  </a:lnTo>
                  <a:lnTo>
                    <a:pt x="0" y="50"/>
                  </a:lnTo>
                  <a:lnTo>
                    <a:pt x="2" y="52"/>
                  </a:lnTo>
                  <a:lnTo>
                    <a:pt x="4" y="53"/>
                  </a:lnTo>
                  <a:lnTo>
                    <a:pt x="6" y="55"/>
                  </a:lnTo>
                  <a:lnTo>
                    <a:pt x="8" y="55"/>
                  </a:lnTo>
                  <a:lnTo>
                    <a:pt x="9" y="53"/>
                  </a:lnTo>
                  <a:lnTo>
                    <a:pt x="11" y="52"/>
                  </a:lnTo>
                  <a:lnTo>
                    <a:pt x="11" y="50"/>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7" name="Freeform 37">
              <a:extLst>
                <a:ext uri="{FF2B5EF4-FFF2-40B4-BE49-F238E27FC236}">
                  <a16:creationId xmlns:a16="http://schemas.microsoft.com/office/drawing/2014/main" xmlns="" id="{B068696A-388F-E92B-8216-5386F63C0B7A}"/>
                </a:ext>
              </a:extLst>
            </p:cNvPr>
            <p:cNvSpPr>
              <a:spLocks/>
            </p:cNvSpPr>
            <p:nvPr/>
          </p:nvSpPr>
          <p:spPr bwMode="auto">
            <a:xfrm>
              <a:off x="3759" y="2429"/>
              <a:ext cx="5" cy="28"/>
            </a:xfrm>
            <a:custGeom>
              <a:avLst/>
              <a:gdLst>
                <a:gd name="T0" fmla="*/ 2 w 11"/>
                <a:gd name="T1" fmla="*/ 2 h 56"/>
                <a:gd name="T2" fmla="*/ 2 w 11"/>
                <a:gd name="T3" fmla="*/ 1 h 56"/>
                <a:gd name="T4" fmla="*/ 2 w 11"/>
                <a:gd name="T5" fmla="*/ 1 h 56"/>
                <a:gd name="T6" fmla="*/ 2 w 11"/>
                <a:gd name="T7" fmla="*/ 0 h 56"/>
                <a:gd name="T8" fmla="*/ 2 w 11"/>
                <a:gd name="T9" fmla="*/ 0 h 56"/>
                <a:gd name="T10" fmla="*/ 1 w 11"/>
                <a:gd name="T11" fmla="*/ 0 h 56"/>
                <a:gd name="T12" fmla="*/ 1 w 11"/>
                <a:gd name="T13" fmla="*/ 0 h 56"/>
                <a:gd name="T14" fmla="*/ 0 w 11"/>
                <a:gd name="T15" fmla="*/ 1 h 56"/>
                <a:gd name="T16" fmla="*/ 0 w 11"/>
                <a:gd name="T17" fmla="*/ 1 h 56"/>
                <a:gd name="T18" fmla="*/ 0 w 11"/>
                <a:gd name="T19" fmla="*/ 12 h 56"/>
                <a:gd name="T20" fmla="*/ 0 w 11"/>
                <a:gd name="T21" fmla="*/ 13 h 56"/>
                <a:gd name="T22" fmla="*/ 0 w 11"/>
                <a:gd name="T23" fmla="*/ 13 h 56"/>
                <a:gd name="T24" fmla="*/ 1 w 11"/>
                <a:gd name="T25" fmla="*/ 14 h 56"/>
                <a:gd name="T26" fmla="*/ 1 w 11"/>
                <a:gd name="T27" fmla="*/ 14 h 56"/>
                <a:gd name="T28" fmla="*/ 2 w 11"/>
                <a:gd name="T29" fmla="*/ 14 h 56"/>
                <a:gd name="T30" fmla="*/ 2 w 11"/>
                <a:gd name="T31" fmla="*/ 14 h 56"/>
                <a:gd name="T32" fmla="*/ 2 w 11"/>
                <a:gd name="T33" fmla="*/ 13 h 56"/>
                <a:gd name="T34" fmla="*/ 2 w 11"/>
                <a:gd name="T35" fmla="*/ 13 h 56"/>
                <a:gd name="T36" fmla="*/ 2 w 11"/>
                <a:gd name="T37" fmla="*/ 2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6">
                  <a:moveTo>
                    <a:pt x="11" y="6"/>
                  </a:moveTo>
                  <a:lnTo>
                    <a:pt x="11" y="4"/>
                  </a:lnTo>
                  <a:lnTo>
                    <a:pt x="11" y="2"/>
                  </a:lnTo>
                  <a:lnTo>
                    <a:pt x="9" y="0"/>
                  </a:lnTo>
                  <a:lnTo>
                    <a:pt x="8" y="0"/>
                  </a:lnTo>
                  <a:lnTo>
                    <a:pt x="6" y="0"/>
                  </a:lnTo>
                  <a:lnTo>
                    <a:pt x="4" y="0"/>
                  </a:lnTo>
                  <a:lnTo>
                    <a:pt x="2" y="2"/>
                  </a:lnTo>
                  <a:lnTo>
                    <a:pt x="0" y="4"/>
                  </a:lnTo>
                  <a:lnTo>
                    <a:pt x="0" y="48"/>
                  </a:lnTo>
                  <a:lnTo>
                    <a:pt x="0" y="50"/>
                  </a:lnTo>
                  <a:lnTo>
                    <a:pt x="2" y="52"/>
                  </a:lnTo>
                  <a:lnTo>
                    <a:pt x="4" y="54"/>
                  </a:lnTo>
                  <a:lnTo>
                    <a:pt x="6" y="56"/>
                  </a:lnTo>
                  <a:lnTo>
                    <a:pt x="8" y="56"/>
                  </a:lnTo>
                  <a:lnTo>
                    <a:pt x="9" y="54"/>
                  </a:lnTo>
                  <a:lnTo>
                    <a:pt x="11" y="52"/>
                  </a:lnTo>
                  <a:lnTo>
                    <a:pt x="11" y="50"/>
                  </a:lnTo>
                  <a:lnTo>
                    <a:pt x="11" y="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8" name="Freeform 38">
              <a:extLst>
                <a:ext uri="{FF2B5EF4-FFF2-40B4-BE49-F238E27FC236}">
                  <a16:creationId xmlns:a16="http://schemas.microsoft.com/office/drawing/2014/main" xmlns="" id="{17E86D39-121B-D0E4-8733-7961B2C5DAEC}"/>
                </a:ext>
              </a:extLst>
            </p:cNvPr>
            <p:cNvSpPr>
              <a:spLocks/>
            </p:cNvSpPr>
            <p:nvPr/>
          </p:nvSpPr>
          <p:spPr bwMode="auto">
            <a:xfrm>
              <a:off x="3759" y="2468"/>
              <a:ext cx="5" cy="27"/>
            </a:xfrm>
            <a:custGeom>
              <a:avLst/>
              <a:gdLst>
                <a:gd name="T0" fmla="*/ 2 w 11"/>
                <a:gd name="T1" fmla="*/ 1 h 55"/>
                <a:gd name="T2" fmla="*/ 2 w 11"/>
                <a:gd name="T3" fmla="*/ 0 h 55"/>
                <a:gd name="T4" fmla="*/ 2 w 11"/>
                <a:gd name="T5" fmla="*/ 0 h 55"/>
                <a:gd name="T6" fmla="*/ 2 w 11"/>
                <a:gd name="T7" fmla="*/ 0 h 55"/>
                <a:gd name="T8" fmla="*/ 2 w 11"/>
                <a:gd name="T9" fmla="*/ 0 h 55"/>
                <a:gd name="T10" fmla="*/ 1 w 11"/>
                <a:gd name="T11" fmla="*/ 0 h 55"/>
                <a:gd name="T12" fmla="*/ 1 w 11"/>
                <a:gd name="T13" fmla="*/ 0 h 55"/>
                <a:gd name="T14" fmla="*/ 0 w 11"/>
                <a:gd name="T15" fmla="*/ 0 h 55"/>
                <a:gd name="T16" fmla="*/ 0 w 11"/>
                <a:gd name="T17" fmla="*/ 0 h 55"/>
                <a:gd name="T18" fmla="*/ 0 w 11"/>
                <a:gd name="T19" fmla="*/ 12 h 55"/>
                <a:gd name="T20" fmla="*/ 0 w 11"/>
                <a:gd name="T21" fmla="*/ 12 h 55"/>
                <a:gd name="T22" fmla="*/ 0 w 11"/>
                <a:gd name="T23" fmla="*/ 12 h 55"/>
                <a:gd name="T24" fmla="*/ 1 w 11"/>
                <a:gd name="T25" fmla="*/ 13 h 55"/>
                <a:gd name="T26" fmla="*/ 1 w 11"/>
                <a:gd name="T27" fmla="*/ 13 h 55"/>
                <a:gd name="T28" fmla="*/ 2 w 11"/>
                <a:gd name="T29" fmla="*/ 13 h 55"/>
                <a:gd name="T30" fmla="*/ 2 w 11"/>
                <a:gd name="T31" fmla="*/ 13 h 55"/>
                <a:gd name="T32" fmla="*/ 2 w 11"/>
                <a:gd name="T33" fmla="*/ 12 h 55"/>
                <a:gd name="T34" fmla="*/ 2 w 11"/>
                <a:gd name="T35" fmla="*/ 12 h 55"/>
                <a:gd name="T36" fmla="*/ 2 w 11"/>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3"/>
                  </a:lnTo>
                  <a:lnTo>
                    <a:pt x="11" y="1"/>
                  </a:lnTo>
                  <a:lnTo>
                    <a:pt x="9" y="0"/>
                  </a:lnTo>
                  <a:lnTo>
                    <a:pt x="8" y="0"/>
                  </a:lnTo>
                  <a:lnTo>
                    <a:pt x="6" y="0"/>
                  </a:lnTo>
                  <a:lnTo>
                    <a:pt x="4" y="0"/>
                  </a:lnTo>
                  <a:lnTo>
                    <a:pt x="2" y="1"/>
                  </a:lnTo>
                  <a:lnTo>
                    <a:pt x="0" y="3"/>
                  </a:lnTo>
                  <a:lnTo>
                    <a:pt x="0" y="48"/>
                  </a:lnTo>
                  <a:lnTo>
                    <a:pt x="0" y="49"/>
                  </a:lnTo>
                  <a:lnTo>
                    <a:pt x="2" y="51"/>
                  </a:lnTo>
                  <a:lnTo>
                    <a:pt x="4" y="53"/>
                  </a:lnTo>
                  <a:lnTo>
                    <a:pt x="6" y="55"/>
                  </a:lnTo>
                  <a:lnTo>
                    <a:pt x="8" y="55"/>
                  </a:lnTo>
                  <a:lnTo>
                    <a:pt x="9" y="53"/>
                  </a:lnTo>
                  <a:lnTo>
                    <a:pt x="11" y="51"/>
                  </a:lnTo>
                  <a:lnTo>
                    <a:pt x="11" y="49"/>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89" name="Freeform 39">
              <a:extLst>
                <a:ext uri="{FF2B5EF4-FFF2-40B4-BE49-F238E27FC236}">
                  <a16:creationId xmlns:a16="http://schemas.microsoft.com/office/drawing/2014/main" xmlns="" id="{D48D0629-96CE-4201-A7AF-A21C252FAD10}"/>
                </a:ext>
              </a:extLst>
            </p:cNvPr>
            <p:cNvSpPr>
              <a:spLocks/>
            </p:cNvSpPr>
            <p:nvPr/>
          </p:nvSpPr>
          <p:spPr bwMode="auto">
            <a:xfrm>
              <a:off x="3759" y="2506"/>
              <a:ext cx="5" cy="20"/>
            </a:xfrm>
            <a:custGeom>
              <a:avLst/>
              <a:gdLst>
                <a:gd name="T0" fmla="*/ 2 w 11"/>
                <a:gd name="T1" fmla="*/ 2 h 39"/>
                <a:gd name="T2" fmla="*/ 2 w 11"/>
                <a:gd name="T3" fmla="*/ 1 h 39"/>
                <a:gd name="T4" fmla="*/ 2 w 11"/>
                <a:gd name="T5" fmla="*/ 1 h 39"/>
                <a:gd name="T6" fmla="*/ 2 w 11"/>
                <a:gd name="T7" fmla="*/ 0 h 39"/>
                <a:gd name="T8" fmla="*/ 2 w 11"/>
                <a:gd name="T9" fmla="*/ 0 h 39"/>
                <a:gd name="T10" fmla="*/ 1 w 11"/>
                <a:gd name="T11" fmla="*/ 0 h 39"/>
                <a:gd name="T12" fmla="*/ 1 w 11"/>
                <a:gd name="T13" fmla="*/ 0 h 39"/>
                <a:gd name="T14" fmla="*/ 0 w 11"/>
                <a:gd name="T15" fmla="*/ 1 h 39"/>
                <a:gd name="T16" fmla="*/ 0 w 11"/>
                <a:gd name="T17" fmla="*/ 1 h 39"/>
                <a:gd name="T18" fmla="*/ 0 w 11"/>
                <a:gd name="T19" fmla="*/ 9 h 39"/>
                <a:gd name="T20" fmla="*/ 0 w 11"/>
                <a:gd name="T21" fmla="*/ 9 h 39"/>
                <a:gd name="T22" fmla="*/ 0 w 11"/>
                <a:gd name="T23" fmla="*/ 9 h 39"/>
                <a:gd name="T24" fmla="*/ 1 w 11"/>
                <a:gd name="T25" fmla="*/ 10 h 39"/>
                <a:gd name="T26" fmla="*/ 1 w 11"/>
                <a:gd name="T27" fmla="*/ 10 h 39"/>
                <a:gd name="T28" fmla="*/ 1 w 11"/>
                <a:gd name="T29" fmla="*/ 10 h 39"/>
                <a:gd name="T30" fmla="*/ 2 w 11"/>
                <a:gd name="T31" fmla="*/ 10 h 39"/>
                <a:gd name="T32" fmla="*/ 2 w 11"/>
                <a:gd name="T33" fmla="*/ 9 h 39"/>
                <a:gd name="T34" fmla="*/ 2 w 11"/>
                <a:gd name="T35" fmla="*/ 9 h 39"/>
                <a:gd name="T36" fmla="*/ 2 w 11"/>
                <a:gd name="T37" fmla="*/ 2 h 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39">
                  <a:moveTo>
                    <a:pt x="11" y="5"/>
                  </a:moveTo>
                  <a:lnTo>
                    <a:pt x="11" y="4"/>
                  </a:lnTo>
                  <a:lnTo>
                    <a:pt x="11" y="2"/>
                  </a:lnTo>
                  <a:lnTo>
                    <a:pt x="9" y="0"/>
                  </a:lnTo>
                  <a:lnTo>
                    <a:pt x="8" y="0"/>
                  </a:lnTo>
                  <a:lnTo>
                    <a:pt x="6" y="0"/>
                  </a:lnTo>
                  <a:lnTo>
                    <a:pt x="4" y="0"/>
                  </a:lnTo>
                  <a:lnTo>
                    <a:pt x="2" y="2"/>
                  </a:lnTo>
                  <a:lnTo>
                    <a:pt x="0" y="4"/>
                  </a:lnTo>
                  <a:lnTo>
                    <a:pt x="0" y="33"/>
                  </a:lnTo>
                  <a:lnTo>
                    <a:pt x="2" y="35"/>
                  </a:lnTo>
                  <a:lnTo>
                    <a:pt x="4" y="37"/>
                  </a:lnTo>
                  <a:lnTo>
                    <a:pt x="6" y="39"/>
                  </a:lnTo>
                  <a:lnTo>
                    <a:pt x="8" y="37"/>
                  </a:lnTo>
                  <a:lnTo>
                    <a:pt x="9" y="35"/>
                  </a:lnTo>
                  <a:lnTo>
                    <a:pt x="11" y="35"/>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90" name="Freeform 40">
              <a:extLst>
                <a:ext uri="{FF2B5EF4-FFF2-40B4-BE49-F238E27FC236}">
                  <a16:creationId xmlns:a16="http://schemas.microsoft.com/office/drawing/2014/main" xmlns="" id="{E06F1AE5-18DD-8E34-982B-6DFC471C6EC3}"/>
                </a:ext>
              </a:extLst>
            </p:cNvPr>
            <p:cNvSpPr>
              <a:spLocks/>
            </p:cNvSpPr>
            <p:nvPr/>
          </p:nvSpPr>
          <p:spPr bwMode="auto">
            <a:xfrm>
              <a:off x="3731"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3561" name="Rectangle 41">
            <a:extLst>
              <a:ext uri="{FF2B5EF4-FFF2-40B4-BE49-F238E27FC236}">
                <a16:creationId xmlns:a16="http://schemas.microsoft.com/office/drawing/2014/main" xmlns="" id="{A50DFFD3-0985-2ED6-99E8-FE4ADF221F41}"/>
              </a:ext>
            </a:extLst>
          </p:cNvPr>
          <p:cNvSpPr>
            <a:spLocks noChangeArrowheads="1"/>
          </p:cNvSpPr>
          <p:nvPr/>
        </p:nvSpPr>
        <p:spPr bwMode="auto">
          <a:xfrm>
            <a:off x="1497013" y="6138863"/>
            <a:ext cx="1141412"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solidFill>
                  <a:srgbClr val="FF0000"/>
                </a:solidFill>
              </a:rPr>
              <a:t>aperiodic</a:t>
            </a:r>
            <a:endParaRPr lang="en-US" altLang="en-US" sz="2400">
              <a:latin typeface="Times New Roman" panose="02020603050405020304" pitchFamily="18" charset="0"/>
            </a:endParaRPr>
          </a:p>
        </p:txBody>
      </p:sp>
      <p:grpSp>
        <p:nvGrpSpPr>
          <p:cNvPr id="23562" name="Group 42">
            <a:extLst>
              <a:ext uri="{FF2B5EF4-FFF2-40B4-BE49-F238E27FC236}">
                <a16:creationId xmlns:a16="http://schemas.microsoft.com/office/drawing/2014/main" xmlns="" id="{AFCF93F2-2A9D-E9BF-987A-F64690597C70}"/>
              </a:ext>
            </a:extLst>
          </p:cNvPr>
          <p:cNvGrpSpPr>
            <a:grpSpLocks/>
          </p:cNvGrpSpPr>
          <p:nvPr/>
        </p:nvGrpSpPr>
        <p:grpSpPr bwMode="auto">
          <a:xfrm>
            <a:off x="2452688" y="4732338"/>
            <a:ext cx="9525" cy="166687"/>
            <a:chOff x="885" y="3296"/>
            <a:chExt cx="6" cy="105"/>
          </a:xfrm>
        </p:grpSpPr>
        <p:sp>
          <p:nvSpPr>
            <p:cNvPr id="23575" name="Freeform 43">
              <a:extLst>
                <a:ext uri="{FF2B5EF4-FFF2-40B4-BE49-F238E27FC236}">
                  <a16:creationId xmlns:a16="http://schemas.microsoft.com/office/drawing/2014/main" xmlns="" id="{A79A9309-01B1-D4EC-7E3C-F41BDE7370DE}"/>
                </a:ext>
              </a:extLst>
            </p:cNvPr>
            <p:cNvSpPr>
              <a:spLocks/>
            </p:cNvSpPr>
            <p:nvPr/>
          </p:nvSpPr>
          <p:spPr bwMode="auto">
            <a:xfrm>
              <a:off x="885" y="3296"/>
              <a:ext cx="6" cy="28"/>
            </a:xfrm>
            <a:custGeom>
              <a:avLst/>
              <a:gdLst>
                <a:gd name="T0" fmla="*/ 3 w 11"/>
                <a:gd name="T1" fmla="*/ 2 h 55"/>
                <a:gd name="T2" fmla="*/ 3 w 11"/>
                <a:gd name="T3" fmla="*/ 2 h 55"/>
                <a:gd name="T4" fmla="*/ 3 w 11"/>
                <a:gd name="T5" fmla="*/ 1 h 55"/>
                <a:gd name="T6" fmla="*/ 2 w 11"/>
                <a:gd name="T7" fmla="*/ 1 h 55"/>
                <a:gd name="T8" fmla="*/ 2 w 11"/>
                <a:gd name="T9" fmla="*/ 0 h 55"/>
                <a:gd name="T10" fmla="*/ 2 w 11"/>
                <a:gd name="T11" fmla="*/ 0 h 55"/>
                <a:gd name="T12" fmla="*/ 1 w 11"/>
                <a:gd name="T13" fmla="*/ 1 h 55"/>
                <a:gd name="T14" fmla="*/ 1 w 11"/>
                <a:gd name="T15" fmla="*/ 1 h 55"/>
                <a:gd name="T16" fmla="*/ 0 w 11"/>
                <a:gd name="T17" fmla="*/ 2 h 55"/>
                <a:gd name="T18" fmla="*/ 0 w 11"/>
                <a:gd name="T19" fmla="*/ 12 h 55"/>
                <a:gd name="T20" fmla="*/ 0 w 11"/>
                <a:gd name="T21" fmla="*/ 13 h 55"/>
                <a:gd name="T22" fmla="*/ 1 w 11"/>
                <a:gd name="T23" fmla="*/ 13 h 55"/>
                <a:gd name="T24" fmla="*/ 1 w 11"/>
                <a:gd name="T25" fmla="*/ 14 h 55"/>
                <a:gd name="T26" fmla="*/ 2 w 11"/>
                <a:gd name="T27" fmla="*/ 14 h 55"/>
                <a:gd name="T28" fmla="*/ 2 w 11"/>
                <a:gd name="T29" fmla="*/ 14 h 55"/>
                <a:gd name="T30" fmla="*/ 3 w 11"/>
                <a:gd name="T31" fmla="*/ 14 h 55"/>
                <a:gd name="T32" fmla="*/ 3 w 11"/>
                <a:gd name="T33" fmla="*/ 13 h 55"/>
                <a:gd name="T34" fmla="*/ 3 w 11"/>
                <a:gd name="T35" fmla="*/ 13 h 55"/>
                <a:gd name="T36" fmla="*/ 3 w 11"/>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7"/>
                  </a:moveTo>
                  <a:lnTo>
                    <a:pt x="11" y="5"/>
                  </a:lnTo>
                  <a:lnTo>
                    <a:pt x="9" y="4"/>
                  </a:lnTo>
                  <a:lnTo>
                    <a:pt x="8" y="2"/>
                  </a:lnTo>
                  <a:lnTo>
                    <a:pt x="6" y="0"/>
                  </a:lnTo>
                  <a:lnTo>
                    <a:pt x="4" y="2"/>
                  </a:lnTo>
                  <a:lnTo>
                    <a:pt x="2" y="4"/>
                  </a:lnTo>
                  <a:lnTo>
                    <a:pt x="0" y="5"/>
                  </a:lnTo>
                  <a:lnTo>
                    <a:pt x="0" y="48"/>
                  </a:lnTo>
                  <a:lnTo>
                    <a:pt x="0" y="50"/>
                  </a:lnTo>
                  <a:lnTo>
                    <a:pt x="2" y="51"/>
                  </a:lnTo>
                  <a:lnTo>
                    <a:pt x="4" y="53"/>
                  </a:lnTo>
                  <a:lnTo>
                    <a:pt x="6" y="55"/>
                  </a:lnTo>
                  <a:lnTo>
                    <a:pt x="8" y="55"/>
                  </a:lnTo>
                  <a:lnTo>
                    <a:pt x="9" y="53"/>
                  </a:lnTo>
                  <a:lnTo>
                    <a:pt x="11" y="51"/>
                  </a:lnTo>
                  <a:lnTo>
                    <a:pt x="11" y="50"/>
                  </a:lnTo>
                  <a:lnTo>
                    <a:pt x="11" y="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76" name="Freeform 44">
              <a:extLst>
                <a:ext uri="{FF2B5EF4-FFF2-40B4-BE49-F238E27FC236}">
                  <a16:creationId xmlns:a16="http://schemas.microsoft.com/office/drawing/2014/main" xmlns="" id="{0BCF0D47-B0BA-1AEA-3C70-395B067AC881}"/>
                </a:ext>
              </a:extLst>
            </p:cNvPr>
            <p:cNvSpPr>
              <a:spLocks/>
            </p:cNvSpPr>
            <p:nvPr/>
          </p:nvSpPr>
          <p:spPr bwMode="auto">
            <a:xfrm>
              <a:off x="885" y="3335"/>
              <a:ext cx="6" cy="28"/>
            </a:xfrm>
            <a:custGeom>
              <a:avLst/>
              <a:gdLst>
                <a:gd name="T0" fmla="*/ 3 w 11"/>
                <a:gd name="T1" fmla="*/ 2 h 55"/>
                <a:gd name="T2" fmla="*/ 3 w 11"/>
                <a:gd name="T3" fmla="*/ 1 h 55"/>
                <a:gd name="T4" fmla="*/ 3 w 11"/>
                <a:gd name="T5" fmla="*/ 1 h 55"/>
                <a:gd name="T6" fmla="*/ 3 w 11"/>
                <a:gd name="T7" fmla="*/ 0 h 55"/>
                <a:gd name="T8" fmla="*/ 2 w 11"/>
                <a:gd name="T9" fmla="*/ 0 h 55"/>
                <a:gd name="T10" fmla="*/ 2 w 11"/>
                <a:gd name="T11" fmla="*/ 0 h 55"/>
                <a:gd name="T12" fmla="*/ 1 w 11"/>
                <a:gd name="T13" fmla="*/ 0 h 55"/>
                <a:gd name="T14" fmla="*/ 1 w 11"/>
                <a:gd name="T15" fmla="*/ 1 h 55"/>
                <a:gd name="T16" fmla="*/ 0 w 11"/>
                <a:gd name="T17" fmla="*/ 1 h 55"/>
                <a:gd name="T18" fmla="*/ 0 w 11"/>
                <a:gd name="T19" fmla="*/ 12 h 55"/>
                <a:gd name="T20" fmla="*/ 0 w 11"/>
                <a:gd name="T21" fmla="*/ 13 h 55"/>
                <a:gd name="T22" fmla="*/ 1 w 11"/>
                <a:gd name="T23" fmla="*/ 13 h 55"/>
                <a:gd name="T24" fmla="*/ 1 w 11"/>
                <a:gd name="T25" fmla="*/ 14 h 55"/>
                <a:gd name="T26" fmla="*/ 2 w 11"/>
                <a:gd name="T27" fmla="*/ 14 h 55"/>
                <a:gd name="T28" fmla="*/ 2 w 11"/>
                <a:gd name="T29" fmla="*/ 14 h 55"/>
                <a:gd name="T30" fmla="*/ 3 w 11"/>
                <a:gd name="T31" fmla="*/ 14 h 55"/>
                <a:gd name="T32" fmla="*/ 3 w 11"/>
                <a:gd name="T33" fmla="*/ 13 h 55"/>
                <a:gd name="T34" fmla="*/ 3 w 11"/>
                <a:gd name="T35" fmla="*/ 13 h 55"/>
                <a:gd name="T36" fmla="*/ 3 w 11"/>
                <a:gd name="T37" fmla="*/ 2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6"/>
                  </a:moveTo>
                  <a:lnTo>
                    <a:pt x="11" y="4"/>
                  </a:lnTo>
                  <a:lnTo>
                    <a:pt x="11" y="2"/>
                  </a:lnTo>
                  <a:lnTo>
                    <a:pt x="9" y="0"/>
                  </a:lnTo>
                  <a:lnTo>
                    <a:pt x="8" y="0"/>
                  </a:lnTo>
                  <a:lnTo>
                    <a:pt x="6" y="0"/>
                  </a:lnTo>
                  <a:lnTo>
                    <a:pt x="4" y="0"/>
                  </a:lnTo>
                  <a:lnTo>
                    <a:pt x="2" y="2"/>
                  </a:lnTo>
                  <a:lnTo>
                    <a:pt x="0" y="4"/>
                  </a:lnTo>
                  <a:lnTo>
                    <a:pt x="0" y="48"/>
                  </a:lnTo>
                  <a:lnTo>
                    <a:pt x="0" y="50"/>
                  </a:lnTo>
                  <a:lnTo>
                    <a:pt x="2" y="52"/>
                  </a:lnTo>
                  <a:lnTo>
                    <a:pt x="4" y="54"/>
                  </a:lnTo>
                  <a:lnTo>
                    <a:pt x="6" y="55"/>
                  </a:lnTo>
                  <a:lnTo>
                    <a:pt x="8" y="55"/>
                  </a:lnTo>
                  <a:lnTo>
                    <a:pt x="9" y="54"/>
                  </a:lnTo>
                  <a:lnTo>
                    <a:pt x="11" y="52"/>
                  </a:lnTo>
                  <a:lnTo>
                    <a:pt x="11" y="50"/>
                  </a:lnTo>
                  <a:lnTo>
                    <a:pt x="11" y="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3577" name="Freeform 45">
              <a:extLst>
                <a:ext uri="{FF2B5EF4-FFF2-40B4-BE49-F238E27FC236}">
                  <a16:creationId xmlns:a16="http://schemas.microsoft.com/office/drawing/2014/main" xmlns="" id="{8D7A0BF6-A299-DDA9-8284-0198F3462774}"/>
                </a:ext>
              </a:extLst>
            </p:cNvPr>
            <p:cNvSpPr>
              <a:spLocks/>
            </p:cNvSpPr>
            <p:nvPr/>
          </p:nvSpPr>
          <p:spPr bwMode="auto">
            <a:xfrm>
              <a:off x="885" y="3374"/>
              <a:ext cx="6" cy="27"/>
            </a:xfrm>
            <a:custGeom>
              <a:avLst/>
              <a:gdLst>
                <a:gd name="T0" fmla="*/ 3 w 11"/>
                <a:gd name="T1" fmla="*/ 1 h 55"/>
                <a:gd name="T2" fmla="*/ 3 w 11"/>
                <a:gd name="T3" fmla="*/ 0 h 55"/>
                <a:gd name="T4" fmla="*/ 3 w 11"/>
                <a:gd name="T5" fmla="*/ 0 h 55"/>
                <a:gd name="T6" fmla="*/ 3 w 11"/>
                <a:gd name="T7" fmla="*/ 0 h 55"/>
                <a:gd name="T8" fmla="*/ 2 w 11"/>
                <a:gd name="T9" fmla="*/ 0 h 55"/>
                <a:gd name="T10" fmla="*/ 2 w 11"/>
                <a:gd name="T11" fmla="*/ 0 h 55"/>
                <a:gd name="T12" fmla="*/ 1 w 11"/>
                <a:gd name="T13" fmla="*/ 0 h 55"/>
                <a:gd name="T14" fmla="*/ 1 w 11"/>
                <a:gd name="T15" fmla="*/ 0 h 55"/>
                <a:gd name="T16" fmla="*/ 0 w 11"/>
                <a:gd name="T17" fmla="*/ 0 h 55"/>
                <a:gd name="T18" fmla="*/ 0 w 11"/>
                <a:gd name="T19" fmla="*/ 11 h 55"/>
                <a:gd name="T20" fmla="*/ 0 w 11"/>
                <a:gd name="T21" fmla="*/ 12 h 55"/>
                <a:gd name="T22" fmla="*/ 1 w 11"/>
                <a:gd name="T23" fmla="*/ 12 h 55"/>
                <a:gd name="T24" fmla="*/ 1 w 11"/>
                <a:gd name="T25" fmla="*/ 13 h 55"/>
                <a:gd name="T26" fmla="*/ 2 w 11"/>
                <a:gd name="T27" fmla="*/ 13 h 55"/>
                <a:gd name="T28" fmla="*/ 2 w 11"/>
                <a:gd name="T29" fmla="*/ 13 h 55"/>
                <a:gd name="T30" fmla="*/ 3 w 11"/>
                <a:gd name="T31" fmla="*/ 13 h 55"/>
                <a:gd name="T32" fmla="*/ 3 w 11"/>
                <a:gd name="T33" fmla="*/ 12 h 55"/>
                <a:gd name="T34" fmla="*/ 3 w 11"/>
                <a:gd name="T35" fmla="*/ 12 h 55"/>
                <a:gd name="T36" fmla="*/ 3 w 11"/>
                <a:gd name="T37" fmla="*/ 1 h 5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55">
                  <a:moveTo>
                    <a:pt x="11" y="5"/>
                  </a:moveTo>
                  <a:lnTo>
                    <a:pt x="11" y="3"/>
                  </a:lnTo>
                  <a:lnTo>
                    <a:pt x="11" y="1"/>
                  </a:lnTo>
                  <a:lnTo>
                    <a:pt x="9" y="0"/>
                  </a:lnTo>
                  <a:lnTo>
                    <a:pt x="8" y="0"/>
                  </a:lnTo>
                  <a:lnTo>
                    <a:pt x="6" y="0"/>
                  </a:lnTo>
                  <a:lnTo>
                    <a:pt x="4" y="0"/>
                  </a:lnTo>
                  <a:lnTo>
                    <a:pt x="2" y="1"/>
                  </a:lnTo>
                  <a:lnTo>
                    <a:pt x="0" y="3"/>
                  </a:lnTo>
                  <a:lnTo>
                    <a:pt x="0" y="47"/>
                  </a:lnTo>
                  <a:lnTo>
                    <a:pt x="0" y="49"/>
                  </a:lnTo>
                  <a:lnTo>
                    <a:pt x="2" y="51"/>
                  </a:lnTo>
                  <a:lnTo>
                    <a:pt x="4" y="53"/>
                  </a:lnTo>
                  <a:lnTo>
                    <a:pt x="6" y="55"/>
                  </a:lnTo>
                  <a:lnTo>
                    <a:pt x="8" y="55"/>
                  </a:lnTo>
                  <a:lnTo>
                    <a:pt x="9" y="53"/>
                  </a:lnTo>
                  <a:lnTo>
                    <a:pt x="11" y="51"/>
                  </a:lnTo>
                  <a:lnTo>
                    <a:pt x="11" y="49"/>
                  </a:lnTo>
                  <a:lnTo>
                    <a:pt x="11" y="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3563" name="Line 392">
            <a:extLst>
              <a:ext uri="{FF2B5EF4-FFF2-40B4-BE49-F238E27FC236}">
                <a16:creationId xmlns:a16="http://schemas.microsoft.com/office/drawing/2014/main" xmlns="" id="{6DA9CEA3-749E-2710-FB57-C79D229F65B2}"/>
              </a:ext>
            </a:extLst>
          </p:cNvPr>
          <p:cNvSpPr>
            <a:spLocks noChangeShapeType="1"/>
          </p:cNvSpPr>
          <p:nvPr/>
        </p:nvSpPr>
        <p:spPr bwMode="auto">
          <a:xfrm flipH="1">
            <a:off x="2057400" y="3884613"/>
            <a:ext cx="404813"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64" name="Line 393">
            <a:extLst>
              <a:ext uri="{FF2B5EF4-FFF2-40B4-BE49-F238E27FC236}">
                <a16:creationId xmlns:a16="http://schemas.microsoft.com/office/drawing/2014/main" xmlns="" id="{B923B2CA-8940-4831-7EE6-D1A7490D2A61}"/>
              </a:ext>
            </a:extLst>
          </p:cNvPr>
          <p:cNvSpPr>
            <a:spLocks noChangeShapeType="1"/>
          </p:cNvSpPr>
          <p:nvPr/>
        </p:nvSpPr>
        <p:spPr bwMode="auto">
          <a:xfrm flipH="1">
            <a:off x="2462213" y="3884613"/>
            <a:ext cx="40481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65" name="Line 394">
            <a:extLst>
              <a:ext uri="{FF2B5EF4-FFF2-40B4-BE49-F238E27FC236}">
                <a16:creationId xmlns:a16="http://schemas.microsoft.com/office/drawing/2014/main" xmlns="" id="{D5FA2195-4141-4EEC-166B-A584729A82F9}"/>
              </a:ext>
            </a:extLst>
          </p:cNvPr>
          <p:cNvSpPr>
            <a:spLocks noChangeShapeType="1"/>
          </p:cNvSpPr>
          <p:nvPr/>
        </p:nvSpPr>
        <p:spPr bwMode="auto">
          <a:xfrm flipH="1">
            <a:off x="2871788" y="3884613"/>
            <a:ext cx="40481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66" name="Line 399">
            <a:extLst>
              <a:ext uri="{FF2B5EF4-FFF2-40B4-BE49-F238E27FC236}">
                <a16:creationId xmlns:a16="http://schemas.microsoft.com/office/drawing/2014/main" xmlns="" id="{9FF8848D-72B4-78FF-E95B-D1D4602FEE14}"/>
              </a:ext>
            </a:extLst>
          </p:cNvPr>
          <p:cNvSpPr>
            <a:spLocks noChangeShapeType="1"/>
          </p:cNvSpPr>
          <p:nvPr/>
        </p:nvSpPr>
        <p:spPr bwMode="auto">
          <a:xfrm flipH="1">
            <a:off x="3276600" y="3884613"/>
            <a:ext cx="404813"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67" name="Line 400">
            <a:extLst>
              <a:ext uri="{FF2B5EF4-FFF2-40B4-BE49-F238E27FC236}">
                <a16:creationId xmlns:a16="http://schemas.microsoft.com/office/drawing/2014/main" xmlns="" id="{DF950E04-4A42-CC30-44A4-0DE54604B34D}"/>
              </a:ext>
            </a:extLst>
          </p:cNvPr>
          <p:cNvSpPr>
            <a:spLocks noChangeShapeType="1"/>
          </p:cNvSpPr>
          <p:nvPr/>
        </p:nvSpPr>
        <p:spPr bwMode="auto">
          <a:xfrm flipH="1">
            <a:off x="3681413" y="3884613"/>
            <a:ext cx="40481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68" name="Line 401">
            <a:extLst>
              <a:ext uri="{FF2B5EF4-FFF2-40B4-BE49-F238E27FC236}">
                <a16:creationId xmlns:a16="http://schemas.microsoft.com/office/drawing/2014/main" xmlns="" id="{74318AFC-A23B-FF05-0473-F49E2748171E}"/>
              </a:ext>
            </a:extLst>
          </p:cNvPr>
          <p:cNvSpPr>
            <a:spLocks noChangeShapeType="1"/>
          </p:cNvSpPr>
          <p:nvPr/>
        </p:nvSpPr>
        <p:spPr bwMode="auto">
          <a:xfrm flipH="1">
            <a:off x="4090988" y="3884613"/>
            <a:ext cx="40481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69" name="Line 402">
            <a:extLst>
              <a:ext uri="{FF2B5EF4-FFF2-40B4-BE49-F238E27FC236}">
                <a16:creationId xmlns:a16="http://schemas.microsoft.com/office/drawing/2014/main" xmlns="" id="{A633E427-C358-5676-3137-9AEE60163EBE}"/>
              </a:ext>
            </a:extLst>
          </p:cNvPr>
          <p:cNvSpPr>
            <a:spLocks noChangeShapeType="1"/>
          </p:cNvSpPr>
          <p:nvPr/>
        </p:nvSpPr>
        <p:spPr bwMode="auto">
          <a:xfrm flipH="1">
            <a:off x="4443413" y="3884613"/>
            <a:ext cx="40481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70" name="Line 403">
            <a:extLst>
              <a:ext uri="{FF2B5EF4-FFF2-40B4-BE49-F238E27FC236}">
                <a16:creationId xmlns:a16="http://schemas.microsoft.com/office/drawing/2014/main" xmlns="" id="{A2322132-95DF-F70C-8EA1-FDFAD2913643}"/>
              </a:ext>
            </a:extLst>
          </p:cNvPr>
          <p:cNvSpPr>
            <a:spLocks noChangeShapeType="1"/>
          </p:cNvSpPr>
          <p:nvPr/>
        </p:nvSpPr>
        <p:spPr bwMode="auto">
          <a:xfrm flipH="1">
            <a:off x="4848225" y="3884613"/>
            <a:ext cx="404813"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71" name="Line 404">
            <a:extLst>
              <a:ext uri="{FF2B5EF4-FFF2-40B4-BE49-F238E27FC236}">
                <a16:creationId xmlns:a16="http://schemas.microsoft.com/office/drawing/2014/main" xmlns="" id="{97D6F08F-8A15-69C9-1B7D-0F996A0C56E9}"/>
              </a:ext>
            </a:extLst>
          </p:cNvPr>
          <p:cNvSpPr>
            <a:spLocks noChangeShapeType="1"/>
          </p:cNvSpPr>
          <p:nvPr/>
        </p:nvSpPr>
        <p:spPr bwMode="auto">
          <a:xfrm flipH="1">
            <a:off x="5257800" y="3884613"/>
            <a:ext cx="404813"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72" name="Line 405">
            <a:extLst>
              <a:ext uri="{FF2B5EF4-FFF2-40B4-BE49-F238E27FC236}">
                <a16:creationId xmlns:a16="http://schemas.microsoft.com/office/drawing/2014/main" xmlns="" id="{9070BE1D-9950-AFDE-9238-069212C929EB}"/>
              </a:ext>
            </a:extLst>
          </p:cNvPr>
          <p:cNvSpPr>
            <a:spLocks noChangeShapeType="1"/>
          </p:cNvSpPr>
          <p:nvPr/>
        </p:nvSpPr>
        <p:spPr bwMode="auto">
          <a:xfrm flipH="1">
            <a:off x="5638800" y="3889375"/>
            <a:ext cx="404813"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73" name="Line 406">
            <a:extLst>
              <a:ext uri="{FF2B5EF4-FFF2-40B4-BE49-F238E27FC236}">
                <a16:creationId xmlns:a16="http://schemas.microsoft.com/office/drawing/2014/main" xmlns="" id="{ECEC7364-1F53-7C67-AAC4-3FF2C000FE58}"/>
              </a:ext>
            </a:extLst>
          </p:cNvPr>
          <p:cNvSpPr>
            <a:spLocks noChangeShapeType="1"/>
          </p:cNvSpPr>
          <p:nvPr/>
        </p:nvSpPr>
        <p:spPr bwMode="auto">
          <a:xfrm flipH="1">
            <a:off x="6019800" y="3889375"/>
            <a:ext cx="404813"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3574" name="Line 407">
            <a:extLst>
              <a:ext uri="{FF2B5EF4-FFF2-40B4-BE49-F238E27FC236}">
                <a16:creationId xmlns:a16="http://schemas.microsoft.com/office/drawing/2014/main" xmlns="" id="{44AEE7F3-32A0-D5CA-8AC0-3371DBE14A4B}"/>
              </a:ext>
            </a:extLst>
          </p:cNvPr>
          <p:cNvSpPr>
            <a:spLocks noChangeShapeType="1"/>
          </p:cNvSpPr>
          <p:nvPr/>
        </p:nvSpPr>
        <p:spPr bwMode="auto">
          <a:xfrm flipH="1">
            <a:off x="1652588" y="3889375"/>
            <a:ext cx="40481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9">
            <a:extLst>
              <a:ext uri="{FF2B5EF4-FFF2-40B4-BE49-F238E27FC236}">
                <a16:creationId xmlns:a16="http://schemas.microsoft.com/office/drawing/2014/main" xmlns="" id="{8B224FD0-2FDE-63F4-407C-60F97EEF74F5}"/>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b="1">
                <a:solidFill>
                  <a:schemeClr val="tx1"/>
                </a:solidFill>
              </a:rPr>
              <a:t>Types of Event to trigger RTES</a:t>
            </a:r>
            <a:endParaRPr lang="en-US" altLang="en-US" sz="3400" b="1">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24579" name="Picture 6">
            <a:extLst>
              <a:ext uri="{FF2B5EF4-FFF2-40B4-BE49-F238E27FC236}">
                <a16:creationId xmlns:a16="http://schemas.microsoft.com/office/drawing/2014/main" xmlns="" id="{3F41BD68-53E2-D928-6F56-7CEE6D80C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Rectangle 3">
            <a:extLst>
              <a:ext uri="{FF2B5EF4-FFF2-40B4-BE49-F238E27FC236}">
                <a16:creationId xmlns:a16="http://schemas.microsoft.com/office/drawing/2014/main" xmlns="" id="{310345C9-D40A-4E04-993E-7EF294870405}"/>
              </a:ext>
            </a:extLst>
          </p:cNvPr>
          <p:cNvSpPr txBox="1">
            <a:spLocks noChangeArrowheads="1"/>
          </p:cNvSpPr>
          <p:nvPr/>
        </p:nvSpPr>
        <p:spPr bwMode="auto">
          <a:xfrm>
            <a:off x="685800" y="1689100"/>
            <a:ext cx="7772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fontScale="92500" lnSpcReduction="10000"/>
          </a:bodyPr>
          <a:lstStyle>
            <a:lvl1pPr marL="304800" indent="-304800" algn="l" defTabSz="457200" rtl="0" eaLnBrk="0" fontAlgn="base" hangingPunct="0">
              <a:spcBef>
                <a:spcPct val="20000"/>
              </a:spcBef>
              <a:spcAft>
                <a:spcPts val="600"/>
              </a:spcAft>
              <a:buClr>
                <a:schemeClr val="accent2"/>
              </a:buClr>
              <a:buSzPct val="92000"/>
              <a:buFont typeface="Wingdings 2" pitchFamily="18" charset="2"/>
              <a:buChar char=""/>
              <a:defRPr sz="3200" kern="1200">
                <a:solidFill>
                  <a:schemeClr val="tx2"/>
                </a:solidFill>
                <a:latin typeface="+mn-lt"/>
                <a:ea typeface="+mn-ea"/>
                <a:cs typeface="+mn-cs"/>
              </a:defRPr>
            </a:lvl1pPr>
            <a:lvl2pPr marL="628650" indent="-304800" algn="l" defTabSz="457200" rtl="0" eaLnBrk="0" fontAlgn="base" hangingPunct="0">
              <a:spcBef>
                <a:spcPct val="20000"/>
              </a:spcBef>
              <a:spcAft>
                <a:spcPts val="600"/>
              </a:spcAft>
              <a:buClr>
                <a:schemeClr val="accent2"/>
              </a:buClr>
              <a:buSzPct val="92000"/>
              <a:buFont typeface="Wingdings 2" pitchFamily="18" charset="2"/>
              <a:buChar char=""/>
              <a:defRPr sz="1600" kern="1200">
                <a:solidFill>
                  <a:schemeClr val="tx2"/>
                </a:solidFill>
                <a:latin typeface="+mn-lt"/>
                <a:ea typeface="+mn-ea"/>
                <a:cs typeface="+mn-cs"/>
              </a:defRPr>
            </a:lvl2pPr>
            <a:lvl3pPr marL="898525" indent="-269875" algn="l" defTabSz="457200" rtl="0" eaLnBrk="0" fontAlgn="base" hangingPunct="0">
              <a:spcBef>
                <a:spcPct val="20000"/>
              </a:spcBef>
              <a:spcAft>
                <a:spcPts val="600"/>
              </a:spcAft>
              <a:buClr>
                <a:schemeClr val="accent2"/>
              </a:buClr>
              <a:buSzPct val="92000"/>
              <a:buFont typeface="Wingdings 2" pitchFamily="18" charset="2"/>
              <a:buChar char=""/>
              <a:defRPr sz="1400" kern="1200">
                <a:solidFill>
                  <a:schemeClr val="tx2"/>
                </a:solidFill>
                <a:latin typeface="+mn-lt"/>
                <a:ea typeface="+mn-ea"/>
                <a:cs typeface="+mn-cs"/>
              </a:defRPr>
            </a:lvl3pPr>
            <a:lvl4pPr marL="1241425" indent="-233363" algn="l" defTabSz="457200" rtl="0" eaLnBrk="0" fontAlgn="base" hangingPunct="0">
              <a:spcBef>
                <a:spcPct val="20000"/>
              </a:spcBef>
              <a:spcAft>
                <a:spcPts val="600"/>
              </a:spcAft>
              <a:buClr>
                <a:schemeClr val="accent2"/>
              </a:buClr>
              <a:buSzPct val="92000"/>
              <a:buFont typeface="Wingdings 2" pitchFamily="18" charset="2"/>
              <a:buChar char=""/>
              <a:defRPr sz="1200" kern="1200">
                <a:solidFill>
                  <a:schemeClr val="tx2"/>
                </a:solidFill>
                <a:latin typeface="+mn-lt"/>
                <a:ea typeface="+mn-ea"/>
                <a:cs typeface="+mn-cs"/>
              </a:defRPr>
            </a:lvl4pPr>
            <a:lvl5pPr marL="1601788" indent="-233363" algn="l" defTabSz="457200" rtl="0" eaLnBrk="0" fontAlgn="base" hangingPunct="0">
              <a:spcBef>
                <a:spcPct val="20000"/>
              </a:spcBef>
              <a:spcAft>
                <a:spcPts val="600"/>
              </a:spcAft>
              <a:buClr>
                <a:schemeClr val="accent2"/>
              </a:buClr>
              <a:buSzPct val="92000"/>
              <a:buFont typeface="Wingdings 2"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defRPr/>
            </a:pPr>
            <a:r>
              <a:rPr lang="en-US" dirty="0">
                <a:solidFill>
                  <a:schemeClr val="tx1"/>
                </a:solidFill>
              </a:rPr>
              <a:t>Sporadic</a:t>
            </a:r>
          </a:p>
          <a:p>
            <a:pPr lvl="1">
              <a:defRPr/>
            </a:pPr>
            <a:r>
              <a:rPr lang="en-US" dirty="0">
                <a:solidFill>
                  <a:schemeClr val="tx1"/>
                </a:solidFill>
              </a:rPr>
              <a:t>can occur any time, but</a:t>
            </a:r>
          </a:p>
          <a:p>
            <a:pPr lvl="1">
              <a:defRPr/>
            </a:pPr>
            <a:r>
              <a:rPr lang="en-US" dirty="0">
                <a:solidFill>
                  <a:schemeClr val="tx1"/>
                </a:solidFill>
              </a:rPr>
              <a:t>minimum time between arrivals</a:t>
            </a:r>
          </a:p>
        </p:txBody>
      </p:sp>
      <p:grpSp>
        <p:nvGrpSpPr>
          <p:cNvPr id="24581" name="Group 5">
            <a:extLst>
              <a:ext uri="{FF2B5EF4-FFF2-40B4-BE49-F238E27FC236}">
                <a16:creationId xmlns:a16="http://schemas.microsoft.com/office/drawing/2014/main" xmlns="" id="{F387E54F-72FE-BB3E-CF19-CE6E4E265C0E}"/>
              </a:ext>
            </a:extLst>
          </p:cNvPr>
          <p:cNvGrpSpPr>
            <a:grpSpLocks/>
          </p:cNvGrpSpPr>
          <p:nvPr/>
        </p:nvGrpSpPr>
        <p:grpSpPr bwMode="auto">
          <a:xfrm>
            <a:off x="1322388" y="5207000"/>
            <a:ext cx="6491287" cy="660400"/>
            <a:chOff x="833" y="2552"/>
            <a:chExt cx="4089" cy="416"/>
          </a:xfrm>
        </p:grpSpPr>
        <p:sp>
          <p:nvSpPr>
            <p:cNvPr id="24865" name="Rectangle 6">
              <a:extLst>
                <a:ext uri="{FF2B5EF4-FFF2-40B4-BE49-F238E27FC236}">
                  <a16:creationId xmlns:a16="http://schemas.microsoft.com/office/drawing/2014/main" xmlns="" id="{458C7E77-732E-2475-592B-49CC381929FF}"/>
                </a:ext>
              </a:extLst>
            </p:cNvPr>
            <p:cNvSpPr>
              <a:spLocks noChangeArrowheads="1"/>
            </p:cNvSpPr>
            <p:nvPr/>
          </p:nvSpPr>
          <p:spPr bwMode="auto">
            <a:xfrm>
              <a:off x="4480" y="2636"/>
              <a:ext cx="442" cy="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24866" name="Group 7">
              <a:extLst>
                <a:ext uri="{FF2B5EF4-FFF2-40B4-BE49-F238E27FC236}">
                  <a16:creationId xmlns:a16="http://schemas.microsoft.com/office/drawing/2014/main" xmlns="" id="{B921A06C-69D9-1713-B3D5-68598D616C12}"/>
                </a:ext>
              </a:extLst>
            </p:cNvPr>
            <p:cNvGrpSpPr>
              <a:grpSpLocks/>
            </p:cNvGrpSpPr>
            <p:nvPr/>
          </p:nvGrpSpPr>
          <p:grpSpPr bwMode="auto">
            <a:xfrm>
              <a:off x="833" y="2552"/>
              <a:ext cx="4089" cy="280"/>
              <a:chOff x="833" y="2552"/>
              <a:chExt cx="4089" cy="280"/>
            </a:xfrm>
          </p:grpSpPr>
          <p:grpSp>
            <p:nvGrpSpPr>
              <p:cNvPr id="24867" name="Group 8">
                <a:extLst>
                  <a:ext uri="{FF2B5EF4-FFF2-40B4-BE49-F238E27FC236}">
                    <a16:creationId xmlns:a16="http://schemas.microsoft.com/office/drawing/2014/main" xmlns="" id="{0AB467DE-E8E5-51C0-4537-437AB23D5062}"/>
                  </a:ext>
                </a:extLst>
              </p:cNvPr>
              <p:cNvGrpSpPr>
                <a:grpSpLocks/>
              </p:cNvGrpSpPr>
              <p:nvPr/>
            </p:nvGrpSpPr>
            <p:grpSpPr bwMode="auto">
              <a:xfrm>
                <a:off x="833" y="2552"/>
                <a:ext cx="4089" cy="59"/>
                <a:chOff x="833" y="2552"/>
                <a:chExt cx="4089" cy="59"/>
              </a:xfrm>
            </p:grpSpPr>
            <p:sp>
              <p:nvSpPr>
                <p:cNvPr id="24869" name="Line 9">
                  <a:extLst>
                    <a:ext uri="{FF2B5EF4-FFF2-40B4-BE49-F238E27FC236}">
                      <a16:creationId xmlns:a16="http://schemas.microsoft.com/office/drawing/2014/main" xmlns="" id="{D4DDDA86-F086-AFC1-D8F3-64AC1447C632}"/>
                    </a:ext>
                  </a:extLst>
                </p:cNvPr>
                <p:cNvSpPr>
                  <a:spLocks noChangeShapeType="1"/>
                </p:cNvSpPr>
                <p:nvPr/>
              </p:nvSpPr>
              <p:spPr bwMode="auto">
                <a:xfrm>
                  <a:off x="833" y="2581"/>
                  <a:ext cx="403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4870" name="Freeform 10">
                  <a:extLst>
                    <a:ext uri="{FF2B5EF4-FFF2-40B4-BE49-F238E27FC236}">
                      <a16:creationId xmlns:a16="http://schemas.microsoft.com/office/drawing/2014/main" xmlns="" id="{81AD5D4A-12DA-2BBB-0891-A5C935C23266}"/>
                    </a:ext>
                  </a:extLst>
                </p:cNvPr>
                <p:cNvSpPr>
                  <a:spLocks/>
                </p:cNvSpPr>
                <p:nvPr/>
              </p:nvSpPr>
              <p:spPr bwMode="auto">
                <a:xfrm>
                  <a:off x="4862" y="2552"/>
                  <a:ext cx="60" cy="59"/>
                </a:xfrm>
                <a:custGeom>
                  <a:avLst/>
                  <a:gdLst>
                    <a:gd name="T0" fmla="*/ 0 w 120"/>
                    <a:gd name="T1" fmla="*/ 29 h 120"/>
                    <a:gd name="T2" fmla="*/ 30 w 120"/>
                    <a:gd name="T3" fmla="*/ 14 h 120"/>
                    <a:gd name="T4" fmla="*/ 0 w 120"/>
                    <a:gd name="T5" fmla="*/ 0 h 120"/>
                    <a:gd name="T6" fmla="*/ 0 w 120"/>
                    <a:gd name="T7" fmla="*/ 29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120"/>
                      </a:moveTo>
                      <a:lnTo>
                        <a:pt x="120" y="59"/>
                      </a:lnTo>
                      <a:lnTo>
                        <a:pt x="0" y="0"/>
                      </a:lnTo>
                      <a:lnTo>
                        <a:pt x="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4868" name="Rectangle 11">
                <a:extLst>
                  <a:ext uri="{FF2B5EF4-FFF2-40B4-BE49-F238E27FC236}">
                    <a16:creationId xmlns:a16="http://schemas.microsoft.com/office/drawing/2014/main" xmlns="" id="{8C7B4CA1-90B2-152F-1349-55A3731DC586}"/>
                  </a:ext>
                </a:extLst>
              </p:cNvPr>
              <p:cNvSpPr>
                <a:spLocks noChangeArrowheads="1"/>
              </p:cNvSpPr>
              <p:nvPr/>
            </p:nvSpPr>
            <p:spPr bwMode="auto">
              <a:xfrm>
                <a:off x="4535" y="2669"/>
                <a:ext cx="25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000000"/>
                    </a:solidFill>
                  </a:rPr>
                  <a:t>time</a:t>
                </a:r>
                <a:endParaRPr lang="en-US" altLang="en-US" sz="2400">
                  <a:latin typeface="Times New Roman" panose="02020603050405020304" pitchFamily="18" charset="0"/>
                </a:endParaRPr>
              </a:p>
            </p:txBody>
          </p:sp>
        </p:grpSp>
      </p:grpSp>
      <p:sp>
        <p:nvSpPr>
          <p:cNvPr id="24582" name="Rectangle 83">
            <a:extLst>
              <a:ext uri="{FF2B5EF4-FFF2-40B4-BE49-F238E27FC236}">
                <a16:creationId xmlns:a16="http://schemas.microsoft.com/office/drawing/2014/main" xmlns="" id="{F1E6094D-9554-A45C-BCF2-66436A0A1D51}"/>
              </a:ext>
            </a:extLst>
          </p:cNvPr>
          <p:cNvSpPr>
            <a:spLocks noChangeArrowheads="1"/>
          </p:cNvSpPr>
          <p:nvPr/>
        </p:nvSpPr>
        <p:spPr bwMode="auto">
          <a:xfrm>
            <a:off x="5006975" y="3498850"/>
            <a:ext cx="876300" cy="3508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4583" name="Rectangle 90">
            <a:extLst>
              <a:ext uri="{FF2B5EF4-FFF2-40B4-BE49-F238E27FC236}">
                <a16:creationId xmlns:a16="http://schemas.microsoft.com/office/drawing/2014/main" xmlns="" id="{E1AAADD1-02A9-0769-B1C8-ED5E66070DD9}"/>
              </a:ext>
            </a:extLst>
          </p:cNvPr>
          <p:cNvSpPr>
            <a:spLocks noChangeArrowheads="1"/>
          </p:cNvSpPr>
          <p:nvPr/>
        </p:nvSpPr>
        <p:spPr bwMode="auto">
          <a:xfrm>
            <a:off x="2813050" y="4025900"/>
            <a:ext cx="877888" cy="3508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4584" name="Rectangle 91">
            <a:extLst>
              <a:ext uri="{FF2B5EF4-FFF2-40B4-BE49-F238E27FC236}">
                <a16:creationId xmlns:a16="http://schemas.microsoft.com/office/drawing/2014/main" xmlns="" id="{79B26E8D-D5CD-D3D0-43A6-AA2EAEEF2FDD}"/>
              </a:ext>
            </a:extLst>
          </p:cNvPr>
          <p:cNvSpPr>
            <a:spLocks noChangeArrowheads="1"/>
          </p:cNvSpPr>
          <p:nvPr/>
        </p:nvSpPr>
        <p:spPr bwMode="auto">
          <a:xfrm>
            <a:off x="2900363" y="4075113"/>
            <a:ext cx="407987"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00FF00"/>
                </a:solidFill>
              </a:rPr>
              <a:t>mint</a:t>
            </a:r>
            <a:endParaRPr lang="en-US" altLang="en-US" sz="2400">
              <a:latin typeface="Times New Roman" panose="02020603050405020304" pitchFamily="18" charset="0"/>
            </a:endParaRPr>
          </a:p>
        </p:txBody>
      </p:sp>
      <p:grpSp>
        <p:nvGrpSpPr>
          <p:cNvPr id="24585" name="Group 92">
            <a:extLst>
              <a:ext uri="{FF2B5EF4-FFF2-40B4-BE49-F238E27FC236}">
                <a16:creationId xmlns:a16="http://schemas.microsoft.com/office/drawing/2014/main" xmlns="" id="{17FC22A2-E60E-9E9E-E0C9-AE3C026A7CF8}"/>
              </a:ext>
            </a:extLst>
          </p:cNvPr>
          <p:cNvGrpSpPr>
            <a:grpSpLocks/>
          </p:cNvGrpSpPr>
          <p:nvPr/>
        </p:nvGrpSpPr>
        <p:grpSpPr bwMode="auto">
          <a:xfrm>
            <a:off x="2765425" y="4459288"/>
            <a:ext cx="95250" cy="793750"/>
            <a:chOff x="1742" y="2081"/>
            <a:chExt cx="60" cy="500"/>
          </a:xfrm>
        </p:grpSpPr>
        <p:sp>
          <p:nvSpPr>
            <p:cNvPr id="24824" name="Freeform 93">
              <a:extLst>
                <a:ext uri="{FF2B5EF4-FFF2-40B4-BE49-F238E27FC236}">
                  <a16:creationId xmlns:a16="http://schemas.microsoft.com/office/drawing/2014/main" xmlns="" id="{62B09E1F-2F11-DFCE-F8A5-BA5309F7C4BB}"/>
                </a:ext>
              </a:extLst>
            </p:cNvPr>
            <p:cNvSpPr>
              <a:spLocks/>
            </p:cNvSpPr>
            <p:nvPr/>
          </p:nvSpPr>
          <p:spPr bwMode="auto">
            <a:xfrm>
              <a:off x="1769" y="2081"/>
              <a:ext cx="6" cy="6"/>
            </a:xfrm>
            <a:custGeom>
              <a:avLst/>
              <a:gdLst>
                <a:gd name="T0" fmla="*/ 3 w 11"/>
                <a:gd name="T1" fmla="*/ 2 h 11"/>
                <a:gd name="T2" fmla="*/ 3 w 11"/>
                <a:gd name="T3" fmla="*/ 2 h 11"/>
                <a:gd name="T4" fmla="*/ 3 w 11"/>
                <a:gd name="T5" fmla="*/ 1 h 11"/>
                <a:gd name="T6" fmla="*/ 2 w 11"/>
                <a:gd name="T7" fmla="*/ 1 h 11"/>
                <a:gd name="T8" fmla="*/ 2 w 11"/>
                <a:gd name="T9" fmla="*/ 0 h 11"/>
                <a:gd name="T10" fmla="*/ 2 w 11"/>
                <a:gd name="T11" fmla="*/ 0 h 11"/>
                <a:gd name="T12" fmla="*/ 1 w 11"/>
                <a:gd name="T13" fmla="*/ 1 h 11"/>
                <a:gd name="T14" fmla="*/ 1 w 11"/>
                <a:gd name="T15" fmla="*/ 1 h 11"/>
                <a:gd name="T16" fmla="*/ 0 w 11"/>
                <a:gd name="T17" fmla="*/ 2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 h="11">
                  <a:moveTo>
                    <a:pt x="11" y="8"/>
                  </a:moveTo>
                  <a:lnTo>
                    <a:pt x="11" y="6"/>
                  </a:lnTo>
                  <a:lnTo>
                    <a:pt x="9" y="4"/>
                  </a:lnTo>
                  <a:lnTo>
                    <a:pt x="7" y="2"/>
                  </a:lnTo>
                  <a:lnTo>
                    <a:pt x="5" y="0"/>
                  </a:lnTo>
                  <a:lnTo>
                    <a:pt x="3" y="2"/>
                  </a:lnTo>
                  <a:lnTo>
                    <a:pt x="1" y="4"/>
                  </a:lnTo>
                  <a:lnTo>
                    <a:pt x="0" y="6"/>
                  </a:lnTo>
                  <a:lnTo>
                    <a:pt x="1" y="8"/>
                  </a:lnTo>
                  <a:lnTo>
                    <a:pt x="3" y="9"/>
                  </a:lnTo>
                  <a:lnTo>
                    <a:pt x="5" y="11"/>
                  </a:lnTo>
                  <a:lnTo>
                    <a:pt x="7" y="9"/>
                  </a:lnTo>
                  <a:lnTo>
                    <a:pt x="9" y="8"/>
                  </a:lnTo>
                  <a:lnTo>
                    <a:pt x="11" y="8"/>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5" name="Freeform 94">
              <a:extLst>
                <a:ext uri="{FF2B5EF4-FFF2-40B4-BE49-F238E27FC236}">
                  <a16:creationId xmlns:a16="http://schemas.microsoft.com/office/drawing/2014/main" xmlns="" id="{259EB1AE-2EC1-7944-84BA-4A0F0A545186}"/>
                </a:ext>
              </a:extLst>
            </p:cNvPr>
            <p:cNvSpPr>
              <a:spLocks/>
            </p:cNvSpPr>
            <p:nvPr/>
          </p:nvSpPr>
          <p:spPr bwMode="auto">
            <a:xfrm>
              <a:off x="1769" y="2092"/>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6" name="Freeform 95">
              <a:extLst>
                <a:ext uri="{FF2B5EF4-FFF2-40B4-BE49-F238E27FC236}">
                  <a16:creationId xmlns:a16="http://schemas.microsoft.com/office/drawing/2014/main" xmlns="" id="{C7EE6C3D-1CE8-7216-7630-960C6CCAF738}"/>
                </a:ext>
              </a:extLst>
            </p:cNvPr>
            <p:cNvSpPr>
              <a:spLocks/>
            </p:cNvSpPr>
            <p:nvPr/>
          </p:nvSpPr>
          <p:spPr bwMode="auto">
            <a:xfrm>
              <a:off x="1769" y="2103"/>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7" name="Freeform 96">
              <a:extLst>
                <a:ext uri="{FF2B5EF4-FFF2-40B4-BE49-F238E27FC236}">
                  <a16:creationId xmlns:a16="http://schemas.microsoft.com/office/drawing/2014/main" xmlns="" id="{27F506F4-C006-9E04-03E7-F9CFE0834919}"/>
                </a:ext>
              </a:extLst>
            </p:cNvPr>
            <p:cNvSpPr>
              <a:spLocks/>
            </p:cNvSpPr>
            <p:nvPr/>
          </p:nvSpPr>
          <p:spPr bwMode="auto">
            <a:xfrm>
              <a:off x="1769" y="2114"/>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1" y="1"/>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8" name="Freeform 97">
              <a:extLst>
                <a:ext uri="{FF2B5EF4-FFF2-40B4-BE49-F238E27FC236}">
                  <a16:creationId xmlns:a16="http://schemas.microsoft.com/office/drawing/2014/main" xmlns="" id="{2F3F8736-FF04-72CB-2C23-0C88BA821471}"/>
                </a:ext>
              </a:extLst>
            </p:cNvPr>
            <p:cNvSpPr>
              <a:spLocks/>
            </p:cNvSpPr>
            <p:nvPr/>
          </p:nvSpPr>
          <p:spPr bwMode="auto">
            <a:xfrm>
              <a:off x="1769" y="2125"/>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1" y="1"/>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9" name="Freeform 98">
              <a:extLst>
                <a:ext uri="{FF2B5EF4-FFF2-40B4-BE49-F238E27FC236}">
                  <a16:creationId xmlns:a16="http://schemas.microsoft.com/office/drawing/2014/main" xmlns="" id="{29BC2857-DFCE-6DAE-3068-58A4B7F9538D}"/>
                </a:ext>
              </a:extLst>
            </p:cNvPr>
            <p:cNvSpPr>
              <a:spLocks/>
            </p:cNvSpPr>
            <p:nvPr/>
          </p:nvSpPr>
          <p:spPr bwMode="auto">
            <a:xfrm>
              <a:off x="1769" y="2136"/>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1" y="2"/>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0" name="Freeform 99">
              <a:extLst>
                <a:ext uri="{FF2B5EF4-FFF2-40B4-BE49-F238E27FC236}">
                  <a16:creationId xmlns:a16="http://schemas.microsoft.com/office/drawing/2014/main" xmlns="" id="{4F5BC8D7-252F-54D7-B2C0-0941DC819407}"/>
                </a:ext>
              </a:extLst>
            </p:cNvPr>
            <p:cNvSpPr>
              <a:spLocks/>
            </p:cNvSpPr>
            <p:nvPr/>
          </p:nvSpPr>
          <p:spPr bwMode="auto">
            <a:xfrm>
              <a:off x="1769" y="2147"/>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1" y="2"/>
                  </a:lnTo>
                  <a:lnTo>
                    <a:pt x="0" y="4"/>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1" name="Freeform 100">
              <a:extLst>
                <a:ext uri="{FF2B5EF4-FFF2-40B4-BE49-F238E27FC236}">
                  <a16:creationId xmlns:a16="http://schemas.microsoft.com/office/drawing/2014/main" xmlns="" id="{BF5FB03E-2349-1CA5-FA2C-CD978065864A}"/>
                </a:ext>
              </a:extLst>
            </p:cNvPr>
            <p:cNvSpPr>
              <a:spLocks/>
            </p:cNvSpPr>
            <p:nvPr/>
          </p:nvSpPr>
          <p:spPr bwMode="auto">
            <a:xfrm>
              <a:off x="1769" y="2158"/>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1" y="2"/>
                  </a:lnTo>
                  <a:lnTo>
                    <a:pt x="0" y="4"/>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2" name="Freeform 101">
              <a:extLst>
                <a:ext uri="{FF2B5EF4-FFF2-40B4-BE49-F238E27FC236}">
                  <a16:creationId xmlns:a16="http://schemas.microsoft.com/office/drawing/2014/main" xmlns="" id="{E81AE521-27D9-BED4-E336-E31404C5D9EB}"/>
                </a:ext>
              </a:extLst>
            </p:cNvPr>
            <p:cNvSpPr>
              <a:spLocks/>
            </p:cNvSpPr>
            <p:nvPr/>
          </p:nvSpPr>
          <p:spPr bwMode="auto">
            <a:xfrm>
              <a:off x="1769" y="2170"/>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3" name="Freeform 102">
              <a:extLst>
                <a:ext uri="{FF2B5EF4-FFF2-40B4-BE49-F238E27FC236}">
                  <a16:creationId xmlns:a16="http://schemas.microsoft.com/office/drawing/2014/main" xmlns="" id="{34764779-519C-7CAB-5DF4-4938582148C0}"/>
                </a:ext>
              </a:extLst>
            </p:cNvPr>
            <p:cNvSpPr>
              <a:spLocks/>
            </p:cNvSpPr>
            <p:nvPr/>
          </p:nvSpPr>
          <p:spPr bwMode="auto">
            <a:xfrm>
              <a:off x="1769" y="2181"/>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4" name="Freeform 103">
              <a:extLst>
                <a:ext uri="{FF2B5EF4-FFF2-40B4-BE49-F238E27FC236}">
                  <a16:creationId xmlns:a16="http://schemas.microsoft.com/office/drawing/2014/main" xmlns="" id="{B509C614-9E31-5C6E-A65B-F3381AB50E0A}"/>
                </a:ext>
              </a:extLst>
            </p:cNvPr>
            <p:cNvSpPr>
              <a:spLocks/>
            </p:cNvSpPr>
            <p:nvPr/>
          </p:nvSpPr>
          <p:spPr bwMode="auto">
            <a:xfrm>
              <a:off x="1769" y="2192"/>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5" name="Freeform 104">
              <a:extLst>
                <a:ext uri="{FF2B5EF4-FFF2-40B4-BE49-F238E27FC236}">
                  <a16:creationId xmlns:a16="http://schemas.microsoft.com/office/drawing/2014/main" xmlns="" id="{2295FEF6-699F-D4B2-E342-C53AB262D867}"/>
                </a:ext>
              </a:extLst>
            </p:cNvPr>
            <p:cNvSpPr>
              <a:spLocks/>
            </p:cNvSpPr>
            <p:nvPr/>
          </p:nvSpPr>
          <p:spPr bwMode="auto">
            <a:xfrm>
              <a:off x="1769" y="2203"/>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6" name="Freeform 105">
              <a:extLst>
                <a:ext uri="{FF2B5EF4-FFF2-40B4-BE49-F238E27FC236}">
                  <a16:creationId xmlns:a16="http://schemas.microsoft.com/office/drawing/2014/main" xmlns="" id="{21354A00-91B5-08EC-3FDF-A1EC4452CB50}"/>
                </a:ext>
              </a:extLst>
            </p:cNvPr>
            <p:cNvSpPr>
              <a:spLocks/>
            </p:cNvSpPr>
            <p:nvPr/>
          </p:nvSpPr>
          <p:spPr bwMode="auto">
            <a:xfrm>
              <a:off x="1769" y="2214"/>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7" name="Freeform 106">
              <a:extLst>
                <a:ext uri="{FF2B5EF4-FFF2-40B4-BE49-F238E27FC236}">
                  <a16:creationId xmlns:a16="http://schemas.microsoft.com/office/drawing/2014/main" xmlns="" id="{83FC294B-8936-114F-7717-25F06783607C}"/>
                </a:ext>
              </a:extLst>
            </p:cNvPr>
            <p:cNvSpPr>
              <a:spLocks/>
            </p:cNvSpPr>
            <p:nvPr/>
          </p:nvSpPr>
          <p:spPr bwMode="auto">
            <a:xfrm>
              <a:off x="1769" y="2225"/>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1" y="1"/>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8" name="Freeform 107">
              <a:extLst>
                <a:ext uri="{FF2B5EF4-FFF2-40B4-BE49-F238E27FC236}">
                  <a16:creationId xmlns:a16="http://schemas.microsoft.com/office/drawing/2014/main" xmlns="" id="{4A523930-3760-3072-4F4E-36D4AB2E3106}"/>
                </a:ext>
              </a:extLst>
            </p:cNvPr>
            <p:cNvSpPr>
              <a:spLocks/>
            </p:cNvSpPr>
            <p:nvPr/>
          </p:nvSpPr>
          <p:spPr bwMode="auto">
            <a:xfrm>
              <a:off x="1769" y="2236"/>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1" y="1"/>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39" name="Freeform 108">
              <a:extLst>
                <a:ext uri="{FF2B5EF4-FFF2-40B4-BE49-F238E27FC236}">
                  <a16:creationId xmlns:a16="http://schemas.microsoft.com/office/drawing/2014/main" xmlns="" id="{652E0373-67EE-B1A4-D5A9-B70BEE334E89}"/>
                </a:ext>
              </a:extLst>
            </p:cNvPr>
            <p:cNvSpPr>
              <a:spLocks/>
            </p:cNvSpPr>
            <p:nvPr/>
          </p:nvSpPr>
          <p:spPr bwMode="auto">
            <a:xfrm>
              <a:off x="1769" y="2247"/>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1" y="2"/>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0" name="Freeform 109">
              <a:extLst>
                <a:ext uri="{FF2B5EF4-FFF2-40B4-BE49-F238E27FC236}">
                  <a16:creationId xmlns:a16="http://schemas.microsoft.com/office/drawing/2014/main" xmlns="" id="{0D8181F5-7E0F-AB0B-8ACD-3C38A533A16F}"/>
                </a:ext>
              </a:extLst>
            </p:cNvPr>
            <p:cNvSpPr>
              <a:spLocks/>
            </p:cNvSpPr>
            <p:nvPr/>
          </p:nvSpPr>
          <p:spPr bwMode="auto">
            <a:xfrm>
              <a:off x="1769" y="2258"/>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1" y="2"/>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1" name="Freeform 110">
              <a:extLst>
                <a:ext uri="{FF2B5EF4-FFF2-40B4-BE49-F238E27FC236}">
                  <a16:creationId xmlns:a16="http://schemas.microsoft.com/office/drawing/2014/main" xmlns="" id="{F3960ED4-EF71-052A-363B-A39E9C82BB16}"/>
                </a:ext>
              </a:extLst>
            </p:cNvPr>
            <p:cNvSpPr>
              <a:spLocks/>
            </p:cNvSpPr>
            <p:nvPr/>
          </p:nvSpPr>
          <p:spPr bwMode="auto">
            <a:xfrm>
              <a:off x="1769" y="2269"/>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1" y="2"/>
                  </a:lnTo>
                  <a:lnTo>
                    <a:pt x="0" y="4"/>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2" name="Freeform 111">
              <a:extLst>
                <a:ext uri="{FF2B5EF4-FFF2-40B4-BE49-F238E27FC236}">
                  <a16:creationId xmlns:a16="http://schemas.microsoft.com/office/drawing/2014/main" xmlns="" id="{7B69ED8E-9AC7-8DDE-EE21-4B58D45B69C6}"/>
                </a:ext>
              </a:extLst>
            </p:cNvPr>
            <p:cNvSpPr>
              <a:spLocks/>
            </p:cNvSpPr>
            <p:nvPr/>
          </p:nvSpPr>
          <p:spPr bwMode="auto">
            <a:xfrm>
              <a:off x="1769" y="2280"/>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3" name="Freeform 112">
              <a:extLst>
                <a:ext uri="{FF2B5EF4-FFF2-40B4-BE49-F238E27FC236}">
                  <a16:creationId xmlns:a16="http://schemas.microsoft.com/office/drawing/2014/main" xmlns="" id="{FB628DC0-C26A-3E24-F7F8-3091D5404963}"/>
                </a:ext>
              </a:extLst>
            </p:cNvPr>
            <p:cNvSpPr>
              <a:spLocks/>
            </p:cNvSpPr>
            <p:nvPr/>
          </p:nvSpPr>
          <p:spPr bwMode="auto">
            <a:xfrm>
              <a:off x="1769" y="2291"/>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4" name="Freeform 113">
              <a:extLst>
                <a:ext uri="{FF2B5EF4-FFF2-40B4-BE49-F238E27FC236}">
                  <a16:creationId xmlns:a16="http://schemas.microsoft.com/office/drawing/2014/main" xmlns="" id="{5D0201BB-7594-57E1-E2F3-70FBDEC5BEE7}"/>
                </a:ext>
              </a:extLst>
            </p:cNvPr>
            <p:cNvSpPr>
              <a:spLocks/>
            </p:cNvSpPr>
            <p:nvPr/>
          </p:nvSpPr>
          <p:spPr bwMode="auto">
            <a:xfrm>
              <a:off x="1769" y="2302"/>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5" name="Freeform 114">
              <a:extLst>
                <a:ext uri="{FF2B5EF4-FFF2-40B4-BE49-F238E27FC236}">
                  <a16:creationId xmlns:a16="http://schemas.microsoft.com/office/drawing/2014/main" xmlns="" id="{64CBDCB7-19CB-3D9D-8AB7-C14F24D54D2A}"/>
                </a:ext>
              </a:extLst>
            </p:cNvPr>
            <p:cNvSpPr>
              <a:spLocks/>
            </p:cNvSpPr>
            <p:nvPr/>
          </p:nvSpPr>
          <p:spPr bwMode="auto">
            <a:xfrm>
              <a:off x="1769" y="2313"/>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6" name="Freeform 115">
              <a:extLst>
                <a:ext uri="{FF2B5EF4-FFF2-40B4-BE49-F238E27FC236}">
                  <a16:creationId xmlns:a16="http://schemas.microsoft.com/office/drawing/2014/main" xmlns="" id="{F7556F41-1575-B89F-5223-1D72CCF8CEDE}"/>
                </a:ext>
              </a:extLst>
            </p:cNvPr>
            <p:cNvSpPr>
              <a:spLocks/>
            </p:cNvSpPr>
            <p:nvPr/>
          </p:nvSpPr>
          <p:spPr bwMode="auto">
            <a:xfrm>
              <a:off x="1769" y="2324"/>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7" name="Freeform 116">
              <a:extLst>
                <a:ext uri="{FF2B5EF4-FFF2-40B4-BE49-F238E27FC236}">
                  <a16:creationId xmlns:a16="http://schemas.microsoft.com/office/drawing/2014/main" xmlns="" id="{304199F4-499C-1E06-CD56-08B9D7830E2B}"/>
                </a:ext>
              </a:extLst>
            </p:cNvPr>
            <p:cNvSpPr>
              <a:spLocks/>
            </p:cNvSpPr>
            <p:nvPr/>
          </p:nvSpPr>
          <p:spPr bwMode="auto">
            <a:xfrm>
              <a:off x="1769" y="2335"/>
              <a:ext cx="6" cy="6"/>
            </a:xfrm>
            <a:custGeom>
              <a:avLst/>
              <a:gdLst>
                <a:gd name="T0" fmla="*/ 3 w 11"/>
                <a:gd name="T1" fmla="*/ 2 h 12"/>
                <a:gd name="T2" fmla="*/ 3 w 11"/>
                <a:gd name="T3" fmla="*/ 1 h 12"/>
                <a:gd name="T4" fmla="*/ 3 w 11"/>
                <a:gd name="T5" fmla="*/ 1 h 12"/>
                <a:gd name="T6" fmla="*/ 3 w 11"/>
                <a:gd name="T7" fmla="*/ 0 h 12"/>
                <a:gd name="T8" fmla="*/ 2 w 11"/>
                <a:gd name="T9" fmla="*/ 0 h 12"/>
                <a:gd name="T10" fmla="*/ 2 w 11"/>
                <a:gd name="T11" fmla="*/ 0 h 12"/>
                <a:gd name="T12" fmla="*/ 1 w 11"/>
                <a:gd name="T13" fmla="*/ 0 h 12"/>
                <a:gd name="T14" fmla="*/ 1 w 11"/>
                <a:gd name="T15" fmla="*/ 1 h 12"/>
                <a:gd name="T16" fmla="*/ 0 w 11"/>
                <a:gd name="T17" fmla="*/ 1 h 12"/>
                <a:gd name="T18" fmla="*/ 0 w 11"/>
                <a:gd name="T19" fmla="*/ 2 h 12"/>
                <a:gd name="T20" fmla="*/ 0 w 11"/>
                <a:gd name="T21" fmla="*/ 2 h 12"/>
                <a:gd name="T22" fmla="*/ 1 w 11"/>
                <a:gd name="T23" fmla="*/ 2 h 12"/>
                <a:gd name="T24" fmla="*/ 1 w 11"/>
                <a:gd name="T25" fmla="*/ 3 h 12"/>
                <a:gd name="T26" fmla="*/ 2 w 11"/>
                <a:gd name="T27" fmla="*/ 3 h 12"/>
                <a:gd name="T28" fmla="*/ 2 w 11"/>
                <a:gd name="T29" fmla="*/ 3 h 12"/>
                <a:gd name="T30" fmla="*/ 2 w 11"/>
                <a:gd name="T31" fmla="*/ 3 h 12"/>
                <a:gd name="T32" fmla="*/ 3 w 11"/>
                <a:gd name="T33" fmla="*/ 2 h 12"/>
                <a:gd name="T34" fmla="*/ 3 w 11"/>
                <a:gd name="T35" fmla="*/ 2 h 12"/>
                <a:gd name="T36" fmla="*/ 3 w 11"/>
                <a:gd name="T37" fmla="*/ 2 h 1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2">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2"/>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8" name="Freeform 117">
              <a:extLst>
                <a:ext uri="{FF2B5EF4-FFF2-40B4-BE49-F238E27FC236}">
                  <a16:creationId xmlns:a16="http://schemas.microsoft.com/office/drawing/2014/main" xmlns="" id="{9A865CF7-A925-7056-3B9D-D99CC2CBDC31}"/>
                </a:ext>
              </a:extLst>
            </p:cNvPr>
            <p:cNvSpPr>
              <a:spLocks/>
            </p:cNvSpPr>
            <p:nvPr/>
          </p:nvSpPr>
          <p:spPr bwMode="auto">
            <a:xfrm>
              <a:off x="1769" y="2346"/>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1" y="1"/>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49" name="Freeform 118">
              <a:extLst>
                <a:ext uri="{FF2B5EF4-FFF2-40B4-BE49-F238E27FC236}">
                  <a16:creationId xmlns:a16="http://schemas.microsoft.com/office/drawing/2014/main" xmlns="" id="{C08DDB08-21FF-399B-7E15-BA4AB3A21F32}"/>
                </a:ext>
              </a:extLst>
            </p:cNvPr>
            <p:cNvSpPr>
              <a:spLocks/>
            </p:cNvSpPr>
            <p:nvPr/>
          </p:nvSpPr>
          <p:spPr bwMode="auto">
            <a:xfrm>
              <a:off x="1769" y="2357"/>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1" y="2"/>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0" name="Freeform 119">
              <a:extLst>
                <a:ext uri="{FF2B5EF4-FFF2-40B4-BE49-F238E27FC236}">
                  <a16:creationId xmlns:a16="http://schemas.microsoft.com/office/drawing/2014/main" xmlns="" id="{0DE01FC7-BB81-0716-2DB6-522CEA59CC88}"/>
                </a:ext>
              </a:extLst>
            </p:cNvPr>
            <p:cNvSpPr>
              <a:spLocks/>
            </p:cNvSpPr>
            <p:nvPr/>
          </p:nvSpPr>
          <p:spPr bwMode="auto">
            <a:xfrm>
              <a:off x="1769" y="2368"/>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1" y="2"/>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1" name="Freeform 120">
              <a:extLst>
                <a:ext uri="{FF2B5EF4-FFF2-40B4-BE49-F238E27FC236}">
                  <a16:creationId xmlns:a16="http://schemas.microsoft.com/office/drawing/2014/main" xmlns="" id="{CC94A5F4-9BD6-AFC7-490D-77C403CDCF1B}"/>
                </a:ext>
              </a:extLst>
            </p:cNvPr>
            <p:cNvSpPr>
              <a:spLocks/>
            </p:cNvSpPr>
            <p:nvPr/>
          </p:nvSpPr>
          <p:spPr bwMode="auto">
            <a:xfrm>
              <a:off x="1769" y="2379"/>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1" y="2"/>
                  </a:lnTo>
                  <a:lnTo>
                    <a:pt x="0" y="4"/>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2" name="Freeform 121">
              <a:extLst>
                <a:ext uri="{FF2B5EF4-FFF2-40B4-BE49-F238E27FC236}">
                  <a16:creationId xmlns:a16="http://schemas.microsoft.com/office/drawing/2014/main" xmlns="" id="{2F179C63-3136-95BD-270A-BD598E903489}"/>
                </a:ext>
              </a:extLst>
            </p:cNvPr>
            <p:cNvSpPr>
              <a:spLocks/>
            </p:cNvSpPr>
            <p:nvPr/>
          </p:nvSpPr>
          <p:spPr bwMode="auto">
            <a:xfrm>
              <a:off x="1769" y="2390"/>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1" y="2"/>
                  </a:lnTo>
                  <a:lnTo>
                    <a:pt x="0" y="4"/>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3" name="Freeform 122">
              <a:extLst>
                <a:ext uri="{FF2B5EF4-FFF2-40B4-BE49-F238E27FC236}">
                  <a16:creationId xmlns:a16="http://schemas.microsoft.com/office/drawing/2014/main" xmlns="" id="{5E4BF5D1-B25F-DF44-1EBD-AE4D36E52C36}"/>
                </a:ext>
              </a:extLst>
            </p:cNvPr>
            <p:cNvSpPr>
              <a:spLocks/>
            </p:cNvSpPr>
            <p:nvPr/>
          </p:nvSpPr>
          <p:spPr bwMode="auto">
            <a:xfrm>
              <a:off x="1769" y="2402"/>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4" name="Freeform 123">
              <a:extLst>
                <a:ext uri="{FF2B5EF4-FFF2-40B4-BE49-F238E27FC236}">
                  <a16:creationId xmlns:a16="http://schemas.microsoft.com/office/drawing/2014/main" xmlns="" id="{BEE318D8-158C-086E-F7DF-7880FC144D0B}"/>
                </a:ext>
              </a:extLst>
            </p:cNvPr>
            <p:cNvSpPr>
              <a:spLocks/>
            </p:cNvSpPr>
            <p:nvPr/>
          </p:nvSpPr>
          <p:spPr bwMode="auto">
            <a:xfrm>
              <a:off x="1769" y="2413"/>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5" name="Freeform 124">
              <a:extLst>
                <a:ext uri="{FF2B5EF4-FFF2-40B4-BE49-F238E27FC236}">
                  <a16:creationId xmlns:a16="http://schemas.microsoft.com/office/drawing/2014/main" xmlns="" id="{0E6E34F5-A372-4DF2-29DF-73E391F167EA}"/>
                </a:ext>
              </a:extLst>
            </p:cNvPr>
            <p:cNvSpPr>
              <a:spLocks/>
            </p:cNvSpPr>
            <p:nvPr/>
          </p:nvSpPr>
          <p:spPr bwMode="auto">
            <a:xfrm>
              <a:off x="1769" y="2424"/>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6" name="Freeform 125">
              <a:extLst>
                <a:ext uri="{FF2B5EF4-FFF2-40B4-BE49-F238E27FC236}">
                  <a16:creationId xmlns:a16="http://schemas.microsoft.com/office/drawing/2014/main" xmlns="" id="{36544A79-E005-CEEC-C0A2-7902F7F3EF09}"/>
                </a:ext>
              </a:extLst>
            </p:cNvPr>
            <p:cNvSpPr>
              <a:spLocks/>
            </p:cNvSpPr>
            <p:nvPr/>
          </p:nvSpPr>
          <p:spPr bwMode="auto">
            <a:xfrm>
              <a:off x="1769" y="2435"/>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7" name="Freeform 126">
              <a:extLst>
                <a:ext uri="{FF2B5EF4-FFF2-40B4-BE49-F238E27FC236}">
                  <a16:creationId xmlns:a16="http://schemas.microsoft.com/office/drawing/2014/main" xmlns="" id="{4B57DD33-2B1A-1A6D-49F5-00ACE46273E1}"/>
                </a:ext>
              </a:extLst>
            </p:cNvPr>
            <p:cNvSpPr>
              <a:spLocks/>
            </p:cNvSpPr>
            <p:nvPr/>
          </p:nvSpPr>
          <p:spPr bwMode="auto">
            <a:xfrm>
              <a:off x="1769" y="2446"/>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8" name="Freeform 127">
              <a:extLst>
                <a:ext uri="{FF2B5EF4-FFF2-40B4-BE49-F238E27FC236}">
                  <a16:creationId xmlns:a16="http://schemas.microsoft.com/office/drawing/2014/main" xmlns="" id="{B57087F7-71AD-87B6-AD34-DB9A3685B5B1}"/>
                </a:ext>
              </a:extLst>
            </p:cNvPr>
            <p:cNvSpPr>
              <a:spLocks/>
            </p:cNvSpPr>
            <p:nvPr/>
          </p:nvSpPr>
          <p:spPr bwMode="auto">
            <a:xfrm>
              <a:off x="1769" y="2457"/>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1" y="1"/>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59" name="Freeform 128">
              <a:extLst>
                <a:ext uri="{FF2B5EF4-FFF2-40B4-BE49-F238E27FC236}">
                  <a16:creationId xmlns:a16="http://schemas.microsoft.com/office/drawing/2014/main" xmlns="" id="{08C57FA0-34D8-7E94-EB0A-6DDE3649497C}"/>
                </a:ext>
              </a:extLst>
            </p:cNvPr>
            <p:cNvSpPr>
              <a:spLocks/>
            </p:cNvSpPr>
            <p:nvPr/>
          </p:nvSpPr>
          <p:spPr bwMode="auto">
            <a:xfrm>
              <a:off x="1769" y="2468"/>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1" y="1"/>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60" name="Freeform 129">
              <a:extLst>
                <a:ext uri="{FF2B5EF4-FFF2-40B4-BE49-F238E27FC236}">
                  <a16:creationId xmlns:a16="http://schemas.microsoft.com/office/drawing/2014/main" xmlns="" id="{0AAAA635-7AFA-19AF-6831-04867535C1D5}"/>
                </a:ext>
              </a:extLst>
            </p:cNvPr>
            <p:cNvSpPr>
              <a:spLocks/>
            </p:cNvSpPr>
            <p:nvPr/>
          </p:nvSpPr>
          <p:spPr bwMode="auto">
            <a:xfrm>
              <a:off x="1769" y="2479"/>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1" y="2"/>
                  </a:lnTo>
                  <a:lnTo>
                    <a:pt x="0" y="3"/>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61" name="Freeform 130">
              <a:extLst>
                <a:ext uri="{FF2B5EF4-FFF2-40B4-BE49-F238E27FC236}">
                  <a16:creationId xmlns:a16="http://schemas.microsoft.com/office/drawing/2014/main" xmlns="" id="{06681090-F5CF-DB1B-CBC1-8EDE3AE0DFCD}"/>
                </a:ext>
              </a:extLst>
            </p:cNvPr>
            <p:cNvSpPr>
              <a:spLocks/>
            </p:cNvSpPr>
            <p:nvPr/>
          </p:nvSpPr>
          <p:spPr bwMode="auto">
            <a:xfrm>
              <a:off x="1769" y="2490"/>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1" y="2"/>
                  </a:lnTo>
                  <a:lnTo>
                    <a:pt x="0" y="4"/>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62" name="Freeform 131">
              <a:extLst>
                <a:ext uri="{FF2B5EF4-FFF2-40B4-BE49-F238E27FC236}">
                  <a16:creationId xmlns:a16="http://schemas.microsoft.com/office/drawing/2014/main" xmlns="" id="{41FE180C-7CE1-F75A-35A1-1BDEEED1F33E}"/>
                </a:ext>
              </a:extLst>
            </p:cNvPr>
            <p:cNvSpPr>
              <a:spLocks/>
            </p:cNvSpPr>
            <p:nvPr/>
          </p:nvSpPr>
          <p:spPr bwMode="auto">
            <a:xfrm>
              <a:off x="1769" y="2501"/>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1" y="2"/>
                  </a:lnTo>
                  <a:lnTo>
                    <a:pt x="0" y="4"/>
                  </a:lnTo>
                  <a:lnTo>
                    <a:pt x="0" y="5"/>
                  </a:lnTo>
                  <a:lnTo>
                    <a:pt x="1"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63" name="Freeform 132">
              <a:extLst>
                <a:ext uri="{FF2B5EF4-FFF2-40B4-BE49-F238E27FC236}">
                  <a16:creationId xmlns:a16="http://schemas.microsoft.com/office/drawing/2014/main" xmlns="" id="{9C9090D0-693B-218C-482D-ABC0440F8A4B}"/>
                </a:ext>
              </a:extLst>
            </p:cNvPr>
            <p:cNvSpPr>
              <a:spLocks/>
            </p:cNvSpPr>
            <p:nvPr/>
          </p:nvSpPr>
          <p:spPr bwMode="auto">
            <a:xfrm>
              <a:off x="1769" y="2512"/>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1" y="2"/>
                  </a:lnTo>
                  <a:lnTo>
                    <a:pt x="0" y="4"/>
                  </a:lnTo>
                  <a:lnTo>
                    <a:pt x="0" y="6"/>
                  </a:lnTo>
                  <a:lnTo>
                    <a:pt x="1"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64" name="Freeform 133">
              <a:extLst>
                <a:ext uri="{FF2B5EF4-FFF2-40B4-BE49-F238E27FC236}">
                  <a16:creationId xmlns:a16="http://schemas.microsoft.com/office/drawing/2014/main" xmlns="" id="{96AB425F-3693-6E5A-9773-14DC83D270C8}"/>
                </a:ext>
              </a:extLst>
            </p:cNvPr>
            <p:cNvSpPr>
              <a:spLocks/>
            </p:cNvSpPr>
            <p:nvPr/>
          </p:nvSpPr>
          <p:spPr bwMode="auto">
            <a:xfrm>
              <a:off x="1742"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4586" name="Group 134">
            <a:extLst>
              <a:ext uri="{FF2B5EF4-FFF2-40B4-BE49-F238E27FC236}">
                <a16:creationId xmlns:a16="http://schemas.microsoft.com/office/drawing/2014/main" xmlns="" id="{7763BCC3-9172-ADA9-CAFC-1D3DF56C2B39}"/>
              </a:ext>
            </a:extLst>
          </p:cNvPr>
          <p:cNvGrpSpPr>
            <a:grpSpLocks/>
          </p:cNvGrpSpPr>
          <p:nvPr/>
        </p:nvGrpSpPr>
        <p:grpSpPr bwMode="auto">
          <a:xfrm>
            <a:off x="3641725" y="4459288"/>
            <a:ext cx="95250" cy="793750"/>
            <a:chOff x="2294" y="2081"/>
            <a:chExt cx="60" cy="500"/>
          </a:xfrm>
        </p:grpSpPr>
        <p:sp>
          <p:nvSpPr>
            <p:cNvPr id="24783" name="Freeform 135">
              <a:extLst>
                <a:ext uri="{FF2B5EF4-FFF2-40B4-BE49-F238E27FC236}">
                  <a16:creationId xmlns:a16="http://schemas.microsoft.com/office/drawing/2014/main" xmlns="" id="{A37E5A81-9479-8B1A-8C21-E5A78E26D9B9}"/>
                </a:ext>
              </a:extLst>
            </p:cNvPr>
            <p:cNvSpPr>
              <a:spLocks/>
            </p:cNvSpPr>
            <p:nvPr/>
          </p:nvSpPr>
          <p:spPr bwMode="auto">
            <a:xfrm>
              <a:off x="2322" y="2081"/>
              <a:ext cx="5" cy="6"/>
            </a:xfrm>
            <a:custGeom>
              <a:avLst/>
              <a:gdLst>
                <a:gd name="T0" fmla="*/ 2 w 11"/>
                <a:gd name="T1" fmla="*/ 2 h 11"/>
                <a:gd name="T2" fmla="*/ 2 w 11"/>
                <a:gd name="T3" fmla="*/ 2 h 11"/>
                <a:gd name="T4" fmla="*/ 2 w 11"/>
                <a:gd name="T5" fmla="*/ 1 h 11"/>
                <a:gd name="T6" fmla="*/ 1 w 11"/>
                <a:gd name="T7" fmla="*/ 1 h 11"/>
                <a:gd name="T8" fmla="*/ 1 w 11"/>
                <a:gd name="T9" fmla="*/ 0 h 11"/>
                <a:gd name="T10" fmla="*/ 1 w 11"/>
                <a:gd name="T11" fmla="*/ 0 h 11"/>
                <a:gd name="T12" fmla="*/ 0 w 11"/>
                <a:gd name="T13" fmla="*/ 1 h 11"/>
                <a:gd name="T14" fmla="*/ 0 w 11"/>
                <a:gd name="T15" fmla="*/ 1 h 11"/>
                <a:gd name="T16" fmla="*/ 0 w 11"/>
                <a:gd name="T17" fmla="*/ 2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 h="11">
                  <a:moveTo>
                    <a:pt x="11" y="8"/>
                  </a:moveTo>
                  <a:lnTo>
                    <a:pt x="11" y="6"/>
                  </a:lnTo>
                  <a:lnTo>
                    <a:pt x="9" y="4"/>
                  </a:lnTo>
                  <a:lnTo>
                    <a:pt x="7" y="2"/>
                  </a:lnTo>
                  <a:lnTo>
                    <a:pt x="5" y="0"/>
                  </a:lnTo>
                  <a:lnTo>
                    <a:pt x="3" y="2"/>
                  </a:lnTo>
                  <a:lnTo>
                    <a:pt x="2" y="4"/>
                  </a:lnTo>
                  <a:lnTo>
                    <a:pt x="0" y="6"/>
                  </a:lnTo>
                  <a:lnTo>
                    <a:pt x="2" y="8"/>
                  </a:lnTo>
                  <a:lnTo>
                    <a:pt x="3" y="9"/>
                  </a:lnTo>
                  <a:lnTo>
                    <a:pt x="5" y="11"/>
                  </a:lnTo>
                  <a:lnTo>
                    <a:pt x="7" y="9"/>
                  </a:lnTo>
                  <a:lnTo>
                    <a:pt x="9" y="8"/>
                  </a:lnTo>
                  <a:lnTo>
                    <a:pt x="11" y="8"/>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4" name="Freeform 136">
              <a:extLst>
                <a:ext uri="{FF2B5EF4-FFF2-40B4-BE49-F238E27FC236}">
                  <a16:creationId xmlns:a16="http://schemas.microsoft.com/office/drawing/2014/main" xmlns="" id="{72E85EB1-2A35-04A8-42C3-282AC5165F6C}"/>
                </a:ext>
              </a:extLst>
            </p:cNvPr>
            <p:cNvSpPr>
              <a:spLocks/>
            </p:cNvSpPr>
            <p:nvPr/>
          </p:nvSpPr>
          <p:spPr bwMode="auto">
            <a:xfrm>
              <a:off x="2322" y="2092"/>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5" name="Freeform 137">
              <a:extLst>
                <a:ext uri="{FF2B5EF4-FFF2-40B4-BE49-F238E27FC236}">
                  <a16:creationId xmlns:a16="http://schemas.microsoft.com/office/drawing/2014/main" xmlns="" id="{C512C867-0689-13D4-CD69-708AB7E01186}"/>
                </a:ext>
              </a:extLst>
            </p:cNvPr>
            <p:cNvSpPr>
              <a:spLocks/>
            </p:cNvSpPr>
            <p:nvPr/>
          </p:nvSpPr>
          <p:spPr bwMode="auto">
            <a:xfrm>
              <a:off x="2322" y="2103"/>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6" name="Freeform 138">
              <a:extLst>
                <a:ext uri="{FF2B5EF4-FFF2-40B4-BE49-F238E27FC236}">
                  <a16:creationId xmlns:a16="http://schemas.microsoft.com/office/drawing/2014/main" xmlns="" id="{8BC69BB4-D5BD-AB0A-2A2E-121B6D0FBD81}"/>
                </a:ext>
              </a:extLst>
            </p:cNvPr>
            <p:cNvSpPr>
              <a:spLocks/>
            </p:cNvSpPr>
            <p:nvPr/>
          </p:nvSpPr>
          <p:spPr bwMode="auto">
            <a:xfrm>
              <a:off x="2322" y="2114"/>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2" y="1"/>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7" name="Freeform 139">
              <a:extLst>
                <a:ext uri="{FF2B5EF4-FFF2-40B4-BE49-F238E27FC236}">
                  <a16:creationId xmlns:a16="http://schemas.microsoft.com/office/drawing/2014/main" xmlns="" id="{598F2710-153E-B8AC-3175-342226DD6613}"/>
                </a:ext>
              </a:extLst>
            </p:cNvPr>
            <p:cNvSpPr>
              <a:spLocks/>
            </p:cNvSpPr>
            <p:nvPr/>
          </p:nvSpPr>
          <p:spPr bwMode="auto">
            <a:xfrm>
              <a:off x="2322" y="2125"/>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2" y="1"/>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8" name="Freeform 140">
              <a:extLst>
                <a:ext uri="{FF2B5EF4-FFF2-40B4-BE49-F238E27FC236}">
                  <a16:creationId xmlns:a16="http://schemas.microsoft.com/office/drawing/2014/main" xmlns="" id="{32ED7866-B856-C96C-63D3-2F65198E68C5}"/>
                </a:ext>
              </a:extLst>
            </p:cNvPr>
            <p:cNvSpPr>
              <a:spLocks/>
            </p:cNvSpPr>
            <p:nvPr/>
          </p:nvSpPr>
          <p:spPr bwMode="auto">
            <a:xfrm>
              <a:off x="2322" y="2136"/>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2" y="2"/>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9" name="Freeform 141">
              <a:extLst>
                <a:ext uri="{FF2B5EF4-FFF2-40B4-BE49-F238E27FC236}">
                  <a16:creationId xmlns:a16="http://schemas.microsoft.com/office/drawing/2014/main" xmlns="" id="{3E7D0E1A-054D-9945-C26F-DF5F84C18B24}"/>
                </a:ext>
              </a:extLst>
            </p:cNvPr>
            <p:cNvSpPr>
              <a:spLocks/>
            </p:cNvSpPr>
            <p:nvPr/>
          </p:nvSpPr>
          <p:spPr bwMode="auto">
            <a:xfrm>
              <a:off x="2322" y="2147"/>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2" y="2"/>
                  </a:lnTo>
                  <a:lnTo>
                    <a:pt x="0" y="4"/>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0" name="Freeform 142">
              <a:extLst>
                <a:ext uri="{FF2B5EF4-FFF2-40B4-BE49-F238E27FC236}">
                  <a16:creationId xmlns:a16="http://schemas.microsoft.com/office/drawing/2014/main" xmlns="" id="{51471B3F-EE2B-508E-776F-1F58999020DC}"/>
                </a:ext>
              </a:extLst>
            </p:cNvPr>
            <p:cNvSpPr>
              <a:spLocks/>
            </p:cNvSpPr>
            <p:nvPr/>
          </p:nvSpPr>
          <p:spPr bwMode="auto">
            <a:xfrm>
              <a:off x="2322" y="2158"/>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2" y="2"/>
                  </a:lnTo>
                  <a:lnTo>
                    <a:pt x="0" y="4"/>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1" name="Freeform 143">
              <a:extLst>
                <a:ext uri="{FF2B5EF4-FFF2-40B4-BE49-F238E27FC236}">
                  <a16:creationId xmlns:a16="http://schemas.microsoft.com/office/drawing/2014/main" xmlns="" id="{E10D19A3-7B62-CECE-340F-AFA96F1B9F09}"/>
                </a:ext>
              </a:extLst>
            </p:cNvPr>
            <p:cNvSpPr>
              <a:spLocks/>
            </p:cNvSpPr>
            <p:nvPr/>
          </p:nvSpPr>
          <p:spPr bwMode="auto">
            <a:xfrm>
              <a:off x="2322" y="2170"/>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2" name="Freeform 144">
              <a:extLst>
                <a:ext uri="{FF2B5EF4-FFF2-40B4-BE49-F238E27FC236}">
                  <a16:creationId xmlns:a16="http://schemas.microsoft.com/office/drawing/2014/main" xmlns="" id="{599874DA-E58C-949F-EF25-074DF4608C56}"/>
                </a:ext>
              </a:extLst>
            </p:cNvPr>
            <p:cNvSpPr>
              <a:spLocks/>
            </p:cNvSpPr>
            <p:nvPr/>
          </p:nvSpPr>
          <p:spPr bwMode="auto">
            <a:xfrm>
              <a:off x="2322" y="2181"/>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3" name="Freeform 145">
              <a:extLst>
                <a:ext uri="{FF2B5EF4-FFF2-40B4-BE49-F238E27FC236}">
                  <a16:creationId xmlns:a16="http://schemas.microsoft.com/office/drawing/2014/main" xmlns="" id="{D35AB77F-EEB6-D3F5-9E62-F586EF5F2D6C}"/>
                </a:ext>
              </a:extLst>
            </p:cNvPr>
            <p:cNvSpPr>
              <a:spLocks/>
            </p:cNvSpPr>
            <p:nvPr/>
          </p:nvSpPr>
          <p:spPr bwMode="auto">
            <a:xfrm>
              <a:off x="2322" y="2192"/>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2 h 11"/>
                <a:gd name="T24" fmla="*/ 0 w 11"/>
                <a:gd name="T25" fmla="*/ 2 h 11"/>
                <a:gd name="T26" fmla="*/ 1 w 11"/>
                <a:gd name="T27" fmla="*/ 2 h 11"/>
                <a:gd name="T28" fmla="*/ 1 w 11"/>
                <a:gd name="T29" fmla="*/ 2 h 11"/>
                <a:gd name="T30" fmla="*/ 1 w 11"/>
                <a:gd name="T31" fmla="*/ 2 h 11"/>
                <a:gd name="T32" fmla="*/ 2 w 11"/>
                <a:gd name="T33" fmla="*/ 2 h 11"/>
                <a:gd name="T34" fmla="*/ 2 w 11"/>
                <a:gd name="T35" fmla="*/ 2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4" name="Freeform 146">
              <a:extLst>
                <a:ext uri="{FF2B5EF4-FFF2-40B4-BE49-F238E27FC236}">
                  <a16:creationId xmlns:a16="http://schemas.microsoft.com/office/drawing/2014/main" xmlns="" id="{4FBCDEBE-5F2B-A2E1-CE6D-3397E7433BB1}"/>
                </a:ext>
              </a:extLst>
            </p:cNvPr>
            <p:cNvSpPr>
              <a:spLocks/>
            </p:cNvSpPr>
            <p:nvPr/>
          </p:nvSpPr>
          <p:spPr bwMode="auto">
            <a:xfrm>
              <a:off x="2322" y="2203"/>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2 h 11"/>
                <a:gd name="T24" fmla="*/ 0 w 11"/>
                <a:gd name="T25" fmla="*/ 2 h 11"/>
                <a:gd name="T26" fmla="*/ 1 w 11"/>
                <a:gd name="T27" fmla="*/ 2 h 11"/>
                <a:gd name="T28" fmla="*/ 1 w 11"/>
                <a:gd name="T29" fmla="*/ 2 h 11"/>
                <a:gd name="T30" fmla="*/ 1 w 11"/>
                <a:gd name="T31" fmla="*/ 2 h 11"/>
                <a:gd name="T32" fmla="*/ 2 w 11"/>
                <a:gd name="T33" fmla="*/ 2 h 11"/>
                <a:gd name="T34" fmla="*/ 2 w 11"/>
                <a:gd name="T35" fmla="*/ 2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5" name="Freeform 147">
              <a:extLst>
                <a:ext uri="{FF2B5EF4-FFF2-40B4-BE49-F238E27FC236}">
                  <a16:creationId xmlns:a16="http://schemas.microsoft.com/office/drawing/2014/main" xmlns="" id="{1959D4F0-1E24-37AD-D07D-0A7071D49E0C}"/>
                </a:ext>
              </a:extLst>
            </p:cNvPr>
            <p:cNvSpPr>
              <a:spLocks/>
            </p:cNvSpPr>
            <p:nvPr/>
          </p:nvSpPr>
          <p:spPr bwMode="auto">
            <a:xfrm>
              <a:off x="2322" y="2214"/>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2 h 11"/>
                <a:gd name="T24" fmla="*/ 0 w 11"/>
                <a:gd name="T25" fmla="*/ 2 h 11"/>
                <a:gd name="T26" fmla="*/ 1 w 11"/>
                <a:gd name="T27" fmla="*/ 2 h 11"/>
                <a:gd name="T28" fmla="*/ 1 w 11"/>
                <a:gd name="T29" fmla="*/ 2 h 11"/>
                <a:gd name="T30" fmla="*/ 1 w 11"/>
                <a:gd name="T31" fmla="*/ 2 h 11"/>
                <a:gd name="T32" fmla="*/ 2 w 11"/>
                <a:gd name="T33" fmla="*/ 2 h 11"/>
                <a:gd name="T34" fmla="*/ 2 w 11"/>
                <a:gd name="T35" fmla="*/ 2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6" name="Freeform 148">
              <a:extLst>
                <a:ext uri="{FF2B5EF4-FFF2-40B4-BE49-F238E27FC236}">
                  <a16:creationId xmlns:a16="http://schemas.microsoft.com/office/drawing/2014/main" xmlns="" id="{8D9F42E1-7221-4D4C-9AC3-D22CF23063DF}"/>
                </a:ext>
              </a:extLst>
            </p:cNvPr>
            <p:cNvSpPr>
              <a:spLocks/>
            </p:cNvSpPr>
            <p:nvPr/>
          </p:nvSpPr>
          <p:spPr bwMode="auto">
            <a:xfrm>
              <a:off x="2322" y="2225"/>
              <a:ext cx="5" cy="5"/>
            </a:xfrm>
            <a:custGeom>
              <a:avLst/>
              <a:gdLst>
                <a:gd name="T0" fmla="*/ 2 w 11"/>
                <a:gd name="T1" fmla="*/ 1 h 11"/>
                <a:gd name="T2" fmla="*/ 2 w 11"/>
                <a:gd name="T3" fmla="*/ 0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0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2" y="1"/>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7" name="Freeform 149">
              <a:extLst>
                <a:ext uri="{FF2B5EF4-FFF2-40B4-BE49-F238E27FC236}">
                  <a16:creationId xmlns:a16="http://schemas.microsoft.com/office/drawing/2014/main" xmlns="" id="{89CC0F73-FF2D-1A98-9BAB-16475FFBD735}"/>
                </a:ext>
              </a:extLst>
            </p:cNvPr>
            <p:cNvSpPr>
              <a:spLocks/>
            </p:cNvSpPr>
            <p:nvPr/>
          </p:nvSpPr>
          <p:spPr bwMode="auto">
            <a:xfrm>
              <a:off x="2322" y="2236"/>
              <a:ext cx="5" cy="5"/>
            </a:xfrm>
            <a:custGeom>
              <a:avLst/>
              <a:gdLst>
                <a:gd name="T0" fmla="*/ 2 w 11"/>
                <a:gd name="T1" fmla="*/ 1 h 11"/>
                <a:gd name="T2" fmla="*/ 2 w 11"/>
                <a:gd name="T3" fmla="*/ 0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0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2" y="1"/>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8" name="Freeform 150">
              <a:extLst>
                <a:ext uri="{FF2B5EF4-FFF2-40B4-BE49-F238E27FC236}">
                  <a16:creationId xmlns:a16="http://schemas.microsoft.com/office/drawing/2014/main" xmlns="" id="{39BA7A40-5EE9-530D-D85D-256D24DF5689}"/>
                </a:ext>
              </a:extLst>
            </p:cNvPr>
            <p:cNvSpPr>
              <a:spLocks/>
            </p:cNvSpPr>
            <p:nvPr/>
          </p:nvSpPr>
          <p:spPr bwMode="auto">
            <a:xfrm>
              <a:off x="2322" y="2247"/>
              <a:ext cx="5" cy="5"/>
            </a:xfrm>
            <a:custGeom>
              <a:avLst/>
              <a:gdLst>
                <a:gd name="T0" fmla="*/ 2 w 11"/>
                <a:gd name="T1" fmla="*/ 1 h 11"/>
                <a:gd name="T2" fmla="*/ 2 w 11"/>
                <a:gd name="T3" fmla="*/ 0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0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2" y="2"/>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99" name="Freeform 151">
              <a:extLst>
                <a:ext uri="{FF2B5EF4-FFF2-40B4-BE49-F238E27FC236}">
                  <a16:creationId xmlns:a16="http://schemas.microsoft.com/office/drawing/2014/main" xmlns="" id="{236B7858-F404-F386-7FAB-0F3AD6612083}"/>
                </a:ext>
              </a:extLst>
            </p:cNvPr>
            <p:cNvSpPr>
              <a:spLocks/>
            </p:cNvSpPr>
            <p:nvPr/>
          </p:nvSpPr>
          <p:spPr bwMode="auto">
            <a:xfrm>
              <a:off x="2322" y="2258"/>
              <a:ext cx="5" cy="5"/>
            </a:xfrm>
            <a:custGeom>
              <a:avLst/>
              <a:gdLst>
                <a:gd name="T0" fmla="*/ 2 w 11"/>
                <a:gd name="T1" fmla="*/ 1 h 11"/>
                <a:gd name="T2" fmla="*/ 2 w 11"/>
                <a:gd name="T3" fmla="*/ 0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0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2" y="2"/>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0" name="Freeform 152">
              <a:extLst>
                <a:ext uri="{FF2B5EF4-FFF2-40B4-BE49-F238E27FC236}">
                  <a16:creationId xmlns:a16="http://schemas.microsoft.com/office/drawing/2014/main" xmlns="" id="{224528ED-7B6E-44F0-C3C2-A9559BD468B3}"/>
                </a:ext>
              </a:extLst>
            </p:cNvPr>
            <p:cNvSpPr>
              <a:spLocks/>
            </p:cNvSpPr>
            <p:nvPr/>
          </p:nvSpPr>
          <p:spPr bwMode="auto">
            <a:xfrm>
              <a:off x="2322" y="2269"/>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2" y="2"/>
                  </a:lnTo>
                  <a:lnTo>
                    <a:pt x="0" y="4"/>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1" name="Freeform 153">
              <a:extLst>
                <a:ext uri="{FF2B5EF4-FFF2-40B4-BE49-F238E27FC236}">
                  <a16:creationId xmlns:a16="http://schemas.microsoft.com/office/drawing/2014/main" xmlns="" id="{9F23409D-78D9-2396-DC41-D4C8533D9271}"/>
                </a:ext>
              </a:extLst>
            </p:cNvPr>
            <p:cNvSpPr>
              <a:spLocks/>
            </p:cNvSpPr>
            <p:nvPr/>
          </p:nvSpPr>
          <p:spPr bwMode="auto">
            <a:xfrm>
              <a:off x="2322" y="2280"/>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2" name="Freeform 154">
              <a:extLst>
                <a:ext uri="{FF2B5EF4-FFF2-40B4-BE49-F238E27FC236}">
                  <a16:creationId xmlns:a16="http://schemas.microsoft.com/office/drawing/2014/main" xmlns="" id="{74EE2FC5-A0D4-6FB8-001B-692AB536CE48}"/>
                </a:ext>
              </a:extLst>
            </p:cNvPr>
            <p:cNvSpPr>
              <a:spLocks/>
            </p:cNvSpPr>
            <p:nvPr/>
          </p:nvSpPr>
          <p:spPr bwMode="auto">
            <a:xfrm>
              <a:off x="2322" y="2291"/>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3" name="Freeform 155">
              <a:extLst>
                <a:ext uri="{FF2B5EF4-FFF2-40B4-BE49-F238E27FC236}">
                  <a16:creationId xmlns:a16="http://schemas.microsoft.com/office/drawing/2014/main" xmlns="" id="{5827315B-2F3D-FBEA-738D-82E633A93C83}"/>
                </a:ext>
              </a:extLst>
            </p:cNvPr>
            <p:cNvSpPr>
              <a:spLocks/>
            </p:cNvSpPr>
            <p:nvPr/>
          </p:nvSpPr>
          <p:spPr bwMode="auto">
            <a:xfrm>
              <a:off x="2322" y="2302"/>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4" name="Freeform 156">
              <a:extLst>
                <a:ext uri="{FF2B5EF4-FFF2-40B4-BE49-F238E27FC236}">
                  <a16:creationId xmlns:a16="http://schemas.microsoft.com/office/drawing/2014/main" xmlns="" id="{E7447849-9D16-A000-AEAE-8AA012EDDCAB}"/>
                </a:ext>
              </a:extLst>
            </p:cNvPr>
            <p:cNvSpPr>
              <a:spLocks/>
            </p:cNvSpPr>
            <p:nvPr/>
          </p:nvSpPr>
          <p:spPr bwMode="auto">
            <a:xfrm>
              <a:off x="2322" y="2313"/>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5" name="Freeform 157">
              <a:extLst>
                <a:ext uri="{FF2B5EF4-FFF2-40B4-BE49-F238E27FC236}">
                  <a16:creationId xmlns:a16="http://schemas.microsoft.com/office/drawing/2014/main" xmlns="" id="{C15F6DA7-89B1-EF95-5ACD-CF04F122CCC5}"/>
                </a:ext>
              </a:extLst>
            </p:cNvPr>
            <p:cNvSpPr>
              <a:spLocks/>
            </p:cNvSpPr>
            <p:nvPr/>
          </p:nvSpPr>
          <p:spPr bwMode="auto">
            <a:xfrm>
              <a:off x="2322" y="2324"/>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6" name="Freeform 158">
              <a:extLst>
                <a:ext uri="{FF2B5EF4-FFF2-40B4-BE49-F238E27FC236}">
                  <a16:creationId xmlns:a16="http://schemas.microsoft.com/office/drawing/2014/main" xmlns="" id="{7260E604-7B20-6F99-E233-42461DE43EF8}"/>
                </a:ext>
              </a:extLst>
            </p:cNvPr>
            <p:cNvSpPr>
              <a:spLocks/>
            </p:cNvSpPr>
            <p:nvPr/>
          </p:nvSpPr>
          <p:spPr bwMode="auto">
            <a:xfrm>
              <a:off x="2322" y="2335"/>
              <a:ext cx="5" cy="6"/>
            </a:xfrm>
            <a:custGeom>
              <a:avLst/>
              <a:gdLst>
                <a:gd name="T0" fmla="*/ 2 w 11"/>
                <a:gd name="T1" fmla="*/ 2 h 12"/>
                <a:gd name="T2" fmla="*/ 2 w 11"/>
                <a:gd name="T3" fmla="*/ 1 h 12"/>
                <a:gd name="T4" fmla="*/ 2 w 11"/>
                <a:gd name="T5" fmla="*/ 1 h 12"/>
                <a:gd name="T6" fmla="*/ 2 w 11"/>
                <a:gd name="T7" fmla="*/ 0 h 12"/>
                <a:gd name="T8" fmla="*/ 1 w 11"/>
                <a:gd name="T9" fmla="*/ 0 h 12"/>
                <a:gd name="T10" fmla="*/ 1 w 11"/>
                <a:gd name="T11" fmla="*/ 0 h 12"/>
                <a:gd name="T12" fmla="*/ 0 w 11"/>
                <a:gd name="T13" fmla="*/ 0 h 12"/>
                <a:gd name="T14" fmla="*/ 0 w 11"/>
                <a:gd name="T15" fmla="*/ 1 h 12"/>
                <a:gd name="T16" fmla="*/ 0 w 11"/>
                <a:gd name="T17" fmla="*/ 1 h 12"/>
                <a:gd name="T18" fmla="*/ 0 w 11"/>
                <a:gd name="T19" fmla="*/ 2 h 12"/>
                <a:gd name="T20" fmla="*/ 0 w 11"/>
                <a:gd name="T21" fmla="*/ 2 h 12"/>
                <a:gd name="T22" fmla="*/ 0 w 11"/>
                <a:gd name="T23" fmla="*/ 2 h 12"/>
                <a:gd name="T24" fmla="*/ 0 w 11"/>
                <a:gd name="T25" fmla="*/ 3 h 12"/>
                <a:gd name="T26" fmla="*/ 1 w 11"/>
                <a:gd name="T27" fmla="*/ 3 h 12"/>
                <a:gd name="T28" fmla="*/ 1 w 11"/>
                <a:gd name="T29" fmla="*/ 3 h 12"/>
                <a:gd name="T30" fmla="*/ 1 w 11"/>
                <a:gd name="T31" fmla="*/ 3 h 12"/>
                <a:gd name="T32" fmla="*/ 2 w 11"/>
                <a:gd name="T33" fmla="*/ 2 h 12"/>
                <a:gd name="T34" fmla="*/ 2 w 11"/>
                <a:gd name="T35" fmla="*/ 2 h 12"/>
                <a:gd name="T36" fmla="*/ 2 w 11"/>
                <a:gd name="T37" fmla="*/ 2 h 1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2">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2"/>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7" name="Freeform 159">
              <a:extLst>
                <a:ext uri="{FF2B5EF4-FFF2-40B4-BE49-F238E27FC236}">
                  <a16:creationId xmlns:a16="http://schemas.microsoft.com/office/drawing/2014/main" xmlns="" id="{B79C5BD5-9526-162B-F578-6E3F2634DA9C}"/>
                </a:ext>
              </a:extLst>
            </p:cNvPr>
            <p:cNvSpPr>
              <a:spLocks/>
            </p:cNvSpPr>
            <p:nvPr/>
          </p:nvSpPr>
          <p:spPr bwMode="auto">
            <a:xfrm>
              <a:off x="2322" y="2346"/>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2" y="1"/>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8" name="Freeform 160">
              <a:extLst>
                <a:ext uri="{FF2B5EF4-FFF2-40B4-BE49-F238E27FC236}">
                  <a16:creationId xmlns:a16="http://schemas.microsoft.com/office/drawing/2014/main" xmlns="" id="{7CE0660A-157B-F9D6-B45A-B3D835F01354}"/>
                </a:ext>
              </a:extLst>
            </p:cNvPr>
            <p:cNvSpPr>
              <a:spLocks/>
            </p:cNvSpPr>
            <p:nvPr/>
          </p:nvSpPr>
          <p:spPr bwMode="auto">
            <a:xfrm>
              <a:off x="2322" y="2357"/>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2" y="2"/>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09" name="Freeform 161">
              <a:extLst>
                <a:ext uri="{FF2B5EF4-FFF2-40B4-BE49-F238E27FC236}">
                  <a16:creationId xmlns:a16="http://schemas.microsoft.com/office/drawing/2014/main" xmlns="" id="{7E91E571-E607-B6E3-833C-C8D3A364BEDC}"/>
                </a:ext>
              </a:extLst>
            </p:cNvPr>
            <p:cNvSpPr>
              <a:spLocks/>
            </p:cNvSpPr>
            <p:nvPr/>
          </p:nvSpPr>
          <p:spPr bwMode="auto">
            <a:xfrm>
              <a:off x="2322" y="2368"/>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2" y="2"/>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0" name="Freeform 162">
              <a:extLst>
                <a:ext uri="{FF2B5EF4-FFF2-40B4-BE49-F238E27FC236}">
                  <a16:creationId xmlns:a16="http://schemas.microsoft.com/office/drawing/2014/main" xmlns="" id="{8C725769-E493-1943-F488-E540588937C2}"/>
                </a:ext>
              </a:extLst>
            </p:cNvPr>
            <p:cNvSpPr>
              <a:spLocks/>
            </p:cNvSpPr>
            <p:nvPr/>
          </p:nvSpPr>
          <p:spPr bwMode="auto">
            <a:xfrm>
              <a:off x="2322" y="2379"/>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2" y="2"/>
                  </a:lnTo>
                  <a:lnTo>
                    <a:pt x="0" y="4"/>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1" name="Freeform 163">
              <a:extLst>
                <a:ext uri="{FF2B5EF4-FFF2-40B4-BE49-F238E27FC236}">
                  <a16:creationId xmlns:a16="http://schemas.microsoft.com/office/drawing/2014/main" xmlns="" id="{6CDBECD5-2190-DCC8-0993-A17D8FB7BB01}"/>
                </a:ext>
              </a:extLst>
            </p:cNvPr>
            <p:cNvSpPr>
              <a:spLocks/>
            </p:cNvSpPr>
            <p:nvPr/>
          </p:nvSpPr>
          <p:spPr bwMode="auto">
            <a:xfrm>
              <a:off x="2322" y="2390"/>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2" y="2"/>
                  </a:lnTo>
                  <a:lnTo>
                    <a:pt x="0" y="4"/>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2" name="Freeform 164">
              <a:extLst>
                <a:ext uri="{FF2B5EF4-FFF2-40B4-BE49-F238E27FC236}">
                  <a16:creationId xmlns:a16="http://schemas.microsoft.com/office/drawing/2014/main" xmlns="" id="{7F5C276B-68A6-A2A4-02B5-BD622424B5B5}"/>
                </a:ext>
              </a:extLst>
            </p:cNvPr>
            <p:cNvSpPr>
              <a:spLocks/>
            </p:cNvSpPr>
            <p:nvPr/>
          </p:nvSpPr>
          <p:spPr bwMode="auto">
            <a:xfrm>
              <a:off x="2322" y="2402"/>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3" name="Freeform 165">
              <a:extLst>
                <a:ext uri="{FF2B5EF4-FFF2-40B4-BE49-F238E27FC236}">
                  <a16:creationId xmlns:a16="http://schemas.microsoft.com/office/drawing/2014/main" xmlns="" id="{A39A0117-0FD8-28F7-FD73-1C9EC9CCB12C}"/>
                </a:ext>
              </a:extLst>
            </p:cNvPr>
            <p:cNvSpPr>
              <a:spLocks/>
            </p:cNvSpPr>
            <p:nvPr/>
          </p:nvSpPr>
          <p:spPr bwMode="auto">
            <a:xfrm>
              <a:off x="2322" y="2413"/>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2 h 11"/>
                <a:gd name="T24" fmla="*/ 0 w 11"/>
                <a:gd name="T25" fmla="*/ 2 h 11"/>
                <a:gd name="T26" fmla="*/ 1 w 11"/>
                <a:gd name="T27" fmla="*/ 2 h 11"/>
                <a:gd name="T28" fmla="*/ 1 w 11"/>
                <a:gd name="T29" fmla="*/ 2 h 11"/>
                <a:gd name="T30" fmla="*/ 1 w 11"/>
                <a:gd name="T31" fmla="*/ 2 h 11"/>
                <a:gd name="T32" fmla="*/ 2 w 11"/>
                <a:gd name="T33" fmla="*/ 2 h 11"/>
                <a:gd name="T34" fmla="*/ 2 w 11"/>
                <a:gd name="T35" fmla="*/ 2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4" name="Freeform 166">
              <a:extLst>
                <a:ext uri="{FF2B5EF4-FFF2-40B4-BE49-F238E27FC236}">
                  <a16:creationId xmlns:a16="http://schemas.microsoft.com/office/drawing/2014/main" xmlns="" id="{8468F1E7-6965-7726-093C-219D1957108B}"/>
                </a:ext>
              </a:extLst>
            </p:cNvPr>
            <p:cNvSpPr>
              <a:spLocks/>
            </p:cNvSpPr>
            <p:nvPr/>
          </p:nvSpPr>
          <p:spPr bwMode="auto">
            <a:xfrm>
              <a:off x="2322" y="2424"/>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2 h 11"/>
                <a:gd name="T24" fmla="*/ 0 w 11"/>
                <a:gd name="T25" fmla="*/ 2 h 11"/>
                <a:gd name="T26" fmla="*/ 1 w 11"/>
                <a:gd name="T27" fmla="*/ 2 h 11"/>
                <a:gd name="T28" fmla="*/ 1 w 11"/>
                <a:gd name="T29" fmla="*/ 2 h 11"/>
                <a:gd name="T30" fmla="*/ 1 w 11"/>
                <a:gd name="T31" fmla="*/ 2 h 11"/>
                <a:gd name="T32" fmla="*/ 2 w 11"/>
                <a:gd name="T33" fmla="*/ 2 h 11"/>
                <a:gd name="T34" fmla="*/ 2 w 11"/>
                <a:gd name="T35" fmla="*/ 2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9"/>
                  </a:lnTo>
                  <a:lnTo>
                    <a:pt x="5"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5" name="Freeform 167">
              <a:extLst>
                <a:ext uri="{FF2B5EF4-FFF2-40B4-BE49-F238E27FC236}">
                  <a16:creationId xmlns:a16="http://schemas.microsoft.com/office/drawing/2014/main" xmlns="" id="{4F54F0DA-4320-DBC1-C5CF-97262912C830}"/>
                </a:ext>
              </a:extLst>
            </p:cNvPr>
            <p:cNvSpPr>
              <a:spLocks/>
            </p:cNvSpPr>
            <p:nvPr/>
          </p:nvSpPr>
          <p:spPr bwMode="auto">
            <a:xfrm>
              <a:off x="2322" y="2435"/>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2 h 11"/>
                <a:gd name="T24" fmla="*/ 0 w 11"/>
                <a:gd name="T25" fmla="*/ 2 h 11"/>
                <a:gd name="T26" fmla="*/ 1 w 11"/>
                <a:gd name="T27" fmla="*/ 2 h 11"/>
                <a:gd name="T28" fmla="*/ 1 w 11"/>
                <a:gd name="T29" fmla="*/ 2 h 11"/>
                <a:gd name="T30" fmla="*/ 1 w 11"/>
                <a:gd name="T31" fmla="*/ 2 h 11"/>
                <a:gd name="T32" fmla="*/ 2 w 11"/>
                <a:gd name="T33" fmla="*/ 2 h 11"/>
                <a:gd name="T34" fmla="*/ 2 w 11"/>
                <a:gd name="T35" fmla="*/ 2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6" name="Freeform 168">
              <a:extLst>
                <a:ext uri="{FF2B5EF4-FFF2-40B4-BE49-F238E27FC236}">
                  <a16:creationId xmlns:a16="http://schemas.microsoft.com/office/drawing/2014/main" xmlns="" id="{28505AA5-F3C5-990D-20DD-745DABAAB83E}"/>
                </a:ext>
              </a:extLst>
            </p:cNvPr>
            <p:cNvSpPr>
              <a:spLocks/>
            </p:cNvSpPr>
            <p:nvPr/>
          </p:nvSpPr>
          <p:spPr bwMode="auto">
            <a:xfrm>
              <a:off x="2322" y="2446"/>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2 h 11"/>
                <a:gd name="T24" fmla="*/ 0 w 11"/>
                <a:gd name="T25" fmla="*/ 2 h 11"/>
                <a:gd name="T26" fmla="*/ 1 w 11"/>
                <a:gd name="T27" fmla="*/ 2 h 11"/>
                <a:gd name="T28" fmla="*/ 1 w 11"/>
                <a:gd name="T29" fmla="*/ 2 h 11"/>
                <a:gd name="T30" fmla="*/ 1 w 11"/>
                <a:gd name="T31" fmla="*/ 2 h 11"/>
                <a:gd name="T32" fmla="*/ 2 w 11"/>
                <a:gd name="T33" fmla="*/ 2 h 11"/>
                <a:gd name="T34" fmla="*/ 2 w 11"/>
                <a:gd name="T35" fmla="*/ 2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8"/>
                  </a:lnTo>
                  <a:lnTo>
                    <a:pt x="3" y="10"/>
                  </a:lnTo>
                  <a:lnTo>
                    <a:pt x="5"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7" name="Freeform 169">
              <a:extLst>
                <a:ext uri="{FF2B5EF4-FFF2-40B4-BE49-F238E27FC236}">
                  <a16:creationId xmlns:a16="http://schemas.microsoft.com/office/drawing/2014/main" xmlns="" id="{A6522765-3F25-F8D7-D334-9F33917540F1}"/>
                </a:ext>
              </a:extLst>
            </p:cNvPr>
            <p:cNvSpPr>
              <a:spLocks/>
            </p:cNvSpPr>
            <p:nvPr/>
          </p:nvSpPr>
          <p:spPr bwMode="auto">
            <a:xfrm>
              <a:off x="2322" y="2457"/>
              <a:ext cx="5" cy="5"/>
            </a:xfrm>
            <a:custGeom>
              <a:avLst/>
              <a:gdLst>
                <a:gd name="T0" fmla="*/ 2 w 11"/>
                <a:gd name="T1" fmla="*/ 1 h 11"/>
                <a:gd name="T2" fmla="*/ 2 w 11"/>
                <a:gd name="T3" fmla="*/ 0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0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2" y="1"/>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8" name="Freeform 170">
              <a:extLst>
                <a:ext uri="{FF2B5EF4-FFF2-40B4-BE49-F238E27FC236}">
                  <a16:creationId xmlns:a16="http://schemas.microsoft.com/office/drawing/2014/main" xmlns="" id="{3FA35947-5E0F-6332-CB89-807AE8713448}"/>
                </a:ext>
              </a:extLst>
            </p:cNvPr>
            <p:cNvSpPr>
              <a:spLocks/>
            </p:cNvSpPr>
            <p:nvPr/>
          </p:nvSpPr>
          <p:spPr bwMode="auto">
            <a:xfrm>
              <a:off x="2322" y="2468"/>
              <a:ext cx="5" cy="5"/>
            </a:xfrm>
            <a:custGeom>
              <a:avLst/>
              <a:gdLst>
                <a:gd name="T0" fmla="*/ 2 w 11"/>
                <a:gd name="T1" fmla="*/ 1 h 11"/>
                <a:gd name="T2" fmla="*/ 2 w 11"/>
                <a:gd name="T3" fmla="*/ 0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0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5" y="0"/>
                  </a:lnTo>
                  <a:lnTo>
                    <a:pt x="3" y="0"/>
                  </a:lnTo>
                  <a:lnTo>
                    <a:pt x="2" y="1"/>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19" name="Freeform 171">
              <a:extLst>
                <a:ext uri="{FF2B5EF4-FFF2-40B4-BE49-F238E27FC236}">
                  <a16:creationId xmlns:a16="http://schemas.microsoft.com/office/drawing/2014/main" xmlns="" id="{9BEA7B2A-B5A8-CB8F-4C43-EABB63643B2B}"/>
                </a:ext>
              </a:extLst>
            </p:cNvPr>
            <p:cNvSpPr>
              <a:spLocks/>
            </p:cNvSpPr>
            <p:nvPr/>
          </p:nvSpPr>
          <p:spPr bwMode="auto">
            <a:xfrm>
              <a:off x="2322" y="2479"/>
              <a:ext cx="5" cy="5"/>
            </a:xfrm>
            <a:custGeom>
              <a:avLst/>
              <a:gdLst>
                <a:gd name="T0" fmla="*/ 2 w 11"/>
                <a:gd name="T1" fmla="*/ 1 h 11"/>
                <a:gd name="T2" fmla="*/ 2 w 11"/>
                <a:gd name="T3" fmla="*/ 0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0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5" y="0"/>
                  </a:lnTo>
                  <a:lnTo>
                    <a:pt x="3" y="0"/>
                  </a:lnTo>
                  <a:lnTo>
                    <a:pt x="2" y="2"/>
                  </a:lnTo>
                  <a:lnTo>
                    <a:pt x="0" y="3"/>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0" name="Freeform 172">
              <a:extLst>
                <a:ext uri="{FF2B5EF4-FFF2-40B4-BE49-F238E27FC236}">
                  <a16:creationId xmlns:a16="http://schemas.microsoft.com/office/drawing/2014/main" xmlns="" id="{9541D6D4-40CB-3AE5-3EEF-4B6FB35F6207}"/>
                </a:ext>
              </a:extLst>
            </p:cNvPr>
            <p:cNvSpPr>
              <a:spLocks/>
            </p:cNvSpPr>
            <p:nvPr/>
          </p:nvSpPr>
          <p:spPr bwMode="auto">
            <a:xfrm>
              <a:off x="2322" y="2490"/>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2" y="2"/>
                  </a:lnTo>
                  <a:lnTo>
                    <a:pt x="0" y="4"/>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1" name="Freeform 173">
              <a:extLst>
                <a:ext uri="{FF2B5EF4-FFF2-40B4-BE49-F238E27FC236}">
                  <a16:creationId xmlns:a16="http://schemas.microsoft.com/office/drawing/2014/main" xmlns="" id="{22CF5711-56AF-277F-2122-5D7EB4B63C29}"/>
                </a:ext>
              </a:extLst>
            </p:cNvPr>
            <p:cNvSpPr>
              <a:spLocks/>
            </p:cNvSpPr>
            <p:nvPr/>
          </p:nvSpPr>
          <p:spPr bwMode="auto">
            <a:xfrm>
              <a:off x="2322" y="2501"/>
              <a:ext cx="5" cy="5"/>
            </a:xfrm>
            <a:custGeom>
              <a:avLst/>
              <a:gdLst>
                <a:gd name="T0" fmla="*/ 2 w 11"/>
                <a:gd name="T1" fmla="*/ 1 h 11"/>
                <a:gd name="T2" fmla="*/ 2 w 11"/>
                <a:gd name="T3" fmla="*/ 1 h 11"/>
                <a:gd name="T4" fmla="*/ 2 w 11"/>
                <a:gd name="T5" fmla="*/ 0 h 11"/>
                <a:gd name="T6" fmla="*/ 2 w 11"/>
                <a:gd name="T7" fmla="*/ 0 h 11"/>
                <a:gd name="T8" fmla="*/ 1 w 11"/>
                <a:gd name="T9" fmla="*/ 0 h 11"/>
                <a:gd name="T10" fmla="*/ 1 w 11"/>
                <a:gd name="T11" fmla="*/ 0 h 11"/>
                <a:gd name="T12" fmla="*/ 0 w 11"/>
                <a:gd name="T13" fmla="*/ 0 h 11"/>
                <a:gd name="T14" fmla="*/ 0 w 11"/>
                <a:gd name="T15" fmla="*/ 0 h 11"/>
                <a:gd name="T16" fmla="*/ 0 w 11"/>
                <a:gd name="T17" fmla="*/ 1 h 11"/>
                <a:gd name="T18" fmla="*/ 0 w 11"/>
                <a:gd name="T19" fmla="*/ 1 h 11"/>
                <a:gd name="T20" fmla="*/ 0 w 11"/>
                <a:gd name="T21" fmla="*/ 1 h 11"/>
                <a:gd name="T22" fmla="*/ 0 w 11"/>
                <a:gd name="T23" fmla="*/ 1 h 11"/>
                <a:gd name="T24" fmla="*/ 0 w 11"/>
                <a:gd name="T25" fmla="*/ 2 h 11"/>
                <a:gd name="T26" fmla="*/ 1 w 11"/>
                <a:gd name="T27" fmla="*/ 2 h 11"/>
                <a:gd name="T28" fmla="*/ 1 w 11"/>
                <a:gd name="T29" fmla="*/ 2 h 11"/>
                <a:gd name="T30" fmla="*/ 1 w 11"/>
                <a:gd name="T31" fmla="*/ 2 h 11"/>
                <a:gd name="T32" fmla="*/ 2 w 11"/>
                <a:gd name="T33" fmla="*/ 1 h 11"/>
                <a:gd name="T34" fmla="*/ 2 w 11"/>
                <a:gd name="T35" fmla="*/ 1 h 11"/>
                <a:gd name="T36" fmla="*/ 2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5" y="0"/>
                  </a:lnTo>
                  <a:lnTo>
                    <a:pt x="3" y="0"/>
                  </a:lnTo>
                  <a:lnTo>
                    <a:pt x="2" y="2"/>
                  </a:lnTo>
                  <a:lnTo>
                    <a:pt x="0" y="4"/>
                  </a:lnTo>
                  <a:lnTo>
                    <a:pt x="0" y="5"/>
                  </a:lnTo>
                  <a:lnTo>
                    <a:pt x="2" y="7"/>
                  </a:lnTo>
                  <a:lnTo>
                    <a:pt x="3" y="9"/>
                  </a:lnTo>
                  <a:lnTo>
                    <a:pt x="5"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2" name="Freeform 174">
              <a:extLst>
                <a:ext uri="{FF2B5EF4-FFF2-40B4-BE49-F238E27FC236}">
                  <a16:creationId xmlns:a16="http://schemas.microsoft.com/office/drawing/2014/main" xmlns="" id="{4E5C8283-99CB-8094-3B22-72414CCB7D41}"/>
                </a:ext>
              </a:extLst>
            </p:cNvPr>
            <p:cNvSpPr>
              <a:spLocks/>
            </p:cNvSpPr>
            <p:nvPr/>
          </p:nvSpPr>
          <p:spPr bwMode="auto">
            <a:xfrm>
              <a:off x="2322" y="2512"/>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0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0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5" y="0"/>
                  </a:lnTo>
                  <a:lnTo>
                    <a:pt x="3" y="0"/>
                  </a:lnTo>
                  <a:lnTo>
                    <a:pt x="2" y="2"/>
                  </a:lnTo>
                  <a:lnTo>
                    <a:pt x="0" y="4"/>
                  </a:lnTo>
                  <a:lnTo>
                    <a:pt x="0" y="6"/>
                  </a:lnTo>
                  <a:lnTo>
                    <a:pt x="2" y="7"/>
                  </a:lnTo>
                  <a:lnTo>
                    <a:pt x="3" y="9"/>
                  </a:lnTo>
                  <a:lnTo>
                    <a:pt x="5"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23" name="Freeform 175">
              <a:extLst>
                <a:ext uri="{FF2B5EF4-FFF2-40B4-BE49-F238E27FC236}">
                  <a16:creationId xmlns:a16="http://schemas.microsoft.com/office/drawing/2014/main" xmlns="" id="{128DD9C7-6D10-91C4-5162-BEB14FE4F651}"/>
                </a:ext>
              </a:extLst>
            </p:cNvPr>
            <p:cNvSpPr>
              <a:spLocks/>
            </p:cNvSpPr>
            <p:nvPr/>
          </p:nvSpPr>
          <p:spPr bwMode="auto">
            <a:xfrm>
              <a:off x="2294"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4587" name="Group 176">
            <a:extLst>
              <a:ext uri="{FF2B5EF4-FFF2-40B4-BE49-F238E27FC236}">
                <a16:creationId xmlns:a16="http://schemas.microsoft.com/office/drawing/2014/main" xmlns="" id="{0F6A9512-6B4D-EABA-509D-11C1DFA78BF5}"/>
              </a:ext>
            </a:extLst>
          </p:cNvPr>
          <p:cNvGrpSpPr>
            <a:grpSpLocks/>
          </p:cNvGrpSpPr>
          <p:nvPr/>
        </p:nvGrpSpPr>
        <p:grpSpPr bwMode="auto">
          <a:xfrm>
            <a:off x="2765425" y="4240213"/>
            <a:ext cx="798513" cy="96837"/>
            <a:chOff x="1742" y="1943"/>
            <a:chExt cx="503" cy="61"/>
          </a:xfrm>
        </p:grpSpPr>
        <p:sp>
          <p:nvSpPr>
            <p:cNvPr id="24741" name="Freeform 177">
              <a:extLst>
                <a:ext uri="{FF2B5EF4-FFF2-40B4-BE49-F238E27FC236}">
                  <a16:creationId xmlns:a16="http://schemas.microsoft.com/office/drawing/2014/main" xmlns="" id="{B1CC188D-BE00-B756-6AF2-C8E7CACEEC27}"/>
                </a:ext>
              </a:extLst>
            </p:cNvPr>
            <p:cNvSpPr>
              <a:spLocks/>
            </p:cNvSpPr>
            <p:nvPr/>
          </p:nvSpPr>
          <p:spPr bwMode="auto">
            <a:xfrm>
              <a:off x="1769" y="1971"/>
              <a:ext cx="6" cy="5"/>
            </a:xfrm>
            <a:custGeom>
              <a:avLst/>
              <a:gdLst>
                <a:gd name="T0" fmla="*/ 2 w 11"/>
                <a:gd name="T1" fmla="*/ 0 h 11"/>
                <a:gd name="T2" fmla="*/ 2 w 11"/>
                <a:gd name="T3" fmla="*/ 0 h 11"/>
                <a:gd name="T4" fmla="*/ 1 w 11"/>
                <a:gd name="T5" fmla="*/ 0 h 11"/>
                <a:gd name="T6" fmla="*/ 1 w 11"/>
                <a:gd name="T7" fmla="*/ 1 h 11"/>
                <a:gd name="T8" fmla="*/ 0 w 11"/>
                <a:gd name="T9" fmla="*/ 1 h 11"/>
                <a:gd name="T10" fmla="*/ 0 w 11"/>
                <a:gd name="T11" fmla="*/ 1 h 11"/>
                <a:gd name="T12" fmla="*/ 1 w 11"/>
                <a:gd name="T13" fmla="*/ 2 h 11"/>
                <a:gd name="T14" fmla="*/ 1 w 11"/>
                <a:gd name="T15" fmla="*/ 2 h 11"/>
                <a:gd name="T16" fmla="*/ 2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 h="11">
                  <a:moveTo>
                    <a:pt x="7" y="0"/>
                  </a:moveTo>
                  <a:lnTo>
                    <a:pt x="5" y="0"/>
                  </a:lnTo>
                  <a:lnTo>
                    <a:pt x="3" y="2"/>
                  </a:lnTo>
                  <a:lnTo>
                    <a:pt x="1" y="4"/>
                  </a:lnTo>
                  <a:lnTo>
                    <a:pt x="0" y="6"/>
                  </a:lnTo>
                  <a:lnTo>
                    <a:pt x="1" y="8"/>
                  </a:lnTo>
                  <a:lnTo>
                    <a:pt x="3" y="10"/>
                  </a:lnTo>
                  <a:lnTo>
                    <a:pt x="5" y="11"/>
                  </a:lnTo>
                  <a:lnTo>
                    <a:pt x="7" y="10"/>
                  </a:lnTo>
                  <a:lnTo>
                    <a:pt x="9" y="8"/>
                  </a:lnTo>
                  <a:lnTo>
                    <a:pt x="11" y="6"/>
                  </a:lnTo>
                  <a:lnTo>
                    <a:pt x="9" y="4"/>
                  </a:lnTo>
                  <a:lnTo>
                    <a:pt x="7" y="2"/>
                  </a:lnTo>
                  <a:lnTo>
                    <a:pt x="7"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2" name="Freeform 178">
              <a:extLst>
                <a:ext uri="{FF2B5EF4-FFF2-40B4-BE49-F238E27FC236}">
                  <a16:creationId xmlns:a16="http://schemas.microsoft.com/office/drawing/2014/main" xmlns="" id="{B573E70A-93B1-DEA8-CB09-3A41981B91B1}"/>
                </a:ext>
              </a:extLst>
            </p:cNvPr>
            <p:cNvSpPr>
              <a:spLocks/>
            </p:cNvSpPr>
            <p:nvPr/>
          </p:nvSpPr>
          <p:spPr bwMode="auto">
            <a:xfrm>
              <a:off x="1780"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3" name="Freeform 179">
              <a:extLst>
                <a:ext uri="{FF2B5EF4-FFF2-40B4-BE49-F238E27FC236}">
                  <a16:creationId xmlns:a16="http://schemas.microsoft.com/office/drawing/2014/main" xmlns="" id="{2D810419-64C4-7882-9198-658CAACDB289}"/>
                </a:ext>
              </a:extLst>
            </p:cNvPr>
            <p:cNvSpPr>
              <a:spLocks/>
            </p:cNvSpPr>
            <p:nvPr/>
          </p:nvSpPr>
          <p:spPr bwMode="auto">
            <a:xfrm>
              <a:off x="1791"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4" name="Freeform 180">
              <a:extLst>
                <a:ext uri="{FF2B5EF4-FFF2-40B4-BE49-F238E27FC236}">
                  <a16:creationId xmlns:a16="http://schemas.microsoft.com/office/drawing/2014/main" xmlns="" id="{DD08D24F-B6BE-B0B7-0931-1B23DF3C841C}"/>
                </a:ext>
              </a:extLst>
            </p:cNvPr>
            <p:cNvSpPr>
              <a:spLocks/>
            </p:cNvSpPr>
            <p:nvPr/>
          </p:nvSpPr>
          <p:spPr bwMode="auto">
            <a:xfrm>
              <a:off x="1802"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5" name="Freeform 181">
              <a:extLst>
                <a:ext uri="{FF2B5EF4-FFF2-40B4-BE49-F238E27FC236}">
                  <a16:creationId xmlns:a16="http://schemas.microsoft.com/office/drawing/2014/main" xmlns="" id="{60CD839F-BF62-4275-087C-0C0A38B654C2}"/>
                </a:ext>
              </a:extLst>
            </p:cNvPr>
            <p:cNvSpPr>
              <a:spLocks/>
            </p:cNvSpPr>
            <p:nvPr/>
          </p:nvSpPr>
          <p:spPr bwMode="auto">
            <a:xfrm>
              <a:off x="1813"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6" name="Freeform 182">
              <a:extLst>
                <a:ext uri="{FF2B5EF4-FFF2-40B4-BE49-F238E27FC236}">
                  <a16:creationId xmlns:a16="http://schemas.microsoft.com/office/drawing/2014/main" xmlns="" id="{F0F3588D-0B39-FC52-0385-A3CAB6F3D2D1}"/>
                </a:ext>
              </a:extLst>
            </p:cNvPr>
            <p:cNvSpPr>
              <a:spLocks/>
            </p:cNvSpPr>
            <p:nvPr/>
          </p:nvSpPr>
          <p:spPr bwMode="auto">
            <a:xfrm>
              <a:off x="1825"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7" name="Freeform 183">
              <a:extLst>
                <a:ext uri="{FF2B5EF4-FFF2-40B4-BE49-F238E27FC236}">
                  <a16:creationId xmlns:a16="http://schemas.microsoft.com/office/drawing/2014/main" xmlns="" id="{FF046A73-798F-94A7-C9F2-975B07D184E0}"/>
                </a:ext>
              </a:extLst>
            </p:cNvPr>
            <p:cNvSpPr>
              <a:spLocks/>
            </p:cNvSpPr>
            <p:nvPr/>
          </p:nvSpPr>
          <p:spPr bwMode="auto">
            <a:xfrm>
              <a:off x="1836"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8" name="Freeform 184">
              <a:extLst>
                <a:ext uri="{FF2B5EF4-FFF2-40B4-BE49-F238E27FC236}">
                  <a16:creationId xmlns:a16="http://schemas.microsoft.com/office/drawing/2014/main" xmlns="" id="{CD7F1C01-1D4E-D054-1693-A35959F4A8E9}"/>
                </a:ext>
              </a:extLst>
            </p:cNvPr>
            <p:cNvSpPr>
              <a:spLocks/>
            </p:cNvSpPr>
            <p:nvPr/>
          </p:nvSpPr>
          <p:spPr bwMode="auto">
            <a:xfrm>
              <a:off x="1847"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9" name="Freeform 185">
              <a:extLst>
                <a:ext uri="{FF2B5EF4-FFF2-40B4-BE49-F238E27FC236}">
                  <a16:creationId xmlns:a16="http://schemas.microsoft.com/office/drawing/2014/main" xmlns="" id="{D66C7B5B-D16D-B2AD-2592-380F23F42C05}"/>
                </a:ext>
              </a:extLst>
            </p:cNvPr>
            <p:cNvSpPr>
              <a:spLocks/>
            </p:cNvSpPr>
            <p:nvPr/>
          </p:nvSpPr>
          <p:spPr bwMode="auto">
            <a:xfrm>
              <a:off x="1858"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0" name="Freeform 186">
              <a:extLst>
                <a:ext uri="{FF2B5EF4-FFF2-40B4-BE49-F238E27FC236}">
                  <a16:creationId xmlns:a16="http://schemas.microsoft.com/office/drawing/2014/main" xmlns="" id="{331FD64E-D5A0-04BF-E905-11DBE78235C9}"/>
                </a:ext>
              </a:extLst>
            </p:cNvPr>
            <p:cNvSpPr>
              <a:spLocks/>
            </p:cNvSpPr>
            <p:nvPr/>
          </p:nvSpPr>
          <p:spPr bwMode="auto">
            <a:xfrm>
              <a:off x="1869" y="1971"/>
              <a:ext cx="5" cy="5"/>
            </a:xfrm>
            <a:custGeom>
              <a:avLst/>
              <a:gdLst>
                <a:gd name="T0" fmla="*/ 1 w 12"/>
                <a:gd name="T1" fmla="*/ 0 h 11"/>
                <a:gd name="T2" fmla="*/ 1 w 12"/>
                <a:gd name="T3" fmla="*/ 0 h 11"/>
                <a:gd name="T4" fmla="*/ 0 w 12"/>
                <a:gd name="T5" fmla="*/ 0 h 11"/>
                <a:gd name="T6" fmla="*/ 0 w 12"/>
                <a:gd name="T7" fmla="*/ 1 h 11"/>
                <a:gd name="T8" fmla="*/ 0 w 12"/>
                <a:gd name="T9" fmla="*/ 1 h 11"/>
                <a:gd name="T10" fmla="*/ 0 w 12"/>
                <a:gd name="T11" fmla="*/ 2 h 11"/>
                <a:gd name="T12" fmla="*/ 0 w 12"/>
                <a:gd name="T13" fmla="*/ 2 h 11"/>
                <a:gd name="T14" fmla="*/ 0 w 12"/>
                <a:gd name="T15" fmla="*/ 2 h 11"/>
                <a:gd name="T16" fmla="*/ 1 w 12"/>
                <a:gd name="T17" fmla="*/ 2 h 11"/>
                <a:gd name="T18" fmla="*/ 1 w 12"/>
                <a:gd name="T19" fmla="*/ 2 h 11"/>
                <a:gd name="T20" fmla="*/ 1 w 12"/>
                <a:gd name="T21" fmla="*/ 2 h 11"/>
                <a:gd name="T22" fmla="*/ 1 w 12"/>
                <a:gd name="T23" fmla="*/ 2 h 11"/>
                <a:gd name="T24" fmla="*/ 2 w 12"/>
                <a:gd name="T25" fmla="*/ 2 h 11"/>
                <a:gd name="T26" fmla="*/ 2 w 12"/>
                <a:gd name="T27" fmla="*/ 1 h 11"/>
                <a:gd name="T28" fmla="*/ 2 w 12"/>
                <a:gd name="T29" fmla="*/ 1 h 11"/>
                <a:gd name="T30" fmla="*/ 2 w 12"/>
                <a:gd name="T31" fmla="*/ 1 h 11"/>
                <a:gd name="T32" fmla="*/ 1 w 12"/>
                <a:gd name="T33" fmla="*/ 0 h 11"/>
                <a:gd name="T34" fmla="*/ 1 w 12"/>
                <a:gd name="T35" fmla="*/ 0 h 11"/>
                <a:gd name="T36" fmla="*/ 1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1" name="Freeform 187">
              <a:extLst>
                <a:ext uri="{FF2B5EF4-FFF2-40B4-BE49-F238E27FC236}">
                  <a16:creationId xmlns:a16="http://schemas.microsoft.com/office/drawing/2014/main" xmlns="" id="{057F7306-0287-3A84-2203-0712B0DAF604}"/>
                </a:ext>
              </a:extLst>
            </p:cNvPr>
            <p:cNvSpPr>
              <a:spLocks/>
            </p:cNvSpPr>
            <p:nvPr/>
          </p:nvSpPr>
          <p:spPr bwMode="auto">
            <a:xfrm>
              <a:off x="1880"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2" name="Freeform 188">
              <a:extLst>
                <a:ext uri="{FF2B5EF4-FFF2-40B4-BE49-F238E27FC236}">
                  <a16:creationId xmlns:a16="http://schemas.microsoft.com/office/drawing/2014/main" xmlns="" id="{7887BAEA-8B4C-3CE9-B01D-F866F49B04AE}"/>
                </a:ext>
              </a:extLst>
            </p:cNvPr>
            <p:cNvSpPr>
              <a:spLocks/>
            </p:cNvSpPr>
            <p:nvPr/>
          </p:nvSpPr>
          <p:spPr bwMode="auto">
            <a:xfrm>
              <a:off x="1891"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3" name="Freeform 189">
              <a:extLst>
                <a:ext uri="{FF2B5EF4-FFF2-40B4-BE49-F238E27FC236}">
                  <a16:creationId xmlns:a16="http://schemas.microsoft.com/office/drawing/2014/main" xmlns="" id="{F7B3A88F-C6D6-1213-CDBA-E457A9B16093}"/>
                </a:ext>
              </a:extLst>
            </p:cNvPr>
            <p:cNvSpPr>
              <a:spLocks/>
            </p:cNvSpPr>
            <p:nvPr/>
          </p:nvSpPr>
          <p:spPr bwMode="auto">
            <a:xfrm>
              <a:off x="1902"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4" name="Freeform 190">
              <a:extLst>
                <a:ext uri="{FF2B5EF4-FFF2-40B4-BE49-F238E27FC236}">
                  <a16:creationId xmlns:a16="http://schemas.microsoft.com/office/drawing/2014/main" xmlns="" id="{10062142-76F9-FF9E-4D39-93A22E9662DE}"/>
                </a:ext>
              </a:extLst>
            </p:cNvPr>
            <p:cNvSpPr>
              <a:spLocks/>
            </p:cNvSpPr>
            <p:nvPr/>
          </p:nvSpPr>
          <p:spPr bwMode="auto">
            <a:xfrm>
              <a:off x="1913"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5" name="Freeform 191">
              <a:extLst>
                <a:ext uri="{FF2B5EF4-FFF2-40B4-BE49-F238E27FC236}">
                  <a16:creationId xmlns:a16="http://schemas.microsoft.com/office/drawing/2014/main" xmlns="" id="{E3AAE58F-10D6-F1FC-7A3E-E7AA13513BFB}"/>
                </a:ext>
              </a:extLst>
            </p:cNvPr>
            <p:cNvSpPr>
              <a:spLocks/>
            </p:cNvSpPr>
            <p:nvPr/>
          </p:nvSpPr>
          <p:spPr bwMode="auto">
            <a:xfrm>
              <a:off x="1924"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6" name="Freeform 192">
              <a:extLst>
                <a:ext uri="{FF2B5EF4-FFF2-40B4-BE49-F238E27FC236}">
                  <a16:creationId xmlns:a16="http://schemas.microsoft.com/office/drawing/2014/main" xmlns="" id="{5A67068F-4E0A-DCE1-1343-A29E6848A5B5}"/>
                </a:ext>
              </a:extLst>
            </p:cNvPr>
            <p:cNvSpPr>
              <a:spLocks/>
            </p:cNvSpPr>
            <p:nvPr/>
          </p:nvSpPr>
          <p:spPr bwMode="auto">
            <a:xfrm>
              <a:off x="1935"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7" name="Freeform 193">
              <a:extLst>
                <a:ext uri="{FF2B5EF4-FFF2-40B4-BE49-F238E27FC236}">
                  <a16:creationId xmlns:a16="http://schemas.microsoft.com/office/drawing/2014/main" xmlns="" id="{52F197CF-4F3B-7006-3AF0-219EA6EA47BD}"/>
                </a:ext>
              </a:extLst>
            </p:cNvPr>
            <p:cNvSpPr>
              <a:spLocks/>
            </p:cNvSpPr>
            <p:nvPr/>
          </p:nvSpPr>
          <p:spPr bwMode="auto">
            <a:xfrm>
              <a:off x="1946"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8" name="Freeform 194">
              <a:extLst>
                <a:ext uri="{FF2B5EF4-FFF2-40B4-BE49-F238E27FC236}">
                  <a16:creationId xmlns:a16="http://schemas.microsoft.com/office/drawing/2014/main" xmlns="" id="{58298223-CED0-1B58-D54E-3516AA12F98A}"/>
                </a:ext>
              </a:extLst>
            </p:cNvPr>
            <p:cNvSpPr>
              <a:spLocks/>
            </p:cNvSpPr>
            <p:nvPr/>
          </p:nvSpPr>
          <p:spPr bwMode="auto">
            <a:xfrm>
              <a:off x="1957"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59" name="Freeform 195">
              <a:extLst>
                <a:ext uri="{FF2B5EF4-FFF2-40B4-BE49-F238E27FC236}">
                  <a16:creationId xmlns:a16="http://schemas.microsoft.com/office/drawing/2014/main" xmlns="" id="{539B1A61-AE2D-85E7-A4C9-73063E84D528}"/>
                </a:ext>
              </a:extLst>
            </p:cNvPr>
            <p:cNvSpPr>
              <a:spLocks/>
            </p:cNvSpPr>
            <p:nvPr/>
          </p:nvSpPr>
          <p:spPr bwMode="auto">
            <a:xfrm>
              <a:off x="1968"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0" name="Freeform 196">
              <a:extLst>
                <a:ext uri="{FF2B5EF4-FFF2-40B4-BE49-F238E27FC236}">
                  <a16:creationId xmlns:a16="http://schemas.microsoft.com/office/drawing/2014/main" xmlns="" id="{9C17F6A0-1BDB-CA4A-52AE-FE8E09FD4B8A}"/>
                </a:ext>
              </a:extLst>
            </p:cNvPr>
            <p:cNvSpPr>
              <a:spLocks/>
            </p:cNvSpPr>
            <p:nvPr/>
          </p:nvSpPr>
          <p:spPr bwMode="auto">
            <a:xfrm>
              <a:off x="1979"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1" name="Freeform 197">
              <a:extLst>
                <a:ext uri="{FF2B5EF4-FFF2-40B4-BE49-F238E27FC236}">
                  <a16:creationId xmlns:a16="http://schemas.microsoft.com/office/drawing/2014/main" xmlns="" id="{FFDCAE92-35A5-397C-6776-398750B177F8}"/>
                </a:ext>
              </a:extLst>
            </p:cNvPr>
            <p:cNvSpPr>
              <a:spLocks/>
            </p:cNvSpPr>
            <p:nvPr/>
          </p:nvSpPr>
          <p:spPr bwMode="auto">
            <a:xfrm>
              <a:off x="1990"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2" name="Freeform 198">
              <a:extLst>
                <a:ext uri="{FF2B5EF4-FFF2-40B4-BE49-F238E27FC236}">
                  <a16:creationId xmlns:a16="http://schemas.microsoft.com/office/drawing/2014/main" xmlns="" id="{5E6CC4BC-6B67-6EEC-D0F0-75BF515578D3}"/>
                </a:ext>
              </a:extLst>
            </p:cNvPr>
            <p:cNvSpPr>
              <a:spLocks/>
            </p:cNvSpPr>
            <p:nvPr/>
          </p:nvSpPr>
          <p:spPr bwMode="auto">
            <a:xfrm>
              <a:off x="2001"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3" name="Freeform 199">
              <a:extLst>
                <a:ext uri="{FF2B5EF4-FFF2-40B4-BE49-F238E27FC236}">
                  <a16:creationId xmlns:a16="http://schemas.microsoft.com/office/drawing/2014/main" xmlns="" id="{E18FC257-3D19-974F-E3AE-7B58579A6E7A}"/>
                </a:ext>
              </a:extLst>
            </p:cNvPr>
            <p:cNvSpPr>
              <a:spLocks/>
            </p:cNvSpPr>
            <p:nvPr/>
          </p:nvSpPr>
          <p:spPr bwMode="auto">
            <a:xfrm>
              <a:off x="2012"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4" name="Freeform 200">
              <a:extLst>
                <a:ext uri="{FF2B5EF4-FFF2-40B4-BE49-F238E27FC236}">
                  <a16:creationId xmlns:a16="http://schemas.microsoft.com/office/drawing/2014/main" xmlns="" id="{5BDA4B27-3EF3-C470-AB74-A49BCE9F8361}"/>
                </a:ext>
              </a:extLst>
            </p:cNvPr>
            <p:cNvSpPr>
              <a:spLocks/>
            </p:cNvSpPr>
            <p:nvPr/>
          </p:nvSpPr>
          <p:spPr bwMode="auto">
            <a:xfrm>
              <a:off x="2023"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5" name="Freeform 201">
              <a:extLst>
                <a:ext uri="{FF2B5EF4-FFF2-40B4-BE49-F238E27FC236}">
                  <a16:creationId xmlns:a16="http://schemas.microsoft.com/office/drawing/2014/main" xmlns="" id="{9489287C-590C-34E1-EFCE-DCFF9DC2661A}"/>
                </a:ext>
              </a:extLst>
            </p:cNvPr>
            <p:cNvSpPr>
              <a:spLocks/>
            </p:cNvSpPr>
            <p:nvPr/>
          </p:nvSpPr>
          <p:spPr bwMode="auto">
            <a:xfrm>
              <a:off x="2035"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6" name="Freeform 202">
              <a:extLst>
                <a:ext uri="{FF2B5EF4-FFF2-40B4-BE49-F238E27FC236}">
                  <a16:creationId xmlns:a16="http://schemas.microsoft.com/office/drawing/2014/main" xmlns="" id="{76C1180C-616F-E3DE-6E15-A5BB212C842E}"/>
                </a:ext>
              </a:extLst>
            </p:cNvPr>
            <p:cNvSpPr>
              <a:spLocks/>
            </p:cNvSpPr>
            <p:nvPr/>
          </p:nvSpPr>
          <p:spPr bwMode="auto">
            <a:xfrm>
              <a:off x="2046"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7" name="Freeform 203">
              <a:extLst>
                <a:ext uri="{FF2B5EF4-FFF2-40B4-BE49-F238E27FC236}">
                  <a16:creationId xmlns:a16="http://schemas.microsoft.com/office/drawing/2014/main" xmlns="" id="{5B319A99-4E06-693B-BA50-9A1093075947}"/>
                </a:ext>
              </a:extLst>
            </p:cNvPr>
            <p:cNvSpPr>
              <a:spLocks/>
            </p:cNvSpPr>
            <p:nvPr/>
          </p:nvSpPr>
          <p:spPr bwMode="auto">
            <a:xfrm>
              <a:off x="2057"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8" name="Freeform 204">
              <a:extLst>
                <a:ext uri="{FF2B5EF4-FFF2-40B4-BE49-F238E27FC236}">
                  <a16:creationId xmlns:a16="http://schemas.microsoft.com/office/drawing/2014/main" xmlns="" id="{F9ACC7DC-2B4F-ABA7-A596-3FF5AB9A982D}"/>
                </a:ext>
              </a:extLst>
            </p:cNvPr>
            <p:cNvSpPr>
              <a:spLocks/>
            </p:cNvSpPr>
            <p:nvPr/>
          </p:nvSpPr>
          <p:spPr bwMode="auto">
            <a:xfrm>
              <a:off x="2068"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69" name="Freeform 205">
              <a:extLst>
                <a:ext uri="{FF2B5EF4-FFF2-40B4-BE49-F238E27FC236}">
                  <a16:creationId xmlns:a16="http://schemas.microsoft.com/office/drawing/2014/main" xmlns="" id="{996A829A-0C70-B5AF-8794-02FD098EF847}"/>
                </a:ext>
              </a:extLst>
            </p:cNvPr>
            <p:cNvSpPr>
              <a:spLocks/>
            </p:cNvSpPr>
            <p:nvPr/>
          </p:nvSpPr>
          <p:spPr bwMode="auto">
            <a:xfrm>
              <a:off x="2079" y="1971"/>
              <a:ext cx="5" cy="5"/>
            </a:xfrm>
            <a:custGeom>
              <a:avLst/>
              <a:gdLst>
                <a:gd name="T0" fmla="*/ 1 w 12"/>
                <a:gd name="T1" fmla="*/ 0 h 11"/>
                <a:gd name="T2" fmla="*/ 1 w 12"/>
                <a:gd name="T3" fmla="*/ 0 h 11"/>
                <a:gd name="T4" fmla="*/ 0 w 12"/>
                <a:gd name="T5" fmla="*/ 0 h 11"/>
                <a:gd name="T6" fmla="*/ 0 w 12"/>
                <a:gd name="T7" fmla="*/ 1 h 11"/>
                <a:gd name="T8" fmla="*/ 0 w 12"/>
                <a:gd name="T9" fmla="*/ 1 h 11"/>
                <a:gd name="T10" fmla="*/ 0 w 12"/>
                <a:gd name="T11" fmla="*/ 2 h 11"/>
                <a:gd name="T12" fmla="*/ 0 w 12"/>
                <a:gd name="T13" fmla="*/ 2 h 11"/>
                <a:gd name="T14" fmla="*/ 0 w 12"/>
                <a:gd name="T15" fmla="*/ 2 h 11"/>
                <a:gd name="T16" fmla="*/ 1 w 12"/>
                <a:gd name="T17" fmla="*/ 2 h 11"/>
                <a:gd name="T18" fmla="*/ 1 w 12"/>
                <a:gd name="T19" fmla="*/ 2 h 11"/>
                <a:gd name="T20" fmla="*/ 1 w 12"/>
                <a:gd name="T21" fmla="*/ 2 h 11"/>
                <a:gd name="T22" fmla="*/ 1 w 12"/>
                <a:gd name="T23" fmla="*/ 2 h 11"/>
                <a:gd name="T24" fmla="*/ 2 w 12"/>
                <a:gd name="T25" fmla="*/ 2 h 11"/>
                <a:gd name="T26" fmla="*/ 2 w 12"/>
                <a:gd name="T27" fmla="*/ 1 h 11"/>
                <a:gd name="T28" fmla="*/ 2 w 12"/>
                <a:gd name="T29" fmla="*/ 1 h 11"/>
                <a:gd name="T30" fmla="*/ 2 w 12"/>
                <a:gd name="T31" fmla="*/ 1 h 11"/>
                <a:gd name="T32" fmla="*/ 1 w 12"/>
                <a:gd name="T33" fmla="*/ 0 h 11"/>
                <a:gd name="T34" fmla="*/ 1 w 12"/>
                <a:gd name="T35" fmla="*/ 0 h 11"/>
                <a:gd name="T36" fmla="*/ 1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0" name="Freeform 206">
              <a:extLst>
                <a:ext uri="{FF2B5EF4-FFF2-40B4-BE49-F238E27FC236}">
                  <a16:creationId xmlns:a16="http://schemas.microsoft.com/office/drawing/2014/main" xmlns="" id="{79776CA8-50D3-CD0E-99AC-A8B52EA5C346}"/>
                </a:ext>
              </a:extLst>
            </p:cNvPr>
            <p:cNvSpPr>
              <a:spLocks/>
            </p:cNvSpPr>
            <p:nvPr/>
          </p:nvSpPr>
          <p:spPr bwMode="auto">
            <a:xfrm>
              <a:off x="2090"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1" name="Freeform 207">
              <a:extLst>
                <a:ext uri="{FF2B5EF4-FFF2-40B4-BE49-F238E27FC236}">
                  <a16:creationId xmlns:a16="http://schemas.microsoft.com/office/drawing/2014/main" xmlns="" id="{624FCF48-A2BF-A220-181C-E267686FB26A}"/>
                </a:ext>
              </a:extLst>
            </p:cNvPr>
            <p:cNvSpPr>
              <a:spLocks/>
            </p:cNvSpPr>
            <p:nvPr/>
          </p:nvSpPr>
          <p:spPr bwMode="auto">
            <a:xfrm>
              <a:off x="2101"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2" name="Freeform 208">
              <a:extLst>
                <a:ext uri="{FF2B5EF4-FFF2-40B4-BE49-F238E27FC236}">
                  <a16:creationId xmlns:a16="http://schemas.microsoft.com/office/drawing/2014/main" xmlns="" id="{7E115E2E-3F48-E7C8-C602-8EAE1D2006E3}"/>
                </a:ext>
              </a:extLst>
            </p:cNvPr>
            <p:cNvSpPr>
              <a:spLocks/>
            </p:cNvSpPr>
            <p:nvPr/>
          </p:nvSpPr>
          <p:spPr bwMode="auto">
            <a:xfrm>
              <a:off x="2112"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3" name="Freeform 209">
              <a:extLst>
                <a:ext uri="{FF2B5EF4-FFF2-40B4-BE49-F238E27FC236}">
                  <a16:creationId xmlns:a16="http://schemas.microsoft.com/office/drawing/2014/main" xmlns="" id="{C9C0FD1F-F79B-1843-BE65-E57CEDAA17D0}"/>
                </a:ext>
              </a:extLst>
            </p:cNvPr>
            <p:cNvSpPr>
              <a:spLocks/>
            </p:cNvSpPr>
            <p:nvPr/>
          </p:nvSpPr>
          <p:spPr bwMode="auto">
            <a:xfrm>
              <a:off x="2123"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4" name="Freeform 210">
              <a:extLst>
                <a:ext uri="{FF2B5EF4-FFF2-40B4-BE49-F238E27FC236}">
                  <a16:creationId xmlns:a16="http://schemas.microsoft.com/office/drawing/2014/main" xmlns="" id="{ABE01F92-365C-CC20-0AF4-CF7C2FD49274}"/>
                </a:ext>
              </a:extLst>
            </p:cNvPr>
            <p:cNvSpPr>
              <a:spLocks/>
            </p:cNvSpPr>
            <p:nvPr/>
          </p:nvSpPr>
          <p:spPr bwMode="auto">
            <a:xfrm>
              <a:off x="2134"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5" name="Freeform 211">
              <a:extLst>
                <a:ext uri="{FF2B5EF4-FFF2-40B4-BE49-F238E27FC236}">
                  <a16:creationId xmlns:a16="http://schemas.microsoft.com/office/drawing/2014/main" xmlns="" id="{33C79C69-5FFF-B8F9-6E48-D5B0D4E10E42}"/>
                </a:ext>
              </a:extLst>
            </p:cNvPr>
            <p:cNvSpPr>
              <a:spLocks/>
            </p:cNvSpPr>
            <p:nvPr/>
          </p:nvSpPr>
          <p:spPr bwMode="auto">
            <a:xfrm>
              <a:off x="2145"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6" name="Freeform 212">
              <a:extLst>
                <a:ext uri="{FF2B5EF4-FFF2-40B4-BE49-F238E27FC236}">
                  <a16:creationId xmlns:a16="http://schemas.microsoft.com/office/drawing/2014/main" xmlns="" id="{DCF978B6-8D6F-D751-F4FF-3CD696CE2CD2}"/>
                </a:ext>
              </a:extLst>
            </p:cNvPr>
            <p:cNvSpPr>
              <a:spLocks/>
            </p:cNvSpPr>
            <p:nvPr/>
          </p:nvSpPr>
          <p:spPr bwMode="auto">
            <a:xfrm>
              <a:off x="2156"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7" name="Freeform 213">
              <a:extLst>
                <a:ext uri="{FF2B5EF4-FFF2-40B4-BE49-F238E27FC236}">
                  <a16:creationId xmlns:a16="http://schemas.microsoft.com/office/drawing/2014/main" xmlns="" id="{8534F24F-CBA9-A416-C0D0-0AA6003DAE18}"/>
                </a:ext>
              </a:extLst>
            </p:cNvPr>
            <p:cNvSpPr>
              <a:spLocks/>
            </p:cNvSpPr>
            <p:nvPr/>
          </p:nvSpPr>
          <p:spPr bwMode="auto">
            <a:xfrm>
              <a:off x="2167"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8" name="Freeform 214">
              <a:extLst>
                <a:ext uri="{FF2B5EF4-FFF2-40B4-BE49-F238E27FC236}">
                  <a16:creationId xmlns:a16="http://schemas.microsoft.com/office/drawing/2014/main" xmlns="" id="{C8402479-8352-BF40-EFB6-396940198475}"/>
                </a:ext>
              </a:extLst>
            </p:cNvPr>
            <p:cNvSpPr>
              <a:spLocks/>
            </p:cNvSpPr>
            <p:nvPr/>
          </p:nvSpPr>
          <p:spPr bwMode="auto">
            <a:xfrm>
              <a:off x="2178"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79" name="Freeform 215">
              <a:extLst>
                <a:ext uri="{FF2B5EF4-FFF2-40B4-BE49-F238E27FC236}">
                  <a16:creationId xmlns:a16="http://schemas.microsoft.com/office/drawing/2014/main" xmlns="" id="{AAF16E20-8790-33F1-32A8-B99E23A313C0}"/>
                </a:ext>
              </a:extLst>
            </p:cNvPr>
            <p:cNvSpPr>
              <a:spLocks/>
            </p:cNvSpPr>
            <p:nvPr/>
          </p:nvSpPr>
          <p:spPr bwMode="auto">
            <a:xfrm>
              <a:off x="2189" y="1971"/>
              <a:ext cx="6" cy="5"/>
            </a:xfrm>
            <a:custGeom>
              <a:avLst/>
              <a:gdLst>
                <a:gd name="T0" fmla="*/ 2 w 12"/>
                <a:gd name="T1" fmla="*/ 0 h 11"/>
                <a:gd name="T2" fmla="*/ 1 w 12"/>
                <a:gd name="T3" fmla="*/ 0 h 11"/>
                <a:gd name="T4" fmla="*/ 1 w 12"/>
                <a:gd name="T5" fmla="*/ 0 h 11"/>
                <a:gd name="T6" fmla="*/ 0 w 12"/>
                <a:gd name="T7" fmla="*/ 1 h 11"/>
                <a:gd name="T8" fmla="*/ 0 w 12"/>
                <a:gd name="T9" fmla="*/ 1 h 11"/>
                <a:gd name="T10" fmla="*/ 0 w 12"/>
                <a:gd name="T11" fmla="*/ 2 h 11"/>
                <a:gd name="T12" fmla="*/ 0 w 12"/>
                <a:gd name="T13" fmla="*/ 2 h 11"/>
                <a:gd name="T14" fmla="*/ 1 w 12"/>
                <a:gd name="T15" fmla="*/ 2 h 11"/>
                <a:gd name="T16" fmla="*/ 1 w 12"/>
                <a:gd name="T17" fmla="*/ 2 h 11"/>
                <a:gd name="T18" fmla="*/ 2 w 12"/>
                <a:gd name="T19" fmla="*/ 2 h 11"/>
                <a:gd name="T20" fmla="*/ 2 w 12"/>
                <a:gd name="T21" fmla="*/ 2 h 11"/>
                <a:gd name="T22" fmla="*/ 2 w 12"/>
                <a:gd name="T23" fmla="*/ 2 h 11"/>
                <a:gd name="T24" fmla="*/ 3 w 12"/>
                <a:gd name="T25" fmla="*/ 2 h 11"/>
                <a:gd name="T26" fmla="*/ 3 w 12"/>
                <a:gd name="T27" fmla="*/ 1 h 11"/>
                <a:gd name="T28" fmla="*/ 3 w 12"/>
                <a:gd name="T29" fmla="*/ 1 h 11"/>
                <a:gd name="T30" fmla="*/ 3 w 12"/>
                <a:gd name="T31" fmla="*/ 1 h 11"/>
                <a:gd name="T32" fmla="*/ 2 w 12"/>
                <a:gd name="T33" fmla="*/ 0 h 11"/>
                <a:gd name="T34" fmla="*/ 2 w 12"/>
                <a:gd name="T35" fmla="*/ 0 h 11"/>
                <a:gd name="T36" fmla="*/ 2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0" name="Freeform 216">
              <a:extLst>
                <a:ext uri="{FF2B5EF4-FFF2-40B4-BE49-F238E27FC236}">
                  <a16:creationId xmlns:a16="http://schemas.microsoft.com/office/drawing/2014/main" xmlns="" id="{B0346177-D351-B236-9EA7-CAB068012C7F}"/>
                </a:ext>
              </a:extLst>
            </p:cNvPr>
            <p:cNvSpPr>
              <a:spLocks/>
            </p:cNvSpPr>
            <p:nvPr/>
          </p:nvSpPr>
          <p:spPr bwMode="auto">
            <a:xfrm>
              <a:off x="2200"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1" name="Freeform 217">
              <a:extLst>
                <a:ext uri="{FF2B5EF4-FFF2-40B4-BE49-F238E27FC236}">
                  <a16:creationId xmlns:a16="http://schemas.microsoft.com/office/drawing/2014/main" xmlns="" id="{28B394A3-762D-79C1-F75B-D64EA66B5491}"/>
                </a:ext>
              </a:extLst>
            </p:cNvPr>
            <p:cNvSpPr>
              <a:spLocks/>
            </p:cNvSpPr>
            <p:nvPr/>
          </p:nvSpPr>
          <p:spPr bwMode="auto">
            <a:xfrm>
              <a:off x="1742" y="1943"/>
              <a:ext cx="60" cy="60"/>
            </a:xfrm>
            <a:custGeom>
              <a:avLst/>
              <a:gdLst>
                <a:gd name="T0" fmla="*/ 30 w 120"/>
                <a:gd name="T1" fmla="*/ 16 h 120"/>
                <a:gd name="T2" fmla="*/ 16 w 120"/>
                <a:gd name="T3" fmla="*/ 0 h 120"/>
                <a:gd name="T4" fmla="*/ 0 w 120"/>
                <a:gd name="T5" fmla="*/ 16 h 120"/>
                <a:gd name="T6" fmla="*/ 16 w 120"/>
                <a:gd name="T7" fmla="*/ 30 h 120"/>
                <a:gd name="T8" fmla="*/ 30 w 120"/>
                <a:gd name="T9" fmla="*/ 16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120">
                  <a:moveTo>
                    <a:pt x="120" y="61"/>
                  </a:moveTo>
                  <a:lnTo>
                    <a:pt x="61" y="0"/>
                  </a:lnTo>
                  <a:lnTo>
                    <a:pt x="0" y="61"/>
                  </a:lnTo>
                  <a:lnTo>
                    <a:pt x="61" y="120"/>
                  </a:lnTo>
                  <a:lnTo>
                    <a:pt x="120" y="61"/>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82" name="Freeform 218">
              <a:extLst>
                <a:ext uri="{FF2B5EF4-FFF2-40B4-BE49-F238E27FC236}">
                  <a16:creationId xmlns:a16="http://schemas.microsoft.com/office/drawing/2014/main" xmlns="" id="{859F1ACE-CCEA-B455-8D03-E5378B4CBDC2}"/>
                </a:ext>
              </a:extLst>
            </p:cNvPr>
            <p:cNvSpPr>
              <a:spLocks/>
            </p:cNvSpPr>
            <p:nvPr/>
          </p:nvSpPr>
          <p:spPr bwMode="auto">
            <a:xfrm>
              <a:off x="2185" y="1944"/>
              <a:ext cx="60" cy="60"/>
            </a:xfrm>
            <a:custGeom>
              <a:avLst/>
              <a:gdLst>
                <a:gd name="T0" fmla="*/ 0 w 120"/>
                <a:gd name="T1" fmla="*/ 15 h 120"/>
                <a:gd name="T2" fmla="*/ 15 w 120"/>
                <a:gd name="T3" fmla="*/ 30 h 120"/>
                <a:gd name="T4" fmla="*/ 30 w 120"/>
                <a:gd name="T5" fmla="*/ 15 h 120"/>
                <a:gd name="T6" fmla="*/ 15 w 120"/>
                <a:gd name="T7" fmla="*/ 0 h 120"/>
                <a:gd name="T8" fmla="*/ 0 w 120"/>
                <a:gd name="T9" fmla="*/ 15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120">
                  <a:moveTo>
                    <a:pt x="0" y="59"/>
                  </a:moveTo>
                  <a:lnTo>
                    <a:pt x="59" y="120"/>
                  </a:lnTo>
                  <a:lnTo>
                    <a:pt x="120" y="59"/>
                  </a:lnTo>
                  <a:lnTo>
                    <a:pt x="59" y="0"/>
                  </a:lnTo>
                  <a:lnTo>
                    <a:pt x="0" y="59"/>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4588" name="Group 219">
            <a:extLst>
              <a:ext uri="{FF2B5EF4-FFF2-40B4-BE49-F238E27FC236}">
                <a16:creationId xmlns:a16="http://schemas.microsoft.com/office/drawing/2014/main" xmlns="" id="{D7E02177-581A-3582-26FE-C14881E38F0D}"/>
              </a:ext>
            </a:extLst>
          </p:cNvPr>
          <p:cNvGrpSpPr>
            <a:grpSpLocks/>
          </p:cNvGrpSpPr>
          <p:nvPr/>
        </p:nvGrpSpPr>
        <p:grpSpPr bwMode="auto">
          <a:xfrm>
            <a:off x="3641725" y="4240213"/>
            <a:ext cx="798513" cy="96837"/>
            <a:chOff x="2294" y="1943"/>
            <a:chExt cx="503" cy="61"/>
          </a:xfrm>
        </p:grpSpPr>
        <p:sp>
          <p:nvSpPr>
            <p:cNvPr id="24699" name="Freeform 220">
              <a:extLst>
                <a:ext uri="{FF2B5EF4-FFF2-40B4-BE49-F238E27FC236}">
                  <a16:creationId xmlns:a16="http://schemas.microsoft.com/office/drawing/2014/main" xmlns="" id="{051C5876-8507-11C9-F063-9E4FF006499F}"/>
                </a:ext>
              </a:extLst>
            </p:cNvPr>
            <p:cNvSpPr>
              <a:spLocks/>
            </p:cNvSpPr>
            <p:nvPr/>
          </p:nvSpPr>
          <p:spPr bwMode="auto">
            <a:xfrm>
              <a:off x="2322"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1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 h="11">
                  <a:moveTo>
                    <a:pt x="7" y="0"/>
                  </a:moveTo>
                  <a:lnTo>
                    <a:pt x="5" y="0"/>
                  </a:lnTo>
                  <a:lnTo>
                    <a:pt x="3" y="2"/>
                  </a:lnTo>
                  <a:lnTo>
                    <a:pt x="2" y="4"/>
                  </a:lnTo>
                  <a:lnTo>
                    <a:pt x="0" y="6"/>
                  </a:lnTo>
                  <a:lnTo>
                    <a:pt x="2" y="8"/>
                  </a:lnTo>
                  <a:lnTo>
                    <a:pt x="3" y="10"/>
                  </a:lnTo>
                  <a:lnTo>
                    <a:pt x="5" y="11"/>
                  </a:lnTo>
                  <a:lnTo>
                    <a:pt x="7" y="10"/>
                  </a:lnTo>
                  <a:lnTo>
                    <a:pt x="9" y="8"/>
                  </a:lnTo>
                  <a:lnTo>
                    <a:pt x="11" y="6"/>
                  </a:lnTo>
                  <a:lnTo>
                    <a:pt x="9" y="4"/>
                  </a:lnTo>
                  <a:lnTo>
                    <a:pt x="7" y="2"/>
                  </a:lnTo>
                  <a:lnTo>
                    <a:pt x="7"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0" name="Freeform 221">
              <a:extLst>
                <a:ext uri="{FF2B5EF4-FFF2-40B4-BE49-F238E27FC236}">
                  <a16:creationId xmlns:a16="http://schemas.microsoft.com/office/drawing/2014/main" xmlns="" id="{3FE89EF3-8A61-089C-D724-E4C558A6E17E}"/>
                </a:ext>
              </a:extLst>
            </p:cNvPr>
            <p:cNvSpPr>
              <a:spLocks/>
            </p:cNvSpPr>
            <p:nvPr/>
          </p:nvSpPr>
          <p:spPr bwMode="auto">
            <a:xfrm>
              <a:off x="2333"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1" name="Freeform 222">
              <a:extLst>
                <a:ext uri="{FF2B5EF4-FFF2-40B4-BE49-F238E27FC236}">
                  <a16:creationId xmlns:a16="http://schemas.microsoft.com/office/drawing/2014/main" xmlns="" id="{311B95EF-530F-CDAB-DC94-4FE3FCFFC2AC}"/>
                </a:ext>
              </a:extLst>
            </p:cNvPr>
            <p:cNvSpPr>
              <a:spLocks/>
            </p:cNvSpPr>
            <p:nvPr/>
          </p:nvSpPr>
          <p:spPr bwMode="auto">
            <a:xfrm>
              <a:off x="2344"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2" name="Freeform 223">
              <a:extLst>
                <a:ext uri="{FF2B5EF4-FFF2-40B4-BE49-F238E27FC236}">
                  <a16:creationId xmlns:a16="http://schemas.microsoft.com/office/drawing/2014/main" xmlns="" id="{F88766B9-CFE2-0DD9-E183-C9263569084B}"/>
                </a:ext>
              </a:extLst>
            </p:cNvPr>
            <p:cNvSpPr>
              <a:spLocks/>
            </p:cNvSpPr>
            <p:nvPr/>
          </p:nvSpPr>
          <p:spPr bwMode="auto">
            <a:xfrm>
              <a:off x="2355"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3" name="Freeform 224">
              <a:extLst>
                <a:ext uri="{FF2B5EF4-FFF2-40B4-BE49-F238E27FC236}">
                  <a16:creationId xmlns:a16="http://schemas.microsoft.com/office/drawing/2014/main" xmlns="" id="{05C6C87B-A0D9-023A-CFF4-91DF9C350993}"/>
                </a:ext>
              </a:extLst>
            </p:cNvPr>
            <p:cNvSpPr>
              <a:spLocks/>
            </p:cNvSpPr>
            <p:nvPr/>
          </p:nvSpPr>
          <p:spPr bwMode="auto">
            <a:xfrm>
              <a:off x="2366"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4" name="Freeform 225">
              <a:extLst>
                <a:ext uri="{FF2B5EF4-FFF2-40B4-BE49-F238E27FC236}">
                  <a16:creationId xmlns:a16="http://schemas.microsoft.com/office/drawing/2014/main" xmlns="" id="{BE697456-F14F-D72C-51C0-28208900E071}"/>
                </a:ext>
              </a:extLst>
            </p:cNvPr>
            <p:cNvSpPr>
              <a:spLocks/>
            </p:cNvSpPr>
            <p:nvPr/>
          </p:nvSpPr>
          <p:spPr bwMode="auto">
            <a:xfrm>
              <a:off x="2377"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5" name="Freeform 226">
              <a:extLst>
                <a:ext uri="{FF2B5EF4-FFF2-40B4-BE49-F238E27FC236}">
                  <a16:creationId xmlns:a16="http://schemas.microsoft.com/office/drawing/2014/main" xmlns="" id="{8C8046A2-9688-0F67-658B-4877700F64FB}"/>
                </a:ext>
              </a:extLst>
            </p:cNvPr>
            <p:cNvSpPr>
              <a:spLocks/>
            </p:cNvSpPr>
            <p:nvPr/>
          </p:nvSpPr>
          <p:spPr bwMode="auto">
            <a:xfrm>
              <a:off x="2388"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6" name="Freeform 227">
              <a:extLst>
                <a:ext uri="{FF2B5EF4-FFF2-40B4-BE49-F238E27FC236}">
                  <a16:creationId xmlns:a16="http://schemas.microsoft.com/office/drawing/2014/main" xmlns="" id="{DC325778-FEBB-D781-9F4A-05AA0E5F0DD0}"/>
                </a:ext>
              </a:extLst>
            </p:cNvPr>
            <p:cNvSpPr>
              <a:spLocks/>
            </p:cNvSpPr>
            <p:nvPr/>
          </p:nvSpPr>
          <p:spPr bwMode="auto">
            <a:xfrm>
              <a:off x="2399" y="1971"/>
              <a:ext cx="6" cy="5"/>
            </a:xfrm>
            <a:custGeom>
              <a:avLst/>
              <a:gdLst>
                <a:gd name="T0" fmla="*/ 2 w 12"/>
                <a:gd name="T1" fmla="*/ 0 h 11"/>
                <a:gd name="T2" fmla="*/ 1 w 12"/>
                <a:gd name="T3" fmla="*/ 0 h 11"/>
                <a:gd name="T4" fmla="*/ 1 w 12"/>
                <a:gd name="T5" fmla="*/ 0 h 11"/>
                <a:gd name="T6" fmla="*/ 0 w 12"/>
                <a:gd name="T7" fmla="*/ 1 h 11"/>
                <a:gd name="T8" fmla="*/ 0 w 12"/>
                <a:gd name="T9" fmla="*/ 1 h 11"/>
                <a:gd name="T10" fmla="*/ 0 w 12"/>
                <a:gd name="T11" fmla="*/ 2 h 11"/>
                <a:gd name="T12" fmla="*/ 0 w 12"/>
                <a:gd name="T13" fmla="*/ 2 h 11"/>
                <a:gd name="T14" fmla="*/ 1 w 12"/>
                <a:gd name="T15" fmla="*/ 2 h 11"/>
                <a:gd name="T16" fmla="*/ 1 w 12"/>
                <a:gd name="T17" fmla="*/ 2 h 11"/>
                <a:gd name="T18" fmla="*/ 2 w 12"/>
                <a:gd name="T19" fmla="*/ 2 h 11"/>
                <a:gd name="T20" fmla="*/ 2 w 12"/>
                <a:gd name="T21" fmla="*/ 2 h 11"/>
                <a:gd name="T22" fmla="*/ 2 w 12"/>
                <a:gd name="T23" fmla="*/ 2 h 11"/>
                <a:gd name="T24" fmla="*/ 3 w 12"/>
                <a:gd name="T25" fmla="*/ 2 h 11"/>
                <a:gd name="T26" fmla="*/ 3 w 12"/>
                <a:gd name="T27" fmla="*/ 1 h 11"/>
                <a:gd name="T28" fmla="*/ 3 w 12"/>
                <a:gd name="T29" fmla="*/ 1 h 11"/>
                <a:gd name="T30" fmla="*/ 3 w 12"/>
                <a:gd name="T31" fmla="*/ 1 h 11"/>
                <a:gd name="T32" fmla="*/ 2 w 12"/>
                <a:gd name="T33" fmla="*/ 0 h 11"/>
                <a:gd name="T34" fmla="*/ 2 w 12"/>
                <a:gd name="T35" fmla="*/ 0 h 11"/>
                <a:gd name="T36" fmla="*/ 2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7" name="Freeform 228">
              <a:extLst>
                <a:ext uri="{FF2B5EF4-FFF2-40B4-BE49-F238E27FC236}">
                  <a16:creationId xmlns:a16="http://schemas.microsoft.com/office/drawing/2014/main" xmlns="" id="{4011E380-F16D-B506-27D8-D0A98180D8AF}"/>
                </a:ext>
              </a:extLst>
            </p:cNvPr>
            <p:cNvSpPr>
              <a:spLocks/>
            </p:cNvSpPr>
            <p:nvPr/>
          </p:nvSpPr>
          <p:spPr bwMode="auto">
            <a:xfrm>
              <a:off x="2410"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8" name="Freeform 229">
              <a:extLst>
                <a:ext uri="{FF2B5EF4-FFF2-40B4-BE49-F238E27FC236}">
                  <a16:creationId xmlns:a16="http://schemas.microsoft.com/office/drawing/2014/main" xmlns="" id="{CFDD3F07-D9C5-C0AD-6B79-6050B8CC6CCE}"/>
                </a:ext>
              </a:extLst>
            </p:cNvPr>
            <p:cNvSpPr>
              <a:spLocks/>
            </p:cNvSpPr>
            <p:nvPr/>
          </p:nvSpPr>
          <p:spPr bwMode="auto">
            <a:xfrm>
              <a:off x="2421"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09" name="Freeform 230">
              <a:extLst>
                <a:ext uri="{FF2B5EF4-FFF2-40B4-BE49-F238E27FC236}">
                  <a16:creationId xmlns:a16="http://schemas.microsoft.com/office/drawing/2014/main" xmlns="" id="{3E31BDEA-BBF2-BAE7-1C40-264283837E74}"/>
                </a:ext>
              </a:extLst>
            </p:cNvPr>
            <p:cNvSpPr>
              <a:spLocks/>
            </p:cNvSpPr>
            <p:nvPr/>
          </p:nvSpPr>
          <p:spPr bwMode="auto">
            <a:xfrm>
              <a:off x="2432"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0" name="Freeform 231">
              <a:extLst>
                <a:ext uri="{FF2B5EF4-FFF2-40B4-BE49-F238E27FC236}">
                  <a16:creationId xmlns:a16="http://schemas.microsoft.com/office/drawing/2014/main" xmlns="" id="{994E04B5-7B85-4D6C-967B-5890A5686D2D}"/>
                </a:ext>
              </a:extLst>
            </p:cNvPr>
            <p:cNvSpPr>
              <a:spLocks/>
            </p:cNvSpPr>
            <p:nvPr/>
          </p:nvSpPr>
          <p:spPr bwMode="auto">
            <a:xfrm>
              <a:off x="2443"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1" name="Freeform 232">
              <a:extLst>
                <a:ext uri="{FF2B5EF4-FFF2-40B4-BE49-F238E27FC236}">
                  <a16:creationId xmlns:a16="http://schemas.microsoft.com/office/drawing/2014/main" xmlns="" id="{63B3660D-817E-4278-3CA3-441AA3D3486C}"/>
                </a:ext>
              </a:extLst>
            </p:cNvPr>
            <p:cNvSpPr>
              <a:spLocks/>
            </p:cNvSpPr>
            <p:nvPr/>
          </p:nvSpPr>
          <p:spPr bwMode="auto">
            <a:xfrm>
              <a:off x="2454"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2" name="Freeform 233">
              <a:extLst>
                <a:ext uri="{FF2B5EF4-FFF2-40B4-BE49-F238E27FC236}">
                  <a16:creationId xmlns:a16="http://schemas.microsoft.com/office/drawing/2014/main" xmlns="" id="{B49695F5-B3E7-AD21-98E8-8FC40B6139DC}"/>
                </a:ext>
              </a:extLst>
            </p:cNvPr>
            <p:cNvSpPr>
              <a:spLocks/>
            </p:cNvSpPr>
            <p:nvPr/>
          </p:nvSpPr>
          <p:spPr bwMode="auto">
            <a:xfrm>
              <a:off x="2466"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3" name="Freeform 234">
              <a:extLst>
                <a:ext uri="{FF2B5EF4-FFF2-40B4-BE49-F238E27FC236}">
                  <a16:creationId xmlns:a16="http://schemas.microsoft.com/office/drawing/2014/main" xmlns="" id="{EF01104D-D6A7-FB54-2F7F-7295734E80FB}"/>
                </a:ext>
              </a:extLst>
            </p:cNvPr>
            <p:cNvSpPr>
              <a:spLocks/>
            </p:cNvSpPr>
            <p:nvPr/>
          </p:nvSpPr>
          <p:spPr bwMode="auto">
            <a:xfrm>
              <a:off x="2477"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4" name="Freeform 235">
              <a:extLst>
                <a:ext uri="{FF2B5EF4-FFF2-40B4-BE49-F238E27FC236}">
                  <a16:creationId xmlns:a16="http://schemas.microsoft.com/office/drawing/2014/main" xmlns="" id="{49407403-5252-5C77-3E60-0AFB12241B9E}"/>
                </a:ext>
              </a:extLst>
            </p:cNvPr>
            <p:cNvSpPr>
              <a:spLocks/>
            </p:cNvSpPr>
            <p:nvPr/>
          </p:nvSpPr>
          <p:spPr bwMode="auto">
            <a:xfrm>
              <a:off x="2488"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5" name="Freeform 236">
              <a:extLst>
                <a:ext uri="{FF2B5EF4-FFF2-40B4-BE49-F238E27FC236}">
                  <a16:creationId xmlns:a16="http://schemas.microsoft.com/office/drawing/2014/main" xmlns="" id="{DF159BA9-723F-957B-3213-0E8BB59027B9}"/>
                </a:ext>
              </a:extLst>
            </p:cNvPr>
            <p:cNvSpPr>
              <a:spLocks/>
            </p:cNvSpPr>
            <p:nvPr/>
          </p:nvSpPr>
          <p:spPr bwMode="auto">
            <a:xfrm>
              <a:off x="2499"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6" name="Freeform 237">
              <a:extLst>
                <a:ext uri="{FF2B5EF4-FFF2-40B4-BE49-F238E27FC236}">
                  <a16:creationId xmlns:a16="http://schemas.microsoft.com/office/drawing/2014/main" xmlns="" id="{314CDC65-631E-DB5F-C2E0-3F141A0464C7}"/>
                </a:ext>
              </a:extLst>
            </p:cNvPr>
            <p:cNvSpPr>
              <a:spLocks/>
            </p:cNvSpPr>
            <p:nvPr/>
          </p:nvSpPr>
          <p:spPr bwMode="auto">
            <a:xfrm>
              <a:off x="2510"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7" name="Freeform 238">
              <a:extLst>
                <a:ext uri="{FF2B5EF4-FFF2-40B4-BE49-F238E27FC236}">
                  <a16:creationId xmlns:a16="http://schemas.microsoft.com/office/drawing/2014/main" xmlns="" id="{729FB1A1-87F5-167C-69D5-B760FF801CFF}"/>
                </a:ext>
              </a:extLst>
            </p:cNvPr>
            <p:cNvSpPr>
              <a:spLocks/>
            </p:cNvSpPr>
            <p:nvPr/>
          </p:nvSpPr>
          <p:spPr bwMode="auto">
            <a:xfrm>
              <a:off x="2521"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8" name="Freeform 239">
              <a:extLst>
                <a:ext uri="{FF2B5EF4-FFF2-40B4-BE49-F238E27FC236}">
                  <a16:creationId xmlns:a16="http://schemas.microsoft.com/office/drawing/2014/main" xmlns="" id="{1AA06805-D25C-D9D9-2DDE-307EE277FB4A}"/>
                </a:ext>
              </a:extLst>
            </p:cNvPr>
            <p:cNvSpPr>
              <a:spLocks/>
            </p:cNvSpPr>
            <p:nvPr/>
          </p:nvSpPr>
          <p:spPr bwMode="auto">
            <a:xfrm>
              <a:off x="2532"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19" name="Freeform 240">
              <a:extLst>
                <a:ext uri="{FF2B5EF4-FFF2-40B4-BE49-F238E27FC236}">
                  <a16:creationId xmlns:a16="http://schemas.microsoft.com/office/drawing/2014/main" xmlns="" id="{F2501E6B-C015-4198-D4F7-66EC1DBCC045}"/>
                </a:ext>
              </a:extLst>
            </p:cNvPr>
            <p:cNvSpPr>
              <a:spLocks/>
            </p:cNvSpPr>
            <p:nvPr/>
          </p:nvSpPr>
          <p:spPr bwMode="auto">
            <a:xfrm>
              <a:off x="2543"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0" name="Freeform 241">
              <a:extLst>
                <a:ext uri="{FF2B5EF4-FFF2-40B4-BE49-F238E27FC236}">
                  <a16:creationId xmlns:a16="http://schemas.microsoft.com/office/drawing/2014/main" xmlns="" id="{CDD3496E-F5B7-48C8-A659-AAEB136E5C0D}"/>
                </a:ext>
              </a:extLst>
            </p:cNvPr>
            <p:cNvSpPr>
              <a:spLocks/>
            </p:cNvSpPr>
            <p:nvPr/>
          </p:nvSpPr>
          <p:spPr bwMode="auto">
            <a:xfrm>
              <a:off x="2554"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1" name="Freeform 242">
              <a:extLst>
                <a:ext uri="{FF2B5EF4-FFF2-40B4-BE49-F238E27FC236}">
                  <a16:creationId xmlns:a16="http://schemas.microsoft.com/office/drawing/2014/main" xmlns="" id="{460CC53D-C40C-AF73-C417-1A3AE2C35F4E}"/>
                </a:ext>
              </a:extLst>
            </p:cNvPr>
            <p:cNvSpPr>
              <a:spLocks/>
            </p:cNvSpPr>
            <p:nvPr/>
          </p:nvSpPr>
          <p:spPr bwMode="auto">
            <a:xfrm>
              <a:off x="2565"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2" name="Freeform 243">
              <a:extLst>
                <a:ext uri="{FF2B5EF4-FFF2-40B4-BE49-F238E27FC236}">
                  <a16:creationId xmlns:a16="http://schemas.microsoft.com/office/drawing/2014/main" xmlns="" id="{DE66E737-7D9D-6AB8-5915-3F19099B6C40}"/>
                </a:ext>
              </a:extLst>
            </p:cNvPr>
            <p:cNvSpPr>
              <a:spLocks/>
            </p:cNvSpPr>
            <p:nvPr/>
          </p:nvSpPr>
          <p:spPr bwMode="auto">
            <a:xfrm>
              <a:off x="2576"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3" name="Freeform 244">
              <a:extLst>
                <a:ext uri="{FF2B5EF4-FFF2-40B4-BE49-F238E27FC236}">
                  <a16:creationId xmlns:a16="http://schemas.microsoft.com/office/drawing/2014/main" xmlns="" id="{DA3175F0-33BB-2DA4-AB2E-24485A593BB1}"/>
                </a:ext>
              </a:extLst>
            </p:cNvPr>
            <p:cNvSpPr>
              <a:spLocks/>
            </p:cNvSpPr>
            <p:nvPr/>
          </p:nvSpPr>
          <p:spPr bwMode="auto">
            <a:xfrm>
              <a:off x="2587"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4" name="Freeform 245">
              <a:extLst>
                <a:ext uri="{FF2B5EF4-FFF2-40B4-BE49-F238E27FC236}">
                  <a16:creationId xmlns:a16="http://schemas.microsoft.com/office/drawing/2014/main" xmlns="" id="{DEE3DA30-ED77-8D08-D49B-7AAFD17D1049}"/>
                </a:ext>
              </a:extLst>
            </p:cNvPr>
            <p:cNvSpPr>
              <a:spLocks/>
            </p:cNvSpPr>
            <p:nvPr/>
          </p:nvSpPr>
          <p:spPr bwMode="auto">
            <a:xfrm>
              <a:off x="2598"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5" name="Freeform 246">
              <a:extLst>
                <a:ext uri="{FF2B5EF4-FFF2-40B4-BE49-F238E27FC236}">
                  <a16:creationId xmlns:a16="http://schemas.microsoft.com/office/drawing/2014/main" xmlns="" id="{E1F2EE96-93E1-7B25-D550-34BFB3F38AAC}"/>
                </a:ext>
              </a:extLst>
            </p:cNvPr>
            <p:cNvSpPr>
              <a:spLocks/>
            </p:cNvSpPr>
            <p:nvPr/>
          </p:nvSpPr>
          <p:spPr bwMode="auto">
            <a:xfrm>
              <a:off x="2609" y="1971"/>
              <a:ext cx="6" cy="5"/>
            </a:xfrm>
            <a:custGeom>
              <a:avLst/>
              <a:gdLst>
                <a:gd name="T0" fmla="*/ 2 w 12"/>
                <a:gd name="T1" fmla="*/ 0 h 11"/>
                <a:gd name="T2" fmla="*/ 1 w 12"/>
                <a:gd name="T3" fmla="*/ 0 h 11"/>
                <a:gd name="T4" fmla="*/ 1 w 12"/>
                <a:gd name="T5" fmla="*/ 0 h 11"/>
                <a:gd name="T6" fmla="*/ 0 w 12"/>
                <a:gd name="T7" fmla="*/ 1 h 11"/>
                <a:gd name="T8" fmla="*/ 0 w 12"/>
                <a:gd name="T9" fmla="*/ 1 h 11"/>
                <a:gd name="T10" fmla="*/ 0 w 12"/>
                <a:gd name="T11" fmla="*/ 2 h 11"/>
                <a:gd name="T12" fmla="*/ 0 w 12"/>
                <a:gd name="T13" fmla="*/ 2 h 11"/>
                <a:gd name="T14" fmla="*/ 1 w 12"/>
                <a:gd name="T15" fmla="*/ 2 h 11"/>
                <a:gd name="T16" fmla="*/ 1 w 12"/>
                <a:gd name="T17" fmla="*/ 2 h 11"/>
                <a:gd name="T18" fmla="*/ 2 w 12"/>
                <a:gd name="T19" fmla="*/ 2 h 11"/>
                <a:gd name="T20" fmla="*/ 2 w 12"/>
                <a:gd name="T21" fmla="*/ 2 h 11"/>
                <a:gd name="T22" fmla="*/ 2 w 12"/>
                <a:gd name="T23" fmla="*/ 2 h 11"/>
                <a:gd name="T24" fmla="*/ 3 w 12"/>
                <a:gd name="T25" fmla="*/ 2 h 11"/>
                <a:gd name="T26" fmla="*/ 3 w 12"/>
                <a:gd name="T27" fmla="*/ 1 h 11"/>
                <a:gd name="T28" fmla="*/ 3 w 12"/>
                <a:gd name="T29" fmla="*/ 1 h 11"/>
                <a:gd name="T30" fmla="*/ 3 w 12"/>
                <a:gd name="T31" fmla="*/ 1 h 11"/>
                <a:gd name="T32" fmla="*/ 2 w 12"/>
                <a:gd name="T33" fmla="*/ 0 h 11"/>
                <a:gd name="T34" fmla="*/ 2 w 12"/>
                <a:gd name="T35" fmla="*/ 0 h 11"/>
                <a:gd name="T36" fmla="*/ 2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6" name="Freeform 247">
              <a:extLst>
                <a:ext uri="{FF2B5EF4-FFF2-40B4-BE49-F238E27FC236}">
                  <a16:creationId xmlns:a16="http://schemas.microsoft.com/office/drawing/2014/main" xmlns="" id="{EAA54076-EE2A-F895-A0BF-B394D133BD61}"/>
                </a:ext>
              </a:extLst>
            </p:cNvPr>
            <p:cNvSpPr>
              <a:spLocks/>
            </p:cNvSpPr>
            <p:nvPr/>
          </p:nvSpPr>
          <p:spPr bwMode="auto">
            <a:xfrm>
              <a:off x="2620"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7" name="Freeform 248">
              <a:extLst>
                <a:ext uri="{FF2B5EF4-FFF2-40B4-BE49-F238E27FC236}">
                  <a16:creationId xmlns:a16="http://schemas.microsoft.com/office/drawing/2014/main" xmlns="" id="{6BFE4C76-65F0-DD8C-7277-6E5E7557DAD3}"/>
                </a:ext>
              </a:extLst>
            </p:cNvPr>
            <p:cNvSpPr>
              <a:spLocks/>
            </p:cNvSpPr>
            <p:nvPr/>
          </p:nvSpPr>
          <p:spPr bwMode="auto">
            <a:xfrm>
              <a:off x="2631"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8" name="Freeform 249">
              <a:extLst>
                <a:ext uri="{FF2B5EF4-FFF2-40B4-BE49-F238E27FC236}">
                  <a16:creationId xmlns:a16="http://schemas.microsoft.com/office/drawing/2014/main" xmlns="" id="{5011C4E5-877B-48B2-7060-6DA9417FF6D9}"/>
                </a:ext>
              </a:extLst>
            </p:cNvPr>
            <p:cNvSpPr>
              <a:spLocks/>
            </p:cNvSpPr>
            <p:nvPr/>
          </p:nvSpPr>
          <p:spPr bwMode="auto">
            <a:xfrm>
              <a:off x="2642"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29" name="Freeform 250">
              <a:extLst>
                <a:ext uri="{FF2B5EF4-FFF2-40B4-BE49-F238E27FC236}">
                  <a16:creationId xmlns:a16="http://schemas.microsoft.com/office/drawing/2014/main" xmlns="" id="{5B1EA11B-BD77-14D5-9032-1BC64D598AA2}"/>
                </a:ext>
              </a:extLst>
            </p:cNvPr>
            <p:cNvSpPr>
              <a:spLocks/>
            </p:cNvSpPr>
            <p:nvPr/>
          </p:nvSpPr>
          <p:spPr bwMode="auto">
            <a:xfrm>
              <a:off x="2653"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0" name="Freeform 251">
              <a:extLst>
                <a:ext uri="{FF2B5EF4-FFF2-40B4-BE49-F238E27FC236}">
                  <a16:creationId xmlns:a16="http://schemas.microsoft.com/office/drawing/2014/main" xmlns="" id="{4A7034D0-3788-3A80-53D8-9665EB80290B}"/>
                </a:ext>
              </a:extLst>
            </p:cNvPr>
            <p:cNvSpPr>
              <a:spLocks/>
            </p:cNvSpPr>
            <p:nvPr/>
          </p:nvSpPr>
          <p:spPr bwMode="auto">
            <a:xfrm>
              <a:off x="2664"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1" name="Freeform 252">
              <a:extLst>
                <a:ext uri="{FF2B5EF4-FFF2-40B4-BE49-F238E27FC236}">
                  <a16:creationId xmlns:a16="http://schemas.microsoft.com/office/drawing/2014/main" xmlns="" id="{53C1E5A5-B310-A66C-9383-8E3B73B46620}"/>
                </a:ext>
              </a:extLst>
            </p:cNvPr>
            <p:cNvSpPr>
              <a:spLocks/>
            </p:cNvSpPr>
            <p:nvPr/>
          </p:nvSpPr>
          <p:spPr bwMode="auto">
            <a:xfrm>
              <a:off x="2676"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2" name="Freeform 253">
              <a:extLst>
                <a:ext uri="{FF2B5EF4-FFF2-40B4-BE49-F238E27FC236}">
                  <a16:creationId xmlns:a16="http://schemas.microsoft.com/office/drawing/2014/main" xmlns="" id="{E4E4090E-C8F7-0AB8-4F20-C33C17D7A4C4}"/>
                </a:ext>
              </a:extLst>
            </p:cNvPr>
            <p:cNvSpPr>
              <a:spLocks/>
            </p:cNvSpPr>
            <p:nvPr/>
          </p:nvSpPr>
          <p:spPr bwMode="auto">
            <a:xfrm>
              <a:off x="2687"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3" name="Freeform 254">
              <a:extLst>
                <a:ext uri="{FF2B5EF4-FFF2-40B4-BE49-F238E27FC236}">
                  <a16:creationId xmlns:a16="http://schemas.microsoft.com/office/drawing/2014/main" xmlns="" id="{EAECF17F-AC08-DFD5-8B10-7EEE43165EA5}"/>
                </a:ext>
              </a:extLst>
            </p:cNvPr>
            <p:cNvSpPr>
              <a:spLocks/>
            </p:cNvSpPr>
            <p:nvPr/>
          </p:nvSpPr>
          <p:spPr bwMode="auto">
            <a:xfrm>
              <a:off x="2698"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4" name="Freeform 255">
              <a:extLst>
                <a:ext uri="{FF2B5EF4-FFF2-40B4-BE49-F238E27FC236}">
                  <a16:creationId xmlns:a16="http://schemas.microsoft.com/office/drawing/2014/main" xmlns="" id="{FBD9D23E-5015-39B3-A7DB-EBECD51F793E}"/>
                </a:ext>
              </a:extLst>
            </p:cNvPr>
            <p:cNvSpPr>
              <a:spLocks/>
            </p:cNvSpPr>
            <p:nvPr/>
          </p:nvSpPr>
          <p:spPr bwMode="auto">
            <a:xfrm>
              <a:off x="2709"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5" name="Freeform 256">
              <a:extLst>
                <a:ext uri="{FF2B5EF4-FFF2-40B4-BE49-F238E27FC236}">
                  <a16:creationId xmlns:a16="http://schemas.microsoft.com/office/drawing/2014/main" xmlns="" id="{8B95567C-9FA3-41CE-416C-B631A07B7FA6}"/>
                </a:ext>
              </a:extLst>
            </p:cNvPr>
            <p:cNvSpPr>
              <a:spLocks/>
            </p:cNvSpPr>
            <p:nvPr/>
          </p:nvSpPr>
          <p:spPr bwMode="auto">
            <a:xfrm>
              <a:off x="2720" y="1971"/>
              <a:ext cx="5" cy="5"/>
            </a:xfrm>
            <a:custGeom>
              <a:avLst/>
              <a:gdLst>
                <a:gd name="T0" fmla="*/ 1 w 12"/>
                <a:gd name="T1" fmla="*/ 0 h 11"/>
                <a:gd name="T2" fmla="*/ 1 w 12"/>
                <a:gd name="T3" fmla="*/ 0 h 11"/>
                <a:gd name="T4" fmla="*/ 0 w 12"/>
                <a:gd name="T5" fmla="*/ 0 h 11"/>
                <a:gd name="T6" fmla="*/ 0 w 12"/>
                <a:gd name="T7" fmla="*/ 1 h 11"/>
                <a:gd name="T8" fmla="*/ 0 w 12"/>
                <a:gd name="T9" fmla="*/ 1 h 11"/>
                <a:gd name="T10" fmla="*/ 0 w 12"/>
                <a:gd name="T11" fmla="*/ 2 h 11"/>
                <a:gd name="T12" fmla="*/ 0 w 12"/>
                <a:gd name="T13" fmla="*/ 2 h 11"/>
                <a:gd name="T14" fmla="*/ 0 w 12"/>
                <a:gd name="T15" fmla="*/ 2 h 11"/>
                <a:gd name="T16" fmla="*/ 1 w 12"/>
                <a:gd name="T17" fmla="*/ 2 h 11"/>
                <a:gd name="T18" fmla="*/ 1 w 12"/>
                <a:gd name="T19" fmla="*/ 2 h 11"/>
                <a:gd name="T20" fmla="*/ 1 w 12"/>
                <a:gd name="T21" fmla="*/ 2 h 11"/>
                <a:gd name="T22" fmla="*/ 1 w 12"/>
                <a:gd name="T23" fmla="*/ 2 h 11"/>
                <a:gd name="T24" fmla="*/ 2 w 12"/>
                <a:gd name="T25" fmla="*/ 2 h 11"/>
                <a:gd name="T26" fmla="*/ 2 w 12"/>
                <a:gd name="T27" fmla="*/ 1 h 11"/>
                <a:gd name="T28" fmla="*/ 2 w 12"/>
                <a:gd name="T29" fmla="*/ 1 h 11"/>
                <a:gd name="T30" fmla="*/ 2 w 12"/>
                <a:gd name="T31" fmla="*/ 1 h 11"/>
                <a:gd name="T32" fmla="*/ 1 w 12"/>
                <a:gd name="T33" fmla="*/ 0 h 11"/>
                <a:gd name="T34" fmla="*/ 1 w 12"/>
                <a:gd name="T35" fmla="*/ 0 h 11"/>
                <a:gd name="T36" fmla="*/ 1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6" name="Freeform 257">
              <a:extLst>
                <a:ext uri="{FF2B5EF4-FFF2-40B4-BE49-F238E27FC236}">
                  <a16:creationId xmlns:a16="http://schemas.microsoft.com/office/drawing/2014/main" xmlns="" id="{314442B8-BA35-F5CD-A6E2-94F767B76A3A}"/>
                </a:ext>
              </a:extLst>
            </p:cNvPr>
            <p:cNvSpPr>
              <a:spLocks/>
            </p:cNvSpPr>
            <p:nvPr/>
          </p:nvSpPr>
          <p:spPr bwMode="auto">
            <a:xfrm>
              <a:off x="2731"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7" name="Freeform 258">
              <a:extLst>
                <a:ext uri="{FF2B5EF4-FFF2-40B4-BE49-F238E27FC236}">
                  <a16:creationId xmlns:a16="http://schemas.microsoft.com/office/drawing/2014/main" xmlns="" id="{F2140BF6-42C3-C43A-4A26-ED3334EE7FA1}"/>
                </a:ext>
              </a:extLst>
            </p:cNvPr>
            <p:cNvSpPr>
              <a:spLocks/>
            </p:cNvSpPr>
            <p:nvPr/>
          </p:nvSpPr>
          <p:spPr bwMode="auto">
            <a:xfrm>
              <a:off x="2742"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8" name="Freeform 259">
              <a:extLst>
                <a:ext uri="{FF2B5EF4-FFF2-40B4-BE49-F238E27FC236}">
                  <a16:creationId xmlns:a16="http://schemas.microsoft.com/office/drawing/2014/main" xmlns="" id="{EB238E88-ECEC-6A28-43A8-DD37025338CC}"/>
                </a:ext>
              </a:extLst>
            </p:cNvPr>
            <p:cNvSpPr>
              <a:spLocks/>
            </p:cNvSpPr>
            <p:nvPr/>
          </p:nvSpPr>
          <p:spPr bwMode="auto">
            <a:xfrm>
              <a:off x="2753"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39" name="Freeform 260">
              <a:extLst>
                <a:ext uri="{FF2B5EF4-FFF2-40B4-BE49-F238E27FC236}">
                  <a16:creationId xmlns:a16="http://schemas.microsoft.com/office/drawing/2014/main" xmlns="" id="{F4CCE1AF-1454-0579-F48D-30FD9EBD73F6}"/>
                </a:ext>
              </a:extLst>
            </p:cNvPr>
            <p:cNvSpPr>
              <a:spLocks/>
            </p:cNvSpPr>
            <p:nvPr/>
          </p:nvSpPr>
          <p:spPr bwMode="auto">
            <a:xfrm>
              <a:off x="2294" y="1943"/>
              <a:ext cx="60" cy="60"/>
            </a:xfrm>
            <a:custGeom>
              <a:avLst/>
              <a:gdLst>
                <a:gd name="T0" fmla="*/ 30 w 120"/>
                <a:gd name="T1" fmla="*/ 16 h 120"/>
                <a:gd name="T2" fmla="*/ 16 w 120"/>
                <a:gd name="T3" fmla="*/ 0 h 120"/>
                <a:gd name="T4" fmla="*/ 0 w 120"/>
                <a:gd name="T5" fmla="*/ 16 h 120"/>
                <a:gd name="T6" fmla="*/ 16 w 120"/>
                <a:gd name="T7" fmla="*/ 30 h 120"/>
                <a:gd name="T8" fmla="*/ 30 w 120"/>
                <a:gd name="T9" fmla="*/ 16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120">
                  <a:moveTo>
                    <a:pt x="120" y="61"/>
                  </a:moveTo>
                  <a:lnTo>
                    <a:pt x="61" y="0"/>
                  </a:lnTo>
                  <a:lnTo>
                    <a:pt x="0" y="61"/>
                  </a:lnTo>
                  <a:lnTo>
                    <a:pt x="61" y="120"/>
                  </a:lnTo>
                  <a:lnTo>
                    <a:pt x="120" y="61"/>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40" name="Freeform 261">
              <a:extLst>
                <a:ext uri="{FF2B5EF4-FFF2-40B4-BE49-F238E27FC236}">
                  <a16:creationId xmlns:a16="http://schemas.microsoft.com/office/drawing/2014/main" xmlns="" id="{D4739095-591A-D1BA-F18A-D0411CCA20CA}"/>
                </a:ext>
              </a:extLst>
            </p:cNvPr>
            <p:cNvSpPr>
              <a:spLocks/>
            </p:cNvSpPr>
            <p:nvPr/>
          </p:nvSpPr>
          <p:spPr bwMode="auto">
            <a:xfrm>
              <a:off x="2737" y="1944"/>
              <a:ext cx="60" cy="60"/>
            </a:xfrm>
            <a:custGeom>
              <a:avLst/>
              <a:gdLst>
                <a:gd name="T0" fmla="*/ 0 w 120"/>
                <a:gd name="T1" fmla="*/ 15 h 120"/>
                <a:gd name="T2" fmla="*/ 15 w 120"/>
                <a:gd name="T3" fmla="*/ 30 h 120"/>
                <a:gd name="T4" fmla="*/ 30 w 120"/>
                <a:gd name="T5" fmla="*/ 15 h 120"/>
                <a:gd name="T6" fmla="*/ 15 w 120"/>
                <a:gd name="T7" fmla="*/ 0 h 120"/>
                <a:gd name="T8" fmla="*/ 0 w 120"/>
                <a:gd name="T9" fmla="*/ 15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120">
                  <a:moveTo>
                    <a:pt x="0" y="59"/>
                  </a:moveTo>
                  <a:lnTo>
                    <a:pt x="59" y="120"/>
                  </a:lnTo>
                  <a:lnTo>
                    <a:pt x="120" y="59"/>
                  </a:lnTo>
                  <a:lnTo>
                    <a:pt x="59" y="0"/>
                  </a:lnTo>
                  <a:lnTo>
                    <a:pt x="0" y="59"/>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4589" name="Group 262">
            <a:extLst>
              <a:ext uri="{FF2B5EF4-FFF2-40B4-BE49-F238E27FC236}">
                <a16:creationId xmlns:a16="http://schemas.microsoft.com/office/drawing/2014/main" xmlns="" id="{0AE3DDCA-0770-9475-F681-BEA7F672AD7D}"/>
              </a:ext>
            </a:extLst>
          </p:cNvPr>
          <p:cNvGrpSpPr>
            <a:grpSpLocks/>
          </p:cNvGrpSpPr>
          <p:nvPr/>
        </p:nvGrpSpPr>
        <p:grpSpPr bwMode="auto">
          <a:xfrm>
            <a:off x="5395913" y="4459288"/>
            <a:ext cx="95250" cy="793750"/>
            <a:chOff x="3399" y="2081"/>
            <a:chExt cx="60" cy="500"/>
          </a:xfrm>
        </p:grpSpPr>
        <p:sp>
          <p:nvSpPr>
            <p:cNvPr id="24658" name="Freeform 263">
              <a:extLst>
                <a:ext uri="{FF2B5EF4-FFF2-40B4-BE49-F238E27FC236}">
                  <a16:creationId xmlns:a16="http://schemas.microsoft.com/office/drawing/2014/main" xmlns="" id="{DC94A01D-C72A-BAEC-5905-7FDFF68CBE45}"/>
                </a:ext>
              </a:extLst>
            </p:cNvPr>
            <p:cNvSpPr>
              <a:spLocks/>
            </p:cNvSpPr>
            <p:nvPr/>
          </p:nvSpPr>
          <p:spPr bwMode="auto">
            <a:xfrm>
              <a:off x="3427" y="2081"/>
              <a:ext cx="6" cy="6"/>
            </a:xfrm>
            <a:custGeom>
              <a:avLst/>
              <a:gdLst>
                <a:gd name="T0" fmla="*/ 3 w 11"/>
                <a:gd name="T1" fmla="*/ 2 h 11"/>
                <a:gd name="T2" fmla="*/ 3 w 11"/>
                <a:gd name="T3" fmla="*/ 2 h 11"/>
                <a:gd name="T4" fmla="*/ 3 w 11"/>
                <a:gd name="T5" fmla="*/ 1 h 11"/>
                <a:gd name="T6" fmla="*/ 2 w 11"/>
                <a:gd name="T7" fmla="*/ 1 h 11"/>
                <a:gd name="T8" fmla="*/ 2 w 11"/>
                <a:gd name="T9" fmla="*/ 0 h 11"/>
                <a:gd name="T10" fmla="*/ 2 w 11"/>
                <a:gd name="T11" fmla="*/ 0 h 11"/>
                <a:gd name="T12" fmla="*/ 1 w 11"/>
                <a:gd name="T13" fmla="*/ 1 h 11"/>
                <a:gd name="T14" fmla="*/ 1 w 11"/>
                <a:gd name="T15" fmla="*/ 1 h 11"/>
                <a:gd name="T16" fmla="*/ 0 w 11"/>
                <a:gd name="T17" fmla="*/ 2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 h="11">
                  <a:moveTo>
                    <a:pt x="11" y="8"/>
                  </a:moveTo>
                  <a:lnTo>
                    <a:pt x="11" y="6"/>
                  </a:lnTo>
                  <a:lnTo>
                    <a:pt x="9" y="4"/>
                  </a:lnTo>
                  <a:lnTo>
                    <a:pt x="8" y="2"/>
                  </a:lnTo>
                  <a:lnTo>
                    <a:pt x="6" y="0"/>
                  </a:lnTo>
                  <a:lnTo>
                    <a:pt x="4" y="2"/>
                  </a:lnTo>
                  <a:lnTo>
                    <a:pt x="2" y="4"/>
                  </a:lnTo>
                  <a:lnTo>
                    <a:pt x="0" y="6"/>
                  </a:lnTo>
                  <a:lnTo>
                    <a:pt x="2" y="8"/>
                  </a:lnTo>
                  <a:lnTo>
                    <a:pt x="4" y="9"/>
                  </a:lnTo>
                  <a:lnTo>
                    <a:pt x="6" y="11"/>
                  </a:lnTo>
                  <a:lnTo>
                    <a:pt x="8" y="9"/>
                  </a:lnTo>
                  <a:lnTo>
                    <a:pt x="9" y="8"/>
                  </a:lnTo>
                  <a:lnTo>
                    <a:pt x="11" y="8"/>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9" name="Freeform 264">
              <a:extLst>
                <a:ext uri="{FF2B5EF4-FFF2-40B4-BE49-F238E27FC236}">
                  <a16:creationId xmlns:a16="http://schemas.microsoft.com/office/drawing/2014/main" xmlns="" id="{ED237AEC-AAA8-D3D5-B212-4E2286D8250C}"/>
                </a:ext>
              </a:extLst>
            </p:cNvPr>
            <p:cNvSpPr>
              <a:spLocks/>
            </p:cNvSpPr>
            <p:nvPr/>
          </p:nvSpPr>
          <p:spPr bwMode="auto">
            <a:xfrm>
              <a:off x="3427" y="2092"/>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1"/>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0" name="Freeform 265">
              <a:extLst>
                <a:ext uri="{FF2B5EF4-FFF2-40B4-BE49-F238E27FC236}">
                  <a16:creationId xmlns:a16="http://schemas.microsoft.com/office/drawing/2014/main" xmlns="" id="{9FC5D14D-C73C-8AAF-21CA-70EC9DAB2D9B}"/>
                </a:ext>
              </a:extLst>
            </p:cNvPr>
            <p:cNvSpPr>
              <a:spLocks/>
            </p:cNvSpPr>
            <p:nvPr/>
          </p:nvSpPr>
          <p:spPr bwMode="auto">
            <a:xfrm>
              <a:off x="3427" y="2103"/>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1"/>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1" name="Freeform 266">
              <a:extLst>
                <a:ext uri="{FF2B5EF4-FFF2-40B4-BE49-F238E27FC236}">
                  <a16:creationId xmlns:a16="http://schemas.microsoft.com/office/drawing/2014/main" xmlns="" id="{BD7FE340-B59D-2F6C-FDA1-DD35FF6B2F77}"/>
                </a:ext>
              </a:extLst>
            </p:cNvPr>
            <p:cNvSpPr>
              <a:spLocks/>
            </p:cNvSpPr>
            <p:nvPr/>
          </p:nvSpPr>
          <p:spPr bwMode="auto">
            <a:xfrm>
              <a:off x="3427" y="2114"/>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8" y="0"/>
                  </a:lnTo>
                  <a:lnTo>
                    <a:pt x="6" y="0"/>
                  </a:lnTo>
                  <a:lnTo>
                    <a:pt x="4" y="0"/>
                  </a:lnTo>
                  <a:lnTo>
                    <a:pt x="2" y="1"/>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2" name="Freeform 267">
              <a:extLst>
                <a:ext uri="{FF2B5EF4-FFF2-40B4-BE49-F238E27FC236}">
                  <a16:creationId xmlns:a16="http://schemas.microsoft.com/office/drawing/2014/main" xmlns="" id="{E0EB6B6D-1728-C976-700C-8B554EDEEDCB}"/>
                </a:ext>
              </a:extLst>
            </p:cNvPr>
            <p:cNvSpPr>
              <a:spLocks/>
            </p:cNvSpPr>
            <p:nvPr/>
          </p:nvSpPr>
          <p:spPr bwMode="auto">
            <a:xfrm>
              <a:off x="3427" y="2125"/>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8" y="0"/>
                  </a:lnTo>
                  <a:lnTo>
                    <a:pt x="6" y="0"/>
                  </a:lnTo>
                  <a:lnTo>
                    <a:pt x="4" y="0"/>
                  </a:lnTo>
                  <a:lnTo>
                    <a:pt x="2" y="1"/>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3" name="Freeform 268">
              <a:extLst>
                <a:ext uri="{FF2B5EF4-FFF2-40B4-BE49-F238E27FC236}">
                  <a16:creationId xmlns:a16="http://schemas.microsoft.com/office/drawing/2014/main" xmlns="" id="{7DF185B8-B81F-B789-855A-67F590AF96BE}"/>
                </a:ext>
              </a:extLst>
            </p:cNvPr>
            <p:cNvSpPr>
              <a:spLocks/>
            </p:cNvSpPr>
            <p:nvPr/>
          </p:nvSpPr>
          <p:spPr bwMode="auto">
            <a:xfrm>
              <a:off x="3427" y="2136"/>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8" y="0"/>
                  </a:lnTo>
                  <a:lnTo>
                    <a:pt x="6" y="0"/>
                  </a:lnTo>
                  <a:lnTo>
                    <a:pt x="4" y="0"/>
                  </a:lnTo>
                  <a:lnTo>
                    <a:pt x="2" y="2"/>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4" name="Freeform 269">
              <a:extLst>
                <a:ext uri="{FF2B5EF4-FFF2-40B4-BE49-F238E27FC236}">
                  <a16:creationId xmlns:a16="http://schemas.microsoft.com/office/drawing/2014/main" xmlns="" id="{02DD4D9E-9F21-2526-A4DB-13D8D2B5746F}"/>
                </a:ext>
              </a:extLst>
            </p:cNvPr>
            <p:cNvSpPr>
              <a:spLocks/>
            </p:cNvSpPr>
            <p:nvPr/>
          </p:nvSpPr>
          <p:spPr bwMode="auto">
            <a:xfrm>
              <a:off x="3427" y="2147"/>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8" y="0"/>
                  </a:lnTo>
                  <a:lnTo>
                    <a:pt x="6" y="0"/>
                  </a:lnTo>
                  <a:lnTo>
                    <a:pt x="4" y="0"/>
                  </a:lnTo>
                  <a:lnTo>
                    <a:pt x="2" y="2"/>
                  </a:lnTo>
                  <a:lnTo>
                    <a:pt x="0" y="4"/>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5" name="Freeform 270">
              <a:extLst>
                <a:ext uri="{FF2B5EF4-FFF2-40B4-BE49-F238E27FC236}">
                  <a16:creationId xmlns:a16="http://schemas.microsoft.com/office/drawing/2014/main" xmlns="" id="{7EF13076-DAC8-1D57-9515-7700669B1B8D}"/>
                </a:ext>
              </a:extLst>
            </p:cNvPr>
            <p:cNvSpPr>
              <a:spLocks/>
            </p:cNvSpPr>
            <p:nvPr/>
          </p:nvSpPr>
          <p:spPr bwMode="auto">
            <a:xfrm>
              <a:off x="3427" y="2158"/>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8" y="0"/>
                  </a:lnTo>
                  <a:lnTo>
                    <a:pt x="6" y="0"/>
                  </a:lnTo>
                  <a:lnTo>
                    <a:pt x="4" y="0"/>
                  </a:lnTo>
                  <a:lnTo>
                    <a:pt x="2" y="2"/>
                  </a:lnTo>
                  <a:lnTo>
                    <a:pt x="0" y="4"/>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6" name="Freeform 271">
              <a:extLst>
                <a:ext uri="{FF2B5EF4-FFF2-40B4-BE49-F238E27FC236}">
                  <a16:creationId xmlns:a16="http://schemas.microsoft.com/office/drawing/2014/main" xmlns="" id="{23C86A0D-473A-B5E3-72B9-FFC755C16DAD}"/>
                </a:ext>
              </a:extLst>
            </p:cNvPr>
            <p:cNvSpPr>
              <a:spLocks/>
            </p:cNvSpPr>
            <p:nvPr/>
          </p:nvSpPr>
          <p:spPr bwMode="auto">
            <a:xfrm>
              <a:off x="3427" y="2170"/>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7"/>
                  </a:lnTo>
                  <a:lnTo>
                    <a:pt x="4" y="9"/>
                  </a:lnTo>
                  <a:lnTo>
                    <a:pt x="6" y="11"/>
                  </a:lnTo>
                  <a:lnTo>
                    <a:pt x="8"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7" name="Freeform 272">
              <a:extLst>
                <a:ext uri="{FF2B5EF4-FFF2-40B4-BE49-F238E27FC236}">
                  <a16:creationId xmlns:a16="http://schemas.microsoft.com/office/drawing/2014/main" xmlns="" id="{DF48B997-9488-10D1-398B-3697DCE88C73}"/>
                </a:ext>
              </a:extLst>
            </p:cNvPr>
            <p:cNvSpPr>
              <a:spLocks/>
            </p:cNvSpPr>
            <p:nvPr/>
          </p:nvSpPr>
          <p:spPr bwMode="auto">
            <a:xfrm>
              <a:off x="3427" y="2181"/>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7"/>
                  </a:lnTo>
                  <a:lnTo>
                    <a:pt x="4" y="9"/>
                  </a:lnTo>
                  <a:lnTo>
                    <a:pt x="6" y="11"/>
                  </a:lnTo>
                  <a:lnTo>
                    <a:pt x="8"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8" name="Freeform 273">
              <a:extLst>
                <a:ext uri="{FF2B5EF4-FFF2-40B4-BE49-F238E27FC236}">
                  <a16:creationId xmlns:a16="http://schemas.microsoft.com/office/drawing/2014/main" xmlns="" id="{18DD6659-85D5-ABC5-D07D-3DB42A9B5F55}"/>
                </a:ext>
              </a:extLst>
            </p:cNvPr>
            <p:cNvSpPr>
              <a:spLocks/>
            </p:cNvSpPr>
            <p:nvPr/>
          </p:nvSpPr>
          <p:spPr bwMode="auto">
            <a:xfrm>
              <a:off x="3427" y="2192"/>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9"/>
                  </a:lnTo>
                  <a:lnTo>
                    <a:pt x="6" y="11"/>
                  </a:lnTo>
                  <a:lnTo>
                    <a:pt x="8"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69" name="Freeform 274">
              <a:extLst>
                <a:ext uri="{FF2B5EF4-FFF2-40B4-BE49-F238E27FC236}">
                  <a16:creationId xmlns:a16="http://schemas.microsoft.com/office/drawing/2014/main" xmlns="" id="{60BD8DA4-8AC1-4E53-2842-63B7326A41BE}"/>
                </a:ext>
              </a:extLst>
            </p:cNvPr>
            <p:cNvSpPr>
              <a:spLocks/>
            </p:cNvSpPr>
            <p:nvPr/>
          </p:nvSpPr>
          <p:spPr bwMode="auto">
            <a:xfrm>
              <a:off x="3427" y="2203"/>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1"/>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0" name="Freeform 275">
              <a:extLst>
                <a:ext uri="{FF2B5EF4-FFF2-40B4-BE49-F238E27FC236}">
                  <a16:creationId xmlns:a16="http://schemas.microsoft.com/office/drawing/2014/main" xmlns="" id="{77FE13F6-AC20-2899-B68B-CD310BEE2CA0}"/>
                </a:ext>
              </a:extLst>
            </p:cNvPr>
            <p:cNvSpPr>
              <a:spLocks/>
            </p:cNvSpPr>
            <p:nvPr/>
          </p:nvSpPr>
          <p:spPr bwMode="auto">
            <a:xfrm>
              <a:off x="3427" y="2214"/>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1"/>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1" name="Freeform 276">
              <a:extLst>
                <a:ext uri="{FF2B5EF4-FFF2-40B4-BE49-F238E27FC236}">
                  <a16:creationId xmlns:a16="http://schemas.microsoft.com/office/drawing/2014/main" xmlns="" id="{D3F30890-BCBE-044F-5461-239721B03062}"/>
                </a:ext>
              </a:extLst>
            </p:cNvPr>
            <p:cNvSpPr>
              <a:spLocks/>
            </p:cNvSpPr>
            <p:nvPr/>
          </p:nvSpPr>
          <p:spPr bwMode="auto">
            <a:xfrm>
              <a:off x="3427" y="2225"/>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8" y="0"/>
                  </a:lnTo>
                  <a:lnTo>
                    <a:pt x="6" y="0"/>
                  </a:lnTo>
                  <a:lnTo>
                    <a:pt x="4" y="0"/>
                  </a:lnTo>
                  <a:lnTo>
                    <a:pt x="2" y="1"/>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2" name="Freeform 277">
              <a:extLst>
                <a:ext uri="{FF2B5EF4-FFF2-40B4-BE49-F238E27FC236}">
                  <a16:creationId xmlns:a16="http://schemas.microsoft.com/office/drawing/2014/main" xmlns="" id="{4336F64E-00F6-52A8-DE62-881690EC3633}"/>
                </a:ext>
              </a:extLst>
            </p:cNvPr>
            <p:cNvSpPr>
              <a:spLocks/>
            </p:cNvSpPr>
            <p:nvPr/>
          </p:nvSpPr>
          <p:spPr bwMode="auto">
            <a:xfrm>
              <a:off x="3427" y="2236"/>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8" y="0"/>
                  </a:lnTo>
                  <a:lnTo>
                    <a:pt x="6" y="0"/>
                  </a:lnTo>
                  <a:lnTo>
                    <a:pt x="4" y="0"/>
                  </a:lnTo>
                  <a:lnTo>
                    <a:pt x="2" y="1"/>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3" name="Freeform 278">
              <a:extLst>
                <a:ext uri="{FF2B5EF4-FFF2-40B4-BE49-F238E27FC236}">
                  <a16:creationId xmlns:a16="http://schemas.microsoft.com/office/drawing/2014/main" xmlns="" id="{0FCF7650-1698-D6D1-F166-5133603894DA}"/>
                </a:ext>
              </a:extLst>
            </p:cNvPr>
            <p:cNvSpPr>
              <a:spLocks/>
            </p:cNvSpPr>
            <p:nvPr/>
          </p:nvSpPr>
          <p:spPr bwMode="auto">
            <a:xfrm>
              <a:off x="3427" y="2247"/>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8" y="0"/>
                  </a:lnTo>
                  <a:lnTo>
                    <a:pt x="6" y="0"/>
                  </a:lnTo>
                  <a:lnTo>
                    <a:pt x="4" y="0"/>
                  </a:lnTo>
                  <a:lnTo>
                    <a:pt x="2" y="2"/>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4" name="Freeform 279">
              <a:extLst>
                <a:ext uri="{FF2B5EF4-FFF2-40B4-BE49-F238E27FC236}">
                  <a16:creationId xmlns:a16="http://schemas.microsoft.com/office/drawing/2014/main" xmlns="" id="{D70D65EA-B27C-C4B3-B016-981585473007}"/>
                </a:ext>
              </a:extLst>
            </p:cNvPr>
            <p:cNvSpPr>
              <a:spLocks/>
            </p:cNvSpPr>
            <p:nvPr/>
          </p:nvSpPr>
          <p:spPr bwMode="auto">
            <a:xfrm>
              <a:off x="3427" y="2258"/>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8" y="0"/>
                  </a:lnTo>
                  <a:lnTo>
                    <a:pt x="6" y="0"/>
                  </a:lnTo>
                  <a:lnTo>
                    <a:pt x="4" y="0"/>
                  </a:lnTo>
                  <a:lnTo>
                    <a:pt x="2" y="2"/>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5" name="Freeform 280">
              <a:extLst>
                <a:ext uri="{FF2B5EF4-FFF2-40B4-BE49-F238E27FC236}">
                  <a16:creationId xmlns:a16="http://schemas.microsoft.com/office/drawing/2014/main" xmlns="" id="{D4B249AA-895F-6A72-CED0-A8479D680588}"/>
                </a:ext>
              </a:extLst>
            </p:cNvPr>
            <p:cNvSpPr>
              <a:spLocks/>
            </p:cNvSpPr>
            <p:nvPr/>
          </p:nvSpPr>
          <p:spPr bwMode="auto">
            <a:xfrm>
              <a:off x="3427" y="2269"/>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8" y="0"/>
                  </a:lnTo>
                  <a:lnTo>
                    <a:pt x="6" y="0"/>
                  </a:lnTo>
                  <a:lnTo>
                    <a:pt x="4" y="0"/>
                  </a:lnTo>
                  <a:lnTo>
                    <a:pt x="2" y="2"/>
                  </a:lnTo>
                  <a:lnTo>
                    <a:pt x="0" y="4"/>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6" name="Freeform 281">
              <a:extLst>
                <a:ext uri="{FF2B5EF4-FFF2-40B4-BE49-F238E27FC236}">
                  <a16:creationId xmlns:a16="http://schemas.microsoft.com/office/drawing/2014/main" xmlns="" id="{7D0B3949-7468-CAC2-47FF-561213E72CC3}"/>
                </a:ext>
              </a:extLst>
            </p:cNvPr>
            <p:cNvSpPr>
              <a:spLocks/>
            </p:cNvSpPr>
            <p:nvPr/>
          </p:nvSpPr>
          <p:spPr bwMode="auto">
            <a:xfrm>
              <a:off x="3427" y="2280"/>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7"/>
                  </a:lnTo>
                  <a:lnTo>
                    <a:pt x="4" y="9"/>
                  </a:lnTo>
                  <a:lnTo>
                    <a:pt x="6" y="11"/>
                  </a:lnTo>
                  <a:lnTo>
                    <a:pt x="8"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7" name="Freeform 282">
              <a:extLst>
                <a:ext uri="{FF2B5EF4-FFF2-40B4-BE49-F238E27FC236}">
                  <a16:creationId xmlns:a16="http://schemas.microsoft.com/office/drawing/2014/main" xmlns="" id="{CC99F7CC-B4B7-FD29-C443-DD8D3FE32DD2}"/>
                </a:ext>
              </a:extLst>
            </p:cNvPr>
            <p:cNvSpPr>
              <a:spLocks/>
            </p:cNvSpPr>
            <p:nvPr/>
          </p:nvSpPr>
          <p:spPr bwMode="auto">
            <a:xfrm>
              <a:off x="3427" y="2291"/>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7"/>
                  </a:lnTo>
                  <a:lnTo>
                    <a:pt x="4" y="9"/>
                  </a:lnTo>
                  <a:lnTo>
                    <a:pt x="6" y="11"/>
                  </a:lnTo>
                  <a:lnTo>
                    <a:pt x="8"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8" name="Freeform 283">
              <a:extLst>
                <a:ext uri="{FF2B5EF4-FFF2-40B4-BE49-F238E27FC236}">
                  <a16:creationId xmlns:a16="http://schemas.microsoft.com/office/drawing/2014/main" xmlns="" id="{871C2481-B280-138F-DE32-4705A240EB8B}"/>
                </a:ext>
              </a:extLst>
            </p:cNvPr>
            <p:cNvSpPr>
              <a:spLocks/>
            </p:cNvSpPr>
            <p:nvPr/>
          </p:nvSpPr>
          <p:spPr bwMode="auto">
            <a:xfrm>
              <a:off x="3427" y="2302"/>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9"/>
                  </a:lnTo>
                  <a:lnTo>
                    <a:pt x="6" y="11"/>
                  </a:lnTo>
                  <a:lnTo>
                    <a:pt x="8"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79" name="Freeform 284">
              <a:extLst>
                <a:ext uri="{FF2B5EF4-FFF2-40B4-BE49-F238E27FC236}">
                  <a16:creationId xmlns:a16="http://schemas.microsoft.com/office/drawing/2014/main" xmlns="" id="{EBC3BD87-3C45-4C44-8FCF-CDDEF8F021AC}"/>
                </a:ext>
              </a:extLst>
            </p:cNvPr>
            <p:cNvSpPr>
              <a:spLocks/>
            </p:cNvSpPr>
            <p:nvPr/>
          </p:nvSpPr>
          <p:spPr bwMode="auto">
            <a:xfrm>
              <a:off x="3427" y="2313"/>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9"/>
                  </a:lnTo>
                  <a:lnTo>
                    <a:pt x="6" y="11"/>
                  </a:lnTo>
                  <a:lnTo>
                    <a:pt x="8"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0" name="Freeform 285">
              <a:extLst>
                <a:ext uri="{FF2B5EF4-FFF2-40B4-BE49-F238E27FC236}">
                  <a16:creationId xmlns:a16="http://schemas.microsoft.com/office/drawing/2014/main" xmlns="" id="{770E3FDE-A0E2-3BAB-252F-BA3435D6C21E}"/>
                </a:ext>
              </a:extLst>
            </p:cNvPr>
            <p:cNvSpPr>
              <a:spLocks/>
            </p:cNvSpPr>
            <p:nvPr/>
          </p:nvSpPr>
          <p:spPr bwMode="auto">
            <a:xfrm>
              <a:off x="3427" y="2324"/>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1"/>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1" name="Freeform 286">
              <a:extLst>
                <a:ext uri="{FF2B5EF4-FFF2-40B4-BE49-F238E27FC236}">
                  <a16:creationId xmlns:a16="http://schemas.microsoft.com/office/drawing/2014/main" xmlns="" id="{AD944E56-F2B5-D017-EE9D-D630AFF0C615}"/>
                </a:ext>
              </a:extLst>
            </p:cNvPr>
            <p:cNvSpPr>
              <a:spLocks/>
            </p:cNvSpPr>
            <p:nvPr/>
          </p:nvSpPr>
          <p:spPr bwMode="auto">
            <a:xfrm>
              <a:off x="3427" y="2335"/>
              <a:ext cx="6" cy="6"/>
            </a:xfrm>
            <a:custGeom>
              <a:avLst/>
              <a:gdLst>
                <a:gd name="T0" fmla="*/ 3 w 11"/>
                <a:gd name="T1" fmla="*/ 2 h 12"/>
                <a:gd name="T2" fmla="*/ 3 w 11"/>
                <a:gd name="T3" fmla="*/ 1 h 12"/>
                <a:gd name="T4" fmla="*/ 3 w 11"/>
                <a:gd name="T5" fmla="*/ 1 h 12"/>
                <a:gd name="T6" fmla="*/ 3 w 11"/>
                <a:gd name="T7" fmla="*/ 0 h 12"/>
                <a:gd name="T8" fmla="*/ 2 w 11"/>
                <a:gd name="T9" fmla="*/ 0 h 12"/>
                <a:gd name="T10" fmla="*/ 2 w 11"/>
                <a:gd name="T11" fmla="*/ 0 h 12"/>
                <a:gd name="T12" fmla="*/ 1 w 11"/>
                <a:gd name="T13" fmla="*/ 0 h 12"/>
                <a:gd name="T14" fmla="*/ 1 w 11"/>
                <a:gd name="T15" fmla="*/ 1 h 12"/>
                <a:gd name="T16" fmla="*/ 0 w 11"/>
                <a:gd name="T17" fmla="*/ 1 h 12"/>
                <a:gd name="T18" fmla="*/ 0 w 11"/>
                <a:gd name="T19" fmla="*/ 2 h 12"/>
                <a:gd name="T20" fmla="*/ 0 w 11"/>
                <a:gd name="T21" fmla="*/ 2 h 12"/>
                <a:gd name="T22" fmla="*/ 1 w 11"/>
                <a:gd name="T23" fmla="*/ 2 h 12"/>
                <a:gd name="T24" fmla="*/ 1 w 11"/>
                <a:gd name="T25" fmla="*/ 3 h 12"/>
                <a:gd name="T26" fmla="*/ 2 w 11"/>
                <a:gd name="T27" fmla="*/ 3 h 12"/>
                <a:gd name="T28" fmla="*/ 2 w 11"/>
                <a:gd name="T29" fmla="*/ 3 h 12"/>
                <a:gd name="T30" fmla="*/ 2 w 11"/>
                <a:gd name="T31" fmla="*/ 3 h 12"/>
                <a:gd name="T32" fmla="*/ 3 w 11"/>
                <a:gd name="T33" fmla="*/ 2 h 12"/>
                <a:gd name="T34" fmla="*/ 3 w 11"/>
                <a:gd name="T35" fmla="*/ 2 h 12"/>
                <a:gd name="T36" fmla="*/ 3 w 11"/>
                <a:gd name="T37" fmla="*/ 2 h 1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2">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2"/>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2" name="Freeform 287">
              <a:extLst>
                <a:ext uri="{FF2B5EF4-FFF2-40B4-BE49-F238E27FC236}">
                  <a16:creationId xmlns:a16="http://schemas.microsoft.com/office/drawing/2014/main" xmlns="" id="{7DD9D12A-8A7F-5F52-7A22-B0C6E9751D3D}"/>
                </a:ext>
              </a:extLst>
            </p:cNvPr>
            <p:cNvSpPr>
              <a:spLocks/>
            </p:cNvSpPr>
            <p:nvPr/>
          </p:nvSpPr>
          <p:spPr bwMode="auto">
            <a:xfrm>
              <a:off x="3427" y="2346"/>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8" y="0"/>
                  </a:lnTo>
                  <a:lnTo>
                    <a:pt x="6" y="0"/>
                  </a:lnTo>
                  <a:lnTo>
                    <a:pt x="4" y="0"/>
                  </a:lnTo>
                  <a:lnTo>
                    <a:pt x="2" y="1"/>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3" name="Freeform 288">
              <a:extLst>
                <a:ext uri="{FF2B5EF4-FFF2-40B4-BE49-F238E27FC236}">
                  <a16:creationId xmlns:a16="http://schemas.microsoft.com/office/drawing/2014/main" xmlns="" id="{A537ED81-C731-3FF3-9CC4-D40FC49D4C9C}"/>
                </a:ext>
              </a:extLst>
            </p:cNvPr>
            <p:cNvSpPr>
              <a:spLocks/>
            </p:cNvSpPr>
            <p:nvPr/>
          </p:nvSpPr>
          <p:spPr bwMode="auto">
            <a:xfrm>
              <a:off x="3427" y="2357"/>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8" y="0"/>
                  </a:lnTo>
                  <a:lnTo>
                    <a:pt x="6" y="0"/>
                  </a:lnTo>
                  <a:lnTo>
                    <a:pt x="4" y="0"/>
                  </a:lnTo>
                  <a:lnTo>
                    <a:pt x="2" y="2"/>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4" name="Freeform 289">
              <a:extLst>
                <a:ext uri="{FF2B5EF4-FFF2-40B4-BE49-F238E27FC236}">
                  <a16:creationId xmlns:a16="http://schemas.microsoft.com/office/drawing/2014/main" xmlns="" id="{82B032E3-556A-8285-7C1A-25D5903B3237}"/>
                </a:ext>
              </a:extLst>
            </p:cNvPr>
            <p:cNvSpPr>
              <a:spLocks/>
            </p:cNvSpPr>
            <p:nvPr/>
          </p:nvSpPr>
          <p:spPr bwMode="auto">
            <a:xfrm>
              <a:off x="3427" y="2368"/>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8" y="0"/>
                  </a:lnTo>
                  <a:lnTo>
                    <a:pt x="6" y="0"/>
                  </a:lnTo>
                  <a:lnTo>
                    <a:pt x="4" y="0"/>
                  </a:lnTo>
                  <a:lnTo>
                    <a:pt x="2" y="2"/>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5" name="Freeform 290">
              <a:extLst>
                <a:ext uri="{FF2B5EF4-FFF2-40B4-BE49-F238E27FC236}">
                  <a16:creationId xmlns:a16="http://schemas.microsoft.com/office/drawing/2014/main" xmlns="" id="{A4552BD5-0059-5F9C-0D36-FD9237E1BB35}"/>
                </a:ext>
              </a:extLst>
            </p:cNvPr>
            <p:cNvSpPr>
              <a:spLocks/>
            </p:cNvSpPr>
            <p:nvPr/>
          </p:nvSpPr>
          <p:spPr bwMode="auto">
            <a:xfrm>
              <a:off x="3427" y="2379"/>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8" y="0"/>
                  </a:lnTo>
                  <a:lnTo>
                    <a:pt x="6" y="0"/>
                  </a:lnTo>
                  <a:lnTo>
                    <a:pt x="4" y="0"/>
                  </a:lnTo>
                  <a:lnTo>
                    <a:pt x="2" y="2"/>
                  </a:lnTo>
                  <a:lnTo>
                    <a:pt x="0" y="4"/>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6" name="Freeform 291">
              <a:extLst>
                <a:ext uri="{FF2B5EF4-FFF2-40B4-BE49-F238E27FC236}">
                  <a16:creationId xmlns:a16="http://schemas.microsoft.com/office/drawing/2014/main" xmlns="" id="{1EA66162-E1B3-98C2-184D-D0F2F3A0B6A3}"/>
                </a:ext>
              </a:extLst>
            </p:cNvPr>
            <p:cNvSpPr>
              <a:spLocks/>
            </p:cNvSpPr>
            <p:nvPr/>
          </p:nvSpPr>
          <p:spPr bwMode="auto">
            <a:xfrm>
              <a:off x="3427" y="2390"/>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8" y="0"/>
                  </a:lnTo>
                  <a:lnTo>
                    <a:pt x="6" y="0"/>
                  </a:lnTo>
                  <a:lnTo>
                    <a:pt x="4" y="0"/>
                  </a:lnTo>
                  <a:lnTo>
                    <a:pt x="2" y="2"/>
                  </a:lnTo>
                  <a:lnTo>
                    <a:pt x="0" y="4"/>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7" name="Freeform 292">
              <a:extLst>
                <a:ext uri="{FF2B5EF4-FFF2-40B4-BE49-F238E27FC236}">
                  <a16:creationId xmlns:a16="http://schemas.microsoft.com/office/drawing/2014/main" xmlns="" id="{F50E3F6B-EC6C-7694-BA22-3BBE1CFFB2F7}"/>
                </a:ext>
              </a:extLst>
            </p:cNvPr>
            <p:cNvSpPr>
              <a:spLocks/>
            </p:cNvSpPr>
            <p:nvPr/>
          </p:nvSpPr>
          <p:spPr bwMode="auto">
            <a:xfrm>
              <a:off x="3427" y="2402"/>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7"/>
                  </a:lnTo>
                  <a:lnTo>
                    <a:pt x="4" y="9"/>
                  </a:lnTo>
                  <a:lnTo>
                    <a:pt x="6" y="11"/>
                  </a:lnTo>
                  <a:lnTo>
                    <a:pt x="8"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8" name="Freeform 293">
              <a:extLst>
                <a:ext uri="{FF2B5EF4-FFF2-40B4-BE49-F238E27FC236}">
                  <a16:creationId xmlns:a16="http://schemas.microsoft.com/office/drawing/2014/main" xmlns="" id="{EC3FF9CB-A27C-85F1-74FC-A8AF9EC44BBD}"/>
                </a:ext>
              </a:extLst>
            </p:cNvPr>
            <p:cNvSpPr>
              <a:spLocks/>
            </p:cNvSpPr>
            <p:nvPr/>
          </p:nvSpPr>
          <p:spPr bwMode="auto">
            <a:xfrm>
              <a:off x="3427" y="2413"/>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9"/>
                  </a:lnTo>
                  <a:lnTo>
                    <a:pt x="6" y="11"/>
                  </a:lnTo>
                  <a:lnTo>
                    <a:pt x="8"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89" name="Freeform 294">
              <a:extLst>
                <a:ext uri="{FF2B5EF4-FFF2-40B4-BE49-F238E27FC236}">
                  <a16:creationId xmlns:a16="http://schemas.microsoft.com/office/drawing/2014/main" xmlns="" id="{81EE03D8-F59D-0C03-AD99-E795C2AEB96E}"/>
                </a:ext>
              </a:extLst>
            </p:cNvPr>
            <p:cNvSpPr>
              <a:spLocks/>
            </p:cNvSpPr>
            <p:nvPr/>
          </p:nvSpPr>
          <p:spPr bwMode="auto">
            <a:xfrm>
              <a:off x="3427" y="2424"/>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9"/>
                  </a:lnTo>
                  <a:lnTo>
                    <a:pt x="6" y="11"/>
                  </a:lnTo>
                  <a:lnTo>
                    <a:pt x="8"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0" name="Freeform 295">
              <a:extLst>
                <a:ext uri="{FF2B5EF4-FFF2-40B4-BE49-F238E27FC236}">
                  <a16:creationId xmlns:a16="http://schemas.microsoft.com/office/drawing/2014/main" xmlns="" id="{99071118-3F81-8C22-9B24-51F958649FDD}"/>
                </a:ext>
              </a:extLst>
            </p:cNvPr>
            <p:cNvSpPr>
              <a:spLocks/>
            </p:cNvSpPr>
            <p:nvPr/>
          </p:nvSpPr>
          <p:spPr bwMode="auto">
            <a:xfrm>
              <a:off x="3427" y="2435"/>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1"/>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1" name="Freeform 296">
              <a:extLst>
                <a:ext uri="{FF2B5EF4-FFF2-40B4-BE49-F238E27FC236}">
                  <a16:creationId xmlns:a16="http://schemas.microsoft.com/office/drawing/2014/main" xmlns="" id="{4B5CE0E6-5B9D-90E3-2EF5-7B934C781706}"/>
                </a:ext>
              </a:extLst>
            </p:cNvPr>
            <p:cNvSpPr>
              <a:spLocks/>
            </p:cNvSpPr>
            <p:nvPr/>
          </p:nvSpPr>
          <p:spPr bwMode="auto">
            <a:xfrm>
              <a:off x="3427" y="2446"/>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2 h 11"/>
                <a:gd name="T24" fmla="*/ 1 w 11"/>
                <a:gd name="T25" fmla="*/ 2 h 11"/>
                <a:gd name="T26" fmla="*/ 2 w 11"/>
                <a:gd name="T27" fmla="*/ 2 h 11"/>
                <a:gd name="T28" fmla="*/ 2 w 11"/>
                <a:gd name="T29" fmla="*/ 2 h 11"/>
                <a:gd name="T30" fmla="*/ 2 w 11"/>
                <a:gd name="T31" fmla="*/ 2 h 11"/>
                <a:gd name="T32" fmla="*/ 3 w 11"/>
                <a:gd name="T33" fmla="*/ 2 h 11"/>
                <a:gd name="T34" fmla="*/ 3 w 11"/>
                <a:gd name="T35" fmla="*/ 2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8"/>
                  </a:lnTo>
                  <a:lnTo>
                    <a:pt x="4" y="10"/>
                  </a:lnTo>
                  <a:lnTo>
                    <a:pt x="6" y="11"/>
                  </a:lnTo>
                  <a:lnTo>
                    <a:pt x="8"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2" name="Freeform 297">
              <a:extLst>
                <a:ext uri="{FF2B5EF4-FFF2-40B4-BE49-F238E27FC236}">
                  <a16:creationId xmlns:a16="http://schemas.microsoft.com/office/drawing/2014/main" xmlns="" id="{C2FF8A3C-7E20-82E5-E374-21E8CB549EE0}"/>
                </a:ext>
              </a:extLst>
            </p:cNvPr>
            <p:cNvSpPr>
              <a:spLocks/>
            </p:cNvSpPr>
            <p:nvPr/>
          </p:nvSpPr>
          <p:spPr bwMode="auto">
            <a:xfrm>
              <a:off x="3427" y="2457"/>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8" y="0"/>
                  </a:lnTo>
                  <a:lnTo>
                    <a:pt x="6" y="0"/>
                  </a:lnTo>
                  <a:lnTo>
                    <a:pt x="4" y="0"/>
                  </a:lnTo>
                  <a:lnTo>
                    <a:pt x="2" y="1"/>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3" name="Freeform 298">
              <a:extLst>
                <a:ext uri="{FF2B5EF4-FFF2-40B4-BE49-F238E27FC236}">
                  <a16:creationId xmlns:a16="http://schemas.microsoft.com/office/drawing/2014/main" xmlns="" id="{1A93868C-1E82-89A3-61FE-E26B4ED8B7BD}"/>
                </a:ext>
              </a:extLst>
            </p:cNvPr>
            <p:cNvSpPr>
              <a:spLocks/>
            </p:cNvSpPr>
            <p:nvPr/>
          </p:nvSpPr>
          <p:spPr bwMode="auto">
            <a:xfrm>
              <a:off x="3427" y="2468"/>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8" y="0"/>
                  </a:lnTo>
                  <a:lnTo>
                    <a:pt x="6" y="0"/>
                  </a:lnTo>
                  <a:lnTo>
                    <a:pt x="4" y="0"/>
                  </a:lnTo>
                  <a:lnTo>
                    <a:pt x="2" y="1"/>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4" name="Freeform 299">
              <a:extLst>
                <a:ext uri="{FF2B5EF4-FFF2-40B4-BE49-F238E27FC236}">
                  <a16:creationId xmlns:a16="http://schemas.microsoft.com/office/drawing/2014/main" xmlns="" id="{6D0E4844-C8E2-E6B0-BA4A-D45BB7E7481E}"/>
                </a:ext>
              </a:extLst>
            </p:cNvPr>
            <p:cNvSpPr>
              <a:spLocks/>
            </p:cNvSpPr>
            <p:nvPr/>
          </p:nvSpPr>
          <p:spPr bwMode="auto">
            <a:xfrm>
              <a:off x="3427" y="2479"/>
              <a:ext cx="6" cy="5"/>
            </a:xfrm>
            <a:custGeom>
              <a:avLst/>
              <a:gdLst>
                <a:gd name="T0" fmla="*/ 3 w 11"/>
                <a:gd name="T1" fmla="*/ 1 h 11"/>
                <a:gd name="T2" fmla="*/ 3 w 11"/>
                <a:gd name="T3" fmla="*/ 0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0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8" y="0"/>
                  </a:lnTo>
                  <a:lnTo>
                    <a:pt x="6" y="0"/>
                  </a:lnTo>
                  <a:lnTo>
                    <a:pt x="4" y="0"/>
                  </a:lnTo>
                  <a:lnTo>
                    <a:pt x="2" y="2"/>
                  </a:lnTo>
                  <a:lnTo>
                    <a:pt x="0" y="3"/>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5" name="Freeform 300">
              <a:extLst>
                <a:ext uri="{FF2B5EF4-FFF2-40B4-BE49-F238E27FC236}">
                  <a16:creationId xmlns:a16="http://schemas.microsoft.com/office/drawing/2014/main" xmlns="" id="{DE4FB3E2-D6F5-77FC-B1F8-36B2EB9D8FD9}"/>
                </a:ext>
              </a:extLst>
            </p:cNvPr>
            <p:cNvSpPr>
              <a:spLocks/>
            </p:cNvSpPr>
            <p:nvPr/>
          </p:nvSpPr>
          <p:spPr bwMode="auto">
            <a:xfrm>
              <a:off x="3427" y="2490"/>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8" y="0"/>
                  </a:lnTo>
                  <a:lnTo>
                    <a:pt x="6" y="0"/>
                  </a:lnTo>
                  <a:lnTo>
                    <a:pt x="4" y="0"/>
                  </a:lnTo>
                  <a:lnTo>
                    <a:pt x="2" y="2"/>
                  </a:lnTo>
                  <a:lnTo>
                    <a:pt x="0" y="4"/>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6" name="Freeform 301">
              <a:extLst>
                <a:ext uri="{FF2B5EF4-FFF2-40B4-BE49-F238E27FC236}">
                  <a16:creationId xmlns:a16="http://schemas.microsoft.com/office/drawing/2014/main" xmlns="" id="{E5BAC589-34D8-EA32-F951-170CBB701947}"/>
                </a:ext>
              </a:extLst>
            </p:cNvPr>
            <p:cNvSpPr>
              <a:spLocks/>
            </p:cNvSpPr>
            <p:nvPr/>
          </p:nvSpPr>
          <p:spPr bwMode="auto">
            <a:xfrm>
              <a:off x="3427" y="2501"/>
              <a:ext cx="6" cy="5"/>
            </a:xfrm>
            <a:custGeom>
              <a:avLst/>
              <a:gdLst>
                <a:gd name="T0" fmla="*/ 3 w 11"/>
                <a:gd name="T1" fmla="*/ 1 h 11"/>
                <a:gd name="T2" fmla="*/ 3 w 11"/>
                <a:gd name="T3" fmla="*/ 1 h 11"/>
                <a:gd name="T4" fmla="*/ 3 w 11"/>
                <a:gd name="T5" fmla="*/ 0 h 11"/>
                <a:gd name="T6" fmla="*/ 3 w 11"/>
                <a:gd name="T7" fmla="*/ 0 h 11"/>
                <a:gd name="T8" fmla="*/ 2 w 11"/>
                <a:gd name="T9" fmla="*/ 0 h 11"/>
                <a:gd name="T10" fmla="*/ 2 w 11"/>
                <a:gd name="T11" fmla="*/ 0 h 11"/>
                <a:gd name="T12" fmla="*/ 1 w 11"/>
                <a:gd name="T13" fmla="*/ 0 h 11"/>
                <a:gd name="T14" fmla="*/ 1 w 11"/>
                <a:gd name="T15" fmla="*/ 0 h 11"/>
                <a:gd name="T16" fmla="*/ 0 w 11"/>
                <a:gd name="T17" fmla="*/ 1 h 11"/>
                <a:gd name="T18" fmla="*/ 0 w 11"/>
                <a:gd name="T19" fmla="*/ 1 h 11"/>
                <a:gd name="T20" fmla="*/ 0 w 11"/>
                <a:gd name="T21" fmla="*/ 1 h 11"/>
                <a:gd name="T22" fmla="*/ 1 w 11"/>
                <a:gd name="T23" fmla="*/ 1 h 11"/>
                <a:gd name="T24" fmla="*/ 1 w 11"/>
                <a:gd name="T25" fmla="*/ 2 h 11"/>
                <a:gd name="T26" fmla="*/ 2 w 11"/>
                <a:gd name="T27" fmla="*/ 2 h 11"/>
                <a:gd name="T28" fmla="*/ 2 w 11"/>
                <a:gd name="T29" fmla="*/ 2 h 11"/>
                <a:gd name="T30" fmla="*/ 2 w 11"/>
                <a:gd name="T31" fmla="*/ 2 h 11"/>
                <a:gd name="T32" fmla="*/ 3 w 11"/>
                <a:gd name="T33" fmla="*/ 1 h 11"/>
                <a:gd name="T34" fmla="*/ 3 w 11"/>
                <a:gd name="T35" fmla="*/ 1 h 11"/>
                <a:gd name="T36" fmla="*/ 3 w 11"/>
                <a:gd name="T37" fmla="*/ 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8" y="0"/>
                  </a:lnTo>
                  <a:lnTo>
                    <a:pt x="6" y="0"/>
                  </a:lnTo>
                  <a:lnTo>
                    <a:pt x="4" y="0"/>
                  </a:lnTo>
                  <a:lnTo>
                    <a:pt x="2" y="2"/>
                  </a:lnTo>
                  <a:lnTo>
                    <a:pt x="0" y="4"/>
                  </a:lnTo>
                  <a:lnTo>
                    <a:pt x="0" y="5"/>
                  </a:lnTo>
                  <a:lnTo>
                    <a:pt x="2" y="7"/>
                  </a:lnTo>
                  <a:lnTo>
                    <a:pt x="4" y="9"/>
                  </a:lnTo>
                  <a:lnTo>
                    <a:pt x="6" y="11"/>
                  </a:lnTo>
                  <a:lnTo>
                    <a:pt x="8"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7" name="Freeform 302">
              <a:extLst>
                <a:ext uri="{FF2B5EF4-FFF2-40B4-BE49-F238E27FC236}">
                  <a16:creationId xmlns:a16="http://schemas.microsoft.com/office/drawing/2014/main" xmlns="" id="{DF4B6D3C-AE97-419A-3487-6EB965104AE5}"/>
                </a:ext>
              </a:extLst>
            </p:cNvPr>
            <p:cNvSpPr>
              <a:spLocks/>
            </p:cNvSpPr>
            <p:nvPr/>
          </p:nvSpPr>
          <p:spPr bwMode="auto">
            <a:xfrm>
              <a:off x="3427" y="2512"/>
              <a:ext cx="6" cy="6"/>
            </a:xfrm>
            <a:custGeom>
              <a:avLst/>
              <a:gdLst>
                <a:gd name="T0" fmla="*/ 3 w 11"/>
                <a:gd name="T1" fmla="*/ 2 h 11"/>
                <a:gd name="T2" fmla="*/ 3 w 11"/>
                <a:gd name="T3" fmla="*/ 1 h 11"/>
                <a:gd name="T4" fmla="*/ 3 w 11"/>
                <a:gd name="T5" fmla="*/ 1 h 11"/>
                <a:gd name="T6" fmla="*/ 3 w 11"/>
                <a:gd name="T7" fmla="*/ 0 h 11"/>
                <a:gd name="T8" fmla="*/ 2 w 11"/>
                <a:gd name="T9" fmla="*/ 0 h 11"/>
                <a:gd name="T10" fmla="*/ 2 w 11"/>
                <a:gd name="T11" fmla="*/ 0 h 11"/>
                <a:gd name="T12" fmla="*/ 1 w 11"/>
                <a:gd name="T13" fmla="*/ 0 h 11"/>
                <a:gd name="T14" fmla="*/ 1 w 11"/>
                <a:gd name="T15" fmla="*/ 1 h 11"/>
                <a:gd name="T16" fmla="*/ 0 w 11"/>
                <a:gd name="T17" fmla="*/ 1 h 11"/>
                <a:gd name="T18" fmla="*/ 0 w 11"/>
                <a:gd name="T19" fmla="*/ 2 h 11"/>
                <a:gd name="T20" fmla="*/ 0 w 11"/>
                <a:gd name="T21" fmla="*/ 2 h 11"/>
                <a:gd name="T22" fmla="*/ 1 w 11"/>
                <a:gd name="T23" fmla="*/ 2 h 11"/>
                <a:gd name="T24" fmla="*/ 1 w 11"/>
                <a:gd name="T25" fmla="*/ 3 h 11"/>
                <a:gd name="T26" fmla="*/ 2 w 11"/>
                <a:gd name="T27" fmla="*/ 3 h 11"/>
                <a:gd name="T28" fmla="*/ 2 w 11"/>
                <a:gd name="T29" fmla="*/ 3 h 11"/>
                <a:gd name="T30" fmla="*/ 2 w 11"/>
                <a:gd name="T31" fmla="*/ 3 h 11"/>
                <a:gd name="T32" fmla="*/ 3 w 11"/>
                <a:gd name="T33" fmla="*/ 2 h 11"/>
                <a:gd name="T34" fmla="*/ 3 w 11"/>
                <a:gd name="T35" fmla="*/ 2 h 11"/>
                <a:gd name="T36" fmla="*/ 3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8" y="0"/>
                  </a:lnTo>
                  <a:lnTo>
                    <a:pt x="6" y="0"/>
                  </a:lnTo>
                  <a:lnTo>
                    <a:pt x="4" y="0"/>
                  </a:lnTo>
                  <a:lnTo>
                    <a:pt x="2" y="2"/>
                  </a:lnTo>
                  <a:lnTo>
                    <a:pt x="0" y="4"/>
                  </a:lnTo>
                  <a:lnTo>
                    <a:pt x="0" y="6"/>
                  </a:lnTo>
                  <a:lnTo>
                    <a:pt x="2" y="7"/>
                  </a:lnTo>
                  <a:lnTo>
                    <a:pt x="4" y="9"/>
                  </a:lnTo>
                  <a:lnTo>
                    <a:pt x="6" y="11"/>
                  </a:lnTo>
                  <a:lnTo>
                    <a:pt x="8"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98" name="Freeform 303">
              <a:extLst>
                <a:ext uri="{FF2B5EF4-FFF2-40B4-BE49-F238E27FC236}">
                  <a16:creationId xmlns:a16="http://schemas.microsoft.com/office/drawing/2014/main" xmlns="" id="{8BAF0E61-77F4-CD5A-2817-9C0DAF3AB1CE}"/>
                </a:ext>
              </a:extLst>
            </p:cNvPr>
            <p:cNvSpPr>
              <a:spLocks/>
            </p:cNvSpPr>
            <p:nvPr/>
          </p:nvSpPr>
          <p:spPr bwMode="auto">
            <a:xfrm>
              <a:off x="3399" y="2521"/>
              <a:ext cx="60" cy="60"/>
            </a:xfrm>
            <a:custGeom>
              <a:avLst/>
              <a:gdLst>
                <a:gd name="T0" fmla="*/ 0 w 120"/>
                <a:gd name="T1" fmla="*/ 0 h 120"/>
                <a:gd name="T2" fmla="*/ 16 w 120"/>
                <a:gd name="T3" fmla="*/ 30 h 120"/>
                <a:gd name="T4" fmla="*/ 30 w 120"/>
                <a:gd name="T5" fmla="*/ 0 h 120"/>
                <a:gd name="T6" fmla="*/ 0 w 120"/>
                <a:gd name="T7" fmla="*/ 0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20">
                  <a:moveTo>
                    <a:pt x="0" y="0"/>
                  </a:moveTo>
                  <a:lnTo>
                    <a:pt x="61" y="120"/>
                  </a:lnTo>
                  <a:lnTo>
                    <a:pt x="120" y="0"/>
                  </a:lnTo>
                  <a:lnTo>
                    <a:pt x="0"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4590" name="Rectangle 304">
            <a:extLst>
              <a:ext uri="{FF2B5EF4-FFF2-40B4-BE49-F238E27FC236}">
                <a16:creationId xmlns:a16="http://schemas.microsoft.com/office/drawing/2014/main" xmlns="" id="{47A7DE9C-6763-D4AC-9B9D-2F9E3EFDC174}"/>
              </a:ext>
            </a:extLst>
          </p:cNvPr>
          <p:cNvSpPr>
            <a:spLocks noChangeArrowheads="1"/>
          </p:cNvSpPr>
          <p:nvPr/>
        </p:nvSpPr>
        <p:spPr bwMode="auto">
          <a:xfrm>
            <a:off x="2989263" y="5780088"/>
            <a:ext cx="1052512" cy="3492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4591" name="Rectangle 305">
            <a:extLst>
              <a:ext uri="{FF2B5EF4-FFF2-40B4-BE49-F238E27FC236}">
                <a16:creationId xmlns:a16="http://schemas.microsoft.com/office/drawing/2014/main" xmlns="" id="{5DAFADB0-E34D-4FBE-48AC-14D435DD6C37}"/>
              </a:ext>
            </a:extLst>
          </p:cNvPr>
          <p:cNvSpPr>
            <a:spLocks noChangeArrowheads="1"/>
          </p:cNvSpPr>
          <p:nvPr/>
        </p:nvSpPr>
        <p:spPr bwMode="auto">
          <a:xfrm>
            <a:off x="3076575" y="5829300"/>
            <a:ext cx="817563"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700">
                <a:solidFill>
                  <a:srgbClr val="00FF00"/>
                </a:solidFill>
              </a:rPr>
              <a:t>sporadic</a:t>
            </a:r>
            <a:endParaRPr lang="en-US" altLang="en-US" sz="2400">
              <a:latin typeface="Times New Roman" panose="02020603050405020304" pitchFamily="18" charset="0"/>
            </a:endParaRPr>
          </a:p>
        </p:txBody>
      </p:sp>
      <p:grpSp>
        <p:nvGrpSpPr>
          <p:cNvPr id="24592" name="Group 306">
            <a:extLst>
              <a:ext uri="{FF2B5EF4-FFF2-40B4-BE49-F238E27FC236}">
                <a16:creationId xmlns:a16="http://schemas.microsoft.com/office/drawing/2014/main" xmlns="" id="{4D7CE4AE-CD60-381F-B03B-284C7501C3D2}"/>
              </a:ext>
            </a:extLst>
          </p:cNvPr>
          <p:cNvGrpSpPr>
            <a:grpSpLocks/>
          </p:cNvGrpSpPr>
          <p:nvPr/>
        </p:nvGrpSpPr>
        <p:grpSpPr bwMode="auto">
          <a:xfrm>
            <a:off x="2897188" y="5862638"/>
            <a:ext cx="7937" cy="166687"/>
            <a:chOff x="1825" y="2965"/>
            <a:chExt cx="5" cy="105"/>
          </a:xfrm>
        </p:grpSpPr>
        <p:sp>
          <p:nvSpPr>
            <p:cNvPr id="24648" name="Freeform 307">
              <a:extLst>
                <a:ext uri="{FF2B5EF4-FFF2-40B4-BE49-F238E27FC236}">
                  <a16:creationId xmlns:a16="http://schemas.microsoft.com/office/drawing/2014/main" xmlns="" id="{FDEC9FF7-4134-61D8-F89F-86421B888029}"/>
                </a:ext>
              </a:extLst>
            </p:cNvPr>
            <p:cNvSpPr>
              <a:spLocks/>
            </p:cNvSpPr>
            <p:nvPr/>
          </p:nvSpPr>
          <p:spPr bwMode="auto">
            <a:xfrm>
              <a:off x="1825" y="2965"/>
              <a:ext cx="5" cy="6"/>
            </a:xfrm>
            <a:custGeom>
              <a:avLst/>
              <a:gdLst>
                <a:gd name="T0" fmla="*/ 2 w 11"/>
                <a:gd name="T1" fmla="*/ 2 h 11"/>
                <a:gd name="T2" fmla="*/ 2 w 11"/>
                <a:gd name="T3" fmla="*/ 2 h 11"/>
                <a:gd name="T4" fmla="*/ 2 w 11"/>
                <a:gd name="T5" fmla="*/ 1 h 11"/>
                <a:gd name="T6" fmla="*/ 1 w 11"/>
                <a:gd name="T7" fmla="*/ 1 h 11"/>
                <a:gd name="T8" fmla="*/ 1 w 11"/>
                <a:gd name="T9" fmla="*/ 0 h 11"/>
                <a:gd name="T10" fmla="*/ 1 w 11"/>
                <a:gd name="T11" fmla="*/ 0 h 11"/>
                <a:gd name="T12" fmla="*/ 1 w 11"/>
                <a:gd name="T13" fmla="*/ 1 h 11"/>
                <a:gd name="T14" fmla="*/ 0 w 11"/>
                <a:gd name="T15" fmla="*/ 1 h 11"/>
                <a:gd name="T16" fmla="*/ 0 w 11"/>
                <a:gd name="T17" fmla="*/ 2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 h="11">
                  <a:moveTo>
                    <a:pt x="11" y="7"/>
                  </a:moveTo>
                  <a:lnTo>
                    <a:pt x="11" y="6"/>
                  </a:lnTo>
                  <a:lnTo>
                    <a:pt x="9" y="4"/>
                  </a:lnTo>
                  <a:lnTo>
                    <a:pt x="7" y="2"/>
                  </a:lnTo>
                  <a:lnTo>
                    <a:pt x="6" y="0"/>
                  </a:lnTo>
                  <a:lnTo>
                    <a:pt x="4" y="2"/>
                  </a:lnTo>
                  <a:lnTo>
                    <a:pt x="2" y="4"/>
                  </a:lnTo>
                  <a:lnTo>
                    <a:pt x="0" y="6"/>
                  </a:lnTo>
                  <a:lnTo>
                    <a:pt x="2" y="7"/>
                  </a:lnTo>
                  <a:lnTo>
                    <a:pt x="4" y="9"/>
                  </a:lnTo>
                  <a:lnTo>
                    <a:pt x="6" y="11"/>
                  </a:lnTo>
                  <a:lnTo>
                    <a:pt x="7" y="9"/>
                  </a:lnTo>
                  <a:lnTo>
                    <a:pt x="9" y="7"/>
                  </a:lnTo>
                  <a:lnTo>
                    <a:pt x="11" y="7"/>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9" name="Freeform 308">
              <a:extLst>
                <a:ext uri="{FF2B5EF4-FFF2-40B4-BE49-F238E27FC236}">
                  <a16:creationId xmlns:a16="http://schemas.microsoft.com/office/drawing/2014/main" xmlns="" id="{09AFAB86-8E4F-5159-B006-82CB061D5833}"/>
                </a:ext>
              </a:extLst>
            </p:cNvPr>
            <p:cNvSpPr>
              <a:spLocks/>
            </p:cNvSpPr>
            <p:nvPr/>
          </p:nvSpPr>
          <p:spPr bwMode="auto">
            <a:xfrm>
              <a:off x="1825" y="2976"/>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6" y="0"/>
                  </a:lnTo>
                  <a:lnTo>
                    <a:pt x="4" y="0"/>
                  </a:lnTo>
                  <a:lnTo>
                    <a:pt x="2" y="2"/>
                  </a:lnTo>
                  <a:lnTo>
                    <a:pt x="0" y="4"/>
                  </a:lnTo>
                  <a:lnTo>
                    <a:pt x="0" y="6"/>
                  </a:lnTo>
                  <a:lnTo>
                    <a:pt x="2" y="7"/>
                  </a:lnTo>
                  <a:lnTo>
                    <a:pt x="4" y="9"/>
                  </a:lnTo>
                  <a:lnTo>
                    <a:pt x="6" y="11"/>
                  </a:lnTo>
                  <a:lnTo>
                    <a:pt x="7" y="9"/>
                  </a:lnTo>
                  <a:lnTo>
                    <a:pt x="9" y="7"/>
                  </a:lnTo>
                  <a:lnTo>
                    <a:pt x="11" y="7"/>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0" name="Freeform 309">
              <a:extLst>
                <a:ext uri="{FF2B5EF4-FFF2-40B4-BE49-F238E27FC236}">
                  <a16:creationId xmlns:a16="http://schemas.microsoft.com/office/drawing/2014/main" xmlns="" id="{AFE10468-3DE8-D29C-C2AB-1C0EE6E18F9F}"/>
                </a:ext>
              </a:extLst>
            </p:cNvPr>
            <p:cNvSpPr>
              <a:spLocks/>
            </p:cNvSpPr>
            <p:nvPr/>
          </p:nvSpPr>
          <p:spPr bwMode="auto">
            <a:xfrm>
              <a:off x="1825" y="2987"/>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6" y="0"/>
                  </a:lnTo>
                  <a:lnTo>
                    <a:pt x="4" y="0"/>
                  </a:lnTo>
                  <a:lnTo>
                    <a:pt x="2" y="2"/>
                  </a:lnTo>
                  <a:lnTo>
                    <a:pt x="0" y="4"/>
                  </a:lnTo>
                  <a:lnTo>
                    <a:pt x="0" y="6"/>
                  </a:lnTo>
                  <a:lnTo>
                    <a:pt x="2" y="8"/>
                  </a:lnTo>
                  <a:lnTo>
                    <a:pt x="4" y="9"/>
                  </a:lnTo>
                  <a:lnTo>
                    <a:pt x="6"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1" name="Freeform 310">
              <a:extLst>
                <a:ext uri="{FF2B5EF4-FFF2-40B4-BE49-F238E27FC236}">
                  <a16:creationId xmlns:a16="http://schemas.microsoft.com/office/drawing/2014/main" xmlns="" id="{CBE307AC-C4C4-E44B-F7DD-3969CBEA66BB}"/>
                </a:ext>
              </a:extLst>
            </p:cNvPr>
            <p:cNvSpPr>
              <a:spLocks/>
            </p:cNvSpPr>
            <p:nvPr/>
          </p:nvSpPr>
          <p:spPr bwMode="auto">
            <a:xfrm>
              <a:off x="1825" y="2998"/>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6" y="0"/>
                  </a:lnTo>
                  <a:lnTo>
                    <a:pt x="4" y="0"/>
                  </a:lnTo>
                  <a:lnTo>
                    <a:pt x="2" y="2"/>
                  </a:lnTo>
                  <a:lnTo>
                    <a:pt x="0" y="4"/>
                  </a:lnTo>
                  <a:lnTo>
                    <a:pt x="0" y="6"/>
                  </a:lnTo>
                  <a:lnTo>
                    <a:pt x="2" y="8"/>
                  </a:lnTo>
                  <a:lnTo>
                    <a:pt x="4" y="9"/>
                  </a:lnTo>
                  <a:lnTo>
                    <a:pt x="6" y="11"/>
                  </a:lnTo>
                  <a:lnTo>
                    <a:pt x="7" y="9"/>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2" name="Freeform 311">
              <a:extLst>
                <a:ext uri="{FF2B5EF4-FFF2-40B4-BE49-F238E27FC236}">
                  <a16:creationId xmlns:a16="http://schemas.microsoft.com/office/drawing/2014/main" xmlns="" id="{023208A8-D85A-B501-CF16-C07461C0D579}"/>
                </a:ext>
              </a:extLst>
            </p:cNvPr>
            <p:cNvSpPr>
              <a:spLocks/>
            </p:cNvSpPr>
            <p:nvPr/>
          </p:nvSpPr>
          <p:spPr bwMode="auto">
            <a:xfrm>
              <a:off x="1825" y="3009"/>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6"/>
                  </a:moveTo>
                  <a:lnTo>
                    <a:pt x="11" y="4"/>
                  </a:lnTo>
                  <a:lnTo>
                    <a:pt x="11" y="2"/>
                  </a:lnTo>
                  <a:lnTo>
                    <a:pt x="9" y="0"/>
                  </a:lnTo>
                  <a:lnTo>
                    <a:pt x="7" y="0"/>
                  </a:lnTo>
                  <a:lnTo>
                    <a:pt x="6" y="0"/>
                  </a:lnTo>
                  <a:lnTo>
                    <a:pt x="4" y="0"/>
                  </a:lnTo>
                  <a:lnTo>
                    <a:pt x="2" y="2"/>
                  </a:lnTo>
                  <a:lnTo>
                    <a:pt x="0" y="4"/>
                  </a:lnTo>
                  <a:lnTo>
                    <a:pt x="0" y="6"/>
                  </a:lnTo>
                  <a:lnTo>
                    <a:pt x="2" y="8"/>
                  </a:lnTo>
                  <a:lnTo>
                    <a:pt x="4" y="10"/>
                  </a:lnTo>
                  <a:lnTo>
                    <a:pt x="6" y="11"/>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3" name="Freeform 312">
              <a:extLst>
                <a:ext uri="{FF2B5EF4-FFF2-40B4-BE49-F238E27FC236}">
                  <a16:creationId xmlns:a16="http://schemas.microsoft.com/office/drawing/2014/main" xmlns="" id="{45A2D021-8EE4-562A-803B-9B27AA21B3DB}"/>
                </a:ext>
              </a:extLst>
            </p:cNvPr>
            <p:cNvSpPr>
              <a:spLocks/>
            </p:cNvSpPr>
            <p:nvPr/>
          </p:nvSpPr>
          <p:spPr bwMode="auto">
            <a:xfrm>
              <a:off x="1825" y="3020"/>
              <a:ext cx="5" cy="6"/>
            </a:xfrm>
            <a:custGeom>
              <a:avLst/>
              <a:gdLst>
                <a:gd name="T0" fmla="*/ 2 w 11"/>
                <a:gd name="T1" fmla="*/ 2 h 12"/>
                <a:gd name="T2" fmla="*/ 2 w 11"/>
                <a:gd name="T3" fmla="*/ 1 h 12"/>
                <a:gd name="T4" fmla="*/ 2 w 11"/>
                <a:gd name="T5" fmla="*/ 1 h 12"/>
                <a:gd name="T6" fmla="*/ 2 w 11"/>
                <a:gd name="T7" fmla="*/ 0 h 12"/>
                <a:gd name="T8" fmla="*/ 1 w 11"/>
                <a:gd name="T9" fmla="*/ 0 h 12"/>
                <a:gd name="T10" fmla="*/ 1 w 11"/>
                <a:gd name="T11" fmla="*/ 0 h 12"/>
                <a:gd name="T12" fmla="*/ 1 w 11"/>
                <a:gd name="T13" fmla="*/ 0 h 12"/>
                <a:gd name="T14" fmla="*/ 0 w 11"/>
                <a:gd name="T15" fmla="*/ 1 h 12"/>
                <a:gd name="T16" fmla="*/ 0 w 11"/>
                <a:gd name="T17" fmla="*/ 1 h 12"/>
                <a:gd name="T18" fmla="*/ 0 w 11"/>
                <a:gd name="T19" fmla="*/ 2 h 12"/>
                <a:gd name="T20" fmla="*/ 0 w 11"/>
                <a:gd name="T21" fmla="*/ 2 h 12"/>
                <a:gd name="T22" fmla="*/ 0 w 11"/>
                <a:gd name="T23" fmla="*/ 2 h 12"/>
                <a:gd name="T24" fmla="*/ 1 w 11"/>
                <a:gd name="T25" fmla="*/ 3 h 12"/>
                <a:gd name="T26" fmla="*/ 1 w 11"/>
                <a:gd name="T27" fmla="*/ 3 h 12"/>
                <a:gd name="T28" fmla="*/ 1 w 11"/>
                <a:gd name="T29" fmla="*/ 3 h 12"/>
                <a:gd name="T30" fmla="*/ 1 w 11"/>
                <a:gd name="T31" fmla="*/ 3 h 12"/>
                <a:gd name="T32" fmla="*/ 2 w 11"/>
                <a:gd name="T33" fmla="*/ 2 h 12"/>
                <a:gd name="T34" fmla="*/ 2 w 11"/>
                <a:gd name="T35" fmla="*/ 2 h 12"/>
                <a:gd name="T36" fmla="*/ 2 w 11"/>
                <a:gd name="T37" fmla="*/ 2 h 1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2">
                  <a:moveTo>
                    <a:pt x="11" y="6"/>
                  </a:moveTo>
                  <a:lnTo>
                    <a:pt x="11" y="4"/>
                  </a:lnTo>
                  <a:lnTo>
                    <a:pt x="11" y="2"/>
                  </a:lnTo>
                  <a:lnTo>
                    <a:pt x="9" y="0"/>
                  </a:lnTo>
                  <a:lnTo>
                    <a:pt x="7" y="0"/>
                  </a:lnTo>
                  <a:lnTo>
                    <a:pt x="6" y="0"/>
                  </a:lnTo>
                  <a:lnTo>
                    <a:pt x="4" y="0"/>
                  </a:lnTo>
                  <a:lnTo>
                    <a:pt x="2" y="2"/>
                  </a:lnTo>
                  <a:lnTo>
                    <a:pt x="0" y="4"/>
                  </a:lnTo>
                  <a:lnTo>
                    <a:pt x="0" y="6"/>
                  </a:lnTo>
                  <a:lnTo>
                    <a:pt x="2" y="8"/>
                  </a:lnTo>
                  <a:lnTo>
                    <a:pt x="4" y="10"/>
                  </a:lnTo>
                  <a:lnTo>
                    <a:pt x="6" y="12"/>
                  </a:lnTo>
                  <a:lnTo>
                    <a:pt x="7" y="10"/>
                  </a:lnTo>
                  <a:lnTo>
                    <a:pt x="9" y="8"/>
                  </a:lnTo>
                  <a:lnTo>
                    <a:pt x="11" y="8"/>
                  </a:lnTo>
                  <a:lnTo>
                    <a:pt x="11" y="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4" name="Freeform 313">
              <a:extLst>
                <a:ext uri="{FF2B5EF4-FFF2-40B4-BE49-F238E27FC236}">
                  <a16:creationId xmlns:a16="http://schemas.microsoft.com/office/drawing/2014/main" xmlns="" id="{F66694BC-7840-B47D-5D09-F2CBAA7715BF}"/>
                </a:ext>
              </a:extLst>
            </p:cNvPr>
            <p:cNvSpPr>
              <a:spLocks/>
            </p:cNvSpPr>
            <p:nvPr/>
          </p:nvSpPr>
          <p:spPr bwMode="auto">
            <a:xfrm>
              <a:off x="1825" y="3031"/>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6" y="0"/>
                  </a:lnTo>
                  <a:lnTo>
                    <a:pt x="4" y="0"/>
                  </a:lnTo>
                  <a:lnTo>
                    <a:pt x="2" y="1"/>
                  </a:lnTo>
                  <a:lnTo>
                    <a:pt x="0" y="3"/>
                  </a:lnTo>
                  <a:lnTo>
                    <a:pt x="0" y="5"/>
                  </a:lnTo>
                  <a:lnTo>
                    <a:pt x="2" y="7"/>
                  </a:lnTo>
                  <a:lnTo>
                    <a:pt x="4" y="9"/>
                  </a:lnTo>
                  <a:lnTo>
                    <a:pt x="6"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5" name="Freeform 314">
              <a:extLst>
                <a:ext uri="{FF2B5EF4-FFF2-40B4-BE49-F238E27FC236}">
                  <a16:creationId xmlns:a16="http://schemas.microsoft.com/office/drawing/2014/main" xmlns="" id="{418FF52A-6B22-2430-71BA-023C0DE4044C}"/>
                </a:ext>
              </a:extLst>
            </p:cNvPr>
            <p:cNvSpPr>
              <a:spLocks/>
            </p:cNvSpPr>
            <p:nvPr/>
          </p:nvSpPr>
          <p:spPr bwMode="auto">
            <a:xfrm>
              <a:off x="1825" y="3042"/>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1"/>
                  </a:lnTo>
                  <a:lnTo>
                    <a:pt x="9" y="0"/>
                  </a:lnTo>
                  <a:lnTo>
                    <a:pt x="7" y="0"/>
                  </a:lnTo>
                  <a:lnTo>
                    <a:pt x="6" y="0"/>
                  </a:lnTo>
                  <a:lnTo>
                    <a:pt x="4" y="0"/>
                  </a:lnTo>
                  <a:lnTo>
                    <a:pt x="2" y="1"/>
                  </a:lnTo>
                  <a:lnTo>
                    <a:pt x="0" y="3"/>
                  </a:lnTo>
                  <a:lnTo>
                    <a:pt x="0" y="5"/>
                  </a:lnTo>
                  <a:lnTo>
                    <a:pt x="2" y="7"/>
                  </a:lnTo>
                  <a:lnTo>
                    <a:pt x="4" y="9"/>
                  </a:lnTo>
                  <a:lnTo>
                    <a:pt x="6"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6" name="Freeform 315">
              <a:extLst>
                <a:ext uri="{FF2B5EF4-FFF2-40B4-BE49-F238E27FC236}">
                  <a16:creationId xmlns:a16="http://schemas.microsoft.com/office/drawing/2014/main" xmlns="" id="{61647D6B-901E-085B-1557-9DE82C7EAE28}"/>
                </a:ext>
              </a:extLst>
            </p:cNvPr>
            <p:cNvSpPr>
              <a:spLocks/>
            </p:cNvSpPr>
            <p:nvPr/>
          </p:nvSpPr>
          <p:spPr bwMode="auto">
            <a:xfrm>
              <a:off x="1825" y="3053"/>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3"/>
                  </a:lnTo>
                  <a:lnTo>
                    <a:pt x="11" y="2"/>
                  </a:lnTo>
                  <a:lnTo>
                    <a:pt x="9" y="0"/>
                  </a:lnTo>
                  <a:lnTo>
                    <a:pt x="7" y="0"/>
                  </a:lnTo>
                  <a:lnTo>
                    <a:pt x="6" y="0"/>
                  </a:lnTo>
                  <a:lnTo>
                    <a:pt x="4" y="0"/>
                  </a:lnTo>
                  <a:lnTo>
                    <a:pt x="2" y="2"/>
                  </a:lnTo>
                  <a:lnTo>
                    <a:pt x="0" y="3"/>
                  </a:lnTo>
                  <a:lnTo>
                    <a:pt x="0" y="5"/>
                  </a:lnTo>
                  <a:lnTo>
                    <a:pt x="2" y="7"/>
                  </a:lnTo>
                  <a:lnTo>
                    <a:pt x="4" y="9"/>
                  </a:lnTo>
                  <a:lnTo>
                    <a:pt x="6"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57" name="Freeform 316">
              <a:extLst>
                <a:ext uri="{FF2B5EF4-FFF2-40B4-BE49-F238E27FC236}">
                  <a16:creationId xmlns:a16="http://schemas.microsoft.com/office/drawing/2014/main" xmlns="" id="{C202FE63-E9FA-EBA3-1155-157D2F692B83}"/>
                </a:ext>
              </a:extLst>
            </p:cNvPr>
            <p:cNvSpPr>
              <a:spLocks/>
            </p:cNvSpPr>
            <p:nvPr/>
          </p:nvSpPr>
          <p:spPr bwMode="auto">
            <a:xfrm>
              <a:off x="1825" y="3064"/>
              <a:ext cx="5" cy="6"/>
            </a:xfrm>
            <a:custGeom>
              <a:avLst/>
              <a:gdLst>
                <a:gd name="T0" fmla="*/ 2 w 11"/>
                <a:gd name="T1" fmla="*/ 2 h 11"/>
                <a:gd name="T2" fmla="*/ 2 w 11"/>
                <a:gd name="T3" fmla="*/ 1 h 11"/>
                <a:gd name="T4" fmla="*/ 2 w 11"/>
                <a:gd name="T5" fmla="*/ 1 h 11"/>
                <a:gd name="T6" fmla="*/ 2 w 11"/>
                <a:gd name="T7" fmla="*/ 0 h 11"/>
                <a:gd name="T8" fmla="*/ 1 w 11"/>
                <a:gd name="T9" fmla="*/ 0 h 11"/>
                <a:gd name="T10" fmla="*/ 1 w 11"/>
                <a:gd name="T11" fmla="*/ 0 h 11"/>
                <a:gd name="T12" fmla="*/ 1 w 11"/>
                <a:gd name="T13" fmla="*/ 0 h 11"/>
                <a:gd name="T14" fmla="*/ 0 w 11"/>
                <a:gd name="T15" fmla="*/ 1 h 11"/>
                <a:gd name="T16" fmla="*/ 0 w 11"/>
                <a:gd name="T17" fmla="*/ 1 h 11"/>
                <a:gd name="T18" fmla="*/ 0 w 11"/>
                <a:gd name="T19" fmla="*/ 2 h 11"/>
                <a:gd name="T20" fmla="*/ 0 w 11"/>
                <a:gd name="T21" fmla="*/ 2 h 11"/>
                <a:gd name="T22" fmla="*/ 0 w 11"/>
                <a:gd name="T23" fmla="*/ 2 h 11"/>
                <a:gd name="T24" fmla="*/ 1 w 11"/>
                <a:gd name="T25" fmla="*/ 3 h 11"/>
                <a:gd name="T26" fmla="*/ 1 w 11"/>
                <a:gd name="T27" fmla="*/ 3 h 11"/>
                <a:gd name="T28" fmla="*/ 1 w 11"/>
                <a:gd name="T29" fmla="*/ 3 h 11"/>
                <a:gd name="T30" fmla="*/ 1 w 11"/>
                <a:gd name="T31" fmla="*/ 3 h 11"/>
                <a:gd name="T32" fmla="*/ 2 w 11"/>
                <a:gd name="T33" fmla="*/ 2 h 11"/>
                <a:gd name="T34" fmla="*/ 2 w 11"/>
                <a:gd name="T35" fmla="*/ 2 h 11"/>
                <a:gd name="T36" fmla="*/ 2 w 11"/>
                <a:gd name="T37" fmla="*/ 2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11" y="5"/>
                  </a:moveTo>
                  <a:lnTo>
                    <a:pt x="11" y="4"/>
                  </a:lnTo>
                  <a:lnTo>
                    <a:pt x="11" y="2"/>
                  </a:lnTo>
                  <a:lnTo>
                    <a:pt x="9" y="0"/>
                  </a:lnTo>
                  <a:lnTo>
                    <a:pt x="7" y="0"/>
                  </a:lnTo>
                  <a:lnTo>
                    <a:pt x="6" y="0"/>
                  </a:lnTo>
                  <a:lnTo>
                    <a:pt x="4" y="0"/>
                  </a:lnTo>
                  <a:lnTo>
                    <a:pt x="2" y="2"/>
                  </a:lnTo>
                  <a:lnTo>
                    <a:pt x="0" y="4"/>
                  </a:lnTo>
                  <a:lnTo>
                    <a:pt x="0" y="5"/>
                  </a:lnTo>
                  <a:lnTo>
                    <a:pt x="2" y="7"/>
                  </a:lnTo>
                  <a:lnTo>
                    <a:pt x="4" y="9"/>
                  </a:lnTo>
                  <a:lnTo>
                    <a:pt x="6" y="11"/>
                  </a:lnTo>
                  <a:lnTo>
                    <a:pt x="7" y="9"/>
                  </a:lnTo>
                  <a:lnTo>
                    <a:pt x="9" y="7"/>
                  </a:lnTo>
                  <a:lnTo>
                    <a:pt x="11" y="7"/>
                  </a:lnTo>
                  <a:lnTo>
                    <a:pt x="11" y="5"/>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24593" name="Group 317">
            <a:extLst>
              <a:ext uri="{FF2B5EF4-FFF2-40B4-BE49-F238E27FC236}">
                <a16:creationId xmlns:a16="http://schemas.microsoft.com/office/drawing/2014/main" xmlns="" id="{362834A3-2BF9-84A3-9A3D-5F9AB28704D6}"/>
              </a:ext>
            </a:extLst>
          </p:cNvPr>
          <p:cNvGrpSpPr>
            <a:grpSpLocks/>
          </p:cNvGrpSpPr>
          <p:nvPr/>
        </p:nvGrpSpPr>
        <p:grpSpPr bwMode="auto">
          <a:xfrm>
            <a:off x="5395913" y="4240213"/>
            <a:ext cx="798512" cy="96837"/>
            <a:chOff x="3399" y="1943"/>
            <a:chExt cx="503" cy="61"/>
          </a:xfrm>
        </p:grpSpPr>
        <p:sp>
          <p:nvSpPr>
            <p:cNvPr id="24606" name="Freeform 318">
              <a:extLst>
                <a:ext uri="{FF2B5EF4-FFF2-40B4-BE49-F238E27FC236}">
                  <a16:creationId xmlns:a16="http://schemas.microsoft.com/office/drawing/2014/main" xmlns="" id="{DD62D79F-92EA-409A-CA60-54890E9C6C86}"/>
                </a:ext>
              </a:extLst>
            </p:cNvPr>
            <p:cNvSpPr>
              <a:spLocks/>
            </p:cNvSpPr>
            <p:nvPr/>
          </p:nvSpPr>
          <p:spPr bwMode="auto">
            <a:xfrm>
              <a:off x="3427" y="1971"/>
              <a:ext cx="6" cy="5"/>
            </a:xfrm>
            <a:custGeom>
              <a:avLst/>
              <a:gdLst>
                <a:gd name="T0" fmla="*/ 2 w 11"/>
                <a:gd name="T1" fmla="*/ 0 h 11"/>
                <a:gd name="T2" fmla="*/ 2 w 11"/>
                <a:gd name="T3" fmla="*/ 0 h 11"/>
                <a:gd name="T4" fmla="*/ 1 w 11"/>
                <a:gd name="T5" fmla="*/ 0 h 11"/>
                <a:gd name="T6" fmla="*/ 1 w 11"/>
                <a:gd name="T7" fmla="*/ 1 h 11"/>
                <a:gd name="T8" fmla="*/ 0 w 11"/>
                <a:gd name="T9" fmla="*/ 1 h 11"/>
                <a:gd name="T10" fmla="*/ 0 w 11"/>
                <a:gd name="T11" fmla="*/ 1 h 11"/>
                <a:gd name="T12" fmla="*/ 1 w 11"/>
                <a:gd name="T13" fmla="*/ 2 h 11"/>
                <a:gd name="T14" fmla="*/ 1 w 11"/>
                <a:gd name="T15" fmla="*/ 2 h 11"/>
                <a:gd name="T16" fmla="*/ 2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 h="11">
                  <a:moveTo>
                    <a:pt x="8" y="0"/>
                  </a:moveTo>
                  <a:lnTo>
                    <a:pt x="6" y="0"/>
                  </a:lnTo>
                  <a:lnTo>
                    <a:pt x="4" y="2"/>
                  </a:lnTo>
                  <a:lnTo>
                    <a:pt x="2" y="4"/>
                  </a:lnTo>
                  <a:lnTo>
                    <a:pt x="0" y="6"/>
                  </a:lnTo>
                  <a:lnTo>
                    <a:pt x="2" y="8"/>
                  </a:lnTo>
                  <a:lnTo>
                    <a:pt x="4" y="10"/>
                  </a:lnTo>
                  <a:lnTo>
                    <a:pt x="6" y="11"/>
                  </a:lnTo>
                  <a:lnTo>
                    <a:pt x="8" y="10"/>
                  </a:lnTo>
                  <a:lnTo>
                    <a:pt x="9" y="8"/>
                  </a:lnTo>
                  <a:lnTo>
                    <a:pt x="11" y="6"/>
                  </a:lnTo>
                  <a:lnTo>
                    <a:pt x="9" y="4"/>
                  </a:lnTo>
                  <a:lnTo>
                    <a:pt x="8" y="2"/>
                  </a:lnTo>
                  <a:lnTo>
                    <a:pt x="8"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07" name="Freeform 319">
              <a:extLst>
                <a:ext uri="{FF2B5EF4-FFF2-40B4-BE49-F238E27FC236}">
                  <a16:creationId xmlns:a16="http://schemas.microsoft.com/office/drawing/2014/main" xmlns="" id="{E9783A03-0E30-2EAE-4370-F1077F5145D4}"/>
                </a:ext>
              </a:extLst>
            </p:cNvPr>
            <p:cNvSpPr>
              <a:spLocks/>
            </p:cNvSpPr>
            <p:nvPr/>
          </p:nvSpPr>
          <p:spPr bwMode="auto">
            <a:xfrm>
              <a:off x="3438"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08" name="Freeform 320">
              <a:extLst>
                <a:ext uri="{FF2B5EF4-FFF2-40B4-BE49-F238E27FC236}">
                  <a16:creationId xmlns:a16="http://schemas.microsoft.com/office/drawing/2014/main" xmlns="" id="{5941074D-CD94-AFC2-1100-FD3A5C69E195}"/>
                </a:ext>
              </a:extLst>
            </p:cNvPr>
            <p:cNvSpPr>
              <a:spLocks/>
            </p:cNvSpPr>
            <p:nvPr/>
          </p:nvSpPr>
          <p:spPr bwMode="auto">
            <a:xfrm>
              <a:off x="3449"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09" name="Freeform 321">
              <a:extLst>
                <a:ext uri="{FF2B5EF4-FFF2-40B4-BE49-F238E27FC236}">
                  <a16:creationId xmlns:a16="http://schemas.microsoft.com/office/drawing/2014/main" xmlns="" id="{2F31DFE2-1F45-564E-CAF0-9499C3B17C5B}"/>
                </a:ext>
              </a:extLst>
            </p:cNvPr>
            <p:cNvSpPr>
              <a:spLocks/>
            </p:cNvSpPr>
            <p:nvPr/>
          </p:nvSpPr>
          <p:spPr bwMode="auto">
            <a:xfrm>
              <a:off x="3460" y="1971"/>
              <a:ext cx="6" cy="5"/>
            </a:xfrm>
            <a:custGeom>
              <a:avLst/>
              <a:gdLst>
                <a:gd name="T0" fmla="*/ 2 w 12"/>
                <a:gd name="T1" fmla="*/ 0 h 11"/>
                <a:gd name="T2" fmla="*/ 1 w 12"/>
                <a:gd name="T3" fmla="*/ 0 h 11"/>
                <a:gd name="T4" fmla="*/ 1 w 12"/>
                <a:gd name="T5" fmla="*/ 0 h 11"/>
                <a:gd name="T6" fmla="*/ 0 w 12"/>
                <a:gd name="T7" fmla="*/ 1 h 11"/>
                <a:gd name="T8" fmla="*/ 0 w 12"/>
                <a:gd name="T9" fmla="*/ 1 h 11"/>
                <a:gd name="T10" fmla="*/ 0 w 12"/>
                <a:gd name="T11" fmla="*/ 2 h 11"/>
                <a:gd name="T12" fmla="*/ 0 w 12"/>
                <a:gd name="T13" fmla="*/ 2 h 11"/>
                <a:gd name="T14" fmla="*/ 1 w 12"/>
                <a:gd name="T15" fmla="*/ 2 h 11"/>
                <a:gd name="T16" fmla="*/ 1 w 12"/>
                <a:gd name="T17" fmla="*/ 2 h 11"/>
                <a:gd name="T18" fmla="*/ 2 w 12"/>
                <a:gd name="T19" fmla="*/ 2 h 11"/>
                <a:gd name="T20" fmla="*/ 2 w 12"/>
                <a:gd name="T21" fmla="*/ 2 h 11"/>
                <a:gd name="T22" fmla="*/ 2 w 12"/>
                <a:gd name="T23" fmla="*/ 2 h 11"/>
                <a:gd name="T24" fmla="*/ 3 w 12"/>
                <a:gd name="T25" fmla="*/ 2 h 11"/>
                <a:gd name="T26" fmla="*/ 3 w 12"/>
                <a:gd name="T27" fmla="*/ 1 h 11"/>
                <a:gd name="T28" fmla="*/ 3 w 12"/>
                <a:gd name="T29" fmla="*/ 1 h 11"/>
                <a:gd name="T30" fmla="*/ 3 w 12"/>
                <a:gd name="T31" fmla="*/ 1 h 11"/>
                <a:gd name="T32" fmla="*/ 2 w 12"/>
                <a:gd name="T33" fmla="*/ 0 h 11"/>
                <a:gd name="T34" fmla="*/ 2 w 12"/>
                <a:gd name="T35" fmla="*/ 0 h 11"/>
                <a:gd name="T36" fmla="*/ 2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0" name="Freeform 322">
              <a:extLst>
                <a:ext uri="{FF2B5EF4-FFF2-40B4-BE49-F238E27FC236}">
                  <a16:creationId xmlns:a16="http://schemas.microsoft.com/office/drawing/2014/main" xmlns="" id="{3679DEA9-5247-B1A2-DBE9-BE9A6C6D7C60}"/>
                </a:ext>
              </a:extLst>
            </p:cNvPr>
            <p:cNvSpPr>
              <a:spLocks/>
            </p:cNvSpPr>
            <p:nvPr/>
          </p:nvSpPr>
          <p:spPr bwMode="auto">
            <a:xfrm>
              <a:off x="3471"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1" name="Freeform 323">
              <a:extLst>
                <a:ext uri="{FF2B5EF4-FFF2-40B4-BE49-F238E27FC236}">
                  <a16:creationId xmlns:a16="http://schemas.microsoft.com/office/drawing/2014/main" xmlns="" id="{0D540112-B68E-5E68-B6CB-206327727A22}"/>
                </a:ext>
              </a:extLst>
            </p:cNvPr>
            <p:cNvSpPr>
              <a:spLocks/>
            </p:cNvSpPr>
            <p:nvPr/>
          </p:nvSpPr>
          <p:spPr bwMode="auto">
            <a:xfrm>
              <a:off x="3482"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2" name="Freeform 324">
              <a:extLst>
                <a:ext uri="{FF2B5EF4-FFF2-40B4-BE49-F238E27FC236}">
                  <a16:creationId xmlns:a16="http://schemas.microsoft.com/office/drawing/2014/main" xmlns="" id="{70542CC8-CF54-9C1C-FDCA-DDEB18F7E756}"/>
                </a:ext>
              </a:extLst>
            </p:cNvPr>
            <p:cNvSpPr>
              <a:spLocks/>
            </p:cNvSpPr>
            <p:nvPr/>
          </p:nvSpPr>
          <p:spPr bwMode="auto">
            <a:xfrm>
              <a:off x="3493"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3" name="Freeform 325">
              <a:extLst>
                <a:ext uri="{FF2B5EF4-FFF2-40B4-BE49-F238E27FC236}">
                  <a16:creationId xmlns:a16="http://schemas.microsoft.com/office/drawing/2014/main" xmlns="" id="{11D30324-037D-EBAE-88F9-63D04746CE43}"/>
                </a:ext>
              </a:extLst>
            </p:cNvPr>
            <p:cNvSpPr>
              <a:spLocks/>
            </p:cNvSpPr>
            <p:nvPr/>
          </p:nvSpPr>
          <p:spPr bwMode="auto">
            <a:xfrm>
              <a:off x="3504"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4" name="Freeform 326">
              <a:extLst>
                <a:ext uri="{FF2B5EF4-FFF2-40B4-BE49-F238E27FC236}">
                  <a16:creationId xmlns:a16="http://schemas.microsoft.com/office/drawing/2014/main" xmlns="" id="{2E99FAE2-828B-442B-7124-7F3A843F6393}"/>
                </a:ext>
              </a:extLst>
            </p:cNvPr>
            <p:cNvSpPr>
              <a:spLocks/>
            </p:cNvSpPr>
            <p:nvPr/>
          </p:nvSpPr>
          <p:spPr bwMode="auto">
            <a:xfrm>
              <a:off x="3515"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5" name="Freeform 327">
              <a:extLst>
                <a:ext uri="{FF2B5EF4-FFF2-40B4-BE49-F238E27FC236}">
                  <a16:creationId xmlns:a16="http://schemas.microsoft.com/office/drawing/2014/main" xmlns="" id="{7E8809D3-3F7D-C16E-2E80-621B858086F1}"/>
                </a:ext>
              </a:extLst>
            </p:cNvPr>
            <p:cNvSpPr>
              <a:spLocks/>
            </p:cNvSpPr>
            <p:nvPr/>
          </p:nvSpPr>
          <p:spPr bwMode="auto">
            <a:xfrm>
              <a:off x="3527"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6" name="Freeform 328">
              <a:extLst>
                <a:ext uri="{FF2B5EF4-FFF2-40B4-BE49-F238E27FC236}">
                  <a16:creationId xmlns:a16="http://schemas.microsoft.com/office/drawing/2014/main" xmlns="" id="{BAD004DD-D144-E2B6-C776-C4C5472FEC04}"/>
                </a:ext>
              </a:extLst>
            </p:cNvPr>
            <p:cNvSpPr>
              <a:spLocks/>
            </p:cNvSpPr>
            <p:nvPr/>
          </p:nvSpPr>
          <p:spPr bwMode="auto">
            <a:xfrm>
              <a:off x="3538"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7" name="Freeform 329">
              <a:extLst>
                <a:ext uri="{FF2B5EF4-FFF2-40B4-BE49-F238E27FC236}">
                  <a16:creationId xmlns:a16="http://schemas.microsoft.com/office/drawing/2014/main" xmlns="" id="{6DF8B7D8-A1C9-7668-8681-6E6D77E7EEFE}"/>
                </a:ext>
              </a:extLst>
            </p:cNvPr>
            <p:cNvSpPr>
              <a:spLocks/>
            </p:cNvSpPr>
            <p:nvPr/>
          </p:nvSpPr>
          <p:spPr bwMode="auto">
            <a:xfrm>
              <a:off x="3549"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8" name="Freeform 330">
              <a:extLst>
                <a:ext uri="{FF2B5EF4-FFF2-40B4-BE49-F238E27FC236}">
                  <a16:creationId xmlns:a16="http://schemas.microsoft.com/office/drawing/2014/main" xmlns="" id="{0DF55378-AAB2-511C-48D8-7EB6F543F981}"/>
                </a:ext>
              </a:extLst>
            </p:cNvPr>
            <p:cNvSpPr>
              <a:spLocks/>
            </p:cNvSpPr>
            <p:nvPr/>
          </p:nvSpPr>
          <p:spPr bwMode="auto">
            <a:xfrm>
              <a:off x="3560"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19" name="Freeform 331">
              <a:extLst>
                <a:ext uri="{FF2B5EF4-FFF2-40B4-BE49-F238E27FC236}">
                  <a16:creationId xmlns:a16="http://schemas.microsoft.com/office/drawing/2014/main" xmlns="" id="{A4EEAAFD-D5D0-B2B8-4209-03EACC127C1F}"/>
                </a:ext>
              </a:extLst>
            </p:cNvPr>
            <p:cNvSpPr>
              <a:spLocks/>
            </p:cNvSpPr>
            <p:nvPr/>
          </p:nvSpPr>
          <p:spPr bwMode="auto">
            <a:xfrm>
              <a:off x="3571"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0" name="Freeform 332">
              <a:extLst>
                <a:ext uri="{FF2B5EF4-FFF2-40B4-BE49-F238E27FC236}">
                  <a16:creationId xmlns:a16="http://schemas.microsoft.com/office/drawing/2014/main" xmlns="" id="{9F48FF3B-CF8A-4851-4F05-CD336A28D85C}"/>
                </a:ext>
              </a:extLst>
            </p:cNvPr>
            <p:cNvSpPr>
              <a:spLocks/>
            </p:cNvSpPr>
            <p:nvPr/>
          </p:nvSpPr>
          <p:spPr bwMode="auto">
            <a:xfrm>
              <a:off x="3582"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1" name="Freeform 333">
              <a:extLst>
                <a:ext uri="{FF2B5EF4-FFF2-40B4-BE49-F238E27FC236}">
                  <a16:creationId xmlns:a16="http://schemas.microsoft.com/office/drawing/2014/main" xmlns="" id="{877D4A98-0365-17EF-17F5-8F124DB5ACA6}"/>
                </a:ext>
              </a:extLst>
            </p:cNvPr>
            <p:cNvSpPr>
              <a:spLocks/>
            </p:cNvSpPr>
            <p:nvPr/>
          </p:nvSpPr>
          <p:spPr bwMode="auto">
            <a:xfrm>
              <a:off x="3593"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2" name="Freeform 334">
              <a:extLst>
                <a:ext uri="{FF2B5EF4-FFF2-40B4-BE49-F238E27FC236}">
                  <a16:creationId xmlns:a16="http://schemas.microsoft.com/office/drawing/2014/main" xmlns="" id="{1E1337D4-4BAB-D49B-911F-A5DF9ED1FA8A}"/>
                </a:ext>
              </a:extLst>
            </p:cNvPr>
            <p:cNvSpPr>
              <a:spLocks/>
            </p:cNvSpPr>
            <p:nvPr/>
          </p:nvSpPr>
          <p:spPr bwMode="auto">
            <a:xfrm>
              <a:off x="3604"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3" name="Freeform 335">
              <a:extLst>
                <a:ext uri="{FF2B5EF4-FFF2-40B4-BE49-F238E27FC236}">
                  <a16:creationId xmlns:a16="http://schemas.microsoft.com/office/drawing/2014/main" xmlns="" id="{8FF88FAC-EAE9-1849-0994-D0FD449803A9}"/>
                </a:ext>
              </a:extLst>
            </p:cNvPr>
            <p:cNvSpPr>
              <a:spLocks/>
            </p:cNvSpPr>
            <p:nvPr/>
          </p:nvSpPr>
          <p:spPr bwMode="auto">
            <a:xfrm>
              <a:off x="3615"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4" name="Freeform 336">
              <a:extLst>
                <a:ext uri="{FF2B5EF4-FFF2-40B4-BE49-F238E27FC236}">
                  <a16:creationId xmlns:a16="http://schemas.microsoft.com/office/drawing/2014/main" xmlns="" id="{64FA3BF2-1E48-7450-347D-C0DF2AFD2B2A}"/>
                </a:ext>
              </a:extLst>
            </p:cNvPr>
            <p:cNvSpPr>
              <a:spLocks/>
            </p:cNvSpPr>
            <p:nvPr/>
          </p:nvSpPr>
          <p:spPr bwMode="auto">
            <a:xfrm>
              <a:off x="3626"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5" name="Freeform 337">
              <a:extLst>
                <a:ext uri="{FF2B5EF4-FFF2-40B4-BE49-F238E27FC236}">
                  <a16:creationId xmlns:a16="http://schemas.microsoft.com/office/drawing/2014/main" xmlns="" id="{5665A240-9C36-20F5-383D-FC33BD4F30EF}"/>
                </a:ext>
              </a:extLst>
            </p:cNvPr>
            <p:cNvSpPr>
              <a:spLocks/>
            </p:cNvSpPr>
            <p:nvPr/>
          </p:nvSpPr>
          <p:spPr bwMode="auto">
            <a:xfrm>
              <a:off x="3637"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6" name="Freeform 338">
              <a:extLst>
                <a:ext uri="{FF2B5EF4-FFF2-40B4-BE49-F238E27FC236}">
                  <a16:creationId xmlns:a16="http://schemas.microsoft.com/office/drawing/2014/main" xmlns="" id="{AAC71541-324C-FF7C-E128-F97E35921E4A}"/>
                </a:ext>
              </a:extLst>
            </p:cNvPr>
            <p:cNvSpPr>
              <a:spLocks/>
            </p:cNvSpPr>
            <p:nvPr/>
          </p:nvSpPr>
          <p:spPr bwMode="auto">
            <a:xfrm>
              <a:off x="3648"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7" name="Freeform 339">
              <a:extLst>
                <a:ext uri="{FF2B5EF4-FFF2-40B4-BE49-F238E27FC236}">
                  <a16:creationId xmlns:a16="http://schemas.microsoft.com/office/drawing/2014/main" xmlns="" id="{D4EC23A5-FD68-10FD-597C-ED56DD70EA02}"/>
                </a:ext>
              </a:extLst>
            </p:cNvPr>
            <p:cNvSpPr>
              <a:spLocks/>
            </p:cNvSpPr>
            <p:nvPr/>
          </p:nvSpPr>
          <p:spPr bwMode="auto">
            <a:xfrm>
              <a:off x="3659"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8" name="Freeform 340">
              <a:extLst>
                <a:ext uri="{FF2B5EF4-FFF2-40B4-BE49-F238E27FC236}">
                  <a16:creationId xmlns:a16="http://schemas.microsoft.com/office/drawing/2014/main" xmlns="" id="{4D8AC2C6-5EE4-9D84-E326-03B60451BDFF}"/>
                </a:ext>
              </a:extLst>
            </p:cNvPr>
            <p:cNvSpPr>
              <a:spLocks/>
            </p:cNvSpPr>
            <p:nvPr/>
          </p:nvSpPr>
          <p:spPr bwMode="auto">
            <a:xfrm>
              <a:off x="3670"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29" name="Freeform 341">
              <a:extLst>
                <a:ext uri="{FF2B5EF4-FFF2-40B4-BE49-F238E27FC236}">
                  <a16:creationId xmlns:a16="http://schemas.microsoft.com/office/drawing/2014/main" xmlns="" id="{6EC90CF3-4BE7-171F-DD41-78DFBB05D62B}"/>
                </a:ext>
              </a:extLst>
            </p:cNvPr>
            <p:cNvSpPr>
              <a:spLocks/>
            </p:cNvSpPr>
            <p:nvPr/>
          </p:nvSpPr>
          <p:spPr bwMode="auto">
            <a:xfrm>
              <a:off x="3681"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0" name="Freeform 342">
              <a:extLst>
                <a:ext uri="{FF2B5EF4-FFF2-40B4-BE49-F238E27FC236}">
                  <a16:creationId xmlns:a16="http://schemas.microsoft.com/office/drawing/2014/main" xmlns="" id="{6A06D629-872D-30B7-01C2-94A023584B77}"/>
                </a:ext>
              </a:extLst>
            </p:cNvPr>
            <p:cNvSpPr>
              <a:spLocks/>
            </p:cNvSpPr>
            <p:nvPr/>
          </p:nvSpPr>
          <p:spPr bwMode="auto">
            <a:xfrm>
              <a:off x="3692"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1" name="Freeform 343">
              <a:extLst>
                <a:ext uri="{FF2B5EF4-FFF2-40B4-BE49-F238E27FC236}">
                  <a16:creationId xmlns:a16="http://schemas.microsoft.com/office/drawing/2014/main" xmlns="" id="{724F77D3-C64D-C822-630B-6F8BDE81DB60}"/>
                </a:ext>
              </a:extLst>
            </p:cNvPr>
            <p:cNvSpPr>
              <a:spLocks/>
            </p:cNvSpPr>
            <p:nvPr/>
          </p:nvSpPr>
          <p:spPr bwMode="auto">
            <a:xfrm>
              <a:off x="3703"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2" name="Freeform 344">
              <a:extLst>
                <a:ext uri="{FF2B5EF4-FFF2-40B4-BE49-F238E27FC236}">
                  <a16:creationId xmlns:a16="http://schemas.microsoft.com/office/drawing/2014/main" xmlns="" id="{2C5D82F3-A7E9-8E88-84BA-47EE832C9711}"/>
                </a:ext>
              </a:extLst>
            </p:cNvPr>
            <p:cNvSpPr>
              <a:spLocks/>
            </p:cNvSpPr>
            <p:nvPr/>
          </p:nvSpPr>
          <p:spPr bwMode="auto">
            <a:xfrm>
              <a:off x="3714"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3" name="Freeform 345">
              <a:extLst>
                <a:ext uri="{FF2B5EF4-FFF2-40B4-BE49-F238E27FC236}">
                  <a16:creationId xmlns:a16="http://schemas.microsoft.com/office/drawing/2014/main" xmlns="" id="{7E289E71-C253-C6E7-3E08-F6CB2B957EAE}"/>
                </a:ext>
              </a:extLst>
            </p:cNvPr>
            <p:cNvSpPr>
              <a:spLocks/>
            </p:cNvSpPr>
            <p:nvPr/>
          </p:nvSpPr>
          <p:spPr bwMode="auto">
            <a:xfrm>
              <a:off x="3725"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4" name="Freeform 346">
              <a:extLst>
                <a:ext uri="{FF2B5EF4-FFF2-40B4-BE49-F238E27FC236}">
                  <a16:creationId xmlns:a16="http://schemas.microsoft.com/office/drawing/2014/main" xmlns="" id="{CDC0A82D-6ED2-63E3-4F04-F6BDCF80D3CC}"/>
                </a:ext>
              </a:extLst>
            </p:cNvPr>
            <p:cNvSpPr>
              <a:spLocks/>
            </p:cNvSpPr>
            <p:nvPr/>
          </p:nvSpPr>
          <p:spPr bwMode="auto">
            <a:xfrm>
              <a:off x="3737"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5" name="Freeform 347">
              <a:extLst>
                <a:ext uri="{FF2B5EF4-FFF2-40B4-BE49-F238E27FC236}">
                  <a16:creationId xmlns:a16="http://schemas.microsoft.com/office/drawing/2014/main" xmlns="" id="{50B7634E-82EF-FC55-5419-52AD9F7AC2C2}"/>
                </a:ext>
              </a:extLst>
            </p:cNvPr>
            <p:cNvSpPr>
              <a:spLocks/>
            </p:cNvSpPr>
            <p:nvPr/>
          </p:nvSpPr>
          <p:spPr bwMode="auto">
            <a:xfrm>
              <a:off x="3748"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6" name="Freeform 348">
              <a:extLst>
                <a:ext uri="{FF2B5EF4-FFF2-40B4-BE49-F238E27FC236}">
                  <a16:creationId xmlns:a16="http://schemas.microsoft.com/office/drawing/2014/main" xmlns="" id="{097D493E-B14F-F2AD-1BA7-8C815D3D9284}"/>
                </a:ext>
              </a:extLst>
            </p:cNvPr>
            <p:cNvSpPr>
              <a:spLocks/>
            </p:cNvSpPr>
            <p:nvPr/>
          </p:nvSpPr>
          <p:spPr bwMode="auto">
            <a:xfrm>
              <a:off x="3759"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7" name="Freeform 349">
              <a:extLst>
                <a:ext uri="{FF2B5EF4-FFF2-40B4-BE49-F238E27FC236}">
                  <a16:creationId xmlns:a16="http://schemas.microsoft.com/office/drawing/2014/main" xmlns="" id="{CF6F34E1-1074-D5E3-E44A-BF9C6AD390FB}"/>
                </a:ext>
              </a:extLst>
            </p:cNvPr>
            <p:cNvSpPr>
              <a:spLocks/>
            </p:cNvSpPr>
            <p:nvPr/>
          </p:nvSpPr>
          <p:spPr bwMode="auto">
            <a:xfrm>
              <a:off x="3770"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2 w 11"/>
                <a:gd name="T23" fmla="*/ 2 h 11"/>
                <a:gd name="T24" fmla="*/ 2 w 11"/>
                <a:gd name="T25" fmla="*/ 2 h 11"/>
                <a:gd name="T26" fmla="*/ 2 w 11"/>
                <a:gd name="T27" fmla="*/ 1 h 11"/>
                <a:gd name="T28" fmla="*/ 2 w 11"/>
                <a:gd name="T29" fmla="*/ 1 h 11"/>
                <a:gd name="T30" fmla="*/ 2 w 11"/>
                <a:gd name="T31" fmla="*/ 1 h 11"/>
                <a:gd name="T32" fmla="*/ 2 w 11"/>
                <a:gd name="T33" fmla="*/ 0 h 11"/>
                <a:gd name="T34" fmla="*/ 2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1"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8" name="Freeform 350">
              <a:extLst>
                <a:ext uri="{FF2B5EF4-FFF2-40B4-BE49-F238E27FC236}">
                  <a16:creationId xmlns:a16="http://schemas.microsoft.com/office/drawing/2014/main" xmlns="" id="{FCB5B698-0D16-47CA-6C31-1E4CCBDF6970}"/>
                </a:ext>
              </a:extLst>
            </p:cNvPr>
            <p:cNvSpPr>
              <a:spLocks/>
            </p:cNvSpPr>
            <p:nvPr/>
          </p:nvSpPr>
          <p:spPr bwMode="auto">
            <a:xfrm>
              <a:off x="3781" y="1971"/>
              <a:ext cx="5" cy="5"/>
            </a:xfrm>
            <a:custGeom>
              <a:avLst/>
              <a:gdLst>
                <a:gd name="T0" fmla="*/ 1 w 12"/>
                <a:gd name="T1" fmla="*/ 0 h 11"/>
                <a:gd name="T2" fmla="*/ 1 w 12"/>
                <a:gd name="T3" fmla="*/ 0 h 11"/>
                <a:gd name="T4" fmla="*/ 0 w 12"/>
                <a:gd name="T5" fmla="*/ 0 h 11"/>
                <a:gd name="T6" fmla="*/ 0 w 12"/>
                <a:gd name="T7" fmla="*/ 1 h 11"/>
                <a:gd name="T8" fmla="*/ 0 w 12"/>
                <a:gd name="T9" fmla="*/ 1 h 11"/>
                <a:gd name="T10" fmla="*/ 0 w 12"/>
                <a:gd name="T11" fmla="*/ 2 h 11"/>
                <a:gd name="T12" fmla="*/ 0 w 12"/>
                <a:gd name="T13" fmla="*/ 2 h 11"/>
                <a:gd name="T14" fmla="*/ 0 w 12"/>
                <a:gd name="T15" fmla="*/ 2 h 11"/>
                <a:gd name="T16" fmla="*/ 1 w 12"/>
                <a:gd name="T17" fmla="*/ 2 h 11"/>
                <a:gd name="T18" fmla="*/ 1 w 12"/>
                <a:gd name="T19" fmla="*/ 2 h 11"/>
                <a:gd name="T20" fmla="*/ 1 w 12"/>
                <a:gd name="T21" fmla="*/ 2 h 11"/>
                <a:gd name="T22" fmla="*/ 1 w 12"/>
                <a:gd name="T23" fmla="*/ 2 h 11"/>
                <a:gd name="T24" fmla="*/ 2 w 12"/>
                <a:gd name="T25" fmla="*/ 2 h 11"/>
                <a:gd name="T26" fmla="*/ 2 w 12"/>
                <a:gd name="T27" fmla="*/ 1 h 11"/>
                <a:gd name="T28" fmla="*/ 2 w 12"/>
                <a:gd name="T29" fmla="*/ 1 h 11"/>
                <a:gd name="T30" fmla="*/ 2 w 12"/>
                <a:gd name="T31" fmla="*/ 1 h 11"/>
                <a:gd name="T32" fmla="*/ 1 w 12"/>
                <a:gd name="T33" fmla="*/ 0 h 11"/>
                <a:gd name="T34" fmla="*/ 1 w 12"/>
                <a:gd name="T35" fmla="*/ 0 h 11"/>
                <a:gd name="T36" fmla="*/ 1 w 12"/>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 h="11">
                  <a:moveTo>
                    <a:pt x="6" y="0"/>
                  </a:moveTo>
                  <a:lnTo>
                    <a:pt x="4" y="0"/>
                  </a:lnTo>
                  <a:lnTo>
                    <a:pt x="2" y="2"/>
                  </a:lnTo>
                  <a:lnTo>
                    <a:pt x="0" y="4"/>
                  </a:lnTo>
                  <a:lnTo>
                    <a:pt x="0" y="6"/>
                  </a:lnTo>
                  <a:lnTo>
                    <a:pt x="0" y="8"/>
                  </a:lnTo>
                  <a:lnTo>
                    <a:pt x="0" y="10"/>
                  </a:lnTo>
                  <a:lnTo>
                    <a:pt x="2" y="11"/>
                  </a:lnTo>
                  <a:lnTo>
                    <a:pt x="4" y="11"/>
                  </a:lnTo>
                  <a:lnTo>
                    <a:pt x="6" y="11"/>
                  </a:lnTo>
                  <a:lnTo>
                    <a:pt x="8" y="10"/>
                  </a:lnTo>
                  <a:lnTo>
                    <a:pt x="10" y="8"/>
                  </a:lnTo>
                  <a:lnTo>
                    <a:pt x="12" y="6"/>
                  </a:lnTo>
                  <a:lnTo>
                    <a:pt x="10"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39" name="Freeform 351">
              <a:extLst>
                <a:ext uri="{FF2B5EF4-FFF2-40B4-BE49-F238E27FC236}">
                  <a16:creationId xmlns:a16="http://schemas.microsoft.com/office/drawing/2014/main" xmlns="" id="{4A414737-10FD-D69F-41EE-03CA06C1F286}"/>
                </a:ext>
              </a:extLst>
            </p:cNvPr>
            <p:cNvSpPr>
              <a:spLocks/>
            </p:cNvSpPr>
            <p:nvPr/>
          </p:nvSpPr>
          <p:spPr bwMode="auto">
            <a:xfrm>
              <a:off x="3792"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1" y="2"/>
                  </a:lnTo>
                  <a:lnTo>
                    <a:pt x="0" y="4"/>
                  </a:lnTo>
                  <a:lnTo>
                    <a:pt x="0" y="6"/>
                  </a:lnTo>
                  <a:lnTo>
                    <a:pt x="0" y="8"/>
                  </a:lnTo>
                  <a:lnTo>
                    <a:pt x="0" y="10"/>
                  </a:lnTo>
                  <a:lnTo>
                    <a:pt x="1"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0" name="Freeform 352">
              <a:extLst>
                <a:ext uri="{FF2B5EF4-FFF2-40B4-BE49-F238E27FC236}">
                  <a16:creationId xmlns:a16="http://schemas.microsoft.com/office/drawing/2014/main" xmlns="" id="{B4AB931C-9E7F-1C6B-0896-7C6F1C204217}"/>
                </a:ext>
              </a:extLst>
            </p:cNvPr>
            <p:cNvSpPr>
              <a:spLocks/>
            </p:cNvSpPr>
            <p:nvPr/>
          </p:nvSpPr>
          <p:spPr bwMode="auto">
            <a:xfrm>
              <a:off x="3803"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1" name="Freeform 353">
              <a:extLst>
                <a:ext uri="{FF2B5EF4-FFF2-40B4-BE49-F238E27FC236}">
                  <a16:creationId xmlns:a16="http://schemas.microsoft.com/office/drawing/2014/main" xmlns="" id="{647B154B-A089-9553-E0EF-1818DA5A01B4}"/>
                </a:ext>
              </a:extLst>
            </p:cNvPr>
            <p:cNvSpPr>
              <a:spLocks/>
            </p:cNvSpPr>
            <p:nvPr/>
          </p:nvSpPr>
          <p:spPr bwMode="auto">
            <a:xfrm>
              <a:off x="3814" y="1971"/>
              <a:ext cx="5" cy="5"/>
            </a:xfrm>
            <a:custGeom>
              <a:avLst/>
              <a:gdLst>
                <a:gd name="T0" fmla="*/ 1 w 11"/>
                <a:gd name="T1" fmla="*/ 0 h 11"/>
                <a:gd name="T2" fmla="*/ 0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0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3" y="0"/>
                  </a:lnTo>
                  <a:lnTo>
                    <a:pt x="2" y="2"/>
                  </a:lnTo>
                  <a:lnTo>
                    <a:pt x="0" y="4"/>
                  </a:lnTo>
                  <a:lnTo>
                    <a:pt x="0" y="6"/>
                  </a:lnTo>
                  <a:lnTo>
                    <a:pt x="0" y="8"/>
                  </a:lnTo>
                  <a:lnTo>
                    <a:pt x="0" y="10"/>
                  </a:lnTo>
                  <a:lnTo>
                    <a:pt x="2" y="11"/>
                  </a:lnTo>
                  <a:lnTo>
                    <a:pt x="3"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2" name="Freeform 354">
              <a:extLst>
                <a:ext uri="{FF2B5EF4-FFF2-40B4-BE49-F238E27FC236}">
                  <a16:creationId xmlns:a16="http://schemas.microsoft.com/office/drawing/2014/main" xmlns="" id="{94490D84-A6DE-F47B-4DFD-DBE81B065E9F}"/>
                </a:ext>
              </a:extLst>
            </p:cNvPr>
            <p:cNvSpPr>
              <a:spLocks/>
            </p:cNvSpPr>
            <p:nvPr/>
          </p:nvSpPr>
          <p:spPr bwMode="auto">
            <a:xfrm>
              <a:off x="3825" y="1971"/>
              <a:ext cx="5" cy="5"/>
            </a:xfrm>
            <a:custGeom>
              <a:avLst/>
              <a:gdLst>
                <a:gd name="T0" fmla="*/ 1 w 11"/>
                <a:gd name="T1" fmla="*/ 0 h 11"/>
                <a:gd name="T2" fmla="*/ 1 w 11"/>
                <a:gd name="T3" fmla="*/ 0 h 11"/>
                <a:gd name="T4" fmla="*/ 0 w 11"/>
                <a:gd name="T5" fmla="*/ 0 h 11"/>
                <a:gd name="T6" fmla="*/ 0 w 11"/>
                <a:gd name="T7" fmla="*/ 1 h 11"/>
                <a:gd name="T8" fmla="*/ 0 w 11"/>
                <a:gd name="T9" fmla="*/ 1 h 11"/>
                <a:gd name="T10" fmla="*/ 0 w 11"/>
                <a:gd name="T11" fmla="*/ 2 h 11"/>
                <a:gd name="T12" fmla="*/ 0 w 11"/>
                <a:gd name="T13" fmla="*/ 2 h 11"/>
                <a:gd name="T14" fmla="*/ 0 w 11"/>
                <a:gd name="T15" fmla="*/ 2 h 11"/>
                <a:gd name="T16" fmla="*/ 1 w 11"/>
                <a:gd name="T17" fmla="*/ 2 h 11"/>
                <a:gd name="T18" fmla="*/ 1 w 11"/>
                <a:gd name="T19" fmla="*/ 2 h 11"/>
                <a:gd name="T20" fmla="*/ 1 w 11"/>
                <a:gd name="T21" fmla="*/ 2 h 11"/>
                <a:gd name="T22" fmla="*/ 1 w 11"/>
                <a:gd name="T23" fmla="*/ 2 h 11"/>
                <a:gd name="T24" fmla="*/ 2 w 11"/>
                <a:gd name="T25" fmla="*/ 2 h 11"/>
                <a:gd name="T26" fmla="*/ 2 w 11"/>
                <a:gd name="T27" fmla="*/ 1 h 11"/>
                <a:gd name="T28" fmla="*/ 2 w 11"/>
                <a:gd name="T29" fmla="*/ 1 h 11"/>
                <a:gd name="T30" fmla="*/ 2 w 11"/>
                <a:gd name="T31" fmla="*/ 1 h 11"/>
                <a:gd name="T32" fmla="*/ 1 w 11"/>
                <a:gd name="T33" fmla="*/ 0 h 11"/>
                <a:gd name="T34" fmla="*/ 1 w 11"/>
                <a:gd name="T35" fmla="*/ 0 h 11"/>
                <a:gd name="T36" fmla="*/ 1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5" y="0"/>
                  </a:moveTo>
                  <a:lnTo>
                    <a:pt x="4" y="0"/>
                  </a:lnTo>
                  <a:lnTo>
                    <a:pt x="2" y="2"/>
                  </a:lnTo>
                  <a:lnTo>
                    <a:pt x="0" y="4"/>
                  </a:lnTo>
                  <a:lnTo>
                    <a:pt x="0" y="6"/>
                  </a:lnTo>
                  <a:lnTo>
                    <a:pt x="0" y="8"/>
                  </a:lnTo>
                  <a:lnTo>
                    <a:pt x="0" y="10"/>
                  </a:lnTo>
                  <a:lnTo>
                    <a:pt x="2" y="11"/>
                  </a:lnTo>
                  <a:lnTo>
                    <a:pt x="4" y="11"/>
                  </a:lnTo>
                  <a:lnTo>
                    <a:pt x="5" y="11"/>
                  </a:lnTo>
                  <a:lnTo>
                    <a:pt x="7" y="10"/>
                  </a:lnTo>
                  <a:lnTo>
                    <a:pt x="9" y="8"/>
                  </a:lnTo>
                  <a:lnTo>
                    <a:pt x="11" y="6"/>
                  </a:lnTo>
                  <a:lnTo>
                    <a:pt x="9" y="4"/>
                  </a:lnTo>
                  <a:lnTo>
                    <a:pt x="7" y="2"/>
                  </a:lnTo>
                  <a:lnTo>
                    <a:pt x="7" y="0"/>
                  </a:lnTo>
                  <a:lnTo>
                    <a:pt x="5"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3" name="Freeform 355">
              <a:extLst>
                <a:ext uri="{FF2B5EF4-FFF2-40B4-BE49-F238E27FC236}">
                  <a16:creationId xmlns:a16="http://schemas.microsoft.com/office/drawing/2014/main" xmlns="" id="{59B6155C-0143-098E-46C0-0A75D4A683C6}"/>
                </a:ext>
              </a:extLst>
            </p:cNvPr>
            <p:cNvSpPr>
              <a:spLocks/>
            </p:cNvSpPr>
            <p:nvPr/>
          </p:nvSpPr>
          <p:spPr bwMode="auto">
            <a:xfrm>
              <a:off x="3836"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4" name="Freeform 356">
              <a:extLst>
                <a:ext uri="{FF2B5EF4-FFF2-40B4-BE49-F238E27FC236}">
                  <a16:creationId xmlns:a16="http://schemas.microsoft.com/office/drawing/2014/main" xmlns="" id="{AAF6A157-F5C9-8086-261E-31CD42AD031E}"/>
                </a:ext>
              </a:extLst>
            </p:cNvPr>
            <p:cNvSpPr>
              <a:spLocks/>
            </p:cNvSpPr>
            <p:nvPr/>
          </p:nvSpPr>
          <p:spPr bwMode="auto">
            <a:xfrm>
              <a:off x="3847"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7" y="10"/>
                  </a:lnTo>
                  <a:lnTo>
                    <a:pt x="9" y="8"/>
                  </a:lnTo>
                  <a:lnTo>
                    <a:pt x="11" y="6"/>
                  </a:lnTo>
                  <a:lnTo>
                    <a:pt x="9" y="4"/>
                  </a:lnTo>
                  <a:lnTo>
                    <a:pt x="7" y="2"/>
                  </a:lnTo>
                  <a:lnTo>
                    <a:pt x="7"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5" name="Freeform 357">
              <a:extLst>
                <a:ext uri="{FF2B5EF4-FFF2-40B4-BE49-F238E27FC236}">
                  <a16:creationId xmlns:a16="http://schemas.microsoft.com/office/drawing/2014/main" xmlns="" id="{2EDF2A67-627C-C7A3-2AD0-7AA9141CBEE3}"/>
                </a:ext>
              </a:extLst>
            </p:cNvPr>
            <p:cNvSpPr>
              <a:spLocks/>
            </p:cNvSpPr>
            <p:nvPr/>
          </p:nvSpPr>
          <p:spPr bwMode="auto">
            <a:xfrm>
              <a:off x="3858" y="1971"/>
              <a:ext cx="6" cy="5"/>
            </a:xfrm>
            <a:custGeom>
              <a:avLst/>
              <a:gdLst>
                <a:gd name="T0" fmla="*/ 2 w 11"/>
                <a:gd name="T1" fmla="*/ 0 h 11"/>
                <a:gd name="T2" fmla="*/ 1 w 11"/>
                <a:gd name="T3" fmla="*/ 0 h 11"/>
                <a:gd name="T4" fmla="*/ 1 w 11"/>
                <a:gd name="T5" fmla="*/ 0 h 11"/>
                <a:gd name="T6" fmla="*/ 0 w 11"/>
                <a:gd name="T7" fmla="*/ 1 h 11"/>
                <a:gd name="T8" fmla="*/ 0 w 11"/>
                <a:gd name="T9" fmla="*/ 1 h 11"/>
                <a:gd name="T10" fmla="*/ 0 w 11"/>
                <a:gd name="T11" fmla="*/ 2 h 11"/>
                <a:gd name="T12" fmla="*/ 0 w 11"/>
                <a:gd name="T13" fmla="*/ 2 h 11"/>
                <a:gd name="T14" fmla="*/ 1 w 11"/>
                <a:gd name="T15" fmla="*/ 2 h 11"/>
                <a:gd name="T16" fmla="*/ 1 w 11"/>
                <a:gd name="T17" fmla="*/ 2 h 11"/>
                <a:gd name="T18" fmla="*/ 2 w 11"/>
                <a:gd name="T19" fmla="*/ 2 h 11"/>
                <a:gd name="T20" fmla="*/ 2 w 11"/>
                <a:gd name="T21" fmla="*/ 2 h 11"/>
                <a:gd name="T22" fmla="*/ 2 w 11"/>
                <a:gd name="T23" fmla="*/ 2 h 11"/>
                <a:gd name="T24" fmla="*/ 3 w 11"/>
                <a:gd name="T25" fmla="*/ 2 h 11"/>
                <a:gd name="T26" fmla="*/ 3 w 11"/>
                <a:gd name="T27" fmla="*/ 1 h 11"/>
                <a:gd name="T28" fmla="*/ 3 w 11"/>
                <a:gd name="T29" fmla="*/ 1 h 11"/>
                <a:gd name="T30" fmla="*/ 3 w 11"/>
                <a:gd name="T31" fmla="*/ 1 h 11"/>
                <a:gd name="T32" fmla="*/ 2 w 11"/>
                <a:gd name="T33" fmla="*/ 0 h 11"/>
                <a:gd name="T34" fmla="*/ 2 w 11"/>
                <a:gd name="T35" fmla="*/ 0 h 11"/>
                <a:gd name="T36" fmla="*/ 2 w 11"/>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 h="11">
                  <a:moveTo>
                    <a:pt x="6" y="0"/>
                  </a:moveTo>
                  <a:lnTo>
                    <a:pt x="4" y="0"/>
                  </a:lnTo>
                  <a:lnTo>
                    <a:pt x="2" y="2"/>
                  </a:lnTo>
                  <a:lnTo>
                    <a:pt x="0" y="4"/>
                  </a:lnTo>
                  <a:lnTo>
                    <a:pt x="0" y="6"/>
                  </a:lnTo>
                  <a:lnTo>
                    <a:pt x="0" y="8"/>
                  </a:lnTo>
                  <a:lnTo>
                    <a:pt x="0" y="10"/>
                  </a:lnTo>
                  <a:lnTo>
                    <a:pt x="2" y="11"/>
                  </a:lnTo>
                  <a:lnTo>
                    <a:pt x="4" y="11"/>
                  </a:lnTo>
                  <a:lnTo>
                    <a:pt x="6" y="11"/>
                  </a:lnTo>
                  <a:lnTo>
                    <a:pt x="8" y="10"/>
                  </a:lnTo>
                  <a:lnTo>
                    <a:pt x="9" y="8"/>
                  </a:lnTo>
                  <a:lnTo>
                    <a:pt x="11" y="6"/>
                  </a:lnTo>
                  <a:lnTo>
                    <a:pt x="9" y="4"/>
                  </a:lnTo>
                  <a:lnTo>
                    <a:pt x="8" y="2"/>
                  </a:lnTo>
                  <a:lnTo>
                    <a:pt x="8" y="0"/>
                  </a:lnTo>
                  <a:lnTo>
                    <a:pt x="6" y="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6" name="Freeform 358">
              <a:extLst>
                <a:ext uri="{FF2B5EF4-FFF2-40B4-BE49-F238E27FC236}">
                  <a16:creationId xmlns:a16="http://schemas.microsoft.com/office/drawing/2014/main" xmlns="" id="{E590A553-EB1C-C2D9-5366-A1F783529FEE}"/>
                </a:ext>
              </a:extLst>
            </p:cNvPr>
            <p:cNvSpPr>
              <a:spLocks/>
            </p:cNvSpPr>
            <p:nvPr/>
          </p:nvSpPr>
          <p:spPr bwMode="auto">
            <a:xfrm>
              <a:off x="3399" y="1943"/>
              <a:ext cx="60" cy="60"/>
            </a:xfrm>
            <a:custGeom>
              <a:avLst/>
              <a:gdLst>
                <a:gd name="T0" fmla="*/ 30 w 120"/>
                <a:gd name="T1" fmla="*/ 16 h 120"/>
                <a:gd name="T2" fmla="*/ 16 w 120"/>
                <a:gd name="T3" fmla="*/ 0 h 120"/>
                <a:gd name="T4" fmla="*/ 0 w 120"/>
                <a:gd name="T5" fmla="*/ 16 h 120"/>
                <a:gd name="T6" fmla="*/ 16 w 120"/>
                <a:gd name="T7" fmla="*/ 30 h 120"/>
                <a:gd name="T8" fmla="*/ 30 w 120"/>
                <a:gd name="T9" fmla="*/ 16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120">
                  <a:moveTo>
                    <a:pt x="120" y="61"/>
                  </a:moveTo>
                  <a:lnTo>
                    <a:pt x="61" y="0"/>
                  </a:lnTo>
                  <a:lnTo>
                    <a:pt x="0" y="61"/>
                  </a:lnTo>
                  <a:lnTo>
                    <a:pt x="61" y="120"/>
                  </a:lnTo>
                  <a:lnTo>
                    <a:pt x="120" y="61"/>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47" name="Freeform 359">
              <a:extLst>
                <a:ext uri="{FF2B5EF4-FFF2-40B4-BE49-F238E27FC236}">
                  <a16:creationId xmlns:a16="http://schemas.microsoft.com/office/drawing/2014/main" xmlns="" id="{C1046975-DEFB-15C2-D97F-4ABFF48260D4}"/>
                </a:ext>
              </a:extLst>
            </p:cNvPr>
            <p:cNvSpPr>
              <a:spLocks/>
            </p:cNvSpPr>
            <p:nvPr/>
          </p:nvSpPr>
          <p:spPr bwMode="auto">
            <a:xfrm>
              <a:off x="3842" y="1944"/>
              <a:ext cx="60" cy="60"/>
            </a:xfrm>
            <a:custGeom>
              <a:avLst/>
              <a:gdLst>
                <a:gd name="T0" fmla="*/ 0 w 120"/>
                <a:gd name="T1" fmla="*/ 15 h 120"/>
                <a:gd name="T2" fmla="*/ 15 w 120"/>
                <a:gd name="T3" fmla="*/ 30 h 120"/>
                <a:gd name="T4" fmla="*/ 30 w 120"/>
                <a:gd name="T5" fmla="*/ 15 h 120"/>
                <a:gd name="T6" fmla="*/ 15 w 120"/>
                <a:gd name="T7" fmla="*/ 0 h 120"/>
                <a:gd name="T8" fmla="*/ 0 w 120"/>
                <a:gd name="T9" fmla="*/ 15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120">
                  <a:moveTo>
                    <a:pt x="0" y="59"/>
                  </a:moveTo>
                  <a:lnTo>
                    <a:pt x="59" y="120"/>
                  </a:lnTo>
                  <a:lnTo>
                    <a:pt x="120" y="59"/>
                  </a:lnTo>
                  <a:lnTo>
                    <a:pt x="59" y="0"/>
                  </a:lnTo>
                  <a:lnTo>
                    <a:pt x="0" y="59"/>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4594" name="Line 360">
            <a:extLst>
              <a:ext uri="{FF2B5EF4-FFF2-40B4-BE49-F238E27FC236}">
                <a16:creationId xmlns:a16="http://schemas.microsoft.com/office/drawing/2014/main" xmlns="" id="{C97F6357-BE9A-54A1-1800-8F9FA95E349F}"/>
              </a:ext>
            </a:extLst>
          </p:cNvPr>
          <p:cNvSpPr>
            <a:spLocks noChangeShapeType="1"/>
          </p:cNvSpPr>
          <p:nvPr/>
        </p:nvSpPr>
        <p:spPr bwMode="auto">
          <a:xfrm flipH="1">
            <a:off x="2074863" y="3849688"/>
            <a:ext cx="404812"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595" name="Line 361">
            <a:extLst>
              <a:ext uri="{FF2B5EF4-FFF2-40B4-BE49-F238E27FC236}">
                <a16:creationId xmlns:a16="http://schemas.microsoft.com/office/drawing/2014/main" xmlns="" id="{CD2B2398-B3FB-090F-7397-E50B7FF10494}"/>
              </a:ext>
            </a:extLst>
          </p:cNvPr>
          <p:cNvSpPr>
            <a:spLocks noChangeShapeType="1"/>
          </p:cNvSpPr>
          <p:nvPr/>
        </p:nvSpPr>
        <p:spPr bwMode="auto">
          <a:xfrm flipH="1">
            <a:off x="2479675" y="3849688"/>
            <a:ext cx="404813"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596" name="Line 362">
            <a:extLst>
              <a:ext uri="{FF2B5EF4-FFF2-40B4-BE49-F238E27FC236}">
                <a16:creationId xmlns:a16="http://schemas.microsoft.com/office/drawing/2014/main" xmlns="" id="{9CA98A20-1C85-E3A8-266D-CF1B2D95A4AF}"/>
              </a:ext>
            </a:extLst>
          </p:cNvPr>
          <p:cNvSpPr>
            <a:spLocks noChangeShapeType="1"/>
          </p:cNvSpPr>
          <p:nvPr/>
        </p:nvSpPr>
        <p:spPr bwMode="auto">
          <a:xfrm flipH="1">
            <a:off x="2889250" y="3849688"/>
            <a:ext cx="404813"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597" name="Line 363">
            <a:extLst>
              <a:ext uri="{FF2B5EF4-FFF2-40B4-BE49-F238E27FC236}">
                <a16:creationId xmlns:a16="http://schemas.microsoft.com/office/drawing/2014/main" xmlns="" id="{18ACEF71-6688-4CBF-4DEB-06A02EDDE1C5}"/>
              </a:ext>
            </a:extLst>
          </p:cNvPr>
          <p:cNvSpPr>
            <a:spLocks noChangeShapeType="1"/>
          </p:cNvSpPr>
          <p:nvPr/>
        </p:nvSpPr>
        <p:spPr bwMode="auto">
          <a:xfrm flipH="1">
            <a:off x="3294063" y="3849688"/>
            <a:ext cx="404812"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598" name="Line 364">
            <a:extLst>
              <a:ext uri="{FF2B5EF4-FFF2-40B4-BE49-F238E27FC236}">
                <a16:creationId xmlns:a16="http://schemas.microsoft.com/office/drawing/2014/main" xmlns="" id="{334F3FBF-FFDC-4230-3782-1FFE4DD8BE96}"/>
              </a:ext>
            </a:extLst>
          </p:cNvPr>
          <p:cNvSpPr>
            <a:spLocks noChangeShapeType="1"/>
          </p:cNvSpPr>
          <p:nvPr/>
        </p:nvSpPr>
        <p:spPr bwMode="auto">
          <a:xfrm flipH="1">
            <a:off x="3698875" y="3849688"/>
            <a:ext cx="404813"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599" name="Line 365">
            <a:extLst>
              <a:ext uri="{FF2B5EF4-FFF2-40B4-BE49-F238E27FC236}">
                <a16:creationId xmlns:a16="http://schemas.microsoft.com/office/drawing/2014/main" xmlns="" id="{3231CF38-228C-113B-5B48-39B67D5098DB}"/>
              </a:ext>
            </a:extLst>
          </p:cNvPr>
          <p:cNvSpPr>
            <a:spLocks noChangeShapeType="1"/>
          </p:cNvSpPr>
          <p:nvPr/>
        </p:nvSpPr>
        <p:spPr bwMode="auto">
          <a:xfrm flipH="1">
            <a:off x="4108450" y="3849688"/>
            <a:ext cx="404813"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600" name="Line 366">
            <a:extLst>
              <a:ext uri="{FF2B5EF4-FFF2-40B4-BE49-F238E27FC236}">
                <a16:creationId xmlns:a16="http://schemas.microsoft.com/office/drawing/2014/main" xmlns="" id="{7204174E-58DE-A197-1727-D799BA7BEE78}"/>
              </a:ext>
            </a:extLst>
          </p:cNvPr>
          <p:cNvSpPr>
            <a:spLocks noChangeShapeType="1"/>
          </p:cNvSpPr>
          <p:nvPr/>
        </p:nvSpPr>
        <p:spPr bwMode="auto">
          <a:xfrm flipH="1">
            <a:off x="4460875" y="3849688"/>
            <a:ext cx="404813"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601" name="Line 367">
            <a:extLst>
              <a:ext uri="{FF2B5EF4-FFF2-40B4-BE49-F238E27FC236}">
                <a16:creationId xmlns:a16="http://schemas.microsoft.com/office/drawing/2014/main" xmlns="" id="{A031B047-C919-A190-D1BB-2ADFD8968C49}"/>
              </a:ext>
            </a:extLst>
          </p:cNvPr>
          <p:cNvSpPr>
            <a:spLocks noChangeShapeType="1"/>
          </p:cNvSpPr>
          <p:nvPr/>
        </p:nvSpPr>
        <p:spPr bwMode="auto">
          <a:xfrm flipH="1">
            <a:off x="4865688" y="3849688"/>
            <a:ext cx="404812"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602" name="Line 368">
            <a:extLst>
              <a:ext uri="{FF2B5EF4-FFF2-40B4-BE49-F238E27FC236}">
                <a16:creationId xmlns:a16="http://schemas.microsoft.com/office/drawing/2014/main" xmlns="" id="{1B024CCA-4CD1-AFDD-0B0E-44581ECFD6C3}"/>
              </a:ext>
            </a:extLst>
          </p:cNvPr>
          <p:cNvSpPr>
            <a:spLocks noChangeShapeType="1"/>
          </p:cNvSpPr>
          <p:nvPr/>
        </p:nvSpPr>
        <p:spPr bwMode="auto">
          <a:xfrm flipH="1">
            <a:off x="5275263" y="3849688"/>
            <a:ext cx="404812"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603" name="Line 369">
            <a:extLst>
              <a:ext uri="{FF2B5EF4-FFF2-40B4-BE49-F238E27FC236}">
                <a16:creationId xmlns:a16="http://schemas.microsoft.com/office/drawing/2014/main" xmlns="" id="{5883A253-3765-E4A7-AD86-97FC94788FA0}"/>
              </a:ext>
            </a:extLst>
          </p:cNvPr>
          <p:cNvSpPr>
            <a:spLocks noChangeShapeType="1"/>
          </p:cNvSpPr>
          <p:nvPr/>
        </p:nvSpPr>
        <p:spPr bwMode="auto">
          <a:xfrm flipH="1">
            <a:off x="5656263" y="3854450"/>
            <a:ext cx="404812"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604" name="Line 370">
            <a:extLst>
              <a:ext uri="{FF2B5EF4-FFF2-40B4-BE49-F238E27FC236}">
                <a16:creationId xmlns:a16="http://schemas.microsoft.com/office/drawing/2014/main" xmlns="" id="{ABBF4A10-132B-95FB-2629-AF2507CAD823}"/>
              </a:ext>
            </a:extLst>
          </p:cNvPr>
          <p:cNvSpPr>
            <a:spLocks noChangeShapeType="1"/>
          </p:cNvSpPr>
          <p:nvPr/>
        </p:nvSpPr>
        <p:spPr bwMode="auto">
          <a:xfrm flipH="1">
            <a:off x="6037263" y="3854450"/>
            <a:ext cx="404812"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24605" name="Line 371">
            <a:extLst>
              <a:ext uri="{FF2B5EF4-FFF2-40B4-BE49-F238E27FC236}">
                <a16:creationId xmlns:a16="http://schemas.microsoft.com/office/drawing/2014/main" xmlns="" id="{797D27EA-B110-58C7-F51F-6E7605768613}"/>
              </a:ext>
            </a:extLst>
          </p:cNvPr>
          <p:cNvSpPr>
            <a:spLocks noChangeShapeType="1"/>
          </p:cNvSpPr>
          <p:nvPr/>
        </p:nvSpPr>
        <p:spPr bwMode="auto">
          <a:xfrm flipH="1">
            <a:off x="1670050" y="3854450"/>
            <a:ext cx="404813"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9">
            <a:extLst>
              <a:ext uri="{FF2B5EF4-FFF2-40B4-BE49-F238E27FC236}">
                <a16:creationId xmlns:a16="http://schemas.microsoft.com/office/drawing/2014/main" xmlns="" id="{51CCF5B2-B0D0-238F-52AA-B640772242ED}"/>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Typical Real time system example</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25603" name="Picture 6">
            <a:extLst>
              <a:ext uri="{FF2B5EF4-FFF2-40B4-BE49-F238E27FC236}">
                <a16:creationId xmlns:a16="http://schemas.microsoft.com/office/drawing/2014/main" xmlns="" id="{DFAA1692-222C-0B00-7270-18ECF5697E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Text Box 3">
            <a:extLst>
              <a:ext uri="{FF2B5EF4-FFF2-40B4-BE49-F238E27FC236}">
                <a16:creationId xmlns:a16="http://schemas.microsoft.com/office/drawing/2014/main" xmlns="" id="{912AC9B2-CF73-D4DD-A0D0-80626771BA3C}"/>
              </a:ext>
            </a:extLst>
          </p:cNvPr>
          <p:cNvSpPr txBox="1">
            <a:spLocks noChangeArrowheads="1"/>
          </p:cNvSpPr>
          <p:nvPr/>
        </p:nvSpPr>
        <p:spPr bwMode="auto">
          <a:xfrm>
            <a:off x="990600" y="2667000"/>
            <a:ext cx="1981200" cy="8318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2400">
                <a:latin typeface="Times New Roman" panose="02020603050405020304" pitchFamily="18" charset="0"/>
              </a:rPr>
              <a:t>Temperature sensor</a:t>
            </a:r>
          </a:p>
        </p:txBody>
      </p:sp>
      <p:sp>
        <p:nvSpPr>
          <p:cNvPr id="25605" name="Line 4">
            <a:extLst>
              <a:ext uri="{FF2B5EF4-FFF2-40B4-BE49-F238E27FC236}">
                <a16:creationId xmlns:a16="http://schemas.microsoft.com/office/drawing/2014/main" xmlns="" id="{E495D6A3-250E-9A6E-4E90-2BFD9C54E764}"/>
              </a:ext>
            </a:extLst>
          </p:cNvPr>
          <p:cNvSpPr>
            <a:spLocks noChangeShapeType="1"/>
          </p:cNvSpPr>
          <p:nvPr/>
        </p:nvSpPr>
        <p:spPr bwMode="auto">
          <a:xfrm>
            <a:off x="2971800" y="31242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06" name="Rectangle 5">
            <a:extLst>
              <a:ext uri="{FF2B5EF4-FFF2-40B4-BE49-F238E27FC236}">
                <a16:creationId xmlns:a16="http://schemas.microsoft.com/office/drawing/2014/main" xmlns="" id="{DADF9F85-A95B-D7C4-FC98-CD6F6F56E2ED}"/>
              </a:ext>
            </a:extLst>
          </p:cNvPr>
          <p:cNvSpPr>
            <a:spLocks noChangeArrowheads="1"/>
          </p:cNvSpPr>
          <p:nvPr/>
        </p:nvSpPr>
        <p:spPr bwMode="auto">
          <a:xfrm>
            <a:off x="3810000" y="2362200"/>
            <a:ext cx="3200400" cy="3733800"/>
          </a:xfrm>
          <a:prstGeom prst="rect">
            <a:avLst/>
          </a:prstGeom>
          <a:solidFill>
            <a:srgbClr val="C0C0C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5607" name="Rectangle 6">
            <a:extLst>
              <a:ext uri="{FF2B5EF4-FFF2-40B4-BE49-F238E27FC236}">
                <a16:creationId xmlns:a16="http://schemas.microsoft.com/office/drawing/2014/main" xmlns="" id="{99E31309-3695-2F7F-4A38-A9B057E73B98}"/>
              </a:ext>
            </a:extLst>
          </p:cNvPr>
          <p:cNvSpPr>
            <a:spLocks noChangeArrowheads="1"/>
          </p:cNvSpPr>
          <p:nvPr/>
        </p:nvSpPr>
        <p:spPr bwMode="auto">
          <a:xfrm>
            <a:off x="4572000" y="3505200"/>
            <a:ext cx="1600200" cy="914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2400">
                <a:latin typeface="Times New Roman" panose="02020603050405020304" pitchFamily="18" charset="0"/>
              </a:rPr>
              <a:t>CPU</a:t>
            </a:r>
          </a:p>
        </p:txBody>
      </p:sp>
      <p:sp>
        <p:nvSpPr>
          <p:cNvPr id="25608" name="Rectangle 7">
            <a:extLst>
              <a:ext uri="{FF2B5EF4-FFF2-40B4-BE49-F238E27FC236}">
                <a16:creationId xmlns:a16="http://schemas.microsoft.com/office/drawing/2014/main" xmlns="" id="{CB53F2D6-6928-BE5A-4C39-3A5372D97B7B}"/>
              </a:ext>
            </a:extLst>
          </p:cNvPr>
          <p:cNvSpPr>
            <a:spLocks noChangeArrowheads="1"/>
          </p:cNvSpPr>
          <p:nvPr/>
        </p:nvSpPr>
        <p:spPr bwMode="auto">
          <a:xfrm>
            <a:off x="4495800" y="4572000"/>
            <a:ext cx="182880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2400">
                <a:latin typeface="Times New Roman" panose="02020603050405020304" pitchFamily="18" charset="0"/>
              </a:rPr>
              <a:t>Memory</a:t>
            </a:r>
          </a:p>
        </p:txBody>
      </p:sp>
      <p:sp>
        <p:nvSpPr>
          <p:cNvPr id="25609" name="Rectangle 8">
            <a:extLst>
              <a:ext uri="{FF2B5EF4-FFF2-40B4-BE49-F238E27FC236}">
                <a16:creationId xmlns:a16="http://schemas.microsoft.com/office/drawing/2014/main" xmlns="" id="{D8690050-CE6E-623D-43C6-4F6E16431AA9}"/>
              </a:ext>
            </a:extLst>
          </p:cNvPr>
          <p:cNvSpPr>
            <a:spLocks noChangeArrowheads="1"/>
          </p:cNvSpPr>
          <p:nvPr/>
        </p:nvSpPr>
        <p:spPr bwMode="auto">
          <a:xfrm>
            <a:off x="3962400" y="2819400"/>
            <a:ext cx="15240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2400">
                <a:latin typeface="Times New Roman" panose="02020603050405020304" pitchFamily="18" charset="0"/>
              </a:rPr>
              <a:t>Input port</a:t>
            </a:r>
          </a:p>
        </p:txBody>
      </p:sp>
      <p:sp>
        <p:nvSpPr>
          <p:cNvPr id="25610" name="Rectangle 9">
            <a:extLst>
              <a:ext uri="{FF2B5EF4-FFF2-40B4-BE49-F238E27FC236}">
                <a16:creationId xmlns:a16="http://schemas.microsoft.com/office/drawing/2014/main" xmlns="" id="{3A0D9B1D-A3BB-A9B1-C55B-F99B143AC2FD}"/>
              </a:ext>
            </a:extLst>
          </p:cNvPr>
          <p:cNvSpPr>
            <a:spLocks noChangeArrowheads="1"/>
          </p:cNvSpPr>
          <p:nvPr/>
        </p:nvSpPr>
        <p:spPr bwMode="auto">
          <a:xfrm>
            <a:off x="4038600" y="5410200"/>
            <a:ext cx="15240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2400">
                <a:latin typeface="Times New Roman" panose="02020603050405020304" pitchFamily="18" charset="0"/>
              </a:rPr>
              <a:t>Output port</a:t>
            </a:r>
          </a:p>
        </p:txBody>
      </p:sp>
      <p:sp>
        <p:nvSpPr>
          <p:cNvPr id="25611" name="Line 10">
            <a:extLst>
              <a:ext uri="{FF2B5EF4-FFF2-40B4-BE49-F238E27FC236}">
                <a16:creationId xmlns:a16="http://schemas.microsoft.com/office/drawing/2014/main" xmlns="" id="{6DC3B373-5F6B-30A8-1565-C89ABCCA8EA8}"/>
              </a:ext>
            </a:extLst>
          </p:cNvPr>
          <p:cNvSpPr>
            <a:spLocks noChangeShapeType="1"/>
          </p:cNvSpPr>
          <p:nvPr/>
        </p:nvSpPr>
        <p:spPr bwMode="auto">
          <a:xfrm flipH="1">
            <a:off x="2971800" y="57912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2" name="Text Box 11">
            <a:extLst>
              <a:ext uri="{FF2B5EF4-FFF2-40B4-BE49-F238E27FC236}">
                <a16:creationId xmlns:a16="http://schemas.microsoft.com/office/drawing/2014/main" xmlns="" id="{72B62351-BF96-1D35-7AE2-AC2342785C0E}"/>
              </a:ext>
            </a:extLst>
          </p:cNvPr>
          <p:cNvSpPr txBox="1">
            <a:spLocks noChangeArrowheads="1"/>
          </p:cNvSpPr>
          <p:nvPr/>
        </p:nvSpPr>
        <p:spPr bwMode="auto">
          <a:xfrm>
            <a:off x="1905000" y="5562600"/>
            <a:ext cx="1066800"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2400">
                <a:latin typeface="Times New Roman" panose="02020603050405020304" pitchFamily="18" charset="0"/>
              </a:rPr>
              <a:t>Heater</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9">
            <a:extLst>
              <a:ext uri="{FF2B5EF4-FFF2-40B4-BE49-F238E27FC236}">
                <a16:creationId xmlns:a16="http://schemas.microsoft.com/office/drawing/2014/main" xmlns="" id="{2353F7E1-1A94-6936-F546-76B9A07F8E08}"/>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Typical Real time system example</a:t>
            </a:r>
            <a:r>
              <a:rPr lang="en-US" altLang="en-US" sz="3400">
                <a:solidFill>
                  <a:schemeClr val="tx1"/>
                </a:solidFill>
              </a:rPr>
              <a:t>	</a:t>
            </a: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26627" name="Picture 6">
            <a:extLst>
              <a:ext uri="{FF2B5EF4-FFF2-40B4-BE49-F238E27FC236}">
                <a16:creationId xmlns:a16="http://schemas.microsoft.com/office/drawing/2014/main" xmlns="" id="{E7F04684-D2AC-440D-C9CC-B188FD8801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Text Box 3">
            <a:extLst>
              <a:ext uri="{FF2B5EF4-FFF2-40B4-BE49-F238E27FC236}">
                <a16:creationId xmlns:a16="http://schemas.microsoft.com/office/drawing/2014/main" xmlns="" id="{8A067D5F-82DD-A3A7-8DA6-2A3B8351A990}"/>
              </a:ext>
            </a:extLst>
          </p:cNvPr>
          <p:cNvSpPr txBox="1">
            <a:spLocks noChangeArrowheads="1"/>
          </p:cNvSpPr>
          <p:nvPr/>
        </p:nvSpPr>
        <p:spPr bwMode="auto">
          <a:xfrm>
            <a:off x="1371600" y="1981200"/>
            <a:ext cx="6400800" cy="405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a:latin typeface="Times New Roman" panose="02020603050405020304" pitchFamily="18" charset="0"/>
              </a:rPr>
              <a:t>While true do</a:t>
            </a:r>
          </a:p>
          <a:p>
            <a:pPr eaLnBrk="1" hangingPunct="1">
              <a:spcBef>
                <a:spcPct val="50000"/>
              </a:spcBef>
            </a:pPr>
            <a:r>
              <a:rPr lang="en-GB" altLang="en-US">
                <a:latin typeface="Times New Roman" panose="02020603050405020304" pitchFamily="18" charset="0"/>
              </a:rPr>
              <a:t>	{</a:t>
            </a:r>
          </a:p>
          <a:p>
            <a:pPr eaLnBrk="1" hangingPunct="1">
              <a:spcBef>
                <a:spcPct val="50000"/>
              </a:spcBef>
            </a:pPr>
            <a:r>
              <a:rPr lang="en-GB" altLang="en-US">
                <a:latin typeface="Times New Roman" panose="02020603050405020304" pitchFamily="18" charset="0"/>
              </a:rPr>
              <a:t>	read temperature sensor</a:t>
            </a:r>
          </a:p>
          <a:p>
            <a:pPr eaLnBrk="1" hangingPunct="1">
              <a:spcBef>
                <a:spcPct val="50000"/>
              </a:spcBef>
            </a:pPr>
            <a:r>
              <a:rPr lang="en-GB" altLang="en-US">
                <a:latin typeface="Times New Roman" panose="02020603050405020304" pitchFamily="18" charset="0"/>
              </a:rPr>
              <a:t>	if temperature too high</a:t>
            </a:r>
          </a:p>
          <a:p>
            <a:pPr eaLnBrk="1" hangingPunct="1">
              <a:spcBef>
                <a:spcPct val="50000"/>
              </a:spcBef>
            </a:pPr>
            <a:r>
              <a:rPr lang="en-GB" altLang="en-US">
                <a:latin typeface="Times New Roman" panose="02020603050405020304" pitchFamily="18" charset="0"/>
              </a:rPr>
              <a:t>	     then turn off heater</a:t>
            </a:r>
          </a:p>
          <a:p>
            <a:pPr eaLnBrk="1" hangingPunct="1">
              <a:spcBef>
                <a:spcPct val="50000"/>
              </a:spcBef>
            </a:pPr>
            <a:r>
              <a:rPr lang="en-GB" altLang="en-US">
                <a:latin typeface="Times New Roman" panose="02020603050405020304" pitchFamily="18" charset="0"/>
              </a:rPr>
              <a:t>	     else if temperature too low</a:t>
            </a:r>
          </a:p>
          <a:p>
            <a:pPr eaLnBrk="1" hangingPunct="1">
              <a:spcBef>
                <a:spcPct val="50000"/>
              </a:spcBef>
            </a:pPr>
            <a:r>
              <a:rPr lang="en-GB" altLang="en-US">
                <a:latin typeface="Times New Roman" panose="02020603050405020304" pitchFamily="18" charset="0"/>
              </a:rPr>
              <a:t>	             then turn on heater</a:t>
            </a:r>
          </a:p>
          <a:p>
            <a:pPr eaLnBrk="1" hangingPunct="1">
              <a:spcBef>
                <a:spcPct val="50000"/>
              </a:spcBef>
            </a:pPr>
            <a:r>
              <a:rPr lang="en-GB" altLang="en-US">
                <a:latin typeface="Times New Roman" panose="02020603050405020304" pitchFamily="18" charset="0"/>
              </a:rPr>
              <a:t>                           else nothing</a:t>
            </a:r>
          </a:p>
          <a:p>
            <a:pPr eaLnBrk="1" hangingPunct="1">
              <a:spcBef>
                <a:spcPct val="50000"/>
              </a:spcBef>
            </a:pPr>
            <a:r>
              <a:rPr lang="en-GB" altLang="en-US">
                <a:latin typeface="Times New Roman" panose="02020603050405020304" pitchFamily="18" charset="0"/>
              </a:rPr>
              <a:t>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9">
            <a:extLst>
              <a:ext uri="{FF2B5EF4-FFF2-40B4-BE49-F238E27FC236}">
                <a16:creationId xmlns:a16="http://schemas.microsoft.com/office/drawing/2014/main" xmlns="" id="{582113B9-682C-4775-D07C-527F6068FAEC}"/>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b="1">
                <a:solidFill>
                  <a:schemeClr val="tx1"/>
                </a:solidFill>
              </a:rPr>
              <a:t>Applications of </a:t>
            </a:r>
            <a:r>
              <a:rPr lang="en-US" altLang="en-US" sz="3400" b="1">
                <a:solidFill>
                  <a:schemeClr val="tx1"/>
                </a:solidFill>
              </a:rPr>
              <a:t>RTES</a:t>
            </a: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a:p>
            <a:pPr>
              <a:buFont typeface="Wingdings 2" panose="05020102010507070707" pitchFamily="18" charset="2"/>
              <a:buNone/>
            </a:pPr>
            <a:endParaRPr lang="en-US" altLang="en-US" sz="3400">
              <a:solidFill>
                <a:schemeClr val="tx1"/>
              </a:solidFill>
            </a:endParaRPr>
          </a:p>
        </p:txBody>
      </p:sp>
      <p:pic>
        <p:nvPicPr>
          <p:cNvPr id="27651" name="Picture 6">
            <a:extLst>
              <a:ext uri="{FF2B5EF4-FFF2-40B4-BE49-F238E27FC236}">
                <a16:creationId xmlns:a16="http://schemas.microsoft.com/office/drawing/2014/main" xmlns="" id="{6AAF96BD-616F-FEE9-A8C6-6C46461EED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2" name="Picture 2">
            <a:extLst>
              <a:ext uri="{FF2B5EF4-FFF2-40B4-BE49-F238E27FC236}">
                <a16:creationId xmlns:a16="http://schemas.microsoft.com/office/drawing/2014/main" xmlns="" id="{1FF4005F-FD7C-5D6C-3606-A87FAD8EE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3838" y="1773238"/>
            <a:ext cx="6156325" cy="463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286000"/>
            <a:ext cx="8229600" cy="1862138"/>
          </a:xfrm>
          <a:prstGeom prst="rect">
            <a:avLst/>
          </a:prstGeom>
          <a:noFill/>
        </p:spPr>
        <p:txBody>
          <a:bodyPr>
            <a:spAutoFit/>
          </a:bodyPr>
          <a:lstStyle/>
          <a:p>
            <a:pPr algn="ctr" eaLnBrk="1" fontAlgn="auto" hangingPunct="1">
              <a:spcBef>
                <a:spcPts val="0"/>
              </a:spcBef>
              <a:spcAft>
                <a:spcPts val="0"/>
              </a:spcAft>
              <a:defRPr/>
            </a:pPr>
            <a:r>
              <a:rPr lang="en-US" sz="9600" b="1" dirty="0">
                <a:solidFill>
                  <a:schemeClr val="accent3">
                    <a:lumMod val="40000"/>
                    <a:lumOff val="60000"/>
                  </a:schemeClr>
                </a:solidFill>
                <a:latin typeface="Times New Roman" panose="02020603050405020304" pitchFamily="18" charset="0"/>
                <a:cs typeface="Times New Roman" panose="02020603050405020304" pitchFamily="18" charset="0"/>
              </a:rPr>
              <a:t>Thank</a:t>
            </a:r>
            <a:r>
              <a:rPr lang="en-US" sz="11500" b="1" dirty="0">
                <a:solidFill>
                  <a:schemeClr val="accent3">
                    <a:lumMod val="40000"/>
                    <a:lumOff val="60000"/>
                  </a:schemeClr>
                </a:solidFill>
                <a:latin typeface="+mn-lt"/>
                <a:cs typeface="+mn-cs"/>
              </a:rPr>
              <a:t>  you </a:t>
            </a:r>
          </a:p>
        </p:txBody>
      </p:sp>
    </p:spTree>
    <p:extLst>
      <p:ext uri="{BB962C8B-B14F-4D97-AF65-F5344CB8AC3E}">
        <p14:creationId xmlns:p14="http://schemas.microsoft.com/office/powerpoint/2010/main" val="371622397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6387</Words>
  <Application>Microsoft Office PowerPoint</Application>
  <PresentationFormat>On-screen Show (4:3)</PresentationFormat>
  <Paragraphs>733</Paragraphs>
  <Slides>91</Slides>
  <Notes>45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91</vt:i4>
      </vt:variant>
    </vt:vector>
  </HeadingPairs>
  <TitlesOfParts>
    <vt:vector size="97" baseType="lpstr">
      <vt:lpstr>Arial</vt:lpstr>
      <vt:lpstr>Calibri</vt:lpstr>
      <vt:lpstr>Times New Roman</vt:lpstr>
      <vt:lpstr>Wingdings</vt:lpstr>
      <vt:lpstr>Wingdings 2</vt:lpstr>
      <vt:lpstr>Office Theme</vt:lpstr>
      <vt:lpstr>PowerPoint Presentation</vt:lpstr>
      <vt:lpstr>Embedded system</vt:lpstr>
      <vt:lpstr>Embedded Processor?</vt:lpstr>
      <vt:lpstr>Types of Embedded Processors</vt:lpstr>
      <vt:lpstr>Microprocessor</vt:lpstr>
      <vt:lpstr>Microprocessor</vt:lpstr>
      <vt:lpstr>Microcontroller</vt:lpstr>
      <vt:lpstr>Microcontroller</vt:lpstr>
      <vt:lpstr>Microprocessor vs Microcontroller</vt:lpstr>
      <vt:lpstr>Characteristics of Embedded System</vt:lpstr>
      <vt:lpstr>Characteristics of Embedded System</vt:lpstr>
      <vt:lpstr>Applications of Embedded systems</vt:lpstr>
      <vt:lpstr>Applications of Embedded systems</vt:lpstr>
      <vt:lpstr>Introduction to Von Neumann Architecture</vt:lpstr>
      <vt:lpstr>Introduction to Harvard Architecture</vt:lpstr>
      <vt:lpstr>Difference Between Harvard an Von Neumann Architecture</vt:lpstr>
      <vt:lpstr>Embedded Systems Architecture</vt:lpstr>
      <vt:lpstr>Block Diagram of Embedded Systems Architecture</vt:lpstr>
      <vt:lpstr>Embedded Hardware Units and Devices in a System</vt:lpstr>
      <vt:lpstr>Embedded Hardware Units and Devices in a System</vt:lpstr>
      <vt:lpstr>Embedded Hardware Units and Devices in a System</vt:lpstr>
      <vt:lpstr>Embedded Software in a System</vt:lpstr>
      <vt:lpstr>Application Specific Integrated Circuit (ASIC)</vt:lpstr>
      <vt:lpstr>Types of ASIC</vt:lpstr>
      <vt:lpstr>Types of ASIC</vt:lpstr>
      <vt:lpstr>Standard Cell ASIC</vt:lpstr>
      <vt:lpstr>Gate Array ASIC</vt:lpstr>
      <vt:lpstr>Gate Array ASIC and Programmable ASIC</vt:lpstr>
      <vt:lpstr>Applications of ASIC</vt:lpstr>
      <vt:lpstr>Embedded Networking and Standards</vt:lpstr>
      <vt:lpstr>Embedded Networking and Standards</vt:lpstr>
      <vt:lpstr>Embedded Networking and Standards</vt:lpstr>
      <vt:lpstr>Serial Communication-RS232</vt:lpstr>
      <vt:lpstr>Serial Communication-RS232</vt:lpstr>
      <vt:lpstr>Serial Communication-RS232</vt:lpstr>
      <vt:lpstr>Serial Communication-RS232</vt:lpstr>
      <vt:lpstr>Serial Communication-RS485</vt:lpstr>
      <vt:lpstr>Difference Between RS 485 and RS 232</vt:lpstr>
      <vt:lpstr> Serial Peripheral Interface (SPI) </vt:lpstr>
      <vt:lpstr> Serial Peripheral Interface (SPI) </vt:lpstr>
      <vt:lpstr>I2C (Inter Integrated Circuit)</vt:lpstr>
      <vt:lpstr>I2C (Inter Integrated Circuit)</vt:lpstr>
      <vt:lpstr>I2C (Inter Integrated Circuit)</vt:lpstr>
      <vt:lpstr>USB (Universal Serial Bus)</vt:lpstr>
      <vt:lpstr>USB (Universal Serial Bus)</vt:lpstr>
      <vt:lpstr>USB (Universal Serial Bus)</vt:lpstr>
      <vt:lpstr>USB (Universal Serial Bus)</vt:lpstr>
      <vt:lpstr>USB (Universal Serial Bus)</vt:lpstr>
      <vt:lpstr>USB (Universal Serial Bus)</vt:lpstr>
      <vt:lpstr>USB (Universal Serial Bus)</vt:lpstr>
      <vt:lpstr>USB (Universal Serial Bus)</vt:lpstr>
      <vt:lpstr>Bluetooth</vt:lpstr>
      <vt:lpstr>Bluetooth</vt:lpstr>
      <vt:lpstr>Bluetooth</vt:lpstr>
      <vt:lpstr>Bluetooth</vt:lpstr>
      <vt:lpstr>Bluetooth</vt:lpstr>
      <vt:lpstr>Bluetooth</vt:lpstr>
      <vt:lpstr>Bluetooth</vt:lpstr>
      <vt:lpstr>Zigbee</vt:lpstr>
      <vt:lpstr>Zigbee</vt:lpstr>
      <vt:lpstr>Zigbee</vt:lpstr>
      <vt:lpstr>Zigbee</vt:lpstr>
      <vt:lpstr>Zigbee</vt:lpstr>
      <vt:lpstr>Zigbee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Microsoft account</cp:lastModifiedBy>
  <cp:revision>28</cp:revision>
  <dcterms:created xsi:type="dcterms:W3CDTF">2010-04-09T07:36:15Z</dcterms:created>
  <dcterms:modified xsi:type="dcterms:W3CDTF">2024-06-24T08:54:10Z</dcterms:modified>
</cp:coreProperties>
</file>