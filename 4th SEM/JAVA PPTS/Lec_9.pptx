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76" r:id="rId10"/>
    <p:sldId id="264" r:id="rId11"/>
    <p:sldId id="265" r:id="rId12"/>
    <p:sldId id="266" r:id="rId13"/>
    <p:sldId id="267" r:id="rId14"/>
    <p:sldId id="277" r:id="rId15"/>
    <p:sldId id="268" r:id="rId16"/>
    <p:sldId id="269" r:id="rId17"/>
    <p:sldId id="270" r:id="rId18"/>
    <p:sldId id="271" r:id="rId19"/>
    <p:sldId id="272" r:id="rId20"/>
    <p:sldId id="273" r:id="rId21"/>
    <p:sldId id="274" r:id="rId22"/>
    <p:sldId id="275"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208" autoAdjust="0"/>
  </p:normalViewPr>
  <p:slideViewPr>
    <p:cSldViewPr>
      <p:cViewPr varScale="1">
        <p:scale>
          <a:sx n="78" d="100"/>
          <a:sy n="78" d="100"/>
        </p:scale>
        <p:origin x="-157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5F3882-075C-44A8-8C10-8A15F396A177}" type="datetimeFigureOut">
              <a:rPr lang="en-IN" smtClean="0"/>
              <a:t>21-01-2025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6005B7-28D2-4A9C-B4DE-1B141B1B0256}" type="slidenum">
              <a:rPr lang="en-IN" smtClean="0"/>
              <a:t>‹#›</a:t>
            </a:fld>
            <a:endParaRPr lang="en-IN"/>
          </a:p>
        </p:txBody>
      </p:sp>
    </p:spTree>
    <p:extLst>
      <p:ext uri="{BB962C8B-B14F-4D97-AF65-F5344CB8AC3E}">
        <p14:creationId xmlns:p14="http://schemas.microsoft.com/office/powerpoint/2010/main" val="355018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Output - 1 John 20000 200.0</a:t>
            </a:r>
            <a:endParaRPr lang="en-IN" dirty="0"/>
          </a:p>
        </p:txBody>
      </p:sp>
      <p:sp>
        <p:nvSpPr>
          <p:cNvPr id="4" name="Slide Number Placeholder 3"/>
          <p:cNvSpPr>
            <a:spLocks noGrp="1"/>
          </p:cNvSpPr>
          <p:nvPr>
            <p:ph type="sldNum" sz="quarter" idx="10"/>
          </p:nvPr>
        </p:nvSpPr>
        <p:spPr/>
        <p:txBody>
          <a:bodyPr/>
          <a:lstStyle/>
          <a:p>
            <a:fld id="{1C6005B7-28D2-4A9C-B4DE-1B141B1B0256}" type="slidenum">
              <a:rPr lang="en-IN" smtClean="0"/>
              <a:t>7</a:t>
            </a:fld>
            <a:endParaRPr lang="en-IN"/>
          </a:p>
        </p:txBody>
      </p:sp>
    </p:spTree>
    <p:extLst>
      <p:ext uri="{BB962C8B-B14F-4D97-AF65-F5344CB8AC3E}">
        <p14:creationId xmlns:p14="http://schemas.microsoft.com/office/powerpoint/2010/main" val="2258679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2 3 21.0 24.0</a:t>
            </a:r>
          </a:p>
          <a:p>
            <a:endParaRPr lang="en-IN" dirty="0"/>
          </a:p>
        </p:txBody>
      </p:sp>
      <p:sp>
        <p:nvSpPr>
          <p:cNvPr id="4" name="Slide Number Placeholder 3"/>
          <p:cNvSpPr>
            <a:spLocks noGrp="1"/>
          </p:cNvSpPr>
          <p:nvPr>
            <p:ph type="sldNum" sz="quarter" idx="10"/>
          </p:nvPr>
        </p:nvSpPr>
        <p:spPr/>
        <p:txBody>
          <a:bodyPr/>
          <a:lstStyle/>
          <a:p>
            <a:fld id="{1C6005B7-28D2-4A9C-B4DE-1B141B1B0256}" type="slidenum">
              <a:rPr lang="en-IN" smtClean="0"/>
              <a:t>41</a:t>
            </a:fld>
            <a:endParaRPr lang="en-IN"/>
          </a:p>
        </p:txBody>
      </p:sp>
    </p:spTree>
    <p:extLst>
      <p:ext uri="{BB962C8B-B14F-4D97-AF65-F5344CB8AC3E}">
        <p14:creationId xmlns:p14="http://schemas.microsoft.com/office/powerpoint/2010/main" val="1958370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Here when the code </a:t>
            </a:r>
            <a:r>
              <a:rPr lang="en-US" sz="1200" b="1" i="0" kern="1200" dirty="0" smtClean="0">
                <a:solidFill>
                  <a:schemeClr val="tx1"/>
                </a:solidFill>
                <a:effectLst/>
                <a:latin typeface="+mn-lt"/>
                <a:ea typeface="+mn-ea"/>
                <a:cs typeface="+mn-cs"/>
              </a:rPr>
              <a:t>double sum2 = t1.sum(10);</a:t>
            </a:r>
            <a:r>
              <a:rPr lang="en-US" sz="1200" b="0" i="0" kern="1200" dirty="0" smtClean="0">
                <a:solidFill>
                  <a:schemeClr val="tx1"/>
                </a:solidFill>
                <a:effectLst/>
                <a:latin typeface="+mn-lt"/>
                <a:ea typeface="+mn-ea"/>
                <a:cs typeface="+mn-cs"/>
              </a:rPr>
              <a:t> gets executed compiler will look for the version of sum that contain one parameter of </a:t>
            </a:r>
            <a:r>
              <a:rPr lang="en-US" sz="1200" b="0" i="0" kern="1200" dirty="0" err="1" smtClean="0">
                <a:solidFill>
                  <a:schemeClr val="tx1"/>
                </a:solidFill>
                <a:effectLst/>
                <a:latin typeface="+mn-lt"/>
                <a:ea typeface="+mn-ea"/>
                <a:cs typeface="+mn-cs"/>
              </a:rPr>
              <a:t>int</a:t>
            </a:r>
            <a:r>
              <a:rPr lang="en-US" sz="1200" b="0" i="0" kern="1200" dirty="0" smtClean="0">
                <a:solidFill>
                  <a:schemeClr val="tx1"/>
                </a:solidFill>
                <a:effectLst/>
                <a:latin typeface="+mn-lt"/>
                <a:ea typeface="+mn-ea"/>
                <a:cs typeface="+mn-cs"/>
              </a:rPr>
              <a:t> type, but there is no such sum method, So automatic type conversion take place and </a:t>
            </a:r>
            <a:r>
              <a:rPr lang="en-US" sz="1200" b="0" i="0" kern="1200" dirty="0" err="1" smtClean="0">
                <a:solidFill>
                  <a:schemeClr val="tx1"/>
                </a:solidFill>
                <a:effectLst/>
                <a:latin typeface="+mn-lt"/>
                <a:ea typeface="+mn-ea"/>
                <a:cs typeface="+mn-cs"/>
              </a:rPr>
              <a:t>int</a:t>
            </a:r>
            <a:r>
              <a:rPr lang="en-US" sz="1200" b="0" i="0" kern="1200" dirty="0" smtClean="0">
                <a:solidFill>
                  <a:schemeClr val="tx1"/>
                </a:solidFill>
                <a:effectLst/>
                <a:latin typeface="+mn-lt"/>
                <a:ea typeface="+mn-ea"/>
                <a:cs typeface="+mn-cs"/>
              </a:rPr>
              <a:t> value gets converted into double and version2 of sum gets call and return the result in sum2 variable.</a:t>
            </a:r>
            <a:endParaRPr lang="en-IN" dirty="0"/>
          </a:p>
        </p:txBody>
      </p:sp>
      <p:sp>
        <p:nvSpPr>
          <p:cNvPr id="4" name="Slide Number Placeholder 3"/>
          <p:cNvSpPr>
            <a:spLocks noGrp="1"/>
          </p:cNvSpPr>
          <p:nvPr>
            <p:ph type="sldNum" sz="quarter" idx="10"/>
          </p:nvPr>
        </p:nvSpPr>
        <p:spPr/>
        <p:txBody>
          <a:bodyPr/>
          <a:lstStyle/>
          <a:p>
            <a:fld id="{1C6005B7-28D2-4A9C-B4DE-1B141B1B0256}" type="slidenum">
              <a:rPr lang="en-IN" smtClean="0"/>
              <a:t>43</a:t>
            </a:fld>
            <a:endParaRPr lang="en-IN"/>
          </a:p>
        </p:txBody>
      </p:sp>
    </p:spTree>
    <p:extLst>
      <p:ext uri="{BB962C8B-B14F-4D97-AF65-F5344CB8AC3E}">
        <p14:creationId xmlns:p14="http://schemas.microsoft.com/office/powerpoint/2010/main" val="1078914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Both 10 and 20 are </a:t>
            </a:r>
            <a:r>
              <a:rPr lang="en-US" dirty="0" err="1" smtClean="0"/>
              <a:t>int</a:t>
            </a:r>
            <a:r>
              <a:rPr lang="en-US" dirty="0" smtClean="0"/>
              <a:t> values.</a:t>
            </a:r>
          </a:p>
          <a:p>
            <a:r>
              <a:rPr lang="en-US" dirty="0" smtClean="0"/>
              <a:t>The first method requires the second argument to be promoted from </a:t>
            </a:r>
            <a:r>
              <a:rPr lang="en-US" dirty="0" err="1" smtClean="0"/>
              <a:t>int</a:t>
            </a:r>
            <a:r>
              <a:rPr lang="en-US" dirty="0" smtClean="0"/>
              <a:t> to float.</a:t>
            </a:r>
          </a:p>
          <a:p>
            <a:r>
              <a:rPr lang="en-US" dirty="0" smtClean="0"/>
              <a:t>The second method requires the first argument to be promoted from </a:t>
            </a:r>
            <a:r>
              <a:rPr lang="en-US" dirty="0" err="1" smtClean="0"/>
              <a:t>int</a:t>
            </a:r>
            <a:r>
              <a:rPr lang="en-US" dirty="0" smtClean="0"/>
              <a:t> to float.</a:t>
            </a:r>
          </a:p>
          <a:p>
            <a:r>
              <a:rPr lang="en-US" dirty="0" smtClean="0"/>
              <a:t>Since </a:t>
            </a:r>
            <a:r>
              <a:rPr lang="en-US" b="1" dirty="0" smtClean="0"/>
              <a:t>both methods require type promotion</a:t>
            </a:r>
            <a:r>
              <a:rPr lang="en-US" dirty="0" smtClean="0"/>
              <a:t>, the compiler cannot decide which one to call and reports an error.</a:t>
            </a:r>
          </a:p>
          <a:p>
            <a:endParaRPr lang="en-IN" dirty="0"/>
          </a:p>
        </p:txBody>
      </p:sp>
      <p:sp>
        <p:nvSpPr>
          <p:cNvPr id="4" name="Slide Number Placeholder 3"/>
          <p:cNvSpPr>
            <a:spLocks noGrp="1"/>
          </p:cNvSpPr>
          <p:nvPr>
            <p:ph type="sldNum" sz="quarter" idx="10"/>
          </p:nvPr>
        </p:nvSpPr>
        <p:spPr/>
        <p:txBody>
          <a:bodyPr/>
          <a:lstStyle/>
          <a:p>
            <a:fld id="{1C6005B7-28D2-4A9C-B4DE-1B141B1B0256}" type="slidenum">
              <a:rPr lang="en-IN" smtClean="0"/>
              <a:t>45</a:t>
            </a:fld>
            <a:endParaRPr lang="en-IN"/>
          </a:p>
        </p:txBody>
      </p:sp>
    </p:spTree>
    <p:extLst>
      <p:ext uri="{BB962C8B-B14F-4D97-AF65-F5344CB8AC3E}">
        <p14:creationId xmlns:p14="http://schemas.microsoft.com/office/powerpoint/2010/main" val="2380014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Number of arguments: 3</a:t>
            </a:r>
          </a:p>
          <a:p>
            <a:r>
              <a:rPr lang="en-US" dirty="0" smtClean="0"/>
              <a:t>1</a:t>
            </a:r>
          </a:p>
          <a:p>
            <a:r>
              <a:rPr lang="en-US" dirty="0" smtClean="0"/>
              <a:t>2</a:t>
            </a:r>
          </a:p>
          <a:p>
            <a:r>
              <a:rPr lang="en-US" dirty="0" smtClean="0"/>
              <a:t>3</a:t>
            </a:r>
          </a:p>
          <a:p>
            <a:r>
              <a:rPr lang="en-US" dirty="0" smtClean="0"/>
              <a:t>Number of arguments: 1</a:t>
            </a:r>
          </a:p>
          <a:p>
            <a:r>
              <a:rPr lang="en-US" dirty="0" smtClean="0"/>
              <a:t>10</a:t>
            </a:r>
          </a:p>
          <a:p>
            <a:r>
              <a:rPr lang="en-US" dirty="0" smtClean="0"/>
              <a:t>Number of arguments: 0</a:t>
            </a:r>
          </a:p>
          <a:p>
            <a:endParaRPr lang="en-IN" dirty="0"/>
          </a:p>
        </p:txBody>
      </p:sp>
      <p:sp>
        <p:nvSpPr>
          <p:cNvPr id="4" name="Slide Number Placeholder 3"/>
          <p:cNvSpPr>
            <a:spLocks noGrp="1"/>
          </p:cNvSpPr>
          <p:nvPr>
            <p:ph type="sldNum" sz="quarter" idx="10"/>
          </p:nvPr>
        </p:nvSpPr>
        <p:spPr/>
        <p:txBody>
          <a:bodyPr/>
          <a:lstStyle/>
          <a:p>
            <a:fld id="{1C6005B7-28D2-4A9C-B4DE-1B141B1B0256}" type="slidenum">
              <a:rPr lang="en-IN" smtClean="0"/>
              <a:t>48</a:t>
            </a:fld>
            <a:endParaRPr lang="en-IN"/>
          </a:p>
        </p:txBody>
      </p:sp>
    </p:spTree>
    <p:extLst>
      <p:ext uri="{BB962C8B-B14F-4D97-AF65-F5344CB8AC3E}">
        <p14:creationId xmlns:p14="http://schemas.microsoft.com/office/powerpoint/2010/main" val="1348030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a:t>
            </a:r>
            <a:r>
              <a:rPr lang="en-US" dirty="0" smtClean="0"/>
              <a:t>compiler doesn't know whether to convert d1.sum() to the </a:t>
            </a:r>
            <a:r>
              <a:rPr lang="en-US" dirty="0" err="1" smtClean="0"/>
              <a:t>boolean</a:t>
            </a:r>
            <a:r>
              <a:rPr lang="en-US" dirty="0" smtClean="0"/>
              <a:t>... version or the double... </a:t>
            </a:r>
            <a:r>
              <a:rPr lang="en-US" dirty="0" err="1" smtClean="0"/>
              <a:t>version.This</a:t>
            </a:r>
            <a:r>
              <a:rPr lang="en-US" dirty="0" smtClean="0"/>
              <a:t> results in a compilation error due to ambiguity.</a:t>
            </a:r>
            <a:endParaRPr lang="en-IN" dirty="0"/>
          </a:p>
        </p:txBody>
      </p:sp>
      <p:sp>
        <p:nvSpPr>
          <p:cNvPr id="4" name="Slide Number Placeholder 3"/>
          <p:cNvSpPr>
            <a:spLocks noGrp="1"/>
          </p:cNvSpPr>
          <p:nvPr>
            <p:ph type="sldNum" sz="quarter" idx="10"/>
          </p:nvPr>
        </p:nvSpPr>
        <p:spPr/>
        <p:txBody>
          <a:bodyPr/>
          <a:lstStyle/>
          <a:p>
            <a:fld id="{1C6005B7-28D2-4A9C-B4DE-1B141B1B0256}" type="slidenum">
              <a:rPr lang="en-IN" smtClean="0"/>
              <a:t>53</a:t>
            </a:fld>
            <a:endParaRPr lang="en-IN"/>
          </a:p>
        </p:txBody>
      </p:sp>
    </p:spTree>
    <p:extLst>
      <p:ext uri="{BB962C8B-B14F-4D97-AF65-F5344CB8AC3E}">
        <p14:creationId xmlns:p14="http://schemas.microsoft.com/office/powerpoint/2010/main" val="3763418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OOPS Intro</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6441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Class and Object</a:t>
            </a:r>
            <a:endParaRPr lang="en-IN" dirty="0"/>
          </a:p>
        </p:txBody>
      </p:sp>
      <p:sp>
        <p:nvSpPr>
          <p:cNvPr id="3" name="Content Placeholder 2"/>
          <p:cNvSpPr>
            <a:spLocks noGrp="1"/>
          </p:cNvSpPr>
          <p:nvPr>
            <p:ph idx="1"/>
          </p:nvPr>
        </p:nvSpPr>
        <p:spPr/>
        <p:txBody>
          <a:bodyPr>
            <a:normAutofit fontScale="85000" lnSpcReduction="20000"/>
          </a:bodyPr>
          <a:lstStyle/>
          <a:p>
            <a:r>
              <a:rPr lang="en-US" dirty="0"/>
              <a:t>As java is an object oriented programming language, everything should be within the class. A class is nothing but a collection of variables (also called fields or data) and methods (functions).</a:t>
            </a:r>
            <a:br>
              <a:rPr lang="en-US" dirty="0"/>
            </a:br>
            <a:r>
              <a:rPr lang="en-US" dirty="0"/>
              <a:t>Variables define state and methods define the </a:t>
            </a:r>
            <a:r>
              <a:rPr lang="en-US" dirty="0" smtClean="0"/>
              <a:t>behavior.</a:t>
            </a:r>
          </a:p>
          <a:p>
            <a:r>
              <a:rPr lang="en-US" dirty="0" smtClean="0"/>
              <a:t>A class acts </a:t>
            </a:r>
            <a:r>
              <a:rPr lang="en-US" dirty="0"/>
              <a:t>as a template (for example - employee) and object as instance (for example - John, Tom etc.) of that template</a:t>
            </a:r>
            <a:r>
              <a:rPr lang="en-US" dirty="0" smtClean="0"/>
              <a:t>.</a:t>
            </a:r>
          </a:p>
          <a:p>
            <a:r>
              <a:rPr lang="en-US" dirty="0" smtClean="0"/>
              <a:t>Or </a:t>
            </a:r>
            <a:r>
              <a:rPr lang="en-US" dirty="0"/>
              <a:t>we can say that class is a collection of objects of similar types (for example </a:t>
            </a:r>
            <a:r>
              <a:rPr lang="en-US" dirty="0" smtClean="0"/>
              <a:t>- </a:t>
            </a:r>
            <a:r>
              <a:rPr lang="en-US" dirty="0"/>
              <a:t>employee class can have objects like John, Tom </a:t>
            </a:r>
            <a:r>
              <a:rPr lang="en-US" dirty="0" err="1"/>
              <a:t>etc</a:t>
            </a:r>
            <a:r>
              <a:rPr lang="en-US" dirty="0"/>
              <a:t> </a:t>
            </a:r>
            <a:r>
              <a:rPr lang="en-US" dirty="0" smtClean="0"/>
              <a:t>(but </a:t>
            </a:r>
            <a:r>
              <a:rPr lang="en-US" dirty="0"/>
              <a:t>not tiger, mango </a:t>
            </a:r>
            <a:r>
              <a:rPr lang="en-US" dirty="0" err="1" smtClean="0"/>
              <a:t>etc</a:t>
            </a:r>
            <a:r>
              <a:rPr lang="en-US" dirty="0" smtClean="0"/>
              <a:t>).</a:t>
            </a:r>
            <a:endParaRPr lang="en-IN" dirty="0"/>
          </a:p>
        </p:txBody>
      </p:sp>
    </p:spTree>
    <p:extLst>
      <p:ext uri="{BB962C8B-B14F-4D97-AF65-F5344CB8AC3E}">
        <p14:creationId xmlns:p14="http://schemas.microsoft.com/office/powerpoint/2010/main" val="557670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400800"/>
          </a:xfrm>
        </p:spPr>
        <p:txBody>
          <a:bodyPr>
            <a:normAutofit fontScale="47500" lnSpcReduction="20000"/>
          </a:bodyPr>
          <a:lstStyle/>
          <a:p>
            <a:r>
              <a:rPr lang="en-US" b="1" dirty="0"/>
              <a:t>General Form of Class -</a:t>
            </a:r>
          </a:p>
          <a:p>
            <a:r>
              <a:rPr lang="en-US" dirty="0"/>
              <a:t>A class is declared using the keyword "class" followed by the user defined class name.</a:t>
            </a:r>
          </a:p>
          <a:p>
            <a:endParaRPr lang="en-US" dirty="0"/>
          </a:p>
          <a:p>
            <a:pPr marL="0" indent="0">
              <a:buNone/>
            </a:pPr>
            <a:r>
              <a:rPr lang="en-US" dirty="0"/>
              <a:t>class </a:t>
            </a:r>
            <a:r>
              <a:rPr lang="en-US" dirty="0" err="1"/>
              <a:t>Class_Name</a:t>
            </a:r>
            <a:endParaRPr lang="en-US" dirty="0"/>
          </a:p>
          <a:p>
            <a:pPr marL="0" indent="0">
              <a:buNone/>
            </a:pPr>
            <a:r>
              <a:rPr lang="en-US" dirty="0"/>
              <a:t>{</a:t>
            </a:r>
          </a:p>
          <a:p>
            <a:pPr marL="0" indent="0">
              <a:buNone/>
            </a:pPr>
            <a:r>
              <a:rPr lang="en-US" dirty="0"/>
              <a:t> </a:t>
            </a:r>
            <a:r>
              <a:rPr lang="en-US" dirty="0" err="1"/>
              <a:t>datatype</a:t>
            </a:r>
            <a:r>
              <a:rPr lang="en-US" dirty="0"/>
              <a:t> variable 1;</a:t>
            </a:r>
          </a:p>
          <a:p>
            <a:pPr marL="0" indent="0">
              <a:buNone/>
            </a:pPr>
            <a:r>
              <a:rPr lang="en-US" dirty="0"/>
              <a:t> </a:t>
            </a:r>
            <a:r>
              <a:rPr lang="en-US" dirty="0" err="1"/>
              <a:t>datatype</a:t>
            </a:r>
            <a:r>
              <a:rPr lang="en-US" dirty="0"/>
              <a:t> variable 2;</a:t>
            </a:r>
          </a:p>
          <a:p>
            <a:pPr marL="0" indent="0">
              <a:buNone/>
            </a:pPr>
            <a:r>
              <a:rPr lang="en-US" dirty="0"/>
              <a:t>  .</a:t>
            </a:r>
          </a:p>
          <a:p>
            <a:pPr marL="0" indent="0">
              <a:buNone/>
            </a:pPr>
            <a:r>
              <a:rPr lang="en-US" dirty="0"/>
              <a:t>  .</a:t>
            </a:r>
          </a:p>
          <a:p>
            <a:pPr marL="0" indent="0">
              <a:buNone/>
            </a:pPr>
            <a:r>
              <a:rPr lang="en-US" dirty="0"/>
              <a:t> </a:t>
            </a:r>
            <a:r>
              <a:rPr lang="en-US" dirty="0" err="1"/>
              <a:t>datatype</a:t>
            </a:r>
            <a:r>
              <a:rPr lang="en-US" dirty="0"/>
              <a:t> variable n;</a:t>
            </a:r>
          </a:p>
          <a:p>
            <a:pPr marL="0" indent="0">
              <a:buNone/>
            </a:pPr>
            <a:endParaRPr lang="en-US" dirty="0"/>
          </a:p>
          <a:p>
            <a:pPr marL="0" indent="0">
              <a:buNone/>
            </a:pPr>
            <a:r>
              <a:rPr lang="en-US" dirty="0"/>
              <a:t> </a:t>
            </a:r>
            <a:r>
              <a:rPr lang="en-US" dirty="0" err="1"/>
              <a:t>access_specifier</a:t>
            </a:r>
            <a:r>
              <a:rPr lang="en-US" dirty="0"/>
              <a:t>     </a:t>
            </a:r>
            <a:r>
              <a:rPr lang="en-US" dirty="0" err="1"/>
              <a:t>return_type</a:t>
            </a:r>
            <a:r>
              <a:rPr lang="en-US" dirty="0"/>
              <a:t>    </a:t>
            </a:r>
            <a:r>
              <a:rPr lang="en-US" dirty="0" err="1"/>
              <a:t>method_Name</a:t>
            </a:r>
            <a:r>
              <a:rPr lang="en-US" dirty="0"/>
              <a:t>(parameters...)</a:t>
            </a:r>
          </a:p>
          <a:p>
            <a:pPr marL="0" indent="0">
              <a:buNone/>
            </a:pPr>
            <a:r>
              <a:rPr lang="en-US" dirty="0"/>
              <a:t> {</a:t>
            </a:r>
          </a:p>
          <a:p>
            <a:pPr marL="0" indent="0">
              <a:buNone/>
            </a:pPr>
            <a:r>
              <a:rPr lang="en-US" dirty="0"/>
              <a:t>  //body of method</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a:t>
            </a:r>
            <a:r>
              <a:rPr lang="en-US" dirty="0" err="1"/>
              <a:t>access_specifier</a:t>
            </a:r>
            <a:r>
              <a:rPr lang="en-US" dirty="0"/>
              <a:t>     </a:t>
            </a:r>
            <a:r>
              <a:rPr lang="en-US" dirty="0" err="1"/>
              <a:t>return_type</a:t>
            </a:r>
            <a:r>
              <a:rPr lang="en-US" dirty="0"/>
              <a:t>    </a:t>
            </a:r>
            <a:r>
              <a:rPr lang="en-US" dirty="0" err="1"/>
              <a:t>method_Name</a:t>
            </a:r>
            <a:r>
              <a:rPr lang="en-US" dirty="0"/>
              <a:t>(parameters...)</a:t>
            </a:r>
          </a:p>
          <a:p>
            <a:pPr marL="0" indent="0">
              <a:buNone/>
            </a:pPr>
            <a:r>
              <a:rPr lang="en-US" dirty="0"/>
              <a:t>  {</a:t>
            </a:r>
          </a:p>
          <a:p>
            <a:pPr marL="0" indent="0">
              <a:buNone/>
            </a:pPr>
            <a:r>
              <a:rPr lang="en-US" dirty="0"/>
              <a:t>    //body of method</a:t>
            </a:r>
          </a:p>
          <a:p>
            <a:pPr marL="0" indent="0">
              <a:buNone/>
            </a:pPr>
            <a:r>
              <a:rPr lang="en-US" dirty="0"/>
              <a:t>  }</a:t>
            </a:r>
          </a:p>
          <a:p>
            <a:pPr marL="0" indent="0">
              <a:buNone/>
            </a:pPr>
            <a:r>
              <a:rPr lang="en-US" dirty="0"/>
              <a:t> } </a:t>
            </a:r>
          </a:p>
          <a:p>
            <a:endParaRPr lang="en-US" dirty="0"/>
          </a:p>
          <a:p>
            <a:r>
              <a:rPr lang="en-US" dirty="0"/>
              <a:t>A class can have any number of variables and methods.</a:t>
            </a:r>
          </a:p>
          <a:p>
            <a:r>
              <a:rPr lang="en-US" dirty="0"/>
              <a:t>Variables are called the instance variable because a new copy of these variables is created each time a new instance (object) of class created.</a:t>
            </a:r>
          </a:p>
          <a:p>
            <a:r>
              <a:rPr lang="en-US" dirty="0"/>
              <a:t>No memory is allocated for instance </a:t>
            </a:r>
            <a:r>
              <a:rPr lang="en-US" dirty="0" smtClean="0"/>
              <a:t>variables in a class.</a:t>
            </a:r>
            <a:endParaRPr lang="en-US" dirty="0"/>
          </a:p>
          <a:p>
            <a:r>
              <a:rPr lang="en-US" dirty="0"/>
              <a:t>Collectively variables and methods are called the members of the class.</a:t>
            </a:r>
          </a:p>
          <a:p>
            <a:endParaRPr lang="en-IN" dirty="0"/>
          </a:p>
        </p:txBody>
      </p:sp>
    </p:spTree>
    <p:extLst>
      <p:ext uri="{BB962C8B-B14F-4D97-AF65-F5344CB8AC3E}">
        <p14:creationId xmlns:p14="http://schemas.microsoft.com/office/powerpoint/2010/main" val="3768974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fontScale="55000" lnSpcReduction="20000"/>
          </a:bodyPr>
          <a:lstStyle/>
          <a:p>
            <a:r>
              <a:rPr lang="en-US" dirty="0"/>
              <a:t>Example -</a:t>
            </a:r>
          </a:p>
          <a:p>
            <a:endParaRPr lang="en-US" dirty="0"/>
          </a:p>
          <a:p>
            <a:pPr marL="0" indent="0">
              <a:buNone/>
            </a:pPr>
            <a:r>
              <a:rPr lang="en-US" dirty="0"/>
              <a:t>class Employee</a:t>
            </a:r>
          </a:p>
          <a:p>
            <a:pPr marL="0" indent="0">
              <a:buNone/>
            </a:pPr>
            <a:r>
              <a:rPr lang="en-US" dirty="0"/>
              <a:t>{</a:t>
            </a:r>
          </a:p>
          <a:p>
            <a:pPr marL="0" indent="0">
              <a:buNone/>
            </a:pPr>
            <a:r>
              <a:rPr lang="en-US" dirty="0"/>
              <a:t> </a:t>
            </a:r>
            <a:r>
              <a:rPr lang="en-US" dirty="0" err="1"/>
              <a:t>int</a:t>
            </a:r>
            <a:r>
              <a:rPr lang="en-US" dirty="0"/>
              <a:t> id;</a:t>
            </a:r>
          </a:p>
          <a:p>
            <a:pPr marL="0" indent="0">
              <a:buNone/>
            </a:pPr>
            <a:r>
              <a:rPr lang="en-US" dirty="0"/>
              <a:t> String name;</a:t>
            </a:r>
          </a:p>
          <a:p>
            <a:pPr marL="0" indent="0">
              <a:buNone/>
            </a:pPr>
            <a:r>
              <a:rPr lang="en-US" dirty="0"/>
              <a:t> </a:t>
            </a:r>
            <a:r>
              <a:rPr lang="en-US" dirty="0" err="1"/>
              <a:t>int</a:t>
            </a:r>
            <a:r>
              <a:rPr lang="en-US" dirty="0"/>
              <a:t> salary;</a:t>
            </a:r>
          </a:p>
          <a:p>
            <a:pPr marL="0" indent="0">
              <a:buNone/>
            </a:pPr>
            <a:r>
              <a:rPr lang="en-US" dirty="0"/>
              <a:t> float tax;</a:t>
            </a:r>
          </a:p>
          <a:p>
            <a:pPr marL="0" indent="0">
              <a:buNone/>
            </a:pPr>
            <a:r>
              <a:rPr lang="en-US" dirty="0"/>
              <a:t> </a:t>
            </a:r>
          </a:p>
          <a:p>
            <a:pPr marL="0" indent="0">
              <a:buNone/>
            </a:pPr>
            <a:r>
              <a:rPr lang="en-US" dirty="0"/>
              <a:t> public void </a:t>
            </a:r>
            <a:r>
              <a:rPr lang="en-US" dirty="0" err="1"/>
              <a:t>showData</a:t>
            </a:r>
            <a:r>
              <a:rPr lang="en-US" dirty="0"/>
              <a:t>()</a:t>
            </a:r>
          </a:p>
          <a:p>
            <a:pPr marL="0" indent="0">
              <a:buNone/>
            </a:pPr>
            <a:r>
              <a:rPr lang="en-US" dirty="0"/>
              <a:t> {</a:t>
            </a:r>
          </a:p>
          <a:p>
            <a:pPr marL="0" indent="0">
              <a:buNone/>
            </a:pPr>
            <a:r>
              <a:rPr lang="en-US" dirty="0"/>
              <a:t>  </a:t>
            </a:r>
            <a:r>
              <a:rPr lang="en-US" dirty="0" err="1"/>
              <a:t>System.out.println</a:t>
            </a:r>
            <a:r>
              <a:rPr lang="en-US" dirty="0"/>
              <a:t>(id+"  "+name+"   "+salary+"   "+tax);</a:t>
            </a:r>
          </a:p>
          <a:p>
            <a:pPr marL="0" indent="0">
              <a:buNone/>
            </a:pPr>
            <a:r>
              <a:rPr lang="en-US" dirty="0"/>
              <a:t> }</a:t>
            </a:r>
          </a:p>
          <a:p>
            <a:pPr marL="0" indent="0">
              <a:buNone/>
            </a:pPr>
            <a:r>
              <a:rPr lang="en-US" dirty="0"/>
              <a:t>}</a:t>
            </a:r>
          </a:p>
          <a:p>
            <a:endParaRPr lang="en-US" dirty="0"/>
          </a:p>
          <a:p>
            <a:endParaRPr lang="en-US" dirty="0"/>
          </a:p>
          <a:p>
            <a:r>
              <a:rPr lang="en-US" dirty="0"/>
              <a:t>As we already know class does not exist physically, only objects exist physically. So by defining Employee class we only create a template and that does </a:t>
            </a:r>
            <a:r>
              <a:rPr lang="en-US" dirty="0" smtClean="0"/>
              <a:t>not allocate any memory until </a:t>
            </a:r>
            <a:r>
              <a:rPr lang="en-US" dirty="0"/>
              <a:t>we create objects of that class.</a:t>
            </a:r>
          </a:p>
          <a:p>
            <a:r>
              <a:rPr lang="en-US" dirty="0"/>
              <a:t>Object of a class can be created as follows -</a:t>
            </a:r>
          </a:p>
          <a:p>
            <a:r>
              <a:rPr lang="en-US" dirty="0" err="1"/>
              <a:t>Class_Name</a:t>
            </a:r>
            <a:r>
              <a:rPr lang="en-US" dirty="0"/>
              <a:t>  </a:t>
            </a:r>
            <a:r>
              <a:rPr lang="en-US" dirty="0" err="1"/>
              <a:t>object_name</a:t>
            </a:r>
            <a:r>
              <a:rPr lang="en-US" dirty="0"/>
              <a:t> = new </a:t>
            </a:r>
            <a:r>
              <a:rPr lang="en-US" dirty="0" err="1"/>
              <a:t>Class_Name</a:t>
            </a:r>
            <a:r>
              <a:rPr lang="en-US" dirty="0"/>
              <a:t>();</a:t>
            </a:r>
          </a:p>
          <a:p>
            <a:endParaRPr lang="en-IN" dirty="0"/>
          </a:p>
        </p:txBody>
      </p:sp>
    </p:spTree>
    <p:extLst>
      <p:ext uri="{BB962C8B-B14F-4D97-AF65-F5344CB8AC3E}">
        <p14:creationId xmlns:p14="http://schemas.microsoft.com/office/powerpoint/2010/main" val="3421547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800" dirty="0"/>
              <a:t>So for employee class we can create object as follows -</a:t>
            </a:r>
          </a:p>
          <a:p>
            <a:r>
              <a:rPr lang="en-US" sz="2800" dirty="0"/>
              <a:t>Employee emp1 = new Employee();</a:t>
            </a:r>
          </a:p>
          <a:p>
            <a:r>
              <a:rPr lang="en-US" sz="2800" dirty="0"/>
              <a:t>Objects in java are created using the new keyword, It dynamically allocate memory for object and return a reference to that object. The reference is nothing but the address of the object in memory.</a:t>
            </a:r>
          </a:p>
          <a:p>
            <a:r>
              <a:rPr lang="en-US" sz="2800" dirty="0"/>
              <a:t>Employee emp1;   //   declaring object</a:t>
            </a:r>
            <a:endParaRPr lang="en-IN"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648200"/>
            <a:ext cx="5791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547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a:noAutofit/>
          </a:bodyPr>
          <a:lstStyle/>
          <a:p>
            <a:r>
              <a:rPr lang="en-US" sz="2000" dirty="0"/>
              <a:t>emp1 = new Employee();  </a:t>
            </a:r>
          </a:p>
          <a:p>
            <a:r>
              <a:rPr lang="en-US" sz="2000" dirty="0"/>
              <a:t>//  allocate memory and return address of </a:t>
            </a:r>
            <a:r>
              <a:rPr lang="en-US" sz="2000" dirty="0" smtClean="0"/>
              <a:t>object, </a:t>
            </a:r>
            <a:r>
              <a:rPr lang="en-US" sz="2000" dirty="0"/>
              <a:t>that is received in </a:t>
            </a:r>
            <a:r>
              <a:rPr lang="en-US" sz="2000" dirty="0" smtClean="0"/>
              <a:t>emp1.</a:t>
            </a:r>
          </a:p>
          <a:p>
            <a:endParaRPr lang="en-US" sz="2000" dirty="0"/>
          </a:p>
          <a:p>
            <a:endParaRPr lang="en-US" sz="2000" dirty="0" smtClean="0"/>
          </a:p>
          <a:p>
            <a:endParaRPr lang="en-US" sz="2000" dirty="0" smtClean="0"/>
          </a:p>
          <a:p>
            <a:endParaRPr lang="en-US" sz="2000" dirty="0"/>
          </a:p>
          <a:p>
            <a:endParaRPr lang="en-US" sz="2000" dirty="0" smtClean="0"/>
          </a:p>
          <a:p>
            <a:r>
              <a:rPr lang="en-US" sz="2000" dirty="0" smtClean="0"/>
              <a:t>As </a:t>
            </a:r>
            <a:r>
              <a:rPr lang="en-US" sz="2000" dirty="0"/>
              <a:t>shown above when object is created a separate copy of instance variables is created for that object and also the memory is also allocated for these variables. We can create any number of objects of a given class and each class will have their own separate copy of instance variables</a:t>
            </a:r>
            <a:r>
              <a:rPr lang="en-US" sz="2000" dirty="0" smtClean="0"/>
              <a:t>.</a:t>
            </a:r>
          </a:p>
          <a:p>
            <a:endParaRPr lang="en-US" sz="2000" dirty="0" smtClean="0"/>
          </a:p>
          <a:p>
            <a:r>
              <a:rPr lang="en-US" sz="2000" dirty="0" smtClean="0"/>
              <a:t>To </a:t>
            </a:r>
            <a:r>
              <a:rPr lang="en-US" sz="2000" dirty="0"/>
              <a:t>access the variables and methods associated with an object we use dot(.) operator.</a:t>
            </a:r>
            <a:br>
              <a:rPr lang="en-US" sz="2000" dirty="0"/>
            </a:br>
            <a:r>
              <a:rPr lang="en-US" sz="2000" dirty="0"/>
              <a:t>For example we can assign the value "John" to emp1's name as follows </a:t>
            </a:r>
            <a:r>
              <a:rPr lang="en-US" sz="2000" dirty="0" smtClean="0"/>
              <a:t>–</a:t>
            </a:r>
          </a:p>
          <a:p>
            <a:r>
              <a:rPr lang="en-US" sz="2000" b="1" dirty="0" smtClean="0"/>
              <a:t>emp1.name</a:t>
            </a:r>
            <a:r>
              <a:rPr lang="en-US" sz="2000" b="1" dirty="0"/>
              <a:t>="John";</a:t>
            </a:r>
            <a:endParaRPr lang="en-US" sz="2000" dirty="0" smtClean="0"/>
          </a:p>
          <a:p>
            <a:endParaRPr lang="en-IN" sz="2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52600"/>
            <a:ext cx="6248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547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40000" lnSpcReduction="20000"/>
          </a:bodyPr>
          <a:lstStyle/>
          <a:p>
            <a:r>
              <a:rPr lang="en-IN" dirty="0" smtClean="0"/>
              <a:t>Example – </a:t>
            </a:r>
          </a:p>
          <a:p>
            <a:pPr marL="0" indent="0">
              <a:buNone/>
            </a:pPr>
            <a:r>
              <a:rPr lang="en-IN" dirty="0"/>
              <a:t>class Employee</a:t>
            </a:r>
          </a:p>
          <a:p>
            <a:pPr marL="0" indent="0">
              <a:buNone/>
            </a:pPr>
            <a:r>
              <a:rPr lang="en-IN" dirty="0"/>
              <a:t> {</a:t>
            </a:r>
          </a:p>
          <a:p>
            <a:pPr marL="0" indent="0">
              <a:buNone/>
            </a:pPr>
            <a:r>
              <a:rPr lang="en-IN" dirty="0"/>
              <a:t>  </a:t>
            </a:r>
            <a:r>
              <a:rPr lang="en-IN" dirty="0" err="1"/>
              <a:t>int</a:t>
            </a:r>
            <a:r>
              <a:rPr lang="en-IN" dirty="0"/>
              <a:t> id;</a:t>
            </a:r>
          </a:p>
          <a:p>
            <a:pPr marL="0" indent="0">
              <a:buNone/>
            </a:pPr>
            <a:r>
              <a:rPr lang="en-IN" dirty="0"/>
              <a:t>  String name;</a:t>
            </a:r>
          </a:p>
          <a:p>
            <a:pPr marL="0" indent="0">
              <a:buNone/>
            </a:pPr>
            <a:r>
              <a:rPr lang="en-IN" dirty="0"/>
              <a:t>  </a:t>
            </a:r>
            <a:r>
              <a:rPr lang="en-IN" dirty="0" err="1"/>
              <a:t>int</a:t>
            </a:r>
            <a:r>
              <a:rPr lang="en-IN" dirty="0"/>
              <a:t> salary;</a:t>
            </a:r>
          </a:p>
          <a:p>
            <a:pPr marL="0" indent="0">
              <a:buNone/>
            </a:pPr>
            <a:r>
              <a:rPr lang="en-IN" dirty="0"/>
              <a:t>  float tax;</a:t>
            </a:r>
          </a:p>
          <a:p>
            <a:pPr marL="0" indent="0">
              <a:buNone/>
            </a:pPr>
            <a:r>
              <a:rPr lang="en-IN" dirty="0"/>
              <a:t>  public void </a:t>
            </a:r>
            <a:r>
              <a:rPr lang="en-IN" dirty="0" err="1"/>
              <a:t>showData</a:t>
            </a:r>
            <a:r>
              <a:rPr lang="en-IN" dirty="0"/>
              <a:t>()</a:t>
            </a:r>
          </a:p>
          <a:p>
            <a:pPr marL="0" indent="0">
              <a:buNone/>
            </a:pPr>
            <a:r>
              <a:rPr lang="en-IN" dirty="0"/>
              <a:t>  {</a:t>
            </a:r>
          </a:p>
          <a:p>
            <a:pPr marL="0" indent="0">
              <a:buNone/>
            </a:pPr>
            <a:r>
              <a:rPr lang="en-IN" dirty="0"/>
              <a:t>   </a:t>
            </a:r>
            <a:r>
              <a:rPr lang="en-IN" dirty="0" err="1"/>
              <a:t>System.out.println</a:t>
            </a:r>
            <a:r>
              <a:rPr lang="en-IN" dirty="0"/>
              <a:t>(id+"  "+name+"  "+salary+"  "+tax);</a:t>
            </a:r>
          </a:p>
          <a:p>
            <a:pPr marL="0" indent="0">
              <a:buNone/>
            </a:pPr>
            <a:r>
              <a:rPr lang="en-IN" dirty="0"/>
              <a:t>  }</a:t>
            </a:r>
          </a:p>
          <a:p>
            <a:pPr marL="0" indent="0">
              <a:buNone/>
            </a:pPr>
            <a:r>
              <a:rPr lang="en-IN" dirty="0"/>
              <a:t> }</a:t>
            </a:r>
          </a:p>
          <a:p>
            <a:pPr marL="0" indent="0">
              <a:buNone/>
            </a:pPr>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Employee emp1 = new Employee();</a:t>
            </a:r>
          </a:p>
          <a:p>
            <a:pPr marL="0" indent="0">
              <a:buNone/>
            </a:pPr>
            <a:r>
              <a:rPr lang="en-IN" dirty="0"/>
              <a:t>  emp1.id = 1;    // accessing variables of emp1 object</a:t>
            </a:r>
          </a:p>
          <a:p>
            <a:pPr marL="0" indent="0">
              <a:buNone/>
            </a:pPr>
            <a:r>
              <a:rPr lang="en-IN" dirty="0"/>
              <a:t>  emp1.name="John";</a:t>
            </a:r>
          </a:p>
          <a:p>
            <a:pPr marL="0" indent="0">
              <a:buNone/>
            </a:pPr>
            <a:r>
              <a:rPr lang="en-IN" dirty="0"/>
              <a:t>  emp1.salary=20000;</a:t>
            </a:r>
          </a:p>
          <a:p>
            <a:pPr marL="0" indent="0">
              <a:buNone/>
            </a:pPr>
            <a:r>
              <a:rPr lang="en-IN" dirty="0"/>
              <a:t>  emp1.tax = 200;</a:t>
            </a:r>
          </a:p>
          <a:p>
            <a:pPr marL="0" indent="0">
              <a:buNone/>
            </a:pPr>
            <a:r>
              <a:rPr lang="en-IN" dirty="0"/>
              <a:t>  emp1.showData();   // accessing method</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421547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b="1" dirty="0"/>
              <a:t>Note - </a:t>
            </a:r>
            <a:r>
              <a:rPr lang="en-US" dirty="0"/>
              <a:t>We can define any number of classes in a single notepad file, but only one class can be public. And we have to save the file with name of that class only. So here we have to save the file with the name 'Demo</a:t>
            </a:r>
            <a:r>
              <a:rPr lang="en-US" dirty="0" smtClean="0"/>
              <a:t>'.</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9824" y="3454940"/>
            <a:ext cx="6157913"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547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 Encapsulation</a:t>
            </a:r>
            <a:br>
              <a:rPr lang="en-IN" dirty="0"/>
            </a:br>
            <a:endParaRPr lang="en-IN" dirty="0"/>
          </a:p>
        </p:txBody>
      </p:sp>
      <p:sp>
        <p:nvSpPr>
          <p:cNvPr id="3" name="Content Placeholder 2"/>
          <p:cNvSpPr>
            <a:spLocks noGrp="1"/>
          </p:cNvSpPr>
          <p:nvPr>
            <p:ph idx="1"/>
          </p:nvPr>
        </p:nvSpPr>
        <p:spPr>
          <a:xfrm>
            <a:off x="457200" y="1600200"/>
            <a:ext cx="8229600" cy="4800600"/>
          </a:xfrm>
        </p:spPr>
        <p:txBody>
          <a:bodyPr>
            <a:normAutofit fontScale="62500" lnSpcReduction="20000"/>
          </a:bodyPr>
          <a:lstStyle/>
          <a:p>
            <a:r>
              <a:rPr lang="en-US" b="1" dirty="0"/>
              <a:t>Encapsulation</a:t>
            </a:r>
            <a:r>
              <a:rPr lang="en-US" dirty="0"/>
              <a:t> means "to put something in a capsule (a wrapper)", so that it is not directly accessible to outside world</a:t>
            </a:r>
            <a:r>
              <a:rPr lang="en-US" dirty="0" smtClean="0"/>
              <a:t>.</a:t>
            </a:r>
          </a:p>
          <a:p>
            <a:endParaRPr lang="en-US" dirty="0" smtClean="0"/>
          </a:p>
          <a:p>
            <a:r>
              <a:rPr lang="en-US" dirty="0" smtClean="0"/>
              <a:t>For </a:t>
            </a:r>
            <a:r>
              <a:rPr lang="en-US" dirty="0"/>
              <a:t>example like medicine capsule, the medicine within capsule wrapper is not accessible until capsule is dipped in some liquid. I.e. to access medicine within capsule wrapper we have to follow certain procedure (rules and regulations</a:t>
            </a:r>
            <a:r>
              <a:rPr lang="en-US" dirty="0" smtClean="0"/>
              <a:t>).</a:t>
            </a:r>
          </a:p>
          <a:p>
            <a:endParaRPr lang="en-US" dirty="0"/>
          </a:p>
          <a:p>
            <a:r>
              <a:rPr lang="en-US" dirty="0" smtClean="0"/>
              <a:t>In </a:t>
            </a:r>
            <a:r>
              <a:rPr lang="en-US" dirty="0"/>
              <a:t>the same way Data Encapsulation means to put data (variables) in some wrapper so that it is not directly accessible to outsiders. The wrapper here will be the private access </a:t>
            </a:r>
            <a:r>
              <a:rPr lang="en-US" dirty="0" err="1"/>
              <a:t>specifiers</a:t>
            </a:r>
            <a:r>
              <a:rPr lang="en-US" dirty="0"/>
              <a:t> i.e. declare variables as private so that they are not accessible outside the class. This process of hiding data from outsiders is known as </a:t>
            </a:r>
            <a:r>
              <a:rPr lang="en-US" b="1" dirty="0"/>
              <a:t>Data Hiding</a:t>
            </a:r>
            <a:r>
              <a:rPr lang="en-US" dirty="0"/>
              <a:t>. And if any user outside the class wants to access encapsulated data then he has to follow certain rules and regulations and these rules and regulations are defined by public </a:t>
            </a:r>
            <a:r>
              <a:rPr lang="en-US" dirty="0" smtClean="0"/>
              <a:t>methods (getters and setters methods).</a:t>
            </a:r>
            <a:endParaRPr lang="en-IN" dirty="0"/>
          </a:p>
        </p:txBody>
      </p:sp>
    </p:spTree>
    <p:extLst>
      <p:ext uri="{BB962C8B-B14F-4D97-AF65-F5344CB8AC3E}">
        <p14:creationId xmlns:p14="http://schemas.microsoft.com/office/powerpoint/2010/main" val="1042430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32500" lnSpcReduction="20000"/>
          </a:bodyPr>
          <a:lstStyle/>
          <a:p>
            <a:r>
              <a:rPr lang="en-IN" dirty="0"/>
              <a:t>Example</a:t>
            </a:r>
          </a:p>
          <a:p>
            <a:pPr marL="0" indent="0">
              <a:buNone/>
            </a:pPr>
            <a:r>
              <a:rPr lang="en-IN" dirty="0"/>
              <a:t>class Employee</a:t>
            </a:r>
          </a:p>
          <a:p>
            <a:pPr marL="0" indent="0">
              <a:buNone/>
            </a:pPr>
            <a:r>
              <a:rPr lang="en-IN" dirty="0"/>
              <a:t>{</a:t>
            </a:r>
          </a:p>
          <a:p>
            <a:pPr marL="0" indent="0">
              <a:buNone/>
            </a:pPr>
            <a:r>
              <a:rPr lang="en-IN" dirty="0"/>
              <a:t> private </a:t>
            </a:r>
            <a:r>
              <a:rPr lang="en-IN" dirty="0" err="1"/>
              <a:t>int</a:t>
            </a:r>
            <a:r>
              <a:rPr lang="en-IN" dirty="0"/>
              <a:t> id;</a:t>
            </a:r>
          </a:p>
          <a:p>
            <a:pPr marL="0" indent="0">
              <a:buNone/>
            </a:pPr>
            <a:r>
              <a:rPr lang="en-IN" dirty="0"/>
              <a:t> private String name;</a:t>
            </a:r>
          </a:p>
          <a:p>
            <a:pPr marL="0" indent="0">
              <a:buNone/>
            </a:pPr>
            <a:r>
              <a:rPr lang="en-IN" dirty="0"/>
              <a:t> private </a:t>
            </a:r>
            <a:r>
              <a:rPr lang="en-IN" dirty="0" err="1"/>
              <a:t>int</a:t>
            </a:r>
            <a:r>
              <a:rPr lang="en-IN" dirty="0"/>
              <a:t> salary;</a:t>
            </a:r>
          </a:p>
          <a:p>
            <a:pPr marL="0" indent="0">
              <a:buNone/>
            </a:pPr>
            <a:endParaRPr lang="en-IN" dirty="0"/>
          </a:p>
          <a:p>
            <a:pPr marL="0" indent="0">
              <a:buNone/>
            </a:pPr>
            <a:r>
              <a:rPr lang="en-IN" dirty="0"/>
              <a:t> public void </a:t>
            </a:r>
            <a:r>
              <a:rPr lang="en-IN" dirty="0" err="1"/>
              <a:t>setId</a:t>
            </a:r>
            <a:r>
              <a:rPr lang="en-IN" dirty="0"/>
              <a:t>(</a:t>
            </a:r>
            <a:r>
              <a:rPr lang="en-IN" dirty="0" err="1"/>
              <a:t>int</a:t>
            </a:r>
            <a:r>
              <a:rPr lang="en-IN" dirty="0"/>
              <a:t> i) </a:t>
            </a:r>
          </a:p>
          <a:p>
            <a:pPr marL="0" indent="0">
              <a:buNone/>
            </a:pPr>
            <a:r>
              <a:rPr lang="en-IN" dirty="0"/>
              <a:t> {</a:t>
            </a:r>
          </a:p>
          <a:p>
            <a:pPr marL="0" indent="0">
              <a:buNone/>
            </a:pPr>
            <a:r>
              <a:rPr lang="en-IN" dirty="0"/>
              <a:t>  if(i&lt;=0)</a:t>
            </a:r>
          </a:p>
          <a:p>
            <a:pPr marL="0" indent="0">
              <a:buNone/>
            </a:pPr>
            <a:r>
              <a:rPr lang="en-IN" dirty="0"/>
              <a:t>  {</a:t>
            </a:r>
          </a:p>
          <a:p>
            <a:pPr marL="0" indent="0">
              <a:buNone/>
            </a:pPr>
            <a:r>
              <a:rPr lang="en-IN" dirty="0"/>
              <a:t>   throw new </a:t>
            </a:r>
            <a:r>
              <a:rPr lang="en-IN" dirty="0" err="1"/>
              <a:t>RuntimeException</a:t>
            </a:r>
            <a:r>
              <a:rPr lang="en-IN" dirty="0"/>
              <a:t>("ID should be greater than zero");</a:t>
            </a:r>
          </a:p>
          <a:p>
            <a:pPr marL="0" indent="0">
              <a:buNone/>
            </a:pPr>
            <a:r>
              <a:rPr lang="en-IN" dirty="0"/>
              <a:t>  }</a:t>
            </a:r>
          </a:p>
          <a:p>
            <a:pPr marL="0" indent="0">
              <a:buNone/>
            </a:pPr>
            <a:r>
              <a:rPr lang="en-IN" dirty="0"/>
              <a:t>  else</a:t>
            </a:r>
          </a:p>
          <a:p>
            <a:pPr marL="0" indent="0">
              <a:buNone/>
            </a:pPr>
            <a:r>
              <a:rPr lang="en-IN" dirty="0"/>
              <a:t>  {</a:t>
            </a:r>
          </a:p>
          <a:p>
            <a:pPr marL="0" indent="0">
              <a:buNone/>
            </a:pPr>
            <a:r>
              <a:rPr lang="en-IN" dirty="0"/>
              <a:t>   id = i;</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public </a:t>
            </a:r>
            <a:r>
              <a:rPr lang="en-IN" dirty="0" err="1"/>
              <a:t>int</a:t>
            </a:r>
            <a:r>
              <a:rPr lang="en-IN" dirty="0"/>
              <a:t> </a:t>
            </a:r>
            <a:r>
              <a:rPr lang="en-IN" dirty="0" err="1"/>
              <a:t>getId</a:t>
            </a:r>
            <a:r>
              <a:rPr lang="en-IN" dirty="0"/>
              <a:t>() </a:t>
            </a:r>
          </a:p>
          <a:p>
            <a:pPr marL="0" indent="0">
              <a:buNone/>
            </a:pPr>
            <a:r>
              <a:rPr lang="en-IN" dirty="0"/>
              <a:t>{</a:t>
            </a:r>
          </a:p>
          <a:p>
            <a:pPr marL="0" indent="0">
              <a:buNone/>
            </a:pPr>
            <a:r>
              <a:rPr lang="en-IN" dirty="0"/>
              <a:t> return id;</a:t>
            </a:r>
          </a:p>
          <a:p>
            <a:pPr marL="0" indent="0">
              <a:buNone/>
            </a:pPr>
            <a:r>
              <a:rPr lang="en-IN" dirty="0"/>
              <a:t>}</a:t>
            </a:r>
          </a:p>
          <a:p>
            <a:pPr marL="0" indent="0">
              <a:buNone/>
            </a:pPr>
            <a:endParaRPr lang="en-IN" dirty="0"/>
          </a:p>
          <a:p>
            <a:pPr marL="0" indent="0">
              <a:buNone/>
            </a:pPr>
            <a:r>
              <a:rPr lang="en-IN" dirty="0"/>
              <a:t>public void </a:t>
            </a:r>
            <a:r>
              <a:rPr lang="en-IN" dirty="0" err="1"/>
              <a:t>setName</a:t>
            </a:r>
            <a:r>
              <a:rPr lang="en-IN" dirty="0"/>
              <a:t>(String n) </a:t>
            </a:r>
          </a:p>
          <a:p>
            <a:pPr marL="0" indent="0">
              <a:buNone/>
            </a:pPr>
            <a:r>
              <a:rPr lang="en-IN" dirty="0"/>
              <a:t>{</a:t>
            </a:r>
          </a:p>
          <a:p>
            <a:pPr marL="0" indent="0">
              <a:buNone/>
            </a:pPr>
            <a:r>
              <a:rPr lang="en-IN" dirty="0"/>
              <a:t> name = n;</a:t>
            </a:r>
          </a:p>
          <a:p>
            <a:pPr marL="0" indent="0">
              <a:buNone/>
            </a:pPr>
            <a:r>
              <a:rPr lang="en-IN" dirty="0"/>
              <a:t>}</a:t>
            </a:r>
          </a:p>
          <a:p>
            <a:pPr marL="0" indent="0">
              <a:buNone/>
            </a:pPr>
            <a:endParaRPr lang="en-IN" dirty="0"/>
          </a:p>
          <a:p>
            <a:pPr marL="0" indent="0">
              <a:buNone/>
            </a:pPr>
            <a:r>
              <a:rPr lang="en-IN" dirty="0"/>
              <a:t>public String </a:t>
            </a:r>
            <a:r>
              <a:rPr lang="en-IN" dirty="0" err="1"/>
              <a:t>getName</a:t>
            </a:r>
            <a:r>
              <a:rPr lang="en-IN" dirty="0"/>
              <a:t>() </a:t>
            </a:r>
          </a:p>
          <a:p>
            <a:pPr marL="0" indent="0">
              <a:buNone/>
            </a:pPr>
            <a:r>
              <a:rPr lang="en-IN" dirty="0"/>
              <a:t>{</a:t>
            </a:r>
          </a:p>
          <a:p>
            <a:pPr marL="0" indent="0">
              <a:buNone/>
            </a:pPr>
            <a:r>
              <a:rPr lang="en-IN" dirty="0"/>
              <a:t> return name;</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421547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32500" lnSpcReduction="20000"/>
          </a:bodyPr>
          <a:lstStyle/>
          <a:p>
            <a:pPr marL="0" indent="0">
              <a:buNone/>
            </a:pPr>
            <a:r>
              <a:rPr lang="en-IN" dirty="0"/>
              <a:t>public void </a:t>
            </a:r>
            <a:r>
              <a:rPr lang="en-IN" dirty="0" err="1"/>
              <a:t>setSalary</a:t>
            </a:r>
            <a:r>
              <a:rPr lang="en-IN" dirty="0"/>
              <a:t>(</a:t>
            </a:r>
            <a:r>
              <a:rPr lang="en-IN" dirty="0" err="1"/>
              <a:t>int</a:t>
            </a:r>
            <a:r>
              <a:rPr lang="en-IN" dirty="0"/>
              <a:t> s)</a:t>
            </a:r>
          </a:p>
          <a:p>
            <a:pPr marL="0" indent="0">
              <a:buNone/>
            </a:pPr>
            <a:r>
              <a:rPr lang="en-IN" dirty="0"/>
              <a:t>{</a:t>
            </a:r>
          </a:p>
          <a:p>
            <a:pPr marL="0" indent="0">
              <a:buNone/>
            </a:pPr>
            <a:r>
              <a:rPr lang="en-IN" dirty="0"/>
              <a:t> if(s&lt;=0)</a:t>
            </a:r>
          </a:p>
          <a:p>
            <a:pPr marL="0" indent="0">
              <a:buNone/>
            </a:pPr>
            <a:r>
              <a:rPr lang="en-IN" dirty="0"/>
              <a:t> {</a:t>
            </a:r>
          </a:p>
          <a:p>
            <a:pPr marL="0" indent="0">
              <a:buNone/>
            </a:pPr>
            <a:r>
              <a:rPr lang="en-IN" dirty="0"/>
              <a:t>  throw new </a:t>
            </a:r>
            <a:r>
              <a:rPr lang="en-IN" dirty="0" err="1"/>
              <a:t>RuntimeException</a:t>
            </a:r>
            <a:r>
              <a:rPr lang="en-IN" dirty="0"/>
              <a:t>("Salary should be greater than zero");</a:t>
            </a:r>
          </a:p>
          <a:p>
            <a:pPr marL="0" indent="0">
              <a:buNone/>
            </a:pPr>
            <a:r>
              <a:rPr lang="en-IN" dirty="0"/>
              <a:t> }</a:t>
            </a:r>
          </a:p>
          <a:p>
            <a:pPr marL="0" indent="0">
              <a:buNone/>
            </a:pPr>
            <a:r>
              <a:rPr lang="en-IN" dirty="0"/>
              <a:t> else</a:t>
            </a:r>
          </a:p>
          <a:p>
            <a:pPr marL="0" indent="0">
              <a:buNone/>
            </a:pPr>
            <a:r>
              <a:rPr lang="en-IN" dirty="0"/>
              <a:t> {</a:t>
            </a:r>
          </a:p>
          <a:p>
            <a:pPr marL="0" indent="0">
              <a:buNone/>
            </a:pPr>
            <a:r>
              <a:rPr lang="en-IN" dirty="0"/>
              <a:t>  salary = s;</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public </a:t>
            </a:r>
            <a:r>
              <a:rPr lang="en-IN" dirty="0" err="1"/>
              <a:t>int</a:t>
            </a:r>
            <a:r>
              <a:rPr lang="en-IN" dirty="0"/>
              <a:t> </a:t>
            </a:r>
            <a:r>
              <a:rPr lang="en-IN" dirty="0" err="1"/>
              <a:t>getSalary</a:t>
            </a:r>
            <a:r>
              <a:rPr lang="en-IN" dirty="0"/>
              <a:t>() </a:t>
            </a:r>
          </a:p>
          <a:p>
            <a:pPr marL="0" indent="0">
              <a:buNone/>
            </a:pPr>
            <a:r>
              <a:rPr lang="en-IN" dirty="0"/>
              <a:t>{</a:t>
            </a:r>
          </a:p>
          <a:p>
            <a:pPr marL="0" indent="0">
              <a:buNone/>
            </a:pPr>
            <a:r>
              <a:rPr lang="en-IN" dirty="0"/>
              <a:t> return salary;</a:t>
            </a:r>
          </a:p>
          <a:p>
            <a:pPr marL="0" indent="0">
              <a:buNone/>
            </a:pPr>
            <a:r>
              <a:rPr lang="en-IN" dirty="0"/>
              <a:t>}</a:t>
            </a:r>
          </a:p>
          <a:p>
            <a:pPr marL="0" indent="0">
              <a:buNone/>
            </a:pPr>
            <a:r>
              <a:rPr lang="en-IN" dirty="0"/>
              <a:t>}</a:t>
            </a:r>
          </a:p>
          <a:p>
            <a:pPr marL="0" indent="0">
              <a:buNone/>
            </a:pPr>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Employee emp1 = new Employee();</a:t>
            </a:r>
          </a:p>
          <a:p>
            <a:pPr marL="0" indent="0">
              <a:buNone/>
            </a:pPr>
            <a:r>
              <a:rPr lang="en-IN" dirty="0"/>
              <a:t>  emp1.setId(1);   </a:t>
            </a:r>
          </a:p>
          <a:p>
            <a:pPr marL="0" indent="0">
              <a:buNone/>
            </a:pPr>
            <a:r>
              <a:rPr lang="en-IN" dirty="0"/>
              <a:t>  // Accessing data using public methods b/c data is encapsulated by making them private.</a:t>
            </a:r>
          </a:p>
          <a:p>
            <a:pPr marL="0" indent="0">
              <a:buNone/>
            </a:pPr>
            <a:r>
              <a:rPr lang="en-IN" dirty="0"/>
              <a:t>  </a:t>
            </a:r>
          </a:p>
          <a:p>
            <a:pPr marL="0" indent="0">
              <a:buNone/>
            </a:pPr>
            <a:r>
              <a:rPr lang="en-IN" dirty="0"/>
              <a:t>  emp1.setName("Tom");</a:t>
            </a:r>
          </a:p>
          <a:p>
            <a:pPr marL="0" indent="0">
              <a:buNone/>
            </a:pPr>
            <a:r>
              <a:rPr lang="en-IN" dirty="0"/>
              <a:t>  emp1.setSalary(20000);</a:t>
            </a:r>
          </a:p>
          <a:p>
            <a:pPr marL="0" indent="0">
              <a:buNone/>
            </a:pPr>
            <a:endParaRPr lang="en-IN" dirty="0"/>
          </a:p>
          <a:p>
            <a:pPr marL="0" indent="0">
              <a:buNone/>
            </a:pPr>
            <a:r>
              <a:rPr lang="en-IN" dirty="0"/>
              <a:t>  </a:t>
            </a:r>
            <a:r>
              <a:rPr lang="en-IN" dirty="0" err="1"/>
              <a:t>System.out.println</a:t>
            </a:r>
            <a:r>
              <a:rPr lang="en-IN" dirty="0"/>
              <a:t>("Employee details :"+ emp1.getId()+"  "+emp1.getName()+"  " + emp1.getSalary());</a:t>
            </a:r>
          </a:p>
          <a:p>
            <a:pPr marL="0" indent="0">
              <a:buNone/>
            </a:pPr>
            <a:r>
              <a:rPr lang="en-IN" dirty="0"/>
              <a:t>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342154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r>
              <a:rPr lang="en-US" dirty="0"/>
              <a:t>Output -</a:t>
            </a:r>
          </a:p>
          <a:p>
            <a:r>
              <a:rPr lang="en-US" dirty="0"/>
              <a:t>Employee details :1 Tom 20000</a:t>
            </a:r>
            <a:br>
              <a:rPr lang="en-US" dirty="0"/>
            </a:br>
            <a:r>
              <a:rPr lang="en-US" dirty="0"/>
              <a:t/>
            </a:r>
            <a:br>
              <a:rPr lang="en-US" dirty="0"/>
            </a:br>
            <a:r>
              <a:rPr lang="en-US" dirty="0"/>
              <a:t>In the above program we declare all data (id, name, salary) of the Employee class as private so that anyone outside the class should not be able to access it directly. This process of wrapping the data in private access </a:t>
            </a:r>
            <a:r>
              <a:rPr lang="en-US" dirty="0" err="1"/>
              <a:t>specifier</a:t>
            </a:r>
            <a:r>
              <a:rPr lang="en-US" dirty="0"/>
              <a:t> is known as </a:t>
            </a:r>
            <a:r>
              <a:rPr lang="en-US" b="1" dirty="0"/>
              <a:t>Data Encapsulation</a:t>
            </a:r>
            <a:r>
              <a:rPr lang="en-US" dirty="0"/>
              <a:t>.</a:t>
            </a:r>
            <a:br>
              <a:rPr lang="en-US" dirty="0"/>
            </a:br>
            <a:r>
              <a:rPr lang="en-US" dirty="0"/>
              <a:t/>
            </a:r>
            <a:br>
              <a:rPr lang="en-US" dirty="0"/>
            </a:br>
            <a:r>
              <a:rPr lang="en-US" dirty="0"/>
              <a:t>If someone wants to access this encapsulated data then he has to follow certain rules and regulations, and we have declared these rules and regulations by defining methods (for example if user enter id of employee less than one then a Runtime Exception object will be thrown showing the message 'ID should be greater than zero' and programs terminates there).</a:t>
            </a:r>
            <a:br>
              <a:rPr lang="en-US" dirty="0"/>
            </a:br>
            <a:r>
              <a:rPr lang="en-US" dirty="0"/>
              <a:t/>
            </a:r>
            <a:br>
              <a:rPr lang="en-US" dirty="0"/>
            </a:br>
            <a:r>
              <a:rPr lang="en-US" dirty="0"/>
              <a:t>Right now, you do not need to be worried about what Exception </a:t>
            </a:r>
            <a:r>
              <a:rPr lang="en-US" dirty="0" err="1"/>
              <a:t>is,You</a:t>
            </a:r>
            <a:r>
              <a:rPr lang="en-US" dirty="0"/>
              <a:t> will learn it </a:t>
            </a:r>
            <a:r>
              <a:rPr lang="en-US" dirty="0" err="1"/>
              <a:t>later.For</a:t>
            </a:r>
            <a:r>
              <a:rPr lang="en-US" dirty="0"/>
              <a:t> now just consider that it will stop program execution and show the message whatever you entered in double quotes.).</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10000"/>
          </a:bodyPr>
          <a:lstStyle/>
          <a:p>
            <a:r>
              <a:rPr lang="en-US" b="1" dirty="0"/>
              <a:t>Benefit of Data Encapsulation -</a:t>
            </a:r>
          </a:p>
          <a:p>
            <a:r>
              <a:rPr lang="en-US" b="1" dirty="0"/>
              <a:t>So now the question arises why we encapsulate data, and what is the benefit of doing this?</a:t>
            </a:r>
            <a:r>
              <a:rPr lang="en-US" dirty="0"/>
              <a:t/>
            </a:r>
            <a:br>
              <a:rPr lang="en-US" dirty="0"/>
            </a:br>
            <a:r>
              <a:rPr lang="en-US" dirty="0"/>
              <a:t>By making data encapsulated, we ensure that anyone outside the class should not be able to access the data, if he passes some anonymous values for data for example we know that Employee id can never be 0 or negative similarly salary can also never be zero or negative. So if user ever passes some negative values or zero for these data then he will not be able to access them and a Runtime Exception will be thrown.</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Constructor</a:t>
            </a:r>
            <a:br>
              <a:rPr lang="en-IN" dirty="0"/>
            </a:br>
            <a:endParaRPr lang="en-IN" dirty="0"/>
          </a:p>
        </p:txBody>
      </p:sp>
      <p:sp>
        <p:nvSpPr>
          <p:cNvPr id="3" name="Content Placeholder 2"/>
          <p:cNvSpPr>
            <a:spLocks noGrp="1"/>
          </p:cNvSpPr>
          <p:nvPr>
            <p:ph idx="1"/>
          </p:nvPr>
        </p:nvSpPr>
        <p:spPr/>
        <p:txBody>
          <a:bodyPr>
            <a:normAutofit fontScale="62500" lnSpcReduction="20000"/>
          </a:bodyPr>
          <a:lstStyle/>
          <a:p>
            <a:r>
              <a:rPr lang="en-US" dirty="0"/>
              <a:t>Each object we created must be initialized to some value. We can do this in two ways -</a:t>
            </a:r>
          </a:p>
          <a:p>
            <a:endParaRPr lang="en-US" dirty="0"/>
          </a:p>
          <a:p>
            <a:r>
              <a:rPr lang="en-US" dirty="0"/>
              <a:t>1 - We can initialize objects by using dot operator -</a:t>
            </a:r>
          </a:p>
          <a:p>
            <a:endParaRPr lang="en-US" dirty="0"/>
          </a:p>
          <a:p>
            <a:pPr marL="0" indent="0">
              <a:buNone/>
            </a:pPr>
            <a:r>
              <a:rPr lang="en-US" dirty="0" smtClean="0"/>
              <a:t>                emp1.id </a:t>
            </a:r>
            <a:r>
              <a:rPr lang="en-US" dirty="0"/>
              <a:t>= 1;</a:t>
            </a:r>
          </a:p>
          <a:p>
            <a:pPr marL="0" indent="0">
              <a:buNone/>
            </a:pPr>
            <a:r>
              <a:rPr lang="en-US" dirty="0" smtClean="0"/>
              <a:t>                emp1.name</a:t>
            </a:r>
            <a:r>
              <a:rPr lang="en-US" dirty="0"/>
              <a:t>="Tom";</a:t>
            </a:r>
          </a:p>
          <a:p>
            <a:r>
              <a:rPr lang="en-US" dirty="0"/>
              <a:t>2 - Secondly we can initialize objects by using methods -</a:t>
            </a:r>
          </a:p>
          <a:p>
            <a:pPr marL="0" indent="0">
              <a:buNone/>
            </a:pPr>
            <a:r>
              <a:rPr lang="en-US" dirty="0" smtClean="0"/>
              <a:t>                emp1.setId(1</a:t>
            </a:r>
            <a:r>
              <a:rPr lang="en-US" dirty="0"/>
              <a:t>);</a:t>
            </a:r>
          </a:p>
          <a:p>
            <a:pPr marL="0" indent="0">
              <a:buNone/>
            </a:pPr>
            <a:r>
              <a:rPr lang="en-US" dirty="0" smtClean="0"/>
              <a:t>                emp1.setName</a:t>
            </a:r>
            <a:r>
              <a:rPr lang="en-US" dirty="0"/>
              <a:t>("Tom");</a:t>
            </a:r>
          </a:p>
          <a:p>
            <a:r>
              <a:rPr lang="en-US" dirty="0"/>
              <a:t>But the initialization of objects is so common that Java enables objects to initialize themselves when they are created.</a:t>
            </a:r>
          </a:p>
          <a:p>
            <a:endParaRPr lang="en-US" dirty="0"/>
          </a:p>
          <a:p>
            <a:r>
              <a:rPr lang="en-US" dirty="0"/>
              <a:t>This automatic initialization is done through the use of Constructor.</a:t>
            </a:r>
            <a:endParaRPr lang="en-IN" dirty="0"/>
          </a:p>
        </p:txBody>
      </p:sp>
    </p:spTree>
    <p:extLst>
      <p:ext uri="{BB962C8B-B14F-4D97-AF65-F5344CB8AC3E}">
        <p14:creationId xmlns:p14="http://schemas.microsoft.com/office/powerpoint/2010/main" val="1800915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b="1" dirty="0"/>
              <a:t>Constructors are similar to methods and have the following features </a:t>
            </a:r>
            <a:r>
              <a:rPr lang="en-US" b="1" dirty="0" smtClean="0"/>
              <a:t>-</a:t>
            </a:r>
            <a:r>
              <a:rPr lang="en-US" dirty="0"/>
              <a:t/>
            </a:r>
            <a:br>
              <a:rPr lang="en-US" dirty="0"/>
            </a:br>
            <a:r>
              <a:rPr lang="en-US" b="1" dirty="0"/>
              <a:t>1- </a:t>
            </a:r>
            <a:r>
              <a:rPr lang="en-US" dirty="0"/>
              <a:t>They have the same name as class name.</a:t>
            </a:r>
            <a:br>
              <a:rPr lang="en-US" dirty="0"/>
            </a:br>
            <a:r>
              <a:rPr lang="en-US" b="1" dirty="0"/>
              <a:t>2- </a:t>
            </a:r>
            <a:r>
              <a:rPr lang="en-US" dirty="0"/>
              <a:t>They do not have any return type, not even void.</a:t>
            </a:r>
            <a:br>
              <a:rPr lang="en-US" dirty="0"/>
            </a:br>
            <a:r>
              <a:rPr lang="en-US" b="1" dirty="0"/>
              <a:t>3- </a:t>
            </a:r>
            <a:r>
              <a:rPr lang="en-US" dirty="0"/>
              <a:t>They run automatically as a new object is created and run only once for any object.</a:t>
            </a:r>
            <a:br>
              <a:rPr lang="en-US" dirty="0"/>
            </a:br>
            <a:r>
              <a:rPr lang="en-US" b="1" dirty="0"/>
              <a:t>4- </a:t>
            </a:r>
            <a:r>
              <a:rPr lang="en-US" dirty="0"/>
              <a:t>If we do not explicitly create any constructor in class than a default constructor is automatically created by Java run time system.</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32500" lnSpcReduction="20000"/>
          </a:bodyPr>
          <a:lstStyle/>
          <a:p>
            <a:r>
              <a:rPr lang="en-IN" dirty="0"/>
              <a:t>Example 1-</a:t>
            </a:r>
          </a:p>
          <a:p>
            <a:endParaRPr lang="en-IN" dirty="0"/>
          </a:p>
          <a:p>
            <a:pPr marL="0" indent="0">
              <a:buNone/>
            </a:pPr>
            <a:r>
              <a:rPr lang="en-IN" dirty="0"/>
              <a:t>class Employee</a:t>
            </a:r>
          </a:p>
          <a:p>
            <a:pPr marL="0" indent="0">
              <a:buNone/>
            </a:pPr>
            <a:r>
              <a:rPr lang="en-IN" dirty="0"/>
              <a:t> {</a:t>
            </a:r>
          </a:p>
          <a:p>
            <a:pPr marL="0" indent="0">
              <a:buNone/>
            </a:pPr>
            <a:r>
              <a:rPr lang="en-IN" dirty="0"/>
              <a:t>  public void a()</a:t>
            </a:r>
          </a:p>
          <a:p>
            <a:pPr marL="0" indent="0">
              <a:buNone/>
            </a:pPr>
            <a:r>
              <a:rPr lang="en-IN" dirty="0"/>
              <a:t>  {</a:t>
            </a:r>
          </a:p>
          <a:p>
            <a:pPr marL="0" indent="0">
              <a:buNone/>
            </a:pPr>
            <a:r>
              <a:rPr lang="en-IN" dirty="0"/>
              <a:t>   </a:t>
            </a:r>
            <a:r>
              <a:rPr lang="en-IN" dirty="0" err="1"/>
              <a:t>System.out.println</a:t>
            </a:r>
            <a:r>
              <a:rPr lang="en-IN" dirty="0"/>
              <a:t>("AAA");</a:t>
            </a:r>
          </a:p>
          <a:p>
            <a:pPr marL="0" indent="0">
              <a:buNone/>
            </a:pPr>
            <a:r>
              <a:rPr lang="en-IN" dirty="0"/>
              <a:t>  }</a:t>
            </a:r>
          </a:p>
          <a:p>
            <a:pPr marL="0" indent="0">
              <a:buNone/>
            </a:pPr>
            <a:r>
              <a:rPr lang="en-IN" dirty="0"/>
              <a:t>  public void b()</a:t>
            </a:r>
          </a:p>
          <a:p>
            <a:pPr marL="0" indent="0">
              <a:buNone/>
            </a:pPr>
            <a:r>
              <a:rPr lang="en-IN" dirty="0"/>
              <a:t>  {</a:t>
            </a:r>
          </a:p>
          <a:p>
            <a:pPr marL="0" indent="0">
              <a:buNone/>
            </a:pPr>
            <a:r>
              <a:rPr lang="en-IN" dirty="0"/>
              <a:t>   </a:t>
            </a:r>
            <a:r>
              <a:rPr lang="en-IN" dirty="0" err="1"/>
              <a:t>System.out.println</a:t>
            </a:r>
            <a:r>
              <a:rPr lang="en-IN" dirty="0"/>
              <a:t>("BBB");</a:t>
            </a:r>
          </a:p>
          <a:p>
            <a:pPr marL="0" indent="0">
              <a:buNone/>
            </a:pPr>
            <a:r>
              <a:rPr lang="en-IN" dirty="0"/>
              <a:t>  }</a:t>
            </a:r>
          </a:p>
          <a:p>
            <a:pPr marL="0" indent="0">
              <a:buNone/>
            </a:pPr>
            <a:r>
              <a:rPr lang="en-IN" dirty="0"/>
              <a:t>  public Employee()     // Constructor</a:t>
            </a:r>
          </a:p>
          <a:p>
            <a:pPr marL="0" indent="0">
              <a:buNone/>
            </a:pPr>
            <a:r>
              <a:rPr lang="en-IN" dirty="0"/>
              <a:t>  {</a:t>
            </a:r>
          </a:p>
          <a:p>
            <a:pPr marL="0" indent="0">
              <a:buNone/>
            </a:pPr>
            <a:r>
              <a:rPr lang="en-IN" dirty="0"/>
              <a:t>   </a:t>
            </a:r>
            <a:r>
              <a:rPr lang="en-IN" dirty="0" err="1"/>
              <a:t>System.out.println</a:t>
            </a:r>
            <a:r>
              <a:rPr lang="en-IN" dirty="0"/>
              <a:t>("You are in Constructor");</a:t>
            </a:r>
          </a:p>
          <a:p>
            <a:pPr marL="0" indent="0">
              <a:buNone/>
            </a:pPr>
            <a:r>
              <a:rPr lang="en-IN" dirty="0"/>
              <a:t>  }   </a:t>
            </a:r>
          </a:p>
          <a:p>
            <a:pPr marL="0" indent="0">
              <a:buNone/>
            </a:pPr>
            <a:r>
              <a:rPr lang="en-IN" dirty="0"/>
              <a:t> }</a:t>
            </a:r>
          </a:p>
          <a:p>
            <a:pPr marL="0" indent="0">
              <a:buNone/>
            </a:pPr>
            <a:endParaRPr lang="en-IN" dirty="0"/>
          </a:p>
          <a:p>
            <a:pPr marL="0" indent="0">
              <a:buNone/>
            </a:pPr>
            <a:r>
              <a:rPr lang="en-IN" dirty="0"/>
              <a:t> public class Demo</a:t>
            </a:r>
          </a:p>
          <a:p>
            <a:pPr marL="0" indent="0">
              <a:buNone/>
            </a:pP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Employee emp1 = new Employee();     // Calling constructor</a:t>
            </a:r>
          </a:p>
          <a:p>
            <a:pPr marL="0" indent="0">
              <a:buNone/>
            </a:pPr>
            <a:r>
              <a:rPr lang="en-IN" dirty="0"/>
              <a:t>   </a:t>
            </a:r>
          </a:p>
          <a:p>
            <a:pPr marL="0" indent="0">
              <a:buNone/>
            </a:pPr>
            <a:r>
              <a:rPr lang="en-IN" dirty="0"/>
              <a:t>   //emp1.Employee();    Error we cannot call constructors like simple methods.</a:t>
            </a:r>
          </a:p>
          <a:p>
            <a:pPr marL="0" indent="0">
              <a:buNone/>
            </a:pPr>
            <a:r>
              <a:rPr lang="en-IN" dirty="0"/>
              <a:t>   </a:t>
            </a:r>
          </a:p>
          <a:p>
            <a:pPr marL="0" indent="0">
              <a:buNone/>
            </a:pPr>
            <a:r>
              <a:rPr lang="en-IN" dirty="0"/>
              <a:t>   emp1.a();</a:t>
            </a:r>
          </a:p>
          <a:p>
            <a:pPr marL="0" indent="0">
              <a:buNone/>
            </a:pPr>
            <a:r>
              <a:rPr lang="en-IN" dirty="0"/>
              <a:t>   emp1.b();</a:t>
            </a:r>
          </a:p>
          <a:p>
            <a:pPr marL="0" indent="0">
              <a:buNone/>
            </a:pPr>
            <a:r>
              <a:rPr lang="en-IN" dirty="0"/>
              <a:t>  }</a:t>
            </a:r>
          </a:p>
          <a:p>
            <a:pPr marL="0" indent="0">
              <a:buNone/>
            </a:pPr>
            <a:r>
              <a:rPr lang="en-IN" dirty="0"/>
              <a:t> </a:t>
            </a:r>
            <a:r>
              <a:rPr lang="en-IN" dirty="0" smtClean="0"/>
              <a:t>}</a:t>
            </a:r>
          </a:p>
          <a:p>
            <a:pPr marL="0" indent="0">
              <a:buNone/>
            </a:pPr>
            <a:endParaRPr lang="en-IN" dirty="0"/>
          </a:p>
          <a:p>
            <a:pPr marL="0" indent="0">
              <a:buNone/>
            </a:pPr>
            <a:r>
              <a:rPr lang="en-US" dirty="0"/>
              <a:t>Output -</a:t>
            </a:r>
          </a:p>
          <a:p>
            <a:pPr marL="0" indent="0">
              <a:buNone/>
            </a:pPr>
            <a:r>
              <a:rPr lang="en-US" dirty="0"/>
              <a:t>You are in Constructor</a:t>
            </a:r>
          </a:p>
          <a:p>
            <a:pPr marL="0" indent="0">
              <a:buNone/>
            </a:pPr>
            <a:r>
              <a:rPr lang="en-US" dirty="0"/>
              <a:t>AAA</a:t>
            </a:r>
          </a:p>
          <a:p>
            <a:pPr marL="0" indent="0">
              <a:buNone/>
            </a:pPr>
            <a:r>
              <a:rPr lang="en-US" dirty="0"/>
              <a:t>BBB</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r>
              <a:rPr lang="en-US" b="1" dirty="0"/>
              <a:t>Program Description -</a:t>
            </a:r>
          </a:p>
          <a:p>
            <a:r>
              <a:rPr lang="en-US" dirty="0"/>
              <a:t>Note that constructor :</a:t>
            </a:r>
          </a:p>
          <a:p>
            <a:pPr marL="0" indent="0">
              <a:buNone/>
            </a:pPr>
            <a:r>
              <a:rPr lang="en-US" dirty="0" smtClean="0"/>
              <a:t>       public </a:t>
            </a:r>
            <a:r>
              <a:rPr lang="en-US" dirty="0"/>
              <a:t>Employee() </a:t>
            </a:r>
          </a:p>
          <a:p>
            <a:pPr marL="0" indent="0">
              <a:buNone/>
            </a:pPr>
            <a:r>
              <a:rPr lang="en-US" dirty="0" smtClean="0"/>
              <a:t>        {</a:t>
            </a:r>
            <a:endParaRPr lang="en-US" dirty="0"/>
          </a:p>
          <a:p>
            <a:pPr marL="0" indent="0">
              <a:buNone/>
            </a:pPr>
            <a:r>
              <a:rPr lang="en-US" dirty="0"/>
              <a:t> </a:t>
            </a:r>
            <a:r>
              <a:rPr lang="en-US" dirty="0" smtClean="0"/>
              <a:t>         </a:t>
            </a:r>
            <a:r>
              <a:rPr lang="en-US" dirty="0" err="1" smtClean="0"/>
              <a:t>System.out.println</a:t>
            </a:r>
            <a:r>
              <a:rPr lang="en-US" dirty="0"/>
              <a:t>("Constructor");</a:t>
            </a:r>
          </a:p>
          <a:p>
            <a:pPr marL="0" indent="0">
              <a:buNone/>
            </a:pPr>
            <a:r>
              <a:rPr lang="en-US" dirty="0" smtClean="0"/>
              <a:t>        }   </a:t>
            </a:r>
            <a:endParaRPr lang="en-US" dirty="0"/>
          </a:p>
          <a:p>
            <a:r>
              <a:rPr lang="en-US" dirty="0"/>
              <a:t>Have the same name as class name and also do not have any return type.</a:t>
            </a:r>
          </a:p>
          <a:p>
            <a:endParaRPr lang="en-US" dirty="0"/>
          </a:p>
          <a:p>
            <a:r>
              <a:rPr lang="en-US" dirty="0"/>
              <a:t>As we create the object by writing the code: Employee emp1 = new Employee(); compiler will search for a Employee() constructor in Employee class and run it automatically. That is why 'You are in Constructor' is printed first .</a:t>
            </a:r>
          </a:p>
          <a:p>
            <a:endParaRPr lang="en-US" dirty="0"/>
          </a:p>
          <a:p>
            <a:r>
              <a:rPr lang="en-US" dirty="0"/>
              <a:t>Also note that constructor runs only once for any object when we create that object, we cannot call them multiple times like java methods.</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55000" lnSpcReduction="20000"/>
          </a:bodyPr>
          <a:lstStyle/>
          <a:p>
            <a:r>
              <a:rPr lang="en-US" b="1" dirty="0"/>
              <a:t>Types of Java Constructor -</a:t>
            </a:r>
          </a:p>
          <a:p>
            <a:r>
              <a:rPr lang="en-US" dirty="0"/>
              <a:t>Constructor is of two types -</a:t>
            </a:r>
          </a:p>
          <a:p>
            <a:endParaRPr lang="en-US" dirty="0"/>
          </a:p>
          <a:p>
            <a:r>
              <a:rPr lang="en-US" dirty="0"/>
              <a:t>1- Constructor without parameter (Default Constructor) - If a constructor does not have any parameter than it is called Default Constructor, as constructor created in last example.</a:t>
            </a:r>
          </a:p>
          <a:p>
            <a:endParaRPr lang="en-US" dirty="0"/>
          </a:p>
          <a:p>
            <a:r>
              <a:rPr lang="en-US" dirty="0"/>
              <a:t>If you do not define any constructor explicitly, a default constructor is automatically built by java run time system.</a:t>
            </a:r>
          </a:p>
          <a:p>
            <a:endParaRPr lang="en-US" dirty="0"/>
          </a:p>
          <a:p>
            <a:r>
              <a:rPr lang="en-US" dirty="0"/>
              <a:t>For example -</a:t>
            </a:r>
          </a:p>
          <a:p>
            <a:pPr marL="0" indent="0">
              <a:buNone/>
            </a:pPr>
            <a:r>
              <a:rPr lang="en-US" dirty="0" smtClean="0"/>
              <a:t>       class </a:t>
            </a:r>
            <a:r>
              <a:rPr lang="en-US" dirty="0"/>
              <a:t>Employee</a:t>
            </a:r>
          </a:p>
          <a:p>
            <a:pPr marL="0" indent="0">
              <a:buNone/>
            </a:pPr>
            <a:r>
              <a:rPr lang="en-US" dirty="0" smtClean="0"/>
              <a:t>       {</a:t>
            </a:r>
            <a:endParaRPr lang="en-US" dirty="0"/>
          </a:p>
          <a:p>
            <a:pPr marL="0" indent="0">
              <a:buNone/>
            </a:pPr>
            <a:r>
              <a:rPr lang="en-US" dirty="0" smtClean="0"/>
              <a:t>       }</a:t>
            </a:r>
            <a:endParaRPr lang="en-US" dirty="0"/>
          </a:p>
          <a:p>
            <a:r>
              <a:rPr lang="en-US" dirty="0"/>
              <a:t>Even though we have not define anything within the class but compiler will automatically generate a default constructor within the class like this -</a:t>
            </a:r>
          </a:p>
          <a:p>
            <a:pPr marL="0" indent="0">
              <a:buNone/>
            </a:pPr>
            <a:r>
              <a:rPr lang="en-US" dirty="0" smtClean="0"/>
              <a:t>       public </a:t>
            </a:r>
            <a:r>
              <a:rPr lang="en-US" dirty="0"/>
              <a:t>Employee() </a:t>
            </a:r>
          </a:p>
          <a:p>
            <a:pPr marL="0" indent="0">
              <a:buNone/>
            </a:pPr>
            <a:r>
              <a:rPr lang="en-US" dirty="0" smtClean="0"/>
              <a:t>         {</a:t>
            </a:r>
            <a:endParaRPr lang="en-US" dirty="0"/>
          </a:p>
          <a:p>
            <a:pPr marL="0" indent="0">
              <a:buNone/>
            </a:pPr>
            <a:r>
              <a:rPr lang="en-US" dirty="0" smtClean="0"/>
              <a:t>         }   </a:t>
            </a:r>
            <a:endParaRPr lang="en-US" dirty="0"/>
          </a:p>
          <a:p>
            <a:r>
              <a:rPr lang="en-US" dirty="0"/>
              <a:t>Note - A default constructor initializes all data members (variables) of the class to their default values.</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dirty="0"/>
              <a:t>2 - Constructor with parameter (Parameterized Constructor) - If a constructor has one or more parameters then it is called parameterized constructor.</a:t>
            </a:r>
          </a:p>
          <a:p>
            <a:endParaRPr lang="en-US" dirty="0"/>
          </a:p>
          <a:p>
            <a:r>
              <a:rPr lang="en-US" dirty="0"/>
              <a:t>For example -</a:t>
            </a:r>
          </a:p>
          <a:p>
            <a:pPr marL="0" indent="0">
              <a:buNone/>
            </a:pPr>
            <a:r>
              <a:rPr lang="en-US" dirty="0" smtClean="0"/>
              <a:t>     public </a:t>
            </a:r>
            <a:r>
              <a:rPr lang="en-US" dirty="0"/>
              <a:t>Employee(</a:t>
            </a:r>
            <a:r>
              <a:rPr lang="en-US" dirty="0" err="1"/>
              <a:t>int</a:t>
            </a:r>
            <a:r>
              <a:rPr lang="en-US" dirty="0"/>
              <a:t> i, String n)</a:t>
            </a:r>
          </a:p>
          <a:p>
            <a:pPr marL="0" indent="0">
              <a:buNone/>
            </a:pPr>
            <a:r>
              <a:rPr lang="en-US" dirty="0" smtClean="0"/>
              <a:t>      {</a:t>
            </a:r>
            <a:endParaRPr lang="en-US" dirty="0"/>
          </a:p>
          <a:p>
            <a:pPr marL="0" indent="0">
              <a:buNone/>
            </a:pPr>
            <a:r>
              <a:rPr lang="en-US" dirty="0"/>
              <a:t> </a:t>
            </a:r>
            <a:r>
              <a:rPr lang="en-US" dirty="0" smtClean="0"/>
              <a:t>        //</a:t>
            </a:r>
            <a:r>
              <a:rPr lang="en-US" dirty="0"/>
              <a:t>Statements;</a:t>
            </a:r>
          </a:p>
          <a:p>
            <a:pPr marL="0" indent="0">
              <a:buNone/>
            </a:pPr>
            <a:r>
              <a:rPr lang="en-US" dirty="0" smtClean="0"/>
              <a:t>      }</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32500" lnSpcReduction="20000"/>
          </a:bodyPr>
          <a:lstStyle/>
          <a:p>
            <a:pPr marL="0" indent="0">
              <a:buNone/>
            </a:pPr>
            <a:r>
              <a:rPr lang="en-IN" dirty="0"/>
              <a:t>Example -</a:t>
            </a:r>
          </a:p>
          <a:p>
            <a:pPr marL="0" indent="0">
              <a:buNone/>
            </a:pPr>
            <a:endParaRPr lang="en-IN" dirty="0"/>
          </a:p>
          <a:p>
            <a:pPr marL="0" indent="0">
              <a:buNone/>
            </a:pPr>
            <a:r>
              <a:rPr lang="en-IN" dirty="0"/>
              <a:t>class Employee</a:t>
            </a:r>
          </a:p>
          <a:p>
            <a:pPr marL="0" indent="0">
              <a:buNone/>
            </a:pPr>
            <a:r>
              <a:rPr lang="en-IN" dirty="0"/>
              <a:t>{</a:t>
            </a:r>
          </a:p>
          <a:p>
            <a:pPr marL="0" indent="0">
              <a:buNone/>
            </a:pPr>
            <a:r>
              <a:rPr lang="en-IN" dirty="0"/>
              <a:t> </a:t>
            </a:r>
            <a:r>
              <a:rPr lang="en-IN" dirty="0" err="1"/>
              <a:t>int</a:t>
            </a:r>
            <a:r>
              <a:rPr lang="en-IN" dirty="0"/>
              <a:t> id;</a:t>
            </a:r>
          </a:p>
          <a:p>
            <a:pPr marL="0" indent="0">
              <a:buNone/>
            </a:pPr>
            <a:r>
              <a:rPr lang="en-IN" dirty="0"/>
              <a:t> String name;</a:t>
            </a:r>
          </a:p>
          <a:p>
            <a:pPr marL="0" indent="0">
              <a:buNone/>
            </a:pPr>
            <a:r>
              <a:rPr lang="en-IN" dirty="0"/>
              <a:t> public void input()</a:t>
            </a:r>
          </a:p>
          <a:p>
            <a:pPr marL="0" indent="0">
              <a:buNone/>
            </a:pPr>
            <a:r>
              <a:rPr lang="en-IN" dirty="0"/>
              <a:t> {</a:t>
            </a:r>
          </a:p>
          <a:p>
            <a:pPr marL="0" indent="0">
              <a:buNone/>
            </a:pPr>
            <a:r>
              <a:rPr lang="en-IN" dirty="0"/>
              <a:t>  id = </a:t>
            </a:r>
            <a:r>
              <a:rPr lang="en-IN" dirty="0" err="1"/>
              <a:t>Integer.parseInt</a:t>
            </a:r>
            <a:r>
              <a:rPr lang="en-IN" dirty="0"/>
              <a:t>(</a:t>
            </a:r>
            <a:r>
              <a:rPr lang="en-IN" dirty="0" err="1"/>
              <a:t>System.console</a:t>
            </a:r>
            <a:r>
              <a:rPr lang="en-IN" dirty="0"/>
              <a:t>().</a:t>
            </a:r>
            <a:r>
              <a:rPr lang="en-IN" dirty="0" err="1"/>
              <a:t>readLine</a:t>
            </a:r>
            <a:r>
              <a:rPr lang="en-IN" dirty="0"/>
              <a:t>("Enter ID"));</a:t>
            </a:r>
          </a:p>
          <a:p>
            <a:pPr marL="0" indent="0">
              <a:buNone/>
            </a:pPr>
            <a:r>
              <a:rPr lang="en-IN" dirty="0"/>
              <a:t>  name  = </a:t>
            </a:r>
            <a:r>
              <a:rPr lang="en-IN" dirty="0" err="1"/>
              <a:t>System.console</a:t>
            </a:r>
            <a:r>
              <a:rPr lang="en-IN" dirty="0"/>
              <a:t>().</a:t>
            </a:r>
            <a:r>
              <a:rPr lang="en-IN" dirty="0" err="1"/>
              <a:t>readLine</a:t>
            </a:r>
            <a:r>
              <a:rPr lang="en-IN" dirty="0"/>
              <a:t>("Enter name");</a:t>
            </a:r>
          </a:p>
          <a:p>
            <a:pPr marL="0" indent="0">
              <a:buNone/>
            </a:pPr>
            <a:r>
              <a:rPr lang="en-IN" dirty="0"/>
              <a:t> }</a:t>
            </a:r>
          </a:p>
          <a:p>
            <a:pPr marL="0" indent="0">
              <a:buNone/>
            </a:pPr>
            <a:r>
              <a:rPr lang="en-IN" dirty="0"/>
              <a:t>public void </a:t>
            </a:r>
            <a:r>
              <a:rPr lang="en-IN" dirty="0" err="1"/>
              <a:t>disp</a:t>
            </a:r>
            <a:r>
              <a:rPr lang="en-IN" dirty="0"/>
              <a:t>()</a:t>
            </a:r>
          </a:p>
          <a:p>
            <a:pPr marL="0" indent="0">
              <a:buNone/>
            </a:pPr>
            <a:r>
              <a:rPr lang="en-IN" dirty="0"/>
              <a:t>{</a:t>
            </a:r>
          </a:p>
          <a:p>
            <a:pPr marL="0" indent="0">
              <a:buNone/>
            </a:pPr>
            <a:r>
              <a:rPr lang="en-IN" dirty="0"/>
              <a:t> </a:t>
            </a:r>
            <a:r>
              <a:rPr lang="en-IN" dirty="0" err="1"/>
              <a:t>System.out.println</a:t>
            </a:r>
            <a:r>
              <a:rPr lang="en-IN" dirty="0"/>
              <a:t>(id+ "  " + name);</a:t>
            </a:r>
          </a:p>
          <a:p>
            <a:pPr marL="0" indent="0">
              <a:buNone/>
            </a:pPr>
            <a:r>
              <a:rPr lang="en-IN" dirty="0"/>
              <a:t>}</a:t>
            </a:r>
          </a:p>
          <a:p>
            <a:pPr marL="0" indent="0">
              <a:buNone/>
            </a:pPr>
            <a:r>
              <a:rPr lang="en-IN" dirty="0"/>
              <a:t>  </a:t>
            </a:r>
          </a:p>
          <a:p>
            <a:pPr marL="0" indent="0">
              <a:buNone/>
            </a:pPr>
            <a:r>
              <a:rPr lang="en-IN" dirty="0"/>
              <a:t>public Employee(</a:t>
            </a:r>
            <a:r>
              <a:rPr lang="en-IN" dirty="0" err="1"/>
              <a:t>int</a:t>
            </a:r>
            <a:r>
              <a:rPr lang="en-IN" dirty="0"/>
              <a:t> i, String n)      // parameterized constructor</a:t>
            </a:r>
          </a:p>
          <a:p>
            <a:pPr marL="0" indent="0">
              <a:buNone/>
            </a:pPr>
            <a:r>
              <a:rPr lang="en-IN" dirty="0"/>
              <a:t>{</a:t>
            </a:r>
          </a:p>
          <a:p>
            <a:pPr marL="0" indent="0">
              <a:buNone/>
            </a:pPr>
            <a:r>
              <a:rPr lang="en-IN" dirty="0"/>
              <a:t> id = i;</a:t>
            </a:r>
          </a:p>
          <a:p>
            <a:pPr marL="0" indent="0">
              <a:buNone/>
            </a:pPr>
            <a:r>
              <a:rPr lang="en-IN" dirty="0"/>
              <a:t> name = n;</a:t>
            </a:r>
          </a:p>
          <a:p>
            <a:pPr marL="0" indent="0">
              <a:buNone/>
            </a:pPr>
            <a:r>
              <a:rPr lang="en-IN" dirty="0"/>
              <a:t>}</a:t>
            </a:r>
          </a:p>
          <a:p>
            <a:pPr marL="0" indent="0">
              <a:buNone/>
            </a:pPr>
            <a:r>
              <a:rPr lang="en-IN" dirty="0"/>
              <a:t>}</a:t>
            </a:r>
          </a:p>
          <a:p>
            <a:pPr marL="0" indent="0">
              <a:buNone/>
            </a:pPr>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Employee emp1 = new Employee(1, "Tom");</a:t>
            </a:r>
          </a:p>
          <a:p>
            <a:pPr marL="0" indent="0">
              <a:buNone/>
            </a:pPr>
            <a:r>
              <a:rPr lang="en-IN" dirty="0"/>
              <a:t>  emp1.disp();</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3421547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000" dirty="0"/>
              <a:t>Output-</a:t>
            </a:r>
          </a:p>
          <a:p>
            <a:r>
              <a:rPr lang="en-US" sz="2000" dirty="0"/>
              <a:t>1  </a:t>
            </a:r>
            <a:r>
              <a:rPr lang="en-US" sz="2000" dirty="0" smtClean="0"/>
              <a:t>Tom</a:t>
            </a:r>
            <a:endParaRPr lang="en-US" sz="2000" dirty="0"/>
          </a:p>
          <a:p>
            <a:r>
              <a:rPr lang="en-US" sz="2000" dirty="0"/>
              <a:t>Note that when the code Employee emp1 = new Employee(1, "Tom"); will execute, compiler will look for a constructor in Employee class that contain two parameters, where first parameters is of </a:t>
            </a:r>
            <a:r>
              <a:rPr lang="en-US" sz="2000" dirty="0" err="1"/>
              <a:t>int</a:t>
            </a:r>
            <a:r>
              <a:rPr lang="en-US" sz="2000" dirty="0"/>
              <a:t> type and second is of string type, when it finds a match that matching constructor will executes. So here it will find a match with the only constructor we have, and execute it. It causes id and name of emp1 to be set at the value i (i.e. 1 in this case) and n (i.e. 'Tom in this case').</a:t>
            </a:r>
            <a:endParaRPr lang="en-IN" sz="2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886200"/>
            <a:ext cx="4778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547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20000"/>
          </a:bodyPr>
          <a:lstStyle/>
          <a:p>
            <a:r>
              <a:rPr lang="en-US" dirty="0"/>
              <a:t>Always remember that if we define any constructor explicitly then default constructor does not built by compiler. So in the above example there will be no default constructor built by complier. So if we try to execute the following code</a:t>
            </a:r>
          </a:p>
          <a:p>
            <a:endParaRPr lang="en-US" dirty="0"/>
          </a:p>
          <a:p>
            <a:r>
              <a:rPr lang="en-US" dirty="0"/>
              <a:t>Employee emp1 = new Employee();</a:t>
            </a:r>
          </a:p>
          <a:p>
            <a:endParaRPr lang="en-US" dirty="0"/>
          </a:p>
          <a:p>
            <a:r>
              <a:rPr lang="en-US" dirty="0"/>
              <a:t>There will be error. Because now compiler will look for a constructor in Employee class that does not have any parameter but it will not find any such constructor. So there will be error.</a:t>
            </a:r>
            <a:endParaRPr lang="en-IN" dirty="0"/>
          </a:p>
        </p:txBody>
      </p:sp>
    </p:spTree>
    <p:extLst>
      <p:ext uri="{BB962C8B-B14F-4D97-AF65-F5344CB8AC3E}">
        <p14:creationId xmlns:p14="http://schemas.microsoft.com/office/powerpoint/2010/main" val="3421547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b="1" dirty="0"/>
              <a:t>Constructor Overloading -</a:t>
            </a:r>
          </a:p>
          <a:p>
            <a:r>
              <a:rPr lang="en-US" dirty="0"/>
              <a:t>If we define more than one constructor within a class then it is called constructor overloading.</a:t>
            </a:r>
          </a:p>
          <a:p>
            <a:r>
              <a:rPr lang="en-US" dirty="0"/>
              <a:t>A class can have any number of constructor as long as their parameter declaration is different i.e. either the number of parameter or data type of parameter should be different.</a:t>
            </a:r>
            <a:endParaRPr lang="en-IN" dirty="0"/>
          </a:p>
        </p:txBody>
      </p:sp>
    </p:spTree>
    <p:extLst>
      <p:ext uri="{BB962C8B-B14F-4D97-AF65-F5344CB8AC3E}">
        <p14:creationId xmlns:p14="http://schemas.microsoft.com/office/powerpoint/2010/main" val="1425997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25000" lnSpcReduction="20000"/>
          </a:bodyPr>
          <a:lstStyle/>
          <a:p>
            <a:r>
              <a:rPr lang="en-IN" dirty="0"/>
              <a:t>Example -</a:t>
            </a:r>
          </a:p>
          <a:p>
            <a:endParaRPr lang="en-IN" dirty="0"/>
          </a:p>
          <a:p>
            <a:pPr marL="0" indent="0">
              <a:buNone/>
            </a:pPr>
            <a:r>
              <a:rPr lang="en-IN" dirty="0"/>
              <a:t>class Employee</a:t>
            </a:r>
          </a:p>
          <a:p>
            <a:pPr marL="0" indent="0">
              <a:buNone/>
            </a:pPr>
            <a:r>
              <a:rPr lang="en-IN" dirty="0"/>
              <a:t>{</a:t>
            </a:r>
          </a:p>
          <a:p>
            <a:pPr marL="0" indent="0">
              <a:buNone/>
            </a:pPr>
            <a:r>
              <a:rPr lang="en-IN" dirty="0"/>
              <a:t> </a:t>
            </a:r>
            <a:r>
              <a:rPr lang="en-IN" dirty="0" err="1"/>
              <a:t>int</a:t>
            </a:r>
            <a:r>
              <a:rPr lang="en-IN" dirty="0"/>
              <a:t> id;</a:t>
            </a:r>
          </a:p>
          <a:p>
            <a:pPr marL="0" indent="0">
              <a:buNone/>
            </a:pPr>
            <a:r>
              <a:rPr lang="en-IN" dirty="0"/>
              <a:t> String name;</a:t>
            </a:r>
          </a:p>
          <a:p>
            <a:pPr marL="0" indent="0">
              <a:buNone/>
            </a:pPr>
            <a:r>
              <a:rPr lang="en-IN" dirty="0"/>
              <a:t> public void input()</a:t>
            </a:r>
          </a:p>
          <a:p>
            <a:pPr marL="0" indent="0">
              <a:buNone/>
            </a:pPr>
            <a:r>
              <a:rPr lang="en-IN" dirty="0"/>
              <a:t> {</a:t>
            </a:r>
          </a:p>
          <a:p>
            <a:pPr marL="0" indent="0">
              <a:buNone/>
            </a:pPr>
            <a:r>
              <a:rPr lang="en-IN" dirty="0"/>
              <a:t>  id = </a:t>
            </a:r>
            <a:r>
              <a:rPr lang="en-IN" dirty="0" err="1"/>
              <a:t>Integer.parseInt</a:t>
            </a:r>
            <a:r>
              <a:rPr lang="en-IN" dirty="0"/>
              <a:t>(</a:t>
            </a:r>
            <a:r>
              <a:rPr lang="en-IN" dirty="0" err="1"/>
              <a:t>System.console</a:t>
            </a:r>
            <a:r>
              <a:rPr lang="en-IN" dirty="0"/>
              <a:t>().</a:t>
            </a:r>
            <a:r>
              <a:rPr lang="en-IN" dirty="0" err="1"/>
              <a:t>readLine</a:t>
            </a:r>
            <a:r>
              <a:rPr lang="en-IN" dirty="0"/>
              <a:t>("Enter ID"));</a:t>
            </a:r>
          </a:p>
          <a:p>
            <a:pPr marL="0" indent="0">
              <a:buNone/>
            </a:pPr>
            <a:r>
              <a:rPr lang="en-IN" dirty="0"/>
              <a:t>  name  = </a:t>
            </a:r>
            <a:r>
              <a:rPr lang="en-IN" dirty="0" err="1"/>
              <a:t>System.console</a:t>
            </a:r>
            <a:r>
              <a:rPr lang="en-IN" dirty="0"/>
              <a:t>().</a:t>
            </a:r>
            <a:r>
              <a:rPr lang="en-IN" dirty="0" err="1"/>
              <a:t>readLine</a:t>
            </a:r>
            <a:r>
              <a:rPr lang="en-IN" dirty="0"/>
              <a:t>("Enter name");</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(id+ "  " + name);</a:t>
            </a:r>
          </a:p>
          <a:p>
            <a:pPr marL="0" indent="0">
              <a:buNone/>
            </a:pPr>
            <a:r>
              <a:rPr lang="en-IN" dirty="0"/>
              <a:t> }</a:t>
            </a:r>
          </a:p>
          <a:p>
            <a:pPr marL="0" indent="0">
              <a:buNone/>
            </a:pPr>
            <a:r>
              <a:rPr lang="en-IN" dirty="0"/>
              <a:t>  </a:t>
            </a:r>
          </a:p>
          <a:p>
            <a:pPr marL="0" indent="0">
              <a:buNone/>
            </a:pPr>
            <a:r>
              <a:rPr lang="en-IN" dirty="0"/>
              <a:t> public Employee()     // Constructor 1</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public Employee(</a:t>
            </a:r>
            <a:r>
              <a:rPr lang="en-IN" dirty="0" err="1"/>
              <a:t>int</a:t>
            </a:r>
            <a:r>
              <a:rPr lang="en-IN" dirty="0"/>
              <a:t> i)    // Constructor 2</a:t>
            </a:r>
          </a:p>
          <a:p>
            <a:pPr marL="0" indent="0">
              <a:buNone/>
            </a:pPr>
            <a:r>
              <a:rPr lang="en-IN" dirty="0"/>
              <a:t> {</a:t>
            </a:r>
          </a:p>
          <a:p>
            <a:pPr marL="0" indent="0">
              <a:buNone/>
            </a:pPr>
            <a:r>
              <a:rPr lang="en-IN" dirty="0"/>
              <a:t>  id = i;</a:t>
            </a:r>
          </a:p>
          <a:p>
            <a:pPr marL="0" indent="0">
              <a:buNone/>
            </a:pPr>
            <a:r>
              <a:rPr lang="en-IN" dirty="0"/>
              <a:t> }</a:t>
            </a:r>
          </a:p>
          <a:p>
            <a:pPr marL="0" indent="0">
              <a:buNone/>
            </a:pPr>
            <a:r>
              <a:rPr lang="en-IN" dirty="0"/>
              <a:t> public Employee(String n)     // Constructor 3</a:t>
            </a:r>
          </a:p>
          <a:p>
            <a:pPr marL="0" indent="0">
              <a:buNone/>
            </a:pPr>
            <a:r>
              <a:rPr lang="en-IN" dirty="0"/>
              <a:t> {</a:t>
            </a:r>
          </a:p>
          <a:p>
            <a:pPr marL="0" indent="0">
              <a:buNone/>
            </a:pPr>
            <a:r>
              <a:rPr lang="en-IN" dirty="0"/>
              <a:t>  name = n;</a:t>
            </a:r>
          </a:p>
          <a:p>
            <a:pPr marL="0" indent="0">
              <a:buNone/>
            </a:pPr>
            <a:r>
              <a:rPr lang="en-IN" dirty="0"/>
              <a:t> }</a:t>
            </a:r>
          </a:p>
          <a:p>
            <a:pPr marL="0" indent="0">
              <a:buNone/>
            </a:pPr>
            <a:r>
              <a:rPr lang="en-IN" dirty="0"/>
              <a:t> public Employee(</a:t>
            </a:r>
            <a:r>
              <a:rPr lang="en-IN" dirty="0" err="1"/>
              <a:t>int</a:t>
            </a:r>
            <a:r>
              <a:rPr lang="en-IN" dirty="0"/>
              <a:t> i, String n)    // Constructor 4</a:t>
            </a:r>
          </a:p>
          <a:p>
            <a:pPr marL="0" indent="0">
              <a:buNone/>
            </a:pPr>
            <a:r>
              <a:rPr lang="en-IN" dirty="0"/>
              <a:t> {</a:t>
            </a:r>
          </a:p>
          <a:p>
            <a:pPr marL="0" indent="0">
              <a:buNone/>
            </a:pPr>
            <a:r>
              <a:rPr lang="en-IN" dirty="0"/>
              <a:t>  id = i;</a:t>
            </a:r>
          </a:p>
          <a:p>
            <a:pPr marL="0" indent="0">
              <a:buNone/>
            </a:pPr>
            <a:r>
              <a:rPr lang="en-IN" dirty="0"/>
              <a:t>  name = n;</a:t>
            </a:r>
          </a:p>
          <a:p>
            <a:pPr marL="0" indent="0">
              <a:buNone/>
            </a:pPr>
            <a:r>
              <a:rPr lang="en-IN" dirty="0"/>
              <a:t> }</a:t>
            </a:r>
          </a:p>
          <a:p>
            <a:pPr marL="0" indent="0">
              <a:buNone/>
            </a:pPr>
            <a:r>
              <a:rPr lang="en-IN" dirty="0"/>
              <a:t> public Employee(String n, </a:t>
            </a:r>
            <a:r>
              <a:rPr lang="en-IN" dirty="0" err="1"/>
              <a:t>int</a:t>
            </a:r>
            <a:r>
              <a:rPr lang="en-IN" dirty="0"/>
              <a:t> i)    // Constructor 5</a:t>
            </a:r>
          </a:p>
          <a:p>
            <a:pPr marL="0" indent="0">
              <a:buNone/>
            </a:pPr>
            <a:r>
              <a:rPr lang="en-IN" dirty="0"/>
              <a:t> {</a:t>
            </a:r>
          </a:p>
          <a:p>
            <a:pPr marL="0" indent="0">
              <a:buNone/>
            </a:pPr>
            <a:r>
              <a:rPr lang="en-IN" dirty="0"/>
              <a:t>  id = i;</a:t>
            </a:r>
          </a:p>
          <a:p>
            <a:pPr marL="0" indent="0">
              <a:buNone/>
            </a:pPr>
            <a:r>
              <a:rPr lang="en-IN" dirty="0"/>
              <a:t>  name = n;</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3113766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Employee emp1 = new Employee();</a:t>
            </a:r>
          </a:p>
          <a:p>
            <a:pPr marL="0" indent="0">
              <a:buNone/>
            </a:pPr>
            <a:r>
              <a:rPr lang="en-IN" dirty="0"/>
              <a:t>   Employee emp2 = new Employee(1);</a:t>
            </a:r>
          </a:p>
          <a:p>
            <a:pPr marL="0" indent="0">
              <a:buNone/>
            </a:pPr>
            <a:r>
              <a:rPr lang="en-IN" dirty="0"/>
              <a:t>   Employee emp3 = new Employee("Tom");</a:t>
            </a:r>
          </a:p>
          <a:p>
            <a:pPr marL="0" indent="0">
              <a:buNone/>
            </a:pPr>
            <a:r>
              <a:rPr lang="en-IN" dirty="0"/>
              <a:t>   Employee emp4 = new Employee(1, "Tom");</a:t>
            </a:r>
          </a:p>
          <a:p>
            <a:pPr marL="0" indent="0">
              <a:buNone/>
            </a:pPr>
            <a:r>
              <a:rPr lang="en-IN" dirty="0"/>
              <a:t>   emp1.disp();</a:t>
            </a:r>
          </a:p>
          <a:p>
            <a:pPr marL="0" indent="0">
              <a:buNone/>
            </a:pPr>
            <a:r>
              <a:rPr lang="en-IN" dirty="0"/>
              <a:t>   emp2.disp();</a:t>
            </a:r>
          </a:p>
          <a:p>
            <a:pPr marL="0" indent="0">
              <a:buNone/>
            </a:pPr>
            <a:r>
              <a:rPr lang="en-IN" dirty="0"/>
              <a:t>   emp3.disp();</a:t>
            </a:r>
          </a:p>
          <a:p>
            <a:pPr marL="0" indent="0">
              <a:buNone/>
            </a:pPr>
            <a:r>
              <a:rPr lang="en-IN" dirty="0"/>
              <a:t>   emp4.disp();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838161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r>
              <a:rPr lang="en-US" sz="2000" dirty="0"/>
              <a:t>Output -</a:t>
            </a:r>
          </a:p>
          <a:p>
            <a:r>
              <a:rPr lang="en-US" sz="2000" dirty="0"/>
              <a:t>0  null</a:t>
            </a:r>
          </a:p>
          <a:p>
            <a:r>
              <a:rPr lang="en-US" sz="2000" dirty="0"/>
              <a:t>1  null</a:t>
            </a:r>
          </a:p>
          <a:p>
            <a:r>
              <a:rPr lang="en-US" sz="2000" dirty="0"/>
              <a:t>0  Tom</a:t>
            </a:r>
          </a:p>
          <a:p>
            <a:r>
              <a:rPr lang="en-US" sz="2000" dirty="0"/>
              <a:t>1  Tom</a:t>
            </a:r>
          </a:p>
          <a:p>
            <a:r>
              <a:rPr lang="en-US" sz="2000" dirty="0"/>
              <a:t>Here we have defined 5 constructors, Constructor 1 does not have any parameter, Constructor 2 has 1 parameter of </a:t>
            </a:r>
            <a:r>
              <a:rPr lang="en-US" sz="2000" dirty="0" err="1"/>
              <a:t>int</a:t>
            </a:r>
            <a:r>
              <a:rPr lang="en-US" sz="2000" dirty="0"/>
              <a:t> type, Constructor 3 also has 1 parameter but it is of String type, and so on.</a:t>
            </a:r>
          </a:p>
          <a:p>
            <a:endParaRPr lang="en-US" sz="2000" dirty="0"/>
          </a:p>
          <a:p>
            <a:r>
              <a:rPr lang="en-US" sz="2000" dirty="0"/>
              <a:t>When the code Employee emp1 = new Employee(); gets executed, it will cause the compiler to look for a constructor that is not having any parameter, so Constructor 1 will gets executed and initialize data fields of emp1 to their default value (i.e. 0 for </a:t>
            </a:r>
            <a:r>
              <a:rPr lang="en-US" sz="2000" dirty="0" err="1"/>
              <a:t>int</a:t>
            </a:r>
            <a:r>
              <a:rPr lang="en-US" sz="2000" dirty="0"/>
              <a:t> and null for String)</a:t>
            </a:r>
            <a:endParaRPr lang="en-IN" sz="20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181600"/>
            <a:ext cx="4778375"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8161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800" dirty="0"/>
              <a:t>Note the default value of object type is null.</a:t>
            </a:r>
          </a:p>
          <a:p>
            <a:endParaRPr lang="en-US" sz="2800" dirty="0"/>
          </a:p>
          <a:p>
            <a:r>
              <a:rPr lang="en-US" sz="2800" dirty="0"/>
              <a:t>The next line Employee emp2 = new Employee(1); will cause the compiler to look for a constructor that is having only one parameter of </a:t>
            </a:r>
            <a:r>
              <a:rPr lang="en-US" sz="2800" dirty="0" err="1"/>
              <a:t>int</a:t>
            </a:r>
            <a:r>
              <a:rPr lang="en-US" sz="2800" dirty="0"/>
              <a:t> type , so Constructor 2 will gets executed and initialize id to 1 and name to null.</a:t>
            </a:r>
          </a:p>
          <a:p>
            <a:endParaRPr lang="en-IN" sz="2800"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038600"/>
            <a:ext cx="4930775"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8161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dirty="0"/>
              <a:t>The next line </a:t>
            </a:r>
            <a:endParaRPr lang="en-US" dirty="0" smtClean="0"/>
          </a:p>
          <a:p>
            <a:r>
              <a:rPr lang="en-US" dirty="0" smtClean="0"/>
              <a:t>Employee </a:t>
            </a:r>
            <a:r>
              <a:rPr lang="en-US" dirty="0"/>
              <a:t>emp3 = new Employee("Tom"); </a:t>
            </a:r>
            <a:endParaRPr lang="en-US" dirty="0" smtClean="0"/>
          </a:p>
          <a:p>
            <a:r>
              <a:rPr lang="en-US" dirty="0" smtClean="0"/>
              <a:t>will </a:t>
            </a:r>
            <a:r>
              <a:rPr lang="en-US" dirty="0"/>
              <a:t>cause the compiler to look for a constructor that is having only one parameter of String type , so Constructor 3 will gets executed and initialize id to 0 (default value of </a:t>
            </a:r>
            <a:r>
              <a:rPr lang="en-US" dirty="0" err="1"/>
              <a:t>int</a:t>
            </a:r>
            <a:r>
              <a:rPr lang="en-US" dirty="0"/>
              <a:t>) and name to "Tom".</a:t>
            </a:r>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343400"/>
            <a:ext cx="67214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8161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dirty="0"/>
              <a:t>The next line </a:t>
            </a:r>
            <a:endParaRPr lang="en-US" dirty="0" smtClean="0"/>
          </a:p>
          <a:p>
            <a:r>
              <a:rPr lang="en-US" dirty="0" smtClean="0"/>
              <a:t>Employee </a:t>
            </a:r>
            <a:r>
              <a:rPr lang="en-US" dirty="0"/>
              <a:t>emp4 = new Employee(1,"Tom"); will cause the compiler to look for a constructor that is two parameters 1st is of </a:t>
            </a:r>
            <a:r>
              <a:rPr lang="en-US" dirty="0" err="1"/>
              <a:t>int</a:t>
            </a:r>
            <a:r>
              <a:rPr lang="en-US" dirty="0"/>
              <a:t> type and 2nd is of String type , so Constructor 4 will gets executed and initialize id to 1 and name to "Tom".</a:t>
            </a:r>
          </a:p>
          <a:p>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495800"/>
            <a:ext cx="49006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8161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32500" lnSpcReduction="20000"/>
          </a:bodyPr>
          <a:lstStyle/>
          <a:p>
            <a:r>
              <a:rPr lang="en-US" b="1" dirty="0"/>
              <a:t>Copy Constructor -</a:t>
            </a:r>
          </a:p>
          <a:p>
            <a:r>
              <a:rPr lang="en-US" dirty="0"/>
              <a:t>This constructor is used to create a copy of object</a:t>
            </a:r>
            <a:r>
              <a:rPr lang="en-US" dirty="0" smtClean="0"/>
              <a:t>.</a:t>
            </a:r>
          </a:p>
          <a:p>
            <a:pPr marL="0" indent="0">
              <a:buNone/>
            </a:pPr>
            <a:r>
              <a:rPr lang="en-IN" dirty="0"/>
              <a:t>Example -</a:t>
            </a:r>
          </a:p>
          <a:p>
            <a:pPr marL="0" indent="0">
              <a:buNone/>
            </a:pPr>
            <a:endParaRPr lang="en-IN" dirty="0"/>
          </a:p>
          <a:p>
            <a:pPr marL="0" indent="0">
              <a:buNone/>
            </a:pPr>
            <a:r>
              <a:rPr lang="en-IN" dirty="0"/>
              <a:t>class Employee</a:t>
            </a:r>
          </a:p>
          <a:p>
            <a:pPr marL="0" indent="0">
              <a:buNone/>
            </a:pPr>
            <a:r>
              <a:rPr lang="en-IN" dirty="0"/>
              <a:t>{</a:t>
            </a:r>
          </a:p>
          <a:p>
            <a:pPr marL="0" indent="0">
              <a:buNone/>
            </a:pPr>
            <a:r>
              <a:rPr lang="en-IN" dirty="0"/>
              <a:t> </a:t>
            </a:r>
            <a:r>
              <a:rPr lang="en-IN" dirty="0" err="1"/>
              <a:t>int</a:t>
            </a:r>
            <a:r>
              <a:rPr lang="en-IN" dirty="0"/>
              <a:t> id;</a:t>
            </a:r>
          </a:p>
          <a:p>
            <a:pPr marL="0" indent="0">
              <a:buNone/>
            </a:pPr>
            <a:r>
              <a:rPr lang="en-IN" dirty="0"/>
              <a:t> String name;</a:t>
            </a:r>
          </a:p>
          <a:p>
            <a:pPr marL="0" indent="0">
              <a:buNone/>
            </a:pPr>
            <a:endParaRPr lang="en-IN" dirty="0"/>
          </a:p>
          <a:p>
            <a:pPr marL="0" indent="0">
              <a:buNone/>
            </a:pPr>
            <a:r>
              <a:rPr lang="en-IN" dirty="0"/>
              <a:t> public void input()</a:t>
            </a:r>
          </a:p>
          <a:p>
            <a:pPr marL="0" indent="0">
              <a:buNone/>
            </a:pPr>
            <a:r>
              <a:rPr lang="en-IN" dirty="0"/>
              <a:t> {</a:t>
            </a:r>
          </a:p>
          <a:p>
            <a:pPr marL="0" indent="0">
              <a:buNone/>
            </a:pPr>
            <a:r>
              <a:rPr lang="en-IN" dirty="0"/>
              <a:t>  id = </a:t>
            </a:r>
            <a:r>
              <a:rPr lang="en-IN" dirty="0" err="1"/>
              <a:t>Integer.parseInt</a:t>
            </a:r>
            <a:r>
              <a:rPr lang="en-IN" dirty="0"/>
              <a:t>(</a:t>
            </a:r>
            <a:r>
              <a:rPr lang="en-IN" dirty="0" err="1"/>
              <a:t>System.console</a:t>
            </a:r>
            <a:r>
              <a:rPr lang="en-IN" dirty="0"/>
              <a:t>().</a:t>
            </a:r>
            <a:r>
              <a:rPr lang="en-IN" dirty="0" err="1"/>
              <a:t>readLine</a:t>
            </a:r>
            <a:r>
              <a:rPr lang="en-IN" dirty="0"/>
              <a:t>("Enter ID"));</a:t>
            </a:r>
          </a:p>
          <a:p>
            <a:pPr marL="0" indent="0">
              <a:buNone/>
            </a:pPr>
            <a:r>
              <a:rPr lang="en-IN" dirty="0"/>
              <a:t>  name  = </a:t>
            </a:r>
            <a:r>
              <a:rPr lang="en-IN" dirty="0" err="1"/>
              <a:t>System.console</a:t>
            </a:r>
            <a:r>
              <a:rPr lang="en-IN" dirty="0"/>
              <a:t>().</a:t>
            </a:r>
            <a:r>
              <a:rPr lang="en-IN" dirty="0" err="1"/>
              <a:t>readLine</a:t>
            </a:r>
            <a:r>
              <a:rPr lang="en-IN" dirty="0"/>
              <a:t>("Enter name");</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(id+ "  " + name);</a:t>
            </a:r>
          </a:p>
          <a:p>
            <a:pPr marL="0" indent="0">
              <a:buNone/>
            </a:pPr>
            <a:r>
              <a:rPr lang="en-IN" dirty="0"/>
              <a:t> }</a:t>
            </a:r>
          </a:p>
          <a:p>
            <a:pPr marL="0" indent="0">
              <a:buNone/>
            </a:pPr>
            <a:r>
              <a:rPr lang="en-IN" dirty="0"/>
              <a:t>  </a:t>
            </a:r>
          </a:p>
          <a:p>
            <a:pPr marL="0" indent="0">
              <a:buNone/>
            </a:pPr>
            <a:r>
              <a:rPr lang="en-IN" dirty="0"/>
              <a:t>public Employee(</a:t>
            </a:r>
            <a:r>
              <a:rPr lang="en-IN" dirty="0" err="1"/>
              <a:t>int</a:t>
            </a:r>
            <a:r>
              <a:rPr lang="en-IN" dirty="0"/>
              <a:t> i, String n)    </a:t>
            </a:r>
          </a:p>
          <a:p>
            <a:pPr marL="0" indent="0">
              <a:buNone/>
            </a:pPr>
            <a:r>
              <a:rPr lang="en-IN" dirty="0"/>
              <a:t>{</a:t>
            </a:r>
          </a:p>
          <a:p>
            <a:pPr marL="0" indent="0">
              <a:buNone/>
            </a:pPr>
            <a:r>
              <a:rPr lang="en-IN" dirty="0"/>
              <a:t> id = i;</a:t>
            </a:r>
          </a:p>
          <a:p>
            <a:pPr marL="0" indent="0">
              <a:buNone/>
            </a:pPr>
            <a:r>
              <a:rPr lang="en-IN" dirty="0"/>
              <a:t> name = n;</a:t>
            </a:r>
          </a:p>
          <a:p>
            <a:pPr marL="0" indent="0">
              <a:buNone/>
            </a:pPr>
            <a:r>
              <a:rPr lang="en-IN" dirty="0"/>
              <a:t>}</a:t>
            </a:r>
          </a:p>
          <a:p>
            <a:pPr marL="0" indent="0">
              <a:buNone/>
            </a:pPr>
            <a:r>
              <a:rPr lang="en-IN" dirty="0"/>
              <a:t>public Employee(Employee </a:t>
            </a:r>
            <a:r>
              <a:rPr lang="en-IN" dirty="0" err="1"/>
              <a:t>emp</a:t>
            </a:r>
            <a:r>
              <a:rPr lang="en-IN" dirty="0"/>
              <a:t>)    // Copy Constructor</a:t>
            </a:r>
          </a:p>
          <a:p>
            <a:pPr marL="0" indent="0">
              <a:buNone/>
            </a:pPr>
            <a:r>
              <a:rPr lang="en-IN" dirty="0"/>
              <a:t>{</a:t>
            </a:r>
          </a:p>
          <a:p>
            <a:pPr marL="0" indent="0">
              <a:buNone/>
            </a:pPr>
            <a:r>
              <a:rPr lang="en-IN" dirty="0"/>
              <a:t> id = emp.id;</a:t>
            </a:r>
          </a:p>
          <a:p>
            <a:pPr marL="0" indent="0">
              <a:buNone/>
            </a:pPr>
            <a:r>
              <a:rPr lang="en-IN" dirty="0"/>
              <a:t> name = emp.name;</a:t>
            </a:r>
          </a:p>
          <a:p>
            <a:pPr marL="0" indent="0">
              <a:buNone/>
            </a:pPr>
            <a:r>
              <a:rPr lang="en-IN" dirty="0"/>
              <a:t>}</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838161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Employee emp1 = new Employee(1, "Tom");</a:t>
            </a:r>
          </a:p>
          <a:p>
            <a:pPr marL="0" indent="0">
              <a:buNone/>
            </a:pPr>
            <a:r>
              <a:rPr lang="en-IN" dirty="0"/>
              <a:t>   emp1.disp();</a:t>
            </a:r>
          </a:p>
          <a:p>
            <a:pPr marL="0" indent="0">
              <a:buNone/>
            </a:pPr>
            <a:r>
              <a:rPr lang="en-IN" dirty="0"/>
              <a:t>   Employee emp2 = new Employee(emp1);</a:t>
            </a:r>
          </a:p>
          <a:p>
            <a:pPr marL="0" indent="0">
              <a:buNone/>
            </a:pPr>
            <a:r>
              <a:rPr lang="en-IN" dirty="0"/>
              <a:t>   emp2.disp();</a:t>
            </a:r>
          </a:p>
          <a:p>
            <a:pPr marL="0" indent="0">
              <a:buNone/>
            </a:pPr>
            <a:r>
              <a:rPr lang="en-IN" dirty="0"/>
              <a:t>  }</a:t>
            </a:r>
          </a:p>
          <a:p>
            <a:pPr marL="0" indent="0">
              <a:buNone/>
            </a:pPr>
            <a:r>
              <a:rPr lang="en-IN" dirty="0"/>
              <a:t>}</a:t>
            </a:r>
          </a:p>
          <a:p>
            <a:pPr marL="0" indent="0">
              <a:buNone/>
            </a:pPr>
            <a:r>
              <a:rPr lang="en-IN" dirty="0"/>
              <a:t>      </a:t>
            </a:r>
          </a:p>
          <a:p>
            <a:pPr marL="0" indent="0">
              <a:buNone/>
            </a:pPr>
            <a:endParaRPr lang="en-IN" dirty="0"/>
          </a:p>
          <a:p>
            <a:pPr marL="0" indent="0">
              <a:buNone/>
            </a:pPr>
            <a:r>
              <a:rPr lang="en-IN" dirty="0"/>
              <a:t>      </a:t>
            </a:r>
          </a:p>
          <a:p>
            <a:pPr marL="0" indent="0">
              <a:buNone/>
            </a:pPr>
            <a:r>
              <a:rPr lang="en-IN" dirty="0"/>
              <a:t>Output -</a:t>
            </a:r>
          </a:p>
          <a:p>
            <a:pPr marL="0" indent="0">
              <a:buNone/>
            </a:pPr>
            <a:r>
              <a:rPr lang="en-IN" dirty="0"/>
              <a:t>1   Tom</a:t>
            </a:r>
          </a:p>
          <a:p>
            <a:pPr marL="0" indent="0">
              <a:buNone/>
            </a:pPr>
            <a:r>
              <a:rPr lang="en-IN" dirty="0"/>
              <a:t>1   Tom</a:t>
            </a:r>
          </a:p>
        </p:txBody>
      </p:sp>
    </p:spTree>
    <p:extLst>
      <p:ext uri="{BB962C8B-B14F-4D97-AF65-F5344CB8AC3E}">
        <p14:creationId xmlns:p14="http://schemas.microsoft.com/office/powerpoint/2010/main" val="2563159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dirty="0"/>
              <a:t>When the code </a:t>
            </a:r>
            <a:r>
              <a:rPr lang="en-US" b="1" dirty="0"/>
              <a:t>Employee emp1 = new Employee(1, "Tom"); </a:t>
            </a:r>
            <a:r>
              <a:rPr lang="en-US" dirty="0"/>
              <a:t>gets executed, it will call the constructor and set emp1 id to 1 and name to 'Tom'.</a:t>
            </a:r>
          </a:p>
          <a:p>
            <a:endParaRPr lang="en-US" dirty="0"/>
          </a:p>
          <a:p>
            <a:r>
              <a:rPr lang="en-US" dirty="0"/>
              <a:t>Next line </a:t>
            </a:r>
            <a:r>
              <a:rPr lang="en-US" dirty="0" err="1"/>
              <a:t>emp.disp</a:t>
            </a:r>
            <a:r>
              <a:rPr lang="en-US" dirty="0"/>
              <a:t>(); will call </a:t>
            </a:r>
            <a:r>
              <a:rPr lang="en-US" dirty="0" err="1"/>
              <a:t>disp</a:t>
            </a:r>
            <a:r>
              <a:rPr lang="en-US" dirty="0"/>
              <a:t>() method to display id and name of emp1 object.</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648200"/>
            <a:ext cx="4862513"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1366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a:bodyPr>
          <a:lstStyle/>
          <a:p>
            <a:r>
              <a:rPr lang="en-US" dirty="0"/>
              <a:t>the next line </a:t>
            </a:r>
            <a:r>
              <a:rPr lang="en-US" b="1" dirty="0"/>
              <a:t>Employee emp2 = new Employee(emp1);</a:t>
            </a:r>
            <a:r>
              <a:rPr lang="en-US" dirty="0"/>
              <a:t> will call the second constructor and the value of </a:t>
            </a:r>
            <a:r>
              <a:rPr lang="en-US" dirty="0" err="1"/>
              <a:t>emp</a:t>
            </a:r>
            <a:r>
              <a:rPr lang="en-US" dirty="0"/>
              <a:t> in constructor will be equal to emp1 i.e. </a:t>
            </a:r>
            <a:r>
              <a:rPr lang="en-US" dirty="0" err="1"/>
              <a:t>emp</a:t>
            </a:r>
            <a:r>
              <a:rPr lang="en-US" dirty="0"/>
              <a:t> now will refer to same object as emp1</a:t>
            </a:r>
            <a:r>
              <a:rPr lang="en-US" dirty="0" smtClean="0"/>
              <a:t>.</a:t>
            </a:r>
          </a:p>
          <a:p>
            <a:endParaRPr lang="en-US" dirty="0"/>
          </a:p>
          <a:p>
            <a:endParaRPr lang="en-US" dirty="0" smtClean="0"/>
          </a:p>
          <a:p>
            <a:r>
              <a:rPr lang="en-US" dirty="0"/>
              <a:t>When constructor gets executed it will set emp2 id and name to emp.id (i.e. 1) and emp.name (i.e. Tom). So created exact copy emp1. That is why it is called </a:t>
            </a:r>
            <a:r>
              <a:rPr lang="en-US" b="1" dirty="0"/>
              <a:t>Copy Constructor</a:t>
            </a:r>
            <a:r>
              <a:rPr lang="en-US" dirty="0"/>
              <a:t>.</a:t>
            </a:r>
            <a:endParaRPr lang="en-US" dirty="0" smtClean="0"/>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903739"/>
            <a:ext cx="4854575"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1366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endParaRPr lang="en-IN" dirty="0" smtClean="0"/>
          </a:p>
          <a:p>
            <a:endParaRPr lang="en-IN" dirty="0"/>
          </a:p>
          <a:p>
            <a:endParaRPr lang="en-IN" dirty="0" smtClean="0"/>
          </a:p>
          <a:p>
            <a:r>
              <a:rPr lang="en-US" dirty="0"/>
              <a:t>The next line will display the id and name of emp2.</a:t>
            </a:r>
            <a:endParaRPr lang="en-IN"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066800"/>
            <a:ext cx="4892675"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1366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800" b="1" dirty="0"/>
              <a:t>Chaining Of Constructors -</a:t>
            </a:r>
          </a:p>
          <a:p>
            <a:r>
              <a:rPr lang="en-US" sz="2800" dirty="0"/>
              <a:t>We can also chain constructor to each other using </a:t>
            </a:r>
            <a:r>
              <a:rPr lang="en-US" sz="2800" b="1" dirty="0"/>
              <a:t>this()</a:t>
            </a:r>
            <a:r>
              <a:rPr lang="en-US" sz="2800" dirty="0"/>
              <a:t>. While chaining you should remember the following rules -</a:t>
            </a:r>
            <a:br>
              <a:rPr lang="en-US" sz="2800" dirty="0"/>
            </a:br>
            <a:r>
              <a:rPr lang="en-US" sz="2800" dirty="0"/>
              <a:t>1- One constructor can chain only one constructor.</a:t>
            </a:r>
            <a:br>
              <a:rPr lang="en-US" sz="2800" dirty="0"/>
            </a:br>
            <a:r>
              <a:rPr lang="en-US" sz="2800" dirty="0"/>
              <a:t>2- this() should be the first statement within constructor.</a:t>
            </a:r>
            <a:br>
              <a:rPr lang="en-US" sz="2800" dirty="0"/>
            </a:br>
            <a:r>
              <a:rPr lang="en-US" sz="2800" dirty="0"/>
              <a:t>3- It should not form a cycle while chaining. i.e. -</a:t>
            </a:r>
            <a:endParaRPr lang="en-IN" sz="2800"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343400"/>
            <a:ext cx="32385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1366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25000" lnSpcReduction="20000"/>
          </a:bodyPr>
          <a:lstStyle/>
          <a:p>
            <a:pPr marL="0" indent="0">
              <a:buNone/>
            </a:pPr>
            <a:r>
              <a:rPr lang="en-IN" dirty="0"/>
              <a:t>Example -</a:t>
            </a:r>
          </a:p>
          <a:p>
            <a:pPr marL="0" indent="0">
              <a:buNone/>
            </a:pPr>
            <a:endParaRPr lang="en-IN" dirty="0"/>
          </a:p>
          <a:p>
            <a:pPr marL="0" indent="0">
              <a:buNone/>
            </a:pPr>
            <a:r>
              <a:rPr lang="en-IN" dirty="0"/>
              <a:t>class Employee</a:t>
            </a:r>
          </a:p>
          <a:p>
            <a:pPr marL="0" indent="0">
              <a:buNone/>
            </a:pPr>
            <a:r>
              <a:rPr lang="en-IN" dirty="0"/>
              <a:t>{</a:t>
            </a:r>
          </a:p>
          <a:p>
            <a:pPr marL="0" indent="0">
              <a:buNone/>
            </a:pPr>
            <a:r>
              <a:rPr lang="en-IN" dirty="0"/>
              <a:t> </a:t>
            </a:r>
            <a:r>
              <a:rPr lang="en-IN" dirty="0" err="1"/>
              <a:t>int</a:t>
            </a:r>
            <a:r>
              <a:rPr lang="en-IN" dirty="0"/>
              <a:t> id;</a:t>
            </a:r>
          </a:p>
          <a:p>
            <a:pPr marL="0" indent="0">
              <a:buNone/>
            </a:pPr>
            <a:r>
              <a:rPr lang="en-IN" dirty="0"/>
              <a:t> String name;</a:t>
            </a:r>
          </a:p>
          <a:p>
            <a:pPr marL="0" indent="0">
              <a:buNone/>
            </a:pPr>
            <a:r>
              <a:rPr lang="en-IN" dirty="0"/>
              <a:t>         </a:t>
            </a:r>
          </a:p>
          <a:p>
            <a:pPr marL="0" indent="0">
              <a:buNone/>
            </a:pPr>
            <a:r>
              <a:rPr lang="en-IN" dirty="0"/>
              <a:t> public void input()</a:t>
            </a:r>
          </a:p>
          <a:p>
            <a:pPr marL="0" indent="0">
              <a:buNone/>
            </a:pPr>
            <a:r>
              <a:rPr lang="en-IN" dirty="0"/>
              <a:t> {</a:t>
            </a:r>
          </a:p>
          <a:p>
            <a:pPr marL="0" indent="0">
              <a:buNone/>
            </a:pPr>
            <a:r>
              <a:rPr lang="en-IN" dirty="0"/>
              <a:t>  id = </a:t>
            </a:r>
            <a:r>
              <a:rPr lang="en-IN" dirty="0" err="1"/>
              <a:t>Integer.parseInt</a:t>
            </a:r>
            <a:r>
              <a:rPr lang="en-IN" dirty="0"/>
              <a:t>(</a:t>
            </a:r>
            <a:r>
              <a:rPr lang="en-IN" dirty="0" err="1"/>
              <a:t>System.console</a:t>
            </a:r>
            <a:r>
              <a:rPr lang="en-IN" dirty="0"/>
              <a:t>().</a:t>
            </a:r>
            <a:r>
              <a:rPr lang="en-IN" dirty="0" err="1"/>
              <a:t>readLine</a:t>
            </a:r>
            <a:r>
              <a:rPr lang="en-IN" dirty="0"/>
              <a:t>("Enter ID"));</a:t>
            </a:r>
          </a:p>
          <a:p>
            <a:pPr marL="0" indent="0">
              <a:buNone/>
            </a:pPr>
            <a:r>
              <a:rPr lang="en-IN" dirty="0"/>
              <a:t>  name  = </a:t>
            </a:r>
            <a:r>
              <a:rPr lang="en-IN" dirty="0" err="1"/>
              <a:t>System.console</a:t>
            </a:r>
            <a:r>
              <a:rPr lang="en-IN" dirty="0"/>
              <a:t>().</a:t>
            </a:r>
            <a:r>
              <a:rPr lang="en-IN" dirty="0" err="1"/>
              <a:t>readLine</a:t>
            </a:r>
            <a:r>
              <a:rPr lang="en-IN" dirty="0"/>
              <a:t>("Enter name");</a:t>
            </a:r>
          </a:p>
          <a:p>
            <a:pPr marL="0" indent="0">
              <a:buNone/>
            </a:pPr>
            <a:r>
              <a:rPr lang="en-IN" dirty="0"/>
              <a:t> }</a:t>
            </a:r>
          </a:p>
          <a:p>
            <a:pPr marL="0" indent="0">
              <a:buNone/>
            </a:pPr>
            <a:r>
              <a:rPr lang="en-IN" dirty="0"/>
              <a:t> public void </a:t>
            </a:r>
            <a:r>
              <a:rPr lang="en-IN" dirty="0" err="1"/>
              <a:t>disp</a:t>
            </a:r>
            <a:r>
              <a:rPr lang="en-IN" dirty="0"/>
              <a:t>()</a:t>
            </a:r>
          </a:p>
          <a:p>
            <a:pPr marL="0" indent="0">
              <a:buNone/>
            </a:pPr>
            <a:r>
              <a:rPr lang="en-IN" dirty="0"/>
              <a:t> {</a:t>
            </a:r>
          </a:p>
          <a:p>
            <a:pPr marL="0" indent="0">
              <a:buNone/>
            </a:pPr>
            <a:r>
              <a:rPr lang="en-IN" dirty="0"/>
              <a:t>  </a:t>
            </a:r>
            <a:r>
              <a:rPr lang="en-IN" dirty="0" err="1"/>
              <a:t>System.out.println</a:t>
            </a:r>
            <a:r>
              <a:rPr lang="en-IN" dirty="0"/>
              <a:t>(id+ "  " + name);</a:t>
            </a:r>
          </a:p>
          <a:p>
            <a:pPr marL="0" indent="0">
              <a:buNone/>
            </a:pPr>
            <a:r>
              <a:rPr lang="en-IN" dirty="0"/>
              <a:t> }</a:t>
            </a:r>
          </a:p>
          <a:p>
            <a:pPr marL="0" indent="0">
              <a:buNone/>
            </a:pPr>
            <a:r>
              <a:rPr lang="en-IN" dirty="0"/>
              <a:t>  </a:t>
            </a:r>
          </a:p>
          <a:p>
            <a:pPr marL="0" indent="0">
              <a:buNone/>
            </a:pPr>
            <a:r>
              <a:rPr lang="en-IN" dirty="0"/>
              <a:t> public Employee(</a:t>
            </a:r>
            <a:r>
              <a:rPr lang="en-IN" dirty="0" err="1"/>
              <a:t>int</a:t>
            </a:r>
            <a:r>
              <a:rPr lang="en-IN" dirty="0"/>
              <a:t> i)      // Constructor 1</a:t>
            </a:r>
          </a:p>
          <a:p>
            <a:pPr marL="0" indent="0">
              <a:buNone/>
            </a:pPr>
            <a:r>
              <a:rPr lang="en-IN" dirty="0"/>
              <a:t> {</a:t>
            </a:r>
          </a:p>
          <a:p>
            <a:pPr marL="0" indent="0">
              <a:buNone/>
            </a:pPr>
            <a:r>
              <a:rPr lang="en-IN" dirty="0"/>
              <a:t>  id = i;</a:t>
            </a:r>
          </a:p>
          <a:p>
            <a:pPr marL="0" indent="0">
              <a:buNone/>
            </a:pPr>
            <a:r>
              <a:rPr lang="en-IN" dirty="0"/>
              <a:t> }</a:t>
            </a:r>
          </a:p>
          <a:p>
            <a:pPr marL="0" indent="0">
              <a:buNone/>
            </a:pPr>
            <a:r>
              <a:rPr lang="en-IN" dirty="0"/>
              <a:t> public Employee(String n)    // Constructor 2</a:t>
            </a:r>
          </a:p>
          <a:p>
            <a:pPr marL="0" indent="0">
              <a:buNone/>
            </a:pPr>
            <a:r>
              <a:rPr lang="en-IN" dirty="0"/>
              <a:t> {</a:t>
            </a:r>
          </a:p>
          <a:p>
            <a:pPr marL="0" indent="0">
              <a:buNone/>
            </a:pPr>
            <a:r>
              <a:rPr lang="en-IN" dirty="0"/>
              <a:t>  name = n;</a:t>
            </a:r>
          </a:p>
          <a:p>
            <a:pPr marL="0" indent="0">
              <a:buNone/>
            </a:pPr>
            <a:r>
              <a:rPr lang="en-IN" dirty="0"/>
              <a:t> }</a:t>
            </a:r>
          </a:p>
          <a:p>
            <a:pPr marL="0" indent="0">
              <a:buNone/>
            </a:pPr>
            <a:r>
              <a:rPr lang="en-IN" dirty="0"/>
              <a:t>  </a:t>
            </a:r>
          </a:p>
          <a:p>
            <a:pPr marL="0" indent="0">
              <a:buNone/>
            </a:pPr>
            <a:r>
              <a:rPr lang="en-IN" dirty="0"/>
              <a:t> public Employee(</a:t>
            </a:r>
            <a:r>
              <a:rPr lang="en-IN" dirty="0" err="1"/>
              <a:t>int</a:t>
            </a:r>
            <a:r>
              <a:rPr lang="en-IN" dirty="0"/>
              <a:t> i, String n)   // Constructor 3 </a:t>
            </a:r>
          </a:p>
          <a:p>
            <a:pPr marL="0" indent="0">
              <a:buNone/>
            </a:pPr>
            <a:r>
              <a:rPr lang="en-IN" dirty="0"/>
              <a:t> {</a:t>
            </a:r>
          </a:p>
          <a:p>
            <a:pPr marL="0" indent="0">
              <a:buNone/>
            </a:pPr>
            <a:r>
              <a:rPr lang="en-IN" dirty="0"/>
              <a:t>  this(i);       // chaining to constructor 1</a:t>
            </a:r>
          </a:p>
          <a:p>
            <a:pPr marL="0" indent="0">
              <a:buNone/>
            </a:pPr>
            <a:r>
              <a:rPr lang="en-IN" dirty="0"/>
              <a:t>  name = n;</a:t>
            </a:r>
          </a:p>
          <a:p>
            <a:pPr marL="0" indent="0">
              <a:buNone/>
            </a:pPr>
            <a:r>
              <a:rPr lang="en-IN" dirty="0"/>
              <a:t> }</a:t>
            </a:r>
          </a:p>
          <a:p>
            <a:pPr marL="0" indent="0">
              <a:buNone/>
            </a:pPr>
            <a:r>
              <a:rPr lang="en-IN" dirty="0"/>
              <a:t>  </a:t>
            </a:r>
          </a:p>
          <a:p>
            <a:pPr marL="0" indent="0">
              <a:buNone/>
            </a:pPr>
            <a:r>
              <a:rPr lang="en-IN" dirty="0"/>
              <a:t> public Employee(String n, </a:t>
            </a:r>
            <a:r>
              <a:rPr lang="en-IN" dirty="0" err="1"/>
              <a:t>int</a:t>
            </a:r>
            <a:r>
              <a:rPr lang="en-IN" dirty="0"/>
              <a:t> i)    // Constructor 4</a:t>
            </a:r>
          </a:p>
          <a:p>
            <a:pPr marL="0" indent="0">
              <a:buNone/>
            </a:pPr>
            <a:r>
              <a:rPr lang="en-IN" dirty="0"/>
              <a:t> {</a:t>
            </a:r>
          </a:p>
          <a:p>
            <a:pPr marL="0" indent="0">
              <a:buNone/>
            </a:pPr>
            <a:r>
              <a:rPr lang="en-IN" dirty="0"/>
              <a:t>  this(</a:t>
            </a:r>
            <a:r>
              <a:rPr lang="en-IN" dirty="0" err="1"/>
              <a:t>i,n</a:t>
            </a:r>
            <a:r>
              <a:rPr lang="en-IN" dirty="0"/>
              <a:t>);    // chaining to constructor 3</a:t>
            </a:r>
          </a:p>
          <a:p>
            <a:pPr marL="0" indent="0">
              <a:buNone/>
            </a:pPr>
            <a:r>
              <a:rPr lang="en-IN" dirty="0"/>
              <a:t> }</a:t>
            </a:r>
          </a:p>
          <a:p>
            <a:pPr marL="0" indent="0">
              <a:buNone/>
            </a:pPr>
            <a:r>
              <a:rPr lang="en-IN" dirty="0"/>
              <a:t> public Employee(Employee </a:t>
            </a:r>
            <a:r>
              <a:rPr lang="en-IN" dirty="0" err="1"/>
              <a:t>emp</a:t>
            </a:r>
            <a:r>
              <a:rPr lang="en-IN" dirty="0"/>
              <a:t>)    // Constructor 5</a:t>
            </a:r>
          </a:p>
          <a:p>
            <a:pPr marL="0" indent="0">
              <a:buNone/>
            </a:pPr>
            <a:r>
              <a:rPr lang="en-IN" dirty="0"/>
              <a:t> {</a:t>
            </a:r>
          </a:p>
          <a:p>
            <a:pPr marL="0" indent="0">
              <a:buNone/>
            </a:pPr>
            <a:r>
              <a:rPr lang="en-IN" dirty="0"/>
              <a:t>  this(emp.name);   // chaining to constructor 2</a:t>
            </a:r>
          </a:p>
          <a:p>
            <a:pPr marL="0" indent="0">
              <a:buNone/>
            </a:pPr>
            <a:r>
              <a:rPr lang="en-IN" dirty="0"/>
              <a:t>  id = emp.id;</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701366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55000" lnSpcReduction="20000"/>
          </a:bodyPr>
          <a:lstStyle/>
          <a:p>
            <a:pPr marL="0" indent="0">
              <a:buNone/>
            </a:pPr>
            <a:r>
              <a:rPr lang="en-US" dirty="0"/>
              <a:t>public class Demo</a:t>
            </a:r>
          </a:p>
          <a:p>
            <a:pPr marL="0" indent="0">
              <a:buNone/>
            </a:pPr>
            <a:r>
              <a:rPr lang="en-US" dirty="0"/>
              <a:t>{</a:t>
            </a:r>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Employee emp1 = new Employee("John", 2);</a:t>
            </a:r>
          </a:p>
          <a:p>
            <a:pPr marL="0" indent="0">
              <a:buNone/>
            </a:pPr>
            <a:r>
              <a:rPr lang="en-US" dirty="0"/>
              <a:t>  emp1.disp();</a:t>
            </a:r>
          </a:p>
          <a:p>
            <a:pPr marL="0" indent="0">
              <a:buNone/>
            </a:pPr>
            <a:r>
              <a:rPr lang="en-US" dirty="0"/>
              <a:t> }</a:t>
            </a:r>
          </a:p>
          <a:p>
            <a:pPr marL="0" indent="0">
              <a:buNone/>
            </a:pPr>
            <a:r>
              <a:rPr lang="en-US" dirty="0"/>
              <a:t>}</a:t>
            </a:r>
          </a:p>
          <a:p>
            <a:r>
              <a:rPr lang="en-US" dirty="0"/>
              <a:t>       </a:t>
            </a:r>
            <a:endParaRPr lang="en-US" dirty="0" smtClean="0"/>
          </a:p>
          <a:p>
            <a:endParaRPr lang="en-US" dirty="0"/>
          </a:p>
          <a:p>
            <a:r>
              <a:rPr lang="en-US" dirty="0"/>
              <a:t>When the code Employee emp1 = new Employee("John", 2); gets executed , It will call to constructor 4 and the statement this(</a:t>
            </a:r>
            <a:r>
              <a:rPr lang="en-US" dirty="0" err="1"/>
              <a:t>i,n</a:t>
            </a:r>
            <a:r>
              <a:rPr lang="en-US" dirty="0"/>
              <a:t>) will call to a constructor that have first parameter of </a:t>
            </a:r>
            <a:r>
              <a:rPr lang="en-US" dirty="0" err="1"/>
              <a:t>int</a:t>
            </a:r>
            <a:r>
              <a:rPr lang="en-US" dirty="0"/>
              <a:t> type and second parameter of String type, So it will call to constructor 3.</a:t>
            </a:r>
          </a:p>
          <a:p>
            <a:r>
              <a:rPr lang="en-US" dirty="0"/>
              <a:t>Constructor 3 contain the 1st statement this(i) , it will call to a constructor that contain only 1 parameter of </a:t>
            </a:r>
            <a:r>
              <a:rPr lang="en-US" dirty="0" err="1"/>
              <a:t>int</a:t>
            </a:r>
            <a:r>
              <a:rPr lang="en-US" dirty="0"/>
              <a:t> type so constructor 1 will be executed and set the id of emp1 to 1.</a:t>
            </a:r>
          </a:p>
          <a:p>
            <a:r>
              <a:rPr lang="en-US" dirty="0"/>
              <a:t>Then it will come back to constructor 3 that will set the name of emp1 to 'John' and finally it come back to constructor 4.</a:t>
            </a:r>
          </a:p>
          <a:p>
            <a:r>
              <a:rPr lang="en-US" dirty="0"/>
              <a:t>The next line emp1.disp(); will display id and name of emp1.</a:t>
            </a:r>
            <a:endParaRPr lang="en-IN" dirty="0"/>
          </a:p>
        </p:txBody>
      </p:sp>
    </p:spTree>
    <p:extLst>
      <p:ext uri="{BB962C8B-B14F-4D97-AF65-F5344CB8AC3E}">
        <p14:creationId xmlns:p14="http://schemas.microsoft.com/office/powerpoint/2010/main" val="310122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endParaRPr lang="en-IN" dirty="0"/>
          </a:p>
        </p:txBody>
      </p:sp>
    </p:spTree>
    <p:extLst>
      <p:ext uri="{BB962C8B-B14F-4D97-AF65-F5344CB8AC3E}">
        <p14:creationId xmlns:p14="http://schemas.microsoft.com/office/powerpoint/2010/main" val="3101229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r>
              <a:rPr lang="en-US" b="1" dirty="0"/>
              <a:t>'this' keyword -</a:t>
            </a:r>
          </a:p>
          <a:p>
            <a:r>
              <a:rPr lang="en-US" dirty="0"/>
              <a:t>this means 'object of current class'. It refers to the current object.</a:t>
            </a:r>
          </a:p>
          <a:p>
            <a:pPr marL="0" indent="0">
              <a:buNone/>
            </a:pPr>
            <a:r>
              <a:rPr lang="en-US" dirty="0"/>
              <a:t>'this' keyword is normally used to differentiate between local and class variables within a method. When local variables within method have the same name as class variables then local variables hides the class variables. In that case this keyword is used to refer class variables.</a:t>
            </a:r>
          </a:p>
          <a:p>
            <a:pPr marL="0" indent="0">
              <a:buNone/>
            </a:pPr>
            <a:r>
              <a:rPr lang="en-US" dirty="0"/>
              <a:t>For example - consider the Constructor 4 of previous example -</a:t>
            </a:r>
          </a:p>
          <a:p>
            <a:pPr marL="0" indent="0">
              <a:buNone/>
            </a:pPr>
            <a:r>
              <a:rPr lang="en-US" dirty="0"/>
              <a:t>public Employee(</a:t>
            </a:r>
            <a:r>
              <a:rPr lang="en-US" dirty="0" err="1"/>
              <a:t>int</a:t>
            </a:r>
            <a:r>
              <a:rPr lang="en-US" dirty="0"/>
              <a:t> id, String name)</a:t>
            </a:r>
          </a:p>
          <a:p>
            <a:pPr marL="0" indent="0">
              <a:buNone/>
            </a:pPr>
            <a:r>
              <a:rPr lang="en-US" dirty="0"/>
              <a:t>{</a:t>
            </a:r>
          </a:p>
          <a:p>
            <a:pPr marL="0" indent="0">
              <a:buNone/>
            </a:pPr>
            <a:r>
              <a:rPr lang="en-US" dirty="0"/>
              <a:t> this.id = id;</a:t>
            </a:r>
          </a:p>
          <a:p>
            <a:pPr marL="0" indent="0">
              <a:buNone/>
            </a:pPr>
            <a:r>
              <a:rPr lang="en-US" dirty="0"/>
              <a:t> this.name = name;</a:t>
            </a:r>
          </a:p>
          <a:p>
            <a:pPr marL="0" indent="0">
              <a:buNone/>
            </a:pPr>
            <a:r>
              <a:rPr lang="en-US" dirty="0"/>
              <a:t>}</a:t>
            </a:r>
          </a:p>
          <a:p>
            <a:pPr marL="0" indent="0">
              <a:buNone/>
            </a:pPr>
            <a:r>
              <a:rPr lang="en-US" dirty="0"/>
              <a:t>Here this.id refers to object's id and id refers to method's id. Similarly this.name refers to object name and name refers to method name.</a:t>
            </a:r>
            <a:endParaRPr lang="en-IN" dirty="0"/>
          </a:p>
        </p:txBody>
      </p:sp>
    </p:spTree>
    <p:extLst>
      <p:ext uri="{BB962C8B-B14F-4D97-AF65-F5344CB8AC3E}">
        <p14:creationId xmlns:p14="http://schemas.microsoft.com/office/powerpoint/2010/main" val="310122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smtClean="0"/>
              <a:t/>
            </a:r>
            <a:br>
              <a:rPr lang="en-IN" sz="3600" dirty="0" smtClean="0"/>
            </a:br>
            <a:r>
              <a:rPr lang="en-IN" sz="3600" dirty="0" smtClean="0"/>
              <a:t>Method </a:t>
            </a:r>
            <a:r>
              <a:rPr lang="en-IN" sz="3600" dirty="0"/>
              <a:t>Overloading (Function Overloading) -</a:t>
            </a:r>
            <a:br>
              <a:rPr lang="en-IN" sz="3600" dirty="0"/>
            </a:br>
            <a:endParaRPr lang="en-IN" sz="3600" dirty="0"/>
          </a:p>
        </p:txBody>
      </p:sp>
      <p:sp>
        <p:nvSpPr>
          <p:cNvPr id="3" name="Content Placeholder 2"/>
          <p:cNvSpPr>
            <a:spLocks noGrp="1"/>
          </p:cNvSpPr>
          <p:nvPr>
            <p:ph idx="1"/>
          </p:nvPr>
        </p:nvSpPr>
        <p:spPr/>
        <p:txBody>
          <a:bodyPr>
            <a:normAutofit fontScale="85000" lnSpcReduction="20000"/>
          </a:bodyPr>
          <a:lstStyle/>
          <a:p>
            <a:r>
              <a:rPr lang="en-US" dirty="0"/>
              <a:t>In java it is possible to have multiple methods with the same name in a class as long as their parameter declarations are different i.e. either the number of parameters or data types of parameters are different. In this case methods are said to be overloaded and process is referred as method overloading. This is one of the ways Java supports the concept of Polymorphism</a:t>
            </a:r>
            <a:r>
              <a:rPr lang="en-US" dirty="0" smtClean="0"/>
              <a:t>.</a:t>
            </a:r>
          </a:p>
          <a:p>
            <a:r>
              <a:rPr lang="en-US" dirty="0" smtClean="0"/>
              <a:t>When </a:t>
            </a:r>
            <a:r>
              <a:rPr lang="en-US" dirty="0"/>
              <a:t>an overloaded method is called, Compiler checks for the number and data types of parameters to determine which overloaded method to call.</a:t>
            </a:r>
            <a:br>
              <a:rPr lang="en-US" dirty="0"/>
            </a:br>
            <a:r>
              <a:rPr lang="en-US" b="1" dirty="0"/>
              <a:t>Note - </a:t>
            </a:r>
            <a:r>
              <a:rPr lang="en-US" dirty="0"/>
              <a:t>Always remember that there is no method overloading on the basis of return type of methods.</a:t>
            </a:r>
            <a:endParaRPr lang="en-IN" dirty="0"/>
          </a:p>
        </p:txBody>
      </p:sp>
    </p:spTree>
    <p:extLst>
      <p:ext uri="{BB962C8B-B14F-4D97-AF65-F5344CB8AC3E}">
        <p14:creationId xmlns:p14="http://schemas.microsoft.com/office/powerpoint/2010/main" val="1619380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32500" lnSpcReduction="20000"/>
          </a:bodyPr>
          <a:lstStyle/>
          <a:p>
            <a:pPr marL="0" indent="0">
              <a:buNone/>
            </a:pPr>
            <a:r>
              <a:rPr lang="en-IN" dirty="0"/>
              <a:t>class Test</a:t>
            </a:r>
          </a:p>
          <a:p>
            <a:pPr marL="0" indent="0">
              <a:buNone/>
            </a:pPr>
            <a:r>
              <a:rPr lang="en-IN" dirty="0"/>
              <a:t>{</a:t>
            </a:r>
          </a:p>
          <a:p>
            <a:pPr marL="0" indent="0">
              <a:buNone/>
            </a:pPr>
            <a:r>
              <a:rPr lang="en-IN" dirty="0"/>
              <a:t> public </a:t>
            </a:r>
            <a:r>
              <a:rPr lang="en-IN" dirty="0" err="1"/>
              <a:t>int</a:t>
            </a:r>
            <a:r>
              <a:rPr lang="en-IN" dirty="0"/>
              <a:t> sum(</a:t>
            </a:r>
            <a:r>
              <a:rPr lang="en-IN" dirty="0" err="1"/>
              <a:t>int</a:t>
            </a:r>
            <a:r>
              <a:rPr lang="en-IN" dirty="0"/>
              <a:t> a)    // version 1</a:t>
            </a:r>
          </a:p>
          <a:p>
            <a:pPr marL="0" indent="0">
              <a:buNone/>
            </a:pPr>
            <a:r>
              <a:rPr lang="en-IN" dirty="0"/>
              <a:t> {</a:t>
            </a:r>
          </a:p>
          <a:p>
            <a:pPr marL="0" indent="0">
              <a:buNone/>
            </a:pPr>
            <a:r>
              <a:rPr lang="en-IN" dirty="0"/>
              <a:t>   return (</a:t>
            </a:r>
            <a:r>
              <a:rPr lang="en-IN" dirty="0" err="1"/>
              <a:t>a+a</a:t>
            </a:r>
            <a:r>
              <a:rPr lang="en-IN" dirty="0"/>
              <a:t>);</a:t>
            </a:r>
          </a:p>
          <a:p>
            <a:pPr marL="0" indent="0">
              <a:buNone/>
            </a:pPr>
            <a:r>
              <a:rPr lang="en-IN" dirty="0"/>
              <a:t> }</a:t>
            </a:r>
          </a:p>
          <a:p>
            <a:pPr marL="0" indent="0">
              <a:buNone/>
            </a:pPr>
            <a:r>
              <a:rPr lang="en-IN" dirty="0"/>
              <a:t>public </a:t>
            </a:r>
            <a:r>
              <a:rPr lang="en-IN" dirty="0" err="1"/>
              <a:t>int</a:t>
            </a:r>
            <a:r>
              <a:rPr lang="en-IN" dirty="0"/>
              <a:t> sum(</a:t>
            </a:r>
            <a:r>
              <a:rPr lang="en-IN" dirty="0" err="1"/>
              <a:t>int</a:t>
            </a:r>
            <a:r>
              <a:rPr lang="en-IN" dirty="0"/>
              <a:t> a, </a:t>
            </a:r>
            <a:r>
              <a:rPr lang="en-IN" dirty="0" err="1"/>
              <a:t>int</a:t>
            </a:r>
            <a:r>
              <a:rPr lang="en-IN" dirty="0"/>
              <a:t> b)   // version 2</a:t>
            </a:r>
          </a:p>
          <a:p>
            <a:pPr marL="0" indent="0">
              <a:buNone/>
            </a:pPr>
            <a:r>
              <a:rPr lang="en-IN" dirty="0"/>
              <a:t>{</a:t>
            </a:r>
          </a:p>
          <a:p>
            <a:pPr marL="0" indent="0">
              <a:buNone/>
            </a:pPr>
            <a:r>
              <a:rPr lang="en-IN" dirty="0"/>
              <a:t> return (</a:t>
            </a:r>
            <a:r>
              <a:rPr lang="en-IN" dirty="0" err="1"/>
              <a:t>a+b</a:t>
            </a:r>
            <a:r>
              <a:rPr lang="en-IN" dirty="0"/>
              <a:t>);</a:t>
            </a:r>
          </a:p>
          <a:p>
            <a:pPr marL="0" indent="0">
              <a:buNone/>
            </a:pPr>
            <a:r>
              <a:rPr lang="en-IN" dirty="0"/>
              <a:t>}</a:t>
            </a:r>
          </a:p>
          <a:p>
            <a:pPr marL="0" indent="0">
              <a:buNone/>
            </a:pPr>
            <a:r>
              <a:rPr lang="en-IN" dirty="0"/>
              <a:t>public double sum(double a)   // version 3</a:t>
            </a:r>
          </a:p>
          <a:p>
            <a:pPr marL="0" indent="0">
              <a:buNone/>
            </a:pPr>
            <a:r>
              <a:rPr lang="en-IN" dirty="0"/>
              <a:t>{</a:t>
            </a:r>
          </a:p>
          <a:p>
            <a:pPr marL="0" indent="0">
              <a:buNone/>
            </a:pPr>
            <a:r>
              <a:rPr lang="en-IN" dirty="0"/>
              <a:t> return (</a:t>
            </a:r>
            <a:r>
              <a:rPr lang="en-IN" dirty="0" err="1"/>
              <a:t>a+a</a:t>
            </a:r>
            <a:r>
              <a:rPr lang="en-IN" dirty="0"/>
              <a:t>);</a:t>
            </a:r>
          </a:p>
          <a:p>
            <a:pPr marL="0" indent="0">
              <a:buNone/>
            </a:pPr>
            <a:r>
              <a:rPr lang="en-IN" dirty="0"/>
              <a:t>}</a:t>
            </a:r>
          </a:p>
          <a:p>
            <a:pPr marL="0" indent="0">
              <a:buNone/>
            </a:pPr>
            <a:r>
              <a:rPr lang="en-IN" dirty="0"/>
              <a:t>public double sum(double a, double b)  // version 4</a:t>
            </a:r>
          </a:p>
          <a:p>
            <a:pPr marL="0" indent="0">
              <a:buNone/>
            </a:pPr>
            <a:r>
              <a:rPr lang="en-IN" dirty="0"/>
              <a:t>{</a:t>
            </a:r>
          </a:p>
          <a:p>
            <a:pPr marL="0" indent="0">
              <a:buNone/>
            </a:pPr>
            <a:r>
              <a:rPr lang="en-IN" dirty="0"/>
              <a:t> return (</a:t>
            </a:r>
            <a:r>
              <a:rPr lang="en-IN" dirty="0" err="1"/>
              <a:t>a+b</a:t>
            </a:r>
            <a:r>
              <a:rPr lang="en-IN" dirty="0"/>
              <a:t>);</a:t>
            </a:r>
          </a:p>
          <a:p>
            <a:pPr marL="0" indent="0">
              <a:buNone/>
            </a:pPr>
            <a:r>
              <a:rPr lang="en-IN" dirty="0"/>
              <a:t>}</a:t>
            </a:r>
          </a:p>
          <a:p>
            <a:pPr marL="0" indent="0">
              <a:buNone/>
            </a:pPr>
            <a:r>
              <a:rPr lang="en-IN" dirty="0"/>
              <a:t>}</a:t>
            </a:r>
          </a:p>
          <a:p>
            <a:pPr marL="0" indent="0">
              <a:buNone/>
            </a:pPr>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Test t1 = new Test();</a:t>
            </a:r>
          </a:p>
          <a:p>
            <a:pPr marL="0" indent="0">
              <a:buNone/>
            </a:pPr>
            <a:r>
              <a:rPr lang="en-IN" dirty="0"/>
              <a:t>   </a:t>
            </a:r>
            <a:r>
              <a:rPr lang="en-IN" dirty="0" err="1"/>
              <a:t>int</a:t>
            </a:r>
            <a:r>
              <a:rPr lang="en-IN" dirty="0"/>
              <a:t> sum1 =  t1.sum(1);    // call to version1</a:t>
            </a:r>
          </a:p>
          <a:p>
            <a:pPr marL="0" indent="0">
              <a:buNone/>
            </a:pPr>
            <a:r>
              <a:rPr lang="en-IN" dirty="0"/>
              <a:t>   </a:t>
            </a:r>
            <a:r>
              <a:rPr lang="en-IN" dirty="0" err="1"/>
              <a:t>int</a:t>
            </a:r>
            <a:r>
              <a:rPr lang="en-IN" dirty="0"/>
              <a:t> sum2 =  t1.sum(1,2);  // call to version2</a:t>
            </a:r>
          </a:p>
          <a:p>
            <a:pPr marL="0" indent="0">
              <a:buNone/>
            </a:pPr>
            <a:r>
              <a:rPr lang="en-IN" dirty="0"/>
              <a:t>   double sum3 = t1.sum(10.5);   // call to version3</a:t>
            </a:r>
          </a:p>
          <a:p>
            <a:pPr marL="0" indent="0">
              <a:buNone/>
            </a:pPr>
            <a:r>
              <a:rPr lang="en-IN" dirty="0"/>
              <a:t>   double sum4 = t1.sum(11.5, 12.5);     // call to version4</a:t>
            </a:r>
          </a:p>
          <a:p>
            <a:pPr marL="0" indent="0">
              <a:buNone/>
            </a:pPr>
            <a:r>
              <a:rPr lang="en-IN" dirty="0"/>
              <a:t>   </a:t>
            </a:r>
            <a:r>
              <a:rPr lang="en-IN" dirty="0" err="1"/>
              <a:t>System.out.println</a:t>
            </a:r>
            <a:r>
              <a:rPr lang="en-IN" dirty="0"/>
              <a:t>(sum1+"  "+sum2+"  "+sum3+"  "+sum4);</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10122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62500" lnSpcReduction="20000"/>
          </a:bodyPr>
          <a:lstStyle/>
          <a:p>
            <a:r>
              <a:rPr lang="en-US" dirty="0"/>
              <a:t>Here we have overloaded a method named sum four times. The first version contains an </a:t>
            </a:r>
            <a:r>
              <a:rPr lang="en-US" dirty="0" err="1"/>
              <a:t>int</a:t>
            </a:r>
            <a:r>
              <a:rPr lang="en-US" dirty="0"/>
              <a:t> parameter, second version contains two parameters of </a:t>
            </a:r>
            <a:r>
              <a:rPr lang="en-US" dirty="0" err="1"/>
              <a:t>int</a:t>
            </a:r>
            <a:r>
              <a:rPr lang="en-US" dirty="0"/>
              <a:t> type, third version contains single double parameter and fourth version contains two double type parameters.</a:t>
            </a:r>
            <a:br>
              <a:rPr lang="en-US" dirty="0"/>
            </a:br>
            <a:r>
              <a:rPr lang="en-US" dirty="0"/>
              <a:t>The return type of overloaded method can be same or different, because there is no overloading on the basis of return type.</a:t>
            </a:r>
            <a:br>
              <a:rPr lang="en-US" dirty="0"/>
            </a:br>
            <a:r>
              <a:rPr lang="en-US" dirty="0"/>
              <a:t>When the code </a:t>
            </a:r>
            <a:r>
              <a:rPr lang="en-US" b="1" dirty="0" err="1"/>
              <a:t>int</a:t>
            </a:r>
            <a:r>
              <a:rPr lang="en-US" b="1" dirty="0"/>
              <a:t> sum1 = t1.sum(1);</a:t>
            </a:r>
            <a:r>
              <a:rPr lang="en-US" dirty="0"/>
              <a:t> gets executed, compiler looks for the version of sum method, that contain one parameter of </a:t>
            </a:r>
            <a:r>
              <a:rPr lang="en-US" dirty="0" err="1"/>
              <a:t>int</a:t>
            </a:r>
            <a:r>
              <a:rPr lang="en-US" dirty="0"/>
              <a:t> type so version 1 will gets executed and return the result in sum1 variable.</a:t>
            </a:r>
            <a:br>
              <a:rPr lang="en-US" dirty="0"/>
            </a:br>
            <a:r>
              <a:rPr lang="en-US" dirty="0"/>
              <a:t>Similarly when </a:t>
            </a:r>
            <a:r>
              <a:rPr lang="en-US" b="1" dirty="0" err="1"/>
              <a:t>int</a:t>
            </a:r>
            <a:r>
              <a:rPr lang="en-US" b="1" dirty="0"/>
              <a:t> sum2 = t1.sum(1,2);</a:t>
            </a:r>
            <a:r>
              <a:rPr lang="en-US" dirty="0"/>
              <a:t> gets executed, compiler looks for that version of sum method that contain two parameters of </a:t>
            </a:r>
            <a:r>
              <a:rPr lang="en-US" dirty="0" err="1"/>
              <a:t>int</a:t>
            </a:r>
            <a:r>
              <a:rPr lang="en-US" dirty="0"/>
              <a:t> type so second version will gets executed and return the result in sum2 variable and so on.</a:t>
            </a:r>
            <a:br>
              <a:rPr lang="en-US" dirty="0"/>
            </a:br>
            <a:r>
              <a:rPr lang="en-US" dirty="0"/>
              <a:t>It is clear from the above example when an object call to an overloaded method, compiler looks for a match between the values used to call the method and method parameters.</a:t>
            </a:r>
            <a:br>
              <a:rPr lang="en-US" dirty="0"/>
            </a:br>
            <a:r>
              <a:rPr lang="en-US" dirty="0"/>
              <a:t>But there can be case when compiler does not find exact match. In that case java automatically performs type conversion to call the method and this conversion is only possible if method parameter data type is larger in size compared to arguments (values) used to call the method. This conversion is only take place when compiler does not find exact match.</a:t>
            </a:r>
            <a:br>
              <a:rPr lang="en-US" dirty="0"/>
            </a:br>
            <a:endParaRPr lang="en-IN" dirty="0"/>
          </a:p>
        </p:txBody>
      </p:sp>
    </p:spTree>
    <p:extLst>
      <p:ext uri="{BB962C8B-B14F-4D97-AF65-F5344CB8AC3E}">
        <p14:creationId xmlns:p14="http://schemas.microsoft.com/office/powerpoint/2010/main" val="26714784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40000" lnSpcReduction="20000"/>
          </a:bodyPr>
          <a:lstStyle/>
          <a:p>
            <a:pPr marL="0" indent="0">
              <a:buNone/>
            </a:pPr>
            <a:r>
              <a:rPr lang="en-IN" dirty="0"/>
              <a:t>For Example -</a:t>
            </a:r>
          </a:p>
          <a:p>
            <a:pPr marL="0" indent="0">
              <a:buNone/>
            </a:pPr>
            <a:endParaRPr lang="en-IN" dirty="0"/>
          </a:p>
          <a:p>
            <a:pPr marL="0" indent="0">
              <a:buNone/>
            </a:pPr>
            <a:r>
              <a:rPr lang="en-IN" dirty="0"/>
              <a:t>class Test</a:t>
            </a:r>
          </a:p>
          <a:p>
            <a:pPr marL="0" indent="0">
              <a:buNone/>
            </a:pPr>
            <a:r>
              <a:rPr lang="en-IN" dirty="0"/>
              <a:t>{</a:t>
            </a:r>
          </a:p>
          <a:p>
            <a:pPr marL="0" indent="0">
              <a:buNone/>
            </a:pPr>
            <a:r>
              <a:rPr lang="en-IN" dirty="0"/>
              <a:t> public </a:t>
            </a:r>
            <a:r>
              <a:rPr lang="en-IN" dirty="0" err="1"/>
              <a:t>int</a:t>
            </a:r>
            <a:r>
              <a:rPr lang="en-IN" dirty="0"/>
              <a:t> sum(</a:t>
            </a:r>
            <a:r>
              <a:rPr lang="en-IN" dirty="0" err="1"/>
              <a:t>int</a:t>
            </a:r>
            <a:r>
              <a:rPr lang="en-IN" dirty="0"/>
              <a:t> a, </a:t>
            </a:r>
            <a:r>
              <a:rPr lang="en-IN" dirty="0" err="1"/>
              <a:t>int</a:t>
            </a:r>
            <a:r>
              <a:rPr lang="en-IN" dirty="0"/>
              <a:t> b)   // version 1</a:t>
            </a:r>
          </a:p>
          <a:p>
            <a:pPr marL="0" indent="0">
              <a:buNone/>
            </a:pPr>
            <a:r>
              <a:rPr lang="en-IN" dirty="0"/>
              <a:t> {</a:t>
            </a:r>
          </a:p>
          <a:p>
            <a:pPr marL="0" indent="0">
              <a:buNone/>
            </a:pPr>
            <a:r>
              <a:rPr lang="en-IN" dirty="0"/>
              <a:t>  return (</a:t>
            </a:r>
            <a:r>
              <a:rPr lang="en-IN" dirty="0" err="1"/>
              <a:t>a+b</a:t>
            </a:r>
            <a:r>
              <a:rPr lang="en-IN" dirty="0"/>
              <a:t>);</a:t>
            </a:r>
          </a:p>
          <a:p>
            <a:pPr marL="0" indent="0">
              <a:buNone/>
            </a:pPr>
            <a:r>
              <a:rPr lang="en-IN" dirty="0"/>
              <a:t> }</a:t>
            </a:r>
          </a:p>
          <a:p>
            <a:pPr marL="0" indent="0">
              <a:buNone/>
            </a:pPr>
            <a:r>
              <a:rPr lang="en-IN" dirty="0"/>
              <a:t> public double sum(double a)   // version 2</a:t>
            </a:r>
          </a:p>
          <a:p>
            <a:pPr marL="0" indent="0">
              <a:buNone/>
            </a:pPr>
            <a:r>
              <a:rPr lang="en-IN" dirty="0"/>
              <a:t> {</a:t>
            </a:r>
          </a:p>
          <a:p>
            <a:pPr marL="0" indent="0">
              <a:buNone/>
            </a:pPr>
            <a:r>
              <a:rPr lang="en-IN" dirty="0"/>
              <a:t>  return (</a:t>
            </a:r>
            <a:r>
              <a:rPr lang="en-IN" dirty="0" err="1"/>
              <a:t>a+a</a:t>
            </a:r>
            <a:r>
              <a:rPr lang="en-IN" dirty="0"/>
              <a:t>);</a:t>
            </a:r>
          </a:p>
          <a:p>
            <a:pPr marL="0" indent="0">
              <a:buNone/>
            </a:pPr>
            <a:r>
              <a:rPr lang="en-IN" dirty="0"/>
              <a:t> }   </a:t>
            </a:r>
          </a:p>
          <a:p>
            <a:pPr marL="0" indent="0">
              <a:buNone/>
            </a:pPr>
            <a:r>
              <a:rPr lang="en-IN" dirty="0"/>
              <a:t>}</a:t>
            </a:r>
          </a:p>
          <a:p>
            <a:pPr marL="0" indent="0">
              <a:buNone/>
            </a:pPr>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Test t1 = new Test();</a:t>
            </a:r>
          </a:p>
          <a:p>
            <a:pPr marL="0" indent="0">
              <a:buNone/>
            </a:pPr>
            <a:r>
              <a:rPr lang="en-IN" dirty="0"/>
              <a:t>  </a:t>
            </a:r>
            <a:r>
              <a:rPr lang="en-IN" dirty="0" err="1"/>
              <a:t>int</a:t>
            </a:r>
            <a:r>
              <a:rPr lang="en-IN" dirty="0"/>
              <a:t> sum1 =  t1.sum(1, 2);     // call to version1</a:t>
            </a:r>
          </a:p>
          <a:p>
            <a:pPr marL="0" indent="0">
              <a:buNone/>
            </a:pPr>
            <a:r>
              <a:rPr lang="en-IN" dirty="0"/>
              <a:t>  double sum2 =  t1.sum(10);    // call to version2</a:t>
            </a:r>
          </a:p>
          <a:p>
            <a:pPr marL="0" indent="0">
              <a:buNone/>
            </a:pPr>
            <a:r>
              <a:rPr lang="en-IN" dirty="0"/>
              <a:t>  double sum3 = t1.sum(10.5);   // call to version2</a:t>
            </a:r>
          </a:p>
          <a:p>
            <a:pPr marL="0" indent="0">
              <a:buNone/>
            </a:pPr>
            <a:r>
              <a:rPr lang="en-IN" dirty="0"/>
              <a:t>  </a:t>
            </a:r>
            <a:r>
              <a:rPr lang="en-IN" dirty="0" err="1"/>
              <a:t>System.out.println</a:t>
            </a:r>
            <a:r>
              <a:rPr lang="en-IN" dirty="0"/>
              <a:t>(sum1+"  "+sum2+"  "+sum3);</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2671478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IN" b="1" dirty="0"/>
              <a:t>Ambiguity in </a:t>
            </a:r>
            <a:r>
              <a:rPr lang="en-IN" b="1" dirty="0" smtClean="0"/>
              <a:t>Overloading – </a:t>
            </a:r>
          </a:p>
          <a:p>
            <a:r>
              <a:rPr lang="en-US" dirty="0"/>
              <a:t>Ambiguity in method overloading arises when the compiler cannot decide which overloaded method to invoke due to multiple matches caused by </a:t>
            </a:r>
            <a:r>
              <a:rPr lang="en-US" b="1" dirty="0"/>
              <a:t>type promotion</a:t>
            </a:r>
            <a:r>
              <a:rPr lang="en-US" dirty="0"/>
              <a:t>. Java promotes smaller data types (e.g., byte, short, char) to larger data types (e.g., </a:t>
            </a:r>
            <a:r>
              <a:rPr lang="en-US" dirty="0" err="1"/>
              <a:t>int</a:t>
            </a:r>
            <a:r>
              <a:rPr lang="en-US" dirty="0"/>
              <a:t>, long, float, double) if no exact match for a method exists.</a:t>
            </a:r>
            <a:endParaRPr lang="en-IN" b="1" dirty="0"/>
          </a:p>
        </p:txBody>
      </p:sp>
    </p:spTree>
    <p:extLst>
      <p:ext uri="{BB962C8B-B14F-4D97-AF65-F5344CB8AC3E}">
        <p14:creationId xmlns:p14="http://schemas.microsoft.com/office/powerpoint/2010/main" val="2671478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pPr marL="0" indent="0">
              <a:buNone/>
            </a:pPr>
            <a:r>
              <a:rPr lang="en-IN" dirty="0"/>
              <a:t>class </a:t>
            </a:r>
            <a:r>
              <a:rPr lang="en-IN" dirty="0" err="1"/>
              <a:t>AmbiguityExample</a:t>
            </a:r>
            <a:r>
              <a:rPr lang="en-IN" dirty="0"/>
              <a:t> {</a:t>
            </a:r>
          </a:p>
          <a:p>
            <a:pPr marL="0" indent="0">
              <a:buNone/>
            </a:pPr>
            <a:r>
              <a:rPr lang="en-IN" dirty="0"/>
              <a:t>    void show(</a:t>
            </a:r>
            <a:r>
              <a:rPr lang="en-IN" dirty="0" err="1"/>
              <a:t>int</a:t>
            </a:r>
            <a:r>
              <a:rPr lang="en-IN" dirty="0"/>
              <a:t> a, float b) {</a:t>
            </a:r>
          </a:p>
          <a:p>
            <a:pPr marL="0" indent="0">
              <a:buNone/>
            </a:pPr>
            <a:r>
              <a:rPr lang="en-IN" dirty="0"/>
              <a:t>        </a:t>
            </a:r>
            <a:r>
              <a:rPr lang="en-IN" dirty="0" err="1"/>
              <a:t>System.out.println</a:t>
            </a:r>
            <a:r>
              <a:rPr lang="en-IN" dirty="0"/>
              <a:t>("Method with </a:t>
            </a:r>
            <a:r>
              <a:rPr lang="en-IN" dirty="0" err="1"/>
              <a:t>int</a:t>
            </a:r>
            <a:r>
              <a:rPr lang="en-IN" dirty="0"/>
              <a:t> and float: " + a + ", " + b);</a:t>
            </a:r>
          </a:p>
          <a:p>
            <a:pPr marL="0" indent="0">
              <a:buNone/>
            </a:pPr>
            <a:r>
              <a:rPr lang="en-IN" dirty="0"/>
              <a:t>    }</a:t>
            </a:r>
          </a:p>
          <a:p>
            <a:pPr marL="0" indent="0">
              <a:buNone/>
            </a:pPr>
            <a:endParaRPr lang="en-IN" dirty="0"/>
          </a:p>
          <a:p>
            <a:pPr marL="0" indent="0">
              <a:buNone/>
            </a:pPr>
            <a:r>
              <a:rPr lang="en-IN" dirty="0"/>
              <a:t>    void show(float a, </a:t>
            </a:r>
            <a:r>
              <a:rPr lang="en-IN" dirty="0" err="1"/>
              <a:t>int</a:t>
            </a:r>
            <a:r>
              <a:rPr lang="en-IN" dirty="0"/>
              <a:t> b) {</a:t>
            </a:r>
          </a:p>
          <a:p>
            <a:pPr marL="0" indent="0">
              <a:buNone/>
            </a:pPr>
            <a:r>
              <a:rPr lang="en-IN" dirty="0"/>
              <a:t>        </a:t>
            </a:r>
            <a:r>
              <a:rPr lang="en-IN" dirty="0" err="1"/>
              <a:t>System.out.println</a:t>
            </a:r>
            <a:r>
              <a:rPr lang="en-IN" dirty="0"/>
              <a:t>("Method with float and </a:t>
            </a:r>
            <a:r>
              <a:rPr lang="en-IN" dirty="0" err="1"/>
              <a:t>int</a:t>
            </a:r>
            <a:r>
              <a:rPr lang="en-IN" dirty="0"/>
              <a:t>: " + a + ", " + b);</a:t>
            </a:r>
          </a:p>
          <a:p>
            <a:pPr marL="0" indent="0">
              <a:buNone/>
            </a:pP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r>
              <a:rPr lang="en-IN" dirty="0" err="1"/>
              <a:t>AmbiguityExample</a:t>
            </a:r>
            <a:r>
              <a:rPr lang="en-IN" dirty="0"/>
              <a:t> </a:t>
            </a:r>
            <a:r>
              <a:rPr lang="en-IN" dirty="0" err="1"/>
              <a:t>obj</a:t>
            </a:r>
            <a:r>
              <a:rPr lang="en-IN" dirty="0"/>
              <a:t> = new </a:t>
            </a:r>
            <a:r>
              <a:rPr lang="en-IN" dirty="0" err="1"/>
              <a:t>AmbiguityExample</a:t>
            </a:r>
            <a:r>
              <a:rPr lang="en-IN" dirty="0"/>
              <a:t>();</a:t>
            </a:r>
          </a:p>
          <a:p>
            <a:pPr marL="0" indent="0">
              <a:buNone/>
            </a:pPr>
            <a:r>
              <a:rPr lang="en-IN" dirty="0"/>
              <a:t>        // Ambiguous call</a:t>
            </a:r>
          </a:p>
          <a:p>
            <a:pPr marL="0" indent="0">
              <a:buNone/>
            </a:pPr>
            <a:r>
              <a:rPr lang="en-IN" dirty="0"/>
              <a:t>        </a:t>
            </a:r>
            <a:r>
              <a:rPr lang="en-IN" dirty="0" err="1"/>
              <a:t>obj.show</a:t>
            </a:r>
            <a:r>
              <a:rPr lang="en-IN" dirty="0"/>
              <a:t>(10, 20);</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71478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err="1"/>
              <a:t>Varargs</a:t>
            </a:r>
            <a:r>
              <a:rPr lang="en-IN" dirty="0"/>
              <a:t> ((variable-length arguments))</a:t>
            </a:r>
          </a:p>
        </p:txBody>
      </p:sp>
      <p:sp>
        <p:nvSpPr>
          <p:cNvPr id="3" name="Content Placeholder 2"/>
          <p:cNvSpPr>
            <a:spLocks noGrp="1"/>
          </p:cNvSpPr>
          <p:nvPr>
            <p:ph idx="1"/>
          </p:nvPr>
        </p:nvSpPr>
        <p:spPr/>
        <p:txBody>
          <a:bodyPr>
            <a:normAutofit fontScale="77500" lnSpcReduction="20000"/>
          </a:bodyPr>
          <a:lstStyle/>
          <a:p>
            <a:r>
              <a:rPr lang="en-US" b="1" dirty="0" err="1"/>
              <a:t>Varargs</a:t>
            </a:r>
            <a:r>
              <a:rPr lang="en-US" dirty="0"/>
              <a:t> (variable-length arguments) is a feature introduced in </a:t>
            </a:r>
            <a:r>
              <a:rPr lang="en-US" b="1" dirty="0"/>
              <a:t>Java 5</a:t>
            </a:r>
            <a:r>
              <a:rPr lang="en-US" dirty="0"/>
              <a:t> that allows a method to accept zero or more arguments of the same type. It provides flexibility in method calls by letting you pass a variable number of arguments without explicitly defining overloaded methods</a:t>
            </a:r>
            <a:r>
              <a:rPr lang="en-US" dirty="0" smtClean="0"/>
              <a:t>.</a:t>
            </a:r>
          </a:p>
          <a:p>
            <a:r>
              <a:rPr lang="en-IN" dirty="0"/>
              <a:t>Syntax of </a:t>
            </a:r>
            <a:r>
              <a:rPr lang="en-IN" dirty="0" err="1" smtClean="0"/>
              <a:t>Varargs</a:t>
            </a:r>
            <a:r>
              <a:rPr lang="en-IN" dirty="0" smtClean="0"/>
              <a:t> – </a:t>
            </a:r>
          </a:p>
          <a:p>
            <a:pPr marL="0" indent="0">
              <a:buNone/>
            </a:pPr>
            <a:r>
              <a:rPr lang="en-US" sz="3000" dirty="0" err="1"/>
              <a:t>returnType</a:t>
            </a:r>
            <a:r>
              <a:rPr lang="en-US" sz="3000" dirty="0"/>
              <a:t> </a:t>
            </a:r>
            <a:r>
              <a:rPr lang="en-US" sz="3000" dirty="0" err="1"/>
              <a:t>methodName</a:t>
            </a:r>
            <a:r>
              <a:rPr lang="en-US" sz="3000" dirty="0"/>
              <a:t>(type... </a:t>
            </a:r>
            <a:r>
              <a:rPr lang="en-US" sz="3000" dirty="0" err="1"/>
              <a:t>parameterName</a:t>
            </a:r>
            <a:r>
              <a:rPr lang="en-US" sz="3000" dirty="0"/>
              <a:t>) {</a:t>
            </a:r>
          </a:p>
          <a:p>
            <a:pPr marL="0" indent="0">
              <a:buNone/>
            </a:pPr>
            <a:r>
              <a:rPr lang="en-US" sz="3000" dirty="0"/>
              <a:t>    // method body</a:t>
            </a:r>
          </a:p>
          <a:p>
            <a:pPr marL="0" indent="0">
              <a:buNone/>
            </a:pPr>
            <a:r>
              <a:rPr lang="en-US" sz="3000" dirty="0" smtClean="0"/>
              <a:t>}</a:t>
            </a:r>
          </a:p>
          <a:p>
            <a:r>
              <a:rPr lang="en-US" sz="2800" b="1" dirty="0"/>
              <a:t>type...</a:t>
            </a:r>
            <a:r>
              <a:rPr lang="en-US" sz="2800" dirty="0"/>
              <a:t>: The three dots (...) indicate that the parameter can accept a variable number of arguments</a:t>
            </a:r>
            <a:r>
              <a:rPr lang="en-US" sz="2800" dirty="0" smtClean="0"/>
              <a:t>.</a:t>
            </a:r>
          </a:p>
          <a:p>
            <a:r>
              <a:rPr lang="en-US" sz="2800" dirty="0" smtClean="0"/>
              <a:t>Internally</a:t>
            </a:r>
            <a:r>
              <a:rPr lang="en-US" sz="2800" dirty="0"/>
              <a:t>, </a:t>
            </a:r>
            <a:r>
              <a:rPr lang="en-US" sz="2800" dirty="0" err="1"/>
              <a:t>varargs</a:t>
            </a:r>
            <a:r>
              <a:rPr lang="en-US" sz="2800" dirty="0"/>
              <a:t> are treated as an array.</a:t>
            </a:r>
            <a:endParaRPr lang="en-US" sz="3000" dirty="0"/>
          </a:p>
          <a:p>
            <a:endParaRPr lang="en-IN" dirty="0"/>
          </a:p>
        </p:txBody>
      </p:sp>
    </p:spTree>
    <p:extLst>
      <p:ext uri="{BB962C8B-B14F-4D97-AF65-F5344CB8AC3E}">
        <p14:creationId xmlns:p14="http://schemas.microsoft.com/office/powerpoint/2010/main" val="893244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b="1" dirty="0" smtClean="0"/>
              <a:t>Rules </a:t>
            </a:r>
            <a:r>
              <a:rPr lang="en-US" b="1" dirty="0"/>
              <a:t>for Using </a:t>
            </a:r>
            <a:r>
              <a:rPr lang="en-US" b="1" dirty="0" err="1"/>
              <a:t>Varargs</a:t>
            </a:r>
            <a:endParaRPr lang="en-US" b="1" dirty="0"/>
          </a:p>
          <a:p>
            <a:r>
              <a:rPr lang="en-US" dirty="0"/>
              <a:t>A method can have only </a:t>
            </a:r>
            <a:r>
              <a:rPr lang="en-US" b="1" dirty="0"/>
              <a:t>one </a:t>
            </a:r>
            <a:r>
              <a:rPr lang="en-US" b="1" dirty="0" err="1"/>
              <a:t>varargs</a:t>
            </a:r>
            <a:r>
              <a:rPr lang="en-US" b="1" dirty="0"/>
              <a:t> parameter</a:t>
            </a:r>
            <a:r>
              <a:rPr lang="en-US" dirty="0"/>
              <a:t>.</a:t>
            </a:r>
          </a:p>
          <a:p>
            <a:r>
              <a:rPr lang="en-US" dirty="0"/>
              <a:t>The </a:t>
            </a:r>
            <a:r>
              <a:rPr lang="en-US" dirty="0" err="1"/>
              <a:t>varargs</a:t>
            </a:r>
            <a:r>
              <a:rPr lang="en-US" dirty="0"/>
              <a:t> parameter must be the </a:t>
            </a:r>
            <a:r>
              <a:rPr lang="en-US" b="1" dirty="0"/>
              <a:t>last parameter</a:t>
            </a:r>
            <a:r>
              <a:rPr lang="en-US" dirty="0"/>
              <a:t> in the method signature.</a:t>
            </a:r>
          </a:p>
          <a:p>
            <a:r>
              <a:rPr lang="en-US" dirty="0" err="1"/>
              <a:t>Varargs</a:t>
            </a:r>
            <a:r>
              <a:rPr lang="en-US" dirty="0"/>
              <a:t> can accept </a:t>
            </a:r>
            <a:r>
              <a:rPr lang="en-US" b="1" dirty="0"/>
              <a:t>zero or more arguments</a:t>
            </a:r>
            <a:r>
              <a:rPr lang="en-US" dirty="0"/>
              <a:t>.</a:t>
            </a:r>
          </a:p>
          <a:p>
            <a:endParaRPr lang="en-IN" dirty="0"/>
          </a:p>
        </p:txBody>
      </p:sp>
    </p:spTree>
    <p:extLst>
      <p:ext uri="{BB962C8B-B14F-4D97-AF65-F5344CB8AC3E}">
        <p14:creationId xmlns:p14="http://schemas.microsoft.com/office/powerpoint/2010/main" val="17919524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pPr marL="0" indent="0">
              <a:buNone/>
            </a:pPr>
            <a:r>
              <a:rPr lang="en-IN" dirty="0"/>
              <a:t>class </a:t>
            </a:r>
            <a:r>
              <a:rPr lang="en-IN" dirty="0" err="1"/>
              <a:t>VarargsExample</a:t>
            </a:r>
            <a:r>
              <a:rPr lang="en-IN" dirty="0"/>
              <a:t> {</a:t>
            </a:r>
          </a:p>
          <a:p>
            <a:pPr marL="0" indent="0">
              <a:buNone/>
            </a:pPr>
            <a:r>
              <a:rPr lang="en-IN" dirty="0"/>
              <a:t>    void </a:t>
            </a:r>
            <a:r>
              <a:rPr lang="en-IN" dirty="0" err="1"/>
              <a:t>displayNumbers</a:t>
            </a:r>
            <a:r>
              <a:rPr lang="en-IN" dirty="0"/>
              <a:t>(int... numbers) {</a:t>
            </a:r>
          </a:p>
          <a:p>
            <a:pPr marL="0" indent="0">
              <a:buNone/>
            </a:pPr>
            <a:r>
              <a:rPr lang="en-IN" dirty="0"/>
              <a:t>        </a:t>
            </a:r>
            <a:r>
              <a:rPr lang="en-IN" dirty="0" err="1"/>
              <a:t>System.out.println</a:t>
            </a:r>
            <a:r>
              <a:rPr lang="en-IN" dirty="0"/>
              <a:t>("Number of arguments: " + </a:t>
            </a:r>
            <a:r>
              <a:rPr lang="en-IN" dirty="0" err="1"/>
              <a:t>numbers.length</a:t>
            </a:r>
            <a:r>
              <a:rPr lang="en-IN" dirty="0"/>
              <a:t>);</a:t>
            </a:r>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a:t>
            </a:r>
            <a:r>
              <a:rPr lang="en-IN" dirty="0" err="1"/>
              <a:t>System.out.println</a:t>
            </a:r>
            <a:r>
              <a:rPr lang="en-IN" dirty="0"/>
              <a:t>(</a:t>
            </a:r>
            <a:r>
              <a:rPr lang="en-IN" dirty="0" err="1"/>
              <a:t>num</a:t>
            </a:r>
            <a:r>
              <a:rPr lang="en-IN" dirty="0"/>
              <a:t>);</a:t>
            </a:r>
          </a:p>
          <a:p>
            <a:pPr marL="0" indent="0">
              <a:buNone/>
            </a:pPr>
            <a:r>
              <a:rPr lang="en-IN" dirty="0"/>
              <a:t>        }</a:t>
            </a:r>
          </a:p>
          <a:p>
            <a:pPr marL="0" indent="0">
              <a:buNone/>
            </a:pP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r>
              <a:rPr lang="en-IN" dirty="0" err="1"/>
              <a:t>VarargsExample</a:t>
            </a:r>
            <a:r>
              <a:rPr lang="en-IN" dirty="0"/>
              <a:t> </a:t>
            </a:r>
            <a:r>
              <a:rPr lang="en-IN" dirty="0" err="1"/>
              <a:t>obj</a:t>
            </a:r>
            <a:r>
              <a:rPr lang="en-IN" dirty="0"/>
              <a:t> = new </a:t>
            </a:r>
            <a:r>
              <a:rPr lang="en-IN" dirty="0" err="1"/>
              <a:t>VarargsExample</a:t>
            </a:r>
            <a:r>
              <a:rPr lang="en-IN" dirty="0"/>
              <a:t>();</a:t>
            </a:r>
          </a:p>
          <a:p>
            <a:pPr marL="0" indent="0">
              <a:buNone/>
            </a:pPr>
            <a:r>
              <a:rPr lang="en-IN" dirty="0"/>
              <a:t>        </a:t>
            </a:r>
            <a:r>
              <a:rPr lang="en-IN" dirty="0" err="1"/>
              <a:t>obj.displayNumbers</a:t>
            </a:r>
            <a:r>
              <a:rPr lang="en-IN" dirty="0"/>
              <a:t>(1, 2, 3); // Three arguments</a:t>
            </a:r>
          </a:p>
          <a:p>
            <a:pPr marL="0" indent="0">
              <a:buNone/>
            </a:pPr>
            <a:r>
              <a:rPr lang="en-IN" dirty="0"/>
              <a:t>        </a:t>
            </a:r>
            <a:r>
              <a:rPr lang="en-IN" dirty="0" err="1"/>
              <a:t>obj.displayNumbers</a:t>
            </a:r>
            <a:r>
              <a:rPr lang="en-IN" dirty="0"/>
              <a:t>(10);     // One argument</a:t>
            </a:r>
          </a:p>
          <a:p>
            <a:pPr marL="0" indent="0">
              <a:buNone/>
            </a:pPr>
            <a:r>
              <a:rPr lang="en-IN" dirty="0"/>
              <a:t>        </a:t>
            </a:r>
            <a:r>
              <a:rPr lang="en-IN" dirty="0" err="1"/>
              <a:t>obj.displayNumbers</a:t>
            </a:r>
            <a:r>
              <a:rPr lang="en-IN" dirty="0"/>
              <a:t>();       // No arguments</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2154565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62500" lnSpcReduction="20000"/>
          </a:bodyPr>
          <a:lstStyle/>
          <a:p>
            <a:r>
              <a:rPr lang="en-IN" dirty="0" smtClean="0"/>
              <a:t>Example 2- </a:t>
            </a:r>
          </a:p>
          <a:p>
            <a:pPr marL="0" indent="0">
              <a:buNone/>
            </a:pPr>
            <a:r>
              <a:rPr lang="en-IN" dirty="0"/>
              <a:t>class </a:t>
            </a:r>
            <a:r>
              <a:rPr lang="en-IN" dirty="0" err="1"/>
              <a:t>VarargsExample</a:t>
            </a:r>
            <a:r>
              <a:rPr lang="en-IN" dirty="0"/>
              <a:t> {</a:t>
            </a:r>
          </a:p>
          <a:p>
            <a:pPr marL="0" indent="0">
              <a:buNone/>
            </a:pPr>
            <a:r>
              <a:rPr lang="en-IN" dirty="0"/>
              <a:t>    void </a:t>
            </a:r>
            <a:r>
              <a:rPr lang="en-IN" dirty="0" err="1"/>
              <a:t>printMessage</a:t>
            </a:r>
            <a:r>
              <a:rPr lang="en-IN" dirty="0"/>
              <a:t>(String message, int... numbers) {</a:t>
            </a:r>
          </a:p>
          <a:p>
            <a:pPr marL="0" indent="0">
              <a:buNone/>
            </a:pPr>
            <a:r>
              <a:rPr lang="en-IN" dirty="0"/>
              <a:t>        </a:t>
            </a:r>
            <a:r>
              <a:rPr lang="en-IN" dirty="0" err="1"/>
              <a:t>System.out.println</a:t>
            </a:r>
            <a:r>
              <a:rPr lang="en-IN" dirty="0"/>
              <a:t>(message);</a:t>
            </a:r>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a:t>
            </a:r>
            <a:r>
              <a:rPr lang="en-IN" dirty="0" err="1"/>
              <a:t>System.out.print</a:t>
            </a:r>
            <a:r>
              <a:rPr lang="en-IN" dirty="0"/>
              <a:t>(</a:t>
            </a:r>
            <a:r>
              <a:rPr lang="en-IN" dirty="0" err="1"/>
              <a:t>num</a:t>
            </a:r>
            <a:r>
              <a:rPr lang="en-IN" dirty="0"/>
              <a:t> + " ");</a:t>
            </a:r>
          </a:p>
          <a:p>
            <a:pPr marL="0" indent="0">
              <a:buNone/>
            </a:pPr>
            <a:r>
              <a:rPr lang="en-IN" dirty="0"/>
              <a:t>        }</a:t>
            </a:r>
          </a:p>
          <a:p>
            <a:pPr marL="0" indent="0">
              <a:buNone/>
            </a:pPr>
            <a:r>
              <a:rPr lang="en-IN" dirty="0"/>
              <a:t>        </a:t>
            </a:r>
            <a:r>
              <a:rPr lang="en-IN" dirty="0" err="1"/>
              <a:t>System.out.println</a:t>
            </a:r>
            <a:r>
              <a:rPr lang="en-IN" dirty="0"/>
              <a:t>();</a:t>
            </a:r>
          </a:p>
          <a:p>
            <a:pPr marL="0" indent="0">
              <a:buNone/>
            </a:pP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r>
              <a:rPr lang="en-IN" dirty="0" err="1"/>
              <a:t>VarargsExample</a:t>
            </a:r>
            <a:r>
              <a:rPr lang="en-IN" dirty="0"/>
              <a:t> </a:t>
            </a:r>
            <a:r>
              <a:rPr lang="en-IN" dirty="0" err="1"/>
              <a:t>obj</a:t>
            </a:r>
            <a:r>
              <a:rPr lang="en-IN" dirty="0"/>
              <a:t> = new </a:t>
            </a:r>
            <a:r>
              <a:rPr lang="en-IN" dirty="0" err="1"/>
              <a:t>VarargsExample</a:t>
            </a:r>
            <a:r>
              <a:rPr lang="en-IN" dirty="0"/>
              <a:t>();</a:t>
            </a:r>
          </a:p>
          <a:p>
            <a:pPr marL="0" indent="0">
              <a:buNone/>
            </a:pPr>
            <a:r>
              <a:rPr lang="en-IN" dirty="0"/>
              <a:t>        </a:t>
            </a:r>
            <a:r>
              <a:rPr lang="en-IN" dirty="0" err="1"/>
              <a:t>obj.printMessage</a:t>
            </a:r>
            <a:r>
              <a:rPr lang="en-IN" dirty="0"/>
              <a:t>("Numbers:", 1, 2, 3, 4);</a:t>
            </a:r>
          </a:p>
          <a:p>
            <a:pPr marL="0" indent="0">
              <a:buNone/>
            </a:pPr>
            <a:r>
              <a:rPr lang="en-IN" dirty="0"/>
              <a:t>        </a:t>
            </a:r>
            <a:r>
              <a:rPr lang="en-IN" dirty="0" err="1"/>
              <a:t>obj.printMessage</a:t>
            </a:r>
            <a:r>
              <a:rPr lang="en-IN" dirty="0"/>
              <a:t>("Only one number:", 10);</a:t>
            </a:r>
          </a:p>
          <a:p>
            <a:pPr marL="0" indent="0">
              <a:buNone/>
            </a:pPr>
            <a:r>
              <a:rPr lang="en-IN" dirty="0"/>
              <a:t>        </a:t>
            </a:r>
            <a:r>
              <a:rPr lang="en-IN" dirty="0" err="1"/>
              <a:t>obj.printMessage</a:t>
            </a:r>
            <a:r>
              <a:rPr lang="en-IN" dirty="0"/>
              <a:t>("No numbers:");</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8281534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r>
              <a:rPr lang="en-IN" dirty="0" smtClean="0"/>
              <a:t>Example 3 – </a:t>
            </a:r>
          </a:p>
          <a:p>
            <a:pPr marL="0" indent="0">
              <a:buNone/>
            </a:pPr>
            <a:r>
              <a:rPr lang="en-IN" dirty="0"/>
              <a:t>class </a:t>
            </a:r>
            <a:r>
              <a:rPr lang="en-IN" dirty="0" err="1"/>
              <a:t>VarargsExample</a:t>
            </a:r>
            <a:r>
              <a:rPr lang="en-IN" dirty="0"/>
              <a:t> {</a:t>
            </a:r>
          </a:p>
          <a:p>
            <a:pPr marL="0" indent="0">
              <a:buNone/>
            </a:pPr>
            <a:r>
              <a:rPr lang="en-IN" dirty="0"/>
              <a:t>    void </a:t>
            </a:r>
            <a:r>
              <a:rPr lang="en-IN" dirty="0" err="1"/>
              <a:t>printNumbers</a:t>
            </a:r>
            <a:r>
              <a:rPr lang="en-IN" dirty="0"/>
              <a:t>(int... numbers) {</a:t>
            </a:r>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a:t>
            </a:r>
            <a:r>
              <a:rPr lang="en-IN" dirty="0" err="1"/>
              <a:t>System.out.print</a:t>
            </a:r>
            <a:r>
              <a:rPr lang="en-IN" dirty="0"/>
              <a:t>(</a:t>
            </a:r>
            <a:r>
              <a:rPr lang="en-IN" dirty="0" err="1"/>
              <a:t>num</a:t>
            </a:r>
            <a:r>
              <a:rPr lang="en-IN" dirty="0"/>
              <a:t> + " ");</a:t>
            </a:r>
          </a:p>
          <a:p>
            <a:pPr marL="0" indent="0">
              <a:buNone/>
            </a:pPr>
            <a:r>
              <a:rPr lang="en-IN" dirty="0"/>
              <a:t>        }</a:t>
            </a:r>
          </a:p>
          <a:p>
            <a:pPr marL="0" indent="0">
              <a:buNone/>
            </a:pPr>
            <a:r>
              <a:rPr lang="en-IN" dirty="0"/>
              <a:t>        </a:t>
            </a:r>
            <a:r>
              <a:rPr lang="en-IN" dirty="0" err="1"/>
              <a:t>System.out.println</a:t>
            </a:r>
            <a:r>
              <a:rPr lang="en-IN" dirty="0"/>
              <a:t>();</a:t>
            </a:r>
          </a:p>
          <a:p>
            <a:pPr marL="0" indent="0">
              <a:buNone/>
            </a:pP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a:t>
            </a:r>
            <a:r>
              <a:rPr lang="en-IN" dirty="0" err="1"/>
              <a:t>VarargsExample</a:t>
            </a:r>
            <a:r>
              <a:rPr lang="en-IN" dirty="0"/>
              <a:t> </a:t>
            </a:r>
            <a:r>
              <a:rPr lang="en-IN" dirty="0" err="1"/>
              <a:t>obj</a:t>
            </a:r>
            <a:r>
              <a:rPr lang="en-IN" dirty="0"/>
              <a:t> = new </a:t>
            </a:r>
            <a:r>
              <a:rPr lang="en-IN" dirty="0" err="1"/>
              <a:t>VarargsExample</a:t>
            </a:r>
            <a:r>
              <a:rPr lang="en-IN" dirty="0"/>
              <a:t>();</a:t>
            </a:r>
          </a:p>
          <a:p>
            <a:pPr marL="0" indent="0">
              <a:buNone/>
            </a:pPr>
            <a:r>
              <a:rPr lang="en-IN" dirty="0"/>
              <a:t>        </a:t>
            </a:r>
            <a:r>
              <a:rPr lang="en-IN" dirty="0" err="1"/>
              <a:t>int</a:t>
            </a:r>
            <a:r>
              <a:rPr lang="en-IN" dirty="0"/>
              <a:t>[] </a:t>
            </a:r>
            <a:r>
              <a:rPr lang="en-IN" dirty="0" err="1"/>
              <a:t>nums</a:t>
            </a:r>
            <a:r>
              <a:rPr lang="en-IN" dirty="0"/>
              <a:t> = {1, 2, 3, 4, 5};</a:t>
            </a:r>
          </a:p>
          <a:p>
            <a:pPr marL="0" indent="0">
              <a:buNone/>
            </a:pPr>
            <a:r>
              <a:rPr lang="en-IN" dirty="0"/>
              <a:t>        </a:t>
            </a:r>
            <a:r>
              <a:rPr lang="en-IN" dirty="0" err="1"/>
              <a:t>obj.printNumbers</a:t>
            </a:r>
            <a:r>
              <a:rPr lang="en-IN" dirty="0"/>
              <a:t>(</a:t>
            </a:r>
            <a:r>
              <a:rPr lang="en-IN" dirty="0" err="1"/>
              <a:t>nums</a:t>
            </a:r>
            <a:r>
              <a:rPr lang="en-IN" dirty="0"/>
              <a:t>); // Passing an array</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1154265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10000"/>
          </a:bodyPr>
          <a:lstStyle/>
          <a:p>
            <a:r>
              <a:rPr lang="en-US" b="1" dirty="0" err="1"/>
              <a:t>Varargs</a:t>
            </a:r>
            <a:r>
              <a:rPr lang="en-US" b="1" dirty="0"/>
              <a:t> Internally</a:t>
            </a:r>
          </a:p>
          <a:p>
            <a:r>
              <a:rPr lang="en-US" dirty="0" err="1"/>
              <a:t>Varargs</a:t>
            </a:r>
            <a:r>
              <a:rPr lang="en-US" dirty="0"/>
              <a:t> is internally treated as an array. The method:</a:t>
            </a:r>
          </a:p>
          <a:p>
            <a:r>
              <a:rPr lang="en-IN" dirty="0"/>
              <a:t>void </a:t>
            </a:r>
            <a:r>
              <a:rPr lang="en-IN" dirty="0" err="1"/>
              <a:t>printNumbers</a:t>
            </a:r>
            <a:r>
              <a:rPr lang="en-IN" dirty="0"/>
              <a:t>(int... numbers)</a:t>
            </a:r>
          </a:p>
          <a:p>
            <a:r>
              <a:rPr lang="en-IN" dirty="0"/>
              <a:t>is equivalent to</a:t>
            </a:r>
            <a:r>
              <a:rPr lang="en-IN" dirty="0" smtClean="0"/>
              <a:t>:</a:t>
            </a:r>
          </a:p>
          <a:p>
            <a:r>
              <a:rPr lang="en-IN" dirty="0"/>
              <a:t>void </a:t>
            </a:r>
            <a:r>
              <a:rPr lang="en-IN" dirty="0" err="1"/>
              <a:t>printNumbers</a:t>
            </a:r>
            <a:r>
              <a:rPr lang="en-IN" dirty="0"/>
              <a:t>(</a:t>
            </a:r>
            <a:r>
              <a:rPr lang="en-IN" dirty="0" err="1"/>
              <a:t>int</a:t>
            </a:r>
            <a:r>
              <a:rPr lang="en-IN" dirty="0"/>
              <a:t>[] numbers)</a:t>
            </a:r>
          </a:p>
          <a:p>
            <a:r>
              <a:rPr lang="en-US" b="1" dirty="0"/>
              <a:t>Advantages of </a:t>
            </a:r>
            <a:r>
              <a:rPr lang="en-US" b="1" dirty="0" err="1"/>
              <a:t>Varargs</a:t>
            </a:r>
            <a:endParaRPr lang="en-US" b="1" dirty="0"/>
          </a:p>
          <a:p>
            <a:r>
              <a:rPr lang="en-US" dirty="0"/>
              <a:t>Eliminates the need to write multiple overloaded methods.</a:t>
            </a:r>
          </a:p>
          <a:p>
            <a:r>
              <a:rPr lang="en-US" dirty="0"/>
              <a:t>Makes method calls more flexible and concise.</a:t>
            </a:r>
          </a:p>
          <a:p>
            <a:r>
              <a:rPr lang="en-US" dirty="0"/>
              <a:t>Improves code readability.</a:t>
            </a:r>
          </a:p>
          <a:p>
            <a:endParaRPr lang="en-IN" dirty="0"/>
          </a:p>
        </p:txBody>
      </p:sp>
    </p:spTree>
    <p:extLst>
      <p:ext uri="{BB962C8B-B14F-4D97-AF65-F5344CB8AC3E}">
        <p14:creationId xmlns:p14="http://schemas.microsoft.com/office/powerpoint/2010/main" val="21154265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b="1" dirty="0"/>
              <a:t>Disadvantages of </a:t>
            </a:r>
            <a:r>
              <a:rPr lang="en-US" b="1" dirty="0" err="1"/>
              <a:t>Varargs</a:t>
            </a:r>
            <a:endParaRPr lang="en-US" b="1" dirty="0"/>
          </a:p>
          <a:p>
            <a:r>
              <a:rPr lang="en-US" dirty="0"/>
              <a:t>May introduce </a:t>
            </a:r>
            <a:r>
              <a:rPr lang="en-US" b="1" dirty="0"/>
              <a:t>ambiguity</a:t>
            </a:r>
            <a:r>
              <a:rPr lang="en-US" dirty="0"/>
              <a:t> in method overloading </a:t>
            </a:r>
          </a:p>
          <a:p>
            <a:r>
              <a:rPr lang="en-US" dirty="0"/>
              <a:t>Can impact performance slightly, as it internally creates an array.</a:t>
            </a:r>
          </a:p>
          <a:p>
            <a:r>
              <a:rPr lang="en-US" dirty="0"/>
              <a:t>Limited to </a:t>
            </a:r>
            <a:r>
              <a:rPr lang="en-US" b="1" dirty="0"/>
              <a:t>one </a:t>
            </a:r>
            <a:r>
              <a:rPr lang="en-US" b="1" dirty="0" err="1"/>
              <a:t>varargs</a:t>
            </a:r>
            <a:r>
              <a:rPr lang="en-US" b="1" dirty="0"/>
              <a:t> parameter per method</a:t>
            </a:r>
            <a:r>
              <a:rPr lang="en-US" dirty="0"/>
              <a:t>.</a:t>
            </a:r>
          </a:p>
          <a:p>
            <a:endParaRPr lang="en-IN" dirty="0"/>
          </a:p>
        </p:txBody>
      </p:sp>
    </p:spTree>
    <p:extLst>
      <p:ext uri="{BB962C8B-B14F-4D97-AF65-F5344CB8AC3E}">
        <p14:creationId xmlns:p14="http://schemas.microsoft.com/office/powerpoint/2010/main" val="21154265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62500" lnSpcReduction="20000"/>
          </a:bodyPr>
          <a:lstStyle/>
          <a:p>
            <a:r>
              <a:rPr lang="en-US" b="1" dirty="0" smtClean="0"/>
              <a:t>Ambiguity due to </a:t>
            </a:r>
            <a:r>
              <a:rPr lang="en-US" b="1" dirty="0" err="1" smtClean="0"/>
              <a:t>varargs</a:t>
            </a:r>
            <a:r>
              <a:rPr lang="en-US" b="1" dirty="0" smtClean="0"/>
              <a:t> - </a:t>
            </a:r>
            <a:endParaRPr lang="en-IN" dirty="0" smtClean="0"/>
          </a:p>
          <a:p>
            <a:pPr marL="0" indent="0">
              <a:buNone/>
            </a:pPr>
            <a:r>
              <a:rPr lang="en-IN" dirty="0"/>
              <a:t>class Demo {</a:t>
            </a:r>
          </a:p>
          <a:p>
            <a:pPr marL="0" indent="0">
              <a:buNone/>
            </a:pPr>
            <a:r>
              <a:rPr lang="en-IN" dirty="0"/>
              <a:t>    public void </a:t>
            </a:r>
            <a:r>
              <a:rPr lang="en-IN" dirty="0" smtClean="0"/>
              <a:t>sum(</a:t>
            </a:r>
            <a:r>
              <a:rPr lang="en-IN" dirty="0" err="1" smtClean="0"/>
              <a:t>boolean</a:t>
            </a:r>
            <a:r>
              <a:rPr lang="en-IN" dirty="0" smtClean="0"/>
              <a:t>... </a:t>
            </a:r>
            <a:r>
              <a:rPr lang="en-IN" dirty="0"/>
              <a:t>a) {</a:t>
            </a:r>
          </a:p>
          <a:p>
            <a:pPr marL="0" indent="0">
              <a:buNone/>
            </a:pPr>
            <a:r>
              <a:rPr lang="en-IN" dirty="0"/>
              <a:t>        </a:t>
            </a:r>
            <a:r>
              <a:rPr lang="en-IN" dirty="0" err="1"/>
              <a:t>System.out.println</a:t>
            </a:r>
            <a:r>
              <a:rPr lang="en-IN" dirty="0"/>
              <a:t>("Non-</a:t>
            </a:r>
            <a:r>
              <a:rPr lang="en-IN" dirty="0" err="1"/>
              <a:t>varargs</a:t>
            </a:r>
            <a:r>
              <a:rPr lang="en-IN" dirty="0"/>
              <a:t> method");</a:t>
            </a:r>
          </a:p>
          <a:p>
            <a:pPr marL="0" indent="0">
              <a:buNone/>
            </a:pPr>
            <a:r>
              <a:rPr lang="en-IN" dirty="0"/>
              <a:t>    }</a:t>
            </a:r>
          </a:p>
          <a:p>
            <a:pPr marL="0" indent="0">
              <a:buNone/>
            </a:pPr>
            <a:endParaRPr lang="en-IN" dirty="0"/>
          </a:p>
          <a:p>
            <a:pPr marL="0" indent="0">
              <a:buNone/>
            </a:pPr>
            <a:r>
              <a:rPr lang="en-IN" dirty="0"/>
              <a:t>    public void sum(double... </a:t>
            </a:r>
            <a:r>
              <a:rPr lang="en-IN" dirty="0" err="1"/>
              <a:t>nums</a:t>
            </a:r>
            <a:r>
              <a:rPr lang="en-IN" dirty="0"/>
              <a:t>) {</a:t>
            </a:r>
          </a:p>
          <a:p>
            <a:pPr marL="0" indent="0">
              <a:buNone/>
            </a:pPr>
            <a:r>
              <a:rPr lang="en-IN" dirty="0"/>
              <a:t>        </a:t>
            </a:r>
            <a:r>
              <a:rPr lang="en-IN" dirty="0" err="1"/>
              <a:t>System.out.println</a:t>
            </a:r>
            <a:r>
              <a:rPr lang="en-IN" dirty="0"/>
              <a:t>("</a:t>
            </a:r>
            <a:r>
              <a:rPr lang="en-IN" dirty="0" err="1"/>
              <a:t>Varargs</a:t>
            </a:r>
            <a:r>
              <a:rPr lang="en-IN" dirty="0"/>
              <a:t> method");</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Main {</a:t>
            </a:r>
          </a:p>
          <a:p>
            <a:pPr marL="0" indent="0">
              <a:buNone/>
            </a:pPr>
            <a:r>
              <a:rPr lang="en-IN" dirty="0"/>
              <a:t>    public static void main(String[] </a:t>
            </a:r>
            <a:r>
              <a:rPr lang="en-IN" dirty="0" err="1"/>
              <a:t>args</a:t>
            </a:r>
            <a:r>
              <a:rPr lang="en-IN" dirty="0"/>
              <a:t>) {</a:t>
            </a:r>
          </a:p>
          <a:p>
            <a:pPr marL="0" indent="0">
              <a:buNone/>
            </a:pPr>
            <a:r>
              <a:rPr lang="en-IN" dirty="0"/>
              <a:t>        Demo d1 = new Demo();</a:t>
            </a:r>
          </a:p>
          <a:p>
            <a:pPr marL="0" indent="0">
              <a:buNone/>
            </a:pPr>
            <a:r>
              <a:rPr lang="en-IN" dirty="0"/>
              <a:t>        d1.sum(); // Ambiguous!</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1154265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endParaRPr lang="en-IN" dirty="0"/>
          </a:p>
        </p:txBody>
      </p:sp>
    </p:spTree>
    <p:extLst>
      <p:ext uri="{BB962C8B-B14F-4D97-AF65-F5344CB8AC3E}">
        <p14:creationId xmlns:p14="http://schemas.microsoft.com/office/powerpoint/2010/main" val="21154265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endParaRPr lang="en-IN" dirty="0"/>
          </a:p>
        </p:txBody>
      </p:sp>
    </p:spTree>
    <p:extLst>
      <p:ext uri="{BB962C8B-B14F-4D97-AF65-F5344CB8AC3E}">
        <p14:creationId xmlns:p14="http://schemas.microsoft.com/office/powerpoint/2010/main" val="2115426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TotalTime>
  <Words>4002</Words>
  <Application>Microsoft Office PowerPoint</Application>
  <PresentationFormat>On-screen Show (4:3)</PresentationFormat>
  <Paragraphs>675</Paragraphs>
  <Slides>55</Slides>
  <Notes>6</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OOPS Intro</vt:lpstr>
      <vt:lpstr>Class and Object</vt:lpstr>
      <vt:lpstr>PowerPoint Presentation</vt:lpstr>
      <vt:lpstr>PowerPoint Presentation</vt:lpstr>
      <vt:lpstr>PowerPoint Presentation</vt:lpstr>
      <vt:lpstr>PowerPoint Presentation</vt:lpstr>
      <vt:lpstr>PowerPoint Presentation</vt:lpstr>
      <vt:lpstr>PowerPoint Presentation</vt:lpstr>
      <vt:lpstr>Data Encapsulation </vt:lpstr>
      <vt:lpstr>PowerPoint Presentation</vt:lpstr>
      <vt:lpstr>PowerPoint Presentation</vt:lpstr>
      <vt:lpstr>PowerPoint Presentation</vt:lpstr>
      <vt:lpstr>PowerPoint Presentation</vt:lpstr>
      <vt:lpstr>Constructor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Method Overloading (Function Overloading) - </vt:lpstr>
      <vt:lpstr>PowerPoint Presentation</vt:lpstr>
      <vt:lpstr>PowerPoint Presentation</vt:lpstr>
      <vt:lpstr>PowerPoint Presentation</vt:lpstr>
      <vt:lpstr>PowerPoint Presentation</vt:lpstr>
      <vt:lpstr>PowerPoint Presentation</vt:lpstr>
      <vt:lpstr>Varargs ((variable-length arguments))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Rohit Kamboj</cp:lastModifiedBy>
  <cp:revision>118</cp:revision>
  <dcterms:created xsi:type="dcterms:W3CDTF">2006-08-16T00:00:00Z</dcterms:created>
  <dcterms:modified xsi:type="dcterms:W3CDTF">2025-01-21T10:11:38Z</dcterms:modified>
</cp:coreProperties>
</file>