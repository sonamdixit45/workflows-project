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4" r:id="rId15"/>
    <p:sldId id="269" r:id="rId16"/>
    <p:sldId id="270" r:id="rId17"/>
    <p:sldId id="271" r:id="rId18"/>
    <p:sldId id="272" r:id="rId19"/>
    <p:sldId id="273" r:id="rId20"/>
    <p:sldId id="275" r:id="rId21"/>
    <p:sldId id="276"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166" autoAdjust="0"/>
  </p:normalViewPr>
  <p:slideViewPr>
    <p:cSldViewPr>
      <p:cViewPr varScale="1">
        <p:scale>
          <a:sx n="80" d="100"/>
          <a:sy n="80" d="100"/>
        </p:scale>
        <p:origin x="-1522"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4903DD0-9E41-493A-AAED-D3A67F5072D2}" type="datetimeFigureOut">
              <a:rPr lang="en-IN" smtClean="0"/>
              <a:t>04-12-2024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7464FC-4E1C-473C-8CD9-10C2088898B1}" type="slidenum">
              <a:rPr lang="en-IN" smtClean="0"/>
              <a:t>‹#›</a:t>
            </a:fld>
            <a:endParaRPr lang="en-IN"/>
          </a:p>
        </p:txBody>
      </p:sp>
    </p:spTree>
    <p:extLst>
      <p:ext uri="{BB962C8B-B14F-4D97-AF65-F5344CB8AC3E}">
        <p14:creationId xmlns:p14="http://schemas.microsoft.com/office/powerpoint/2010/main" val="2275991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 -</a:t>
            </a:r>
          </a:p>
          <a:p>
            <a:r>
              <a:rPr lang="en-US" dirty="0" smtClean="0"/>
              <a:t>values of ch1, ch2 and ch3 </a:t>
            </a:r>
            <a:r>
              <a:rPr lang="en-US" dirty="0" err="1" smtClean="0"/>
              <a:t>are:A</a:t>
            </a:r>
            <a:r>
              <a:rPr lang="en-US" dirty="0" smtClean="0"/>
              <a:t> B A values of ch4 and a </a:t>
            </a:r>
            <a:r>
              <a:rPr lang="en-US" dirty="0" err="1" smtClean="0"/>
              <a:t>are:B</a:t>
            </a:r>
            <a:r>
              <a:rPr lang="en-US" dirty="0" smtClean="0"/>
              <a:t> 132</a:t>
            </a:r>
          </a:p>
          <a:p>
            <a:r>
              <a:rPr lang="en-US" sz="1200" b="0" i="0" kern="1200" dirty="0" smtClean="0">
                <a:solidFill>
                  <a:schemeClr val="tx1"/>
                </a:solidFill>
                <a:effectLst/>
                <a:latin typeface="+mn-lt"/>
                <a:ea typeface="+mn-ea"/>
                <a:cs typeface="+mn-cs"/>
              </a:rPr>
              <a:t>Description -</a:t>
            </a:r>
          </a:p>
          <a:p>
            <a:r>
              <a:rPr lang="en-US" sz="1200" b="0" i="0" kern="1200" dirty="0" smtClean="0">
                <a:solidFill>
                  <a:schemeClr val="tx1"/>
                </a:solidFill>
                <a:effectLst/>
                <a:latin typeface="+mn-lt"/>
                <a:ea typeface="+mn-ea"/>
                <a:cs typeface="+mn-cs"/>
              </a:rPr>
              <a:t>In the program ch1 and ch2 are assigned the values 'A' and 'B'. Ch3 is assigned a value 65 which is ASCII value of 'A'. So if we print the value of ch3 that will be 'A'.</a:t>
            </a:r>
            <a:r>
              <a:rPr lang="en-US" dirty="0" smtClean="0"/>
              <a:t/>
            </a:r>
            <a:br>
              <a:rPr lang="en-US" dirty="0" smtClean="0"/>
            </a:br>
            <a:r>
              <a:rPr lang="en-US" sz="1200" b="0" i="0" kern="1200" dirty="0" smtClean="0">
                <a:solidFill>
                  <a:schemeClr val="tx1"/>
                </a:solidFill>
                <a:effectLst/>
                <a:latin typeface="+mn-lt"/>
                <a:ea typeface="+mn-ea"/>
                <a:cs typeface="+mn-cs"/>
              </a:rPr>
              <a:t>We can also increment/decrement value of characters so </a:t>
            </a:r>
            <a:r>
              <a:rPr lang="en-US" sz="1200" b="1" i="0" kern="1200" dirty="0" smtClean="0">
                <a:solidFill>
                  <a:schemeClr val="tx1"/>
                </a:solidFill>
                <a:effectLst/>
                <a:latin typeface="+mn-lt"/>
                <a:ea typeface="+mn-ea"/>
                <a:cs typeface="+mn-cs"/>
              </a:rPr>
              <a:t>ch1++</a:t>
            </a:r>
            <a:r>
              <a:rPr lang="en-US" sz="1200" b="0" i="0" kern="1200" dirty="0" smtClean="0">
                <a:solidFill>
                  <a:schemeClr val="tx1"/>
                </a:solidFill>
                <a:effectLst/>
                <a:latin typeface="+mn-lt"/>
                <a:ea typeface="+mn-ea"/>
                <a:cs typeface="+mn-cs"/>
              </a:rPr>
              <a:t> will increment the value of ch1 by one character so new value of ch1 will be 'B'.</a:t>
            </a:r>
            <a:r>
              <a:rPr lang="en-US" dirty="0" smtClean="0"/>
              <a:t/>
            </a:r>
            <a:br>
              <a:rPr lang="en-US" dirty="0" smtClean="0"/>
            </a:br>
            <a:r>
              <a:rPr lang="en-US" sz="1200" b="0" i="0" kern="1200" dirty="0" smtClean="0">
                <a:solidFill>
                  <a:schemeClr val="tx1"/>
                </a:solidFill>
                <a:effectLst/>
                <a:latin typeface="+mn-lt"/>
                <a:ea typeface="+mn-ea"/>
                <a:cs typeface="+mn-cs"/>
              </a:rPr>
              <a:t>When we perform any arithmetic operation on characters they will be automatically promoted to</a:t>
            </a:r>
            <a:r>
              <a:rPr lang="en-US" sz="1200" b="1" i="0" kern="1200" dirty="0" smtClean="0">
                <a:solidFill>
                  <a:schemeClr val="tx1"/>
                </a:solidFill>
                <a:effectLst/>
                <a:latin typeface="+mn-lt"/>
                <a:ea typeface="+mn-ea"/>
                <a:cs typeface="+mn-cs"/>
              </a:rPr>
              <a:t> </a:t>
            </a:r>
            <a:r>
              <a:rPr lang="en-US" sz="1200" b="1" i="0" kern="1200" dirty="0" err="1" smtClean="0">
                <a:solidFill>
                  <a:schemeClr val="tx1"/>
                </a:solidFill>
                <a:effectLst/>
                <a:latin typeface="+mn-lt"/>
                <a:ea typeface="+mn-ea"/>
                <a:cs typeface="+mn-cs"/>
              </a:rPr>
              <a:t>int</a:t>
            </a:r>
            <a:r>
              <a:rPr lang="en-US" sz="1200" b="0" i="0" kern="1200" dirty="0" smtClean="0">
                <a:solidFill>
                  <a:schemeClr val="tx1"/>
                </a:solidFill>
                <a:effectLst/>
                <a:latin typeface="+mn-lt"/>
                <a:ea typeface="+mn-ea"/>
                <a:cs typeface="+mn-cs"/>
              </a:rPr>
              <a:t> data type that's why when we add ch1 and ch2 result is stored in integer 'a' and the value of 'a' is addition of ASCII equivalent of 'A' and 'B'.</a:t>
            </a:r>
            <a:endParaRPr lang="en-IN" dirty="0"/>
          </a:p>
        </p:txBody>
      </p:sp>
      <p:sp>
        <p:nvSpPr>
          <p:cNvPr id="4" name="Slide Number Placeholder 3"/>
          <p:cNvSpPr>
            <a:spLocks noGrp="1"/>
          </p:cNvSpPr>
          <p:nvPr>
            <p:ph type="sldNum" sz="quarter" idx="10"/>
          </p:nvPr>
        </p:nvSpPr>
        <p:spPr/>
        <p:txBody>
          <a:bodyPr/>
          <a:lstStyle/>
          <a:p>
            <a:fld id="{807464FC-4E1C-473C-8CD9-10C2088898B1}" type="slidenum">
              <a:rPr lang="en-IN" smtClean="0"/>
              <a:t>12</a:t>
            </a:fld>
            <a:endParaRPr lang="en-IN"/>
          </a:p>
        </p:txBody>
      </p:sp>
    </p:spTree>
    <p:extLst>
      <p:ext uri="{BB962C8B-B14F-4D97-AF65-F5344CB8AC3E}">
        <p14:creationId xmlns:p14="http://schemas.microsoft.com/office/powerpoint/2010/main" val="3409984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Java Basics</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6168992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IN" dirty="0" smtClean="0"/>
              <a:t>Identifiers</a:t>
            </a:r>
            <a:endParaRPr lang="en-IN" dirty="0"/>
          </a:p>
        </p:txBody>
      </p:sp>
      <p:sp>
        <p:nvSpPr>
          <p:cNvPr id="3" name="Content Placeholder 2"/>
          <p:cNvSpPr>
            <a:spLocks noGrp="1"/>
          </p:cNvSpPr>
          <p:nvPr>
            <p:ph idx="1"/>
          </p:nvPr>
        </p:nvSpPr>
        <p:spPr>
          <a:xfrm>
            <a:off x="457200" y="1219200"/>
            <a:ext cx="8229600" cy="5410200"/>
          </a:xfrm>
        </p:spPr>
        <p:txBody>
          <a:bodyPr>
            <a:normAutofit fontScale="62500" lnSpcReduction="20000"/>
          </a:bodyPr>
          <a:lstStyle/>
          <a:p>
            <a:r>
              <a:rPr lang="en-US" dirty="0"/>
              <a:t>In Java, </a:t>
            </a:r>
            <a:r>
              <a:rPr lang="en-US" b="1" dirty="0"/>
              <a:t>identifiers</a:t>
            </a:r>
            <a:r>
              <a:rPr lang="en-US" dirty="0"/>
              <a:t> are the names used to identify variables, methods, classes, packages, or other elements in the code. </a:t>
            </a:r>
            <a:endParaRPr lang="en-US" dirty="0" smtClean="0"/>
          </a:p>
          <a:p>
            <a:endParaRPr lang="en-US" dirty="0"/>
          </a:p>
          <a:p>
            <a:r>
              <a:rPr lang="en-US" b="1" dirty="0"/>
              <a:t>Rules for Java Identifiers</a:t>
            </a:r>
          </a:p>
          <a:p>
            <a:r>
              <a:rPr lang="en-US" b="1" dirty="0"/>
              <a:t>Character Set</a:t>
            </a:r>
            <a:r>
              <a:rPr lang="en-US" dirty="0"/>
              <a:t>:</a:t>
            </a:r>
          </a:p>
          <a:p>
            <a:pPr lvl="1"/>
            <a:r>
              <a:rPr lang="en-US" dirty="0"/>
              <a:t>An identifier must begin with a letter (A-Z or a-z), a dollar sign ($), or an underscore (_).</a:t>
            </a:r>
          </a:p>
          <a:p>
            <a:pPr lvl="1"/>
            <a:r>
              <a:rPr lang="en-US" dirty="0"/>
              <a:t>Subsequent characters can include letters, digits (0-9), dollar signs, or underscores.</a:t>
            </a:r>
          </a:p>
          <a:p>
            <a:r>
              <a:rPr lang="en-US" b="1" dirty="0"/>
              <a:t>No Reserved Words</a:t>
            </a:r>
            <a:r>
              <a:rPr lang="en-US" dirty="0"/>
              <a:t>:</a:t>
            </a:r>
          </a:p>
          <a:p>
            <a:pPr lvl="1"/>
            <a:r>
              <a:rPr lang="en-US" dirty="0"/>
              <a:t>Identifiers cannot be the same as Java keywords (e.g., class, public, static, </a:t>
            </a:r>
            <a:r>
              <a:rPr lang="en-US" dirty="0" err="1"/>
              <a:t>int</a:t>
            </a:r>
            <a:r>
              <a:rPr lang="en-US" dirty="0"/>
              <a:t>).</a:t>
            </a:r>
          </a:p>
          <a:p>
            <a:r>
              <a:rPr lang="en-US" b="1" dirty="0"/>
              <a:t>Case Sensitivity</a:t>
            </a:r>
            <a:r>
              <a:rPr lang="en-US" dirty="0"/>
              <a:t>:</a:t>
            </a:r>
          </a:p>
          <a:p>
            <a:pPr lvl="1"/>
            <a:r>
              <a:rPr lang="en-US" dirty="0"/>
              <a:t>Java is case-sensitive, so </a:t>
            </a:r>
            <a:r>
              <a:rPr lang="en-US" dirty="0" err="1"/>
              <a:t>myVariable</a:t>
            </a:r>
            <a:r>
              <a:rPr lang="en-US" dirty="0"/>
              <a:t> and </a:t>
            </a:r>
            <a:r>
              <a:rPr lang="en-US" dirty="0" err="1"/>
              <a:t>MyVariable</a:t>
            </a:r>
            <a:r>
              <a:rPr lang="en-US" dirty="0"/>
              <a:t> are two different identifiers.</a:t>
            </a:r>
          </a:p>
          <a:p>
            <a:r>
              <a:rPr lang="en-US" b="1" dirty="0"/>
              <a:t>No Spaces</a:t>
            </a:r>
            <a:r>
              <a:rPr lang="en-US" dirty="0"/>
              <a:t>:</a:t>
            </a:r>
          </a:p>
          <a:p>
            <a:pPr lvl="1"/>
            <a:r>
              <a:rPr lang="en-US" dirty="0"/>
              <a:t>Spaces are not allowed in identifiers (e.g., my Variable is invalid).</a:t>
            </a:r>
          </a:p>
          <a:p>
            <a:r>
              <a:rPr lang="en-US" b="1" dirty="0"/>
              <a:t>Length</a:t>
            </a:r>
            <a:r>
              <a:rPr lang="en-US" dirty="0"/>
              <a:t>:</a:t>
            </a:r>
          </a:p>
          <a:p>
            <a:pPr lvl="1"/>
            <a:r>
              <a:rPr lang="en-US" dirty="0"/>
              <a:t>There is no theoretical limit to the length of an identifier, but keeping them concise and meaningful is good practice.</a:t>
            </a:r>
          </a:p>
          <a:p>
            <a:endParaRPr lang="en-IN" dirty="0"/>
          </a:p>
        </p:txBody>
      </p:sp>
    </p:spTree>
    <p:extLst>
      <p:ext uri="{BB962C8B-B14F-4D97-AF65-F5344CB8AC3E}">
        <p14:creationId xmlns:p14="http://schemas.microsoft.com/office/powerpoint/2010/main" val="36712893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70000" lnSpcReduction="20000"/>
          </a:bodyPr>
          <a:lstStyle/>
          <a:p>
            <a:endParaRPr lang="en-IN" dirty="0" smtClean="0"/>
          </a:p>
          <a:p>
            <a:endParaRPr lang="en-IN" dirty="0" smtClean="0"/>
          </a:p>
          <a:p>
            <a:endParaRPr lang="en-IN" dirty="0"/>
          </a:p>
          <a:p>
            <a:endParaRPr lang="en-IN" dirty="0"/>
          </a:p>
          <a:p>
            <a:endParaRPr lang="en-IN" dirty="0" smtClean="0"/>
          </a:p>
          <a:p>
            <a:endParaRPr lang="en-IN" dirty="0"/>
          </a:p>
          <a:p>
            <a:endParaRPr lang="en-IN" dirty="0" smtClean="0"/>
          </a:p>
          <a:p>
            <a:endParaRPr lang="en-IN" dirty="0"/>
          </a:p>
          <a:p>
            <a:endParaRPr lang="en-IN" b="1" dirty="0" smtClean="0"/>
          </a:p>
          <a:p>
            <a:r>
              <a:rPr lang="en-IN" b="1" dirty="0" smtClean="0"/>
              <a:t>Best Practices - </a:t>
            </a:r>
            <a:endParaRPr lang="en-IN" b="1" dirty="0"/>
          </a:p>
          <a:p>
            <a:r>
              <a:rPr lang="en-IN" dirty="0"/>
              <a:t>Use meaningful names for better readability. For instance:</a:t>
            </a:r>
          </a:p>
          <a:p>
            <a:pPr lvl="1"/>
            <a:r>
              <a:rPr lang="en-IN" dirty="0"/>
              <a:t>Variables: Use </a:t>
            </a:r>
            <a:r>
              <a:rPr lang="en-IN" dirty="0" err="1"/>
              <a:t>camelCase</a:t>
            </a:r>
            <a:r>
              <a:rPr lang="en-IN" dirty="0"/>
              <a:t> (e.g., </a:t>
            </a:r>
            <a:r>
              <a:rPr lang="en-IN" dirty="0" err="1"/>
              <a:t>totalAmount</a:t>
            </a:r>
            <a:r>
              <a:rPr lang="en-IN" dirty="0"/>
              <a:t>).</a:t>
            </a:r>
          </a:p>
          <a:p>
            <a:pPr lvl="1"/>
            <a:r>
              <a:rPr lang="en-IN" dirty="0"/>
              <a:t>Constants: Use uppercase letters with underscores (e.g., MAX_LIMIT).</a:t>
            </a:r>
          </a:p>
          <a:p>
            <a:pPr lvl="1"/>
            <a:r>
              <a:rPr lang="en-IN" dirty="0"/>
              <a:t>Classes: Use </a:t>
            </a:r>
            <a:r>
              <a:rPr lang="en-IN" dirty="0" err="1"/>
              <a:t>PascalCase</a:t>
            </a:r>
            <a:r>
              <a:rPr lang="en-IN" dirty="0"/>
              <a:t> (e.g., </a:t>
            </a:r>
            <a:r>
              <a:rPr lang="en-IN" dirty="0" err="1"/>
              <a:t>CustomerData</a:t>
            </a:r>
            <a:r>
              <a:rPr lang="en-IN" dirty="0"/>
              <a:t>).</a:t>
            </a:r>
          </a:p>
          <a:p>
            <a:r>
              <a:rPr lang="en-IN" dirty="0"/>
              <a:t>Avoid single-letter names unless used for temporary variables (e.g., i, j in loops).</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57200"/>
            <a:ext cx="76962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37480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r>
              <a:rPr lang="en-IN" dirty="0" smtClean="0"/>
              <a:t>Example – </a:t>
            </a:r>
          </a:p>
          <a:p>
            <a:pPr marL="0" indent="0">
              <a:buNone/>
            </a:pPr>
            <a:r>
              <a:rPr lang="en-IN" sz="2000" dirty="0"/>
              <a:t>// Correct usage of identifiers</a:t>
            </a:r>
          </a:p>
          <a:p>
            <a:pPr marL="0" indent="0">
              <a:buNone/>
            </a:pPr>
            <a:r>
              <a:rPr lang="en-IN" sz="2000" dirty="0"/>
              <a:t>public class </a:t>
            </a:r>
            <a:r>
              <a:rPr lang="en-IN" sz="2000" dirty="0" err="1"/>
              <a:t>HelloWorld</a:t>
            </a:r>
            <a:r>
              <a:rPr lang="en-IN" sz="2000" dirty="0"/>
              <a:t> </a:t>
            </a:r>
            <a:r>
              <a:rPr lang="en-IN" sz="2000" dirty="0" smtClean="0"/>
              <a:t>{</a:t>
            </a:r>
            <a:r>
              <a:rPr lang="en-US" sz="2000" dirty="0"/>
              <a:t>// '</a:t>
            </a:r>
            <a:r>
              <a:rPr lang="en-US" sz="2000" dirty="0" err="1"/>
              <a:t>HelloWorld</a:t>
            </a:r>
            <a:r>
              <a:rPr lang="en-US" sz="2000" dirty="0"/>
              <a:t>' is an identifier for the class</a:t>
            </a:r>
            <a:endParaRPr lang="en-IN" sz="2000" dirty="0"/>
          </a:p>
          <a:p>
            <a:pPr marL="0" indent="0">
              <a:buNone/>
            </a:pPr>
            <a:r>
              <a:rPr lang="en-IN" sz="2000" dirty="0"/>
              <a:t>    public static void main(String[] </a:t>
            </a:r>
            <a:r>
              <a:rPr lang="en-IN" sz="2000" dirty="0" err="1"/>
              <a:t>args</a:t>
            </a:r>
            <a:r>
              <a:rPr lang="en-IN" sz="2000" dirty="0"/>
              <a:t>) {</a:t>
            </a:r>
          </a:p>
          <a:p>
            <a:pPr marL="0" indent="0">
              <a:buNone/>
            </a:pPr>
            <a:r>
              <a:rPr lang="en-IN" sz="2000" dirty="0"/>
              <a:t>        </a:t>
            </a:r>
            <a:r>
              <a:rPr lang="en-IN" sz="2000" dirty="0" err="1"/>
              <a:t>int</a:t>
            </a:r>
            <a:r>
              <a:rPr lang="en-IN" sz="2000" dirty="0"/>
              <a:t> </a:t>
            </a:r>
            <a:r>
              <a:rPr lang="en-IN" sz="2000" dirty="0" err="1"/>
              <a:t>totalScore</a:t>
            </a:r>
            <a:r>
              <a:rPr lang="en-IN" sz="2000" dirty="0"/>
              <a:t> = 100;  // '</a:t>
            </a:r>
            <a:r>
              <a:rPr lang="en-IN" sz="2000" dirty="0" err="1"/>
              <a:t>totalScore</a:t>
            </a:r>
            <a:r>
              <a:rPr lang="en-IN" sz="2000" dirty="0"/>
              <a:t>' is an identifier</a:t>
            </a:r>
          </a:p>
          <a:p>
            <a:pPr marL="0" indent="0">
              <a:buNone/>
            </a:pPr>
            <a:r>
              <a:rPr lang="en-IN" sz="2000" dirty="0"/>
              <a:t>        final </a:t>
            </a:r>
            <a:r>
              <a:rPr lang="en-IN" sz="2000" dirty="0" err="1"/>
              <a:t>int</a:t>
            </a:r>
            <a:r>
              <a:rPr lang="en-IN" sz="2000" dirty="0"/>
              <a:t> MAX_SCORE = 200;  // 'MAX_SCORE' is a constant identifier</a:t>
            </a:r>
          </a:p>
          <a:p>
            <a:pPr marL="0" indent="0">
              <a:buNone/>
            </a:pPr>
            <a:r>
              <a:rPr lang="en-IN" sz="2000" dirty="0"/>
              <a:t>        </a:t>
            </a:r>
          </a:p>
          <a:p>
            <a:pPr marL="0" indent="0">
              <a:buNone/>
            </a:pPr>
            <a:r>
              <a:rPr lang="en-IN" sz="2000" dirty="0"/>
              <a:t>        </a:t>
            </a:r>
            <a:r>
              <a:rPr lang="en-IN" sz="2000" dirty="0" err="1"/>
              <a:t>System.out.println</a:t>
            </a:r>
            <a:r>
              <a:rPr lang="en-IN" sz="2000" dirty="0"/>
              <a:t>("Total Score: " + </a:t>
            </a:r>
            <a:r>
              <a:rPr lang="en-IN" sz="2000" dirty="0" err="1"/>
              <a:t>totalScore</a:t>
            </a:r>
            <a:r>
              <a:rPr lang="en-IN" sz="2000" dirty="0"/>
              <a:t>);</a:t>
            </a:r>
          </a:p>
          <a:p>
            <a:pPr marL="0" indent="0">
              <a:buNone/>
            </a:pPr>
            <a:r>
              <a:rPr lang="en-IN" sz="2000" dirty="0"/>
              <a:t>    }</a:t>
            </a:r>
          </a:p>
          <a:p>
            <a:pPr marL="0" indent="0">
              <a:buNone/>
            </a:pPr>
            <a:r>
              <a:rPr lang="en-IN" sz="2000" dirty="0"/>
              <a:t>}</a:t>
            </a:r>
          </a:p>
          <a:p>
            <a:pPr marL="0" indent="0">
              <a:buNone/>
            </a:pPr>
            <a:endParaRPr lang="en-IN" dirty="0"/>
          </a:p>
        </p:txBody>
      </p:sp>
    </p:spTree>
    <p:extLst>
      <p:ext uri="{BB962C8B-B14F-4D97-AF65-F5344CB8AC3E}">
        <p14:creationId xmlns:p14="http://schemas.microsoft.com/office/powerpoint/2010/main" val="13853257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Java Keywords</a:t>
            </a:r>
          </a:p>
        </p:txBody>
      </p:sp>
      <p:sp>
        <p:nvSpPr>
          <p:cNvPr id="3" name="Content Placeholder 2"/>
          <p:cNvSpPr>
            <a:spLocks noGrp="1"/>
          </p:cNvSpPr>
          <p:nvPr>
            <p:ph idx="1"/>
          </p:nvPr>
        </p:nvSpPr>
        <p:spPr/>
        <p:txBody>
          <a:bodyPr>
            <a:normAutofit fontScale="85000" lnSpcReduction="10000"/>
          </a:bodyPr>
          <a:lstStyle/>
          <a:p>
            <a:r>
              <a:rPr lang="en-US" dirty="0"/>
              <a:t>Java </a:t>
            </a:r>
            <a:r>
              <a:rPr lang="en-US" b="1" dirty="0"/>
              <a:t>keywords</a:t>
            </a:r>
            <a:r>
              <a:rPr lang="en-US" dirty="0"/>
              <a:t> are reserved words predefined by the Java language. </a:t>
            </a:r>
            <a:endParaRPr lang="en-US" dirty="0" smtClean="0"/>
          </a:p>
          <a:p>
            <a:r>
              <a:rPr lang="en-US" dirty="0" smtClean="0"/>
              <a:t>They </a:t>
            </a:r>
            <a:r>
              <a:rPr lang="en-US" dirty="0"/>
              <a:t>have special meanings and are used to perform specific tasks in the code. </a:t>
            </a:r>
            <a:endParaRPr lang="en-US" dirty="0" smtClean="0"/>
          </a:p>
          <a:p>
            <a:r>
              <a:rPr lang="en-US" dirty="0" smtClean="0"/>
              <a:t>Because </a:t>
            </a:r>
            <a:r>
              <a:rPr lang="en-US" dirty="0"/>
              <a:t>they are reserved, They cannot be used for naming variables, methods, classes, or other identifiers</a:t>
            </a:r>
            <a:r>
              <a:rPr lang="en-US" dirty="0" smtClean="0"/>
              <a:t>.</a:t>
            </a:r>
          </a:p>
          <a:p>
            <a:r>
              <a:rPr lang="en-US" dirty="0" smtClean="0"/>
              <a:t>Examples – </a:t>
            </a:r>
            <a:r>
              <a:rPr lang="en-US" dirty="0" err="1" smtClean="0"/>
              <a:t>int</a:t>
            </a:r>
            <a:r>
              <a:rPr lang="en-US" dirty="0" smtClean="0"/>
              <a:t>, float, class, static public etc.</a:t>
            </a:r>
          </a:p>
          <a:p>
            <a:r>
              <a:rPr lang="en-US" dirty="0" smtClean="0"/>
              <a:t>In total there are 52 keywords in java. Out of which ‘</a:t>
            </a:r>
            <a:r>
              <a:rPr lang="en-US" b="1" dirty="0" err="1" smtClean="0"/>
              <a:t>const</a:t>
            </a:r>
            <a:r>
              <a:rPr lang="en-US" dirty="0" smtClean="0"/>
              <a:t>’ and ‘</a:t>
            </a:r>
            <a:r>
              <a:rPr lang="en-US" b="1" dirty="0" err="1" smtClean="0"/>
              <a:t>goto</a:t>
            </a:r>
            <a:r>
              <a:rPr lang="en-US" dirty="0" smtClean="0"/>
              <a:t>’ are </a:t>
            </a:r>
            <a:r>
              <a:rPr lang="en-US" b="1" dirty="0"/>
              <a:t>reserved keywords</a:t>
            </a:r>
            <a:r>
              <a:rPr lang="en-US" dirty="0"/>
              <a:t> that are not currently used in Java but are kept for future use</a:t>
            </a:r>
            <a:endParaRPr lang="en-IN" dirty="0"/>
          </a:p>
        </p:txBody>
      </p:sp>
    </p:spTree>
    <p:extLst>
      <p:ext uri="{BB962C8B-B14F-4D97-AF65-F5344CB8AC3E}">
        <p14:creationId xmlns:p14="http://schemas.microsoft.com/office/powerpoint/2010/main" val="14371576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Java </a:t>
            </a:r>
            <a:r>
              <a:rPr lang="en-IN" dirty="0" err="1" smtClean="0"/>
              <a:t>Datatypes</a:t>
            </a:r>
            <a:endParaRPr lang="en-IN" dirty="0"/>
          </a:p>
        </p:txBody>
      </p:sp>
      <p:sp>
        <p:nvSpPr>
          <p:cNvPr id="3" name="Content Placeholder 2"/>
          <p:cNvSpPr>
            <a:spLocks noGrp="1"/>
          </p:cNvSpPr>
          <p:nvPr>
            <p:ph idx="1"/>
          </p:nvPr>
        </p:nvSpPr>
        <p:spPr/>
        <p:txBody>
          <a:bodyPr>
            <a:normAutofit/>
          </a:bodyPr>
          <a:lstStyle/>
          <a:p>
            <a:r>
              <a:rPr lang="en-US" sz="2400" dirty="0"/>
              <a:t>Every variable has a type associated with it, that describes the size and type of value that variable can contain. This type is known as Data Type. Java supports the following types of Data Types-</a:t>
            </a:r>
            <a:endParaRPr lang="en-IN" sz="2400" dirty="0"/>
          </a:p>
        </p:txBody>
      </p:sp>
      <p:pic>
        <p:nvPicPr>
          <p:cNvPr id="2050" name="Picture 2" descr="java data types"/>
          <p:cNvPicPr>
            <a:picLocks noChangeAspect="1" noChangeArrowheads="1"/>
          </p:cNvPicPr>
          <p:nvPr/>
        </p:nvPicPr>
        <p:blipFill rotWithShape="1">
          <a:blip r:embed="rId2">
            <a:extLst>
              <a:ext uri="{28A0092B-C50C-407E-A947-70E740481C1C}">
                <a14:useLocalDpi xmlns:a14="http://schemas.microsoft.com/office/drawing/2010/main" val="0"/>
              </a:ext>
            </a:extLst>
          </a:blip>
          <a:srcRect t="12968" b="12023"/>
          <a:stretch/>
        </p:blipFill>
        <p:spPr bwMode="auto">
          <a:xfrm>
            <a:off x="1058247" y="3124200"/>
            <a:ext cx="7391400"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35568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a:bodyPr>
          <a:lstStyle/>
          <a:p>
            <a:r>
              <a:rPr lang="en-US" sz="2000" b="1" dirty="0"/>
              <a:t>Types of Java Data </a:t>
            </a:r>
            <a:r>
              <a:rPr lang="en-US" sz="2000" b="1" dirty="0" smtClean="0"/>
              <a:t>type – </a:t>
            </a:r>
          </a:p>
          <a:p>
            <a:r>
              <a:rPr lang="en-IN" sz="2000" dirty="0"/>
              <a:t>Data types can be categorized into 2 categories -</a:t>
            </a:r>
            <a:br>
              <a:rPr lang="en-IN" sz="2000" dirty="0"/>
            </a:br>
            <a:r>
              <a:rPr lang="en-IN" sz="2000" dirty="0"/>
              <a:t>1. Primitive Data types</a:t>
            </a:r>
            <a:br>
              <a:rPr lang="en-IN" sz="2000" dirty="0"/>
            </a:br>
            <a:r>
              <a:rPr lang="en-IN" sz="2000" dirty="0"/>
              <a:t>2. Non Primitive Data </a:t>
            </a:r>
            <a:r>
              <a:rPr lang="en-IN" sz="2000" dirty="0" smtClean="0"/>
              <a:t>types</a:t>
            </a:r>
          </a:p>
          <a:p>
            <a:r>
              <a:rPr lang="en-IN" sz="2000" b="1" dirty="0" smtClean="0"/>
              <a:t>1</a:t>
            </a:r>
            <a:r>
              <a:rPr lang="en-IN" sz="2000" b="1" dirty="0"/>
              <a:t>. Primitive Data types -</a:t>
            </a:r>
          </a:p>
          <a:p>
            <a:r>
              <a:rPr lang="en-IN" sz="2000" dirty="0"/>
              <a:t>Java defines 8 primitive data types - byte, short, </a:t>
            </a:r>
            <a:r>
              <a:rPr lang="en-IN" sz="2000" dirty="0" err="1"/>
              <a:t>int</a:t>
            </a:r>
            <a:r>
              <a:rPr lang="en-IN" sz="2000" dirty="0"/>
              <a:t>, long, float, double, char and </a:t>
            </a:r>
            <a:r>
              <a:rPr lang="en-IN" sz="2000" dirty="0" err="1"/>
              <a:t>boolean</a:t>
            </a:r>
            <a:r>
              <a:rPr lang="en-IN" sz="2000" dirty="0" smtClean="0"/>
              <a:t>.</a:t>
            </a:r>
          </a:p>
          <a:p>
            <a:r>
              <a:rPr lang="en-US" sz="2000" b="1" dirty="0"/>
              <a:t>Integer Types -</a:t>
            </a:r>
          </a:p>
          <a:p>
            <a:r>
              <a:rPr lang="en-US" sz="2000" dirty="0"/>
              <a:t>Java support 4 integers types-</a:t>
            </a:r>
            <a:r>
              <a:rPr lang="en-US" sz="2000" b="1" dirty="0"/>
              <a:t> byte, short, </a:t>
            </a:r>
            <a:r>
              <a:rPr lang="en-US" sz="2000" b="1" dirty="0" err="1"/>
              <a:t>int</a:t>
            </a:r>
            <a:r>
              <a:rPr lang="en-US" sz="2000" b="1" dirty="0"/>
              <a:t> and long</a:t>
            </a:r>
            <a:r>
              <a:rPr lang="en-US" sz="2000" dirty="0"/>
              <a:t> all are signed integers i.e. can store both positive and negative values.</a:t>
            </a:r>
          </a:p>
          <a:p>
            <a:endParaRPr lang="en-IN" sz="20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962400"/>
            <a:ext cx="83820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91472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47500" lnSpcReduction="20000"/>
          </a:bodyPr>
          <a:lstStyle/>
          <a:p>
            <a:pPr marL="0" indent="0">
              <a:buNone/>
            </a:pPr>
            <a:r>
              <a:rPr lang="en-US" dirty="0"/>
              <a:t>public class Demo2</a:t>
            </a:r>
          </a:p>
          <a:p>
            <a:pPr marL="0" indent="0">
              <a:buNone/>
            </a:pPr>
            <a:r>
              <a:rPr lang="en-US" dirty="0"/>
              <a:t> {</a:t>
            </a:r>
          </a:p>
          <a:p>
            <a:pPr marL="0" indent="0">
              <a:buNone/>
            </a:pPr>
            <a:r>
              <a:rPr lang="en-US" dirty="0"/>
              <a:t>   public static void main(String[] </a:t>
            </a:r>
            <a:r>
              <a:rPr lang="en-US" dirty="0" err="1"/>
              <a:t>args</a:t>
            </a:r>
            <a:r>
              <a:rPr lang="en-US" dirty="0"/>
              <a:t>) </a:t>
            </a:r>
          </a:p>
          <a:p>
            <a:pPr marL="0" indent="0">
              <a:buNone/>
            </a:pPr>
            <a:r>
              <a:rPr lang="en-US" dirty="0"/>
              <a:t>    {</a:t>
            </a:r>
          </a:p>
          <a:p>
            <a:pPr marL="0" indent="0">
              <a:buNone/>
            </a:pPr>
            <a:r>
              <a:rPr lang="en-US" dirty="0"/>
              <a:t>      byte a = 10;</a:t>
            </a:r>
          </a:p>
          <a:p>
            <a:pPr marL="0" indent="0">
              <a:buNone/>
            </a:pPr>
            <a:r>
              <a:rPr lang="en-US" dirty="0"/>
              <a:t>      short b = 20;</a:t>
            </a:r>
          </a:p>
          <a:p>
            <a:pPr marL="0" indent="0">
              <a:buNone/>
            </a:pPr>
            <a:r>
              <a:rPr lang="en-US" dirty="0"/>
              <a:t>      </a:t>
            </a:r>
            <a:r>
              <a:rPr lang="en-US" dirty="0" err="1"/>
              <a:t>int</a:t>
            </a:r>
            <a:r>
              <a:rPr lang="en-US" dirty="0"/>
              <a:t> c= 30;</a:t>
            </a:r>
          </a:p>
          <a:p>
            <a:pPr marL="0" indent="0">
              <a:buNone/>
            </a:pPr>
            <a:r>
              <a:rPr lang="en-US" dirty="0"/>
              <a:t>      long d = 40l;        </a:t>
            </a:r>
          </a:p>
          <a:p>
            <a:pPr marL="0" indent="0">
              <a:buNone/>
            </a:pPr>
            <a:r>
              <a:rPr lang="en-US" dirty="0"/>
              <a:t>      </a:t>
            </a:r>
          </a:p>
          <a:p>
            <a:pPr marL="0" indent="0">
              <a:buNone/>
            </a:pPr>
            <a:r>
              <a:rPr lang="en-US" dirty="0"/>
              <a:t>      //Note we use lower case 'l' to denote a long value </a:t>
            </a:r>
          </a:p>
          <a:p>
            <a:pPr marL="0" indent="0">
              <a:buNone/>
            </a:pPr>
            <a:r>
              <a:rPr lang="en-US" dirty="0"/>
              <a:t>      </a:t>
            </a:r>
          </a:p>
          <a:p>
            <a:pPr marL="0" indent="0">
              <a:buNone/>
            </a:pPr>
            <a:r>
              <a:rPr lang="en-US" dirty="0"/>
              <a:t>      </a:t>
            </a:r>
            <a:r>
              <a:rPr lang="en-US" dirty="0" err="1"/>
              <a:t>System.out.println</a:t>
            </a:r>
            <a:r>
              <a:rPr lang="en-US" dirty="0"/>
              <a:t>("value of a:"+a);   </a:t>
            </a:r>
          </a:p>
          <a:p>
            <a:pPr marL="0" indent="0">
              <a:buNone/>
            </a:pPr>
            <a:r>
              <a:rPr lang="en-US" dirty="0"/>
              <a:t>  </a:t>
            </a:r>
          </a:p>
          <a:p>
            <a:pPr marL="0" indent="0">
              <a:buNone/>
            </a:pPr>
            <a:r>
              <a:rPr lang="en-US" dirty="0"/>
              <a:t>      /*  '+' is used to concatenate something with any string</a:t>
            </a:r>
          </a:p>
          <a:p>
            <a:pPr marL="0" indent="0">
              <a:buNone/>
            </a:pPr>
            <a:r>
              <a:rPr lang="en-US" dirty="0"/>
              <a:t>      and make a new string  */</a:t>
            </a:r>
          </a:p>
          <a:p>
            <a:pPr marL="0" indent="0">
              <a:buNone/>
            </a:pPr>
            <a:r>
              <a:rPr lang="en-US" dirty="0"/>
              <a:t>      </a:t>
            </a:r>
          </a:p>
          <a:p>
            <a:pPr marL="0" indent="0">
              <a:buNone/>
            </a:pPr>
            <a:r>
              <a:rPr lang="en-US" dirty="0"/>
              <a:t>      </a:t>
            </a:r>
            <a:r>
              <a:rPr lang="en-US" dirty="0" err="1"/>
              <a:t>System.out.println</a:t>
            </a:r>
            <a:r>
              <a:rPr lang="en-US" dirty="0"/>
              <a:t> ("value of b:"+b);    </a:t>
            </a:r>
          </a:p>
          <a:p>
            <a:pPr marL="0" indent="0">
              <a:buNone/>
            </a:pPr>
            <a:r>
              <a:rPr lang="en-US" dirty="0"/>
              <a:t>      </a:t>
            </a:r>
            <a:r>
              <a:rPr lang="en-US" dirty="0" err="1"/>
              <a:t>System.out.println</a:t>
            </a:r>
            <a:r>
              <a:rPr lang="en-US" dirty="0"/>
              <a:t> ("value of c:"+c);</a:t>
            </a:r>
          </a:p>
          <a:p>
            <a:pPr marL="0" indent="0">
              <a:buNone/>
            </a:pPr>
            <a:r>
              <a:rPr lang="en-US" dirty="0"/>
              <a:t>      </a:t>
            </a:r>
            <a:r>
              <a:rPr lang="en-US" dirty="0" err="1"/>
              <a:t>System.out.println</a:t>
            </a:r>
            <a:r>
              <a:rPr lang="en-US" dirty="0"/>
              <a:t> ("value of d:"+d);</a:t>
            </a:r>
          </a:p>
          <a:p>
            <a:pPr marL="0" indent="0">
              <a:buNone/>
            </a:pPr>
            <a:r>
              <a:rPr lang="en-US" dirty="0"/>
              <a:t>    }    </a:t>
            </a:r>
          </a:p>
          <a:p>
            <a:pPr marL="0" indent="0">
              <a:buNone/>
            </a:pPr>
            <a:r>
              <a:rPr lang="en-US" dirty="0"/>
              <a:t>  }</a:t>
            </a:r>
            <a:endParaRPr lang="en-IN" dirty="0"/>
          </a:p>
        </p:txBody>
      </p:sp>
    </p:spTree>
    <p:extLst>
      <p:ext uri="{BB962C8B-B14F-4D97-AF65-F5344CB8AC3E}">
        <p14:creationId xmlns:p14="http://schemas.microsoft.com/office/powerpoint/2010/main" val="20856132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lnSpcReduction="10000"/>
          </a:bodyPr>
          <a:lstStyle/>
          <a:p>
            <a:r>
              <a:rPr lang="en-US" sz="2400" dirty="0"/>
              <a:t>Floating Point Types -</a:t>
            </a:r>
          </a:p>
          <a:p>
            <a:r>
              <a:rPr lang="en-US" sz="2400" dirty="0"/>
              <a:t>Java supports 2 floating point data types - </a:t>
            </a:r>
            <a:r>
              <a:rPr lang="en-US" sz="2400" b="1" dirty="0"/>
              <a:t>float and double</a:t>
            </a:r>
            <a:r>
              <a:rPr lang="en-US" sz="2400" dirty="0"/>
              <a:t>. For number containing fractional part we use these data types</a:t>
            </a:r>
            <a:r>
              <a:rPr lang="en-US" sz="2400" dirty="0" smtClean="0"/>
              <a:t>.</a:t>
            </a:r>
          </a:p>
          <a:p>
            <a:endParaRPr lang="en-US" sz="2400" dirty="0"/>
          </a:p>
          <a:p>
            <a:endParaRPr lang="en-US" sz="2400" dirty="0" smtClean="0"/>
          </a:p>
          <a:p>
            <a:endParaRPr lang="en-US" sz="2400" dirty="0"/>
          </a:p>
          <a:p>
            <a:endParaRPr lang="en-US" sz="2400" dirty="0" smtClean="0"/>
          </a:p>
          <a:p>
            <a:r>
              <a:rPr lang="en-US" sz="2400" dirty="0"/>
              <a:t>Note -</a:t>
            </a:r>
          </a:p>
          <a:p>
            <a:r>
              <a:rPr lang="en-US" sz="2400" dirty="0"/>
              <a:t>Larger the size of data type, larger the time required for its manipulation. So don't use larger size data type unnecessarily i.e. if you need to store a value 12 for example then use byte data type in place of </a:t>
            </a:r>
            <a:r>
              <a:rPr lang="en-US" sz="2400" dirty="0" err="1"/>
              <a:t>int</a:t>
            </a:r>
            <a:r>
              <a:rPr lang="en-US" sz="2400" dirty="0"/>
              <a:t> or long </a:t>
            </a:r>
            <a:r>
              <a:rPr lang="en-US" sz="2400" dirty="0" err="1"/>
              <a:t>etc</a:t>
            </a:r>
            <a:r>
              <a:rPr lang="en-US" sz="2400" dirty="0"/>
              <a:t> to improve the execution speed.</a:t>
            </a:r>
            <a:endParaRPr lang="en-US" sz="2400" dirty="0" smtClean="0"/>
          </a:p>
          <a:p>
            <a:endParaRPr lang="en-US" sz="2400" dirty="0"/>
          </a:p>
          <a:p>
            <a:endParaRPr lang="en-US" sz="2400" dirty="0" smtClean="0"/>
          </a:p>
          <a:p>
            <a:endParaRPr lang="en-US" sz="2400" dirty="0"/>
          </a:p>
          <a:p>
            <a:endParaRPr lang="en-US" sz="2400" dirty="0" smtClean="0"/>
          </a:p>
          <a:p>
            <a:endParaRPr lang="en-IN" sz="24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057400"/>
            <a:ext cx="6907213"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70579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55000" lnSpcReduction="20000"/>
          </a:bodyPr>
          <a:lstStyle/>
          <a:p>
            <a:r>
              <a:rPr lang="en-IN" dirty="0" smtClean="0"/>
              <a:t>Example – </a:t>
            </a:r>
          </a:p>
          <a:p>
            <a:endParaRPr lang="en-IN" dirty="0" smtClean="0"/>
          </a:p>
          <a:p>
            <a:pPr marL="0" indent="0">
              <a:buNone/>
            </a:pPr>
            <a:r>
              <a:rPr lang="en-IN" dirty="0"/>
              <a:t>public class Demo3</a:t>
            </a:r>
          </a:p>
          <a:p>
            <a:pPr marL="0" indent="0">
              <a:buNone/>
            </a:pP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float a = 10.123f; </a:t>
            </a:r>
          </a:p>
          <a:p>
            <a:pPr marL="0" indent="0">
              <a:buNone/>
            </a:pPr>
            <a:r>
              <a:rPr lang="en-IN" dirty="0"/>
              <a:t>   </a:t>
            </a:r>
          </a:p>
          <a:p>
            <a:pPr marL="0" indent="0">
              <a:buNone/>
            </a:pPr>
            <a:r>
              <a:rPr lang="en-IN" dirty="0"/>
              <a:t>   //Note we use lower case 'f' to denote a float value </a:t>
            </a:r>
          </a:p>
          <a:p>
            <a:pPr marL="0" indent="0">
              <a:buNone/>
            </a:pPr>
            <a:r>
              <a:rPr lang="en-IN" dirty="0"/>
              <a:t>   </a:t>
            </a:r>
          </a:p>
          <a:p>
            <a:pPr marL="0" indent="0">
              <a:buNone/>
            </a:pPr>
            <a:r>
              <a:rPr lang="en-IN" dirty="0"/>
              <a:t>   double b = 20.123;</a:t>
            </a:r>
          </a:p>
          <a:p>
            <a:pPr marL="0" indent="0">
              <a:buNone/>
            </a:pPr>
            <a:r>
              <a:rPr lang="en-IN" dirty="0"/>
              <a:t>   </a:t>
            </a:r>
          </a:p>
          <a:p>
            <a:pPr marL="0" indent="0">
              <a:buNone/>
            </a:pPr>
            <a:r>
              <a:rPr lang="en-IN" dirty="0"/>
              <a:t>   //By default floating point types are double, so no need to add any postfix for double data type.</a:t>
            </a:r>
          </a:p>
          <a:p>
            <a:pPr marL="0" indent="0">
              <a:buNone/>
            </a:pPr>
            <a:r>
              <a:rPr lang="en-IN" dirty="0"/>
              <a:t>   </a:t>
            </a:r>
          </a:p>
          <a:p>
            <a:pPr marL="0" indent="0">
              <a:buNone/>
            </a:pPr>
            <a:r>
              <a:rPr lang="en-IN" dirty="0"/>
              <a:t>   </a:t>
            </a:r>
            <a:r>
              <a:rPr lang="en-IN" dirty="0" err="1"/>
              <a:t>System.out.println</a:t>
            </a:r>
            <a:r>
              <a:rPr lang="en-IN" dirty="0"/>
              <a:t>("value of a:"+a);    </a:t>
            </a:r>
          </a:p>
          <a:p>
            <a:pPr marL="0" indent="0">
              <a:buNone/>
            </a:pPr>
            <a:r>
              <a:rPr lang="en-IN" dirty="0"/>
              <a:t>   </a:t>
            </a:r>
            <a:r>
              <a:rPr lang="en-IN" dirty="0" err="1"/>
              <a:t>System.out.println</a:t>
            </a:r>
            <a:r>
              <a:rPr lang="en-IN" dirty="0"/>
              <a:t> ("value of b:"+b);</a:t>
            </a:r>
          </a:p>
          <a:p>
            <a:pPr marL="0" indent="0">
              <a:buNone/>
            </a:pPr>
            <a:r>
              <a:rPr lang="en-IN" dirty="0"/>
              <a:t>   }    </a:t>
            </a:r>
          </a:p>
          <a:p>
            <a:pPr marL="0" indent="0">
              <a:buNone/>
            </a:pPr>
            <a:r>
              <a:rPr lang="en-IN" dirty="0"/>
              <a:t> }</a:t>
            </a:r>
          </a:p>
        </p:txBody>
      </p:sp>
    </p:spTree>
    <p:extLst>
      <p:ext uri="{BB962C8B-B14F-4D97-AF65-F5344CB8AC3E}">
        <p14:creationId xmlns:p14="http://schemas.microsoft.com/office/powerpoint/2010/main" val="33770233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dirty="0"/>
              <a:t>Characters Type -</a:t>
            </a:r>
          </a:p>
          <a:p>
            <a:r>
              <a:rPr lang="en-US" dirty="0"/>
              <a:t>To store character java support </a:t>
            </a:r>
            <a:r>
              <a:rPr lang="en-US" b="1" dirty="0"/>
              <a:t>char</a:t>
            </a:r>
            <a:r>
              <a:rPr lang="en-US" dirty="0"/>
              <a:t> data type. In java char is</a:t>
            </a:r>
            <a:r>
              <a:rPr lang="en-US" b="1" dirty="0"/>
              <a:t> 2 byte </a:t>
            </a:r>
            <a:r>
              <a:rPr lang="en-US" dirty="0"/>
              <a:t>Unicode character that defines fully international character set that can represent all of the characters found in </a:t>
            </a:r>
            <a:r>
              <a:rPr lang="en-US" dirty="0" smtClean="0"/>
              <a:t>most human </a:t>
            </a:r>
            <a:r>
              <a:rPr lang="en-US" dirty="0"/>
              <a:t>languages</a:t>
            </a:r>
            <a:r>
              <a:rPr lang="en-US" dirty="0" smtClean="0"/>
              <a:t>.</a:t>
            </a:r>
          </a:p>
          <a:p>
            <a:r>
              <a:rPr lang="en-US" dirty="0" smtClean="0"/>
              <a:t>We </a:t>
            </a:r>
            <a:r>
              <a:rPr lang="en-US" dirty="0"/>
              <a:t>can also perform arithmetic operations on characters, char can be thought of integer type.</a:t>
            </a:r>
            <a:endParaRPr lang="en-IN" dirty="0"/>
          </a:p>
        </p:txBody>
      </p:sp>
    </p:spTree>
    <p:extLst>
      <p:ext uri="{BB962C8B-B14F-4D97-AF65-F5344CB8AC3E}">
        <p14:creationId xmlns:p14="http://schemas.microsoft.com/office/powerpoint/2010/main" val="33770233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62500" lnSpcReduction="20000"/>
          </a:bodyPr>
          <a:lstStyle/>
          <a:p>
            <a:pPr marL="0" indent="0">
              <a:buNone/>
            </a:pPr>
            <a:r>
              <a:rPr lang="en-IN" dirty="0" smtClean="0"/>
              <a:t>Example – </a:t>
            </a:r>
          </a:p>
          <a:p>
            <a:pPr marL="0" indent="0">
              <a:buNone/>
            </a:pPr>
            <a:r>
              <a:rPr lang="en-IN" dirty="0"/>
              <a:t>public class Demo4</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char ch1, ch2, ch3, ch4;</a:t>
            </a:r>
          </a:p>
          <a:p>
            <a:pPr marL="0" indent="0">
              <a:buNone/>
            </a:pPr>
            <a:r>
              <a:rPr lang="en-IN" dirty="0"/>
              <a:t>  ch1 = 'A';</a:t>
            </a:r>
          </a:p>
          <a:p>
            <a:pPr marL="0" indent="0">
              <a:buNone/>
            </a:pPr>
            <a:r>
              <a:rPr lang="en-IN" dirty="0"/>
              <a:t>  ch2 = 'B';</a:t>
            </a:r>
          </a:p>
          <a:p>
            <a:pPr marL="0" indent="0">
              <a:buNone/>
            </a:pPr>
            <a:r>
              <a:rPr lang="en-IN" dirty="0"/>
              <a:t>  ch3 = 65;       // ASCII value of A</a:t>
            </a:r>
          </a:p>
          <a:p>
            <a:pPr marL="0" indent="0">
              <a:buNone/>
            </a:pPr>
            <a:r>
              <a:rPr lang="en-IN" dirty="0"/>
              <a:t>  </a:t>
            </a:r>
            <a:r>
              <a:rPr lang="en-IN" dirty="0" err="1"/>
              <a:t>System.out.println</a:t>
            </a:r>
            <a:r>
              <a:rPr lang="en-IN" dirty="0"/>
              <a:t>("values of ch1, ch2 and ch3 are:"+ch1+"  "+ch2+"  "+ch3);</a:t>
            </a:r>
          </a:p>
          <a:p>
            <a:pPr marL="0" indent="0">
              <a:buNone/>
            </a:pPr>
            <a:r>
              <a:rPr lang="en-IN" dirty="0"/>
              <a:t>  ch1++;</a:t>
            </a:r>
          </a:p>
          <a:p>
            <a:pPr marL="0" indent="0">
              <a:buNone/>
            </a:pPr>
            <a:r>
              <a:rPr lang="en-IN" dirty="0"/>
              <a:t>  ch4 = ch1;</a:t>
            </a:r>
          </a:p>
          <a:p>
            <a:pPr marL="0" indent="0">
              <a:buNone/>
            </a:pPr>
            <a:r>
              <a:rPr lang="en-IN" dirty="0"/>
              <a:t>  </a:t>
            </a:r>
            <a:r>
              <a:rPr lang="en-IN" dirty="0" err="1"/>
              <a:t>int</a:t>
            </a:r>
            <a:r>
              <a:rPr lang="en-IN" dirty="0"/>
              <a:t> a = ch1+ch2;</a:t>
            </a:r>
          </a:p>
          <a:p>
            <a:pPr marL="0" indent="0">
              <a:buNone/>
            </a:pPr>
            <a:r>
              <a:rPr lang="en-IN" dirty="0"/>
              <a:t>  </a:t>
            </a:r>
            <a:r>
              <a:rPr lang="en-IN" dirty="0" err="1"/>
              <a:t>System.out.println</a:t>
            </a:r>
            <a:r>
              <a:rPr lang="en-IN" dirty="0"/>
              <a:t>("values of ch4 and a are:"+ch4+"  "+a);</a:t>
            </a:r>
          </a:p>
          <a:p>
            <a:pPr marL="0" indent="0">
              <a:buNone/>
            </a:pPr>
            <a:r>
              <a:rPr lang="en-IN" dirty="0"/>
              <a:t> }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3770233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lnSpcReduction="10000"/>
          </a:bodyPr>
          <a:lstStyle/>
          <a:p>
            <a:r>
              <a:rPr lang="en-US" sz="2000" dirty="0"/>
              <a:t>Boolean Type -</a:t>
            </a:r>
          </a:p>
          <a:p>
            <a:r>
              <a:rPr lang="en-US" sz="2000" dirty="0"/>
              <a:t>To support Boolean values (true or false) java provides </a:t>
            </a:r>
            <a:r>
              <a:rPr lang="en-US" sz="2000" b="1" dirty="0"/>
              <a:t>'</a:t>
            </a:r>
            <a:r>
              <a:rPr lang="en-US" sz="2000" b="1" dirty="0" err="1"/>
              <a:t>boolean</a:t>
            </a:r>
            <a:r>
              <a:rPr lang="en-US" sz="2000" b="1" dirty="0"/>
              <a:t>'</a:t>
            </a:r>
            <a:r>
              <a:rPr lang="en-US" sz="2000" dirty="0"/>
              <a:t> data type. It require only </a:t>
            </a:r>
            <a:r>
              <a:rPr lang="en-US" sz="2000" b="1" dirty="0"/>
              <a:t>1 bit </a:t>
            </a:r>
            <a:r>
              <a:rPr lang="en-US" sz="2000" dirty="0"/>
              <a:t>to store </a:t>
            </a:r>
            <a:r>
              <a:rPr lang="en-US" sz="2000" dirty="0" err="1"/>
              <a:t>boolean</a:t>
            </a:r>
            <a:r>
              <a:rPr lang="en-US" sz="2000" dirty="0"/>
              <a:t> value in memory.</a:t>
            </a:r>
            <a:br>
              <a:rPr lang="en-US" sz="2000" dirty="0"/>
            </a:br>
            <a:r>
              <a:rPr lang="en-US" sz="2000" b="1" dirty="0"/>
              <a:t>Note :- </a:t>
            </a:r>
            <a:r>
              <a:rPr lang="en-US" sz="2000" dirty="0"/>
              <a:t>we cannot use 0 for false and non zero value as true in java, as in C or C</a:t>
            </a:r>
            <a:r>
              <a:rPr lang="en-US" sz="2000" dirty="0" smtClean="0"/>
              <a:t>++.</a:t>
            </a:r>
          </a:p>
          <a:p>
            <a:pPr marL="0" indent="0">
              <a:buNone/>
            </a:pPr>
            <a:r>
              <a:rPr lang="en-US" sz="2000" dirty="0"/>
              <a:t>public class Demo5</a:t>
            </a:r>
          </a:p>
          <a:p>
            <a:pPr marL="0" indent="0">
              <a:buNone/>
            </a:pPr>
            <a:r>
              <a:rPr lang="en-US" sz="2000" dirty="0"/>
              <a:t>{</a:t>
            </a:r>
          </a:p>
          <a:p>
            <a:pPr marL="0" indent="0">
              <a:buNone/>
            </a:pPr>
            <a:r>
              <a:rPr lang="en-US" sz="2000" dirty="0"/>
              <a:t> public static void main(String[] </a:t>
            </a:r>
            <a:r>
              <a:rPr lang="en-US" sz="2000" dirty="0" err="1"/>
              <a:t>args</a:t>
            </a:r>
            <a:r>
              <a:rPr lang="en-US" sz="2000" dirty="0"/>
              <a:t>) </a:t>
            </a:r>
          </a:p>
          <a:p>
            <a:pPr marL="0" indent="0">
              <a:buNone/>
            </a:pPr>
            <a:r>
              <a:rPr lang="en-US" sz="2000" dirty="0"/>
              <a:t> {</a:t>
            </a:r>
          </a:p>
          <a:p>
            <a:pPr marL="0" indent="0">
              <a:buNone/>
            </a:pPr>
            <a:r>
              <a:rPr lang="en-US" sz="2000" dirty="0"/>
              <a:t>  </a:t>
            </a:r>
            <a:r>
              <a:rPr lang="en-US" sz="2000" dirty="0" err="1"/>
              <a:t>boolean</a:t>
            </a:r>
            <a:r>
              <a:rPr lang="en-US" sz="2000" dirty="0"/>
              <a:t> </a:t>
            </a:r>
            <a:r>
              <a:rPr lang="en-US" sz="2000" dirty="0" err="1"/>
              <a:t>a,b</a:t>
            </a:r>
            <a:r>
              <a:rPr lang="en-US" sz="2000" dirty="0"/>
              <a:t>;</a:t>
            </a:r>
          </a:p>
          <a:p>
            <a:pPr marL="0" indent="0">
              <a:buNone/>
            </a:pPr>
            <a:r>
              <a:rPr lang="en-US" sz="2000" dirty="0"/>
              <a:t>  a = true;</a:t>
            </a:r>
          </a:p>
          <a:p>
            <a:pPr marL="0" indent="0">
              <a:buNone/>
            </a:pPr>
            <a:r>
              <a:rPr lang="en-US" sz="2000" dirty="0"/>
              <a:t>  b=false;</a:t>
            </a:r>
          </a:p>
          <a:p>
            <a:pPr marL="0" indent="0">
              <a:buNone/>
            </a:pPr>
            <a:r>
              <a:rPr lang="en-US" sz="2000" dirty="0"/>
              <a:t>  </a:t>
            </a:r>
            <a:r>
              <a:rPr lang="en-US" sz="2000" dirty="0" err="1"/>
              <a:t>System.out.println</a:t>
            </a:r>
            <a:r>
              <a:rPr lang="en-US" sz="2000" dirty="0"/>
              <a:t>("values of a and b are:"+a+"  "+b);</a:t>
            </a:r>
          </a:p>
          <a:p>
            <a:pPr marL="0" indent="0">
              <a:buNone/>
            </a:pPr>
            <a:r>
              <a:rPr lang="en-US" sz="2000" dirty="0"/>
              <a:t> }    </a:t>
            </a:r>
          </a:p>
          <a:p>
            <a:pPr marL="0" indent="0">
              <a:buNone/>
            </a:pPr>
            <a:r>
              <a:rPr lang="en-US" sz="2000" dirty="0" smtClean="0"/>
              <a:t>}</a:t>
            </a:r>
          </a:p>
          <a:p>
            <a:r>
              <a:rPr lang="en-US" sz="2000" dirty="0"/>
              <a:t>2. Non Primitive Data types -</a:t>
            </a:r>
          </a:p>
          <a:p>
            <a:r>
              <a:rPr lang="en-US" sz="2000" dirty="0"/>
              <a:t>There are several non primitive data types supported by java like class, interface etc. These will be covered next.</a:t>
            </a:r>
            <a:endParaRPr lang="en-IN" sz="2000" dirty="0"/>
          </a:p>
        </p:txBody>
      </p:sp>
    </p:spTree>
    <p:extLst>
      <p:ext uri="{BB962C8B-B14F-4D97-AF65-F5344CB8AC3E}">
        <p14:creationId xmlns:p14="http://schemas.microsoft.com/office/powerpoint/2010/main" val="33770233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Types Conversion and Casting</a:t>
            </a:r>
            <a:br>
              <a:rPr lang="en-US" dirty="0"/>
            </a:br>
            <a:endParaRPr lang="en-IN" dirty="0"/>
          </a:p>
        </p:txBody>
      </p:sp>
      <p:sp>
        <p:nvSpPr>
          <p:cNvPr id="3" name="Content Placeholder 2"/>
          <p:cNvSpPr>
            <a:spLocks noGrp="1"/>
          </p:cNvSpPr>
          <p:nvPr>
            <p:ph idx="1"/>
          </p:nvPr>
        </p:nvSpPr>
        <p:spPr/>
        <p:txBody>
          <a:bodyPr>
            <a:normAutofit fontScale="62500" lnSpcReduction="20000"/>
          </a:bodyPr>
          <a:lstStyle/>
          <a:p>
            <a:r>
              <a:rPr lang="en-US" dirty="0"/>
              <a:t>In programming there can be situation when we required to change the data type of a variable to some other data type, this process of data type conversion is known as type conversion or type casting.</a:t>
            </a:r>
            <a:br>
              <a:rPr lang="en-US" dirty="0"/>
            </a:br>
            <a:endParaRPr lang="en-US" dirty="0"/>
          </a:p>
          <a:p>
            <a:r>
              <a:rPr lang="en-US" dirty="0"/>
              <a:t>Types of type casting -</a:t>
            </a:r>
          </a:p>
          <a:p>
            <a:r>
              <a:rPr lang="en-US" dirty="0"/>
              <a:t>Type casting can be categorized into 2 categories based on whether the two types are compatible or not </a:t>
            </a:r>
            <a:r>
              <a:rPr lang="en-US" dirty="0" smtClean="0"/>
              <a:t>–</a:t>
            </a:r>
          </a:p>
          <a:p>
            <a:endParaRPr lang="en-US" dirty="0" smtClean="0"/>
          </a:p>
          <a:p>
            <a:r>
              <a:rPr lang="en-US" b="1" dirty="0"/>
              <a:t>1. Compatible Type conversion -</a:t>
            </a:r>
          </a:p>
          <a:p>
            <a:r>
              <a:rPr lang="en-US" dirty="0"/>
              <a:t>Java perform automatic type conversion if two types are compatible, and destination type is larger than the source type. For example a long type is large enough to contain all valid </a:t>
            </a:r>
            <a:r>
              <a:rPr lang="en-US" dirty="0" err="1"/>
              <a:t>int</a:t>
            </a:r>
            <a:r>
              <a:rPr lang="en-US" dirty="0"/>
              <a:t> or short or byte type, similarly double is large enough to hold any valid float type.</a:t>
            </a:r>
            <a:br>
              <a:rPr lang="en-US" dirty="0"/>
            </a:br>
            <a:r>
              <a:rPr lang="en-US" dirty="0"/>
              <a:t>This process of storing smaller data type values into larger compatible data type is known as </a:t>
            </a:r>
            <a:r>
              <a:rPr lang="en-US" b="1" dirty="0"/>
              <a:t>widening</a:t>
            </a:r>
            <a:r>
              <a:rPr lang="en-US" dirty="0"/>
              <a:t>.</a:t>
            </a:r>
            <a:endParaRPr lang="en-IN" dirty="0"/>
          </a:p>
        </p:txBody>
      </p:sp>
    </p:spTree>
    <p:extLst>
      <p:ext uri="{BB962C8B-B14F-4D97-AF65-F5344CB8AC3E}">
        <p14:creationId xmlns:p14="http://schemas.microsoft.com/office/powerpoint/2010/main" val="34143936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85000" lnSpcReduction="10000"/>
          </a:bodyPr>
          <a:lstStyle/>
          <a:p>
            <a:pPr marL="0" indent="0">
              <a:buNone/>
            </a:pPr>
            <a:r>
              <a:rPr lang="en-US" dirty="0"/>
              <a:t> byte a=10;</a:t>
            </a:r>
          </a:p>
          <a:p>
            <a:pPr marL="0" indent="0">
              <a:buNone/>
            </a:pPr>
            <a:r>
              <a:rPr lang="en-US" dirty="0"/>
              <a:t> </a:t>
            </a:r>
            <a:r>
              <a:rPr lang="en-US" dirty="0" err="1"/>
              <a:t>int</a:t>
            </a:r>
            <a:r>
              <a:rPr lang="en-US" dirty="0"/>
              <a:t> b=a;</a:t>
            </a:r>
          </a:p>
          <a:p>
            <a:pPr marL="0" indent="0">
              <a:buNone/>
            </a:pPr>
            <a:r>
              <a:rPr lang="en-US" dirty="0"/>
              <a:t> float c=b;  </a:t>
            </a:r>
          </a:p>
          <a:p>
            <a:pPr marL="0" indent="0">
              <a:buNone/>
            </a:pPr>
            <a:r>
              <a:rPr lang="en-US" dirty="0"/>
              <a:t> // Note that float is larger than integer types (byte, short, </a:t>
            </a:r>
            <a:r>
              <a:rPr lang="en-US" dirty="0" err="1"/>
              <a:t>int</a:t>
            </a:r>
            <a:r>
              <a:rPr lang="en-US" dirty="0"/>
              <a:t>, long</a:t>
            </a:r>
            <a:r>
              <a:rPr lang="en-US" dirty="0" smtClean="0"/>
              <a:t>)</a:t>
            </a:r>
            <a:endParaRPr lang="en-US" dirty="0"/>
          </a:p>
          <a:p>
            <a:pPr marL="0" indent="0">
              <a:buNone/>
            </a:pPr>
            <a:r>
              <a:rPr lang="en-US" dirty="0"/>
              <a:t>All numeric data types, integers (byte, short, </a:t>
            </a:r>
            <a:r>
              <a:rPr lang="en-US" dirty="0" err="1"/>
              <a:t>int</a:t>
            </a:r>
            <a:r>
              <a:rPr lang="en-US" dirty="0"/>
              <a:t>, long) and floating point type (float, double) are compatible with each other</a:t>
            </a:r>
            <a:r>
              <a:rPr lang="en-US" dirty="0" smtClean="0"/>
              <a:t>.</a:t>
            </a:r>
          </a:p>
          <a:p>
            <a:pPr marL="0" indent="0">
              <a:buNone/>
            </a:pPr>
            <a:endParaRPr lang="en-US" dirty="0" smtClean="0"/>
          </a:p>
          <a:p>
            <a:r>
              <a:rPr lang="en-US" b="1" dirty="0" smtClean="0"/>
              <a:t>2 - Incompatible </a:t>
            </a:r>
            <a:r>
              <a:rPr lang="en-US" b="1" dirty="0"/>
              <a:t>Type Conversion -</a:t>
            </a:r>
          </a:p>
          <a:p>
            <a:r>
              <a:rPr lang="en-US" dirty="0"/>
              <a:t>If two types are not compatible then we can convert the source type into destination type as follows </a:t>
            </a:r>
            <a:r>
              <a:rPr lang="en-US" dirty="0" smtClean="0"/>
              <a:t>– </a:t>
            </a:r>
          </a:p>
          <a:p>
            <a:r>
              <a:rPr lang="en-US" b="1" dirty="0" smtClean="0"/>
              <a:t>type </a:t>
            </a:r>
            <a:r>
              <a:rPr lang="en-US" b="1" dirty="0"/>
              <a:t>variable1 = (type) variable2</a:t>
            </a:r>
            <a:r>
              <a:rPr lang="en-US" b="1" dirty="0" smtClean="0"/>
              <a:t>;</a:t>
            </a:r>
          </a:p>
          <a:p>
            <a:endParaRPr lang="en-IN" dirty="0"/>
          </a:p>
        </p:txBody>
      </p:sp>
    </p:spTree>
    <p:extLst>
      <p:ext uri="{BB962C8B-B14F-4D97-AF65-F5344CB8AC3E}">
        <p14:creationId xmlns:p14="http://schemas.microsoft.com/office/powerpoint/2010/main" val="3377023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dirty="0"/>
              <a:t>Example -</a:t>
            </a:r>
          </a:p>
          <a:p>
            <a:r>
              <a:rPr lang="en-US" dirty="0" err="1"/>
              <a:t>int</a:t>
            </a:r>
            <a:r>
              <a:rPr lang="en-US" dirty="0"/>
              <a:t> a=10; </a:t>
            </a:r>
            <a:endParaRPr lang="en-US" dirty="0" smtClean="0"/>
          </a:p>
          <a:p>
            <a:r>
              <a:rPr lang="en-US" dirty="0" smtClean="0"/>
              <a:t>byte </a:t>
            </a:r>
            <a:r>
              <a:rPr lang="en-US" dirty="0"/>
              <a:t>b = (byte)a; </a:t>
            </a:r>
            <a:endParaRPr lang="en-US" dirty="0" smtClean="0"/>
          </a:p>
          <a:p>
            <a:r>
              <a:rPr lang="en-US" dirty="0" smtClean="0"/>
              <a:t>short </a:t>
            </a:r>
            <a:r>
              <a:rPr lang="en-US" dirty="0"/>
              <a:t>c = (short)a; </a:t>
            </a:r>
            <a:endParaRPr lang="en-US" dirty="0" smtClean="0"/>
          </a:p>
          <a:p>
            <a:r>
              <a:rPr lang="en-US" dirty="0" smtClean="0"/>
              <a:t>This </a:t>
            </a:r>
            <a:r>
              <a:rPr lang="en-US" dirty="0"/>
              <a:t>process of storing larger data type values into smaller data types is known as </a:t>
            </a:r>
            <a:r>
              <a:rPr lang="en-US" b="1" dirty="0"/>
              <a:t>narrowing</a:t>
            </a:r>
            <a:r>
              <a:rPr lang="en-US" dirty="0"/>
              <a:t>.</a:t>
            </a:r>
            <a:br>
              <a:rPr lang="en-US" dirty="0"/>
            </a:br>
            <a:r>
              <a:rPr lang="en-US" dirty="0"/>
              <a:t/>
            </a:r>
            <a:br>
              <a:rPr lang="en-US" dirty="0"/>
            </a:br>
            <a:r>
              <a:rPr lang="en-US" b="1" dirty="0"/>
              <a:t>Note - </a:t>
            </a:r>
            <a:r>
              <a:rPr lang="en-US" dirty="0"/>
              <a:t>We can cast integers as well as floating point types into any data type except </a:t>
            </a:r>
            <a:r>
              <a:rPr lang="en-US" dirty="0" err="1"/>
              <a:t>boolean</a:t>
            </a:r>
            <a:r>
              <a:rPr lang="en-US" dirty="0"/>
              <a:t>.</a:t>
            </a:r>
            <a:br>
              <a:rPr lang="en-US" dirty="0"/>
            </a:br>
            <a:endParaRPr lang="en-IN" dirty="0"/>
          </a:p>
        </p:txBody>
      </p:sp>
    </p:spTree>
    <p:extLst>
      <p:ext uri="{BB962C8B-B14F-4D97-AF65-F5344CB8AC3E}">
        <p14:creationId xmlns:p14="http://schemas.microsoft.com/office/powerpoint/2010/main" val="3377023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47500" lnSpcReduction="20000"/>
          </a:bodyPr>
          <a:lstStyle/>
          <a:p>
            <a:pPr marL="0" indent="0">
              <a:buNone/>
            </a:pPr>
            <a:r>
              <a:rPr lang="en-IN" dirty="0"/>
              <a:t>Example -</a:t>
            </a:r>
          </a:p>
          <a:p>
            <a:pPr marL="0" indent="0">
              <a:buNone/>
            </a:pPr>
            <a:endParaRPr lang="en-IN" dirty="0"/>
          </a:p>
          <a:p>
            <a:pPr marL="0" indent="0">
              <a:buNone/>
            </a:pPr>
            <a:r>
              <a:rPr lang="en-IN" dirty="0"/>
              <a:t>public class Demo </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byte a=10;</a:t>
            </a:r>
          </a:p>
          <a:p>
            <a:pPr marL="0" indent="0">
              <a:buNone/>
            </a:pPr>
            <a:r>
              <a:rPr lang="en-IN" dirty="0"/>
              <a:t>   </a:t>
            </a:r>
            <a:r>
              <a:rPr lang="en-IN" dirty="0" err="1"/>
              <a:t>int</a:t>
            </a:r>
            <a:r>
              <a:rPr lang="en-IN" dirty="0"/>
              <a:t> b = 297;</a:t>
            </a:r>
          </a:p>
          <a:p>
            <a:pPr marL="0" indent="0">
              <a:buNone/>
            </a:pPr>
            <a:r>
              <a:rPr lang="en-IN" dirty="0"/>
              <a:t>   float c = 301.1f;</a:t>
            </a:r>
          </a:p>
          <a:p>
            <a:pPr marL="0" indent="0">
              <a:buNone/>
            </a:pPr>
            <a:r>
              <a:rPr lang="en-IN" dirty="0"/>
              <a:t>   char d = 'A';</a:t>
            </a:r>
          </a:p>
          <a:p>
            <a:pPr marL="0" indent="0">
              <a:buNone/>
            </a:pPr>
            <a:r>
              <a:rPr lang="en-IN" dirty="0"/>
              <a:t>        </a:t>
            </a:r>
          </a:p>
          <a:p>
            <a:pPr marL="0" indent="0">
              <a:buNone/>
            </a:pPr>
            <a:r>
              <a:rPr lang="en-IN" dirty="0"/>
              <a:t>   /* compatible type conversion */</a:t>
            </a:r>
          </a:p>
          <a:p>
            <a:pPr marL="0" indent="0">
              <a:buNone/>
            </a:pPr>
            <a:r>
              <a:rPr lang="en-IN" dirty="0"/>
              <a:t>   </a:t>
            </a:r>
            <a:r>
              <a:rPr lang="en-IN" dirty="0" err="1"/>
              <a:t>int</a:t>
            </a:r>
            <a:r>
              <a:rPr lang="en-IN" dirty="0"/>
              <a:t> e = a;  </a:t>
            </a:r>
          </a:p>
          <a:p>
            <a:pPr marL="0" indent="0">
              <a:buNone/>
            </a:pPr>
            <a:r>
              <a:rPr lang="en-IN" dirty="0"/>
              <a:t>   double f = c;</a:t>
            </a:r>
          </a:p>
          <a:p>
            <a:pPr marL="0" indent="0">
              <a:buNone/>
            </a:pPr>
            <a:r>
              <a:rPr lang="en-IN" dirty="0"/>
              <a:t>   float g = b;</a:t>
            </a:r>
          </a:p>
          <a:p>
            <a:pPr marL="0" indent="0">
              <a:buNone/>
            </a:pPr>
            <a:r>
              <a:rPr lang="en-IN" dirty="0"/>
              <a:t>   </a:t>
            </a:r>
            <a:r>
              <a:rPr lang="en-IN" dirty="0" err="1"/>
              <a:t>System.out.println</a:t>
            </a:r>
            <a:r>
              <a:rPr lang="en-IN" dirty="0"/>
              <a:t>("values of e, f and g are :"+e+"  "+f+"  "+g);</a:t>
            </a:r>
          </a:p>
          <a:p>
            <a:pPr marL="0" indent="0">
              <a:buNone/>
            </a:pPr>
            <a:r>
              <a:rPr lang="en-IN" dirty="0"/>
              <a:t>        </a:t>
            </a:r>
          </a:p>
          <a:p>
            <a:pPr marL="0" indent="0">
              <a:buNone/>
            </a:pPr>
            <a:r>
              <a:rPr lang="en-IN" dirty="0"/>
              <a:t>   /* Incompatible type conversion */</a:t>
            </a:r>
          </a:p>
          <a:p>
            <a:pPr marL="0" indent="0">
              <a:buNone/>
            </a:pPr>
            <a:r>
              <a:rPr lang="en-IN" dirty="0"/>
              <a:t>    byte h = (byte)b;</a:t>
            </a:r>
          </a:p>
          <a:p>
            <a:pPr marL="0" indent="0">
              <a:buNone/>
            </a:pPr>
            <a:r>
              <a:rPr lang="en-IN" dirty="0"/>
              <a:t>    float i = (float)f;</a:t>
            </a:r>
          </a:p>
          <a:p>
            <a:pPr marL="0" indent="0">
              <a:buNone/>
            </a:pPr>
            <a:r>
              <a:rPr lang="en-IN" dirty="0"/>
              <a:t>    </a:t>
            </a:r>
            <a:r>
              <a:rPr lang="en-IN" dirty="0" err="1"/>
              <a:t>System.out.println</a:t>
            </a:r>
            <a:r>
              <a:rPr lang="en-IN" dirty="0"/>
              <a:t>("values of h and i are :"+h+"  "+i);</a:t>
            </a:r>
          </a:p>
          <a:p>
            <a:pPr marL="0" indent="0">
              <a:buNone/>
            </a:pPr>
            <a:r>
              <a:rPr lang="en-IN" dirty="0"/>
              <a:t>   }    </a:t>
            </a:r>
          </a:p>
          <a:p>
            <a:pPr marL="0" indent="0">
              <a:buNone/>
            </a:pPr>
            <a:r>
              <a:rPr lang="en-IN" dirty="0"/>
              <a:t> }</a:t>
            </a:r>
          </a:p>
        </p:txBody>
      </p:sp>
    </p:spTree>
    <p:extLst>
      <p:ext uri="{BB962C8B-B14F-4D97-AF65-F5344CB8AC3E}">
        <p14:creationId xmlns:p14="http://schemas.microsoft.com/office/powerpoint/2010/main" val="3377023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pPr marL="0" indent="0">
              <a:buNone/>
            </a:pPr>
            <a:r>
              <a:rPr lang="en-US" sz="2400" dirty="0"/>
              <a:t>Output -</a:t>
            </a:r>
          </a:p>
          <a:p>
            <a:pPr marL="0" indent="0">
              <a:buNone/>
            </a:pPr>
            <a:r>
              <a:rPr lang="en-US" sz="2400" dirty="0"/>
              <a:t>values of e, f and g are :10  301.1000061035156  297.0</a:t>
            </a:r>
          </a:p>
          <a:p>
            <a:pPr marL="0" indent="0">
              <a:buNone/>
            </a:pPr>
            <a:r>
              <a:rPr lang="en-US" sz="2400" dirty="0"/>
              <a:t>values of h and i are :41  301.1</a:t>
            </a:r>
          </a:p>
          <a:p>
            <a:pPr marL="0" indent="0">
              <a:buNone/>
            </a:pPr>
            <a:r>
              <a:rPr lang="en-US" sz="2400" dirty="0"/>
              <a:t>     </a:t>
            </a:r>
          </a:p>
          <a:p>
            <a:pPr marL="0" indent="0">
              <a:buNone/>
            </a:pPr>
            <a:r>
              <a:rPr lang="en-US" sz="2400" dirty="0"/>
              <a:t>Note :- the value of 'h' is 41 this is because the integer value 297 is out of the rang of byte, in such case value will be reduced by finding the modulus (reminder of division) by the byte range (256). (When 297 is cast to byte the result is reminder of the division of 297 by 256 i.e. 41).</a:t>
            </a:r>
            <a:endParaRPr lang="en-IN" sz="2400" dirty="0"/>
          </a:p>
        </p:txBody>
      </p:sp>
    </p:spTree>
    <p:extLst>
      <p:ext uri="{BB962C8B-B14F-4D97-AF65-F5344CB8AC3E}">
        <p14:creationId xmlns:p14="http://schemas.microsoft.com/office/powerpoint/2010/main" val="3377023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0000" lnSpcReduction="20000"/>
          </a:bodyPr>
          <a:lstStyle/>
          <a:p>
            <a:r>
              <a:rPr lang="en-US" b="1" dirty="0"/>
              <a:t>Automatic Type Promotion in Expressions Evaluation -</a:t>
            </a:r>
          </a:p>
          <a:p>
            <a:endParaRPr lang="en-US" dirty="0" smtClean="0"/>
          </a:p>
          <a:p>
            <a:r>
              <a:rPr lang="en-US" dirty="0" smtClean="0"/>
              <a:t>While </a:t>
            </a:r>
            <a:r>
              <a:rPr lang="en-US" dirty="0"/>
              <a:t>evaluating any expression containing byte, short or char operands, java automatically promotes them into int.</a:t>
            </a:r>
            <a:br>
              <a:rPr lang="en-US" dirty="0"/>
            </a:br>
            <a:r>
              <a:rPr lang="en-US" dirty="0"/>
              <a:t/>
            </a:r>
            <a:br>
              <a:rPr lang="en-US" dirty="0"/>
            </a:br>
            <a:r>
              <a:rPr lang="en-US" dirty="0"/>
              <a:t>The reason behind this is that as range of these data types is limited, so while evaluating any expression there are high chances that result may go out of range of these data types, </a:t>
            </a:r>
            <a:r>
              <a:rPr lang="en-US" dirty="0" smtClean="0"/>
              <a:t>that's </a:t>
            </a:r>
            <a:r>
              <a:rPr lang="en-US" dirty="0"/>
              <a:t>why java automatically promote them into </a:t>
            </a:r>
            <a:r>
              <a:rPr lang="en-US" dirty="0" err="1"/>
              <a:t>int</a:t>
            </a:r>
            <a:r>
              <a:rPr lang="en-US" dirty="0"/>
              <a:t> to avoid such conditions.</a:t>
            </a:r>
            <a:br>
              <a:rPr lang="en-US" dirty="0"/>
            </a:br>
            <a:r>
              <a:rPr lang="en-US" b="1" dirty="0"/>
              <a:t>For example </a:t>
            </a:r>
            <a:r>
              <a:rPr lang="en-US" b="1" dirty="0" smtClean="0"/>
              <a:t>–</a:t>
            </a:r>
          </a:p>
          <a:p>
            <a:r>
              <a:rPr lang="en-US" dirty="0" smtClean="0"/>
              <a:t>byte </a:t>
            </a:r>
            <a:r>
              <a:rPr lang="en-US" dirty="0"/>
              <a:t>a = 75; </a:t>
            </a:r>
            <a:endParaRPr lang="en-US" dirty="0" smtClean="0"/>
          </a:p>
          <a:p>
            <a:r>
              <a:rPr lang="en-US" dirty="0" smtClean="0"/>
              <a:t>byte </a:t>
            </a:r>
            <a:r>
              <a:rPr lang="en-US" dirty="0"/>
              <a:t>b = 30; </a:t>
            </a:r>
            <a:endParaRPr lang="en-US" dirty="0" smtClean="0"/>
          </a:p>
          <a:p>
            <a:r>
              <a:rPr lang="en-US" dirty="0" err="1" smtClean="0"/>
              <a:t>int</a:t>
            </a:r>
            <a:r>
              <a:rPr lang="en-US" dirty="0" smtClean="0"/>
              <a:t> </a:t>
            </a:r>
            <a:r>
              <a:rPr lang="en-US" dirty="0"/>
              <a:t>c = a*b; </a:t>
            </a:r>
            <a:endParaRPr lang="en-US" dirty="0" smtClean="0"/>
          </a:p>
          <a:p>
            <a:r>
              <a:rPr lang="en-US" dirty="0" smtClean="0"/>
              <a:t>If </a:t>
            </a:r>
            <a:r>
              <a:rPr lang="en-US" dirty="0"/>
              <a:t>we want the result of same data type than we have to manually type cast them as follows </a:t>
            </a:r>
            <a:r>
              <a:rPr lang="en-US" dirty="0" smtClean="0"/>
              <a:t>–</a:t>
            </a:r>
          </a:p>
          <a:p>
            <a:r>
              <a:rPr lang="en-US" dirty="0" smtClean="0"/>
              <a:t>byte </a:t>
            </a:r>
            <a:r>
              <a:rPr lang="en-US" dirty="0"/>
              <a:t>a = 10; </a:t>
            </a:r>
            <a:endParaRPr lang="en-US" dirty="0" smtClean="0"/>
          </a:p>
          <a:p>
            <a:r>
              <a:rPr lang="en-US" dirty="0" smtClean="0"/>
              <a:t>byte </a:t>
            </a:r>
            <a:r>
              <a:rPr lang="en-US" dirty="0"/>
              <a:t>c =(byte) a*5;</a:t>
            </a:r>
            <a:endParaRPr lang="en-IN" dirty="0"/>
          </a:p>
        </p:txBody>
      </p:sp>
    </p:spTree>
    <p:extLst>
      <p:ext uri="{BB962C8B-B14F-4D97-AF65-F5344CB8AC3E}">
        <p14:creationId xmlns:p14="http://schemas.microsoft.com/office/powerpoint/2010/main" val="3377023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85000" lnSpcReduction="20000"/>
          </a:bodyPr>
          <a:lstStyle/>
          <a:p>
            <a:r>
              <a:rPr lang="en-US" b="1" dirty="0"/>
              <a:t>Note :- </a:t>
            </a:r>
            <a:r>
              <a:rPr lang="en-US" dirty="0"/>
              <a:t>In any expression evaluation that contains variables of different data types, the result of evaluation will be promoted to largest data type available in expression</a:t>
            </a:r>
            <a:r>
              <a:rPr lang="en-US" dirty="0" smtClean="0"/>
              <a:t>.</a:t>
            </a:r>
          </a:p>
          <a:p>
            <a:r>
              <a:rPr lang="en-US" dirty="0" smtClean="0"/>
              <a:t>In </a:t>
            </a:r>
            <a:r>
              <a:rPr lang="en-US" dirty="0"/>
              <a:t>any expression first of all byte, short and char are promoted to int. Then if there is a long variable than whole expression will be promoted to long, similarly if there is any float variable then whole expression will be promoted to float and so on</a:t>
            </a:r>
            <a:r>
              <a:rPr lang="en-US" dirty="0" smtClean="0"/>
              <a:t>.</a:t>
            </a:r>
          </a:p>
          <a:p>
            <a:r>
              <a:rPr lang="en-US" dirty="0" smtClean="0"/>
              <a:t>Example – </a:t>
            </a:r>
          </a:p>
          <a:p>
            <a:r>
              <a:rPr lang="en-US" dirty="0" err="1"/>
              <a:t>int</a:t>
            </a:r>
            <a:r>
              <a:rPr lang="en-US" dirty="0"/>
              <a:t> x = 10;</a:t>
            </a:r>
          </a:p>
          <a:p>
            <a:r>
              <a:rPr lang="en-US" dirty="0"/>
              <a:t>float y = 5.5f;</a:t>
            </a:r>
          </a:p>
          <a:p>
            <a:r>
              <a:rPr lang="en-US" dirty="0"/>
              <a:t>float result = x + y; // x is promoted to float</a:t>
            </a:r>
          </a:p>
          <a:p>
            <a:r>
              <a:rPr lang="en-US" dirty="0" err="1"/>
              <a:t>System.out.println</a:t>
            </a:r>
            <a:r>
              <a:rPr lang="en-US" dirty="0"/>
              <a:t>("Result: " + result); // Outputs: 15.5</a:t>
            </a:r>
          </a:p>
          <a:p>
            <a:endParaRPr lang="en-IN" dirty="0"/>
          </a:p>
        </p:txBody>
      </p:sp>
    </p:spTree>
    <p:extLst>
      <p:ext uri="{BB962C8B-B14F-4D97-AF65-F5344CB8AC3E}">
        <p14:creationId xmlns:p14="http://schemas.microsoft.com/office/powerpoint/2010/main" val="3149054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sz="2400" b="1" dirty="0"/>
              <a:t>Standard Default values -</a:t>
            </a:r>
          </a:p>
          <a:p>
            <a:r>
              <a:rPr lang="en-US" sz="2400" dirty="0"/>
              <a:t>When we declared variables for the first time, java automatically assign some default values to them as shown below -</a:t>
            </a:r>
            <a:endParaRPr lang="en-IN" sz="24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362200"/>
            <a:ext cx="73914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89054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1295</TotalTime>
  <Words>1270</Words>
  <Application>Microsoft Office PowerPoint</Application>
  <PresentationFormat>On-screen Show (4:3)</PresentationFormat>
  <Paragraphs>210</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Java Basics</vt:lpstr>
      <vt:lpstr>Identifiers</vt:lpstr>
      <vt:lpstr>PowerPoint Presentation</vt:lpstr>
      <vt:lpstr>PowerPoint Presentation</vt:lpstr>
      <vt:lpstr>Java Keywords</vt:lpstr>
      <vt:lpstr>Java Datatypes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Types Conversion and Casting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Basics</dc:title>
  <dc:creator/>
  <cp:lastModifiedBy>Rohit Kamboj</cp:lastModifiedBy>
  <cp:revision>74</cp:revision>
  <dcterms:created xsi:type="dcterms:W3CDTF">2006-08-16T00:00:00Z</dcterms:created>
  <dcterms:modified xsi:type="dcterms:W3CDTF">2024-12-05T07:11:14Z</dcterms:modified>
</cp:coreProperties>
</file>