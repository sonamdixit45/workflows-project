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11/28/2024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oracle.com/technetwork/java/javase/downloads/index.html" TargetMode="External"/><Relationship Id="rId2" Type="http://schemas.openxmlformats.org/officeDocument/2006/relationships/hyperlink" Target="http://www.oracle.com/technetwork/java/javase/downloads/index.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Introduction to Java</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689455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Java Introduction and History</a:t>
            </a:r>
            <a:br>
              <a:rPr lang="en-IN" dirty="0"/>
            </a:br>
            <a:endParaRPr lang="en-IN"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sz="2400" dirty="0"/>
              <a:t>Java is an Object Oriented programming language developed by James Gosling and his team in 1991 at Sun Microsystems. Initially it was called Oak but later in 1995 changed to Java</a:t>
            </a:r>
            <a:r>
              <a:rPr lang="en-US" sz="2400" dirty="0" smtClean="0"/>
              <a:t>.</a:t>
            </a:r>
          </a:p>
          <a:p>
            <a:r>
              <a:rPr lang="en-US" sz="2400" b="1" dirty="0" smtClean="0"/>
              <a:t>In 2010</a:t>
            </a:r>
            <a:r>
              <a:rPr lang="en-US" sz="2400" dirty="0"/>
              <a:t>: Oracle Corporation acquired Sun Microsystems, taking over Java development. Oracle continued to evolve Java with major releases and improvements.</a:t>
            </a:r>
            <a:endParaRPr lang="en-US" sz="2400" dirty="0"/>
          </a:p>
          <a:p>
            <a:r>
              <a:rPr lang="en-US" sz="2400" dirty="0"/>
              <a:t>Java is compiled and interpreted language </a:t>
            </a:r>
            <a:r>
              <a:rPr lang="en-US" sz="2400" dirty="0" smtClean="0"/>
              <a:t>–</a:t>
            </a:r>
          </a:p>
          <a:p>
            <a:endParaRPr lang="en-US" sz="2400" dirty="0" smtClean="0"/>
          </a:p>
          <a:p>
            <a:endParaRPr lang="en-US" sz="2400" dirty="0"/>
          </a:p>
          <a:p>
            <a:endParaRPr lang="en-US" sz="2400" dirty="0" smtClean="0"/>
          </a:p>
          <a:p>
            <a:endParaRPr lang="en-US" sz="2400" dirty="0"/>
          </a:p>
          <a:p>
            <a:endParaRPr lang="en-US" sz="2400" dirty="0" smtClean="0"/>
          </a:p>
          <a:p>
            <a:endParaRPr lang="en-US" sz="2400" dirty="0"/>
          </a:p>
          <a:p>
            <a:endParaRPr lang="en-US" sz="2400" dirty="0" smtClean="0"/>
          </a:p>
          <a:p>
            <a:pPr marL="0" indent="0">
              <a:buNone/>
            </a:pPr>
            <a:r>
              <a:rPr lang="en-US" sz="2400" dirty="0" smtClean="0"/>
              <a:t>             </a:t>
            </a:r>
          </a:p>
          <a:p>
            <a:pPr marL="0" indent="0">
              <a:buNone/>
            </a:pPr>
            <a:r>
              <a:rPr lang="en-US" sz="2000" dirty="0" smtClean="0"/>
              <a:t>                      Fig: </a:t>
            </a:r>
            <a:r>
              <a:rPr lang="en-IN" sz="2000" dirty="0"/>
              <a:t>java compilation and interpretation process</a:t>
            </a:r>
            <a:endParaRPr lang="en-US" sz="2000" dirty="0"/>
          </a:p>
          <a:p>
            <a:endParaRPr lang="en-IN" sz="2400" dirty="0"/>
          </a:p>
        </p:txBody>
      </p:sp>
      <p:pic>
        <p:nvPicPr>
          <p:cNvPr id="1026" name="Picture 2" descr="java compilation and interpretation 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490" y="3581400"/>
            <a:ext cx="67818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486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fontScale="70000" lnSpcReduction="20000"/>
          </a:bodyPr>
          <a:lstStyle/>
          <a:p>
            <a:r>
              <a:rPr lang="en-US" dirty="0"/>
              <a:t>First of all compiler converts the java source code into a form called Byte Code. This is a file with .class extension and this Byte Code is called platform independent.</a:t>
            </a:r>
          </a:p>
          <a:p>
            <a:r>
              <a:rPr lang="en-US" dirty="0"/>
              <a:t>This Byte Code is interpreted by Java Virtual Machine (JVM) into executable code. Because JVM is available for almost every available device that's why Java is called platform independent language.</a:t>
            </a:r>
          </a:p>
          <a:p>
            <a:r>
              <a:rPr lang="en-US" dirty="0"/>
              <a:t>And this Byte Code also provides the security as well as portability to java language.</a:t>
            </a:r>
          </a:p>
          <a:p>
            <a:r>
              <a:rPr lang="en-US" dirty="0"/>
              <a:t>As java is compiled and interpreted language so one may think that its execution speed is slow than other compiled languages like C or C++. But there is not much difference because Byte Code is highly optimized and JVM can execute it much faster than you think.</a:t>
            </a:r>
          </a:p>
          <a:p>
            <a:r>
              <a:rPr lang="en-US" dirty="0"/>
              <a:t>Also JVM contain a JIT (Just In Time) </a:t>
            </a:r>
            <a:r>
              <a:rPr lang="en-US" dirty="0" smtClean="0"/>
              <a:t>compiler. JIT in </a:t>
            </a:r>
            <a:r>
              <a:rPr lang="en-US" dirty="0"/>
              <a:t>place of compiling the whole program, compiles only that part of the program that is needed at that time.</a:t>
            </a:r>
          </a:p>
          <a:p>
            <a:endParaRPr lang="en-IN" dirty="0"/>
          </a:p>
        </p:txBody>
      </p:sp>
    </p:spTree>
    <p:extLst>
      <p:ext uri="{BB962C8B-B14F-4D97-AF65-F5344CB8AC3E}">
        <p14:creationId xmlns:p14="http://schemas.microsoft.com/office/powerpoint/2010/main" val="3129994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How Java came into </a:t>
            </a:r>
            <a:r>
              <a:rPr lang="en-US" dirty="0" smtClean="0"/>
              <a:t>existence</a:t>
            </a:r>
            <a:endParaRPr lang="en-US" dirty="0"/>
          </a:p>
        </p:txBody>
      </p:sp>
      <p:sp>
        <p:nvSpPr>
          <p:cNvPr id="3" name="Content Placeholder 2"/>
          <p:cNvSpPr>
            <a:spLocks noGrp="1"/>
          </p:cNvSpPr>
          <p:nvPr>
            <p:ph idx="1"/>
          </p:nvPr>
        </p:nvSpPr>
        <p:spPr/>
        <p:txBody>
          <a:bodyPr>
            <a:normAutofit fontScale="85000" lnSpcReduction="20000"/>
          </a:bodyPr>
          <a:lstStyle/>
          <a:p>
            <a:r>
              <a:rPr lang="en-US" sz="2400" dirty="0"/>
              <a:t>The primary motivation for developing the Java was to develop a platform independent language that can be used to create software's for consumer electronic devices like TVs, Microwave Oven, Remote control etc.</a:t>
            </a:r>
          </a:p>
          <a:p>
            <a:r>
              <a:rPr lang="en-US" sz="2400" dirty="0"/>
              <a:t>The reason behind this is that as different devices makes use of different types of controller so languages like C and C++ </a:t>
            </a:r>
            <a:r>
              <a:rPr lang="en-US" sz="2400" dirty="0" err="1"/>
              <a:t>etc</a:t>
            </a:r>
            <a:r>
              <a:rPr lang="en-US" sz="2400" dirty="0"/>
              <a:t> are not efficient for these types of software development because to run the software we need to design a full version of compiler for these languages for different types of devices available.</a:t>
            </a:r>
          </a:p>
          <a:p>
            <a:r>
              <a:rPr lang="en-US" sz="2400" dirty="0"/>
              <a:t>This is very time consuming and not an efficient solution.</a:t>
            </a:r>
          </a:p>
          <a:p>
            <a:r>
              <a:rPr lang="en-US" sz="2400" dirty="0"/>
              <a:t>Java provides efficient solution to this as java is platform independent i.e. can run on any device only we need JVM interpreter for that device.</a:t>
            </a:r>
          </a:p>
          <a:p>
            <a:r>
              <a:rPr lang="en-US" sz="2400" dirty="0"/>
              <a:t>After some time James Gosling and his team member realize that the same problem that java was initially designed to solve on a small scale could also be applied to the internet on large scale.</a:t>
            </a:r>
          </a:p>
          <a:p>
            <a:r>
              <a:rPr lang="en-US" sz="2400" dirty="0"/>
              <a:t>So they changed focus from consumer electronic devices to internet programming. And now it has been widely used in this field also.</a:t>
            </a:r>
          </a:p>
          <a:p>
            <a:endParaRPr lang="en-IN" sz="2400" dirty="0"/>
          </a:p>
        </p:txBody>
      </p:sp>
    </p:spTree>
    <p:extLst>
      <p:ext uri="{BB962C8B-B14F-4D97-AF65-F5344CB8AC3E}">
        <p14:creationId xmlns:p14="http://schemas.microsoft.com/office/powerpoint/2010/main" val="2285812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Key Features of Java</a:t>
            </a:r>
            <a:endParaRPr lang="en-IN" dirty="0"/>
          </a:p>
        </p:txBody>
      </p:sp>
      <p:sp>
        <p:nvSpPr>
          <p:cNvPr id="3" name="Content Placeholder 2"/>
          <p:cNvSpPr>
            <a:spLocks noGrp="1"/>
          </p:cNvSpPr>
          <p:nvPr>
            <p:ph idx="1"/>
          </p:nvPr>
        </p:nvSpPr>
        <p:spPr/>
        <p:txBody>
          <a:bodyPr/>
          <a:lstStyle/>
          <a:p>
            <a:r>
              <a:rPr lang="en-US" b="1" dirty="0"/>
              <a:t>Platform Independence</a:t>
            </a:r>
            <a:r>
              <a:rPr lang="en-US" dirty="0"/>
              <a:t>: Achieved through the use of the JVM and bytecode</a:t>
            </a:r>
            <a:r>
              <a:rPr lang="en-US" dirty="0" smtClean="0"/>
              <a:t>.</a:t>
            </a:r>
          </a:p>
          <a:p>
            <a:r>
              <a:rPr lang="en-US" b="1" dirty="0" smtClean="0"/>
              <a:t>Object-Oriented </a:t>
            </a:r>
            <a:r>
              <a:rPr lang="en-US" b="1" dirty="0"/>
              <a:t>Programming</a:t>
            </a:r>
            <a:r>
              <a:rPr lang="en-US" dirty="0"/>
              <a:t>: Built on OOP principles, making it modular and reusable</a:t>
            </a:r>
            <a:r>
              <a:rPr lang="en-US" dirty="0" smtClean="0"/>
              <a:t>.</a:t>
            </a:r>
          </a:p>
          <a:p>
            <a:r>
              <a:rPr lang="en-US" b="1" dirty="0" smtClean="0"/>
              <a:t>Security</a:t>
            </a:r>
            <a:r>
              <a:rPr lang="en-US" dirty="0"/>
              <a:t>: Provided a secure execution environment</a:t>
            </a:r>
            <a:r>
              <a:rPr lang="en-US" dirty="0" smtClean="0"/>
              <a:t>.</a:t>
            </a:r>
          </a:p>
          <a:p>
            <a:r>
              <a:rPr lang="en-US" b="1" dirty="0" smtClean="0"/>
              <a:t>Robustness</a:t>
            </a:r>
            <a:r>
              <a:rPr lang="en-US" dirty="0"/>
              <a:t>: Included features like garbage collection to manage memory efficiently.</a:t>
            </a:r>
            <a:endParaRPr lang="en-IN" dirty="0"/>
          </a:p>
        </p:txBody>
      </p:sp>
    </p:spTree>
    <p:extLst>
      <p:ext uri="{BB962C8B-B14F-4D97-AF65-F5344CB8AC3E}">
        <p14:creationId xmlns:p14="http://schemas.microsoft.com/office/powerpoint/2010/main" val="151916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Applications of Java</a:t>
            </a:r>
            <a:br>
              <a:rPr lang="en-IN" b="1" dirty="0"/>
            </a:br>
            <a:endParaRPr lang="en-IN" dirty="0"/>
          </a:p>
        </p:txBody>
      </p:sp>
      <p:sp>
        <p:nvSpPr>
          <p:cNvPr id="3" name="Content Placeholder 2"/>
          <p:cNvSpPr>
            <a:spLocks noGrp="1"/>
          </p:cNvSpPr>
          <p:nvPr>
            <p:ph idx="1"/>
          </p:nvPr>
        </p:nvSpPr>
        <p:spPr>
          <a:xfrm>
            <a:off x="457200" y="1600200"/>
            <a:ext cx="8229600" cy="4800600"/>
          </a:xfrm>
        </p:spPr>
        <p:txBody>
          <a:bodyPr>
            <a:normAutofit fontScale="47500" lnSpcReduction="20000"/>
          </a:bodyPr>
          <a:lstStyle/>
          <a:p>
            <a:r>
              <a:rPr lang="en-IN" b="1" dirty="0"/>
              <a:t>Web Development</a:t>
            </a:r>
            <a:endParaRPr lang="en-IN" dirty="0"/>
          </a:p>
          <a:p>
            <a:r>
              <a:rPr lang="en-IN" dirty="0"/>
              <a:t>Used for building dynamic, secure, and scalable websites.</a:t>
            </a:r>
          </a:p>
          <a:p>
            <a:r>
              <a:rPr lang="en-IN" dirty="0"/>
              <a:t>Frameworks: </a:t>
            </a:r>
            <a:r>
              <a:rPr lang="en-IN" b="1" dirty="0"/>
              <a:t>Spring</a:t>
            </a:r>
            <a:r>
              <a:rPr lang="en-IN" dirty="0"/>
              <a:t>, </a:t>
            </a:r>
            <a:r>
              <a:rPr lang="en-IN" b="1" dirty="0"/>
              <a:t>Hibernate</a:t>
            </a:r>
            <a:r>
              <a:rPr lang="en-IN" dirty="0"/>
              <a:t>, </a:t>
            </a:r>
            <a:r>
              <a:rPr lang="en-IN" b="1" dirty="0"/>
              <a:t>Servlets</a:t>
            </a:r>
            <a:r>
              <a:rPr lang="en-IN" dirty="0"/>
              <a:t>, </a:t>
            </a:r>
            <a:r>
              <a:rPr lang="en-IN" b="1" dirty="0"/>
              <a:t>JSP</a:t>
            </a:r>
            <a:r>
              <a:rPr lang="en-IN" dirty="0"/>
              <a:t>.</a:t>
            </a:r>
          </a:p>
          <a:p>
            <a:r>
              <a:rPr lang="en-IN" b="1" dirty="0"/>
              <a:t>Mobile Development</a:t>
            </a:r>
            <a:endParaRPr lang="en-IN" dirty="0"/>
          </a:p>
          <a:p>
            <a:r>
              <a:rPr lang="en-IN" dirty="0"/>
              <a:t>Primary language for </a:t>
            </a:r>
            <a:r>
              <a:rPr lang="en-IN" b="1" dirty="0"/>
              <a:t>Android</a:t>
            </a:r>
            <a:r>
              <a:rPr lang="en-IN" dirty="0"/>
              <a:t> app development.</a:t>
            </a:r>
          </a:p>
          <a:p>
            <a:r>
              <a:rPr lang="en-IN" dirty="0"/>
              <a:t>Tools: Android SDK, Java APIs.</a:t>
            </a:r>
          </a:p>
          <a:p>
            <a:r>
              <a:rPr lang="en-IN" b="1" dirty="0"/>
              <a:t>Enterprise Applications</a:t>
            </a:r>
            <a:endParaRPr lang="en-IN" dirty="0"/>
          </a:p>
          <a:p>
            <a:r>
              <a:rPr lang="en-IN" dirty="0"/>
              <a:t>Large-scale business applications (e.g., CRM, ERP).</a:t>
            </a:r>
          </a:p>
          <a:p>
            <a:r>
              <a:rPr lang="en-IN" dirty="0"/>
              <a:t>Java EE (Enterprise Edition) and </a:t>
            </a:r>
            <a:r>
              <a:rPr lang="en-IN" b="1" dirty="0"/>
              <a:t>Spring</a:t>
            </a:r>
            <a:r>
              <a:rPr lang="en-IN" dirty="0"/>
              <a:t>.</a:t>
            </a:r>
          </a:p>
          <a:p>
            <a:r>
              <a:rPr lang="en-IN" b="1" dirty="0"/>
              <a:t>Software Development</a:t>
            </a:r>
            <a:endParaRPr lang="en-IN" dirty="0"/>
          </a:p>
          <a:p>
            <a:r>
              <a:rPr lang="en-IN" dirty="0"/>
              <a:t>Used to build desktop applications (e.g., GUI applications using </a:t>
            </a:r>
            <a:r>
              <a:rPr lang="en-IN" b="1" dirty="0"/>
              <a:t>Swing</a:t>
            </a:r>
            <a:r>
              <a:rPr lang="en-IN" dirty="0"/>
              <a:t> or </a:t>
            </a:r>
            <a:r>
              <a:rPr lang="en-IN" b="1" dirty="0" err="1"/>
              <a:t>JavaFX</a:t>
            </a:r>
            <a:r>
              <a:rPr lang="en-IN" dirty="0"/>
              <a:t>).</a:t>
            </a:r>
          </a:p>
          <a:p>
            <a:r>
              <a:rPr lang="en-IN" b="1" dirty="0"/>
              <a:t>Scientific Applications</a:t>
            </a:r>
            <a:endParaRPr lang="en-IN" dirty="0"/>
          </a:p>
          <a:p>
            <a:r>
              <a:rPr lang="en-IN" dirty="0"/>
              <a:t>Java’s robustness is ideal for complex simulations, </a:t>
            </a:r>
            <a:r>
              <a:rPr lang="en-IN" dirty="0" err="1"/>
              <a:t>modeling</a:t>
            </a:r>
            <a:r>
              <a:rPr lang="en-IN" dirty="0"/>
              <a:t>, and scientific computing.</a:t>
            </a:r>
          </a:p>
          <a:p>
            <a:r>
              <a:rPr lang="en-IN" b="1" dirty="0"/>
              <a:t>Big Data Technologies</a:t>
            </a:r>
            <a:endParaRPr lang="en-IN" dirty="0"/>
          </a:p>
          <a:p>
            <a:r>
              <a:rPr lang="en-IN" dirty="0"/>
              <a:t>Java is used in frameworks like </a:t>
            </a:r>
            <a:r>
              <a:rPr lang="en-IN" b="1" dirty="0" err="1"/>
              <a:t>Hadoop</a:t>
            </a:r>
            <a:r>
              <a:rPr lang="en-IN" dirty="0"/>
              <a:t> for processing large datasets.</a:t>
            </a:r>
          </a:p>
          <a:p>
            <a:r>
              <a:rPr lang="en-IN" b="1" dirty="0"/>
              <a:t>Embedded Systems</a:t>
            </a:r>
            <a:endParaRPr lang="en-IN" dirty="0"/>
          </a:p>
          <a:p>
            <a:r>
              <a:rPr lang="en-IN" dirty="0"/>
              <a:t>Used in smart devices and </a:t>
            </a:r>
            <a:r>
              <a:rPr lang="en-IN" dirty="0" err="1"/>
              <a:t>IoT</a:t>
            </a:r>
            <a:r>
              <a:rPr lang="en-IN" dirty="0"/>
              <a:t> due to its platform independence.</a:t>
            </a:r>
          </a:p>
          <a:p>
            <a:r>
              <a:rPr lang="en-IN" b="1" dirty="0"/>
              <a:t>Cloud Computing</a:t>
            </a:r>
            <a:endParaRPr lang="en-IN" dirty="0"/>
          </a:p>
          <a:p>
            <a:r>
              <a:rPr lang="en-IN" dirty="0"/>
              <a:t>Java is used for building cloud-based applications and services (e.g., </a:t>
            </a:r>
            <a:r>
              <a:rPr lang="en-IN" b="1" dirty="0"/>
              <a:t>Amazon Web Services</a:t>
            </a:r>
            <a:r>
              <a:rPr lang="en-IN" dirty="0"/>
              <a:t>, </a:t>
            </a:r>
            <a:r>
              <a:rPr lang="en-IN" b="1" dirty="0"/>
              <a:t>Google Cloud</a:t>
            </a:r>
            <a:r>
              <a:rPr lang="en-IN" dirty="0" smtClean="0"/>
              <a:t>).</a:t>
            </a:r>
            <a:endParaRPr lang="en-IN" dirty="0"/>
          </a:p>
        </p:txBody>
      </p:sp>
    </p:spTree>
    <p:extLst>
      <p:ext uri="{BB962C8B-B14F-4D97-AF65-F5344CB8AC3E}">
        <p14:creationId xmlns:p14="http://schemas.microsoft.com/office/powerpoint/2010/main" val="1147138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JDK?</a:t>
            </a:r>
          </a:p>
        </p:txBody>
      </p:sp>
      <p:sp>
        <p:nvSpPr>
          <p:cNvPr id="3" name="Content Placeholder 2"/>
          <p:cNvSpPr>
            <a:spLocks noGrp="1"/>
          </p:cNvSpPr>
          <p:nvPr>
            <p:ph idx="1"/>
          </p:nvPr>
        </p:nvSpPr>
        <p:spPr/>
        <p:txBody>
          <a:bodyPr>
            <a:noAutofit/>
          </a:bodyPr>
          <a:lstStyle/>
          <a:p>
            <a:r>
              <a:rPr lang="en-US" sz="2400" dirty="0"/>
              <a:t>The </a:t>
            </a:r>
            <a:r>
              <a:rPr lang="en-US" sz="2400" b="1" dirty="0"/>
              <a:t>Java Development Kit (JDK)</a:t>
            </a:r>
            <a:r>
              <a:rPr lang="en-US" sz="2400" dirty="0"/>
              <a:t> is a software development kit used to develop Java applications. It includes:</a:t>
            </a:r>
          </a:p>
          <a:p>
            <a:r>
              <a:rPr lang="en-US" sz="2400" b="1" dirty="0"/>
              <a:t>Java Runtime Environment (JRE)</a:t>
            </a:r>
            <a:r>
              <a:rPr lang="en-US" sz="2400" dirty="0"/>
              <a:t>: Provides the libraries and Java Virtual Machine (JVM) necessary to run Java programs.</a:t>
            </a:r>
          </a:p>
          <a:p>
            <a:r>
              <a:rPr lang="en-US" sz="2400" b="1" dirty="0"/>
              <a:t>Development Tools</a:t>
            </a:r>
            <a:r>
              <a:rPr lang="en-US" sz="2400" dirty="0"/>
              <a:t>: Includes tools like the Java compiler (</a:t>
            </a:r>
            <a:r>
              <a:rPr lang="en-US" sz="2400" dirty="0" err="1"/>
              <a:t>javac</a:t>
            </a:r>
            <a:r>
              <a:rPr lang="en-US" sz="2400" dirty="0"/>
              <a:t>), Java debugger (</a:t>
            </a:r>
            <a:r>
              <a:rPr lang="en-US" sz="2400" dirty="0" err="1"/>
              <a:t>jdb</a:t>
            </a:r>
            <a:r>
              <a:rPr lang="en-US" sz="2400" dirty="0"/>
              <a:t>), and other utilities to develop and run Java programs.</a:t>
            </a:r>
          </a:p>
          <a:p>
            <a:r>
              <a:rPr lang="en-US" sz="2400" dirty="0"/>
              <a:t>In short, the JDK provides everything you need to write, compile, and run Java applications.</a:t>
            </a:r>
          </a:p>
          <a:p>
            <a:endParaRPr lang="en-IN" sz="2400" dirty="0"/>
          </a:p>
        </p:txBody>
      </p:sp>
    </p:spTree>
    <p:extLst>
      <p:ext uri="{BB962C8B-B14F-4D97-AF65-F5344CB8AC3E}">
        <p14:creationId xmlns:p14="http://schemas.microsoft.com/office/powerpoint/2010/main" val="2339934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Up JDK on Windows</a:t>
            </a:r>
            <a:endParaRPr lang="en-IN" dirty="0"/>
          </a:p>
        </p:txBody>
      </p:sp>
      <p:sp>
        <p:nvSpPr>
          <p:cNvPr id="3" name="Content Placeholder 2"/>
          <p:cNvSpPr>
            <a:spLocks noGrp="1"/>
          </p:cNvSpPr>
          <p:nvPr>
            <p:ph idx="1"/>
          </p:nvPr>
        </p:nvSpPr>
        <p:spPr/>
        <p:txBody>
          <a:bodyPr>
            <a:normAutofit fontScale="70000" lnSpcReduction="20000"/>
          </a:bodyPr>
          <a:lstStyle/>
          <a:p>
            <a:r>
              <a:rPr lang="en-US" dirty="0"/>
              <a:t>To write your first Java program on Windows, you need to install the JDK and set up the </a:t>
            </a:r>
            <a:r>
              <a:rPr lang="en-US" b="1" dirty="0"/>
              <a:t>environment variables</a:t>
            </a:r>
            <a:r>
              <a:rPr lang="en-US" dirty="0"/>
              <a:t> so that you can run Java from the command line</a:t>
            </a:r>
            <a:r>
              <a:rPr lang="en-US" dirty="0" smtClean="0"/>
              <a:t>.</a:t>
            </a:r>
          </a:p>
          <a:p>
            <a:endParaRPr lang="en-US" dirty="0"/>
          </a:p>
          <a:p>
            <a:r>
              <a:rPr lang="en-US" b="1" dirty="0"/>
              <a:t>Steps to Install and Set Path for JDK in Windows</a:t>
            </a:r>
            <a:r>
              <a:rPr lang="en-US" b="1" dirty="0" smtClean="0"/>
              <a:t>:</a:t>
            </a:r>
          </a:p>
          <a:p>
            <a:r>
              <a:rPr lang="en-US" b="1" dirty="0" smtClean="0"/>
              <a:t>1 – Download JDK </a:t>
            </a:r>
            <a:r>
              <a:rPr lang="en-US" b="1" dirty="0" smtClean="0">
                <a:hlinkClick r:id="rId2"/>
              </a:rPr>
              <a:t>–</a:t>
            </a:r>
            <a:r>
              <a:rPr lang="en-US" b="1" dirty="0" smtClean="0"/>
              <a:t> G</a:t>
            </a:r>
            <a:r>
              <a:rPr lang="en-US" dirty="0" smtClean="0"/>
              <a:t>o to  -</a:t>
            </a:r>
            <a:r>
              <a:rPr lang="en-IN" dirty="0" smtClean="0">
                <a:hlinkClick r:id="rId3"/>
              </a:rPr>
              <a:t>https</a:t>
            </a:r>
            <a:r>
              <a:rPr lang="en-IN" dirty="0">
                <a:hlinkClick r:id="rId3"/>
              </a:rPr>
              <a:t>://</a:t>
            </a:r>
            <a:r>
              <a:rPr lang="en-IN" dirty="0" smtClean="0">
                <a:hlinkClick r:id="rId3"/>
              </a:rPr>
              <a:t>www.oracle.com/technetwork/java/javase/downloads/index.html</a:t>
            </a:r>
            <a:endParaRPr lang="en-IN" dirty="0" smtClean="0"/>
          </a:p>
          <a:p>
            <a:r>
              <a:rPr lang="en-US" dirty="0"/>
              <a:t>Choose the appropriate version for Windows (e.g., .exe for Windows</a:t>
            </a:r>
            <a:r>
              <a:rPr lang="en-US" dirty="0" smtClean="0"/>
              <a:t>)</a:t>
            </a:r>
          </a:p>
          <a:p>
            <a:r>
              <a:rPr lang="en-US" b="1" dirty="0"/>
              <a:t>2 - Install JDK:</a:t>
            </a:r>
            <a:endParaRPr lang="en-US" dirty="0"/>
          </a:p>
          <a:p>
            <a:r>
              <a:rPr lang="en-US" dirty="0"/>
              <a:t>Run the downloaded installer and follow the on-screen instructions.</a:t>
            </a:r>
          </a:p>
          <a:p>
            <a:r>
              <a:rPr lang="en-US" dirty="0"/>
              <a:t>By default, it installs in C:\Program Files\Java\</a:t>
            </a:r>
            <a:r>
              <a:rPr lang="en-US" dirty="0" err="1"/>
              <a:t>jdk</a:t>
            </a:r>
            <a:r>
              <a:rPr lang="en-US" dirty="0"/>
              <a:t>-version.</a:t>
            </a:r>
          </a:p>
          <a:p>
            <a:endParaRPr lang="en-US" b="1" dirty="0"/>
          </a:p>
          <a:p>
            <a:endParaRPr lang="en-IN" dirty="0"/>
          </a:p>
        </p:txBody>
      </p:sp>
    </p:spTree>
    <p:extLst>
      <p:ext uri="{BB962C8B-B14F-4D97-AF65-F5344CB8AC3E}">
        <p14:creationId xmlns:p14="http://schemas.microsoft.com/office/powerpoint/2010/main" val="2312566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70000" lnSpcReduction="20000"/>
          </a:bodyPr>
          <a:lstStyle/>
          <a:p>
            <a:r>
              <a:rPr lang="en-IN" dirty="0" smtClean="0"/>
              <a:t>3 - </a:t>
            </a:r>
            <a:r>
              <a:rPr lang="en-US" b="1" dirty="0"/>
              <a:t>Set the Path in Windows:</a:t>
            </a:r>
            <a:endParaRPr lang="en-US" dirty="0"/>
          </a:p>
          <a:p>
            <a:r>
              <a:rPr lang="en-US" b="1" dirty="0"/>
              <a:t>Step 1</a:t>
            </a:r>
            <a:r>
              <a:rPr lang="en-US" dirty="0"/>
              <a:t>: Open the </a:t>
            </a:r>
            <a:r>
              <a:rPr lang="en-US" b="1" dirty="0"/>
              <a:t>Start Menu</a:t>
            </a:r>
            <a:r>
              <a:rPr lang="en-US" dirty="0"/>
              <a:t> and search for "Environment Variables".</a:t>
            </a:r>
          </a:p>
          <a:p>
            <a:r>
              <a:rPr lang="en-US" b="1" dirty="0"/>
              <a:t>Step 2</a:t>
            </a:r>
            <a:r>
              <a:rPr lang="en-US" dirty="0"/>
              <a:t>: Click on </a:t>
            </a:r>
            <a:r>
              <a:rPr lang="en-US" b="1" dirty="0"/>
              <a:t>Edit the system environment variables</a:t>
            </a:r>
            <a:r>
              <a:rPr lang="en-US" dirty="0"/>
              <a:t>.</a:t>
            </a:r>
          </a:p>
          <a:p>
            <a:r>
              <a:rPr lang="en-US" b="1" dirty="0"/>
              <a:t>Step 3</a:t>
            </a:r>
            <a:r>
              <a:rPr lang="en-US" dirty="0"/>
              <a:t>: In the </a:t>
            </a:r>
            <a:r>
              <a:rPr lang="en-US" b="1" dirty="0"/>
              <a:t>System Properties</a:t>
            </a:r>
            <a:r>
              <a:rPr lang="en-US" dirty="0"/>
              <a:t> window, click on the </a:t>
            </a:r>
            <a:r>
              <a:rPr lang="en-US" b="1" dirty="0"/>
              <a:t>Environment Variables</a:t>
            </a:r>
            <a:r>
              <a:rPr lang="en-US" dirty="0"/>
              <a:t> button.</a:t>
            </a:r>
          </a:p>
          <a:p>
            <a:r>
              <a:rPr lang="en-US" b="1" dirty="0"/>
              <a:t>Step 4</a:t>
            </a:r>
            <a:r>
              <a:rPr lang="en-US" dirty="0"/>
              <a:t>: Under </a:t>
            </a:r>
            <a:r>
              <a:rPr lang="en-US" b="1" dirty="0"/>
              <a:t>System Variables</a:t>
            </a:r>
            <a:r>
              <a:rPr lang="en-US" dirty="0"/>
              <a:t>, find the variable Path and click </a:t>
            </a:r>
            <a:r>
              <a:rPr lang="en-US" b="1" dirty="0"/>
              <a:t>Edit</a:t>
            </a:r>
            <a:r>
              <a:rPr lang="en-US" dirty="0"/>
              <a:t>.</a:t>
            </a:r>
          </a:p>
          <a:p>
            <a:r>
              <a:rPr lang="en-US" b="1" dirty="0"/>
              <a:t>Step 5</a:t>
            </a:r>
            <a:r>
              <a:rPr lang="en-US" dirty="0"/>
              <a:t>: Click </a:t>
            </a:r>
            <a:r>
              <a:rPr lang="en-US" b="1" dirty="0"/>
              <a:t>New</a:t>
            </a:r>
            <a:r>
              <a:rPr lang="en-US" dirty="0"/>
              <a:t>, and add the following paths (replace </a:t>
            </a:r>
            <a:r>
              <a:rPr lang="en-US" dirty="0" err="1"/>
              <a:t>jdk</a:t>
            </a:r>
            <a:r>
              <a:rPr lang="en-US" dirty="0"/>
              <a:t>-version with the actual version number):</a:t>
            </a:r>
          </a:p>
          <a:p>
            <a:pPr marL="514350" indent="-514350">
              <a:buFont typeface="+mj-lt"/>
              <a:buAutoNum type="arabicPeriod"/>
            </a:pPr>
            <a:r>
              <a:rPr lang="en-US" dirty="0" smtClean="0"/>
              <a:t>C</a:t>
            </a:r>
            <a:r>
              <a:rPr lang="en-US" dirty="0"/>
              <a:t>:\Program Files\Java\</a:t>
            </a:r>
            <a:r>
              <a:rPr lang="en-US" dirty="0" err="1"/>
              <a:t>jdk</a:t>
            </a:r>
            <a:r>
              <a:rPr lang="en-US" dirty="0"/>
              <a:t>-version\bin (this is the path to the Java executable files).</a:t>
            </a:r>
          </a:p>
          <a:p>
            <a:pPr marL="514350" indent="-514350">
              <a:buFont typeface="+mj-lt"/>
              <a:buAutoNum type="arabicPeriod"/>
            </a:pPr>
            <a:r>
              <a:rPr lang="en-US" dirty="0"/>
              <a:t>Optionally, add the JAVA_HOME variable:</a:t>
            </a:r>
          </a:p>
          <a:p>
            <a:pPr lvl="1"/>
            <a:r>
              <a:rPr lang="en-US" dirty="0"/>
              <a:t>Click </a:t>
            </a:r>
            <a:r>
              <a:rPr lang="en-US" b="1" dirty="0"/>
              <a:t>New</a:t>
            </a:r>
            <a:r>
              <a:rPr lang="en-US" dirty="0"/>
              <a:t> under </a:t>
            </a:r>
            <a:r>
              <a:rPr lang="en-US" b="1" dirty="0"/>
              <a:t>System Variables</a:t>
            </a:r>
            <a:r>
              <a:rPr lang="en-US" dirty="0"/>
              <a:t> and set:</a:t>
            </a:r>
          </a:p>
          <a:p>
            <a:pPr lvl="2"/>
            <a:r>
              <a:rPr lang="en-US" b="1" dirty="0"/>
              <a:t>Variable name</a:t>
            </a:r>
            <a:r>
              <a:rPr lang="en-US" dirty="0"/>
              <a:t>: JAVA_HOME</a:t>
            </a:r>
          </a:p>
          <a:p>
            <a:pPr lvl="2"/>
            <a:r>
              <a:rPr lang="en-US" b="1" dirty="0"/>
              <a:t>Variable value</a:t>
            </a:r>
            <a:r>
              <a:rPr lang="en-US" dirty="0"/>
              <a:t>: C:\Program Files\Java\</a:t>
            </a:r>
            <a:r>
              <a:rPr lang="en-US" dirty="0" err="1"/>
              <a:t>jdk</a:t>
            </a:r>
            <a:r>
              <a:rPr lang="en-US" dirty="0"/>
              <a:t>-version</a:t>
            </a:r>
          </a:p>
          <a:p>
            <a:r>
              <a:rPr lang="en-US" b="1" dirty="0"/>
              <a:t>Step 6</a:t>
            </a:r>
            <a:r>
              <a:rPr lang="en-US" dirty="0"/>
              <a:t>: Click </a:t>
            </a:r>
            <a:r>
              <a:rPr lang="en-US" b="1" dirty="0"/>
              <a:t>OK</a:t>
            </a:r>
            <a:r>
              <a:rPr lang="en-US" dirty="0"/>
              <a:t> to save and close all windows.</a:t>
            </a:r>
          </a:p>
          <a:p>
            <a:endParaRPr lang="en-IN" dirty="0"/>
          </a:p>
        </p:txBody>
      </p:sp>
    </p:spTree>
    <p:extLst>
      <p:ext uri="{BB962C8B-B14F-4D97-AF65-F5344CB8AC3E}">
        <p14:creationId xmlns:p14="http://schemas.microsoft.com/office/powerpoint/2010/main" val="2722189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marL="0" indent="0">
              <a:buNone/>
            </a:pPr>
            <a:r>
              <a:rPr lang="en-US" b="1" dirty="0" smtClean="0"/>
              <a:t>4 - Verify </a:t>
            </a:r>
            <a:r>
              <a:rPr lang="en-US" b="1" dirty="0"/>
              <a:t>the Installation:</a:t>
            </a:r>
            <a:endParaRPr lang="en-US" dirty="0"/>
          </a:p>
          <a:p>
            <a:r>
              <a:rPr lang="en-US" dirty="0"/>
              <a:t>Open </a:t>
            </a:r>
            <a:r>
              <a:rPr lang="en-US" b="1" dirty="0"/>
              <a:t>Command Prompt</a:t>
            </a:r>
            <a:r>
              <a:rPr lang="en-US" dirty="0"/>
              <a:t> (</a:t>
            </a:r>
            <a:r>
              <a:rPr lang="en-US" dirty="0" err="1"/>
              <a:t>cmd</a:t>
            </a:r>
            <a:r>
              <a:rPr lang="en-US" dirty="0"/>
              <a:t>).</a:t>
            </a:r>
          </a:p>
          <a:p>
            <a:r>
              <a:rPr lang="en-US" dirty="0"/>
              <a:t>Type the following commands to check if Java is installed and the path is correctly set</a:t>
            </a:r>
            <a:r>
              <a:rPr lang="en-US" dirty="0" smtClean="0"/>
              <a:t>:</a:t>
            </a:r>
          </a:p>
          <a:p>
            <a:r>
              <a:rPr lang="en-US" dirty="0"/>
              <a:t>java -version</a:t>
            </a:r>
          </a:p>
          <a:p>
            <a:r>
              <a:rPr lang="en-US" dirty="0" err="1"/>
              <a:t>javac</a:t>
            </a:r>
            <a:r>
              <a:rPr lang="en-US" dirty="0"/>
              <a:t> -version</a:t>
            </a:r>
          </a:p>
          <a:p>
            <a:r>
              <a:rPr lang="en-US" dirty="0"/>
              <a:t>You should see the Java version information for both the java runtime and the </a:t>
            </a:r>
            <a:r>
              <a:rPr lang="en-US" dirty="0" err="1"/>
              <a:t>javac</a:t>
            </a:r>
            <a:r>
              <a:rPr lang="en-US" dirty="0"/>
              <a:t> compiler.</a:t>
            </a:r>
          </a:p>
          <a:p>
            <a:endParaRPr lang="en-IN" dirty="0"/>
          </a:p>
        </p:txBody>
      </p:sp>
    </p:spTree>
    <p:extLst>
      <p:ext uri="{BB962C8B-B14F-4D97-AF65-F5344CB8AC3E}">
        <p14:creationId xmlns:p14="http://schemas.microsoft.com/office/powerpoint/2010/main" val="1775794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Hello World Program</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US" dirty="0"/>
              <a:t>Open the Notepad and write the following </a:t>
            </a:r>
            <a:r>
              <a:rPr lang="en-US" dirty="0" smtClean="0"/>
              <a:t>program - </a:t>
            </a:r>
            <a:endParaRPr lang="en-US" dirty="0"/>
          </a:p>
          <a:p>
            <a:pPr marL="0" indent="0">
              <a:buNone/>
            </a:pPr>
            <a:endParaRPr lang="en-US" dirty="0"/>
          </a:p>
          <a:p>
            <a:pPr marL="0" indent="0">
              <a:buNone/>
            </a:pPr>
            <a:r>
              <a:rPr lang="en-US" dirty="0"/>
              <a:t> class Demo</a:t>
            </a:r>
          </a:p>
          <a:p>
            <a:pPr marL="0" indent="0">
              <a:buNone/>
            </a:pPr>
            <a:r>
              <a:rPr lang="en-US" dirty="0"/>
              <a:t> {</a:t>
            </a:r>
          </a:p>
          <a:p>
            <a:pPr marL="0" indent="0">
              <a:buNone/>
            </a:pPr>
            <a:r>
              <a:rPr lang="en-US" dirty="0"/>
              <a:t>   public static void main(String </a:t>
            </a:r>
            <a:r>
              <a:rPr lang="en-US" dirty="0" err="1"/>
              <a:t>args</a:t>
            </a:r>
            <a:r>
              <a:rPr lang="en-US" dirty="0"/>
              <a:t>[])</a:t>
            </a:r>
          </a:p>
          <a:p>
            <a:pPr marL="0" indent="0">
              <a:buNone/>
            </a:pPr>
            <a:r>
              <a:rPr lang="en-US" dirty="0"/>
              <a:t>    {</a:t>
            </a:r>
          </a:p>
          <a:p>
            <a:pPr marL="0" indent="0">
              <a:buNone/>
            </a:pPr>
            <a:r>
              <a:rPr lang="en-US" dirty="0"/>
              <a:t>     </a:t>
            </a:r>
            <a:r>
              <a:rPr lang="en-US" dirty="0" err="1"/>
              <a:t>System.out.println</a:t>
            </a:r>
            <a:r>
              <a:rPr lang="en-US" dirty="0"/>
              <a:t>("Hello World");</a:t>
            </a:r>
          </a:p>
          <a:p>
            <a:pPr marL="0" indent="0">
              <a:buNone/>
            </a:pPr>
            <a:r>
              <a:rPr lang="en-US" dirty="0"/>
              <a:t>    }</a:t>
            </a:r>
          </a:p>
          <a:p>
            <a:pPr marL="0" indent="0">
              <a:buNone/>
            </a:pPr>
            <a:r>
              <a:rPr lang="en-US" dirty="0"/>
              <a:t> }                      </a:t>
            </a:r>
          </a:p>
          <a:p>
            <a:pPr marL="0" indent="0">
              <a:buNone/>
            </a:pPr>
            <a:r>
              <a:rPr lang="en-US" dirty="0"/>
              <a:t>                  </a:t>
            </a:r>
          </a:p>
          <a:p>
            <a:r>
              <a:rPr lang="en-US" dirty="0"/>
              <a:t> </a:t>
            </a:r>
            <a:endParaRPr lang="en-IN" dirty="0"/>
          </a:p>
        </p:txBody>
      </p:sp>
    </p:spTree>
    <p:extLst>
      <p:ext uri="{BB962C8B-B14F-4D97-AF65-F5344CB8AC3E}">
        <p14:creationId xmlns:p14="http://schemas.microsoft.com/office/powerpoint/2010/main" val="2012475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pPr marL="0" indent="0">
              <a:buNone/>
            </a:pPr>
            <a:r>
              <a:rPr lang="en-US" b="1" dirty="0"/>
              <a:t>1. class </a:t>
            </a:r>
            <a:r>
              <a:rPr lang="en-US" b="1" dirty="0" smtClean="0"/>
              <a:t>Demo - </a:t>
            </a:r>
            <a:endParaRPr lang="en-US" b="1" dirty="0"/>
          </a:p>
          <a:p>
            <a:r>
              <a:rPr lang="en-US" b="1" dirty="0"/>
              <a:t>class</a:t>
            </a:r>
            <a:r>
              <a:rPr lang="en-US" dirty="0"/>
              <a:t>: This keyword is used to define a class in Java. A class is a blueprint for creating objects (instances), and it encapsulates data and methods.</a:t>
            </a:r>
          </a:p>
          <a:p>
            <a:r>
              <a:rPr lang="en-US" b="1" dirty="0"/>
              <a:t>Demo</a:t>
            </a:r>
            <a:r>
              <a:rPr lang="en-US" dirty="0"/>
              <a:t>: This is the name of the class. In Java, class names conventionally start with a capital letter, although it’s not a strict rule.</a:t>
            </a:r>
          </a:p>
          <a:p>
            <a:r>
              <a:rPr lang="en-US" dirty="0"/>
              <a:t>So, class Demo is declaring a class named Demo. Everything between the curly braces { } is part of this class</a:t>
            </a:r>
            <a:r>
              <a:rPr lang="en-US" dirty="0" smtClean="0"/>
              <a:t>.</a:t>
            </a:r>
          </a:p>
          <a:p>
            <a:pPr marL="0" indent="0">
              <a:buNone/>
            </a:pPr>
            <a:endParaRPr lang="en-US" dirty="0"/>
          </a:p>
          <a:p>
            <a:endParaRPr lang="en-IN" dirty="0"/>
          </a:p>
        </p:txBody>
      </p:sp>
    </p:spTree>
    <p:extLst>
      <p:ext uri="{BB962C8B-B14F-4D97-AF65-F5344CB8AC3E}">
        <p14:creationId xmlns:p14="http://schemas.microsoft.com/office/powerpoint/2010/main" val="3643807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91200"/>
          </a:xfrm>
        </p:spPr>
        <p:txBody>
          <a:bodyPr>
            <a:normAutofit fontScale="62500" lnSpcReduction="20000"/>
          </a:bodyPr>
          <a:lstStyle/>
          <a:p>
            <a:pPr marL="0" indent="0">
              <a:buNone/>
            </a:pPr>
            <a:r>
              <a:rPr lang="en-IN" dirty="0" smtClean="0"/>
              <a:t>2 - </a:t>
            </a:r>
            <a:r>
              <a:rPr lang="en-US" b="1" dirty="0"/>
              <a:t>public static void main(String </a:t>
            </a:r>
            <a:r>
              <a:rPr lang="en-US" b="1" dirty="0" err="1"/>
              <a:t>args</a:t>
            </a:r>
            <a:r>
              <a:rPr lang="en-US" b="1" dirty="0"/>
              <a:t>[])</a:t>
            </a:r>
          </a:p>
          <a:p>
            <a:r>
              <a:rPr lang="en-US" b="1" dirty="0"/>
              <a:t>public</a:t>
            </a:r>
            <a:r>
              <a:rPr lang="en-US" dirty="0"/>
              <a:t>: This is an access modifier that makes the main method accessible from anywhere. The main method is public because it needs to be accessible to the Java runtime environment to start the program.</a:t>
            </a:r>
          </a:p>
          <a:p>
            <a:r>
              <a:rPr lang="en-US" b="1" dirty="0"/>
              <a:t>static</a:t>
            </a:r>
            <a:r>
              <a:rPr lang="en-US" dirty="0"/>
              <a:t>: This means that the main method belongs to the class itself rather than instances of the class. This is important because Java needs to call this method without creating an object of the class.</a:t>
            </a:r>
          </a:p>
          <a:p>
            <a:r>
              <a:rPr lang="en-US" b="1" dirty="0"/>
              <a:t>void</a:t>
            </a:r>
            <a:r>
              <a:rPr lang="en-US" dirty="0"/>
              <a:t>: The main method does not return any value, so the return type is void. This means that it doesn’t give anything back after execution.</a:t>
            </a:r>
          </a:p>
          <a:p>
            <a:r>
              <a:rPr lang="en-US" b="1" dirty="0"/>
              <a:t>main</a:t>
            </a:r>
            <a:r>
              <a:rPr lang="en-US" dirty="0"/>
              <a:t>: This is the entry point for any Java application. When you run a Java program, the JVM (Java Virtual Machine) looks for the main method to start executing the code.</a:t>
            </a:r>
          </a:p>
          <a:p>
            <a:r>
              <a:rPr lang="en-US" b="1" dirty="0"/>
              <a:t>String </a:t>
            </a:r>
            <a:r>
              <a:rPr lang="en-US" b="1" dirty="0" err="1"/>
              <a:t>args</a:t>
            </a:r>
            <a:r>
              <a:rPr lang="en-US" b="1" dirty="0"/>
              <a:t>[]</a:t>
            </a:r>
            <a:r>
              <a:rPr lang="en-US" dirty="0"/>
              <a:t>: This is the parameter for the main method. It's an array of String objects, which can be used to pass command-line arguments to the program.</a:t>
            </a:r>
          </a:p>
          <a:p>
            <a:pPr lvl="1"/>
            <a:r>
              <a:rPr lang="en-US" dirty="0"/>
              <a:t>For example, if you run your program from the command line like this: java Demo arg1 arg2, the </a:t>
            </a:r>
            <a:r>
              <a:rPr lang="en-US" dirty="0" err="1"/>
              <a:t>args</a:t>
            </a:r>
            <a:r>
              <a:rPr lang="en-US" dirty="0"/>
              <a:t> array would contain {"arg1", "arg2"}.</a:t>
            </a:r>
          </a:p>
          <a:p>
            <a:r>
              <a:rPr lang="en-US" dirty="0"/>
              <a:t>Together, public static void main(String </a:t>
            </a:r>
            <a:r>
              <a:rPr lang="en-US" dirty="0" err="1"/>
              <a:t>args</a:t>
            </a:r>
            <a:r>
              <a:rPr lang="en-US" dirty="0"/>
              <a:t>[]) is the standard signature of the main method in Java, and it's the starting point of execution for the program.</a:t>
            </a:r>
          </a:p>
          <a:p>
            <a:pPr marL="0" indent="0">
              <a:buNone/>
            </a:pPr>
            <a:endParaRPr lang="en-IN" dirty="0"/>
          </a:p>
        </p:txBody>
      </p:sp>
    </p:spTree>
    <p:extLst>
      <p:ext uri="{BB962C8B-B14F-4D97-AF65-F5344CB8AC3E}">
        <p14:creationId xmlns:p14="http://schemas.microsoft.com/office/powerpoint/2010/main" val="995416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91200"/>
          </a:xfrm>
        </p:spPr>
        <p:txBody>
          <a:bodyPr>
            <a:normAutofit fontScale="77500" lnSpcReduction="20000"/>
          </a:bodyPr>
          <a:lstStyle/>
          <a:p>
            <a:pPr marL="0" indent="0">
              <a:buNone/>
            </a:pPr>
            <a:r>
              <a:rPr lang="en-IN" dirty="0" smtClean="0"/>
              <a:t>3 - </a:t>
            </a:r>
            <a:r>
              <a:rPr lang="en-US" b="1" dirty="0" err="1"/>
              <a:t>System.out.println</a:t>
            </a:r>
            <a:r>
              <a:rPr lang="en-US" b="1" dirty="0"/>
              <a:t>("Hello World");</a:t>
            </a:r>
          </a:p>
          <a:p>
            <a:r>
              <a:rPr lang="en-US" b="1" dirty="0"/>
              <a:t>System</a:t>
            </a:r>
            <a:r>
              <a:rPr lang="en-US" dirty="0"/>
              <a:t>: This is a built-in class in the </a:t>
            </a:r>
            <a:r>
              <a:rPr lang="en-US" dirty="0" err="1"/>
              <a:t>java.lang</a:t>
            </a:r>
            <a:r>
              <a:rPr lang="en-US" dirty="0"/>
              <a:t> package that provides access to system resources. It has several useful methods, including </a:t>
            </a:r>
            <a:r>
              <a:rPr lang="en-US" dirty="0" err="1"/>
              <a:t>System.out</a:t>
            </a:r>
            <a:r>
              <a:rPr lang="en-US" dirty="0"/>
              <a:t>, which is used for output.</a:t>
            </a:r>
          </a:p>
          <a:p>
            <a:r>
              <a:rPr lang="en-US" b="1" dirty="0"/>
              <a:t>out</a:t>
            </a:r>
            <a:r>
              <a:rPr lang="en-US" dirty="0"/>
              <a:t>: This is a static field of the System class, and it's an instance of the </a:t>
            </a:r>
            <a:r>
              <a:rPr lang="en-US" dirty="0" err="1"/>
              <a:t>PrintStream</a:t>
            </a:r>
            <a:r>
              <a:rPr lang="en-US" dirty="0"/>
              <a:t> class. It represents the standard output stream, which, by default, is the console (or terminal).</a:t>
            </a:r>
          </a:p>
          <a:p>
            <a:r>
              <a:rPr lang="en-US" b="1" dirty="0" err="1"/>
              <a:t>println</a:t>
            </a:r>
            <a:r>
              <a:rPr lang="en-US" dirty="0"/>
              <a:t>: This is a method of </a:t>
            </a:r>
            <a:r>
              <a:rPr lang="en-US" dirty="0" err="1"/>
              <a:t>PrintStream</a:t>
            </a:r>
            <a:r>
              <a:rPr lang="en-US" dirty="0"/>
              <a:t>. It prints the argument provided (in this case, "Hello World") followed by a newline. This means it will display the string on the console and then move the cursor to the next line.</a:t>
            </a:r>
          </a:p>
          <a:p>
            <a:r>
              <a:rPr lang="en-US" b="1" dirty="0"/>
              <a:t>"Hello World"</a:t>
            </a:r>
            <a:r>
              <a:rPr lang="en-US" dirty="0"/>
              <a:t>: This is a string literal that you want to print to the console.</a:t>
            </a:r>
          </a:p>
          <a:p>
            <a:r>
              <a:rPr lang="en-US" dirty="0"/>
              <a:t>So, </a:t>
            </a:r>
            <a:r>
              <a:rPr lang="en-US" dirty="0" err="1"/>
              <a:t>System.out.println</a:t>
            </a:r>
            <a:r>
              <a:rPr lang="en-US" dirty="0"/>
              <a:t>("Hello World"); will display Hello World on the console and then move to the next line.</a:t>
            </a:r>
          </a:p>
          <a:p>
            <a:pPr marL="0" indent="0">
              <a:buNone/>
            </a:pPr>
            <a:endParaRPr lang="en-IN" dirty="0"/>
          </a:p>
        </p:txBody>
      </p:sp>
    </p:spTree>
    <p:extLst>
      <p:ext uri="{BB962C8B-B14F-4D97-AF65-F5344CB8AC3E}">
        <p14:creationId xmlns:p14="http://schemas.microsoft.com/office/powerpoint/2010/main" val="3810512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91200"/>
          </a:xfrm>
        </p:spPr>
        <p:txBody>
          <a:bodyPr>
            <a:normAutofit/>
          </a:bodyPr>
          <a:lstStyle/>
          <a:p>
            <a:r>
              <a:rPr lang="en-US" b="1" dirty="0"/>
              <a:t>Putting It All Together:</a:t>
            </a:r>
          </a:p>
          <a:p>
            <a:r>
              <a:rPr lang="en-US" dirty="0"/>
              <a:t>When you run this program, the main method is executed first because it is the entry point of the program.</a:t>
            </a:r>
          </a:p>
          <a:p>
            <a:r>
              <a:rPr lang="en-US" dirty="0"/>
              <a:t>The statement </a:t>
            </a:r>
            <a:r>
              <a:rPr lang="en-US" dirty="0" err="1"/>
              <a:t>System.out.println</a:t>
            </a:r>
            <a:r>
              <a:rPr lang="en-US" dirty="0"/>
              <a:t>("Hello World"); is then executed, which prints the string Hello World on the screen.</a:t>
            </a:r>
          </a:p>
          <a:p>
            <a:r>
              <a:rPr lang="en-US" dirty="0"/>
              <a:t>After printing, the program finishes execution because there are no more statements to execute.</a:t>
            </a:r>
          </a:p>
          <a:p>
            <a:pPr marL="0" indent="0">
              <a:buNone/>
            </a:pPr>
            <a:endParaRPr lang="en-IN" dirty="0"/>
          </a:p>
        </p:txBody>
      </p:sp>
    </p:spTree>
    <p:extLst>
      <p:ext uri="{BB962C8B-B14F-4D97-AF65-F5344CB8AC3E}">
        <p14:creationId xmlns:p14="http://schemas.microsoft.com/office/powerpoint/2010/main" val="1300233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Compiling and Executing the Program -</a:t>
            </a:r>
            <a:br>
              <a:rPr lang="en-US" dirty="0"/>
            </a:br>
            <a:endParaRPr lang="en-IN" dirty="0"/>
          </a:p>
        </p:txBody>
      </p:sp>
      <p:sp>
        <p:nvSpPr>
          <p:cNvPr id="3" name="Content Placeholder 2"/>
          <p:cNvSpPr>
            <a:spLocks noGrp="1"/>
          </p:cNvSpPr>
          <p:nvPr>
            <p:ph idx="1"/>
          </p:nvPr>
        </p:nvSpPr>
        <p:spPr>
          <a:xfrm>
            <a:off x="457200" y="1600200"/>
            <a:ext cx="8229600" cy="4876800"/>
          </a:xfrm>
        </p:spPr>
        <p:txBody>
          <a:bodyPr>
            <a:normAutofit fontScale="62500" lnSpcReduction="20000"/>
          </a:bodyPr>
          <a:lstStyle/>
          <a:p>
            <a:r>
              <a:rPr lang="en-US" dirty="0"/>
              <a:t>In java compilation and execution take place as follows </a:t>
            </a:r>
            <a:r>
              <a:rPr lang="en-US" dirty="0" smtClean="0"/>
              <a:t>–</a:t>
            </a:r>
          </a:p>
          <a:p>
            <a:pPr marL="0" indent="0">
              <a:buNone/>
            </a:pPr>
            <a:r>
              <a:rPr lang="en-US" dirty="0"/>
              <a:t/>
            </a:r>
            <a:br>
              <a:rPr lang="en-US" dirty="0"/>
            </a:br>
            <a:endParaRPr lang="en-US" dirty="0" smtClean="0"/>
          </a:p>
          <a:p>
            <a:endParaRPr lang="en-US" dirty="0"/>
          </a:p>
          <a:p>
            <a:endParaRPr lang="en-US" dirty="0" smtClean="0"/>
          </a:p>
          <a:p>
            <a:endParaRPr lang="en-US" dirty="0"/>
          </a:p>
          <a:p>
            <a:endParaRPr lang="en-US" dirty="0" smtClean="0"/>
          </a:p>
          <a:p>
            <a:endParaRPr lang="en-US" dirty="0"/>
          </a:p>
          <a:p>
            <a:endParaRPr lang="en-US" b="1" dirty="0" smtClean="0"/>
          </a:p>
          <a:p>
            <a:endParaRPr lang="en-US" b="1" dirty="0"/>
          </a:p>
          <a:p>
            <a:r>
              <a:rPr lang="en-US" b="1" dirty="0" smtClean="0"/>
              <a:t>Save </a:t>
            </a:r>
            <a:r>
              <a:rPr lang="en-US" b="1" dirty="0"/>
              <a:t>the file -</a:t>
            </a:r>
            <a:r>
              <a:rPr lang="en-US" dirty="0"/>
              <a:t/>
            </a:r>
            <a:br>
              <a:rPr lang="en-US" dirty="0"/>
            </a:br>
            <a:r>
              <a:rPr lang="en-US" dirty="0"/>
              <a:t>Save this program with the name of class </a:t>
            </a:r>
            <a:r>
              <a:rPr lang="en-US" dirty="0" err="1"/>
              <a:t>i.e</a:t>
            </a:r>
            <a:r>
              <a:rPr lang="en-US" dirty="0"/>
              <a:t> </a:t>
            </a:r>
            <a:r>
              <a:rPr lang="en-US" b="1" dirty="0"/>
              <a:t>Demo.java</a:t>
            </a:r>
            <a:r>
              <a:rPr lang="en-US" dirty="0"/>
              <a:t>(Note - extension should be .java) at desired location (in our case we are saving in C drive in a folder named Programs). It is not always necessary to save the program file with name of class. However if class is public then there is compulsion that file name should be the same as class name</a:t>
            </a:r>
            <a:r>
              <a:rPr lang="en-US" dirty="0" smtClean="0"/>
              <a:t>.</a:t>
            </a:r>
            <a:r>
              <a:rPr lang="en-US" dirty="0"/>
              <a:t/>
            </a:r>
            <a:br>
              <a:rPr lang="en-US" dirty="0"/>
            </a:br>
            <a:endParaRPr lang="en-IN" dirty="0"/>
          </a:p>
        </p:txBody>
      </p:sp>
      <p:pic>
        <p:nvPicPr>
          <p:cNvPr id="2050" name="Picture 2" descr="java program compilation and execution proc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81200"/>
            <a:ext cx="678180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295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lnSpcReduction="10000"/>
          </a:bodyPr>
          <a:lstStyle/>
          <a:p>
            <a:r>
              <a:rPr lang="en-US" sz="2400" dirty="0"/>
              <a:t>Now open command prompt by writing </a:t>
            </a:r>
            <a:r>
              <a:rPr lang="en-US" sz="2400" b="1" dirty="0" err="1"/>
              <a:t>cmd</a:t>
            </a:r>
            <a:r>
              <a:rPr lang="en-US" sz="2400" b="1" dirty="0"/>
              <a:t> in search box or run box</a:t>
            </a:r>
            <a:r>
              <a:rPr lang="en-US" sz="2400" dirty="0"/>
              <a:t>. First of all we need to go to the location where program is saved (</a:t>
            </a:r>
            <a:r>
              <a:rPr lang="en-US" sz="2400" dirty="0" err="1"/>
              <a:t>i.e</a:t>
            </a:r>
            <a:r>
              <a:rPr lang="en-US" sz="2400" dirty="0"/>
              <a:t> Programs folder in C drive) as shown </a:t>
            </a:r>
            <a:r>
              <a:rPr lang="en-US" sz="2400" dirty="0" smtClean="0"/>
              <a:t>below-</a:t>
            </a:r>
          </a:p>
          <a:p>
            <a:endParaRPr lang="en-US" sz="2400" dirty="0"/>
          </a:p>
          <a:p>
            <a:endParaRPr lang="en-US" sz="2400" dirty="0" smtClean="0"/>
          </a:p>
          <a:p>
            <a:endParaRPr lang="en-US" sz="2400" dirty="0"/>
          </a:p>
          <a:p>
            <a:endParaRPr lang="en-US" sz="2400" dirty="0" smtClean="0"/>
          </a:p>
          <a:p>
            <a:r>
              <a:rPr lang="en-US" sz="2400" b="1" dirty="0"/>
              <a:t>Compilation -</a:t>
            </a:r>
            <a:r>
              <a:rPr lang="en-US" sz="2400" dirty="0"/>
              <a:t/>
            </a:r>
            <a:br>
              <a:rPr lang="en-US" sz="2400" dirty="0"/>
            </a:br>
            <a:r>
              <a:rPr lang="en-US" sz="2400" dirty="0"/>
              <a:t>The name of compiler for java is </a:t>
            </a:r>
            <a:r>
              <a:rPr lang="en-US" sz="2400" b="1" dirty="0" err="1"/>
              <a:t>javac</a:t>
            </a:r>
            <a:r>
              <a:rPr lang="en-US" sz="2400" dirty="0"/>
              <a:t>. Compile program by writing the following command -</a:t>
            </a:r>
            <a:br>
              <a:rPr lang="en-US" sz="2400" dirty="0"/>
            </a:br>
            <a:r>
              <a:rPr lang="en-US" sz="2400" b="1" dirty="0" err="1"/>
              <a:t>javac</a:t>
            </a:r>
            <a:r>
              <a:rPr lang="en-US" sz="2400" b="1" dirty="0"/>
              <a:t> Demo.java</a:t>
            </a:r>
            <a:r>
              <a:rPr lang="en-US" sz="2400" dirty="0"/>
              <a:t> </a:t>
            </a:r>
            <a:endParaRPr lang="en-US" sz="2400" dirty="0"/>
          </a:p>
          <a:p>
            <a:r>
              <a:rPr lang="en-US" sz="2400" dirty="0" smtClean="0"/>
              <a:t>Now </a:t>
            </a:r>
            <a:r>
              <a:rPr lang="en-US" sz="2400" dirty="0"/>
              <a:t>press enter key. If there is no error then compiler will create a </a:t>
            </a:r>
            <a:r>
              <a:rPr lang="en-US" sz="2400" b="1" dirty="0" err="1"/>
              <a:t>Demo.class</a:t>
            </a:r>
            <a:r>
              <a:rPr lang="en-US" sz="2400" dirty="0"/>
              <a:t> file at the same location where your program is stored.</a:t>
            </a:r>
          </a:p>
          <a:p>
            <a:endParaRPr lang="en-IN" sz="2400" dirty="0"/>
          </a:p>
        </p:txBody>
      </p:sp>
      <p:pic>
        <p:nvPicPr>
          <p:cNvPr id="4098" name="Picture 2" descr="http://localhost/my_website/public_html/Images/cm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676400"/>
            <a:ext cx="51149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008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r>
              <a:rPr lang="en-US" sz="2400" b="1" dirty="0"/>
              <a:t>Interpretation -</a:t>
            </a:r>
            <a:r>
              <a:rPr lang="en-US" sz="2400" dirty="0"/>
              <a:t/>
            </a:r>
            <a:br>
              <a:rPr lang="en-US" sz="2400" dirty="0"/>
            </a:br>
            <a:r>
              <a:rPr lang="en-US" sz="2400" dirty="0"/>
              <a:t>After compiling we need to interpret </a:t>
            </a:r>
            <a:r>
              <a:rPr lang="en-US" sz="2400" dirty="0" err="1"/>
              <a:t>Demo.class</a:t>
            </a:r>
            <a:r>
              <a:rPr lang="en-US" sz="2400" dirty="0"/>
              <a:t> file. The interpreter of java is </a:t>
            </a:r>
            <a:r>
              <a:rPr lang="en-US" sz="2400" b="1" dirty="0"/>
              <a:t>java</a:t>
            </a:r>
            <a:r>
              <a:rPr lang="en-US" sz="2400" dirty="0"/>
              <a:t>. Write the following command to interpret program -</a:t>
            </a:r>
            <a:br>
              <a:rPr lang="en-US" sz="2400" dirty="0"/>
            </a:br>
            <a:r>
              <a:rPr lang="en-US" sz="2400" b="1" dirty="0"/>
              <a:t>java Demo</a:t>
            </a:r>
            <a:endParaRPr lang="en-US" sz="2400" dirty="0"/>
          </a:p>
          <a:p>
            <a:r>
              <a:rPr lang="en-US" sz="2400" dirty="0"/>
              <a:t>Now press the enter key and output will be displayed on the screen as shown below </a:t>
            </a:r>
            <a:r>
              <a:rPr lang="en-US" sz="2400" dirty="0" smtClean="0"/>
              <a:t>–</a:t>
            </a:r>
          </a:p>
          <a:p>
            <a:endParaRPr lang="en-IN" sz="2400" dirty="0"/>
          </a:p>
        </p:txBody>
      </p:sp>
      <p:pic>
        <p:nvPicPr>
          <p:cNvPr id="5122" name="Picture 2" descr="http://localhost/my_website/public_html/Images/cmd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429000"/>
            <a:ext cx="5638800" cy="246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85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1646</Words>
  <Application>Microsoft Office PowerPoint</Application>
  <PresentationFormat>On-screen Show (4:3)</PresentationFormat>
  <Paragraphs>137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Introduction to Java</vt:lpstr>
      <vt:lpstr>Java Introduction and History </vt:lpstr>
      <vt:lpstr>PowerPoint Presentation</vt:lpstr>
      <vt:lpstr>How Java came into existence</vt:lpstr>
      <vt:lpstr>Key Features of Java</vt:lpstr>
      <vt:lpstr>Applications of Java </vt:lpstr>
      <vt:lpstr>What is JDK?</vt:lpstr>
      <vt:lpstr>Setting Up JDK on Windows</vt:lpstr>
      <vt:lpstr>PowerPoint Presentation</vt:lpstr>
      <vt:lpstr>PowerPoint Presentation</vt:lpstr>
      <vt:lpstr>Hello World Program </vt:lpstr>
      <vt:lpstr>PowerPoint Presentation</vt:lpstr>
      <vt:lpstr>PowerPoint Presentation</vt:lpstr>
      <vt:lpstr>PowerPoint Presentation</vt:lpstr>
      <vt:lpstr>PowerPoint Presentation</vt:lpstr>
      <vt:lpstr>Compiling and Executing the Program - </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dc:title>
  <dc:creator/>
  <cp:lastModifiedBy>Rohit Kamboj</cp:lastModifiedBy>
  <cp:revision>61</cp:revision>
  <dcterms:created xsi:type="dcterms:W3CDTF">2006-08-16T00:00:00Z</dcterms:created>
  <dcterms:modified xsi:type="dcterms:W3CDTF">2024-11-28T05:41:17Z</dcterms:modified>
</cp:coreProperties>
</file>