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7" r:id="rId21"/>
    <p:sldId id="288" r:id="rId22"/>
    <p:sldId id="275" r:id="rId23"/>
    <p:sldId id="276" r:id="rId24"/>
    <p:sldId id="277" r:id="rId25"/>
    <p:sldId id="278" r:id="rId26"/>
    <p:sldId id="281" r:id="rId27"/>
    <p:sldId id="282" r:id="rId28"/>
    <p:sldId id="283" r:id="rId29"/>
    <p:sldId id="284" r:id="rId30"/>
    <p:sldId id="285" r:id="rId31"/>
    <p:sldId id="286" r:id="rId32"/>
    <p:sldId id="279"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42" autoAdjust="0"/>
  </p:normalViewPr>
  <p:slideViewPr>
    <p:cSldViewPr>
      <p:cViewPr varScale="1">
        <p:scale>
          <a:sx n="79" d="100"/>
          <a:sy n="79" d="100"/>
        </p:scale>
        <p:origin x="-15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C5D813-D87E-47A3-B9CA-823D7DA7EA10}" type="datetimeFigureOut">
              <a:rPr lang="en-IN" smtClean="0"/>
              <a:t>17-03-2025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F23281-3AB7-4DBD-BF43-E0181D9D5115}" type="slidenum">
              <a:rPr lang="en-IN" smtClean="0"/>
              <a:t>‹#›</a:t>
            </a:fld>
            <a:endParaRPr lang="en-IN"/>
          </a:p>
        </p:txBody>
      </p:sp>
    </p:spTree>
    <p:extLst>
      <p:ext uri="{BB962C8B-B14F-4D97-AF65-F5344CB8AC3E}">
        <p14:creationId xmlns:p14="http://schemas.microsoft.com/office/powerpoint/2010/main" val="4224500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Java provides </a:t>
            </a:r>
            <a:r>
              <a:rPr lang="en-US" b="1" dirty="0" smtClean="0"/>
              <a:t>meta-annotations</a:t>
            </a:r>
            <a:r>
              <a:rPr lang="en-US" dirty="0" smtClean="0"/>
              <a:t>, which are used to define the behavior of custom annotations.</a:t>
            </a:r>
            <a:endParaRPr lang="en-IN" dirty="0"/>
          </a:p>
        </p:txBody>
      </p:sp>
      <p:sp>
        <p:nvSpPr>
          <p:cNvPr id="4" name="Slide Number Placeholder 3"/>
          <p:cNvSpPr>
            <a:spLocks noGrp="1"/>
          </p:cNvSpPr>
          <p:nvPr>
            <p:ph type="sldNum" sz="quarter" idx="10"/>
          </p:nvPr>
        </p:nvSpPr>
        <p:spPr/>
        <p:txBody>
          <a:bodyPr/>
          <a:lstStyle/>
          <a:p>
            <a:fld id="{D6F23281-3AB7-4DBD-BF43-E0181D9D5115}" type="slidenum">
              <a:rPr lang="en-IN" smtClean="0"/>
              <a:t>3</a:t>
            </a:fld>
            <a:endParaRPr lang="en-IN"/>
          </a:p>
        </p:txBody>
      </p:sp>
    </p:spTree>
    <p:extLst>
      <p:ext uri="{BB962C8B-B14F-4D97-AF65-F5344CB8AC3E}">
        <p14:creationId xmlns:p14="http://schemas.microsoft.com/office/powerpoint/2010/main" val="88438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Class&lt;T&gt; is a generic class in Java's Reflection API</a:t>
            </a:r>
            <a:r>
              <a:rPr lang="en-US" dirty="0" smtClean="0"/>
              <a:t> that represents a </a:t>
            </a:r>
            <a:r>
              <a:rPr lang="en-US" b="1" dirty="0" smtClean="0"/>
              <a:t>Java class or interface</a:t>
            </a:r>
            <a:r>
              <a:rPr lang="en-US" dirty="0" smtClean="0"/>
              <a:t> at </a:t>
            </a:r>
            <a:r>
              <a:rPr lang="en-US" dirty="0" err="1" smtClean="0"/>
              <a:t>runtime.Here</a:t>
            </a:r>
            <a:r>
              <a:rPr lang="en-US" dirty="0" smtClean="0"/>
              <a:t>, Class&lt;Test&gt; means that </a:t>
            </a:r>
            <a:r>
              <a:rPr lang="en-US" dirty="0" err="1" smtClean="0"/>
              <a:t>obj</a:t>
            </a:r>
            <a:r>
              <a:rPr lang="en-US" dirty="0" smtClean="0"/>
              <a:t> is a reference to the </a:t>
            </a:r>
            <a:r>
              <a:rPr lang="en-US" b="1" dirty="0" smtClean="0"/>
              <a:t>Class object of Test</a:t>
            </a:r>
            <a:r>
              <a:rPr lang="en-US" dirty="0" smtClean="0"/>
              <a:t>.</a:t>
            </a:r>
          </a:p>
          <a:p>
            <a:r>
              <a:rPr lang="en-US" b="1" dirty="0" smtClean="0"/>
              <a:t>Reflection</a:t>
            </a:r>
            <a:r>
              <a:rPr lang="en-US" dirty="0" smtClean="0"/>
              <a:t> is a powerful feature in Java that allows a program to </a:t>
            </a:r>
            <a:r>
              <a:rPr lang="en-US" b="1" dirty="0" smtClean="0"/>
              <a:t>inspect, analyze, and modify</a:t>
            </a:r>
            <a:r>
              <a:rPr lang="en-US" dirty="0" smtClean="0"/>
              <a:t> classes, methods, and fields at runtime. It is part of the </a:t>
            </a:r>
            <a:r>
              <a:rPr lang="en-US" dirty="0" err="1" smtClean="0"/>
              <a:t>java.lang.reflect</a:t>
            </a:r>
            <a:r>
              <a:rPr lang="en-US" dirty="0" smtClean="0"/>
              <a:t> package.</a:t>
            </a:r>
            <a:endParaRPr lang="en-IN" dirty="0"/>
          </a:p>
        </p:txBody>
      </p:sp>
      <p:sp>
        <p:nvSpPr>
          <p:cNvPr id="4" name="Slide Number Placeholder 3"/>
          <p:cNvSpPr>
            <a:spLocks noGrp="1"/>
          </p:cNvSpPr>
          <p:nvPr>
            <p:ph type="sldNum" sz="quarter" idx="10"/>
          </p:nvPr>
        </p:nvSpPr>
        <p:spPr/>
        <p:txBody>
          <a:bodyPr/>
          <a:lstStyle/>
          <a:p>
            <a:fld id="{D6F23281-3AB7-4DBD-BF43-E0181D9D5115}" type="slidenum">
              <a:rPr lang="en-IN" smtClean="0"/>
              <a:t>14</a:t>
            </a:fld>
            <a:endParaRPr lang="en-IN"/>
          </a:p>
        </p:txBody>
      </p:sp>
    </p:spTree>
    <p:extLst>
      <p:ext uri="{BB962C8B-B14F-4D97-AF65-F5344CB8AC3E}">
        <p14:creationId xmlns:p14="http://schemas.microsoft.com/office/powerpoint/2010/main" val="2356738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Java Utilities: </a:t>
            </a:r>
            <a:r>
              <a:rPr lang="en-IN" dirty="0" smtClean="0"/>
              <a:t>Annotations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46882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3" name="Content Placeholder 2"/>
          <p:cNvSpPr>
            <a:spLocks noGrp="1"/>
          </p:cNvSpPr>
          <p:nvPr>
            <p:ph idx="1"/>
          </p:nvPr>
        </p:nvSpPr>
        <p:spPr/>
        <p:txBody>
          <a:bodyPr>
            <a:normAutofit fontScale="77500" lnSpcReduction="20000"/>
          </a:bodyPr>
          <a:lstStyle/>
          <a:p>
            <a:r>
              <a:rPr lang="en-US" dirty="0"/>
              <a:t>Annotations in Java are </a:t>
            </a:r>
            <a:r>
              <a:rPr lang="en-US" b="1" dirty="0"/>
              <a:t>metadata</a:t>
            </a:r>
            <a:r>
              <a:rPr lang="en-US" dirty="0"/>
              <a:t> that provide additional information about the program without affecting its execution</a:t>
            </a:r>
            <a:r>
              <a:rPr lang="en-US" dirty="0" smtClean="0"/>
              <a:t>.</a:t>
            </a:r>
          </a:p>
          <a:p>
            <a:r>
              <a:rPr lang="en-US" dirty="0"/>
              <a:t>Java annotations are used for various purposes, mainly falling into three broad categories:</a:t>
            </a:r>
          </a:p>
          <a:p>
            <a:r>
              <a:rPr lang="en-US" dirty="0"/>
              <a:t>✔ </a:t>
            </a:r>
            <a:r>
              <a:rPr lang="en-US" b="1" dirty="0"/>
              <a:t>Compiler Instructions</a:t>
            </a:r>
            <a:r>
              <a:rPr lang="en-US" dirty="0"/>
              <a:t> → Helps the Java compiler detect errors, enforce rules, and suppress warnings.</a:t>
            </a:r>
            <a:br>
              <a:rPr lang="en-US" dirty="0"/>
            </a:br>
            <a:r>
              <a:rPr lang="en-US" dirty="0"/>
              <a:t>✔ </a:t>
            </a:r>
            <a:r>
              <a:rPr lang="en-US" b="1" dirty="0"/>
              <a:t>Code Analysis</a:t>
            </a:r>
            <a:r>
              <a:rPr lang="en-US" dirty="0"/>
              <a:t> → Used by IDEs, static analysis tools, and frameworks to analyze code for correctness and best practices.</a:t>
            </a:r>
            <a:br>
              <a:rPr lang="en-US" dirty="0"/>
            </a:br>
            <a:r>
              <a:rPr lang="en-US" dirty="0"/>
              <a:t>✔ </a:t>
            </a:r>
            <a:r>
              <a:rPr lang="en-US" b="1" dirty="0"/>
              <a:t>Runtime Processing</a:t>
            </a:r>
            <a:r>
              <a:rPr lang="en-US" dirty="0"/>
              <a:t> → Used by frameworks like Spring, Hibernate, and Java Reflection API to process annotations dynamically during execution.</a:t>
            </a:r>
          </a:p>
          <a:p>
            <a:endParaRPr lang="en-IN" dirty="0"/>
          </a:p>
        </p:txBody>
      </p:sp>
    </p:spTree>
    <p:extLst>
      <p:ext uri="{BB962C8B-B14F-4D97-AF65-F5344CB8AC3E}">
        <p14:creationId xmlns:p14="http://schemas.microsoft.com/office/powerpoint/2010/main" val="698248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endParaRPr lang="en-IN"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685800"/>
            <a:ext cx="75438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0167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77500" lnSpcReduction="20000"/>
          </a:bodyPr>
          <a:lstStyle/>
          <a:p>
            <a:r>
              <a:rPr lang="en-US" b="1" dirty="0"/>
              <a:t>Built-In Java Annotations</a:t>
            </a:r>
          </a:p>
          <a:p>
            <a:r>
              <a:rPr lang="en-US" dirty="0"/>
              <a:t>There are several built-in annotations in Java. Some annotations are applied to Java code and some to other annotations</a:t>
            </a:r>
            <a:r>
              <a:rPr lang="en-US" dirty="0" smtClean="0"/>
              <a:t>.</a:t>
            </a:r>
          </a:p>
          <a:p>
            <a:endParaRPr lang="en-US" dirty="0" smtClean="0"/>
          </a:p>
          <a:p>
            <a:r>
              <a:rPr lang="en-US" dirty="0"/>
              <a:t>Built-In Java Annotations used in Java code</a:t>
            </a:r>
          </a:p>
          <a:p>
            <a:r>
              <a:rPr lang="en-US" dirty="0"/>
              <a:t>@Override</a:t>
            </a:r>
          </a:p>
          <a:p>
            <a:r>
              <a:rPr lang="en-US" dirty="0"/>
              <a:t>@</a:t>
            </a:r>
            <a:r>
              <a:rPr lang="en-US" dirty="0" err="1"/>
              <a:t>SuppressWarnings</a:t>
            </a:r>
            <a:endParaRPr lang="en-US" dirty="0"/>
          </a:p>
          <a:p>
            <a:r>
              <a:rPr lang="en-US" dirty="0"/>
              <a:t>@Deprecated</a:t>
            </a:r>
          </a:p>
          <a:p>
            <a:r>
              <a:rPr lang="en-US" dirty="0"/>
              <a:t>Built-In Java Annotations used in other annotations</a:t>
            </a:r>
          </a:p>
          <a:p>
            <a:r>
              <a:rPr lang="en-US" dirty="0"/>
              <a:t>@Target</a:t>
            </a:r>
          </a:p>
          <a:p>
            <a:r>
              <a:rPr lang="en-US" dirty="0"/>
              <a:t>@Retention</a:t>
            </a:r>
          </a:p>
          <a:p>
            <a:r>
              <a:rPr lang="en-US" dirty="0"/>
              <a:t>@Inherited</a:t>
            </a:r>
          </a:p>
          <a:p>
            <a:r>
              <a:rPr lang="en-US" dirty="0"/>
              <a:t>@Documented</a:t>
            </a:r>
          </a:p>
          <a:p>
            <a:endParaRPr lang="en-US" dirty="0"/>
          </a:p>
          <a:p>
            <a:endParaRPr lang="en-IN" dirty="0"/>
          </a:p>
        </p:txBody>
      </p:sp>
    </p:spTree>
    <p:extLst>
      <p:ext uri="{BB962C8B-B14F-4D97-AF65-F5344CB8AC3E}">
        <p14:creationId xmlns:p14="http://schemas.microsoft.com/office/powerpoint/2010/main" val="2988119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lnSpcReduction="10000"/>
          </a:bodyPr>
          <a:lstStyle/>
          <a:p>
            <a:r>
              <a:rPr lang="en-US" b="1" dirty="0"/>
              <a:t>Understanding Built-In </a:t>
            </a:r>
            <a:r>
              <a:rPr lang="en-US" b="1" dirty="0" smtClean="0"/>
              <a:t>Annotations - </a:t>
            </a:r>
            <a:endParaRPr lang="en-US" b="1" dirty="0"/>
          </a:p>
          <a:p>
            <a:r>
              <a:rPr lang="en-US" dirty="0"/>
              <a:t>Let's understand the built-in annotations first</a:t>
            </a:r>
            <a:r>
              <a:rPr lang="en-US" dirty="0" smtClean="0"/>
              <a:t>.</a:t>
            </a:r>
          </a:p>
          <a:p>
            <a:endParaRPr lang="en-US" dirty="0"/>
          </a:p>
          <a:p>
            <a:r>
              <a:rPr lang="en-US" b="1" dirty="0"/>
              <a:t>@</a:t>
            </a:r>
            <a:r>
              <a:rPr lang="en-US" b="1" dirty="0" smtClean="0"/>
              <a:t>Override - </a:t>
            </a:r>
            <a:endParaRPr lang="en-US" b="1" dirty="0"/>
          </a:p>
          <a:p>
            <a:r>
              <a:rPr lang="en-US" dirty="0"/>
              <a:t>@Override annotation assures that the subclass method is overriding the parent class method. If it is not so, compile time error occurs.</a:t>
            </a:r>
          </a:p>
          <a:p>
            <a:r>
              <a:rPr lang="en-US" dirty="0"/>
              <a:t>Sometimes, we does the silly mistake such as spelling mistakes etc. So, it is better to mark @Override annotation that provides assurity that method is overridden.</a:t>
            </a:r>
          </a:p>
          <a:p>
            <a:endParaRPr lang="en-IN" dirty="0"/>
          </a:p>
        </p:txBody>
      </p:sp>
    </p:spTree>
    <p:extLst>
      <p:ext uri="{BB962C8B-B14F-4D97-AF65-F5344CB8AC3E}">
        <p14:creationId xmlns:p14="http://schemas.microsoft.com/office/powerpoint/2010/main" val="2988119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7500" lnSpcReduction="20000"/>
          </a:bodyPr>
          <a:lstStyle/>
          <a:p>
            <a:pPr marL="0" indent="0">
              <a:buNone/>
            </a:pPr>
            <a:r>
              <a:rPr lang="en-IN" dirty="0"/>
              <a:t>class Animal{  </a:t>
            </a:r>
          </a:p>
          <a:p>
            <a:pPr marL="0" indent="0">
              <a:buNone/>
            </a:pPr>
            <a:r>
              <a:rPr lang="en-IN" b="1" dirty="0"/>
              <a:t>void</a:t>
            </a:r>
            <a:r>
              <a:rPr lang="en-IN" dirty="0"/>
              <a:t> </a:t>
            </a:r>
            <a:r>
              <a:rPr lang="en-IN" dirty="0" err="1"/>
              <a:t>eatSomething</a:t>
            </a:r>
            <a:r>
              <a:rPr lang="en-IN" dirty="0"/>
              <a:t>(){</a:t>
            </a:r>
            <a:r>
              <a:rPr lang="en-IN" dirty="0" err="1"/>
              <a:t>System.out.println</a:t>
            </a:r>
            <a:r>
              <a:rPr lang="en-IN" dirty="0"/>
              <a:t>("eating something");}  </a:t>
            </a:r>
          </a:p>
          <a:p>
            <a:pPr marL="0" indent="0">
              <a:buNone/>
            </a:pPr>
            <a:r>
              <a:rPr lang="en-IN" dirty="0"/>
              <a:t>}  </a:t>
            </a:r>
          </a:p>
          <a:p>
            <a:pPr marL="0" indent="0">
              <a:buNone/>
            </a:pPr>
            <a:r>
              <a:rPr lang="en-IN" dirty="0"/>
              <a:t>  </a:t>
            </a:r>
          </a:p>
          <a:p>
            <a:pPr marL="0" indent="0">
              <a:buNone/>
            </a:pPr>
            <a:r>
              <a:rPr lang="en-IN" b="1" dirty="0"/>
              <a:t>class</a:t>
            </a:r>
            <a:r>
              <a:rPr lang="en-IN" dirty="0"/>
              <a:t> Dog </a:t>
            </a:r>
            <a:r>
              <a:rPr lang="en-IN" b="1" dirty="0"/>
              <a:t>extends</a:t>
            </a:r>
            <a:r>
              <a:rPr lang="en-IN" dirty="0"/>
              <a:t> Animal{  </a:t>
            </a:r>
          </a:p>
          <a:p>
            <a:pPr marL="0" indent="0">
              <a:buNone/>
            </a:pPr>
            <a:r>
              <a:rPr lang="en-IN" dirty="0"/>
              <a:t>@Override  </a:t>
            </a:r>
          </a:p>
          <a:p>
            <a:pPr marL="0" indent="0">
              <a:buNone/>
            </a:pPr>
            <a:r>
              <a:rPr lang="en-IN" b="1" dirty="0"/>
              <a:t>void</a:t>
            </a:r>
            <a:r>
              <a:rPr lang="en-IN" dirty="0"/>
              <a:t> </a:t>
            </a:r>
            <a:r>
              <a:rPr lang="en-IN" dirty="0" err="1"/>
              <a:t>eatsomething</a:t>
            </a:r>
            <a:r>
              <a:rPr lang="en-IN" dirty="0"/>
              <a:t>(){</a:t>
            </a:r>
            <a:r>
              <a:rPr lang="en-IN" dirty="0" err="1"/>
              <a:t>System.out.println</a:t>
            </a:r>
            <a:r>
              <a:rPr lang="en-IN" dirty="0"/>
              <a:t>("eating foods");}//should be </a:t>
            </a:r>
            <a:r>
              <a:rPr lang="en-IN" dirty="0" err="1"/>
              <a:t>eatSomething</a:t>
            </a:r>
            <a:r>
              <a:rPr lang="en-IN" dirty="0"/>
              <a:t>  </a:t>
            </a:r>
          </a:p>
          <a:p>
            <a:pPr marL="0" indent="0">
              <a:buNone/>
            </a:pPr>
            <a:r>
              <a:rPr lang="en-IN" dirty="0"/>
              <a:t>}  </a:t>
            </a:r>
          </a:p>
          <a:p>
            <a:pPr marL="0" indent="0">
              <a:buNone/>
            </a:pPr>
            <a:r>
              <a:rPr lang="en-IN" dirty="0"/>
              <a:t>  </a:t>
            </a:r>
          </a:p>
          <a:p>
            <a:pPr marL="0" indent="0">
              <a:buNone/>
            </a:pPr>
            <a:r>
              <a:rPr lang="en-IN" b="1" dirty="0"/>
              <a:t>class</a:t>
            </a:r>
            <a:r>
              <a:rPr lang="en-IN" dirty="0"/>
              <a:t> TestAnnotation1{  </a:t>
            </a:r>
          </a:p>
          <a:p>
            <a:pPr marL="0" indent="0">
              <a:buNone/>
            </a:pPr>
            <a:r>
              <a:rPr lang="en-IN" b="1" dirty="0"/>
              <a:t>public</a:t>
            </a:r>
            <a:r>
              <a:rPr lang="en-IN" dirty="0"/>
              <a:t> </a:t>
            </a:r>
            <a:r>
              <a:rPr lang="en-IN" b="1" dirty="0"/>
              <a:t>static</a:t>
            </a:r>
            <a:r>
              <a:rPr lang="en-IN" dirty="0"/>
              <a:t> </a:t>
            </a:r>
            <a:r>
              <a:rPr lang="en-IN" b="1" dirty="0"/>
              <a:t>void</a:t>
            </a:r>
            <a:r>
              <a:rPr lang="en-IN" dirty="0"/>
              <a:t> main(String </a:t>
            </a:r>
            <a:r>
              <a:rPr lang="en-IN" dirty="0" err="1"/>
              <a:t>args</a:t>
            </a:r>
            <a:r>
              <a:rPr lang="en-IN" dirty="0"/>
              <a:t>[]){  </a:t>
            </a:r>
          </a:p>
          <a:p>
            <a:pPr marL="0" indent="0">
              <a:buNone/>
            </a:pPr>
            <a:r>
              <a:rPr lang="en-IN" dirty="0"/>
              <a:t>Animal a=</a:t>
            </a:r>
            <a:r>
              <a:rPr lang="en-IN" b="1" dirty="0"/>
              <a:t>new</a:t>
            </a:r>
            <a:r>
              <a:rPr lang="en-IN" dirty="0"/>
              <a:t> Dog();  </a:t>
            </a:r>
          </a:p>
          <a:p>
            <a:pPr marL="0" indent="0">
              <a:buNone/>
            </a:pPr>
            <a:r>
              <a:rPr lang="en-IN" dirty="0" err="1"/>
              <a:t>a.eatSomething</a:t>
            </a:r>
            <a:r>
              <a:rPr lang="en-IN" dirty="0"/>
              <a:t>();  </a:t>
            </a:r>
          </a:p>
          <a:p>
            <a:pPr marL="0" indent="0">
              <a:buNone/>
            </a:pPr>
            <a:r>
              <a:rPr lang="en-IN" dirty="0"/>
              <a:t>}}  </a:t>
            </a:r>
          </a:p>
          <a:p>
            <a:r>
              <a:rPr lang="en-IN" dirty="0" smtClean="0"/>
              <a:t>Output – compile time error.</a:t>
            </a:r>
          </a:p>
          <a:p>
            <a:r>
              <a:rPr lang="en-US" dirty="0" smtClean="0"/>
              <a:t>If we remove @Override from above code - </a:t>
            </a:r>
          </a:p>
          <a:p>
            <a:r>
              <a:rPr lang="en-US" dirty="0" smtClean="0"/>
              <a:t>Since </a:t>
            </a:r>
            <a:r>
              <a:rPr lang="en-US" dirty="0"/>
              <a:t>Dog does </a:t>
            </a:r>
            <a:r>
              <a:rPr lang="en-US" b="1" dirty="0"/>
              <a:t>not</a:t>
            </a:r>
            <a:r>
              <a:rPr lang="en-US" dirty="0"/>
              <a:t> override </a:t>
            </a:r>
            <a:r>
              <a:rPr lang="en-US" dirty="0" err="1"/>
              <a:t>eatSomething</a:t>
            </a:r>
            <a:r>
              <a:rPr lang="en-US" dirty="0"/>
              <a:t>() (due to incorrect method name </a:t>
            </a:r>
            <a:r>
              <a:rPr lang="en-US" dirty="0" err="1"/>
              <a:t>eatsomething</a:t>
            </a:r>
            <a:r>
              <a:rPr lang="en-US" dirty="0"/>
              <a:t>()), Java treats it as a </a:t>
            </a:r>
            <a:r>
              <a:rPr lang="en-US" b="1" dirty="0"/>
              <a:t>separate method</a:t>
            </a:r>
            <a:r>
              <a:rPr lang="en-US" dirty="0" smtClean="0"/>
              <a:t>.</a:t>
            </a:r>
          </a:p>
          <a:p>
            <a:r>
              <a:rPr lang="en-US" dirty="0" smtClean="0"/>
              <a:t>When </a:t>
            </a:r>
            <a:r>
              <a:rPr lang="en-US" dirty="0" err="1"/>
              <a:t>a.eatSomething</a:t>
            </a:r>
            <a:r>
              <a:rPr lang="en-US" dirty="0"/>
              <a:t>() is called, it executes the </a:t>
            </a:r>
            <a:r>
              <a:rPr lang="en-US" dirty="0" err="1"/>
              <a:t>eatSomething</a:t>
            </a:r>
            <a:r>
              <a:rPr lang="en-US" dirty="0"/>
              <a:t>() method from Animal, </a:t>
            </a:r>
            <a:r>
              <a:rPr lang="en-US" b="1" dirty="0"/>
              <a:t>not Dog</a:t>
            </a:r>
            <a:r>
              <a:rPr lang="en-US" dirty="0" smtClean="0"/>
              <a:t>.</a:t>
            </a:r>
          </a:p>
          <a:p>
            <a:r>
              <a:rPr lang="en-US" b="1" dirty="0" smtClean="0"/>
              <a:t>No </a:t>
            </a:r>
            <a:r>
              <a:rPr lang="en-US" b="1" dirty="0"/>
              <a:t>compilation error occurs</a:t>
            </a:r>
            <a:r>
              <a:rPr lang="en-US" dirty="0"/>
              <a:t>, but the intended override does not happen.</a:t>
            </a:r>
            <a:endParaRPr lang="en-IN" dirty="0"/>
          </a:p>
        </p:txBody>
      </p:sp>
    </p:spTree>
    <p:extLst>
      <p:ext uri="{BB962C8B-B14F-4D97-AF65-F5344CB8AC3E}">
        <p14:creationId xmlns:p14="http://schemas.microsoft.com/office/powerpoint/2010/main" val="2988119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55000" lnSpcReduction="20000"/>
          </a:bodyPr>
          <a:lstStyle/>
          <a:p>
            <a:r>
              <a:rPr lang="en-US" dirty="0"/>
              <a:t>@</a:t>
            </a:r>
            <a:r>
              <a:rPr lang="en-US" dirty="0" err="1"/>
              <a:t>SuppressWarnings</a:t>
            </a:r>
            <a:endParaRPr lang="en-US" dirty="0"/>
          </a:p>
          <a:p>
            <a:r>
              <a:rPr lang="en-US" dirty="0"/>
              <a:t>The @</a:t>
            </a:r>
            <a:r>
              <a:rPr lang="en-US" dirty="0" err="1"/>
              <a:t>SuppressWarnings</a:t>
            </a:r>
            <a:r>
              <a:rPr lang="en-US" dirty="0"/>
              <a:t> annotation is used to </a:t>
            </a:r>
            <a:r>
              <a:rPr lang="en-US" b="1" dirty="0"/>
              <a:t>instruct the compiler to ignore specific warnings</a:t>
            </a:r>
            <a:r>
              <a:rPr lang="en-US" dirty="0"/>
              <a:t> that it would normally generate</a:t>
            </a:r>
            <a:r>
              <a:rPr lang="en-US" dirty="0" smtClean="0"/>
              <a:t>.</a:t>
            </a:r>
          </a:p>
          <a:p>
            <a:endParaRPr lang="en-US" dirty="0" smtClean="0"/>
          </a:p>
          <a:p>
            <a:pPr marL="0" indent="0">
              <a:buNone/>
            </a:pPr>
            <a:r>
              <a:rPr lang="en-IN" dirty="0"/>
              <a:t>class </a:t>
            </a:r>
            <a:r>
              <a:rPr lang="en-IN" dirty="0" err="1"/>
              <a:t>OldClass</a:t>
            </a:r>
            <a:r>
              <a:rPr lang="en-IN" dirty="0"/>
              <a:t> {</a:t>
            </a:r>
          </a:p>
          <a:p>
            <a:pPr marL="0" indent="0">
              <a:buNone/>
            </a:pPr>
            <a:r>
              <a:rPr lang="en-IN" dirty="0"/>
              <a:t>    @Deprecated</a:t>
            </a:r>
          </a:p>
          <a:p>
            <a:pPr marL="0" indent="0">
              <a:buNone/>
            </a:pPr>
            <a:r>
              <a:rPr lang="en-IN" dirty="0"/>
              <a:t>    void </a:t>
            </a:r>
            <a:r>
              <a:rPr lang="en-IN" dirty="0" err="1"/>
              <a:t>oldMethod</a:t>
            </a:r>
            <a:r>
              <a:rPr lang="en-IN" dirty="0"/>
              <a:t>() {</a:t>
            </a:r>
          </a:p>
          <a:p>
            <a:pPr marL="0" indent="0">
              <a:buNone/>
            </a:pPr>
            <a:r>
              <a:rPr lang="en-IN" dirty="0"/>
              <a:t>        </a:t>
            </a:r>
            <a:r>
              <a:rPr lang="en-IN" dirty="0" err="1"/>
              <a:t>System.out.println</a:t>
            </a:r>
            <a:r>
              <a:rPr lang="en-IN" dirty="0"/>
              <a:t>("This is a deprecated method");</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Test {</a:t>
            </a:r>
          </a:p>
          <a:p>
            <a:pPr marL="0" indent="0">
              <a:buNone/>
            </a:pPr>
            <a:r>
              <a:rPr lang="en-IN" dirty="0"/>
              <a:t>    @</a:t>
            </a:r>
            <a:r>
              <a:rPr lang="en-IN" dirty="0" err="1"/>
              <a:t>SuppressWarnings</a:t>
            </a:r>
            <a:r>
              <a:rPr lang="en-IN" dirty="0"/>
              <a:t>("deprecation") // Suppresses warnings about using deprecated methods</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OldClass</a:t>
            </a:r>
            <a:r>
              <a:rPr lang="en-IN" dirty="0"/>
              <a:t> </a:t>
            </a:r>
            <a:r>
              <a:rPr lang="en-IN" dirty="0" err="1"/>
              <a:t>obj</a:t>
            </a:r>
            <a:r>
              <a:rPr lang="en-IN" dirty="0"/>
              <a:t> = new </a:t>
            </a:r>
            <a:r>
              <a:rPr lang="en-IN" dirty="0" err="1"/>
              <a:t>OldClass</a:t>
            </a:r>
            <a:r>
              <a:rPr lang="en-IN" dirty="0"/>
              <a:t>();</a:t>
            </a:r>
          </a:p>
          <a:p>
            <a:pPr marL="0" indent="0">
              <a:buNone/>
            </a:pPr>
            <a:r>
              <a:rPr lang="en-IN" dirty="0"/>
              <a:t>        </a:t>
            </a:r>
            <a:r>
              <a:rPr lang="en-IN" dirty="0" err="1"/>
              <a:t>obj.oldMethod</a:t>
            </a:r>
            <a:r>
              <a:rPr lang="en-IN" dirty="0"/>
              <a:t>(); // No warning due to suppression</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988119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62500" lnSpcReduction="20000"/>
          </a:bodyPr>
          <a:lstStyle/>
          <a:p>
            <a:r>
              <a:rPr lang="en-US" dirty="0"/>
              <a:t>@Deprecated</a:t>
            </a:r>
          </a:p>
          <a:p>
            <a:r>
              <a:rPr lang="en-US" dirty="0"/>
              <a:t>@Deprecated </a:t>
            </a:r>
            <a:r>
              <a:rPr lang="en-US" dirty="0" err="1"/>
              <a:t>annoation</a:t>
            </a:r>
            <a:r>
              <a:rPr lang="en-US" dirty="0"/>
              <a:t> marks that this method is deprecated so compiler prints warning. It informs user that it may be removed in the future versions. So, it is better not to use such methods.</a:t>
            </a:r>
          </a:p>
          <a:p>
            <a:pPr marL="0" indent="0">
              <a:buNone/>
            </a:pPr>
            <a:r>
              <a:rPr lang="en-US" b="1" dirty="0"/>
              <a:t>class</a:t>
            </a:r>
            <a:r>
              <a:rPr lang="en-US" dirty="0"/>
              <a:t> A{  </a:t>
            </a:r>
          </a:p>
          <a:p>
            <a:pPr marL="0" indent="0">
              <a:buNone/>
            </a:pPr>
            <a:r>
              <a:rPr lang="en-US" b="1" dirty="0"/>
              <a:t>void</a:t>
            </a:r>
            <a:r>
              <a:rPr lang="en-US" dirty="0"/>
              <a:t> m(){</a:t>
            </a:r>
            <a:r>
              <a:rPr lang="en-US" dirty="0" err="1"/>
              <a:t>System.out.println</a:t>
            </a:r>
            <a:r>
              <a:rPr lang="en-US" dirty="0"/>
              <a:t>("hello m");}  </a:t>
            </a:r>
          </a:p>
          <a:p>
            <a:pPr marL="0" indent="0">
              <a:buNone/>
            </a:pPr>
            <a:r>
              <a:rPr lang="en-US" dirty="0"/>
              <a:t>  </a:t>
            </a:r>
          </a:p>
          <a:p>
            <a:pPr marL="0" indent="0">
              <a:buNone/>
            </a:pPr>
            <a:r>
              <a:rPr lang="en-US" dirty="0"/>
              <a:t>@Deprecated  </a:t>
            </a:r>
          </a:p>
          <a:p>
            <a:pPr marL="0" indent="0">
              <a:buNone/>
            </a:pPr>
            <a:r>
              <a:rPr lang="en-US" b="1" dirty="0"/>
              <a:t>void</a:t>
            </a:r>
            <a:r>
              <a:rPr lang="en-US" dirty="0"/>
              <a:t> n(){</a:t>
            </a:r>
            <a:r>
              <a:rPr lang="en-US" dirty="0" err="1"/>
              <a:t>System.out.println</a:t>
            </a:r>
            <a:r>
              <a:rPr lang="en-US" dirty="0"/>
              <a:t>("hello n");}  </a:t>
            </a:r>
          </a:p>
          <a:p>
            <a:pPr marL="0" indent="0">
              <a:buNone/>
            </a:pPr>
            <a:r>
              <a:rPr lang="en-US" dirty="0"/>
              <a:t>}  </a:t>
            </a:r>
          </a:p>
          <a:p>
            <a:pPr marL="0" indent="0">
              <a:buNone/>
            </a:pPr>
            <a:r>
              <a:rPr lang="en-US" dirty="0"/>
              <a:t>  </a:t>
            </a:r>
          </a:p>
          <a:p>
            <a:pPr marL="0" indent="0">
              <a:buNone/>
            </a:pPr>
            <a:r>
              <a:rPr lang="en-US" b="1" dirty="0"/>
              <a:t>class</a:t>
            </a:r>
            <a:r>
              <a:rPr lang="en-US" dirty="0"/>
              <a:t> TestAnnotation3{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a:t>
            </a:r>
          </a:p>
          <a:p>
            <a:pPr marL="0" indent="0">
              <a:buNone/>
            </a:pPr>
            <a:r>
              <a:rPr lang="en-US" dirty="0"/>
              <a:t>A a=</a:t>
            </a:r>
            <a:r>
              <a:rPr lang="en-US" b="1" dirty="0"/>
              <a:t>new</a:t>
            </a:r>
            <a:r>
              <a:rPr lang="en-US" dirty="0"/>
              <a:t> A();  </a:t>
            </a:r>
          </a:p>
          <a:p>
            <a:pPr marL="0" indent="0">
              <a:buNone/>
            </a:pPr>
            <a:r>
              <a:rPr lang="en-US" dirty="0" err="1"/>
              <a:t>a.n</a:t>
            </a:r>
            <a:r>
              <a:rPr lang="en-US" dirty="0"/>
              <a:t>();  </a:t>
            </a:r>
          </a:p>
          <a:p>
            <a:pPr marL="0" indent="0">
              <a:buNone/>
            </a:pPr>
            <a:r>
              <a:rPr lang="en-US" dirty="0"/>
              <a:t>}}  </a:t>
            </a:r>
          </a:p>
          <a:p>
            <a:endParaRPr lang="en-IN" dirty="0"/>
          </a:p>
        </p:txBody>
      </p:sp>
    </p:spTree>
    <p:extLst>
      <p:ext uri="{BB962C8B-B14F-4D97-AF65-F5344CB8AC3E}">
        <p14:creationId xmlns:p14="http://schemas.microsoft.com/office/powerpoint/2010/main" val="2988119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77500" lnSpcReduction="20000"/>
          </a:bodyPr>
          <a:lstStyle/>
          <a:p>
            <a:r>
              <a:rPr lang="en-US" b="1" dirty="0"/>
              <a:t>Java Custom </a:t>
            </a:r>
            <a:r>
              <a:rPr lang="en-US" b="1" dirty="0" smtClean="0"/>
              <a:t>annotations - </a:t>
            </a:r>
          </a:p>
          <a:p>
            <a:r>
              <a:rPr lang="en-US" b="1" dirty="0" smtClean="0"/>
              <a:t>Java </a:t>
            </a:r>
            <a:r>
              <a:rPr lang="en-US" b="1" dirty="0"/>
              <a:t>Custom annotations</a:t>
            </a:r>
            <a:r>
              <a:rPr lang="en-US" dirty="0"/>
              <a:t> or Java User-defined annotations are easy to create and use. The </a:t>
            </a:r>
            <a:r>
              <a:rPr lang="en-US" i="1" dirty="0"/>
              <a:t>@interface</a:t>
            </a:r>
            <a:r>
              <a:rPr lang="en-US" dirty="0"/>
              <a:t> element is used to declare an annotation. For example:</a:t>
            </a:r>
          </a:p>
          <a:p>
            <a:r>
              <a:rPr lang="en-US" b="1" dirty="0"/>
              <a:t>@interface</a:t>
            </a:r>
            <a:r>
              <a:rPr lang="en-US" dirty="0"/>
              <a:t> </a:t>
            </a:r>
            <a:r>
              <a:rPr lang="en-US" dirty="0" err="1"/>
              <a:t>MyAnnotation</a:t>
            </a:r>
            <a:r>
              <a:rPr lang="en-US" dirty="0"/>
              <a:t>{}  </a:t>
            </a:r>
          </a:p>
          <a:p>
            <a:r>
              <a:rPr lang="en-US" dirty="0"/>
              <a:t>Here, </a:t>
            </a:r>
            <a:r>
              <a:rPr lang="en-US" dirty="0" err="1"/>
              <a:t>MyAnnotation</a:t>
            </a:r>
            <a:r>
              <a:rPr lang="en-US" dirty="0"/>
              <a:t> is the custom annotation name</a:t>
            </a:r>
            <a:r>
              <a:rPr lang="en-US" dirty="0" smtClean="0"/>
              <a:t>.</a:t>
            </a:r>
          </a:p>
          <a:p>
            <a:endParaRPr lang="en-US" b="1" dirty="0" smtClean="0"/>
          </a:p>
          <a:p>
            <a:endParaRPr lang="en-US" b="1" dirty="0"/>
          </a:p>
          <a:p>
            <a:r>
              <a:rPr lang="en-US" b="1" dirty="0" smtClean="0"/>
              <a:t>Types </a:t>
            </a:r>
            <a:r>
              <a:rPr lang="en-US" b="1" dirty="0"/>
              <a:t>of </a:t>
            </a:r>
            <a:r>
              <a:rPr lang="en-US" b="1" dirty="0" smtClean="0"/>
              <a:t>Annotation - </a:t>
            </a:r>
            <a:endParaRPr lang="en-US" b="1" dirty="0"/>
          </a:p>
          <a:p>
            <a:r>
              <a:rPr lang="en-US" dirty="0"/>
              <a:t>There are three types of annotations.</a:t>
            </a:r>
          </a:p>
          <a:p>
            <a:r>
              <a:rPr lang="en-US" dirty="0"/>
              <a:t>Marker Annotation</a:t>
            </a:r>
          </a:p>
          <a:p>
            <a:r>
              <a:rPr lang="en-US" dirty="0"/>
              <a:t>Single-Value Annotation</a:t>
            </a:r>
          </a:p>
          <a:p>
            <a:r>
              <a:rPr lang="en-US" dirty="0"/>
              <a:t>Multi-Value Annotation</a:t>
            </a:r>
          </a:p>
          <a:p>
            <a:endParaRPr lang="en-US" dirty="0"/>
          </a:p>
          <a:p>
            <a:endParaRPr lang="en-IN" dirty="0"/>
          </a:p>
        </p:txBody>
      </p:sp>
    </p:spTree>
    <p:extLst>
      <p:ext uri="{BB962C8B-B14F-4D97-AF65-F5344CB8AC3E}">
        <p14:creationId xmlns:p14="http://schemas.microsoft.com/office/powerpoint/2010/main" val="2988119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55000" lnSpcReduction="20000"/>
          </a:bodyPr>
          <a:lstStyle/>
          <a:p>
            <a:r>
              <a:rPr lang="en-US" dirty="0"/>
              <a:t>1) Marker Annotation</a:t>
            </a:r>
          </a:p>
          <a:p>
            <a:r>
              <a:rPr lang="en-US" dirty="0"/>
              <a:t>An annotation that has no method, is called marker annotation. For example:</a:t>
            </a:r>
          </a:p>
          <a:p>
            <a:r>
              <a:rPr lang="en-US" b="1" dirty="0"/>
              <a:t>@interface</a:t>
            </a:r>
            <a:r>
              <a:rPr lang="en-US" dirty="0"/>
              <a:t> </a:t>
            </a:r>
            <a:r>
              <a:rPr lang="en-US" dirty="0" err="1"/>
              <a:t>MyAnnotation</a:t>
            </a:r>
            <a:r>
              <a:rPr lang="en-US" dirty="0"/>
              <a:t>{}  </a:t>
            </a:r>
          </a:p>
          <a:p>
            <a:r>
              <a:rPr lang="en-US" dirty="0"/>
              <a:t>The @Override and @Deprecated are marker annotations.</a:t>
            </a:r>
          </a:p>
          <a:p>
            <a:endParaRPr lang="en-US" dirty="0" smtClean="0"/>
          </a:p>
          <a:p>
            <a:pPr marL="0" indent="0">
              <a:buNone/>
            </a:pPr>
            <a:r>
              <a:rPr lang="en-US" dirty="0"/>
              <a:t> </a:t>
            </a:r>
            <a:r>
              <a:rPr lang="en-US" dirty="0" smtClean="0"/>
              <a:t>      2</a:t>
            </a:r>
            <a:r>
              <a:rPr lang="en-US" dirty="0"/>
              <a:t>) Single-Value Annotation</a:t>
            </a:r>
          </a:p>
          <a:p>
            <a:r>
              <a:rPr lang="en-US" dirty="0"/>
              <a:t>An annotation that has one method, is called single-value annotation. For example:</a:t>
            </a:r>
          </a:p>
          <a:p>
            <a:r>
              <a:rPr lang="en-US" b="1" dirty="0"/>
              <a:t>@interface</a:t>
            </a:r>
            <a:r>
              <a:rPr lang="en-US" dirty="0"/>
              <a:t> </a:t>
            </a:r>
            <a:r>
              <a:rPr lang="en-US" dirty="0" err="1"/>
              <a:t>MyAnnotation</a:t>
            </a:r>
            <a:r>
              <a:rPr lang="en-US" dirty="0"/>
              <a:t>{  </a:t>
            </a:r>
          </a:p>
          <a:p>
            <a:r>
              <a:rPr lang="en-US" b="1" dirty="0" err="1"/>
              <a:t>int</a:t>
            </a:r>
            <a:r>
              <a:rPr lang="en-US" dirty="0"/>
              <a:t> value();  </a:t>
            </a:r>
          </a:p>
          <a:p>
            <a:r>
              <a:rPr lang="en-US" dirty="0"/>
              <a:t>}  </a:t>
            </a:r>
          </a:p>
          <a:p>
            <a:r>
              <a:rPr lang="en-US" dirty="0"/>
              <a:t>We can provide the default value also. For example:</a:t>
            </a:r>
          </a:p>
          <a:p>
            <a:r>
              <a:rPr lang="en-US" b="1" dirty="0"/>
              <a:t>@interface</a:t>
            </a:r>
            <a:r>
              <a:rPr lang="en-US" dirty="0"/>
              <a:t> </a:t>
            </a:r>
            <a:r>
              <a:rPr lang="en-US" dirty="0" err="1"/>
              <a:t>MyAnnotation</a:t>
            </a:r>
            <a:r>
              <a:rPr lang="en-US" dirty="0"/>
              <a:t>{  </a:t>
            </a:r>
          </a:p>
          <a:p>
            <a:r>
              <a:rPr lang="en-US" b="1" dirty="0" err="1"/>
              <a:t>int</a:t>
            </a:r>
            <a:r>
              <a:rPr lang="en-US" dirty="0"/>
              <a:t> value() </a:t>
            </a:r>
            <a:r>
              <a:rPr lang="en-US" b="1" dirty="0"/>
              <a:t>default</a:t>
            </a:r>
            <a:r>
              <a:rPr lang="en-US" dirty="0"/>
              <a:t> 0;  </a:t>
            </a:r>
          </a:p>
          <a:p>
            <a:r>
              <a:rPr lang="en-US" dirty="0"/>
              <a:t>}  </a:t>
            </a:r>
          </a:p>
          <a:p>
            <a:r>
              <a:rPr lang="en-US" dirty="0"/>
              <a:t>How to apply Single-Value Annotation</a:t>
            </a:r>
          </a:p>
          <a:p>
            <a:r>
              <a:rPr lang="en-US" dirty="0"/>
              <a:t>Let's see the code to apply the single value annotation.</a:t>
            </a:r>
          </a:p>
          <a:p>
            <a:r>
              <a:rPr lang="en-US" dirty="0"/>
              <a:t>@</a:t>
            </a:r>
            <a:r>
              <a:rPr lang="en-US" dirty="0" err="1"/>
              <a:t>MyAnnotation</a:t>
            </a:r>
            <a:r>
              <a:rPr lang="en-US" dirty="0"/>
              <a:t>(value=10)  </a:t>
            </a:r>
          </a:p>
          <a:p>
            <a:r>
              <a:rPr lang="en-US" dirty="0"/>
              <a:t>The value can be anything.</a:t>
            </a:r>
          </a:p>
          <a:p>
            <a:endParaRPr lang="en-IN" dirty="0"/>
          </a:p>
        </p:txBody>
      </p:sp>
    </p:spTree>
    <p:extLst>
      <p:ext uri="{BB962C8B-B14F-4D97-AF65-F5344CB8AC3E}">
        <p14:creationId xmlns:p14="http://schemas.microsoft.com/office/powerpoint/2010/main" val="2988119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62500" lnSpcReduction="20000"/>
          </a:bodyPr>
          <a:lstStyle/>
          <a:p>
            <a:r>
              <a:rPr lang="en-US" dirty="0"/>
              <a:t>3) Multi-Value Annotation</a:t>
            </a:r>
          </a:p>
          <a:p>
            <a:r>
              <a:rPr lang="en-US" dirty="0"/>
              <a:t>An annotation that has more than one method, is called Multi-Value annotation. For example:</a:t>
            </a:r>
          </a:p>
          <a:p>
            <a:r>
              <a:rPr lang="en-US" b="1" dirty="0"/>
              <a:t>@interface</a:t>
            </a:r>
            <a:r>
              <a:rPr lang="en-US" dirty="0"/>
              <a:t> </a:t>
            </a:r>
            <a:r>
              <a:rPr lang="en-US" dirty="0" err="1"/>
              <a:t>MyAnnotation</a:t>
            </a:r>
            <a:r>
              <a:rPr lang="en-US" dirty="0"/>
              <a:t>{  </a:t>
            </a:r>
          </a:p>
          <a:p>
            <a:r>
              <a:rPr lang="en-US" b="1" dirty="0" err="1"/>
              <a:t>int</a:t>
            </a:r>
            <a:r>
              <a:rPr lang="en-US" dirty="0"/>
              <a:t> value1();  </a:t>
            </a:r>
          </a:p>
          <a:p>
            <a:r>
              <a:rPr lang="en-US" dirty="0"/>
              <a:t>String value2();  </a:t>
            </a:r>
          </a:p>
          <a:p>
            <a:r>
              <a:rPr lang="en-US" dirty="0"/>
              <a:t>String value3();  </a:t>
            </a:r>
          </a:p>
          <a:p>
            <a:r>
              <a:rPr lang="en-US" dirty="0"/>
              <a:t>}  </a:t>
            </a:r>
          </a:p>
          <a:p>
            <a:r>
              <a:rPr lang="en-US" dirty="0"/>
              <a:t>}  </a:t>
            </a:r>
          </a:p>
          <a:p>
            <a:r>
              <a:rPr lang="en-US" dirty="0"/>
              <a:t>We can provide the default value also. For example:</a:t>
            </a:r>
          </a:p>
          <a:p>
            <a:r>
              <a:rPr lang="en-US" b="1" dirty="0"/>
              <a:t>@interface</a:t>
            </a:r>
            <a:r>
              <a:rPr lang="en-US" dirty="0"/>
              <a:t> </a:t>
            </a:r>
            <a:r>
              <a:rPr lang="en-US" dirty="0" err="1"/>
              <a:t>MyAnnotation</a:t>
            </a:r>
            <a:r>
              <a:rPr lang="en-US" dirty="0"/>
              <a:t>{  </a:t>
            </a:r>
          </a:p>
          <a:p>
            <a:r>
              <a:rPr lang="en-US" b="1" dirty="0" err="1"/>
              <a:t>int</a:t>
            </a:r>
            <a:r>
              <a:rPr lang="en-US" dirty="0"/>
              <a:t> value1() </a:t>
            </a:r>
            <a:r>
              <a:rPr lang="en-US" b="1" dirty="0"/>
              <a:t>default</a:t>
            </a:r>
            <a:r>
              <a:rPr lang="en-US" dirty="0"/>
              <a:t> 1;  </a:t>
            </a:r>
          </a:p>
          <a:p>
            <a:r>
              <a:rPr lang="en-US" dirty="0"/>
              <a:t>String value2() </a:t>
            </a:r>
            <a:r>
              <a:rPr lang="en-US" b="1" dirty="0"/>
              <a:t>default</a:t>
            </a:r>
            <a:r>
              <a:rPr lang="en-US" dirty="0"/>
              <a:t> "";  </a:t>
            </a:r>
          </a:p>
          <a:p>
            <a:r>
              <a:rPr lang="en-US" dirty="0"/>
              <a:t>String value3() </a:t>
            </a:r>
            <a:r>
              <a:rPr lang="en-US" b="1" dirty="0"/>
              <a:t>default</a:t>
            </a:r>
            <a:r>
              <a:rPr lang="en-US" dirty="0"/>
              <a:t> "xyz";  </a:t>
            </a:r>
          </a:p>
          <a:p>
            <a:r>
              <a:rPr lang="en-US" dirty="0"/>
              <a:t>}  </a:t>
            </a:r>
          </a:p>
          <a:p>
            <a:r>
              <a:rPr lang="en-US" dirty="0"/>
              <a:t>How to apply Multi-Value Annotation</a:t>
            </a:r>
          </a:p>
          <a:p>
            <a:r>
              <a:rPr lang="en-US" dirty="0"/>
              <a:t>Let's see the code to apply the multi-value annotation.</a:t>
            </a:r>
          </a:p>
          <a:p>
            <a:r>
              <a:rPr lang="en-US" dirty="0"/>
              <a:t>@</a:t>
            </a:r>
            <a:r>
              <a:rPr lang="en-US" dirty="0" err="1"/>
              <a:t>MyAnnotation</a:t>
            </a:r>
            <a:r>
              <a:rPr lang="en-US" dirty="0"/>
              <a:t>(value1=10,value2="</a:t>
            </a:r>
            <a:r>
              <a:rPr lang="en-US" dirty="0" err="1"/>
              <a:t>Arun</a:t>
            </a:r>
            <a:r>
              <a:rPr lang="en-US" dirty="0"/>
              <a:t> Kumar",value3="Ghaziabad")</a:t>
            </a:r>
          </a:p>
          <a:p>
            <a:endParaRPr lang="en-IN" dirty="0"/>
          </a:p>
        </p:txBody>
      </p:sp>
    </p:spTree>
    <p:extLst>
      <p:ext uri="{BB962C8B-B14F-4D97-AF65-F5344CB8AC3E}">
        <p14:creationId xmlns:p14="http://schemas.microsoft.com/office/powerpoint/2010/main" val="2988119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r>
              <a:rPr lang="en-US" b="1" dirty="0"/>
              <a:t>Retention Policy of </a:t>
            </a:r>
            <a:r>
              <a:rPr lang="en-US" b="1" dirty="0" smtClean="0"/>
              <a:t>Annotations - </a:t>
            </a:r>
            <a:endParaRPr lang="en-US" b="1" dirty="0"/>
          </a:p>
          <a:p>
            <a:r>
              <a:rPr lang="en-US" dirty="0"/>
              <a:t>Annotations have a </a:t>
            </a:r>
            <a:r>
              <a:rPr lang="en-US" b="1" dirty="0"/>
              <a:t>retention policy</a:t>
            </a:r>
            <a:r>
              <a:rPr lang="en-US" dirty="0"/>
              <a:t>, which decides </a:t>
            </a:r>
            <a:r>
              <a:rPr lang="en-US" b="1" dirty="0"/>
              <a:t>where the annotation is retained</a:t>
            </a:r>
            <a:r>
              <a:rPr lang="en-US" dirty="0"/>
              <a:t>.</a:t>
            </a:r>
          </a:p>
          <a:p>
            <a:r>
              <a:rPr lang="en-US" b="1" dirty="0"/>
              <a:t>Retention Types:</a:t>
            </a:r>
          </a:p>
          <a:p>
            <a:r>
              <a:rPr lang="en-US" b="1" dirty="0"/>
              <a:t>SOURCE</a:t>
            </a:r>
            <a:r>
              <a:rPr lang="en-US" dirty="0"/>
              <a:t> → Discarded during compilation (e.g., @Override).</a:t>
            </a:r>
          </a:p>
          <a:p>
            <a:r>
              <a:rPr lang="en-US" b="1" dirty="0"/>
              <a:t>CLASS</a:t>
            </a:r>
            <a:r>
              <a:rPr lang="en-US" dirty="0"/>
              <a:t> → Present in class file but not available at runtime.</a:t>
            </a:r>
          </a:p>
          <a:p>
            <a:r>
              <a:rPr lang="en-US" b="1" dirty="0"/>
              <a:t>RUNTIME</a:t>
            </a:r>
            <a:r>
              <a:rPr lang="en-US" dirty="0"/>
              <a:t> → Available at runtime (used in reflection).</a:t>
            </a:r>
          </a:p>
          <a:p>
            <a:endParaRPr lang="en-IN" dirty="0"/>
          </a:p>
        </p:txBody>
      </p:sp>
    </p:spTree>
    <p:extLst>
      <p:ext uri="{BB962C8B-B14F-4D97-AF65-F5344CB8AC3E}">
        <p14:creationId xmlns:p14="http://schemas.microsoft.com/office/powerpoint/2010/main" val="2988119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r>
              <a:rPr lang="en-IN" dirty="0" smtClean="0"/>
              <a:t>Example – </a:t>
            </a:r>
          </a:p>
          <a:p>
            <a:pPr marL="0" indent="0">
              <a:buNone/>
            </a:pPr>
            <a:r>
              <a:rPr lang="en-US" dirty="0"/>
              <a:t>import </a:t>
            </a:r>
            <a:r>
              <a:rPr lang="en-US" dirty="0" err="1"/>
              <a:t>java.lang.annotation</a:t>
            </a:r>
            <a:r>
              <a:rPr lang="en-US" dirty="0"/>
              <a:t>.*;</a:t>
            </a:r>
          </a:p>
          <a:p>
            <a:pPr marL="0" indent="0">
              <a:buNone/>
            </a:pPr>
            <a:endParaRPr lang="en-US" dirty="0"/>
          </a:p>
          <a:p>
            <a:pPr marL="0" indent="0">
              <a:buNone/>
            </a:pPr>
            <a:r>
              <a:rPr lang="en-US" dirty="0"/>
              <a:t>@Retention(</a:t>
            </a:r>
            <a:r>
              <a:rPr lang="en-US" dirty="0" err="1"/>
              <a:t>RetentionPolicy.RUNTIME</a:t>
            </a:r>
            <a:r>
              <a:rPr lang="en-US" dirty="0"/>
              <a:t>) // Annotation available at runtime</a:t>
            </a:r>
          </a:p>
          <a:p>
            <a:pPr marL="0" indent="0">
              <a:buNone/>
            </a:pPr>
            <a:r>
              <a:rPr lang="en-US" dirty="0"/>
              <a:t>@interface </a:t>
            </a:r>
            <a:r>
              <a:rPr lang="en-US" dirty="0" err="1"/>
              <a:t>MyAnnotation</a:t>
            </a:r>
            <a:r>
              <a:rPr lang="en-US" dirty="0"/>
              <a:t> {</a:t>
            </a:r>
          </a:p>
          <a:p>
            <a:pPr marL="0" indent="0">
              <a:buNone/>
            </a:pPr>
            <a:r>
              <a:rPr lang="en-US" dirty="0"/>
              <a:t>    String name();</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2988119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7500" lnSpcReduction="20000"/>
          </a:bodyPr>
          <a:lstStyle/>
          <a:p>
            <a:pPr marL="0" indent="0">
              <a:buNone/>
            </a:pPr>
            <a:r>
              <a:rPr lang="en-IN" dirty="0"/>
              <a:t>import </a:t>
            </a:r>
            <a:r>
              <a:rPr lang="en-IN" dirty="0" err="1"/>
              <a:t>java.lang.annotation</a:t>
            </a:r>
            <a:r>
              <a:rPr lang="en-IN" dirty="0"/>
              <a:t>.*;</a:t>
            </a:r>
          </a:p>
          <a:p>
            <a:pPr marL="0" indent="0">
              <a:buNone/>
            </a:pPr>
            <a:r>
              <a:rPr lang="en-IN" dirty="0"/>
              <a:t>import </a:t>
            </a:r>
            <a:r>
              <a:rPr lang="en-IN" dirty="0" err="1"/>
              <a:t>java.lang.reflect</a:t>
            </a:r>
            <a:r>
              <a:rPr lang="en-IN" dirty="0"/>
              <a:t>.*;</a:t>
            </a:r>
          </a:p>
          <a:p>
            <a:pPr marL="0" indent="0">
              <a:buNone/>
            </a:pPr>
            <a:endParaRPr lang="en-IN" dirty="0"/>
          </a:p>
          <a:p>
            <a:pPr marL="0" indent="0">
              <a:buNone/>
            </a:pPr>
            <a:r>
              <a:rPr lang="en-IN" dirty="0"/>
              <a:t>@Retention(</a:t>
            </a:r>
            <a:r>
              <a:rPr lang="en-IN" dirty="0" err="1"/>
              <a:t>RetentionPolicy.RUNTIME</a:t>
            </a:r>
            <a:r>
              <a:rPr lang="en-IN" dirty="0"/>
              <a:t>)</a:t>
            </a:r>
          </a:p>
          <a:p>
            <a:pPr marL="0" indent="0">
              <a:buNone/>
            </a:pPr>
            <a:r>
              <a:rPr lang="en-IN" dirty="0"/>
              <a:t>@interface </a:t>
            </a:r>
            <a:r>
              <a:rPr lang="en-IN" dirty="0" err="1"/>
              <a:t>MyAnnotation</a:t>
            </a:r>
            <a:r>
              <a:rPr lang="en-IN" dirty="0"/>
              <a:t> {</a:t>
            </a:r>
          </a:p>
          <a:p>
            <a:pPr marL="0" indent="0">
              <a:buNone/>
            </a:pPr>
            <a:r>
              <a:rPr lang="en-IN" dirty="0"/>
              <a:t>    String name();</a:t>
            </a:r>
          </a:p>
          <a:p>
            <a:pPr marL="0" indent="0">
              <a:buNone/>
            </a:pPr>
            <a:r>
              <a:rPr lang="en-IN" dirty="0"/>
              <a:t>}</a:t>
            </a:r>
          </a:p>
          <a:p>
            <a:pPr marL="0" indent="0">
              <a:buNone/>
            </a:pPr>
            <a:endParaRPr lang="en-IN" dirty="0"/>
          </a:p>
          <a:p>
            <a:pPr marL="0" indent="0">
              <a:buNone/>
            </a:pPr>
            <a:r>
              <a:rPr lang="en-IN" dirty="0"/>
              <a:t>@</a:t>
            </a:r>
            <a:r>
              <a:rPr lang="en-IN" dirty="0" err="1"/>
              <a:t>MyAnnotation</a:t>
            </a:r>
            <a:r>
              <a:rPr lang="en-IN" dirty="0"/>
              <a:t>(name = "Test Class")</a:t>
            </a:r>
          </a:p>
          <a:p>
            <a:pPr marL="0" indent="0">
              <a:buNone/>
            </a:pPr>
            <a:r>
              <a:rPr lang="en-IN" dirty="0"/>
              <a:t>class Test {</a:t>
            </a:r>
          </a:p>
          <a:p>
            <a:pPr marL="0" indent="0">
              <a:buNone/>
            </a:pPr>
            <a:r>
              <a:rPr lang="en-IN" dirty="0"/>
              <a:t>    public static void main(String[] </a:t>
            </a:r>
            <a:r>
              <a:rPr lang="en-IN" dirty="0" err="1"/>
              <a:t>args</a:t>
            </a:r>
            <a:r>
              <a:rPr lang="en-IN" dirty="0"/>
              <a:t>) {</a:t>
            </a:r>
          </a:p>
          <a:p>
            <a:pPr marL="0" indent="0">
              <a:buNone/>
            </a:pPr>
            <a:r>
              <a:rPr lang="en-IN" dirty="0"/>
              <a:t>        Class&lt;Test&gt; </a:t>
            </a:r>
            <a:r>
              <a:rPr lang="en-IN" dirty="0" err="1"/>
              <a:t>obj</a:t>
            </a:r>
            <a:r>
              <a:rPr lang="en-IN" dirty="0"/>
              <a:t> = </a:t>
            </a:r>
            <a:r>
              <a:rPr lang="en-IN" dirty="0" err="1"/>
              <a:t>Test.class</a:t>
            </a:r>
            <a:r>
              <a:rPr lang="en-IN" dirty="0"/>
              <a:t>;</a:t>
            </a:r>
          </a:p>
          <a:p>
            <a:pPr marL="0" indent="0">
              <a:buNone/>
            </a:pPr>
            <a:r>
              <a:rPr lang="en-IN" dirty="0"/>
              <a:t>        </a:t>
            </a:r>
          </a:p>
          <a:p>
            <a:pPr marL="0" indent="0">
              <a:buNone/>
            </a:pPr>
            <a:r>
              <a:rPr lang="en-IN" dirty="0"/>
              <a:t>        // Checking if annotation is present</a:t>
            </a:r>
          </a:p>
          <a:p>
            <a:pPr marL="0" indent="0">
              <a:buNone/>
            </a:pPr>
            <a:r>
              <a:rPr lang="en-IN" dirty="0"/>
              <a:t>        if (</a:t>
            </a:r>
            <a:r>
              <a:rPr lang="en-IN" dirty="0" err="1"/>
              <a:t>obj.isAnnotationPresent</a:t>
            </a:r>
            <a:r>
              <a:rPr lang="en-IN" dirty="0"/>
              <a:t>(</a:t>
            </a:r>
            <a:r>
              <a:rPr lang="en-IN" dirty="0" err="1"/>
              <a:t>MyAnnotation.class</a:t>
            </a:r>
            <a:r>
              <a:rPr lang="en-IN" dirty="0"/>
              <a:t>)) {</a:t>
            </a:r>
          </a:p>
          <a:p>
            <a:pPr marL="0" indent="0">
              <a:buNone/>
            </a:pPr>
            <a:r>
              <a:rPr lang="en-IN" dirty="0"/>
              <a:t>            </a:t>
            </a:r>
            <a:r>
              <a:rPr lang="en-IN" dirty="0" err="1"/>
              <a:t>MyAnnotation</a:t>
            </a:r>
            <a:r>
              <a:rPr lang="en-IN" dirty="0"/>
              <a:t> annotation = </a:t>
            </a:r>
            <a:r>
              <a:rPr lang="en-IN" dirty="0" err="1"/>
              <a:t>obj.getAnnotation</a:t>
            </a:r>
            <a:r>
              <a:rPr lang="en-IN" dirty="0"/>
              <a:t>(</a:t>
            </a:r>
            <a:r>
              <a:rPr lang="en-IN" dirty="0" err="1"/>
              <a:t>MyAnnotation.class</a:t>
            </a:r>
            <a:r>
              <a:rPr lang="en-IN" dirty="0"/>
              <a:t>);</a:t>
            </a:r>
          </a:p>
          <a:p>
            <a:pPr marL="0" indent="0">
              <a:buNone/>
            </a:pPr>
            <a:r>
              <a:rPr lang="en-IN" dirty="0"/>
              <a:t>            </a:t>
            </a:r>
            <a:r>
              <a:rPr lang="en-IN" dirty="0" err="1"/>
              <a:t>System.out.println</a:t>
            </a:r>
            <a:r>
              <a:rPr lang="en-IN" dirty="0"/>
              <a:t>("Annotation Value: " + annotation.name());</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988119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r>
              <a:rPr lang="en-US" b="1" dirty="0"/>
              <a:t>@Target Annotation in Java</a:t>
            </a:r>
          </a:p>
          <a:p>
            <a:r>
              <a:rPr lang="en-US" dirty="0"/>
              <a:t>The @Target annotation in Java </a:t>
            </a:r>
            <a:r>
              <a:rPr lang="en-US" b="1" dirty="0"/>
              <a:t>restricts</a:t>
            </a:r>
            <a:r>
              <a:rPr lang="en-US" dirty="0"/>
              <a:t> where an annotation can be applied.</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814" y="2362200"/>
            <a:ext cx="7086600" cy="370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8119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62500" lnSpcReduction="20000"/>
          </a:bodyPr>
          <a:lstStyle/>
          <a:p>
            <a:r>
              <a:rPr lang="en-US" b="1" dirty="0"/>
              <a:t>Restricting an Annotation to </a:t>
            </a:r>
            <a:r>
              <a:rPr lang="en-US" b="1" dirty="0" smtClean="0"/>
              <a:t>Methods – </a:t>
            </a:r>
          </a:p>
          <a:p>
            <a:pPr marL="0" indent="0">
              <a:buNone/>
            </a:pPr>
            <a:r>
              <a:rPr lang="en-IN" dirty="0"/>
              <a:t>import </a:t>
            </a:r>
            <a:r>
              <a:rPr lang="en-IN" dirty="0" err="1"/>
              <a:t>java.lang.annotation.ElementType</a:t>
            </a:r>
            <a:r>
              <a:rPr lang="en-IN" dirty="0"/>
              <a:t>;</a:t>
            </a:r>
          </a:p>
          <a:p>
            <a:pPr marL="0" indent="0">
              <a:buNone/>
            </a:pPr>
            <a:r>
              <a:rPr lang="en-IN" dirty="0"/>
              <a:t>import </a:t>
            </a:r>
            <a:r>
              <a:rPr lang="en-IN" dirty="0" err="1"/>
              <a:t>java.lang.annotation.Target</a:t>
            </a:r>
            <a:r>
              <a:rPr lang="en-IN" dirty="0"/>
              <a:t>;</a:t>
            </a:r>
          </a:p>
          <a:p>
            <a:pPr marL="0" indent="0">
              <a:buNone/>
            </a:pPr>
            <a:endParaRPr lang="en-IN" dirty="0"/>
          </a:p>
          <a:p>
            <a:pPr marL="0" indent="0">
              <a:buNone/>
            </a:pPr>
            <a:r>
              <a:rPr lang="en-IN" dirty="0"/>
              <a:t>// Custom annotation that can only be applied to methods</a:t>
            </a:r>
          </a:p>
          <a:p>
            <a:pPr marL="0" indent="0">
              <a:buNone/>
            </a:pPr>
            <a:r>
              <a:rPr lang="en-IN" dirty="0"/>
              <a:t>@Target(</a:t>
            </a:r>
            <a:r>
              <a:rPr lang="en-IN" dirty="0" err="1"/>
              <a:t>ElementType.METHOD</a:t>
            </a:r>
            <a:r>
              <a:rPr lang="en-IN" dirty="0"/>
              <a:t>)</a:t>
            </a:r>
          </a:p>
          <a:p>
            <a:pPr marL="0" indent="0">
              <a:buNone/>
            </a:pPr>
            <a:r>
              <a:rPr lang="en-IN" dirty="0"/>
              <a:t>@interface </a:t>
            </a:r>
            <a:r>
              <a:rPr lang="en-IN" dirty="0" err="1"/>
              <a:t>MyMethodAnnotation</a:t>
            </a:r>
            <a:r>
              <a:rPr lang="en-IN" dirty="0"/>
              <a:t> {</a:t>
            </a:r>
          </a:p>
          <a:p>
            <a:pPr marL="0" indent="0">
              <a:buNone/>
            </a:pPr>
            <a:r>
              <a:rPr lang="en-IN" dirty="0"/>
              <a:t>}</a:t>
            </a:r>
          </a:p>
          <a:p>
            <a:pPr marL="0" indent="0">
              <a:buNone/>
            </a:pPr>
            <a:endParaRPr lang="en-IN" dirty="0"/>
          </a:p>
          <a:p>
            <a:pPr marL="0" indent="0">
              <a:buNone/>
            </a:pPr>
            <a:r>
              <a:rPr lang="en-IN" dirty="0"/>
              <a:t>class Example {</a:t>
            </a:r>
          </a:p>
          <a:p>
            <a:pPr marL="0" indent="0">
              <a:buNone/>
            </a:pPr>
            <a:r>
              <a:rPr lang="en-IN" dirty="0"/>
              <a:t>    @</a:t>
            </a:r>
            <a:r>
              <a:rPr lang="en-IN" dirty="0" err="1"/>
              <a:t>MyMethodAnnotation</a:t>
            </a:r>
            <a:endParaRPr lang="en-IN" dirty="0"/>
          </a:p>
          <a:p>
            <a:pPr marL="0" indent="0">
              <a:buNone/>
            </a:pPr>
            <a:r>
              <a:rPr lang="en-IN" dirty="0"/>
              <a:t>    public void display() {</a:t>
            </a:r>
          </a:p>
          <a:p>
            <a:pPr marL="0" indent="0">
              <a:buNone/>
            </a:pPr>
            <a:r>
              <a:rPr lang="en-IN" dirty="0"/>
              <a:t>        </a:t>
            </a:r>
            <a:r>
              <a:rPr lang="en-IN" dirty="0" err="1"/>
              <a:t>System.out.println</a:t>
            </a:r>
            <a:r>
              <a:rPr lang="en-IN" dirty="0"/>
              <a:t>("Method with custom annotation");</a:t>
            </a:r>
          </a:p>
          <a:p>
            <a:pPr marL="0" indent="0">
              <a:buNone/>
            </a:pPr>
            <a:r>
              <a:rPr lang="en-IN" dirty="0"/>
              <a:t>    }</a:t>
            </a:r>
          </a:p>
          <a:p>
            <a:pPr marL="0" indent="0">
              <a:buNone/>
            </a:pPr>
            <a:r>
              <a:rPr lang="en-IN" dirty="0" smtClean="0"/>
              <a:t>}</a:t>
            </a:r>
          </a:p>
          <a:p>
            <a:r>
              <a:rPr lang="en-US" dirty="0"/>
              <a:t>If you try applying @</a:t>
            </a:r>
            <a:r>
              <a:rPr lang="en-US" dirty="0" err="1"/>
              <a:t>MyMethodAnnotation</a:t>
            </a:r>
            <a:r>
              <a:rPr lang="en-US" dirty="0"/>
              <a:t> to a </a:t>
            </a:r>
            <a:r>
              <a:rPr lang="en-US" b="1" dirty="0"/>
              <a:t>class or field</a:t>
            </a:r>
            <a:r>
              <a:rPr lang="en-US" dirty="0"/>
              <a:t>, it will cause a compilation error.</a:t>
            </a:r>
            <a:endParaRPr lang="en-IN" dirty="0"/>
          </a:p>
          <a:p>
            <a:pPr marL="0" indent="0">
              <a:buNone/>
            </a:pPr>
            <a:endParaRPr lang="en-IN" b="1" dirty="0"/>
          </a:p>
        </p:txBody>
      </p:sp>
    </p:spTree>
    <p:extLst>
      <p:ext uri="{BB962C8B-B14F-4D97-AF65-F5344CB8AC3E}">
        <p14:creationId xmlns:p14="http://schemas.microsoft.com/office/powerpoint/2010/main" val="2988119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55000" lnSpcReduction="20000"/>
          </a:bodyPr>
          <a:lstStyle/>
          <a:p>
            <a:r>
              <a:rPr lang="en-US" b="1" dirty="0"/>
              <a:t>Applying an Annotation to Multiple </a:t>
            </a:r>
            <a:r>
              <a:rPr lang="en-US" b="1" dirty="0" smtClean="0"/>
              <a:t>Elements</a:t>
            </a:r>
          </a:p>
          <a:p>
            <a:r>
              <a:rPr lang="en-IN" dirty="0"/>
              <a:t>import </a:t>
            </a:r>
            <a:r>
              <a:rPr lang="en-IN" dirty="0" err="1"/>
              <a:t>java.lang.annotation.ElementType</a:t>
            </a:r>
            <a:r>
              <a:rPr lang="en-IN" dirty="0"/>
              <a:t>;</a:t>
            </a:r>
          </a:p>
          <a:p>
            <a:r>
              <a:rPr lang="en-IN" dirty="0"/>
              <a:t>import </a:t>
            </a:r>
            <a:r>
              <a:rPr lang="en-IN" dirty="0" err="1"/>
              <a:t>java.lang.annotation.Target</a:t>
            </a:r>
            <a:r>
              <a:rPr lang="en-IN" dirty="0"/>
              <a:t>;</a:t>
            </a:r>
          </a:p>
          <a:p>
            <a:endParaRPr lang="en-IN" dirty="0"/>
          </a:p>
          <a:p>
            <a:r>
              <a:rPr lang="en-IN" dirty="0"/>
              <a:t>@Target({</a:t>
            </a:r>
            <a:r>
              <a:rPr lang="en-IN" dirty="0" err="1"/>
              <a:t>ElementType.METHOD</a:t>
            </a:r>
            <a:r>
              <a:rPr lang="en-IN" dirty="0"/>
              <a:t>, </a:t>
            </a:r>
            <a:r>
              <a:rPr lang="en-IN" dirty="0" err="1"/>
              <a:t>ElementType.FIELD</a:t>
            </a:r>
            <a:r>
              <a:rPr lang="en-IN" dirty="0"/>
              <a:t>})  // Can be used on methods and fields</a:t>
            </a:r>
          </a:p>
          <a:p>
            <a:r>
              <a:rPr lang="en-IN" dirty="0"/>
              <a:t>@interface </a:t>
            </a:r>
            <a:r>
              <a:rPr lang="en-IN" dirty="0" err="1"/>
              <a:t>MyAnnotation</a:t>
            </a:r>
            <a:r>
              <a:rPr lang="en-IN" dirty="0"/>
              <a:t> {</a:t>
            </a:r>
          </a:p>
          <a:p>
            <a:r>
              <a:rPr lang="en-IN" dirty="0"/>
              <a:t>}</a:t>
            </a:r>
          </a:p>
          <a:p>
            <a:endParaRPr lang="en-IN" dirty="0"/>
          </a:p>
          <a:p>
            <a:r>
              <a:rPr lang="en-IN" dirty="0"/>
              <a:t>class Test {</a:t>
            </a:r>
          </a:p>
          <a:p>
            <a:r>
              <a:rPr lang="en-IN" dirty="0"/>
              <a:t>    @</a:t>
            </a:r>
            <a:r>
              <a:rPr lang="en-IN" dirty="0" err="1"/>
              <a:t>MyAnnotation</a:t>
            </a:r>
            <a:endParaRPr lang="en-IN" dirty="0"/>
          </a:p>
          <a:p>
            <a:r>
              <a:rPr lang="en-IN" dirty="0"/>
              <a:t>    private String name; // Allowed</a:t>
            </a:r>
          </a:p>
          <a:p>
            <a:endParaRPr lang="en-IN" dirty="0"/>
          </a:p>
          <a:p>
            <a:r>
              <a:rPr lang="en-IN" dirty="0"/>
              <a:t>    @</a:t>
            </a:r>
            <a:r>
              <a:rPr lang="en-IN" dirty="0" err="1"/>
              <a:t>MyAnnotation</a:t>
            </a:r>
            <a:endParaRPr lang="en-IN" dirty="0"/>
          </a:p>
          <a:p>
            <a:r>
              <a:rPr lang="en-IN" dirty="0"/>
              <a:t>    public void show() { // Allowed</a:t>
            </a:r>
          </a:p>
          <a:p>
            <a:r>
              <a:rPr lang="en-IN" dirty="0"/>
              <a:t>        </a:t>
            </a:r>
            <a:r>
              <a:rPr lang="en-IN" dirty="0" err="1"/>
              <a:t>System.out.println</a:t>
            </a:r>
            <a:r>
              <a:rPr lang="en-IN" dirty="0"/>
              <a:t>("Hello!");</a:t>
            </a:r>
          </a:p>
          <a:p>
            <a:r>
              <a:rPr lang="en-IN" dirty="0"/>
              <a:t>    }</a:t>
            </a:r>
          </a:p>
          <a:p>
            <a:r>
              <a:rPr lang="en-IN" dirty="0"/>
              <a:t>}</a:t>
            </a:r>
          </a:p>
          <a:p>
            <a:r>
              <a:rPr lang="en-US" dirty="0"/>
              <a:t>This annotation can be applied to both </a:t>
            </a:r>
            <a:r>
              <a:rPr lang="en-US" b="1" dirty="0"/>
              <a:t>methods and fields</a:t>
            </a:r>
            <a:r>
              <a:rPr lang="en-US" dirty="0"/>
              <a:t>.</a:t>
            </a:r>
            <a:endParaRPr lang="en-IN" dirty="0"/>
          </a:p>
        </p:txBody>
      </p:sp>
    </p:spTree>
    <p:extLst>
      <p:ext uri="{BB962C8B-B14F-4D97-AF65-F5344CB8AC3E}">
        <p14:creationId xmlns:p14="http://schemas.microsoft.com/office/powerpoint/2010/main" val="2988119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0000" lnSpcReduction="20000"/>
          </a:bodyPr>
          <a:lstStyle/>
          <a:p>
            <a:r>
              <a:rPr lang="en-IN" b="1" dirty="0"/>
              <a:t>@Inherited </a:t>
            </a:r>
            <a:r>
              <a:rPr lang="en-IN" b="1" dirty="0" smtClean="0"/>
              <a:t>Annotation – </a:t>
            </a:r>
          </a:p>
          <a:p>
            <a:r>
              <a:rPr lang="en-US" dirty="0"/>
              <a:t>The @Inherited annotation in Java </a:t>
            </a:r>
            <a:r>
              <a:rPr lang="en-US" b="1" dirty="0"/>
              <a:t>allows an annotation from a superclass to be inherited by its subclasses</a:t>
            </a:r>
            <a:r>
              <a:rPr lang="en-US" dirty="0"/>
              <a:t>. </a:t>
            </a:r>
            <a:endParaRPr lang="en-US" dirty="0" smtClean="0"/>
          </a:p>
          <a:p>
            <a:r>
              <a:rPr lang="en-US" dirty="0"/>
              <a:t>Normally, annotations are </a:t>
            </a:r>
            <a:r>
              <a:rPr lang="en-US" b="1" dirty="0"/>
              <a:t>not inherited</a:t>
            </a:r>
            <a:r>
              <a:rPr lang="en-US" dirty="0"/>
              <a:t> by subclasses. If you want a subclass to inherit an annotation from its parent class, you can use @Inherited</a:t>
            </a:r>
            <a:r>
              <a:rPr lang="en-US" dirty="0" smtClean="0"/>
              <a:t>.</a:t>
            </a:r>
          </a:p>
          <a:p>
            <a:pPr marL="0" indent="0">
              <a:buNone/>
            </a:pPr>
            <a:r>
              <a:rPr lang="en-IN" dirty="0"/>
              <a:t>import </a:t>
            </a:r>
            <a:r>
              <a:rPr lang="en-IN" dirty="0" err="1"/>
              <a:t>java.lang.annotation.ElementType</a:t>
            </a:r>
            <a:r>
              <a:rPr lang="en-IN" dirty="0"/>
              <a:t>;</a:t>
            </a:r>
          </a:p>
          <a:p>
            <a:pPr marL="0" indent="0">
              <a:buNone/>
            </a:pPr>
            <a:r>
              <a:rPr lang="en-IN" dirty="0"/>
              <a:t>import </a:t>
            </a:r>
            <a:r>
              <a:rPr lang="en-IN" dirty="0" err="1"/>
              <a:t>java.lang.annotation.Inherited</a:t>
            </a:r>
            <a:r>
              <a:rPr lang="en-IN" dirty="0"/>
              <a:t>;</a:t>
            </a:r>
          </a:p>
          <a:p>
            <a:pPr marL="0" indent="0">
              <a:buNone/>
            </a:pPr>
            <a:r>
              <a:rPr lang="en-IN" dirty="0"/>
              <a:t>import </a:t>
            </a:r>
            <a:r>
              <a:rPr lang="en-IN" dirty="0" err="1"/>
              <a:t>java.lang.annotation.Retention</a:t>
            </a:r>
            <a:r>
              <a:rPr lang="en-IN" dirty="0"/>
              <a:t>;</a:t>
            </a:r>
          </a:p>
          <a:p>
            <a:pPr marL="0" indent="0">
              <a:buNone/>
            </a:pPr>
            <a:r>
              <a:rPr lang="en-IN" dirty="0"/>
              <a:t>import </a:t>
            </a:r>
            <a:r>
              <a:rPr lang="en-IN" dirty="0" err="1"/>
              <a:t>java.lang.annotation.RetentionPolicy</a:t>
            </a:r>
            <a:r>
              <a:rPr lang="en-IN" dirty="0"/>
              <a:t>;</a:t>
            </a:r>
          </a:p>
          <a:p>
            <a:pPr marL="0" indent="0">
              <a:buNone/>
            </a:pPr>
            <a:r>
              <a:rPr lang="en-IN" dirty="0"/>
              <a:t>import </a:t>
            </a:r>
            <a:r>
              <a:rPr lang="en-IN" dirty="0" err="1"/>
              <a:t>java.lang.annotation.Target</a:t>
            </a:r>
            <a:r>
              <a:rPr lang="en-IN" dirty="0"/>
              <a:t>;</a:t>
            </a:r>
          </a:p>
          <a:p>
            <a:pPr marL="0" indent="0">
              <a:buNone/>
            </a:pPr>
            <a:endParaRPr lang="en-IN" dirty="0"/>
          </a:p>
          <a:p>
            <a:pPr marL="0" indent="0">
              <a:buNone/>
            </a:pPr>
            <a:r>
              <a:rPr lang="en-IN" dirty="0"/>
              <a:t>// Define an inherited annotation</a:t>
            </a:r>
          </a:p>
          <a:p>
            <a:pPr marL="0" indent="0">
              <a:buNone/>
            </a:pPr>
            <a:r>
              <a:rPr lang="en-IN" dirty="0"/>
              <a:t>@Inherited</a:t>
            </a:r>
          </a:p>
          <a:p>
            <a:pPr marL="0" indent="0">
              <a:buNone/>
            </a:pPr>
            <a:r>
              <a:rPr lang="en-IN" dirty="0"/>
              <a:t>@Retention(</a:t>
            </a:r>
            <a:r>
              <a:rPr lang="en-IN" dirty="0" err="1"/>
              <a:t>RetentionPolicy.RUNTIME</a:t>
            </a:r>
            <a:r>
              <a:rPr lang="en-IN" dirty="0"/>
              <a:t>)</a:t>
            </a:r>
          </a:p>
          <a:p>
            <a:pPr marL="0" indent="0">
              <a:buNone/>
            </a:pPr>
            <a:r>
              <a:rPr lang="en-IN" dirty="0"/>
              <a:t>@Target(</a:t>
            </a:r>
            <a:r>
              <a:rPr lang="en-IN" dirty="0" err="1"/>
              <a:t>ElementType.TYPE</a:t>
            </a:r>
            <a:r>
              <a:rPr lang="en-IN" dirty="0"/>
              <a:t>)  // Applies to classes only</a:t>
            </a:r>
          </a:p>
          <a:p>
            <a:pPr marL="0" indent="0">
              <a:buNone/>
            </a:pPr>
            <a:r>
              <a:rPr lang="en-IN" dirty="0"/>
              <a:t>@interface </a:t>
            </a:r>
            <a:r>
              <a:rPr lang="en-IN" dirty="0" err="1"/>
              <a:t>MyAnnotation</a:t>
            </a:r>
            <a:r>
              <a:rPr lang="en-IN" dirty="0"/>
              <a:t> {</a:t>
            </a:r>
          </a:p>
          <a:p>
            <a:pPr marL="0" indent="0">
              <a:buNone/>
            </a:pPr>
            <a:r>
              <a:rPr lang="en-IN" dirty="0"/>
              <a:t>    String value();</a:t>
            </a:r>
          </a:p>
          <a:p>
            <a:pPr marL="0" indent="0">
              <a:buNone/>
            </a:pPr>
            <a:r>
              <a:rPr lang="en-IN" dirty="0"/>
              <a:t>}</a:t>
            </a:r>
          </a:p>
          <a:p>
            <a:pPr marL="0" indent="0">
              <a:buNone/>
            </a:pPr>
            <a:endParaRPr lang="en-IN" dirty="0"/>
          </a:p>
          <a:p>
            <a:pPr marL="0" indent="0">
              <a:buNone/>
            </a:pPr>
            <a:r>
              <a:rPr lang="en-IN" dirty="0"/>
              <a:t>// Apply annotation to the superclass</a:t>
            </a:r>
          </a:p>
          <a:p>
            <a:pPr marL="0" indent="0">
              <a:buNone/>
            </a:pPr>
            <a:r>
              <a:rPr lang="en-IN" dirty="0"/>
              <a:t>@</a:t>
            </a:r>
            <a:r>
              <a:rPr lang="en-IN" dirty="0" err="1"/>
              <a:t>MyAnnotation</a:t>
            </a:r>
            <a:r>
              <a:rPr lang="en-IN" dirty="0"/>
              <a:t>("Applied to Parent Class")</a:t>
            </a:r>
          </a:p>
          <a:p>
            <a:pPr marL="0" indent="0">
              <a:buNone/>
            </a:pPr>
            <a:r>
              <a:rPr lang="en-IN" dirty="0"/>
              <a:t>class Parent {</a:t>
            </a:r>
          </a:p>
          <a:p>
            <a:pPr marL="0" indent="0">
              <a:buNone/>
            </a:pPr>
            <a:r>
              <a:rPr lang="en-IN" dirty="0"/>
              <a:t>}</a:t>
            </a:r>
          </a:p>
          <a:p>
            <a:pPr marL="0" indent="0">
              <a:buNone/>
            </a:pPr>
            <a:endParaRPr lang="en-IN" dirty="0"/>
          </a:p>
          <a:p>
            <a:pPr marL="0" indent="0">
              <a:buNone/>
            </a:pPr>
            <a:r>
              <a:rPr lang="en-IN" dirty="0"/>
              <a:t>// Subclass does NOT explicitly have the annotation</a:t>
            </a:r>
          </a:p>
          <a:p>
            <a:pPr marL="0" indent="0">
              <a:buNone/>
            </a:pPr>
            <a:r>
              <a:rPr lang="en-IN" dirty="0"/>
              <a:t>class Child extends Parent {</a:t>
            </a:r>
          </a:p>
          <a:p>
            <a:pPr marL="0" indent="0">
              <a:buNone/>
            </a:pPr>
            <a:r>
              <a:rPr lang="en-IN" dirty="0"/>
              <a:t>}</a:t>
            </a:r>
          </a:p>
          <a:p>
            <a:pPr marL="0" indent="0">
              <a:buNone/>
            </a:pPr>
            <a:endParaRPr lang="en-IN" b="1" dirty="0"/>
          </a:p>
        </p:txBody>
      </p:sp>
    </p:spTree>
    <p:extLst>
      <p:ext uri="{BB962C8B-B14F-4D97-AF65-F5344CB8AC3E}">
        <p14:creationId xmlns:p14="http://schemas.microsoft.com/office/powerpoint/2010/main" val="2988119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55000" lnSpcReduction="20000"/>
          </a:bodyPr>
          <a:lstStyle/>
          <a:p>
            <a:pPr marL="0" indent="0">
              <a:buNone/>
            </a:pPr>
            <a:r>
              <a:rPr lang="en-IN" dirty="0"/>
              <a:t>import </a:t>
            </a:r>
            <a:r>
              <a:rPr lang="en-IN" dirty="0" err="1"/>
              <a:t>java.lang.reflect.AnnotatedElement</a:t>
            </a:r>
            <a:r>
              <a:rPr lang="en-IN" dirty="0"/>
              <a:t>;</a:t>
            </a:r>
          </a:p>
          <a:p>
            <a:pPr marL="0" indent="0">
              <a:buNone/>
            </a:pPr>
            <a:endParaRPr lang="en-IN" dirty="0"/>
          </a:p>
          <a:p>
            <a:pPr marL="0" indent="0">
              <a:buNone/>
            </a:pPr>
            <a:r>
              <a:rPr lang="en-IN" dirty="0"/>
              <a:t>public class </a:t>
            </a:r>
            <a:r>
              <a:rPr lang="en-IN" dirty="0" err="1"/>
              <a:t>InheritedExample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 Get the Class object for Child</a:t>
            </a:r>
          </a:p>
          <a:p>
            <a:pPr marL="0" indent="0">
              <a:buNone/>
            </a:pPr>
            <a:r>
              <a:rPr lang="en-IN" dirty="0"/>
              <a:t>        Class&lt;?&gt; </a:t>
            </a:r>
            <a:r>
              <a:rPr lang="en-IN" dirty="0" err="1"/>
              <a:t>obj</a:t>
            </a:r>
            <a:r>
              <a:rPr lang="en-IN" dirty="0"/>
              <a:t> = </a:t>
            </a:r>
            <a:r>
              <a:rPr lang="en-IN" dirty="0" err="1"/>
              <a:t>Child.class</a:t>
            </a:r>
            <a:r>
              <a:rPr lang="en-IN" dirty="0"/>
              <a:t>;</a:t>
            </a:r>
          </a:p>
          <a:p>
            <a:pPr marL="0" indent="0">
              <a:buNone/>
            </a:pPr>
            <a:endParaRPr lang="en-IN" dirty="0"/>
          </a:p>
          <a:p>
            <a:pPr marL="0" indent="0">
              <a:buNone/>
            </a:pPr>
            <a:r>
              <a:rPr lang="en-IN" dirty="0"/>
              <a:t>        // Check if </a:t>
            </a:r>
            <a:r>
              <a:rPr lang="en-IN" dirty="0" err="1"/>
              <a:t>MyAnnotation</a:t>
            </a:r>
            <a:r>
              <a:rPr lang="en-IN" dirty="0"/>
              <a:t> is present in Child</a:t>
            </a:r>
          </a:p>
          <a:p>
            <a:pPr marL="0" indent="0">
              <a:buNone/>
            </a:pPr>
            <a:r>
              <a:rPr lang="en-IN" dirty="0"/>
              <a:t>        if (</a:t>
            </a:r>
            <a:r>
              <a:rPr lang="en-IN" dirty="0" err="1"/>
              <a:t>obj.isAnnotationPresent</a:t>
            </a:r>
            <a:r>
              <a:rPr lang="en-IN" dirty="0"/>
              <a:t>(</a:t>
            </a:r>
            <a:r>
              <a:rPr lang="en-IN" dirty="0" err="1"/>
              <a:t>MyAnnotation.class</a:t>
            </a:r>
            <a:r>
              <a:rPr lang="en-IN" dirty="0"/>
              <a:t>)) {</a:t>
            </a:r>
          </a:p>
          <a:p>
            <a:pPr marL="0" indent="0">
              <a:buNone/>
            </a:pPr>
            <a:r>
              <a:rPr lang="en-IN" dirty="0"/>
              <a:t>            </a:t>
            </a:r>
            <a:r>
              <a:rPr lang="en-IN" dirty="0" err="1"/>
              <a:t>MyAnnotation</a:t>
            </a:r>
            <a:r>
              <a:rPr lang="en-IN" dirty="0"/>
              <a:t> annotation = </a:t>
            </a:r>
            <a:r>
              <a:rPr lang="en-IN" dirty="0" err="1"/>
              <a:t>obj.getAnnotation</a:t>
            </a:r>
            <a:r>
              <a:rPr lang="en-IN" dirty="0"/>
              <a:t>(</a:t>
            </a:r>
            <a:r>
              <a:rPr lang="en-IN" dirty="0" err="1"/>
              <a:t>MyAnnotation.class</a:t>
            </a:r>
            <a:r>
              <a:rPr lang="en-IN" dirty="0"/>
              <a:t>);</a:t>
            </a:r>
          </a:p>
          <a:p>
            <a:pPr marL="0" indent="0">
              <a:buNone/>
            </a:pPr>
            <a:r>
              <a:rPr lang="en-IN" dirty="0"/>
              <a:t>            </a:t>
            </a:r>
            <a:r>
              <a:rPr lang="en-IN" dirty="0" err="1"/>
              <a:t>System.out.println</a:t>
            </a:r>
            <a:r>
              <a:rPr lang="en-IN" dirty="0"/>
              <a:t>("Inherited Annotation Value: " + </a:t>
            </a:r>
            <a:r>
              <a:rPr lang="en-IN" dirty="0" err="1"/>
              <a:t>annotation.value</a:t>
            </a:r>
            <a:r>
              <a:rPr lang="en-IN" dirty="0"/>
              <a:t>());</a:t>
            </a:r>
          </a:p>
          <a:p>
            <a:pPr marL="0" indent="0">
              <a:buNone/>
            </a:pPr>
            <a:r>
              <a:rPr lang="en-IN" dirty="0"/>
              <a:t>        } else {</a:t>
            </a:r>
          </a:p>
          <a:p>
            <a:pPr marL="0" indent="0">
              <a:buNone/>
            </a:pPr>
            <a:r>
              <a:rPr lang="en-IN" dirty="0"/>
              <a:t>            </a:t>
            </a:r>
            <a:r>
              <a:rPr lang="en-IN" dirty="0" err="1"/>
              <a:t>System.out.println</a:t>
            </a:r>
            <a:r>
              <a:rPr lang="en-IN" dirty="0"/>
              <a:t>("Annotation NOT present in Child class.");</a:t>
            </a:r>
          </a:p>
          <a:p>
            <a:pPr marL="0" indent="0">
              <a:buNone/>
            </a:pPr>
            <a:r>
              <a:rPr lang="en-IN" dirty="0"/>
              <a:t>        }</a:t>
            </a:r>
          </a:p>
          <a:p>
            <a:pPr marL="0" indent="0">
              <a:buNone/>
            </a:pPr>
            <a:r>
              <a:rPr lang="en-IN" dirty="0"/>
              <a:t>    }</a:t>
            </a:r>
          </a:p>
          <a:p>
            <a:pPr marL="0" indent="0">
              <a:buNone/>
            </a:pPr>
            <a:r>
              <a:rPr lang="en-IN" dirty="0"/>
              <a:t>}</a:t>
            </a:r>
          </a:p>
          <a:p>
            <a:r>
              <a:rPr lang="en-US" dirty="0"/>
              <a:t>Even though Child does not explicitly have @</a:t>
            </a:r>
            <a:r>
              <a:rPr lang="en-US" dirty="0" err="1"/>
              <a:t>MyAnnotation</a:t>
            </a:r>
            <a:r>
              <a:rPr lang="en-US" dirty="0"/>
              <a:t>, it </a:t>
            </a:r>
            <a:r>
              <a:rPr lang="en-US" b="1" dirty="0"/>
              <a:t>inherits</a:t>
            </a:r>
            <a:r>
              <a:rPr lang="en-US" dirty="0"/>
              <a:t> it from Parent</a:t>
            </a:r>
            <a:r>
              <a:rPr lang="en-US" dirty="0" smtClean="0"/>
              <a:t>.</a:t>
            </a:r>
          </a:p>
          <a:p>
            <a:r>
              <a:rPr lang="en-US" dirty="0"/>
              <a:t>If we </a:t>
            </a:r>
            <a:r>
              <a:rPr lang="en-US" b="1" dirty="0"/>
              <a:t>remove</a:t>
            </a:r>
            <a:r>
              <a:rPr lang="en-US" dirty="0"/>
              <a:t> @Inherited from @</a:t>
            </a:r>
            <a:r>
              <a:rPr lang="en-US" dirty="0" err="1"/>
              <a:t>MyAnnotation</a:t>
            </a:r>
            <a:r>
              <a:rPr lang="en-US"/>
              <a:t>, the subclass will NOT inherit it.</a:t>
            </a:r>
            <a:endParaRPr lang="en-IN" dirty="0"/>
          </a:p>
        </p:txBody>
      </p:sp>
    </p:spTree>
    <p:extLst>
      <p:ext uri="{BB962C8B-B14F-4D97-AF65-F5344CB8AC3E}">
        <p14:creationId xmlns:p14="http://schemas.microsoft.com/office/powerpoint/2010/main" val="2988119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867400"/>
          </a:xfrm>
        </p:spPr>
        <p:txBody>
          <a:bodyPr>
            <a:normAutofit fontScale="40000" lnSpcReduction="20000"/>
          </a:bodyPr>
          <a:lstStyle/>
          <a:p>
            <a:r>
              <a:rPr lang="en-IN" b="1" dirty="0" smtClean="0"/>
              <a:t>Accessing annotation from methods – </a:t>
            </a:r>
          </a:p>
          <a:p>
            <a:pPr marL="0" indent="0">
              <a:buNone/>
            </a:pPr>
            <a:endParaRPr lang="en-IN" b="1" dirty="0" smtClean="0"/>
          </a:p>
          <a:p>
            <a:pPr marL="0" indent="0">
              <a:buNone/>
            </a:pPr>
            <a:r>
              <a:rPr lang="en-IN" b="1" dirty="0" smtClean="0"/>
              <a:t>import </a:t>
            </a:r>
            <a:r>
              <a:rPr lang="en-IN" dirty="0" err="1"/>
              <a:t>java.lang.annotation.ElementType</a:t>
            </a:r>
            <a:r>
              <a:rPr lang="en-IN" dirty="0"/>
              <a:t>;</a:t>
            </a:r>
            <a:br>
              <a:rPr lang="en-IN" dirty="0"/>
            </a:br>
            <a:r>
              <a:rPr lang="en-IN" b="1" dirty="0"/>
              <a:t>import </a:t>
            </a:r>
            <a:r>
              <a:rPr lang="en-IN" dirty="0" err="1"/>
              <a:t>java.lang.annotation.</a:t>
            </a:r>
            <a:r>
              <a:rPr lang="en-IN" dirty="0" err="1"/>
              <a:t>Retention</a:t>
            </a:r>
            <a:r>
              <a:rPr lang="en-IN" dirty="0"/>
              <a:t>;</a:t>
            </a:r>
            <a:br>
              <a:rPr lang="en-IN" dirty="0"/>
            </a:br>
            <a:r>
              <a:rPr lang="en-IN" b="1" dirty="0"/>
              <a:t>import </a:t>
            </a:r>
            <a:r>
              <a:rPr lang="en-IN" dirty="0" err="1"/>
              <a:t>java.lang.annotation.RetentionPolicy</a:t>
            </a:r>
            <a:r>
              <a:rPr lang="en-IN" dirty="0"/>
              <a:t>;</a:t>
            </a:r>
            <a:br>
              <a:rPr lang="en-IN" dirty="0"/>
            </a:br>
            <a:r>
              <a:rPr lang="en-IN" b="1" dirty="0"/>
              <a:t>import </a:t>
            </a:r>
            <a:r>
              <a:rPr lang="en-IN" dirty="0" err="1"/>
              <a:t>java.lang.annotation.</a:t>
            </a:r>
            <a:r>
              <a:rPr lang="en-IN" dirty="0" err="1"/>
              <a:t>Target</a:t>
            </a:r>
            <a:r>
              <a:rPr lang="en-IN" dirty="0"/>
              <a:t>;</a:t>
            </a:r>
            <a:br>
              <a:rPr lang="en-IN" dirty="0"/>
            </a:br>
            <a:r>
              <a:rPr lang="en-IN" b="1" dirty="0"/>
              <a:t>import </a:t>
            </a:r>
            <a:r>
              <a:rPr lang="en-IN" dirty="0" err="1"/>
              <a:t>java.lang.reflect</a:t>
            </a:r>
            <a:r>
              <a:rPr lang="en-IN" dirty="0"/>
              <a:t>.*;</a:t>
            </a:r>
            <a:br>
              <a:rPr lang="en-IN" dirty="0"/>
            </a:br>
            <a:r>
              <a:rPr lang="en-IN" dirty="0"/>
              <a:t>@Retention</a:t>
            </a:r>
            <a:r>
              <a:rPr lang="en-IN" dirty="0"/>
              <a:t>(</a:t>
            </a:r>
            <a:r>
              <a:rPr lang="en-IN" dirty="0" err="1"/>
              <a:t>RetentionPolicy.</a:t>
            </a:r>
            <a:r>
              <a:rPr lang="en-IN" b="1" i="1" dirty="0" err="1"/>
              <a:t>RUNTIME</a:t>
            </a:r>
            <a:r>
              <a:rPr lang="en-IN" dirty="0"/>
              <a:t>)</a:t>
            </a:r>
            <a:br>
              <a:rPr lang="en-IN" dirty="0"/>
            </a:br>
            <a:r>
              <a:rPr lang="en-IN" dirty="0"/>
              <a:t>@Target</a:t>
            </a:r>
            <a:r>
              <a:rPr lang="en-IN" dirty="0"/>
              <a:t>(</a:t>
            </a:r>
            <a:r>
              <a:rPr lang="en-IN" dirty="0" err="1"/>
              <a:t>ElementType.</a:t>
            </a:r>
            <a:r>
              <a:rPr lang="en-IN" b="1" i="1" dirty="0" err="1"/>
              <a:t>METHOD</a:t>
            </a:r>
            <a:r>
              <a:rPr lang="en-IN" dirty="0"/>
              <a:t>)</a:t>
            </a:r>
            <a:br>
              <a:rPr lang="en-IN" dirty="0"/>
            </a:br>
            <a:r>
              <a:rPr lang="en-IN" dirty="0"/>
              <a:t>@</a:t>
            </a:r>
            <a:r>
              <a:rPr lang="en-IN" b="1" dirty="0"/>
              <a:t>interface </a:t>
            </a:r>
            <a:r>
              <a:rPr lang="en-IN" dirty="0" err="1"/>
              <a:t>MyAnnotaion</a:t>
            </a:r>
            <a:r>
              <a:rPr lang="en-IN" dirty="0"/>
              <a:t>{</a:t>
            </a:r>
            <a:br>
              <a:rPr lang="en-IN" dirty="0"/>
            </a:br>
            <a:r>
              <a:rPr lang="en-IN" dirty="0"/>
              <a:t>    </a:t>
            </a:r>
            <a:r>
              <a:rPr lang="en-IN" b="1" dirty="0" err="1"/>
              <a:t>int</a:t>
            </a:r>
            <a:r>
              <a:rPr lang="en-IN" b="1" dirty="0"/>
              <a:t> </a:t>
            </a:r>
            <a:r>
              <a:rPr lang="en-IN" dirty="0"/>
              <a:t>value1();</a:t>
            </a:r>
            <a:br>
              <a:rPr lang="en-IN" dirty="0"/>
            </a:br>
            <a:r>
              <a:rPr lang="en-IN" dirty="0"/>
              <a:t>    String value2();</a:t>
            </a:r>
            <a:br>
              <a:rPr lang="en-IN" dirty="0"/>
            </a:br>
            <a:r>
              <a:rPr lang="en-IN" dirty="0"/>
              <a:t>    </a:t>
            </a:r>
            <a:r>
              <a:rPr lang="en-IN" b="1" dirty="0"/>
              <a:t>float </a:t>
            </a:r>
            <a:r>
              <a:rPr lang="en-IN" dirty="0"/>
              <a:t>value3();</a:t>
            </a:r>
            <a:br>
              <a:rPr lang="en-IN" dirty="0"/>
            </a:br>
            <a:r>
              <a:rPr lang="en-IN" dirty="0"/>
              <a:t>}</a:t>
            </a:r>
            <a:br>
              <a:rPr lang="en-IN" dirty="0"/>
            </a:br>
            <a:r>
              <a:rPr lang="en-IN" b="1" dirty="0"/>
              <a:t>public class </a:t>
            </a:r>
            <a:r>
              <a:rPr lang="en-IN" dirty="0"/>
              <a:t>Main {</a:t>
            </a:r>
            <a:br>
              <a:rPr lang="en-IN" dirty="0"/>
            </a:br>
            <a:r>
              <a:rPr lang="en-IN" dirty="0"/>
              <a:t>      </a:t>
            </a:r>
            <a:r>
              <a:rPr lang="en-IN" dirty="0"/>
              <a:t>@</a:t>
            </a:r>
            <a:r>
              <a:rPr lang="en-IN" dirty="0" err="1"/>
              <a:t>MyAnnotaion</a:t>
            </a:r>
            <a:r>
              <a:rPr lang="en-IN" dirty="0"/>
              <a:t>(value1 = </a:t>
            </a:r>
            <a:r>
              <a:rPr lang="en-IN" dirty="0"/>
              <a:t>10</a:t>
            </a:r>
            <a:r>
              <a:rPr lang="en-IN" dirty="0"/>
              <a:t>, value2 = </a:t>
            </a:r>
            <a:r>
              <a:rPr lang="en-IN" b="1" dirty="0"/>
              <a:t>"Hello"</a:t>
            </a:r>
            <a:r>
              <a:rPr lang="en-IN" dirty="0"/>
              <a:t>, value3 = </a:t>
            </a:r>
            <a:r>
              <a:rPr lang="en-IN" dirty="0"/>
              <a:t>1.12f</a:t>
            </a:r>
            <a:r>
              <a:rPr lang="en-IN" dirty="0"/>
              <a:t>)</a:t>
            </a:r>
            <a:br>
              <a:rPr lang="en-IN" dirty="0"/>
            </a:br>
            <a:r>
              <a:rPr lang="en-IN" dirty="0"/>
              <a:t>      </a:t>
            </a:r>
            <a:r>
              <a:rPr lang="en-IN" b="1" dirty="0"/>
              <a:t>public void </a:t>
            </a:r>
            <a:r>
              <a:rPr lang="en-IN" dirty="0"/>
              <a:t>test(){</a:t>
            </a:r>
            <a:br>
              <a:rPr lang="en-IN" dirty="0"/>
            </a:br>
            <a:r>
              <a:rPr lang="en-IN" dirty="0"/>
              <a:t/>
            </a:r>
            <a:br>
              <a:rPr lang="en-IN" dirty="0"/>
            </a:br>
            <a:r>
              <a:rPr lang="en-IN" dirty="0"/>
              <a:t>      }</a:t>
            </a:r>
            <a:br>
              <a:rPr lang="en-IN" dirty="0"/>
            </a:br>
            <a:r>
              <a:rPr lang="en-IN" dirty="0"/>
              <a:t>    </a:t>
            </a:r>
            <a:r>
              <a:rPr lang="en-IN" b="1" dirty="0"/>
              <a:t>public static void </a:t>
            </a:r>
            <a:r>
              <a:rPr lang="en-IN" dirty="0"/>
              <a:t>main(String[] </a:t>
            </a:r>
            <a:r>
              <a:rPr lang="en-IN" dirty="0" err="1"/>
              <a:t>args</a:t>
            </a:r>
            <a:r>
              <a:rPr lang="en-IN" dirty="0"/>
              <a:t>) </a:t>
            </a:r>
            <a:r>
              <a:rPr lang="en-IN" b="1" dirty="0"/>
              <a:t>throws </a:t>
            </a:r>
            <a:r>
              <a:rPr lang="en-IN" dirty="0"/>
              <a:t>Exception{</a:t>
            </a:r>
            <a:br>
              <a:rPr lang="en-IN" dirty="0"/>
            </a:br>
            <a:r>
              <a:rPr lang="en-IN" dirty="0"/>
              <a:t>        Method </a:t>
            </a:r>
            <a:r>
              <a:rPr lang="en-IN" dirty="0" err="1"/>
              <a:t>method</a:t>
            </a:r>
            <a:r>
              <a:rPr lang="en-IN" dirty="0"/>
              <a:t> = </a:t>
            </a:r>
            <a:r>
              <a:rPr lang="en-IN" dirty="0" err="1"/>
              <a:t>Main.</a:t>
            </a:r>
            <a:r>
              <a:rPr lang="en-IN" b="1" dirty="0" err="1"/>
              <a:t>class</a:t>
            </a:r>
            <a:r>
              <a:rPr lang="en-IN" dirty="0" err="1"/>
              <a:t>.getDeclaredMethod</a:t>
            </a:r>
            <a:r>
              <a:rPr lang="en-IN" dirty="0"/>
              <a:t>(</a:t>
            </a:r>
            <a:r>
              <a:rPr lang="en-IN" b="1" dirty="0"/>
              <a:t>"test"</a:t>
            </a:r>
            <a:r>
              <a:rPr lang="en-IN" dirty="0"/>
              <a:t>);</a:t>
            </a:r>
            <a:br>
              <a:rPr lang="en-IN" dirty="0"/>
            </a:br>
            <a:r>
              <a:rPr lang="en-IN" dirty="0"/>
              <a:t>        </a:t>
            </a:r>
            <a:r>
              <a:rPr lang="en-IN" b="1" dirty="0"/>
              <a:t>if</a:t>
            </a:r>
            <a:r>
              <a:rPr lang="en-IN" dirty="0"/>
              <a:t>(</a:t>
            </a:r>
            <a:r>
              <a:rPr lang="en-IN" dirty="0" err="1"/>
              <a:t>method.isAnnotationPresent</a:t>
            </a:r>
            <a:r>
              <a:rPr lang="en-IN" dirty="0"/>
              <a:t>(</a:t>
            </a:r>
            <a:r>
              <a:rPr lang="en-IN" dirty="0" err="1"/>
              <a:t>MyAnnotaion</a:t>
            </a:r>
            <a:r>
              <a:rPr lang="en-IN" dirty="0" err="1"/>
              <a:t>.</a:t>
            </a:r>
            <a:r>
              <a:rPr lang="en-IN" b="1" dirty="0" err="1"/>
              <a:t>class</a:t>
            </a:r>
            <a:r>
              <a:rPr lang="en-IN" dirty="0"/>
              <a:t>)){</a:t>
            </a:r>
            <a:br>
              <a:rPr lang="en-IN" dirty="0"/>
            </a:br>
            <a:r>
              <a:rPr lang="en-IN" dirty="0"/>
              <a:t>            </a:t>
            </a:r>
            <a:r>
              <a:rPr lang="en-IN" dirty="0" err="1"/>
              <a:t>MyAnnotaion</a:t>
            </a:r>
            <a:r>
              <a:rPr lang="en-IN" dirty="0"/>
              <a:t> </a:t>
            </a:r>
            <a:r>
              <a:rPr lang="en-IN" dirty="0" err="1"/>
              <a:t>myAnnotaion</a:t>
            </a:r>
            <a:r>
              <a:rPr lang="en-IN" dirty="0"/>
              <a:t> = </a:t>
            </a:r>
            <a:r>
              <a:rPr lang="en-IN" dirty="0" err="1"/>
              <a:t>method.getAnnotation</a:t>
            </a:r>
            <a:r>
              <a:rPr lang="en-IN" dirty="0"/>
              <a:t>(</a:t>
            </a:r>
            <a:r>
              <a:rPr lang="en-IN" dirty="0" err="1"/>
              <a:t>MyAnnotaion</a:t>
            </a:r>
            <a:r>
              <a:rPr lang="en-IN" dirty="0" err="1"/>
              <a:t>.</a:t>
            </a:r>
            <a:r>
              <a:rPr lang="en-IN" b="1" dirty="0" err="1"/>
              <a:t>class</a:t>
            </a:r>
            <a:r>
              <a:rPr lang="en-IN" dirty="0"/>
              <a:t>);</a:t>
            </a:r>
            <a:br>
              <a:rPr lang="en-IN" dirty="0"/>
            </a:br>
            <a:r>
              <a:rPr lang="en-IN" dirty="0"/>
              <a:t>            </a:t>
            </a:r>
            <a:r>
              <a:rPr lang="en-IN" dirty="0" err="1"/>
              <a:t>System.</a:t>
            </a:r>
            <a:r>
              <a:rPr lang="en-IN" b="1" i="1" dirty="0" err="1"/>
              <a:t>out</a:t>
            </a:r>
            <a:r>
              <a:rPr lang="en-IN" dirty="0" err="1"/>
              <a:t>.println</a:t>
            </a:r>
            <a:r>
              <a:rPr lang="en-IN" dirty="0"/>
              <a:t>(myAnnotaion.value1());</a:t>
            </a:r>
            <a:br>
              <a:rPr lang="en-IN" dirty="0"/>
            </a:br>
            <a:r>
              <a:rPr lang="en-IN" dirty="0"/>
              <a:t>            </a:t>
            </a:r>
            <a:r>
              <a:rPr lang="en-IN" dirty="0" err="1"/>
              <a:t>System.</a:t>
            </a:r>
            <a:r>
              <a:rPr lang="en-IN" b="1" i="1" dirty="0" err="1"/>
              <a:t>out</a:t>
            </a:r>
            <a:r>
              <a:rPr lang="en-IN" dirty="0" err="1"/>
              <a:t>.println</a:t>
            </a:r>
            <a:r>
              <a:rPr lang="en-IN" dirty="0"/>
              <a:t>(myAnnotaion.value2());</a:t>
            </a:r>
            <a:br>
              <a:rPr lang="en-IN" dirty="0"/>
            </a:br>
            <a:r>
              <a:rPr lang="en-IN" dirty="0"/>
              <a:t>            </a:t>
            </a:r>
            <a:r>
              <a:rPr lang="en-IN" dirty="0" err="1"/>
              <a:t>System.</a:t>
            </a:r>
            <a:r>
              <a:rPr lang="en-IN" b="1" i="1" dirty="0" err="1"/>
              <a:t>out</a:t>
            </a:r>
            <a:r>
              <a:rPr lang="en-IN" dirty="0" err="1"/>
              <a:t>.println</a:t>
            </a:r>
            <a:r>
              <a:rPr lang="en-IN" dirty="0"/>
              <a:t>(myAnnotaion.value3());</a:t>
            </a:r>
            <a:br>
              <a:rPr lang="en-IN" dirty="0"/>
            </a:br>
            <a:r>
              <a:rPr lang="en-IN" dirty="0"/>
              <a:t/>
            </a:r>
            <a:br>
              <a:rPr lang="en-IN" dirty="0"/>
            </a:br>
            <a:r>
              <a:rPr lang="en-IN" dirty="0"/>
              <a:t>        }</a:t>
            </a:r>
            <a:br>
              <a:rPr lang="en-IN" dirty="0"/>
            </a:br>
            <a:r>
              <a:rPr lang="en-IN" dirty="0"/>
              <a:t>        </a:t>
            </a:r>
            <a:r>
              <a:rPr lang="en-IN" b="1" dirty="0"/>
              <a:t>else </a:t>
            </a:r>
            <a:r>
              <a:rPr lang="en-IN" dirty="0"/>
              <a:t>{</a:t>
            </a:r>
            <a:br>
              <a:rPr lang="en-IN" dirty="0"/>
            </a:br>
            <a:r>
              <a:rPr lang="en-IN" dirty="0"/>
              <a:t>            </a:t>
            </a:r>
            <a:r>
              <a:rPr lang="en-IN" dirty="0" err="1"/>
              <a:t>System.</a:t>
            </a:r>
            <a:r>
              <a:rPr lang="en-IN" b="1" i="1" dirty="0" err="1"/>
              <a:t>out</a:t>
            </a:r>
            <a:r>
              <a:rPr lang="en-IN" dirty="0" err="1"/>
              <a:t>.println</a:t>
            </a:r>
            <a:r>
              <a:rPr lang="en-IN" dirty="0"/>
              <a:t>(</a:t>
            </a:r>
            <a:r>
              <a:rPr lang="en-IN" b="1" dirty="0"/>
              <a:t>"Annotation not present"</a:t>
            </a:r>
            <a:r>
              <a:rPr lang="en-IN" dirty="0"/>
              <a:t>);</a:t>
            </a:r>
            <a:br>
              <a:rPr lang="en-IN" dirty="0"/>
            </a:br>
            <a:r>
              <a:rPr lang="en-IN" dirty="0"/>
              <a:t>        }</a:t>
            </a:r>
            <a:br>
              <a:rPr lang="en-IN" dirty="0"/>
            </a:br>
            <a:r>
              <a:rPr lang="en-IN" dirty="0"/>
              <a:t>    }</a:t>
            </a:r>
            <a:br>
              <a:rPr lang="en-IN" dirty="0"/>
            </a:br>
            <a:r>
              <a:rPr lang="en-IN" dirty="0"/>
              <a:t/>
            </a:r>
            <a:br>
              <a:rPr lang="en-IN" dirty="0"/>
            </a:br>
            <a:r>
              <a:rPr lang="en-IN" dirty="0"/>
              <a:t>}</a:t>
            </a:r>
            <a:br>
              <a:rPr lang="en-IN" dirty="0"/>
            </a:br>
            <a:endParaRPr lang="en-IN" dirty="0"/>
          </a:p>
        </p:txBody>
      </p:sp>
    </p:spTree>
    <p:extLst>
      <p:ext uri="{BB962C8B-B14F-4D97-AF65-F5344CB8AC3E}">
        <p14:creationId xmlns:p14="http://schemas.microsoft.com/office/powerpoint/2010/main" val="2401179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25000" lnSpcReduction="20000"/>
          </a:bodyPr>
          <a:lstStyle/>
          <a:p>
            <a:r>
              <a:rPr lang="en-IN" b="1" dirty="0" smtClean="0"/>
              <a:t>Accessing from fields – </a:t>
            </a:r>
          </a:p>
          <a:p>
            <a:pPr marL="0" indent="0">
              <a:buNone/>
            </a:pPr>
            <a:r>
              <a:rPr lang="en-IN" dirty="0"/>
              <a:t>import </a:t>
            </a:r>
            <a:r>
              <a:rPr lang="en-IN" dirty="0" err="1"/>
              <a:t>java.lang.annotation</a:t>
            </a:r>
            <a:r>
              <a:rPr lang="en-IN" dirty="0"/>
              <a:t>.*;</a:t>
            </a:r>
          </a:p>
          <a:p>
            <a:pPr marL="0" indent="0">
              <a:buNone/>
            </a:pPr>
            <a:r>
              <a:rPr lang="en-IN" dirty="0"/>
              <a:t>import </a:t>
            </a:r>
            <a:r>
              <a:rPr lang="en-IN" dirty="0" err="1"/>
              <a:t>java.lang.reflect</a:t>
            </a:r>
            <a:r>
              <a:rPr lang="en-IN" dirty="0"/>
              <a:t>.*;</a:t>
            </a:r>
          </a:p>
          <a:p>
            <a:pPr marL="0" indent="0">
              <a:buNone/>
            </a:pPr>
            <a:endParaRPr lang="en-IN" dirty="0"/>
          </a:p>
          <a:p>
            <a:pPr marL="0" indent="0">
              <a:buNone/>
            </a:pPr>
            <a:r>
              <a:rPr lang="en-IN" dirty="0"/>
              <a:t>// Define the annotation</a:t>
            </a:r>
          </a:p>
          <a:p>
            <a:pPr marL="0" indent="0">
              <a:buNone/>
            </a:pPr>
            <a:r>
              <a:rPr lang="en-IN" dirty="0"/>
              <a:t>@Retention(</a:t>
            </a:r>
            <a:r>
              <a:rPr lang="en-IN" dirty="0" err="1"/>
              <a:t>RetentionPolicy.RUNTIME</a:t>
            </a:r>
            <a:r>
              <a:rPr lang="en-IN" dirty="0"/>
              <a:t>)</a:t>
            </a:r>
          </a:p>
          <a:p>
            <a:pPr marL="0" indent="0">
              <a:buNone/>
            </a:pPr>
            <a:r>
              <a:rPr lang="en-IN" dirty="0"/>
              <a:t>@Target(</a:t>
            </a:r>
            <a:r>
              <a:rPr lang="en-IN" dirty="0" err="1"/>
              <a:t>ElementType.FIELD</a:t>
            </a:r>
            <a:r>
              <a:rPr lang="en-IN" dirty="0"/>
              <a:t>) // Restrict usage to fields</a:t>
            </a:r>
          </a:p>
          <a:p>
            <a:pPr marL="0" indent="0">
              <a:buNone/>
            </a:pPr>
            <a:r>
              <a:rPr lang="en-IN" dirty="0"/>
              <a:t>@interface </a:t>
            </a:r>
            <a:r>
              <a:rPr lang="en-IN" dirty="0" err="1"/>
              <a:t>MyFieldAnnotation</a:t>
            </a:r>
            <a:r>
              <a:rPr lang="en-IN" dirty="0"/>
              <a:t> {</a:t>
            </a:r>
          </a:p>
          <a:p>
            <a:pPr marL="0" indent="0">
              <a:buNone/>
            </a:pPr>
            <a:r>
              <a:rPr lang="en-IN" dirty="0"/>
              <a:t>    String name();</a:t>
            </a:r>
          </a:p>
          <a:p>
            <a:pPr marL="0" indent="0">
              <a:buNone/>
            </a:pPr>
            <a:r>
              <a:rPr lang="en-IN" dirty="0"/>
              <a:t>    </a:t>
            </a:r>
            <a:r>
              <a:rPr lang="en-IN" dirty="0" err="1"/>
              <a:t>int</a:t>
            </a:r>
            <a:r>
              <a:rPr lang="en-IN" dirty="0"/>
              <a:t> age();</a:t>
            </a:r>
          </a:p>
          <a:p>
            <a:pPr marL="0" indent="0">
              <a:buNone/>
            </a:pPr>
            <a:r>
              <a:rPr lang="en-IN" dirty="0"/>
              <a:t>}</a:t>
            </a:r>
          </a:p>
          <a:p>
            <a:pPr marL="0" indent="0">
              <a:buNone/>
            </a:pPr>
            <a:endParaRPr lang="en-IN" dirty="0"/>
          </a:p>
          <a:p>
            <a:pPr marL="0" indent="0">
              <a:buNone/>
            </a:pPr>
            <a:r>
              <a:rPr lang="en-IN" dirty="0"/>
              <a:t>// Use the annotation on fields</a:t>
            </a:r>
          </a:p>
          <a:p>
            <a:pPr marL="0" indent="0">
              <a:buNone/>
            </a:pPr>
            <a:r>
              <a:rPr lang="en-IN" dirty="0"/>
              <a:t>class Person {</a:t>
            </a:r>
          </a:p>
          <a:p>
            <a:pPr marL="0" indent="0">
              <a:buNone/>
            </a:pPr>
            <a:r>
              <a:rPr lang="en-IN" dirty="0"/>
              <a:t>    @</a:t>
            </a:r>
            <a:r>
              <a:rPr lang="en-IN" dirty="0" err="1"/>
              <a:t>MyFieldAnnotation</a:t>
            </a:r>
            <a:r>
              <a:rPr lang="en-IN" dirty="0"/>
              <a:t>(name = "John Doe", age = 30)</a:t>
            </a:r>
          </a:p>
          <a:p>
            <a:pPr marL="0" indent="0">
              <a:buNone/>
            </a:pPr>
            <a:r>
              <a:rPr lang="en-IN" dirty="0"/>
              <a:t>    private String </a:t>
            </a:r>
            <a:r>
              <a:rPr lang="en-IN" dirty="0" err="1"/>
              <a:t>personInfo</a:t>
            </a:r>
            <a:r>
              <a:rPr lang="en-IN" dirty="0"/>
              <a:t>;</a:t>
            </a:r>
          </a:p>
          <a:p>
            <a:pPr marL="0" indent="0">
              <a:buNone/>
            </a:pPr>
            <a:r>
              <a:rPr lang="en-IN" dirty="0"/>
              <a:t>}</a:t>
            </a:r>
          </a:p>
          <a:p>
            <a:pPr marL="0" indent="0">
              <a:buNone/>
            </a:pPr>
            <a:endParaRPr lang="en-IN" dirty="0"/>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try {</a:t>
            </a:r>
          </a:p>
          <a:p>
            <a:pPr marL="0" indent="0">
              <a:buNone/>
            </a:pPr>
            <a:r>
              <a:rPr lang="en-IN" dirty="0"/>
              <a:t>            // Get the class object</a:t>
            </a:r>
          </a:p>
          <a:p>
            <a:pPr marL="0" indent="0">
              <a:buNone/>
            </a:pPr>
            <a:r>
              <a:rPr lang="en-IN" dirty="0"/>
              <a:t>            Class&lt;Person&gt; </a:t>
            </a:r>
            <a:r>
              <a:rPr lang="en-IN" dirty="0" err="1"/>
              <a:t>obj</a:t>
            </a:r>
            <a:r>
              <a:rPr lang="en-IN" dirty="0"/>
              <a:t> = </a:t>
            </a:r>
            <a:r>
              <a:rPr lang="en-IN" dirty="0" err="1"/>
              <a:t>Person.class</a:t>
            </a:r>
            <a:r>
              <a:rPr lang="en-IN" dirty="0"/>
              <a:t>;</a:t>
            </a:r>
          </a:p>
          <a:p>
            <a:pPr marL="0" indent="0">
              <a:buNone/>
            </a:pPr>
            <a:endParaRPr lang="en-IN" dirty="0"/>
          </a:p>
          <a:p>
            <a:pPr marL="0" indent="0">
              <a:buNone/>
            </a:pPr>
            <a:r>
              <a:rPr lang="en-IN" dirty="0"/>
              <a:t>            // Iterate over declared fields</a:t>
            </a:r>
          </a:p>
          <a:p>
            <a:pPr marL="0" indent="0">
              <a:buNone/>
            </a:pPr>
            <a:r>
              <a:rPr lang="en-IN" dirty="0"/>
              <a:t>            for (Field </a:t>
            </a:r>
            <a:r>
              <a:rPr lang="en-IN" dirty="0" err="1"/>
              <a:t>field</a:t>
            </a:r>
            <a:r>
              <a:rPr lang="en-IN" dirty="0"/>
              <a:t> : </a:t>
            </a:r>
            <a:r>
              <a:rPr lang="en-IN" dirty="0" err="1"/>
              <a:t>obj.getDeclaredFields</a:t>
            </a:r>
            <a:r>
              <a:rPr lang="en-IN" dirty="0"/>
              <a:t>()) {</a:t>
            </a:r>
          </a:p>
          <a:p>
            <a:pPr marL="0" indent="0">
              <a:buNone/>
            </a:pPr>
            <a:r>
              <a:rPr lang="en-IN" dirty="0"/>
              <a:t>                // Check if the annotation is present on the field</a:t>
            </a:r>
          </a:p>
          <a:p>
            <a:pPr marL="0" indent="0">
              <a:buNone/>
            </a:pPr>
            <a:r>
              <a:rPr lang="en-IN" dirty="0"/>
              <a:t>                if (</a:t>
            </a:r>
            <a:r>
              <a:rPr lang="en-IN" dirty="0" err="1"/>
              <a:t>field.isAnnotationPresent</a:t>
            </a:r>
            <a:r>
              <a:rPr lang="en-IN" dirty="0"/>
              <a:t>(</a:t>
            </a:r>
            <a:r>
              <a:rPr lang="en-IN" dirty="0" err="1"/>
              <a:t>MyFieldAnnotation.class</a:t>
            </a:r>
            <a:r>
              <a:rPr lang="en-IN" dirty="0"/>
              <a:t>)) {</a:t>
            </a:r>
          </a:p>
          <a:p>
            <a:pPr marL="0" indent="0">
              <a:buNone/>
            </a:pPr>
            <a:r>
              <a:rPr lang="en-IN" dirty="0"/>
              <a:t>                    // Get the annotation instance</a:t>
            </a:r>
          </a:p>
          <a:p>
            <a:pPr marL="0" indent="0">
              <a:buNone/>
            </a:pPr>
            <a:r>
              <a:rPr lang="en-IN" dirty="0"/>
              <a:t>                    </a:t>
            </a:r>
            <a:r>
              <a:rPr lang="en-IN" dirty="0" err="1"/>
              <a:t>MyFieldAnnotation</a:t>
            </a:r>
            <a:r>
              <a:rPr lang="en-IN" dirty="0"/>
              <a:t> annotation = </a:t>
            </a:r>
            <a:r>
              <a:rPr lang="en-IN" dirty="0" err="1"/>
              <a:t>field.getAnnotation</a:t>
            </a:r>
            <a:r>
              <a:rPr lang="en-IN" dirty="0"/>
              <a:t>(</a:t>
            </a:r>
            <a:r>
              <a:rPr lang="en-IN" dirty="0" err="1"/>
              <a:t>MyFieldAnnotation.class</a:t>
            </a:r>
            <a:r>
              <a:rPr lang="en-IN" dirty="0"/>
              <a:t>);</a:t>
            </a:r>
          </a:p>
          <a:p>
            <a:pPr marL="0" indent="0">
              <a:buNone/>
            </a:pPr>
            <a:endParaRPr lang="en-IN" dirty="0"/>
          </a:p>
          <a:p>
            <a:pPr marL="0" indent="0">
              <a:buNone/>
            </a:pPr>
            <a:r>
              <a:rPr lang="en-IN" dirty="0"/>
              <a:t>                    // Print annotation values</a:t>
            </a:r>
          </a:p>
          <a:p>
            <a:pPr marL="0" indent="0">
              <a:buNone/>
            </a:pPr>
            <a:r>
              <a:rPr lang="en-IN" dirty="0"/>
              <a:t>                    </a:t>
            </a:r>
            <a:r>
              <a:rPr lang="en-IN" dirty="0" err="1"/>
              <a:t>System.out.println</a:t>
            </a:r>
            <a:r>
              <a:rPr lang="en-IN" dirty="0"/>
              <a:t>("Field: " + </a:t>
            </a:r>
            <a:r>
              <a:rPr lang="en-IN" dirty="0" err="1"/>
              <a:t>field.getName</a:t>
            </a:r>
            <a:r>
              <a:rPr lang="en-IN" dirty="0"/>
              <a:t>());</a:t>
            </a:r>
          </a:p>
          <a:p>
            <a:pPr marL="0" indent="0">
              <a:buNone/>
            </a:pPr>
            <a:r>
              <a:rPr lang="en-IN" dirty="0"/>
              <a:t>                    </a:t>
            </a:r>
            <a:r>
              <a:rPr lang="en-IN" dirty="0" err="1"/>
              <a:t>System.out.println</a:t>
            </a:r>
            <a:r>
              <a:rPr lang="en-IN" dirty="0"/>
              <a:t>("Name: " + annotation.name());</a:t>
            </a:r>
          </a:p>
          <a:p>
            <a:pPr marL="0" indent="0">
              <a:buNone/>
            </a:pPr>
            <a:r>
              <a:rPr lang="en-IN" dirty="0"/>
              <a:t>                    </a:t>
            </a:r>
            <a:r>
              <a:rPr lang="en-IN" dirty="0" err="1"/>
              <a:t>System.out.println</a:t>
            </a:r>
            <a:r>
              <a:rPr lang="en-IN" dirty="0"/>
              <a:t>("Age: " + </a:t>
            </a:r>
            <a:r>
              <a:rPr lang="en-IN" dirty="0" err="1"/>
              <a:t>annotation.age</a:t>
            </a:r>
            <a:r>
              <a:rPr lang="en-IN" dirty="0"/>
              <a:t>());</a:t>
            </a:r>
          </a:p>
          <a:p>
            <a:pPr marL="0" indent="0">
              <a:buNone/>
            </a:pPr>
            <a:r>
              <a:rPr lang="en-IN" dirty="0"/>
              <a:t>                }</a:t>
            </a:r>
          </a:p>
          <a:p>
            <a:pPr marL="0" indent="0">
              <a:buNone/>
            </a:pPr>
            <a:r>
              <a:rPr lang="en-IN" dirty="0"/>
              <a:t>            }</a:t>
            </a:r>
          </a:p>
          <a:p>
            <a:pPr marL="0" indent="0">
              <a:buNone/>
            </a:pPr>
            <a:r>
              <a:rPr lang="en-IN" dirty="0"/>
              <a:t>        } catch (Exception e) {</a:t>
            </a:r>
          </a:p>
          <a:p>
            <a:pPr marL="0" indent="0">
              <a:buNone/>
            </a:pPr>
            <a:r>
              <a:rPr lang="en-IN" dirty="0"/>
              <a:t>            </a:t>
            </a:r>
            <a:r>
              <a:rPr lang="en-IN" dirty="0" err="1"/>
              <a:t>e.printStackTrace</a:t>
            </a:r>
            <a:r>
              <a:rPr lang="en-IN" dirty="0"/>
              <a:t>();</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632497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85000" lnSpcReduction="20000"/>
          </a:bodyPr>
          <a:lstStyle/>
          <a:p>
            <a:r>
              <a:rPr lang="en-IN" b="1" dirty="0" smtClean="0"/>
              <a:t>Practice questions – </a:t>
            </a:r>
          </a:p>
          <a:p>
            <a:endParaRPr lang="en-IN" b="1" dirty="0"/>
          </a:p>
          <a:p>
            <a:r>
              <a:rPr lang="en-US" dirty="0" smtClean="0"/>
              <a:t>1- </a:t>
            </a:r>
            <a:r>
              <a:rPr lang="en-US" b="1" dirty="0" smtClean="0"/>
              <a:t>Create </a:t>
            </a:r>
            <a:r>
              <a:rPr lang="en-US" b="1" dirty="0"/>
              <a:t>a custom annotation</a:t>
            </a:r>
            <a:r>
              <a:rPr lang="en-US" dirty="0"/>
              <a:t> @Info with fields author and version. Apply it to a class and retrieve its values using reflection.</a:t>
            </a:r>
          </a:p>
          <a:p>
            <a:r>
              <a:rPr lang="en-US" dirty="0" smtClean="0"/>
              <a:t>2-  </a:t>
            </a:r>
            <a:r>
              <a:rPr lang="en-US" dirty="0"/>
              <a:t>Write a Java program to </a:t>
            </a:r>
            <a:r>
              <a:rPr lang="en-US" b="1" dirty="0"/>
              <a:t>use @Override annotation</a:t>
            </a:r>
            <a:r>
              <a:rPr lang="en-US" dirty="0"/>
              <a:t> to ensure a subclass properly overrides a method from its superclass.</a:t>
            </a:r>
          </a:p>
          <a:p>
            <a:r>
              <a:rPr lang="en-US" dirty="0" smtClean="0"/>
              <a:t>3-  </a:t>
            </a:r>
            <a:r>
              <a:rPr lang="en-US" dirty="0"/>
              <a:t>Implement a Java class with a </a:t>
            </a:r>
            <a:r>
              <a:rPr lang="en-US" b="1" dirty="0"/>
              <a:t>deprecated method</a:t>
            </a:r>
            <a:r>
              <a:rPr lang="en-US" dirty="0"/>
              <a:t>. Use @</a:t>
            </a:r>
            <a:r>
              <a:rPr lang="en-US" dirty="0" err="1"/>
              <a:t>SuppressWarnings</a:t>
            </a:r>
            <a:r>
              <a:rPr lang="en-US" dirty="0"/>
              <a:t>("deprecation") to call the method without warnings.</a:t>
            </a:r>
          </a:p>
          <a:p>
            <a:r>
              <a:rPr lang="en-US" dirty="0" smtClean="0"/>
              <a:t>4-  </a:t>
            </a:r>
            <a:r>
              <a:rPr lang="en-US" dirty="0"/>
              <a:t>Define a custom annotation @Task that can be applied </a:t>
            </a:r>
            <a:r>
              <a:rPr lang="en-US" b="1" dirty="0"/>
              <a:t>only to methods</a:t>
            </a:r>
            <a:r>
              <a:rPr lang="en-US" dirty="0"/>
              <a:t> using @Target. Write a class where this annotation is correctly applied.</a:t>
            </a:r>
          </a:p>
          <a:p>
            <a:endParaRPr lang="en-IN" dirty="0" smtClean="0"/>
          </a:p>
        </p:txBody>
      </p:sp>
    </p:spTree>
    <p:extLst>
      <p:ext uri="{BB962C8B-B14F-4D97-AF65-F5344CB8AC3E}">
        <p14:creationId xmlns:p14="http://schemas.microsoft.com/office/powerpoint/2010/main" val="2988119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lnSpcReduction="20000"/>
          </a:bodyPr>
          <a:lstStyle/>
          <a:p>
            <a:r>
              <a:rPr lang="en-US" dirty="0" smtClean="0"/>
              <a:t>5 - Implement </a:t>
            </a:r>
            <a:r>
              <a:rPr lang="en-US" dirty="0"/>
              <a:t>a program where an annotation marked with </a:t>
            </a:r>
            <a:r>
              <a:rPr lang="en-US" b="1" dirty="0"/>
              <a:t>@Inherited</a:t>
            </a:r>
            <a:r>
              <a:rPr lang="en-US" dirty="0"/>
              <a:t> is applied to a parent class. Check if the child class inherits it.</a:t>
            </a:r>
          </a:p>
          <a:p>
            <a:r>
              <a:rPr lang="en-US" dirty="0" smtClean="0"/>
              <a:t>6 - Create </a:t>
            </a:r>
            <a:r>
              <a:rPr lang="en-US" dirty="0"/>
              <a:t>a Java annotation @</a:t>
            </a:r>
            <a:r>
              <a:rPr lang="en-US" dirty="0" err="1"/>
              <a:t>LogExecutionTime</a:t>
            </a:r>
            <a:r>
              <a:rPr lang="en-US" dirty="0"/>
              <a:t> that can be applied to methods. Use reflection to check if the annotation is present.</a:t>
            </a:r>
          </a:p>
          <a:p>
            <a:r>
              <a:rPr lang="en-US" dirty="0" smtClean="0"/>
              <a:t>7 - Write </a:t>
            </a:r>
            <a:r>
              <a:rPr lang="en-US" dirty="0"/>
              <a:t>a program that defines a </a:t>
            </a:r>
            <a:r>
              <a:rPr lang="en-US" b="1" dirty="0"/>
              <a:t>runtime-retained annotation</a:t>
            </a:r>
            <a:r>
              <a:rPr lang="en-US" dirty="0"/>
              <a:t> @Debug and applies it to methods. Retrieve it dynamically using reflection.</a:t>
            </a:r>
          </a:p>
          <a:p>
            <a:r>
              <a:rPr lang="en-US" dirty="0" smtClean="0"/>
              <a:t>8 - Use </a:t>
            </a:r>
            <a:r>
              <a:rPr lang="en-US" b="1" dirty="0"/>
              <a:t>@Documented annotation</a:t>
            </a:r>
            <a:r>
              <a:rPr lang="en-US" dirty="0"/>
              <a:t> to define an annotation that appears in generated </a:t>
            </a:r>
            <a:r>
              <a:rPr lang="en-US" dirty="0" err="1"/>
              <a:t>JavaDocs</a:t>
            </a:r>
            <a:r>
              <a:rPr lang="en-US" dirty="0"/>
              <a:t>. Apply it to a class and verify its visibility in documentation.</a:t>
            </a:r>
          </a:p>
          <a:p>
            <a:endParaRPr lang="en-IN" dirty="0"/>
          </a:p>
        </p:txBody>
      </p:sp>
    </p:spTree>
    <p:extLst>
      <p:ext uri="{BB962C8B-B14F-4D97-AF65-F5344CB8AC3E}">
        <p14:creationId xmlns:p14="http://schemas.microsoft.com/office/powerpoint/2010/main" val="2988119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32500" lnSpcReduction="20000"/>
          </a:bodyPr>
          <a:lstStyle/>
          <a:p>
            <a:r>
              <a:rPr lang="en-IN" dirty="0" smtClean="0"/>
              <a:t>1 – </a:t>
            </a:r>
          </a:p>
          <a:p>
            <a:pPr marL="0" indent="0">
              <a:buNone/>
            </a:pPr>
            <a:r>
              <a:rPr lang="en-IN" dirty="0"/>
              <a:t>import </a:t>
            </a:r>
            <a:r>
              <a:rPr lang="en-IN" dirty="0" err="1"/>
              <a:t>java.lang.annotation</a:t>
            </a:r>
            <a:r>
              <a:rPr lang="en-IN" dirty="0"/>
              <a:t>.*;</a:t>
            </a:r>
          </a:p>
          <a:p>
            <a:pPr marL="0" indent="0">
              <a:buNone/>
            </a:pPr>
            <a:r>
              <a:rPr lang="en-IN" dirty="0"/>
              <a:t>import </a:t>
            </a:r>
            <a:r>
              <a:rPr lang="en-IN" dirty="0" err="1"/>
              <a:t>java.lang.reflect</a:t>
            </a:r>
            <a:r>
              <a:rPr lang="en-IN" dirty="0"/>
              <a:t>.*;</a:t>
            </a:r>
          </a:p>
          <a:p>
            <a:pPr marL="0" indent="0">
              <a:buNone/>
            </a:pPr>
            <a:endParaRPr lang="en-IN" dirty="0"/>
          </a:p>
          <a:p>
            <a:pPr marL="0" indent="0">
              <a:buNone/>
            </a:pPr>
            <a:r>
              <a:rPr lang="en-IN" dirty="0"/>
              <a:t>@Retention(</a:t>
            </a:r>
            <a:r>
              <a:rPr lang="en-IN" dirty="0" err="1"/>
              <a:t>RetentionPolicy.RUNTIME</a:t>
            </a:r>
            <a:r>
              <a:rPr lang="en-IN" dirty="0"/>
              <a:t>)  // Available at runtime</a:t>
            </a:r>
          </a:p>
          <a:p>
            <a:pPr marL="0" indent="0">
              <a:buNone/>
            </a:pPr>
            <a:r>
              <a:rPr lang="en-IN" dirty="0"/>
              <a:t>@Target(</a:t>
            </a:r>
            <a:r>
              <a:rPr lang="en-IN" dirty="0" err="1"/>
              <a:t>ElementType.TYPE</a:t>
            </a:r>
            <a:r>
              <a:rPr lang="en-IN" dirty="0"/>
              <a:t>)  // Applicable to classes</a:t>
            </a:r>
          </a:p>
          <a:p>
            <a:pPr marL="0" indent="0">
              <a:buNone/>
            </a:pPr>
            <a:r>
              <a:rPr lang="en-IN" dirty="0"/>
              <a:t>@interface Info {</a:t>
            </a:r>
          </a:p>
          <a:p>
            <a:pPr marL="0" indent="0">
              <a:buNone/>
            </a:pPr>
            <a:r>
              <a:rPr lang="en-IN" dirty="0"/>
              <a:t>    String author();</a:t>
            </a:r>
          </a:p>
          <a:p>
            <a:pPr marL="0" indent="0">
              <a:buNone/>
            </a:pPr>
            <a:r>
              <a:rPr lang="en-IN" dirty="0"/>
              <a:t>    String version();</a:t>
            </a:r>
          </a:p>
          <a:p>
            <a:pPr marL="0" indent="0">
              <a:buNone/>
            </a:pPr>
            <a:r>
              <a:rPr lang="en-IN" dirty="0"/>
              <a:t>}</a:t>
            </a:r>
          </a:p>
          <a:p>
            <a:pPr marL="0" indent="0">
              <a:buNone/>
            </a:pPr>
            <a:endParaRPr lang="en-IN" dirty="0"/>
          </a:p>
          <a:p>
            <a:pPr marL="0" indent="0">
              <a:buNone/>
            </a:pPr>
            <a:r>
              <a:rPr lang="en-IN" dirty="0"/>
              <a:t>// Applying annotation</a:t>
            </a:r>
          </a:p>
          <a:p>
            <a:pPr marL="0" indent="0">
              <a:buNone/>
            </a:pPr>
            <a:r>
              <a:rPr lang="en-IN" dirty="0"/>
              <a:t>@Info(author = "John Doe", version = "1.0")</a:t>
            </a:r>
          </a:p>
          <a:p>
            <a:pPr marL="0" indent="0">
              <a:buNone/>
            </a:pPr>
            <a:r>
              <a:rPr lang="en-IN" dirty="0"/>
              <a:t>class </a:t>
            </a:r>
            <a:r>
              <a:rPr lang="en-IN" dirty="0" err="1"/>
              <a:t>MyClass</a:t>
            </a: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AnnotationTest</a:t>
            </a:r>
            <a:r>
              <a:rPr lang="en-IN" dirty="0"/>
              <a:t> {</a:t>
            </a:r>
          </a:p>
          <a:p>
            <a:pPr marL="0" indent="0">
              <a:buNone/>
            </a:pPr>
            <a:r>
              <a:rPr lang="en-IN" dirty="0"/>
              <a:t>    public static void main(String[] </a:t>
            </a:r>
            <a:r>
              <a:rPr lang="en-IN" dirty="0" err="1"/>
              <a:t>args</a:t>
            </a:r>
            <a:r>
              <a:rPr lang="en-IN" dirty="0"/>
              <a:t>) {</a:t>
            </a:r>
          </a:p>
          <a:p>
            <a:pPr marL="0" indent="0">
              <a:buNone/>
            </a:pPr>
            <a:r>
              <a:rPr lang="en-IN" dirty="0"/>
              <a:t>        Class&lt;</a:t>
            </a:r>
            <a:r>
              <a:rPr lang="en-IN" dirty="0" err="1"/>
              <a:t>MyClass</a:t>
            </a:r>
            <a:r>
              <a:rPr lang="en-IN" dirty="0"/>
              <a:t>&gt; </a:t>
            </a:r>
            <a:r>
              <a:rPr lang="en-IN" dirty="0" err="1"/>
              <a:t>obj</a:t>
            </a:r>
            <a:r>
              <a:rPr lang="en-IN" dirty="0"/>
              <a:t> = </a:t>
            </a:r>
            <a:r>
              <a:rPr lang="en-IN" dirty="0" err="1"/>
              <a:t>MyClass.class</a:t>
            </a:r>
            <a:r>
              <a:rPr lang="en-IN" dirty="0"/>
              <a:t>;</a:t>
            </a:r>
          </a:p>
          <a:p>
            <a:pPr marL="0" indent="0">
              <a:buNone/>
            </a:pPr>
            <a:r>
              <a:rPr lang="en-IN" dirty="0"/>
              <a:t>        </a:t>
            </a:r>
          </a:p>
          <a:p>
            <a:pPr marL="0" indent="0">
              <a:buNone/>
            </a:pPr>
            <a:r>
              <a:rPr lang="en-IN" dirty="0"/>
              <a:t>        // Check if annotation is present</a:t>
            </a:r>
          </a:p>
          <a:p>
            <a:pPr marL="0" indent="0">
              <a:buNone/>
            </a:pPr>
            <a:r>
              <a:rPr lang="en-IN" dirty="0"/>
              <a:t>        if (</a:t>
            </a:r>
            <a:r>
              <a:rPr lang="en-IN" dirty="0" err="1"/>
              <a:t>obj.isAnnotationPresent</a:t>
            </a:r>
            <a:r>
              <a:rPr lang="en-IN" dirty="0"/>
              <a:t>(</a:t>
            </a:r>
            <a:r>
              <a:rPr lang="en-IN" dirty="0" err="1"/>
              <a:t>Info.class</a:t>
            </a:r>
            <a:r>
              <a:rPr lang="en-IN" dirty="0"/>
              <a:t>)) {</a:t>
            </a:r>
          </a:p>
          <a:p>
            <a:pPr marL="0" indent="0">
              <a:buNone/>
            </a:pPr>
            <a:r>
              <a:rPr lang="en-IN" dirty="0"/>
              <a:t>            Info </a:t>
            </a:r>
            <a:r>
              <a:rPr lang="en-IN" dirty="0" err="1"/>
              <a:t>info</a:t>
            </a:r>
            <a:r>
              <a:rPr lang="en-IN" dirty="0"/>
              <a:t> = </a:t>
            </a:r>
            <a:r>
              <a:rPr lang="en-IN" dirty="0" err="1"/>
              <a:t>obj.getAnnotation</a:t>
            </a:r>
            <a:r>
              <a:rPr lang="en-IN" dirty="0"/>
              <a:t>(</a:t>
            </a:r>
            <a:r>
              <a:rPr lang="en-IN" dirty="0" err="1"/>
              <a:t>Info.class</a:t>
            </a:r>
            <a:r>
              <a:rPr lang="en-IN" dirty="0"/>
              <a:t>);</a:t>
            </a:r>
          </a:p>
          <a:p>
            <a:pPr marL="0" indent="0">
              <a:buNone/>
            </a:pPr>
            <a:r>
              <a:rPr lang="en-IN" dirty="0"/>
              <a:t>            </a:t>
            </a:r>
            <a:r>
              <a:rPr lang="en-IN" dirty="0" err="1"/>
              <a:t>System.out.println</a:t>
            </a:r>
            <a:r>
              <a:rPr lang="en-IN" dirty="0"/>
              <a:t>("Author: " + </a:t>
            </a:r>
            <a:r>
              <a:rPr lang="en-IN" dirty="0" err="1"/>
              <a:t>info.author</a:t>
            </a:r>
            <a:r>
              <a:rPr lang="en-IN" dirty="0"/>
              <a:t>());</a:t>
            </a:r>
          </a:p>
          <a:p>
            <a:pPr marL="0" indent="0">
              <a:buNone/>
            </a:pPr>
            <a:r>
              <a:rPr lang="en-IN" dirty="0"/>
              <a:t>            </a:t>
            </a:r>
            <a:r>
              <a:rPr lang="en-IN" dirty="0" err="1"/>
              <a:t>System.out.println</a:t>
            </a:r>
            <a:r>
              <a:rPr lang="en-IN" dirty="0"/>
              <a:t>("Version: " + </a:t>
            </a:r>
            <a:r>
              <a:rPr lang="en-IN" dirty="0" err="1"/>
              <a:t>info.version</a:t>
            </a:r>
            <a:r>
              <a:rPr lang="en-IN" dirty="0"/>
              <a:t>());</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988119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7500" lnSpcReduction="20000"/>
          </a:bodyPr>
          <a:lstStyle/>
          <a:p>
            <a:r>
              <a:rPr lang="en-IN" dirty="0" smtClean="0"/>
              <a:t>2 – </a:t>
            </a:r>
          </a:p>
          <a:p>
            <a:pPr marL="0" indent="0">
              <a:buNone/>
            </a:pPr>
            <a:r>
              <a:rPr lang="en-IN" dirty="0"/>
              <a:t>class Parent {</a:t>
            </a:r>
          </a:p>
          <a:p>
            <a:pPr marL="0" indent="0">
              <a:buNone/>
            </a:pPr>
            <a:r>
              <a:rPr lang="en-IN" dirty="0"/>
              <a:t>    void show() {</a:t>
            </a:r>
          </a:p>
          <a:p>
            <a:pPr marL="0" indent="0">
              <a:buNone/>
            </a:pPr>
            <a:r>
              <a:rPr lang="en-IN" dirty="0"/>
              <a:t>        </a:t>
            </a:r>
            <a:r>
              <a:rPr lang="en-IN" dirty="0" err="1"/>
              <a:t>System.out.println</a:t>
            </a:r>
            <a:r>
              <a:rPr lang="en-IN" dirty="0"/>
              <a:t>("Parent class method");</a:t>
            </a:r>
          </a:p>
          <a:p>
            <a:pPr marL="0" indent="0">
              <a:buNone/>
            </a:pPr>
            <a:r>
              <a:rPr lang="en-IN" dirty="0"/>
              <a:t>    }</a:t>
            </a:r>
          </a:p>
          <a:p>
            <a:pPr marL="0" indent="0">
              <a:buNone/>
            </a:pPr>
            <a:r>
              <a:rPr lang="en-IN" dirty="0"/>
              <a:t>}</a:t>
            </a:r>
          </a:p>
          <a:p>
            <a:pPr marL="0" indent="0">
              <a:buNone/>
            </a:pPr>
            <a:endParaRPr lang="en-IN" dirty="0"/>
          </a:p>
          <a:p>
            <a:pPr marL="0" indent="0">
              <a:buNone/>
            </a:pPr>
            <a:r>
              <a:rPr lang="en-IN" dirty="0"/>
              <a:t>class Child extends Parent {</a:t>
            </a:r>
          </a:p>
          <a:p>
            <a:pPr marL="0" indent="0">
              <a:buNone/>
            </a:pPr>
            <a:r>
              <a:rPr lang="en-IN" dirty="0"/>
              <a:t>    @Override</a:t>
            </a:r>
          </a:p>
          <a:p>
            <a:pPr marL="0" indent="0">
              <a:buNone/>
            </a:pPr>
            <a:r>
              <a:rPr lang="en-IN" dirty="0"/>
              <a:t>    void show() {  // Ensures correct method override</a:t>
            </a:r>
          </a:p>
          <a:p>
            <a:pPr marL="0" indent="0">
              <a:buNone/>
            </a:pPr>
            <a:r>
              <a:rPr lang="en-IN" dirty="0"/>
              <a:t>        </a:t>
            </a:r>
            <a:r>
              <a:rPr lang="en-IN" dirty="0" err="1"/>
              <a:t>System.out.println</a:t>
            </a:r>
            <a:r>
              <a:rPr lang="en-IN" dirty="0"/>
              <a:t>("Child class method");</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OverrideExample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Parent </a:t>
            </a:r>
            <a:r>
              <a:rPr lang="en-IN" dirty="0" err="1"/>
              <a:t>obj</a:t>
            </a:r>
            <a:r>
              <a:rPr lang="en-IN" dirty="0"/>
              <a:t> = new Child();</a:t>
            </a:r>
          </a:p>
          <a:p>
            <a:pPr marL="0" indent="0">
              <a:buNone/>
            </a:pPr>
            <a:r>
              <a:rPr lang="en-IN" dirty="0"/>
              <a:t>        </a:t>
            </a:r>
            <a:r>
              <a:rPr lang="en-IN" dirty="0" err="1"/>
              <a:t>obj.show</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988119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70000" lnSpcReduction="20000"/>
          </a:bodyPr>
          <a:lstStyle/>
          <a:p>
            <a:r>
              <a:rPr lang="en-IN" dirty="0" smtClean="0"/>
              <a:t>3 – </a:t>
            </a:r>
          </a:p>
          <a:p>
            <a:pPr marL="0" indent="0">
              <a:buNone/>
            </a:pPr>
            <a:r>
              <a:rPr lang="en-IN" dirty="0"/>
              <a:t>class </a:t>
            </a:r>
            <a:r>
              <a:rPr lang="en-IN" dirty="0" err="1"/>
              <a:t>OldClass</a:t>
            </a:r>
            <a:r>
              <a:rPr lang="en-IN" dirty="0"/>
              <a:t> {</a:t>
            </a:r>
          </a:p>
          <a:p>
            <a:pPr marL="0" indent="0">
              <a:buNone/>
            </a:pPr>
            <a:r>
              <a:rPr lang="en-IN" dirty="0"/>
              <a:t>    @Deprecated</a:t>
            </a:r>
          </a:p>
          <a:p>
            <a:pPr marL="0" indent="0">
              <a:buNone/>
            </a:pPr>
            <a:r>
              <a:rPr lang="en-IN" dirty="0"/>
              <a:t>    public void </a:t>
            </a:r>
            <a:r>
              <a:rPr lang="en-IN" dirty="0" err="1"/>
              <a:t>oldMethod</a:t>
            </a:r>
            <a:r>
              <a:rPr lang="en-IN" dirty="0"/>
              <a:t>() {</a:t>
            </a:r>
          </a:p>
          <a:p>
            <a:pPr marL="0" indent="0">
              <a:buNone/>
            </a:pPr>
            <a:r>
              <a:rPr lang="en-IN" dirty="0"/>
              <a:t>        </a:t>
            </a:r>
            <a:r>
              <a:rPr lang="en-IN" dirty="0" err="1"/>
              <a:t>System.out.println</a:t>
            </a:r>
            <a:r>
              <a:rPr lang="en-IN" dirty="0"/>
              <a:t>("This is a deprecated method.");</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SuppressWarningsExample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OldClass</a:t>
            </a:r>
            <a:r>
              <a:rPr lang="en-IN" dirty="0"/>
              <a:t> </a:t>
            </a:r>
            <a:r>
              <a:rPr lang="en-IN" dirty="0" err="1"/>
              <a:t>obj</a:t>
            </a:r>
            <a:r>
              <a:rPr lang="en-IN" dirty="0"/>
              <a:t> = new </a:t>
            </a:r>
            <a:r>
              <a:rPr lang="en-IN" dirty="0" err="1"/>
              <a:t>OldClass</a:t>
            </a:r>
            <a:r>
              <a:rPr lang="en-IN" dirty="0"/>
              <a:t>();</a:t>
            </a:r>
          </a:p>
          <a:p>
            <a:pPr marL="0" indent="0">
              <a:buNone/>
            </a:pPr>
            <a:r>
              <a:rPr lang="en-IN" dirty="0"/>
              <a:t>        @</a:t>
            </a:r>
            <a:r>
              <a:rPr lang="en-IN" dirty="0" err="1"/>
              <a:t>SuppressWarnings</a:t>
            </a:r>
            <a:r>
              <a:rPr lang="en-IN" dirty="0"/>
              <a:t>("deprecation")</a:t>
            </a:r>
          </a:p>
          <a:p>
            <a:pPr marL="0" indent="0">
              <a:buNone/>
            </a:pPr>
            <a:r>
              <a:rPr lang="en-IN" dirty="0"/>
              <a:t>        </a:t>
            </a:r>
            <a:r>
              <a:rPr lang="en-IN" dirty="0" err="1"/>
              <a:t>obj.oldMethod</a:t>
            </a:r>
            <a:r>
              <a:rPr lang="en-IN" dirty="0"/>
              <a:t>();  // No warning displayed</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2789832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7500" lnSpcReduction="20000"/>
          </a:bodyPr>
          <a:lstStyle/>
          <a:p>
            <a:r>
              <a:rPr lang="en-IN" dirty="0" smtClean="0"/>
              <a:t>4 – </a:t>
            </a:r>
          </a:p>
          <a:p>
            <a:pPr marL="0" indent="0">
              <a:buNone/>
            </a:pPr>
            <a:r>
              <a:rPr lang="en-IN" dirty="0"/>
              <a:t>import </a:t>
            </a:r>
            <a:r>
              <a:rPr lang="en-IN" dirty="0" err="1"/>
              <a:t>java.lang.annotation</a:t>
            </a:r>
            <a:r>
              <a:rPr lang="en-IN" dirty="0"/>
              <a:t>.*;</a:t>
            </a:r>
          </a:p>
          <a:p>
            <a:pPr marL="0" indent="0">
              <a:buNone/>
            </a:pPr>
            <a:endParaRPr lang="en-IN" dirty="0"/>
          </a:p>
          <a:p>
            <a:pPr marL="0" indent="0">
              <a:buNone/>
            </a:pPr>
            <a:r>
              <a:rPr lang="en-IN" dirty="0"/>
              <a:t>@Retention(</a:t>
            </a:r>
            <a:r>
              <a:rPr lang="en-IN" dirty="0" err="1"/>
              <a:t>RetentionPolicy.RUNTIME</a:t>
            </a:r>
            <a:r>
              <a:rPr lang="en-IN" dirty="0"/>
              <a:t>)</a:t>
            </a:r>
          </a:p>
          <a:p>
            <a:pPr marL="0" indent="0">
              <a:buNone/>
            </a:pPr>
            <a:r>
              <a:rPr lang="en-IN" dirty="0"/>
              <a:t>@Target(</a:t>
            </a:r>
            <a:r>
              <a:rPr lang="en-IN" dirty="0" err="1"/>
              <a:t>ElementType.METHOD</a:t>
            </a:r>
            <a:r>
              <a:rPr lang="en-IN" dirty="0"/>
              <a:t>)  // Can be applied only to methods</a:t>
            </a:r>
          </a:p>
          <a:p>
            <a:pPr marL="0" indent="0">
              <a:buNone/>
            </a:pPr>
            <a:r>
              <a:rPr lang="en-IN" dirty="0"/>
              <a:t>@interface Task {</a:t>
            </a:r>
          </a:p>
          <a:p>
            <a:pPr marL="0" indent="0">
              <a:buNone/>
            </a:pPr>
            <a:r>
              <a:rPr lang="en-IN" dirty="0"/>
              <a:t>    String description();</a:t>
            </a:r>
          </a:p>
          <a:p>
            <a:pPr marL="0" indent="0">
              <a:buNone/>
            </a:pPr>
            <a:r>
              <a:rPr lang="en-IN" dirty="0"/>
              <a:t>}</a:t>
            </a:r>
          </a:p>
          <a:p>
            <a:pPr marL="0" indent="0">
              <a:buNone/>
            </a:pPr>
            <a:endParaRPr lang="en-IN" dirty="0"/>
          </a:p>
          <a:p>
            <a:pPr marL="0" indent="0">
              <a:buNone/>
            </a:pPr>
            <a:r>
              <a:rPr lang="en-IN" dirty="0"/>
              <a:t>class Work {</a:t>
            </a:r>
          </a:p>
          <a:p>
            <a:pPr marL="0" indent="0">
              <a:buNone/>
            </a:pPr>
            <a:r>
              <a:rPr lang="en-IN" dirty="0"/>
              <a:t>    @Task(description = "This is a sample task")</a:t>
            </a:r>
          </a:p>
          <a:p>
            <a:pPr marL="0" indent="0">
              <a:buNone/>
            </a:pPr>
            <a:r>
              <a:rPr lang="en-IN" dirty="0"/>
              <a:t>    public void </a:t>
            </a:r>
            <a:r>
              <a:rPr lang="en-IN" dirty="0" err="1"/>
              <a:t>doWork</a:t>
            </a:r>
            <a:r>
              <a:rPr lang="en-IN" dirty="0"/>
              <a:t>() {</a:t>
            </a:r>
          </a:p>
          <a:p>
            <a:pPr marL="0" indent="0">
              <a:buNone/>
            </a:pPr>
            <a:r>
              <a:rPr lang="en-IN" dirty="0"/>
              <a:t>        </a:t>
            </a:r>
            <a:r>
              <a:rPr lang="en-IN" dirty="0" err="1"/>
              <a:t>System.out.println</a:t>
            </a:r>
            <a:r>
              <a:rPr lang="en-IN" dirty="0"/>
              <a:t>("Task is being executed.");</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TaskExample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Work </a:t>
            </a:r>
            <a:r>
              <a:rPr lang="en-IN" dirty="0" err="1"/>
              <a:t>obj</a:t>
            </a:r>
            <a:r>
              <a:rPr lang="en-IN" dirty="0"/>
              <a:t> = new Work();</a:t>
            </a:r>
          </a:p>
          <a:p>
            <a:pPr marL="0" indent="0">
              <a:buNone/>
            </a:pPr>
            <a:r>
              <a:rPr lang="en-IN" dirty="0"/>
              <a:t>        </a:t>
            </a:r>
            <a:r>
              <a:rPr lang="en-IN" dirty="0" err="1"/>
              <a:t>obj.doWork</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2789832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0000" lnSpcReduction="20000"/>
          </a:bodyPr>
          <a:lstStyle/>
          <a:p>
            <a:r>
              <a:rPr lang="en-IN" dirty="0" smtClean="0"/>
              <a:t>5 – </a:t>
            </a:r>
          </a:p>
          <a:p>
            <a:pPr marL="0" indent="0">
              <a:buNone/>
            </a:pPr>
            <a:r>
              <a:rPr lang="en-IN" dirty="0"/>
              <a:t>import </a:t>
            </a:r>
            <a:r>
              <a:rPr lang="en-IN" dirty="0" err="1"/>
              <a:t>java.lang.annotation</a:t>
            </a:r>
            <a:r>
              <a:rPr lang="en-IN" dirty="0"/>
              <a:t>.*;</a:t>
            </a:r>
          </a:p>
          <a:p>
            <a:pPr marL="0" indent="0">
              <a:buNone/>
            </a:pPr>
            <a:endParaRPr lang="en-IN" dirty="0"/>
          </a:p>
          <a:p>
            <a:pPr marL="0" indent="0">
              <a:buNone/>
            </a:pPr>
            <a:r>
              <a:rPr lang="en-IN" dirty="0"/>
              <a:t>@Retention(</a:t>
            </a:r>
            <a:r>
              <a:rPr lang="en-IN" dirty="0" err="1"/>
              <a:t>RetentionPolicy.RUNTIME</a:t>
            </a:r>
            <a:r>
              <a:rPr lang="en-IN" dirty="0"/>
              <a:t>)</a:t>
            </a:r>
          </a:p>
          <a:p>
            <a:pPr marL="0" indent="0">
              <a:buNone/>
            </a:pPr>
            <a:r>
              <a:rPr lang="en-IN" dirty="0"/>
              <a:t>@Target(</a:t>
            </a:r>
            <a:r>
              <a:rPr lang="en-IN" dirty="0" err="1"/>
              <a:t>ElementType.TYPE</a:t>
            </a:r>
            <a:r>
              <a:rPr lang="en-IN" dirty="0"/>
              <a:t>)</a:t>
            </a:r>
          </a:p>
          <a:p>
            <a:pPr marL="0" indent="0">
              <a:buNone/>
            </a:pPr>
            <a:r>
              <a:rPr lang="en-IN" dirty="0"/>
              <a:t>@Inherited  // Allows inheritance of annotation</a:t>
            </a:r>
          </a:p>
          <a:p>
            <a:pPr marL="0" indent="0">
              <a:buNone/>
            </a:pPr>
            <a:r>
              <a:rPr lang="en-IN" dirty="0"/>
              <a:t>@interface </a:t>
            </a:r>
            <a:r>
              <a:rPr lang="en-IN" dirty="0" err="1"/>
              <a:t>InheritedAnnotation</a:t>
            </a:r>
            <a:r>
              <a:rPr lang="en-IN" dirty="0"/>
              <a:t> {</a:t>
            </a:r>
          </a:p>
          <a:p>
            <a:pPr marL="0" indent="0">
              <a:buNone/>
            </a:pPr>
            <a:r>
              <a:rPr lang="en-IN" dirty="0"/>
              <a:t>    String value();</a:t>
            </a:r>
          </a:p>
          <a:p>
            <a:pPr marL="0" indent="0">
              <a:buNone/>
            </a:pPr>
            <a:r>
              <a:rPr lang="en-IN" dirty="0"/>
              <a:t>}</a:t>
            </a:r>
          </a:p>
          <a:p>
            <a:pPr marL="0" indent="0">
              <a:buNone/>
            </a:pPr>
            <a:endParaRPr lang="en-IN" dirty="0"/>
          </a:p>
          <a:p>
            <a:pPr marL="0" indent="0">
              <a:buNone/>
            </a:pPr>
            <a:r>
              <a:rPr lang="en-IN" dirty="0"/>
              <a:t>@</a:t>
            </a:r>
            <a:r>
              <a:rPr lang="en-IN" dirty="0" err="1"/>
              <a:t>InheritedAnnotation</a:t>
            </a:r>
            <a:r>
              <a:rPr lang="en-IN" dirty="0"/>
              <a:t>(value = "Parent Class Annotation")</a:t>
            </a:r>
          </a:p>
          <a:p>
            <a:pPr marL="0" indent="0">
              <a:buNone/>
            </a:pPr>
            <a:r>
              <a:rPr lang="en-IN" dirty="0"/>
              <a:t>class Parent {}</a:t>
            </a:r>
          </a:p>
          <a:p>
            <a:pPr marL="0" indent="0">
              <a:buNone/>
            </a:pPr>
            <a:endParaRPr lang="en-IN" dirty="0"/>
          </a:p>
          <a:p>
            <a:pPr marL="0" indent="0">
              <a:buNone/>
            </a:pPr>
            <a:r>
              <a:rPr lang="en-IN" dirty="0"/>
              <a:t>class Child extends Parent {}</a:t>
            </a:r>
          </a:p>
          <a:p>
            <a:pPr marL="0" indent="0">
              <a:buNone/>
            </a:pPr>
            <a:endParaRPr lang="en-IN" dirty="0"/>
          </a:p>
          <a:p>
            <a:pPr marL="0" indent="0">
              <a:buNone/>
            </a:pPr>
            <a:r>
              <a:rPr lang="en-IN" dirty="0"/>
              <a:t>public class </a:t>
            </a:r>
            <a:r>
              <a:rPr lang="en-IN" dirty="0" err="1"/>
              <a:t>InheritedAnnotationExample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if (</a:t>
            </a:r>
            <a:r>
              <a:rPr lang="en-IN" dirty="0" err="1"/>
              <a:t>Child.class.isAnnotationPresent</a:t>
            </a:r>
            <a:r>
              <a:rPr lang="en-IN" dirty="0"/>
              <a:t>(</a:t>
            </a:r>
            <a:r>
              <a:rPr lang="en-IN" dirty="0" err="1"/>
              <a:t>InheritedAnnotation.class</a:t>
            </a:r>
            <a:r>
              <a:rPr lang="en-IN" dirty="0"/>
              <a:t>)) {</a:t>
            </a:r>
          </a:p>
          <a:p>
            <a:pPr marL="0" indent="0">
              <a:buNone/>
            </a:pPr>
            <a:r>
              <a:rPr lang="en-IN" dirty="0"/>
              <a:t>            </a:t>
            </a:r>
            <a:r>
              <a:rPr lang="en-IN" dirty="0" err="1"/>
              <a:t>InheritedAnnotation</a:t>
            </a:r>
            <a:r>
              <a:rPr lang="en-IN" dirty="0"/>
              <a:t> annotation = </a:t>
            </a:r>
            <a:r>
              <a:rPr lang="en-IN" dirty="0" err="1"/>
              <a:t>Child.class.getAnnotation</a:t>
            </a:r>
            <a:r>
              <a:rPr lang="en-IN" dirty="0"/>
              <a:t>(</a:t>
            </a:r>
            <a:r>
              <a:rPr lang="en-IN" dirty="0" err="1"/>
              <a:t>InheritedAnnotation.class</a:t>
            </a:r>
            <a:r>
              <a:rPr lang="en-IN" dirty="0"/>
              <a:t>);</a:t>
            </a:r>
          </a:p>
          <a:p>
            <a:pPr marL="0" indent="0">
              <a:buNone/>
            </a:pPr>
            <a:r>
              <a:rPr lang="en-IN" dirty="0"/>
              <a:t>            </a:t>
            </a:r>
            <a:r>
              <a:rPr lang="en-IN" dirty="0" err="1"/>
              <a:t>System.out.println</a:t>
            </a:r>
            <a:r>
              <a:rPr lang="en-IN" dirty="0"/>
              <a:t>("Child class inherited annotation: " + </a:t>
            </a:r>
            <a:r>
              <a:rPr lang="en-IN" dirty="0" err="1"/>
              <a:t>annotation.value</a:t>
            </a:r>
            <a:r>
              <a:rPr lang="en-IN" dirty="0"/>
              <a:t>());</a:t>
            </a:r>
          </a:p>
          <a:p>
            <a:pPr marL="0" indent="0">
              <a:buNone/>
            </a:pPr>
            <a:r>
              <a:rPr lang="en-IN" dirty="0"/>
              <a:t>        } else {</a:t>
            </a:r>
          </a:p>
          <a:p>
            <a:pPr marL="0" indent="0">
              <a:buNone/>
            </a:pPr>
            <a:r>
              <a:rPr lang="en-IN" dirty="0"/>
              <a:t>            </a:t>
            </a:r>
            <a:r>
              <a:rPr lang="en-IN" dirty="0" err="1"/>
              <a:t>System.out.println</a:t>
            </a:r>
            <a:r>
              <a:rPr lang="en-IN" dirty="0"/>
              <a:t>("Child class did not inherit annotation.");</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2789832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7500" lnSpcReduction="20000"/>
          </a:bodyPr>
          <a:lstStyle/>
          <a:p>
            <a:r>
              <a:rPr lang="en-IN" dirty="0" smtClean="0"/>
              <a:t>6 – </a:t>
            </a:r>
          </a:p>
          <a:p>
            <a:pPr marL="0" indent="0">
              <a:buNone/>
            </a:pPr>
            <a:r>
              <a:rPr lang="en-IN" dirty="0"/>
              <a:t>import </a:t>
            </a:r>
            <a:r>
              <a:rPr lang="en-IN" dirty="0" err="1"/>
              <a:t>java.lang.annotation</a:t>
            </a:r>
            <a:r>
              <a:rPr lang="en-IN" dirty="0"/>
              <a:t>.*;</a:t>
            </a:r>
          </a:p>
          <a:p>
            <a:pPr marL="0" indent="0">
              <a:buNone/>
            </a:pPr>
            <a:r>
              <a:rPr lang="en-IN" dirty="0"/>
              <a:t>import </a:t>
            </a:r>
            <a:r>
              <a:rPr lang="en-IN" dirty="0" err="1"/>
              <a:t>java.lang.reflect</a:t>
            </a:r>
            <a:r>
              <a:rPr lang="en-IN" dirty="0"/>
              <a:t>.*;</a:t>
            </a:r>
          </a:p>
          <a:p>
            <a:pPr marL="0" indent="0">
              <a:buNone/>
            </a:pPr>
            <a:endParaRPr lang="en-IN" dirty="0"/>
          </a:p>
          <a:p>
            <a:pPr marL="0" indent="0">
              <a:buNone/>
            </a:pPr>
            <a:r>
              <a:rPr lang="en-IN" dirty="0"/>
              <a:t>@Retention(</a:t>
            </a:r>
            <a:r>
              <a:rPr lang="en-IN" dirty="0" err="1"/>
              <a:t>RetentionPolicy.RUNTIME</a:t>
            </a:r>
            <a:r>
              <a:rPr lang="en-IN" dirty="0"/>
              <a:t>)</a:t>
            </a:r>
          </a:p>
          <a:p>
            <a:pPr marL="0" indent="0">
              <a:buNone/>
            </a:pPr>
            <a:r>
              <a:rPr lang="en-IN" dirty="0"/>
              <a:t>@Target(</a:t>
            </a:r>
            <a:r>
              <a:rPr lang="en-IN" dirty="0" err="1"/>
              <a:t>ElementType.METHOD</a:t>
            </a:r>
            <a:r>
              <a:rPr lang="en-IN" dirty="0"/>
              <a:t>)</a:t>
            </a:r>
          </a:p>
          <a:p>
            <a:pPr marL="0" indent="0">
              <a:buNone/>
            </a:pPr>
            <a:r>
              <a:rPr lang="en-IN" dirty="0"/>
              <a:t>@interface </a:t>
            </a:r>
            <a:r>
              <a:rPr lang="en-IN" dirty="0" err="1"/>
              <a:t>LogExecutionTime</a:t>
            </a:r>
            <a:r>
              <a:rPr lang="en-IN" dirty="0"/>
              <a:t> {}</a:t>
            </a:r>
          </a:p>
          <a:p>
            <a:pPr marL="0" indent="0">
              <a:buNone/>
            </a:pPr>
            <a:endParaRPr lang="en-IN" dirty="0"/>
          </a:p>
          <a:p>
            <a:pPr marL="0" indent="0">
              <a:buNone/>
            </a:pPr>
            <a:r>
              <a:rPr lang="en-IN" dirty="0"/>
              <a:t>class </a:t>
            </a:r>
            <a:r>
              <a:rPr lang="en-IN" dirty="0" err="1"/>
              <a:t>TestClass</a:t>
            </a:r>
            <a:r>
              <a:rPr lang="en-IN" dirty="0"/>
              <a:t> {</a:t>
            </a:r>
          </a:p>
          <a:p>
            <a:pPr marL="0" indent="0">
              <a:buNone/>
            </a:pPr>
            <a:r>
              <a:rPr lang="en-IN" dirty="0"/>
              <a:t>    @</a:t>
            </a:r>
            <a:r>
              <a:rPr lang="en-IN" dirty="0" err="1"/>
              <a:t>LogExecutionTime</a:t>
            </a:r>
            <a:endParaRPr lang="en-IN" dirty="0"/>
          </a:p>
          <a:p>
            <a:pPr marL="0" indent="0">
              <a:buNone/>
            </a:pPr>
            <a:r>
              <a:rPr lang="en-IN" dirty="0"/>
              <a:t>    public void execute() {</a:t>
            </a:r>
          </a:p>
          <a:p>
            <a:pPr marL="0" indent="0">
              <a:buNone/>
            </a:pPr>
            <a:r>
              <a:rPr lang="en-IN" dirty="0"/>
              <a:t>        </a:t>
            </a:r>
            <a:r>
              <a:rPr lang="en-IN" dirty="0" err="1"/>
              <a:t>System.out.println</a:t>
            </a:r>
            <a:r>
              <a:rPr lang="en-IN" dirty="0"/>
              <a:t>("Executing method...");</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LogExecutionTimeExample</a:t>
            </a:r>
            <a:r>
              <a:rPr lang="en-IN" dirty="0"/>
              <a:t> {</a:t>
            </a:r>
          </a:p>
          <a:p>
            <a:pPr marL="0" indent="0">
              <a:buNone/>
            </a:pPr>
            <a:r>
              <a:rPr lang="en-IN" dirty="0"/>
              <a:t>    public static void main(String[] </a:t>
            </a:r>
            <a:r>
              <a:rPr lang="en-IN" dirty="0" err="1"/>
              <a:t>args</a:t>
            </a:r>
            <a:r>
              <a:rPr lang="en-IN" dirty="0"/>
              <a:t>) throws Exception {</a:t>
            </a:r>
          </a:p>
          <a:p>
            <a:pPr marL="0" indent="0">
              <a:buNone/>
            </a:pPr>
            <a:r>
              <a:rPr lang="en-IN" dirty="0"/>
              <a:t>        Method </a:t>
            </a:r>
            <a:r>
              <a:rPr lang="en-IN" dirty="0" err="1"/>
              <a:t>method</a:t>
            </a:r>
            <a:r>
              <a:rPr lang="en-IN" dirty="0"/>
              <a:t> = </a:t>
            </a:r>
            <a:r>
              <a:rPr lang="en-IN" dirty="0" err="1"/>
              <a:t>TestClass.class.getMethod</a:t>
            </a:r>
            <a:r>
              <a:rPr lang="en-IN" dirty="0"/>
              <a:t>("execute");</a:t>
            </a:r>
          </a:p>
          <a:p>
            <a:pPr marL="0" indent="0">
              <a:buNone/>
            </a:pPr>
            <a:r>
              <a:rPr lang="en-IN" dirty="0"/>
              <a:t>        if (</a:t>
            </a:r>
            <a:r>
              <a:rPr lang="en-IN" dirty="0" err="1"/>
              <a:t>method.isAnnotationPresent</a:t>
            </a:r>
            <a:r>
              <a:rPr lang="en-IN" dirty="0"/>
              <a:t>(</a:t>
            </a:r>
            <a:r>
              <a:rPr lang="en-IN" dirty="0" err="1"/>
              <a:t>LogExecutionTime.class</a:t>
            </a:r>
            <a:r>
              <a:rPr lang="en-IN" dirty="0"/>
              <a:t>)) {</a:t>
            </a:r>
          </a:p>
          <a:p>
            <a:pPr marL="0" indent="0">
              <a:buNone/>
            </a:pPr>
            <a:r>
              <a:rPr lang="en-IN" dirty="0"/>
              <a:t>            </a:t>
            </a:r>
            <a:r>
              <a:rPr lang="en-IN" dirty="0" err="1"/>
              <a:t>System.out.println</a:t>
            </a:r>
            <a:r>
              <a:rPr lang="en-IN" dirty="0"/>
              <a:t>("</a:t>
            </a:r>
            <a:r>
              <a:rPr lang="en-IN" dirty="0" err="1"/>
              <a:t>LogExecutionTime</a:t>
            </a:r>
            <a:r>
              <a:rPr lang="en-IN" dirty="0"/>
              <a:t> annotation is present!");</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278983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40000" lnSpcReduction="20000"/>
          </a:bodyPr>
          <a:lstStyle/>
          <a:p>
            <a:r>
              <a:rPr lang="en-IN" dirty="0" smtClean="0"/>
              <a:t>7 – </a:t>
            </a:r>
          </a:p>
          <a:p>
            <a:pPr marL="0" indent="0">
              <a:buNone/>
            </a:pPr>
            <a:r>
              <a:rPr lang="en-IN" dirty="0"/>
              <a:t>import </a:t>
            </a:r>
            <a:r>
              <a:rPr lang="en-IN" dirty="0" err="1"/>
              <a:t>java.lang.annotation</a:t>
            </a:r>
            <a:r>
              <a:rPr lang="en-IN" dirty="0"/>
              <a:t>.*;</a:t>
            </a:r>
          </a:p>
          <a:p>
            <a:pPr marL="0" indent="0">
              <a:buNone/>
            </a:pPr>
            <a:r>
              <a:rPr lang="en-IN" dirty="0"/>
              <a:t>import </a:t>
            </a:r>
            <a:r>
              <a:rPr lang="en-IN" dirty="0" err="1"/>
              <a:t>java.lang.reflect</a:t>
            </a:r>
            <a:r>
              <a:rPr lang="en-IN" dirty="0"/>
              <a:t>.*;</a:t>
            </a:r>
          </a:p>
          <a:p>
            <a:pPr marL="0" indent="0">
              <a:buNone/>
            </a:pPr>
            <a:endParaRPr lang="en-IN" dirty="0"/>
          </a:p>
          <a:p>
            <a:pPr marL="0" indent="0">
              <a:buNone/>
            </a:pPr>
            <a:r>
              <a:rPr lang="en-IN" dirty="0"/>
              <a:t>@Retention(</a:t>
            </a:r>
            <a:r>
              <a:rPr lang="en-IN" dirty="0" err="1"/>
              <a:t>RetentionPolicy.RUNTIME</a:t>
            </a:r>
            <a:r>
              <a:rPr lang="en-IN" dirty="0"/>
              <a:t>)  // Available at runtime</a:t>
            </a:r>
          </a:p>
          <a:p>
            <a:pPr marL="0" indent="0">
              <a:buNone/>
            </a:pPr>
            <a:r>
              <a:rPr lang="en-IN" dirty="0"/>
              <a:t>@Target(</a:t>
            </a:r>
            <a:r>
              <a:rPr lang="en-IN" dirty="0" err="1"/>
              <a:t>ElementType.METHOD</a:t>
            </a:r>
            <a:r>
              <a:rPr lang="en-IN" dirty="0"/>
              <a:t>)</a:t>
            </a:r>
          </a:p>
          <a:p>
            <a:pPr marL="0" indent="0">
              <a:buNone/>
            </a:pPr>
            <a:r>
              <a:rPr lang="en-IN" dirty="0"/>
              <a:t>@interface Debug {</a:t>
            </a:r>
          </a:p>
          <a:p>
            <a:pPr marL="0" indent="0">
              <a:buNone/>
            </a:pPr>
            <a:r>
              <a:rPr lang="en-IN" dirty="0"/>
              <a:t>    String level();</a:t>
            </a:r>
          </a:p>
          <a:p>
            <a:pPr marL="0" indent="0">
              <a:buNone/>
            </a:pPr>
            <a:r>
              <a:rPr lang="en-IN" dirty="0"/>
              <a:t>}</a:t>
            </a:r>
          </a:p>
          <a:p>
            <a:pPr marL="0" indent="0">
              <a:buNone/>
            </a:pPr>
            <a:endParaRPr lang="en-IN" dirty="0"/>
          </a:p>
          <a:p>
            <a:pPr marL="0" indent="0">
              <a:buNone/>
            </a:pPr>
            <a:r>
              <a:rPr lang="en-IN" dirty="0"/>
              <a:t>class </a:t>
            </a:r>
            <a:r>
              <a:rPr lang="en-IN" dirty="0" err="1"/>
              <a:t>DebugExample</a:t>
            </a:r>
            <a:r>
              <a:rPr lang="en-IN" dirty="0"/>
              <a:t> {</a:t>
            </a:r>
          </a:p>
          <a:p>
            <a:pPr marL="0" indent="0">
              <a:buNone/>
            </a:pPr>
            <a:r>
              <a:rPr lang="en-IN" dirty="0"/>
              <a:t>    @Debug(level = "HIGH")</a:t>
            </a:r>
          </a:p>
          <a:p>
            <a:pPr marL="0" indent="0">
              <a:buNone/>
            </a:pPr>
            <a:r>
              <a:rPr lang="en-IN" dirty="0"/>
              <a:t>    public void </a:t>
            </a:r>
            <a:r>
              <a:rPr lang="en-IN" dirty="0" err="1"/>
              <a:t>testMethod</a:t>
            </a:r>
            <a:r>
              <a:rPr lang="en-IN" dirty="0"/>
              <a:t>() {</a:t>
            </a:r>
          </a:p>
          <a:p>
            <a:pPr marL="0" indent="0">
              <a:buNone/>
            </a:pPr>
            <a:r>
              <a:rPr lang="en-IN" dirty="0"/>
              <a:t>        </a:t>
            </a:r>
            <a:r>
              <a:rPr lang="en-IN" dirty="0" err="1"/>
              <a:t>System.out.println</a:t>
            </a:r>
            <a:r>
              <a:rPr lang="en-IN" dirty="0"/>
              <a:t>("Debugging...");</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DebugReflectionExample</a:t>
            </a:r>
            <a:r>
              <a:rPr lang="en-IN" dirty="0"/>
              <a:t> {</a:t>
            </a:r>
          </a:p>
          <a:p>
            <a:pPr marL="0" indent="0">
              <a:buNone/>
            </a:pPr>
            <a:r>
              <a:rPr lang="en-IN" dirty="0"/>
              <a:t>    public static void main(String[] </a:t>
            </a:r>
            <a:r>
              <a:rPr lang="en-IN" dirty="0" err="1"/>
              <a:t>args</a:t>
            </a:r>
            <a:r>
              <a:rPr lang="en-IN" dirty="0"/>
              <a:t>) throws Exception {</a:t>
            </a:r>
          </a:p>
          <a:p>
            <a:pPr marL="0" indent="0">
              <a:buNone/>
            </a:pPr>
            <a:r>
              <a:rPr lang="en-IN" dirty="0"/>
              <a:t>        Method </a:t>
            </a:r>
            <a:r>
              <a:rPr lang="en-IN" dirty="0" err="1"/>
              <a:t>method</a:t>
            </a:r>
            <a:r>
              <a:rPr lang="en-IN" dirty="0"/>
              <a:t> = </a:t>
            </a:r>
            <a:r>
              <a:rPr lang="en-IN" dirty="0" err="1"/>
              <a:t>DebugExample.class.getMethod</a:t>
            </a:r>
            <a:r>
              <a:rPr lang="en-IN" dirty="0"/>
              <a:t>("</a:t>
            </a:r>
            <a:r>
              <a:rPr lang="en-IN" dirty="0" err="1"/>
              <a:t>testMethod</a:t>
            </a:r>
            <a:r>
              <a:rPr lang="en-IN" dirty="0"/>
              <a:t>");</a:t>
            </a:r>
          </a:p>
          <a:p>
            <a:pPr marL="0" indent="0">
              <a:buNone/>
            </a:pPr>
            <a:r>
              <a:rPr lang="en-IN" dirty="0"/>
              <a:t>        if (</a:t>
            </a:r>
            <a:r>
              <a:rPr lang="en-IN" dirty="0" err="1"/>
              <a:t>method.isAnnotationPresent</a:t>
            </a:r>
            <a:r>
              <a:rPr lang="en-IN" dirty="0"/>
              <a:t>(</a:t>
            </a:r>
            <a:r>
              <a:rPr lang="en-IN" dirty="0" err="1"/>
              <a:t>Debug.class</a:t>
            </a:r>
            <a:r>
              <a:rPr lang="en-IN" dirty="0"/>
              <a:t>)) {</a:t>
            </a:r>
          </a:p>
          <a:p>
            <a:pPr marL="0" indent="0">
              <a:buNone/>
            </a:pPr>
            <a:r>
              <a:rPr lang="en-IN" dirty="0"/>
              <a:t>            Debug </a:t>
            </a:r>
            <a:r>
              <a:rPr lang="en-IN" dirty="0" err="1"/>
              <a:t>debug</a:t>
            </a:r>
            <a:r>
              <a:rPr lang="en-IN" dirty="0"/>
              <a:t> = </a:t>
            </a:r>
            <a:r>
              <a:rPr lang="en-IN" dirty="0" err="1"/>
              <a:t>method.getAnnotation</a:t>
            </a:r>
            <a:r>
              <a:rPr lang="en-IN" dirty="0"/>
              <a:t>(</a:t>
            </a:r>
            <a:r>
              <a:rPr lang="en-IN" dirty="0" err="1"/>
              <a:t>Debug.class</a:t>
            </a:r>
            <a:r>
              <a:rPr lang="en-IN" dirty="0"/>
              <a:t>);</a:t>
            </a:r>
          </a:p>
          <a:p>
            <a:pPr marL="0" indent="0">
              <a:buNone/>
            </a:pPr>
            <a:r>
              <a:rPr lang="en-IN" dirty="0"/>
              <a:t>            </a:t>
            </a:r>
            <a:r>
              <a:rPr lang="en-IN" dirty="0" err="1"/>
              <a:t>System.out.println</a:t>
            </a:r>
            <a:r>
              <a:rPr lang="en-IN" dirty="0"/>
              <a:t>("Debug Level: " + </a:t>
            </a:r>
            <a:r>
              <a:rPr lang="en-IN" dirty="0" err="1"/>
              <a:t>debug.level</a:t>
            </a:r>
            <a:r>
              <a:rPr lang="en-IN" dirty="0"/>
              <a:t>());</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278983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32500" lnSpcReduction="20000"/>
          </a:bodyPr>
          <a:lstStyle/>
          <a:p>
            <a:r>
              <a:rPr lang="en-IN" dirty="0" smtClean="0"/>
              <a:t>8 – </a:t>
            </a:r>
          </a:p>
          <a:p>
            <a:pPr marL="0" indent="0">
              <a:buNone/>
            </a:pPr>
            <a:r>
              <a:rPr lang="en-IN" dirty="0"/>
              <a:t>import </a:t>
            </a:r>
            <a:r>
              <a:rPr lang="en-IN" dirty="0" err="1"/>
              <a:t>java.lang.annotation</a:t>
            </a:r>
            <a:r>
              <a:rPr lang="en-IN" dirty="0"/>
              <a:t>.*;</a:t>
            </a:r>
          </a:p>
          <a:p>
            <a:pPr marL="0" indent="0">
              <a:buNone/>
            </a:pPr>
            <a:endParaRPr lang="en-IN" dirty="0"/>
          </a:p>
          <a:p>
            <a:pPr marL="0" indent="0">
              <a:buNone/>
            </a:pPr>
            <a:r>
              <a:rPr lang="en-IN" dirty="0"/>
              <a:t>/**</a:t>
            </a:r>
          </a:p>
          <a:p>
            <a:pPr marL="0" indent="0">
              <a:buNone/>
            </a:pPr>
            <a:r>
              <a:rPr lang="en-IN" dirty="0"/>
              <a:t> * Custom annotation that will appear in </a:t>
            </a:r>
            <a:r>
              <a:rPr lang="en-IN" dirty="0" err="1"/>
              <a:t>JavaDocs</a:t>
            </a:r>
            <a:endParaRPr lang="en-IN" dirty="0"/>
          </a:p>
          <a:p>
            <a:pPr marL="0" indent="0">
              <a:buNone/>
            </a:pPr>
            <a:r>
              <a:rPr lang="en-IN" dirty="0"/>
              <a:t> */</a:t>
            </a:r>
          </a:p>
          <a:p>
            <a:pPr marL="0" indent="0">
              <a:buNone/>
            </a:pPr>
            <a:r>
              <a:rPr lang="en-IN" dirty="0"/>
              <a:t>@Documented</a:t>
            </a:r>
          </a:p>
          <a:p>
            <a:pPr marL="0" indent="0">
              <a:buNone/>
            </a:pPr>
            <a:r>
              <a:rPr lang="en-IN" dirty="0"/>
              <a:t>@Retention(</a:t>
            </a:r>
            <a:r>
              <a:rPr lang="en-IN" dirty="0" err="1"/>
              <a:t>RetentionPolicy.RUNTIME</a:t>
            </a:r>
            <a:r>
              <a:rPr lang="en-IN" dirty="0"/>
              <a:t>)</a:t>
            </a:r>
          </a:p>
          <a:p>
            <a:pPr marL="0" indent="0">
              <a:buNone/>
            </a:pPr>
            <a:r>
              <a:rPr lang="en-IN" dirty="0"/>
              <a:t>@Target(</a:t>
            </a:r>
            <a:r>
              <a:rPr lang="en-IN" dirty="0" err="1"/>
              <a:t>ElementType.TYPE</a:t>
            </a:r>
            <a:r>
              <a:rPr lang="en-IN" dirty="0"/>
              <a:t>)</a:t>
            </a:r>
          </a:p>
          <a:p>
            <a:pPr marL="0" indent="0">
              <a:buNone/>
            </a:pPr>
            <a:r>
              <a:rPr lang="en-IN" dirty="0"/>
              <a:t>@interface API {</a:t>
            </a:r>
          </a:p>
          <a:p>
            <a:pPr marL="0" indent="0">
              <a:buNone/>
            </a:pPr>
            <a:r>
              <a:rPr lang="en-IN" dirty="0"/>
              <a:t>    String version();</a:t>
            </a:r>
          </a:p>
          <a:p>
            <a:pPr marL="0" indent="0">
              <a:buNone/>
            </a:pPr>
            <a:r>
              <a:rPr lang="en-IN" dirty="0"/>
              <a:t>}</a:t>
            </a:r>
          </a:p>
          <a:p>
            <a:pPr marL="0" indent="0">
              <a:buNone/>
            </a:pPr>
            <a:endParaRPr lang="en-IN" dirty="0"/>
          </a:p>
          <a:p>
            <a:pPr marL="0" indent="0">
              <a:buNone/>
            </a:pPr>
            <a:r>
              <a:rPr lang="en-IN" dirty="0"/>
              <a:t>/**</a:t>
            </a:r>
          </a:p>
          <a:p>
            <a:pPr marL="0" indent="0">
              <a:buNone/>
            </a:pPr>
            <a:r>
              <a:rPr lang="en-IN" dirty="0"/>
              <a:t> * This is a sample class using @API annotation.</a:t>
            </a:r>
          </a:p>
          <a:p>
            <a:pPr marL="0" indent="0">
              <a:buNone/>
            </a:pPr>
            <a:r>
              <a:rPr lang="en-IN" dirty="0"/>
              <a:t> */</a:t>
            </a:r>
          </a:p>
          <a:p>
            <a:pPr marL="0" indent="0">
              <a:buNone/>
            </a:pPr>
            <a:r>
              <a:rPr lang="en-IN" dirty="0"/>
              <a:t>@API(version = "2.1")</a:t>
            </a:r>
          </a:p>
          <a:p>
            <a:pPr marL="0" indent="0">
              <a:buNone/>
            </a:pPr>
            <a:r>
              <a:rPr lang="en-IN" dirty="0"/>
              <a:t>class </a:t>
            </a:r>
            <a:r>
              <a:rPr lang="en-IN" dirty="0" err="1"/>
              <a:t>MyService</a:t>
            </a:r>
            <a:r>
              <a:rPr lang="en-IN" dirty="0"/>
              <a:t> {</a:t>
            </a:r>
          </a:p>
          <a:p>
            <a:pPr marL="0" indent="0">
              <a:buNone/>
            </a:pPr>
            <a:r>
              <a:rPr lang="en-IN" dirty="0"/>
              <a:t>    public void perform() {</a:t>
            </a:r>
          </a:p>
          <a:p>
            <a:pPr marL="0" indent="0">
              <a:buNone/>
            </a:pPr>
            <a:r>
              <a:rPr lang="en-IN" dirty="0"/>
              <a:t>        </a:t>
            </a:r>
            <a:r>
              <a:rPr lang="en-IN" dirty="0" err="1"/>
              <a:t>System.out.println</a:t>
            </a:r>
            <a:r>
              <a:rPr lang="en-IN" dirty="0"/>
              <a:t>("Service running...");</a:t>
            </a:r>
          </a:p>
          <a:p>
            <a:pPr marL="0" indent="0">
              <a:buNone/>
            </a:pPr>
            <a:r>
              <a:rPr lang="en-IN" dirty="0"/>
              <a:t>    }</a:t>
            </a:r>
          </a:p>
          <a:p>
            <a:pPr marL="0" indent="0">
              <a:buNone/>
            </a:pPr>
            <a:r>
              <a:rPr lang="en-IN" dirty="0"/>
              <a:t>}</a:t>
            </a:r>
          </a:p>
          <a:p>
            <a:pPr marL="0" indent="0">
              <a:buNone/>
            </a:pPr>
            <a:endParaRPr lang="en-IN" dirty="0"/>
          </a:p>
          <a:p>
            <a:pPr marL="0" indent="0">
              <a:buNone/>
            </a:pPr>
            <a:r>
              <a:rPr lang="en-IN" dirty="0"/>
              <a:t>public class </a:t>
            </a:r>
            <a:r>
              <a:rPr lang="en-IN" dirty="0" err="1"/>
              <a:t>DocumentedAnnotationExample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MyService</a:t>
            </a:r>
            <a:r>
              <a:rPr lang="en-IN" dirty="0"/>
              <a:t> service = new </a:t>
            </a:r>
            <a:r>
              <a:rPr lang="en-IN" dirty="0" err="1"/>
              <a:t>MyService</a:t>
            </a:r>
            <a:r>
              <a:rPr lang="en-IN" dirty="0"/>
              <a:t>();</a:t>
            </a:r>
          </a:p>
          <a:p>
            <a:pPr marL="0" indent="0">
              <a:buNone/>
            </a:pPr>
            <a:r>
              <a:rPr lang="en-IN" dirty="0"/>
              <a:t>        </a:t>
            </a:r>
            <a:r>
              <a:rPr lang="en-IN" dirty="0" err="1"/>
              <a:t>service.perform</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278983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endParaRPr lang="en-IN" dirty="0"/>
          </a:p>
        </p:txBody>
      </p:sp>
    </p:spTree>
    <p:extLst>
      <p:ext uri="{BB962C8B-B14F-4D97-AF65-F5344CB8AC3E}">
        <p14:creationId xmlns:p14="http://schemas.microsoft.com/office/powerpoint/2010/main" val="29881191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2130</Words>
  <Application>Microsoft Office PowerPoint</Application>
  <PresentationFormat>On-screen Show (4:3)</PresentationFormat>
  <Paragraphs>480</Paragraphs>
  <Slides>32</Slides>
  <Notes>2</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Java Utilities: Annotations</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Utilities: Annotations, Examples</dc:title>
  <dc:creator/>
  <cp:lastModifiedBy>Rohit Kamboj</cp:lastModifiedBy>
  <cp:revision>68</cp:revision>
  <dcterms:created xsi:type="dcterms:W3CDTF">2006-08-16T00:00:00Z</dcterms:created>
  <dcterms:modified xsi:type="dcterms:W3CDTF">2025-03-17T07:22:09Z</dcterms:modified>
</cp:coreProperties>
</file>