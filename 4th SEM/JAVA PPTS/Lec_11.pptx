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99" r:id="rId6"/>
    <p:sldId id="260" r:id="rId7"/>
    <p:sldId id="281" r:id="rId8"/>
    <p:sldId id="261" r:id="rId9"/>
    <p:sldId id="282" r:id="rId10"/>
    <p:sldId id="283" r:id="rId11"/>
    <p:sldId id="284" r:id="rId12"/>
    <p:sldId id="296" r:id="rId13"/>
    <p:sldId id="285" r:id="rId14"/>
    <p:sldId id="286" r:id="rId15"/>
    <p:sldId id="287" r:id="rId16"/>
    <p:sldId id="297" r:id="rId17"/>
    <p:sldId id="288" r:id="rId18"/>
    <p:sldId id="289" r:id="rId19"/>
    <p:sldId id="290" r:id="rId20"/>
    <p:sldId id="291" r:id="rId21"/>
    <p:sldId id="292" r:id="rId22"/>
    <p:sldId id="293" r:id="rId23"/>
    <p:sldId id="298" r:id="rId24"/>
    <p:sldId id="294" r:id="rId25"/>
    <p:sldId id="295" r:id="rId26"/>
    <p:sldId id="262" r:id="rId27"/>
    <p:sldId id="263" r:id="rId28"/>
    <p:sldId id="264" r:id="rId29"/>
    <p:sldId id="265" r:id="rId30"/>
    <p:sldId id="266" r:id="rId31"/>
    <p:sldId id="267" r:id="rId32"/>
    <p:sldId id="268" r:id="rId33"/>
    <p:sldId id="26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575" autoAdjust="0"/>
  </p:normalViewPr>
  <p:slideViewPr>
    <p:cSldViewPr>
      <p:cViewPr varScale="1">
        <p:scale>
          <a:sx n="79" d="100"/>
          <a:sy n="79" d="100"/>
        </p:scale>
        <p:origin x="-154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7379E5-D082-4FEB-A8F2-49388FC7EF6A}" type="datetimeFigureOut">
              <a:rPr lang="en-IN" smtClean="0"/>
              <a:t>28-01-2025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300456-0BE5-452B-85F5-EA910C066E55}" type="slidenum">
              <a:rPr lang="en-IN" smtClean="0"/>
              <a:t>‹#›</a:t>
            </a:fld>
            <a:endParaRPr lang="en-IN"/>
          </a:p>
        </p:txBody>
      </p:sp>
    </p:spTree>
    <p:extLst>
      <p:ext uri="{BB962C8B-B14F-4D97-AF65-F5344CB8AC3E}">
        <p14:creationId xmlns:p14="http://schemas.microsoft.com/office/powerpoint/2010/main" val="1077423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Test2 </a:t>
            </a:r>
            <a:r>
              <a:rPr lang="en-US" dirty="0" err="1" smtClean="0"/>
              <a:t>Disp</a:t>
            </a:r>
            <a:r>
              <a:rPr lang="en-US" dirty="0" smtClean="0"/>
              <a:t> Final Method, So cannot change definition</a:t>
            </a:r>
            <a:endParaRPr lang="en-IN" dirty="0"/>
          </a:p>
        </p:txBody>
      </p:sp>
      <p:sp>
        <p:nvSpPr>
          <p:cNvPr id="4" name="Slide Number Placeholder 3"/>
          <p:cNvSpPr>
            <a:spLocks noGrp="1"/>
          </p:cNvSpPr>
          <p:nvPr>
            <p:ph type="sldNum" sz="quarter" idx="10"/>
          </p:nvPr>
        </p:nvSpPr>
        <p:spPr/>
        <p:txBody>
          <a:bodyPr/>
          <a:lstStyle/>
          <a:p>
            <a:fld id="{25300456-0BE5-452B-85F5-EA910C066E55}" type="slidenum">
              <a:rPr lang="en-IN" smtClean="0"/>
              <a:t>19</a:t>
            </a:fld>
            <a:endParaRPr lang="en-IN"/>
          </a:p>
        </p:txBody>
      </p:sp>
    </p:spTree>
    <p:extLst>
      <p:ext uri="{BB962C8B-B14F-4D97-AF65-F5344CB8AC3E}">
        <p14:creationId xmlns:p14="http://schemas.microsoft.com/office/powerpoint/2010/main" val="3555833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we call the static methods directly on the class without creating an instance.</a:t>
            </a:r>
            <a:endParaRPr lang="en-IN" dirty="0"/>
          </a:p>
        </p:txBody>
      </p:sp>
      <p:sp>
        <p:nvSpPr>
          <p:cNvPr id="4" name="Slide Number Placeholder 3"/>
          <p:cNvSpPr>
            <a:spLocks noGrp="1"/>
          </p:cNvSpPr>
          <p:nvPr>
            <p:ph type="sldNum" sz="quarter" idx="10"/>
          </p:nvPr>
        </p:nvSpPr>
        <p:spPr/>
        <p:txBody>
          <a:bodyPr/>
          <a:lstStyle/>
          <a:p>
            <a:fld id="{25300456-0BE5-452B-85F5-EA910C066E55}" type="slidenum">
              <a:rPr lang="en-IN" smtClean="0"/>
              <a:t>28</a:t>
            </a:fld>
            <a:endParaRPr lang="en-IN"/>
          </a:p>
        </p:txBody>
      </p:sp>
    </p:spTree>
    <p:extLst>
      <p:ext uri="{BB962C8B-B14F-4D97-AF65-F5344CB8AC3E}">
        <p14:creationId xmlns:p14="http://schemas.microsoft.com/office/powerpoint/2010/main" val="361307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static keyword helps reduce memory usage and makes it easier to manage class-level data and behavior.</a:t>
            </a:r>
            <a:endParaRPr lang="en-IN" dirty="0"/>
          </a:p>
        </p:txBody>
      </p:sp>
      <p:sp>
        <p:nvSpPr>
          <p:cNvPr id="4" name="Slide Number Placeholder 3"/>
          <p:cNvSpPr>
            <a:spLocks noGrp="1"/>
          </p:cNvSpPr>
          <p:nvPr>
            <p:ph type="sldNum" sz="quarter" idx="10"/>
          </p:nvPr>
        </p:nvSpPr>
        <p:spPr/>
        <p:txBody>
          <a:bodyPr/>
          <a:lstStyle/>
          <a:p>
            <a:fld id="{25300456-0BE5-452B-85F5-EA910C066E55}" type="slidenum">
              <a:rPr lang="en-IN" smtClean="0"/>
              <a:t>32</a:t>
            </a:fld>
            <a:endParaRPr lang="en-IN"/>
          </a:p>
        </p:txBody>
      </p:sp>
    </p:spTree>
    <p:extLst>
      <p:ext uri="{BB962C8B-B14F-4D97-AF65-F5344CB8AC3E}">
        <p14:creationId xmlns:p14="http://schemas.microsoft.com/office/powerpoint/2010/main" val="2076546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34551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Access Specifiers</a:t>
            </a:r>
          </a:p>
        </p:txBody>
      </p:sp>
      <p:sp>
        <p:nvSpPr>
          <p:cNvPr id="3" name="Content Placeholder 2"/>
          <p:cNvSpPr>
            <a:spLocks noGrp="1"/>
          </p:cNvSpPr>
          <p:nvPr>
            <p:ph idx="1"/>
          </p:nvPr>
        </p:nvSpPr>
        <p:spPr/>
        <p:txBody>
          <a:bodyPr>
            <a:normAutofit fontScale="70000" lnSpcReduction="20000"/>
          </a:bodyPr>
          <a:lstStyle/>
          <a:p>
            <a:r>
              <a:rPr lang="en-US" dirty="0"/>
              <a:t>Java has four access </a:t>
            </a:r>
            <a:r>
              <a:rPr lang="en-US" dirty="0" err="1"/>
              <a:t>specifiers</a:t>
            </a:r>
            <a:r>
              <a:rPr lang="en-US" dirty="0"/>
              <a:t>: public, private, protected, and default (package-private). These </a:t>
            </a:r>
            <a:r>
              <a:rPr lang="en-US" dirty="0" err="1"/>
              <a:t>specifiers</a:t>
            </a:r>
            <a:r>
              <a:rPr lang="en-US" dirty="0"/>
              <a:t> control the visibility and accessibility of class members (fields, methods, and inner classes).</a:t>
            </a:r>
          </a:p>
          <a:p>
            <a:r>
              <a:rPr lang="en-US" b="1" dirty="0"/>
              <a:t>public</a:t>
            </a:r>
            <a:r>
              <a:rPr lang="en-US" dirty="0"/>
              <a:t>:</a:t>
            </a:r>
          </a:p>
          <a:p>
            <a:pPr lvl="1"/>
            <a:r>
              <a:rPr lang="en-US" dirty="0"/>
              <a:t>The public access </a:t>
            </a:r>
            <a:r>
              <a:rPr lang="en-US" dirty="0" err="1"/>
              <a:t>specifier</a:t>
            </a:r>
            <a:r>
              <a:rPr lang="en-US" dirty="0"/>
              <a:t> provides the widest possible visibility.</a:t>
            </a:r>
          </a:p>
          <a:p>
            <a:pPr lvl="1"/>
            <a:r>
              <a:rPr lang="en-US" dirty="0"/>
              <a:t>A member declared as public is accessible from anywhere, regardless of the package it resides in.</a:t>
            </a:r>
          </a:p>
          <a:p>
            <a:pPr lvl="1"/>
            <a:r>
              <a:rPr lang="en-US" dirty="0"/>
              <a:t>Used when you want to allow access from any other class or package.</a:t>
            </a:r>
          </a:p>
          <a:p>
            <a:r>
              <a:rPr lang="en-US" b="1" dirty="0"/>
              <a:t>protected</a:t>
            </a:r>
            <a:r>
              <a:rPr lang="en-US" dirty="0"/>
              <a:t>:</a:t>
            </a:r>
          </a:p>
          <a:p>
            <a:pPr lvl="1"/>
            <a:r>
              <a:rPr lang="en-US" dirty="0"/>
              <a:t>The protected access </a:t>
            </a:r>
            <a:r>
              <a:rPr lang="en-US" dirty="0" err="1"/>
              <a:t>specifier</a:t>
            </a:r>
            <a:r>
              <a:rPr lang="en-US" dirty="0"/>
              <a:t> allows members to be accessed by:</a:t>
            </a:r>
          </a:p>
          <a:p>
            <a:pPr lvl="2"/>
            <a:r>
              <a:rPr lang="en-US" dirty="0"/>
              <a:t>The class itself.</a:t>
            </a:r>
          </a:p>
          <a:p>
            <a:pPr lvl="2"/>
            <a:r>
              <a:rPr lang="en-US" dirty="0"/>
              <a:t>Classes in the same package.</a:t>
            </a:r>
          </a:p>
          <a:p>
            <a:pPr lvl="2"/>
            <a:r>
              <a:rPr lang="en-US" dirty="0"/>
              <a:t>By subclasses (even from a different package), but only through an instance of the subclass and not the superclass </a:t>
            </a:r>
            <a:r>
              <a:rPr lang="en-US" dirty="0" smtClean="0"/>
              <a:t>directly.</a:t>
            </a:r>
          </a:p>
          <a:p>
            <a:pPr lvl="2"/>
            <a:r>
              <a:rPr lang="en-US" dirty="0" smtClean="0"/>
              <a:t>It </a:t>
            </a:r>
            <a:r>
              <a:rPr lang="en-US" dirty="0"/>
              <a:t>provides a more restricted level of visibility than public but allows inheritance to access the members.</a:t>
            </a:r>
          </a:p>
          <a:p>
            <a:endParaRPr lang="en-IN" dirty="0"/>
          </a:p>
        </p:txBody>
      </p:sp>
    </p:spTree>
    <p:extLst>
      <p:ext uri="{BB962C8B-B14F-4D97-AF65-F5344CB8AC3E}">
        <p14:creationId xmlns:p14="http://schemas.microsoft.com/office/powerpoint/2010/main" val="350828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92500"/>
          </a:bodyPr>
          <a:lstStyle/>
          <a:p>
            <a:r>
              <a:rPr lang="en-US" b="1" dirty="0"/>
              <a:t>default</a:t>
            </a:r>
            <a:r>
              <a:rPr lang="en-US" dirty="0"/>
              <a:t> (Package-Private):</a:t>
            </a:r>
          </a:p>
          <a:p>
            <a:pPr lvl="1"/>
            <a:r>
              <a:rPr lang="en-US" dirty="0"/>
              <a:t>If no access </a:t>
            </a:r>
            <a:r>
              <a:rPr lang="en-US" dirty="0" err="1"/>
              <a:t>specifier</a:t>
            </a:r>
            <a:r>
              <a:rPr lang="en-US" dirty="0"/>
              <a:t> is defined, the member is considered to have </a:t>
            </a:r>
            <a:r>
              <a:rPr lang="en-US" b="1" dirty="0"/>
              <a:t>default</a:t>
            </a:r>
            <a:r>
              <a:rPr lang="en-US" dirty="0"/>
              <a:t> access (also called package-private).</a:t>
            </a:r>
          </a:p>
          <a:p>
            <a:pPr lvl="1"/>
            <a:r>
              <a:rPr lang="en-US" dirty="0"/>
              <a:t>Default members are accessible only within the same package. They are </a:t>
            </a:r>
            <a:r>
              <a:rPr lang="en-US" b="1" dirty="0"/>
              <a:t>not</a:t>
            </a:r>
            <a:r>
              <a:rPr lang="en-US" dirty="0"/>
              <a:t> accessible by classes in other packages, even if those classes are subclasses.</a:t>
            </a:r>
          </a:p>
          <a:p>
            <a:pPr lvl="1"/>
            <a:r>
              <a:rPr lang="en-US" dirty="0"/>
              <a:t>This is the most restrictive access level after private.</a:t>
            </a:r>
          </a:p>
          <a:p>
            <a:r>
              <a:rPr lang="en-US" b="1" dirty="0"/>
              <a:t>private</a:t>
            </a:r>
            <a:r>
              <a:rPr lang="en-US" dirty="0"/>
              <a:t>:</a:t>
            </a:r>
          </a:p>
          <a:p>
            <a:pPr lvl="1"/>
            <a:r>
              <a:rPr lang="en-US" dirty="0"/>
              <a:t>The private access </a:t>
            </a:r>
            <a:r>
              <a:rPr lang="en-US" dirty="0" err="1"/>
              <a:t>specifier</a:t>
            </a:r>
            <a:r>
              <a:rPr lang="en-US" dirty="0"/>
              <a:t> restricts the member's visibility to within the class it is declared in.</a:t>
            </a:r>
          </a:p>
          <a:p>
            <a:pPr lvl="1"/>
            <a:r>
              <a:rPr lang="en-US" dirty="0"/>
              <a:t>It is the most restrictive access level and is used to protect the internal state of an object.</a:t>
            </a:r>
          </a:p>
          <a:p>
            <a:endParaRPr lang="en-IN" dirty="0"/>
          </a:p>
        </p:txBody>
      </p:sp>
    </p:spTree>
    <p:extLst>
      <p:ext uri="{BB962C8B-B14F-4D97-AF65-F5344CB8AC3E}">
        <p14:creationId xmlns:p14="http://schemas.microsoft.com/office/powerpoint/2010/main" val="1974721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40000" lnSpcReduction="20000"/>
          </a:bodyPr>
          <a:lstStyle/>
          <a:p>
            <a:r>
              <a:rPr lang="en-IN" dirty="0" smtClean="0"/>
              <a:t>Example – </a:t>
            </a:r>
          </a:p>
          <a:p>
            <a:pPr marL="0" indent="0">
              <a:buNone/>
            </a:pPr>
            <a:r>
              <a:rPr lang="en-US" dirty="0"/>
              <a:t>// Package A</a:t>
            </a:r>
          </a:p>
          <a:p>
            <a:pPr marL="0" indent="0">
              <a:buNone/>
            </a:pPr>
            <a:r>
              <a:rPr lang="en-US" dirty="0"/>
              <a:t>// File: First.java</a:t>
            </a:r>
          </a:p>
          <a:p>
            <a:pPr marL="0" indent="0">
              <a:buNone/>
            </a:pPr>
            <a:r>
              <a:rPr lang="en-US" dirty="0"/>
              <a:t>package A;</a:t>
            </a:r>
          </a:p>
          <a:p>
            <a:pPr marL="0" indent="0">
              <a:buNone/>
            </a:pPr>
            <a:endParaRPr lang="en-US" dirty="0"/>
          </a:p>
          <a:p>
            <a:pPr marL="0" indent="0">
              <a:buNone/>
            </a:pPr>
            <a:r>
              <a:rPr lang="en-US" dirty="0"/>
              <a:t>public class First {</a:t>
            </a:r>
          </a:p>
          <a:p>
            <a:pPr marL="0" indent="0">
              <a:buNone/>
            </a:pPr>
            <a:r>
              <a:rPr lang="en-US" dirty="0"/>
              <a:t>    private </a:t>
            </a:r>
            <a:r>
              <a:rPr lang="en-US" dirty="0" err="1"/>
              <a:t>int</a:t>
            </a:r>
            <a:r>
              <a:rPr lang="en-US" dirty="0"/>
              <a:t> a = 1;   // Accessible only within the First class</a:t>
            </a:r>
          </a:p>
          <a:p>
            <a:pPr marL="0" indent="0">
              <a:buNone/>
            </a:pPr>
            <a:r>
              <a:rPr lang="en-US" dirty="0"/>
              <a:t>    </a:t>
            </a:r>
            <a:r>
              <a:rPr lang="en-US" dirty="0" err="1"/>
              <a:t>int</a:t>
            </a:r>
            <a:r>
              <a:rPr lang="en-US" dirty="0"/>
              <a:t> b = 2;           // Default access, accessible only within the same package (A)</a:t>
            </a:r>
          </a:p>
          <a:p>
            <a:pPr marL="0" indent="0">
              <a:buNone/>
            </a:pPr>
            <a:r>
              <a:rPr lang="en-US" dirty="0"/>
              <a:t>    protected </a:t>
            </a:r>
            <a:r>
              <a:rPr lang="en-US" dirty="0" err="1"/>
              <a:t>int</a:t>
            </a:r>
            <a:r>
              <a:rPr lang="en-US" dirty="0"/>
              <a:t> c = 3; // Accessible within the same package or in subclasses</a:t>
            </a:r>
          </a:p>
          <a:p>
            <a:pPr marL="0" indent="0">
              <a:buNone/>
            </a:pPr>
            <a:r>
              <a:rPr lang="en-US" dirty="0"/>
              <a:t>    public </a:t>
            </a:r>
            <a:r>
              <a:rPr lang="en-US" dirty="0" err="1"/>
              <a:t>int</a:t>
            </a:r>
            <a:r>
              <a:rPr lang="en-US" dirty="0"/>
              <a:t> d = 4;    // Accessible from anywhere</a:t>
            </a:r>
          </a:p>
          <a:p>
            <a:pPr marL="0" indent="0">
              <a:buNone/>
            </a:pPr>
            <a:endParaRPr lang="en-US" dirty="0"/>
          </a:p>
          <a:p>
            <a:pPr marL="0" indent="0">
              <a:buNone/>
            </a:pPr>
            <a:r>
              <a:rPr lang="en-US" dirty="0"/>
              <a:t>    public </a:t>
            </a:r>
            <a:r>
              <a:rPr lang="en-US" dirty="0" err="1"/>
              <a:t>int</a:t>
            </a:r>
            <a:r>
              <a:rPr lang="en-US" dirty="0"/>
              <a:t> </a:t>
            </a:r>
            <a:r>
              <a:rPr lang="en-US" dirty="0" err="1"/>
              <a:t>getA</a:t>
            </a:r>
            <a:r>
              <a:rPr lang="en-US" dirty="0"/>
              <a:t>() {  // Provide a public method to access 'a' if needed</a:t>
            </a:r>
          </a:p>
          <a:p>
            <a:pPr marL="0" indent="0">
              <a:buNone/>
            </a:pPr>
            <a:r>
              <a:rPr lang="en-US" dirty="0"/>
              <a:t>        return a;</a:t>
            </a:r>
          </a:p>
          <a:p>
            <a:pPr marL="0" indent="0">
              <a:buNone/>
            </a:pPr>
            <a:r>
              <a:rPr lang="en-US" dirty="0"/>
              <a:t>    }</a:t>
            </a:r>
          </a:p>
          <a:p>
            <a:pPr marL="0" indent="0">
              <a:buNone/>
            </a:pPr>
            <a:r>
              <a:rPr lang="en-US" dirty="0"/>
              <a:t>}</a:t>
            </a:r>
          </a:p>
          <a:p>
            <a:pPr marL="0" indent="0">
              <a:buNone/>
            </a:pPr>
            <a:endParaRPr lang="en-US" dirty="0" smtClean="0"/>
          </a:p>
          <a:p>
            <a:pPr marL="0" indent="0">
              <a:buNone/>
            </a:pPr>
            <a:r>
              <a:rPr lang="en-US" dirty="0" smtClean="0"/>
              <a:t>package </a:t>
            </a:r>
            <a:r>
              <a:rPr lang="en-US" dirty="0"/>
              <a:t>B;</a:t>
            </a:r>
          </a:p>
          <a:p>
            <a:pPr marL="0" indent="0">
              <a:buNone/>
            </a:pPr>
            <a:endParaRPr lang="en-US" dirty="0"/>
          </a:p>
          <a:p>
            <a:pPr marL="0" indent="0">
              <a:buNone/>
            </a:pPr>
            <a:r>
              <a:rPr lang="en-US" dirty="0"/>
              <a:t>import </a:t>
            </a:r>
            <a:r>
              <a:rPr lang="en-US" dirty="0" err="1"/>
              <a:t>A.First</a:t>
            </a:r>
            <a:r>
              <a:rPr lang="en-US" dirty="0"/>
              <a:t>;</a:t>
            </a:r>
          </a:p>
          <a:p>
            <a:pPr marL="0" indent="0">
              <a:buNone/>
            </a:pPr>
            <a:endParaRPr lang="en-US" dirty="0"/>
          </a:p>
          <a:p>
            <a:pPr marL="0" indent="0">
              <a:buNone/>
            </a:pPr>
            <a:r>
              <a:rPr lang="en-US" dirty="0"/>
              <a:t>public class Demo {</a:t>
            </a:r>
          </a:p>
          <a:p>
            <a:pPr marL="0" indent="0">
              <a:buNone/>
            </a:pPr>
            <a:r>
              <a:rPr lang="en-US" dirty="0"/>
              <a:t>    public static void main(String[] </a:t>
            </a:r>
            <a:r>
              <a:rPr lang="en-US" dirty="0" err="1"/>
              <a:t>args</a:t>
            </a:r>
            <a:r>
              <a:rPr lang="en-US" dirty="0"/>
              <a:t>) {</a:t>
            </a:r>
          </a:p>
          <a:p>
            <a:pPr marL="0" indent="0">
              <a:buNone/>
            </a:pPr>
            <a:r>
              <a:rPr lang="en-US" dirty="0"/>
              <a:t>        First f1 = new First();</a:t>
            </a:r>
          </a:p>
          <a:p>
            <a:pPr marL="0" indent="0">
              <a:buNone/>
            </a:pPr>
            <a:r>
              <a:rPr lang="en-US" dirty="0"/>
              <a:t>        // </a:t>
            </a:r>
            <a:r>
              <a:rPr lang="en-US" dirty="0" err="1"/>
              <a:t>System.out.println</a:t>
            </a:r>
            <a:r>
              <a:rPr lang="en-US" dirty="0"/>
              <a:t>(f1.a);  // Not accessible because 'a' is private</a:t>
            </a:r>
          </a:p>
          <a:p>
            <a:pPr marL="0" indent="0">
              <a:buNone/>
            </a:pPr>
            <a:r>
              <a:rPr lang="en-US" dirty="0"/>
              <a:t>        // </a:t>
            </a:r>
            <a:r>
              <a:rPr lang="en-US" dirty="0" err="1"/>
              <a:t>System.out.println</a:t>
            </a:r>
            <a:r>
              <a:rPr lang="en-US" dirty="0"/>
              <a:t>(f1.b);  // Not accessible because 'b' has default access</a:t>
            </a:r>
          </a:p>
          <a:p>
            <a:pPr marL="0" indent="0">
              <a:buNone/>
            </a:pPr>
            <a:r>
              <a:rPr lang="en-US" dirty="0"/>
              <a:t>        // </a:t>
            </a:r>
            <a:r>
              <a:rPr lang="en-US" dirty="0" err="1"/>
              <a:t>System.out.println</a:t>
            </a:r>
            <a:r>
              <a:rPr lang="en-US" dirty="0"/>
              <a:t>(f1.c);  // Not accessible because 'c' is protected and 'Demo' is not a </a:t>
            </a:r>
            <a:r>
              <a:rPr lang="en-US" dirty="0" smtClean="0"/>
              <a:t>subclass</a:t>
            </a:r>
            <a:endParaRPr lang="en-US" dirty="0"/>
          </a:p>
          <a:p>
            <a:pPr marL="0" indent="0">
              <a:buNone/>
            </a:pPr>
            <a:r>
              <a:rPr lang="en-US" dirty="0"/>
              <a:t>        </a:t>
            </a:r>
            <a:r>
              <a:rPr lang="en-US" dirty="0" err="1"/>
              <a:t>System.out.println</a:t>
            </a:r>
            <a:r>
              <a:rPr lang="en-US" dirty="0"/>
              <a:t>(f1.d);    // Accessible because 'd' is public</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655051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47500" lnSpcReduction="20000"/>
          </a:bodyPr>
          <a:lstStyle/>
          <a:p>
            <a:pPr marL="0" indent="0">
              <a:buNone/>
            </a:pPr>
            <a:r>
              <a:rPr lang="en-US" dirty="0" smtClean="0"/>
              <a:t>package </a:t>
            </a:r>
            <a:r>
              <a:rPr lang="en-US" dirty="0"/>
              <a:t>B;</a:t>
            </a:r>
          </a:p>
          <a:p>
            <a:pPr marL="0" indent="0">
              <a:buNone/>
            </a:pPr>
            <a:endParaRPr lang="en-US" dirty="0"/>
          </a:p>
          <a:p>
            <a:pPr marL="0" indent="0">
              <a:buNone/>
            </a:pPr>
            <a:r>
              <a:rPr lang="en-US" dirty="0"/>
              <a:t>import </a:t>
            </a:r>
            <a:r>
              <a:rPr lang="en-US" dirty="0" err="1"/>
              <a:t>A.First</a:t>
            </a:r>
            <a:r>
              <a:rPr lang="en-US" dirty="0"/>
              <a:t>;</a:t>
            </a:r>
          </a:p>
          <a:p>
            <a:pPr marL="0" indent="0">
              <a:buNone/>
            </a:pPr>
            <a:endParaRPr lang="en-US" dirty="0"/>
          </a:p>
          <a:p>
            <a:pPr marL="0" indent="0">
              <a:buNone/>
            </a:pPr>
            <a:r>
              <a:rPr lang="en-US" dirty="0"/>
              <a:t>public class Second extends First {</a:t>
            </a:r>
          </a:p>
          <a:p>
            <a:pPr marL="0" indent="0">
              <a:buNone/>
            </a:pPr>
            <a:r>
              <a:rPr lang="en-US" dirty="0"/>
              <a:t>    public Second() {</a:t>
            </a:r>
          </a:p>
          <a:p>
            <a:pPr marL="0" indent="0">
              <a:buNone/>
            </a:pPr>
            <a:r>
              <a:rPr lang="en-US" dirty="0"/>
              <a:t>        // a = 10;  // Not accessible because 'a' is private in the superclass</a:t>
            </a:r>
          </a:p>
          <a:p>
            <a:pPr marL="0" indent="0">
              <a:buNone/>
            </a:pPr>
            <a:r>
              <a:rPr lang="en-US" dirty="0"/>
              <a:t>        // b = 20;  // Not accessible because 'b' has default access and 'Second' is in a different package</a:t>
            </a:r>
          </a:p>
          <a:p>
            <a:pPr marL="0" indent="0">
              <a:buNone/>
            </a:pPr>
            <a:r>
              <a:rPr lang="en-US" dirty="0"/>
              <a:t>        c = 30;     // Accessible because 'c' is protected and 'Second' is a subclass of 'First'</a:t>
            </a:r>
          </a:p>
          <a:p>
            <a:pPr marL="0" indent="0">
              <a:buNone/>
            </a:pPr>
            <a:r>
              <a:rPr lang="en-US" dirty="0"/>
              <a:t>        d = 40;     // Accessible because 'd' is public</a:t>
            </a:r>
          </a:p>
          <a:p>
            <a:pPr marL="0" indent="0">
              <a:buNone/>
            </a:pPr>
            <a:r>
              <a:rPr lang="en-US" dirty="0"/>
              <a:t>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Second </a:t>
            </a:r>
            <a:r>
              <a:rPr lang="en-US" dirty="0" err="1"/>
              <a:t>second</a:t>
            </a:r>
            <a:r>
              <a:rPr lang="en-US" dirty="0"/>
              <a:t> = new Second();</a:t>
            </a:r>
          </a:p>
          <a:p>
            <a:pPr marL="0" indent="0">
              <a:buNone/>
            </a:pPr>
            <a:r>
              <a:rPr lang="en-US" dirty="0"/>
              <a:t>        // </a:t>
            </a:r>
            <a:r>
              <a:rPr lang="en-US" dirty="0" err="1"/>
              <a:t>System.out.println</a:t>
            </a:r>
            <a:r>
              <a:rPr lang="en-US" dirty="0"/>
              <a:t>(</a:t>
            </a:r>
            <a:r>
              <a:rPr lang="en-US" dirty="0" err="1"/>
              <a:t>second.a</a:t>
            </a:r>
            <a:r>
              <a:rPr lang="en-US" dirty="0"/>
              <a:t>);  // Not accessible because 'a' is private</a:t>
            </a:r>
          </a:p>
          <a:p>
            <a:pPr marL="0" indent="0">
              <a:buNone/>
            </a:pPr>
            <a:r>
              <a:rPr lang="en-US" dirty="0"/>
              <a:t>        // </a:t>
            </a:r>
            <a:r>
              <a:rPr lang="en-US" dirty="0" err="1"/>
              <a:t>System.out.println</a:t>
            </a:r>
            <a:r>
              <a:rPr lang="en-US" dirty="0"/>
              <a:t>(</a:t>
            </a:r>
            <a:r>
              <a:rPr lang="en-US" dirty="0" err="1"/>
              <a:t>second.b</a:t>
            </a:r>
            <a:r>
              <a:rPr lang="en-US" dirty="0"/>
              <a:t>);  // Not accessible because 'b' has default access</a:t>
            </a:r>
          </a:p>
          <a:p>
            <a:pPr marL="0" indent="0">
              <a:buNone/>
            </a:pPr>
            <a:r>
              <a:rPr lang="en-US" dirty="0"/>
              <a:t>        </a:t>
            </a:r>
            <a:r>
              <a:rPr lang="en-US" dirty="0" err="1"/>
              <a:t>System.out.println</a:t>
            </a:r>
            <a:r>
              <a:rPr lang="en-US" dirty="0"/>
              <a:t>(</a:t>
            </a:r>
            <a:r>
              <a:rPr lang="en-US" dirty="0" err="1"/>
              <a:t>second.c</a:t>
            </a:r>
            <a:r>
              <a:rPr lang="en-US" dirty="0"/>
              <a:t>);    // Accessible because 'c' is protected and accessed through a subclass</a:t>
            </a:r>
          </a:p>
          <a:p>
            <a:pPr marL="0" indent="0">
              <a:buNone/>
            </a:pPr>
            <a:r>
              <a:rPr lang="en-US" dirty="0"/>
              <a:t>        </a:t>
            </a:r>
            <a:r>
              <a:rPr lang="en-US" dirty="0" err="1"/>
              <a:t>System.out.println</a:t>
            </a:r>
            <a:r>
              <a:rPr lang="en-US" dirty="0"/>
              <a:t>(</a:t>
            </a:r>
            <a:r>
              <a:rPr lang="en-US" dirty="0" err="1"/>
              <a:t>second.d</a:t>
            </a:r>
            <a:r>
              <a:rPr lang="en-US" dirty="0"/>
              <a:t>);    // Accessible because 'd' is </a:t>
            </a:r>
            <a:r>
              <a:rPr lang="en-US" dirty="0" smtClean="0"/>
              <a:t>public</a:t>
            </a:r>
          </a:p>
          <a:p>
            <a:pPr marL="0" indent="0">
              <a:buNone/>
            </a:pPr>
            <a:r>
              <a:rPr lang="en-US" dirty="0"/>
              <a:t> </a:t>
            </a:r>
            <a:r>
              <a:rPr lang="en-US" dirty="0" smtClean="0"/>
              <a:t>     First d1 = new </a:t>
            </a:r>
            <a:r>
              <a:rPr lang="en-US" dirty="0"/>
              <a:t>First </a:t>
            </a:r>
            <a:r>
              <a:rPr lang="en-US" dirty="0" smtClean="0"/>
              <a:t>();</a:t>
            </a:r>
          </a:p>
          <a:p>
            <a:pPr marL="0" indent="0">
              <a:buNone/>
            </a:pPr>
            <a:r>
              <a:rPr lang="en-US" dirty="0"/>
              <a:t> </a:t>
            </a:r>
            <a:r>
              <a:rPr lang="en-US" dirty="0" smtClean="0"/>
              <a:t>     //</a:t>
            </a:r>
            <a:r>
              <a:rPr lang="en-US" dirty="0" err="1" smtClean="0"/>
              <a:t>System.out.println</a:t>
            </a:r>
            <a:r>
              <a:rPr lang="en-US" dirty="0" smtClean="0"/>
              <a:t>(d1.c</a:t>
            </a:r>
            <a:r>
              <a:rPr lang="en-US" dirty="0"/>
              <a:t>); </a:t>
            </a:r>
            <a:r>
              <a:rPr lang="en-US" dirty="0" smtClean="0"/>
              <a:t>  //A </a:t>
            </a:r>
            <a:r>
              <a:rPr lang="en-US" dirty="0"/>
              <a:t>protected member is accessible in a subclass only via a reference of </a:t>
            </a:r>
            <a:r>
              <a:rPr lang="en-US" dirty="0" smtClean="0"/>
              <a:t>//the </a:t>
            </a:r>
            <a:r>
              <a:rPr lang="en-US" dirty="0"/>
              <a:t>subclass itself, not the superclass. </a:t>
            </a:r>
            <a:endParaRPr lang="en-US" dirty="0" smtClean="0"/>
          </a:p>
          <a:p>
            <a:pPr marL="0" indent="0">
              <a:buNone/>
            </a:pPr>
            <a:r>
              <a:rPr lang="en-US" dirty="0" smtClean="0"/>
              <a:t>   </a:t>
            </a:r>
            <a:r>
              <a:rPr lang="en-US" dirty="0"/>
              <a:t>}</a:t>
            </a:r>
          </a:p>
          <a:p>
            <a:pPr marL="0" indent="0">
              <a:buNone/>
            </a:pP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34854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Key Points to Remember:</a:t>
            </a:r>
          </a:p>
          <a:p>
            <a:r>
              <a:rPr lang="en-US" dirty="0"/>
              <a:t>public: Accessible everywhere.</a:t>
            </a:r>
          </a:p>
          <a:p>
            <a:r>
              <a:rPr lang="en-US" dirty="0"/>
              <a:t>protected: Accessible within the same package and by subclasses.</a:t>
            </a:r>
          </a:p>
          <a:p>
            <a:r>
              <a:rPr lang="en-US" b="1" dirty="0"/>
              <a:t>default</a:t>
            </a:r>
            <a:r>
              <a:rPr lang="en-US" dirty="0"/>
              <a:t> (package-private): Accessible only within the same package.</a:t>
            </a:r>
          </a:p>
          <a:p>
            <a:r>
              <a:rPr lang="en-US" dirty="0"/>
              <a:t>private: Accessible only within the same class.</a:t>
            </a:r>
          </a:p>
          <a:p>
            <a:endParaRPr lang="en-IN" dirty="0"/>
          </a:p>
        </p:txBody>
      </p:sp>
    </p:spTree>
    <p:extLst>
      <p:ext uri="{BB962C8B-B14F-4D97-AF65-F5344CB8AC3E}">
        <p14:creationId xmlns:p14="http://schemas.microsoft.com/office/powerpoint/2010/main" val="265505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abstract keyword</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Always remembers the following points about abstract </a:t>
            </a:r>
            <a:r>
              <a:rPr lang="en-US" dirty="0" smtClean="0"/>
              <a:t>–</a:t>
            </a:r>
          </a:p>
          <a:p>
            <a:r>
              <a:rPr lang="en-US" dirty="0" smtClean="0"/>
              <a:t>Abstract </a:t>
            </a:r>
            <a:r>
              <a:rPr lang="en-US" dirty="0"/>
              <a:t>can be classes and methods. We cannot declare variables as abstract.</a:t>
            </a:r>
          </a:p>
          <a:p>
            <a:r>
              <a:rPr lang="en-US" dirty="0"/>
              <a:t>We cannot create objects of abstract classes using new keyword.</a:t>
            </a:r>
          </a:p>
          <a:p>
            <a:r>
              <a:rPr lang="en-US" dirty="0"/>
              <a:t>An abstract class may or may not contain abstract methods.</a:t>
            </a:r>
          </a:p>
          <a:p>
            <a:r>
              <a:rPr lang="en-US" dirty="0"/>
              <a:t>If a class contains any abstract method then it is compulsion to declare the class as abstract.</a:t>
            </a:r>
          </a:p>
          <a:p>
            <a:r>
              <a:rPr lang="en-US" dirty="0"/>
              <a:t>An abstract method does not have any body. We have to override them if we want to work with them.</a:t>
            </a:r>
          </a:p>
          <a:p>
            <a:endParaRPr lang="en-IN" dirty="0"/>
          </a:p>
        </p:txBody>
      </p:sp>
    </p:spTree>
    <p:extLst>
      <p:ext uri="{BB962C8B-B14F-4D97-AF65-F5344CB8AC3E}">
        <p14:creationId xmlns:p14="http://schemas.microsoft.com/office/powerpoint/2010/main" val="52923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US" dirty="0"/>
              <a:t>Example 1 -</a:t>
            </a:r>
          </a:p>
          <a:p>
            <a:pPr marL="0" indent="0">
              <a:buNone/>
            </a:pPr>
            <a:r>
              <a:rPr lang="en-US" dirty="0"/>
              <a:t>class First</a:t>
            </a:r>
          </a:p>
          <a:p>
            <a:pPr marL="0" indent="0">
              <a:buNone/>
            </a:pPr>
            <a:r>
              <a:rPr lang="en-US" dirty="0"/>
              <a:t>{</a:t>
            </a:r>
          </a:p>
          <a:p>
            <a:pPr marL="0" indent="0">
              <a:buNone/>
            </a:pPr>
            <a:r>
              <a:rPr lang="en-US" dirty="0"/>
              <a:t>}</a:t>
            </a:r>
          </a:p>
          <a:p>
            <a:pPr marL="0" indent="0">
              <a:buNone/>
            </a:pPr>
            <a:endParaRPr lang="en-US" dirty="0"/>
          </a:p>
          <a:p>
            <a:pPr marL="0" indent="0">
              <a:buNone/>
            </a:pPr>
            <a:r>
              <a:rPr lang="en-US" dirty="0"/>
              <a:t>abstract class Second</a:t>
            </a:r>
          </a:p>
          <a:p>
            <a:pPr marL="0" indent="0">
              <a:buNone/>
            </a:pPr>
            <a:r>
              <a:rPr lang="en-US" dirty="0"/>
              <a:t>{</a:t>
            </a:r>
          </a:p>
          <a:p>
            <a:pPr marL="0" indent="0">
              <a:buNone/>
            </a:pPr>
            <a:r>
              <a:rPr lang="en-US" dirty="0"/>
              <a:t>}</a:t>
            </a:r>
          </a:p>
          <a:p>
            <a:pPr marL="0" indent="0">
              <a:buNone/>
            </a:pPr>
            <a:endParaRPr lang="en-US" dirty="0"/>
          </a:p>
          <a:p>
            <a:pPr marL="0" indent="0">
              <a:buNone/>
            </a:pPr>
            <a:r>
              <a:rPr lang="en-US" dirty="0"/>
              <a:t>public class Call {</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First f1 = new First();             // Works fine</a:t>
            </a:r>
          </a:p>
          <a:p>
            <a:pPr marL="0" indent="0">
              <a:buNone/>
            </a:pPr>
            <a:r>
              <a:rPr lang="en-US" dirty="0"/>
              <a:t>        Second s1 = new Second(); // Error - Second is abstract; cannot be instantiated</a:t>
            </a:r>
          </a:p>
          <a:p>
            <a:pPr marL="0" indent="0">
              <a:buNone/>
            </a:pPr>
            <a:r>
              <a:rPr lang="en-US" dirty="0"/>
              <a:t>    }</a:t>
            </a:r>
          </a:p>
          <a:p>
            <a:pPr marL="0" indent="0">
              <a:buNone/>
            </a:pPr>
            <a:r>
              <a:rPr lang="en-US" dirty="0"/>
              <a:t>} </a:t>
            </a:r>
          </a:p>
          <a:p>
            <a:pPr marL="0" indent="0">
              <a:buNone/>
            </a:pPr>
            <a:endParaRPr lang="en-US" dirty="0"/>
          </a:p>
          <a:p>
            <a:r>
              <a:rPr lang="en-US" dirty="0"/>
              <a:t>In the above example we cannot create object of Second class because it is abstract.</a:t>
            </a:r>
            <a:endParaRPr lang="en-IN" dirty="0"/>
          </a:p>
        </p:txBody>
      </p:sp>
    </p:spTree>
    <p:extLst>
      <p:ext uri="{BB962C8B-B14F-4D97-AF65-F5344CB8AC3E}">
        <p14:creationId xmlns:p14="http://schemas.microsoft.com/office/powerpoint/2010/main" val="2655051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32500" lnSpcReduction="20000"/>
          </a:bodyPr>
          <a:lstStyle/>
          <a:p>
            <a:r>
              <a:rPr lang="en-US" dirty="0"/>
              <a:t>Example 2 -</a:t>
            </a:r>
          </a:p>
          <a:p>
            <a:pPr marL="0" indent="0">
              <a:buNone/>
            </a:pPr>
            <a:r>
              <a:rPr lang="en-US" dirty="0"/>
              <a:t>abstract class Marks</a:t>
            </a:r>
          </a:p>
          <a:p>
            <a:pPr marL="0" indent="0">
              <a:buNone/>
            </a:pPr>
            <a:r>
              <a:rPr lang="en-US" dirty="0"/>
              <a:t>{</a:t>
            </a:r>
          </a:p>
          <a:p>
            <a:pPr marL="0" indent="0">
              <a:buNone/>
            </a:pPr>
            <a:r>
              <a:rPr lang="en-US" dirty="0"/>
              <a:t>    private </a:t>
            </a:r>
            <a:r>
              <a:rPr lang="en-US" dirty="0" err="1"/>
              <a:t>int</a:t>
            </a:r>
            <a:r>
              <a:rPr lang="en-US" dirty="0"/>
              <a:t> </a:t>
            </a:r>
            <a:r>
              <a:rPr lang="en-US" dirty="0" err="1"/>
              <a:t>phy</a:t>
            </a:r>
            <a:r>
              <a:rPr lang="en-US" dirty="0"/>
              <a:t>, </a:t>
            </a:r>
            <a:r>
              <a:rPr lang="en-US" dirty="0" err="1"/>
              <a:t>chem</a:t>
            </a:r>
            <a:r>
              <a:rPr lang="en-US" dirty="0"/>
              <a:t>;</a:t>
            </a:r>
          </a:p>
          <a:p>
            <a:pPr marL="0" indent="0">
              <a:buNone/>
            </a:pPr>
            <a:endParaRPr lang="en-US" dirty="0"/>
          </a:p>
          <a:p>
            <a:pPr marL="0" indent="0">
              <a:buNone/>
            </a:pPr>
            <a:r>
              <a:rPr lang="en-US" dirty="0"/>
              <a:t>    public void input()</a:t>
            </a:r>
          </a:p>
          <a:p>
            <a:pPr marL="0" indent="0">
              <a:buNone/>
            </a:pPr>
            <a:r>
              <a:rPr lang="en-US" dirty="0"/>
              <a:t>    {</a:t>
            </a:r>
          </a:p>
          <a:p>
            <a:pPr marL="0" indent="0">
              <a:buNone/>
            </a:pPr>
            <a:r>
              <a:rPr lang="en-US" dirty="0"/>
              <a:t>        </a:t>
            </a:r>
            <a:r>
              <a:rPr lang="en-US" dirty="0" err="1"/>
              <a:t>phy</a:t>
            </a:r>
            <a:r>
              <a:rPr lang="en-US" dirty="0"/>
              <a:t> = </a:t>
            </a:r>
            <a:r>
              <a:rPr lang="en-US" dirty="0" err="1"/>
              <a:t>Integer.parseInt</a:t>
            </a:r>
            <a:r>
              <a:rPr lang="en-US" dirty="0"/>
              <a:t>(</a:t>
            </a:r>
            <a:r>
              <a:rPr lang="en-US" dirty="0" err="1"/>
              <a:t>System.console</a:t>
            </a:r>
            <a:r>
              <a:rPr lang="en-US" dirty="0"/>
              <a:t>().</a:t>
            </a:r>
            <a:r>
              <a:rPr lang="en-US" dirty="0" err="1"/>
              <a:t>readLine</a:t>
            </a:r>
            <a:r>
              <a:rPr lang="en-US" dirty="0"/>
              <a:t>("Enter physics marks"));</a:t>
            </a:r>
          </a:p>
          <a:p>
            <a:pPr marL="0" indent="0">
              <a:buNone/>
            </a:pPr>
            <a:r>
              <a:rPr lang="en-US" dirty="0"/>
              <a:t>        </a:t>
            </a:r>
            <a:r>
              <a:rPr lang="en-US" dirty="0" err="1"/>
              <a:t>chem</a:t>
            </a:r>
            <a:r>
              <a:rPr lang="en-US" dirty="0"/>
              <a:t> = </a:t>
            </a:r>
            <a:r>
              <a:rPr lang="en-US" dirty="0" err="1"/>
              <a:t>Integer.parseInt</a:t>
            </a:r>
            <a:r>
              <a:rPr lang="en-US" dirty="0"/>
              <a:t>(</a:t>
            </a:r>
            <a:r>
              <a:rPr lang="en-US" dirty="0" err="1"/>
              <a:t>System.console</a:t>
            </a:r>
            <a:r>
              <a:rPr lang="en-US" dirty="0"/>
              <a:t>().</a:t>
            </a:r>
            <a:r>
              <a:rPr lang="en-US" dirty="0" err="1"/>
              <a:t>readLine</a:t>
            </a:r>
            <a:r>
              <a:rPr lang="en-US" dirty="0"/>
              <a:t>("Enter chemistry marks"));</a:t>
            </a:r>
          </a:p>
          <a:p>
            <a:pPr marL="0" indent="0">
              <a:buNone/>
            </a:pPr>
            <a:r>
              <a:rPr lang="en-US" dirty="0"/>
              <a:t>    }</a:t>
            </a:r>
          </a:p>
          <a:p>
            <a:pPr marL="0" indent="0">
              <a:buNone/>
            </a:pPr>
            <a:r>
              <a:rPr lang="en-US" dirty="0"/>
              <a:t>    </a:t>
            </a:r>
          </a:p>
          <a:p>
            <a:pPr marL="0" indent="0">
              <a:buNone/>
            </a:pPr>
            <a:r>
              <a:rPr lang="en-US" dirty="0"/>
              <a:t>    public void </a:t>
            </a:r>
            <a:r>
              <a:rPr lang="en-US" dirty="0" err="1"/>
              <a:t>disp</a:t>
            </a:r>
            <a:r>
              <a:rPr lang="en-US" dirty="0"/>
              <a:t>()</a:t>
            </a:r>
          </a:p>
          <a:p>
            <a:pPr marL="0" indent="0">
              <a:buNone/>
            </a:pPr>
            <a:r>
              <a:rPr lang="en-US" dirty="0"/>
              <a:t>    {</a:t>
            </a:r>
          </a:p>
          <a:p>
            <a:pPr marL="0" indent="0">
              <a:buNone/>
            </a:pPr>
            <a:r>
              <a:rPr lang="en-US" dirty="0"/>
              <a:t>        </a:t>
            </a:r>
            <a:r>
              <a:rPr lang="en-US" dirty="0" err="1"/>
              <a:t>System.out.println</a:t>
            </a:r>
            <a:r>
              <a:rPr lang="en-US" dirty="0"/>
              <a:t>(</a:t>
            </a:r>
            <a:r>
              <a:rPr lang="en-US" dirty="0" err="1"/>
              <a:t>phy</a:t>
            </a:r>
            <a:r>
              <a:rPr lang="en-US" dirty="0"/>
              <a:t>+"    "+</a:t>
            </a:r>
            <a:r>
              <a:rPr lang="en-US" dirty="0" err="1"/>
              <a:t>chem</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Temp extends Marks</a:t>
            </a:r>
          </a:p>
          <a:p>
            <a:pPr marL="0" indent="0">
              <a:buNone/>
            </a:pPr>
            <a:r>
              <a:rPr lang="en-US" dirty="0"/>
              <a:t>{</a:t>
            </a:r>
          </a:p>
          <a:p>
            <a:pPr marL="0" indent="0">
              <a:buNone/>
            </a:pPr>
            <a:r>
              <a:rPr lang="en-US" dirty="0"/>
              <a:t>}        </a:t>
            </a:r>
          </a:p>
          <a:p>
            <a:pPr marL="0" indent="0">
              <a:buNone/>
            </a:pPr>
            <a:r>
              <a:rPr lang="en-US" dirty="0"/>
              <a:t>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Temp t1 = new Temp();</a:t>
            </a:r>
          </a:p>
          <a:p>
            <a:pPr marL="0" indent="0">
              <a:buNone/>
            </a:pPr>
            <a:r>
              <a:rPr lang="en-US" dirty="0"/>
              <a:t>        t1.input();</a:t>
            </a:r>
          </a:p>
          <a:p>
            <a:pPr marL="0" indent="0">
              <a:buNone/>
            </a:pPr>
            <a:r>
              <a:rPr lang="en-US" dirty="0"/>
              <a:t>        t1.disp();</a:t>
            </a:r>
          </a:p>
          <a:p>
            <a:pPr marL="0" indent="0">
              <a:buNone/>
            </a:pPr>
            <a:r>
              <a:rPr lang="en-US" dirty="0"/>
              <a:t>    }</a:t>
            </a:r>
          </a:p>
          <a:p>
            <a:pPr marL="0" indent="0">
              <a:buNone/>
            </a:pPr>
            <a:r>
              <a:rPr lang="en-US" dirty="0"/>
              <a:t>    </a:t>
            </a:r>
          </a:p>
          <a:p>
            <a:pPr marL="0" indent="0">
              <a:buNone/>
            </a:pPr>
            <a:r>
              <a:rPr lang="en-US" dirty="0"/>
              <a:t>}</a:t>
            </a:r>
          </a:p>
          <a:p>
            <a:endParaRPr lang="en-US" dirty="0"/>
          </a:p>
          <a:p>
            <a:r>
              <a:rPr lang="en-US" dirty="0"/>
              <a:t>Output -</a:t>
            </a:r>
          </a:p>
          <a:p>
            <a:pPr marL="0" indent="0">
              <a:buNone/>
            </a:pPr>
            <a:r>
              <a:rPr lang="en-US" dirty="0"/>
              <a:t>    Enter physics marks     80</a:t>
            </a:r>
          </a:p>
          <a:p>
            <a:pPr marL="0" indent="0">
              <a:buNone/>
            </a:pPr>
            <a:r>
              <a:rPr lang="en-US" dirty="0"/>
              <a:t>    Enter chemistry marks  90</a:t>
            </a:r>
          </a:p>
          <a:p>
            <a:pPr marL="0" indent="0">
              <a:buNone/>
            </a:pPr>
            <a:r>
              <a:rPr lang="en-US" dirty="0"/>
              <a:t>    80     90</a:t>
            </a:r>
          </a:p>
          <a:p>
            <a:r>
              <a:rPr lang="en-US" dirty="0"/>
              <a:t>In the above example Marks class is abstract, so we cannot create objects of this class. In such cases if we want to access members of the class, then we can inherit the class. So we create a second class named Temp and inherit Marks class. Now all public members of Marks class are also available in Temp class, so we can access them by creating objects of Temp class.</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32500" lnSpcReduction="20000"/>
          </a:bodyPr>
          <a:lstStyle/>
          <a:p>
            <a:r>
              <a:rPr lang="en-IN" dirty="0"/>
              <a:t>Example 3 -</a:t>
            </a:r>
          </a:p>
          <a:p>
            <a:pPr marL="0" indent="0">
              <a:buNone/>
            </a:pPr>
            <a:r>
              <a:rPr lang="en-IN" dirty="0"/>
              <a:t>abstract class Marks</a:t>
            </a:r>
          </a:p>
          <a:p>
            <a:pPr marL="0" indent="0">
              <a:buNone/>
            </a:pPr>
            <a:r>
              <a:rPr lang="en-IN" dirty="0"/>
              <a:t>{</a:t>
            </a:r>
          </a:p>
          <a:p>
            <a:pPr marL="0" indent="0">
              <a:buNone/>
            </a:pPr>
            <a:r>
              <a:rPr lang="en-IN" dirty="0"/>
              <a:t>    private </a:t>
            </a:r>
            <a:r>
              <a:rPr lang="en-IN" dirty="0" err="1"/>
              <a:t>int</a:t>
            </a:r>
            <a:r>
              <a:rPr lang="en-IN" dirty="0"/>
              <a:t> </a:t>
            </a:r>
            <a:r>
              <a:rPr lang="en-IN" dirty="0" err="1"/>
              <a:t>phy,chem</a:t>
            </a:r>
            <a:r>
              <a:rPr lang="en-IN" dirty="0"/>
              <a:t>;</a:t>
            </a:r>
          </a:p>
          <a:p>
            <a:pPr marL="0" indent="0">
              <a:buNone/>
            </a:pPr>
            <a:r>
              <a:rPr lang="en-IN" dirty="0"/>
              <a:t>   </a:t>
            </a:r>
          </a:p>
          <a:p>
            <a:pPr marL="0" indent="0">
              <a:buNone/>
            </a:pPr>
            <a:r>
              <a:rPr lang="en-IN" dirty="0"/>
              <a:t>    public void input()</a:t>
            </a:r>
          </a:p>
          <a:p>
            <a:pPr marL="0" indent="0">
              <a:buNone/>
            </a:pPr>
            <a:r>
              <a:rPr lang="en-IN" dirty="0"/>
              <a:t>    {</a:t>
            </a:r>
          </a:p>
          <a:p>
            <a:pPr marL="0" indent="0">
              <a:buNone/>
            </a:pPr>
            <a:r>
              <a:rPr lang="en-IN" dirty="0"/>
              <a:t>        </a:t>
            </a:r>
            <a:r>
              <a:rPr lang="en-IN" dirty="0" err="1"/>
              <a:t>phy</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physics marks"));</a:t>
            </a:r>
          </a:p>
          <a:p>
            <a:pPr marL="0" indent="0">
              <a:buNone/>
            </a:pPr>
            <a:r>
              <a:rPr lang="en-IN" dirty="0"/>
              <a:t>        </a:t>
            </a:r>
            <a:r>
              <a:rPr lang="en-IN" dirty="0" err="1"/>
              <a:t>chem</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chemistry marks"));</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a:t>
            </a:r>
          </a:p>
          <a:p>
            <a:pPr marL="0" indent="0">
              <a:buNone/>
            </a:pPr>
            <a:r>
              <a:rPr lang="en-IN" dirty="0"/>
              <a:t>    abstract public void show();   //abstract method</a:t>
            </a:r>
          </a:p>
          <a:p>
            <a:pPr marL="0" indent="0">
              <a:buNone/>
            </a:pPr>
            <a:r>
              <a:rPr lang="en-IN" dirty="0"/>
              <a:t>}</a:t>
            </a:r>
          </a:p>
          <a:p>
            <a:pPr marL="0" indent="0">
              <a:buNone/>
            </a:pPr>
            <a:endParaRPr lang="en-IN" dirty="0"/>
          </a:p>
          <a:p>
            <a:pPr marL="0" indent="0">
              <a:buNone/>
            </a:pPr>
            <a:r>
              <a:rPr lang="en-IN" dirty="0"/>
              <a:t>class Temp extends Marks</a:t>
            </a:r>
          </a:p>
          <a:p>
            <a:pPr marL="0" indent="0">
              <a:buNone/>
            </a:pPr>
            <a:r>
              <a:rPr lang="en-IN" dirty="0"/>
              <a:t>{</a:t>
            </a:r>
          </a:p>
          <a:p>
            <a:pPr marL="0" indent="0">
              <a:buNone/>
            </a:pPr>
            <a:r>
              <a:rPr lang="en-IN" dirty="0"/>
              <a:t>    public void show()</a:t>
            </a:r>
          </a:p>
          <a:p>
            <a:pPr marL="0" indent="0">
              <a:buNone/>
            </a:pPr>
            <a:r>
              <a:rPr lang="en-IN" dirty="0"/>
              <a:t>    {</a:t>
            </a:r>
          </a:p>
          <a:p>
            <a:pPr marL="0" indent="0">
              <a:buNone/>
            </a:pPr>
            <a:r>
              <a:rPr lang="en-IN" dirty="0"/>
              <a:t>        </a:t>
            </a:r>
            <a:r>
              <a:rPr lang="en-IN" dirty="0" err="1"/>
              <a:t>System.out.println</a:t>
            </a:r>
            <a:r>
              <a:rPr lang="en-IN" dirty="0"/>
              <a:t>("Just a Demo");</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Temp t1 = new Temp();</a:t>
            </a:r>
          </a:p>
          <a:p>
            <a:pPr marL="0" indent="0">
              <a:buNone/>
            </a:pPr>
            <a:r>
              <a:rPr lang="en-IN" dirty="0"/>
              <a:t>        t1.input();</a:t>
            </a:r>
          </a:p>
          <a:p>
            <a:pPr marL="0" indent="0">
              <a:buNone/>
            </a:pPr>
            <a:r>
              <a:rPr lang="en-IN" dirty="0"/>
              <a:t>        t1.disp();</a:t>
            </a:r>
          </a:p>
          <a:p>
            <a:pPr marL="0" indent="0">
              <a:buNone/>
            </a:pPr>
            <a:r>
              <a:rPr lang="en-IN" dirty="0"/>
              <a:t>        t1.show();</a:t>
            </a:r>
          </a:p>
          <a:p>
            <a:pPr marL="0" indent="0">
              <a:buNone/>
            </a:pPr>
            <a:r>
              <a:rPr lang="en-IN" dirty="0"/>
              <a:t>    } </a:t>
            </a:r>
          </a:p>
          <a:p>
            <a:pPr marL="0" indent="0">
              <a:buNone/>
            </a:pPr>
            <a:r>
              <a:rPr lang="en-IN" dirty="0"/>
              <a:t>}</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r>
              <a:rPr lang="en-US" dirty="0"/>
              <a:t>Output -</a:t>
            </a:r>
          </a:p>
          <a:p>
            <a:pPr marL="0" indent="0">
              <a:buNone/>
            </a:pPr>
            <a:r>
              <a:rPr lang="en-US" dirty="0"/>
              <a:t>    Enter physics marks     80</a:t>
            </a:r>
          </a:p>
          <a:p>
            <a:pPr marL="0" indent="0">
              <a:buNone/>
            </a:pPr>
            <a:r>
              <a:rPr lang="en-US" dirty="0"/>
              <a:t>    Enter chemistry marks  90</a:t>
            </a:r>
          </a:p>
          <a:p>
            <a:pPr marL="0" indent="0">
              <a:buNone/>
            </a:pPr>
            <a:r>
              <a:rPr lang="en-US" dirty="0"/>
              <a:t>    80     90</a:t>
            </a:r>
          </a:p>
          <a:p>
            <a:pPr marL="0" indent="0">
              <a:buNone/>
            </a:pPr>
            <a:r>
              <a:rPr lang="en-US" dirty="0"/>
              <a:t>    Just a Demo</a:t>
            </a:r>
          </a:p>
          <a:p>
            <a:r>
              <a:rPr lang="en-US" dirty="0"/>
              <a:t>In the above example Marks class contain an abstract method named show(), And always remember that if a class contain any abstract method then that class should also be abstract. In this case if we do not override show() method in Temp class, then we also have to declare Temp class abstract.</a:t>
            </a:r>
          </a:p>
          <a:p>
            <a:r>
              <a:rPr lang="en-US" dirty="0"/>
              <a:t>Because Temp is inheriting Marks class, so show() method is also available in Temp class and as rule says we have to declare class abstract if it contain any abstract method.</a:t>
            </a:r>
          </a:p>
          <a:p>
            <a:r>
              <a:rPr lang="en-US" dirty="0"/>
              <a:t>So we override show() method and now no need to declare Temp class as abstract.</a:t>
            </a:r>
            <a:endParaRPr lang="en-IN" dirty="0"/>
          </a:p>
        </p:txBody>
      </p:sp>
    </p:spTree>
    <p:extLst>
      <p:ext uri="{BB962C8B-B14F-4D97-AF65-F5344CB8AC3E}">
        <p14:creationId xmlns:p14="http://schemas.microsoft.com/office/powerpoint/2010/main" val="286276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Anonymous Class</a:t>
            </a:r>
            <a:br>
              <a:rPr lang="en-IN" dirty="0"/>
            </a:br>
            <a:endParaRPr lang="en-IN" dirty="0"/>
          </a:p>
        </p:txBody>
      </p:sp>
      <p:sp>
        <p:nvSpPr>
          <p:cNvPr id="3" name="Content Placeholder 2"/>
          <p:cNvSpPr>
            <a:spLocks noGrp="1"/>
          </p:cNvSpPr>
          <p:nvPr>
            <p:ph idx="1"/>
          </p:nvPr>
        </p:nvSpPr>
        <p:spPr/>
        <p:txBody>
          <a:bodyPr/>
          <a:lstStyle/>
          <a:p>
            <a:r>
              <a:rPr lang="en-US" dirty="0"/>
              <a:t>An anonymous class is a class that does not have any name. It is normally used to create objects of abstract classes.</a:t>
            </a:r>
            <a:endParaRPr lang="en-IN" dirty="0"/>
          </a:p>
        </p:txBody>
      </p:sp>
    </p:spTree>
    <p:extLst>
      <p:ext uri="{BB962C8B-B14F-4D97-AF65-F5344CB8AC3E}">
        <p14:creationId xmlns:p14="http://schemas.microsoft.com/office/powerpoint/2010/main" val="49748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19800"/>
          </a:xfrm>
        </p:spPr>
        <p:txBody>
          <a:bodyPr>
            <a:normAutofit fontScale="40000" lnSpcReduction="20000"/>
          </a:bodyPr>
          <a:lstStyle/>
          <a:p>
            <a:r>
              <a:rPr lang="en-IN" dirty="0"/>
              <a:t>Example -</a:t>
            </a:r>
          </a:p>
          <a:p>
            <a:pPr marL="0" indent="0">
              <a:buNone/>
            </a:pPr>
            <a:r>
              <a:rPr lang="en-IN" dirty="0"/>
              <a:t>abstract class Marks</a:t>
            </a:r>
          </a:p>
          <a:p>
            <a:pPr marL="0" indent="0">
              <a:buNone/>
            </a:pPr>
            <a:r>
              <a:rPr lang="en-IN" dirty="0"/>
              <a:t>{</a:t>
            </a:r>
          </a:p>
          <a:p>
            <a:pPr marL="0" indent="0">
              <a:buNone/>
            </a:pPr>
            <a:r>
              <a:rPr lang="en-IN" dirty="0"/>
              <a:t>    private </a:t>
            </a:r>
            <a:r>
              <a:rPr lang="en-IN" dirty="0" err="1"/>
              <a:t>int</a:t>
            </a:r>
            <a:r>
              <a:rPr lang="en-IN" dirty="0"/>
              <a:t> </a:t>
            </a:r>
            <a:r>
              <a:rPr lang="en-IN" dirty="0" err="1"/>
              <a:t>phy,chem</a:t>
            </a:r>
            <a:r>
              <a:rPr lang="en-IN" dirty="0"/>
              <a:t>;</a:t>
            </a:r>
          </a:p>
          <a:p>
            <a:pPr marL="0" indent="0">
              <a:buNone/>
            </a:pPr>
            <a:r>
              <a:rPr lang="en-IN" dirty="0"/>
              <a:t>   </a:t>
            </a:r>
          </a:p>
          <a:p>
            <a:pPr marL="0" indent="0">
              <a:buNone/>
            </a:pPr>
            <a:r>
              <a:rPr lang="en-IN" dirty="0"/>
              <a:t>    public void input()</a:t>
            </a:r>
          </a:p>
          <a:p>
            <a:pPr marL="0" indent="0">
              <a:buNone/>
            </a:pPr>
            <a:r>
              <a:rPr lang="en-IN" dirty="0"/>
              <a:t>    {</a:t>
            </a:r>
          </a:p>
          <a:p>
            <a:pPr marL="0" indent="0">
              <a:buNone/>
            </a:pPr>
            <a:r>
              <a:rPr lang="en-IN" dirty="0"/>
              <a:t>        </a:t>
            </a:r>
            <a:r>
              <a:rPr lang="en-IN" dirty="0" err="1"/>
              <a:t>phy</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physics marks"));</a:t>
            </a:r>
          </a:p>
          <a:p>
            <a:pPr marL="0" indent="0">
              <a:buNone/>
            </a:pPr>
            <a:r>
              <a:rPr lang="en-IN" dirty="0"/>
              <a:t>        </a:t>
            </a:r>
            <a:r>
              <a:rPr lang="en-IN" dirty="0" err="1"/>
              <a:t>chem</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chemistry marks"));</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a:p>
            <a:pPr marL="0" indent="0">
              <a:buNone/>
            </a:pPr>
            <a:r>
              <a:rPr lang="en-IN" dirty="0"/>
              <a:t>     </a:t>
            </a:r>
          </a:p>
          <a:p>
            <a:pPr marL="0" indent="0">
              <a:buNone/>
            </a:pPr>
            <a:r>
              <a:rPr lang="en-IN" dirty="0"/>
              <a:t>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Marks m1= new Marks() {</a:t>
            </a:r>
          </a:p>
          <a:p>
            <a:pPr marL="0" indent="0">
              <a:buNone/>
            </a:pPr>
            <a:r>
              <a:rPr lang="en-IN" dirty="0"/>
              <a:t>          };</a:t>
            </a:r>
          </a:p>
          <a:p>
            <a:pPr marL="0" indent="0">
              <a:buNone/>
            </a:pPr>
            <a:r>
              <a:rPr lang="en-IN" dirty="0"/>
              <a:t>      m1.input();</a:t>
            </a:r>
          </a:p>
          <a:p>
            <a:pPr marL="0" indent="0">
              <a:buNone/>
            </a:pPr>
            <a:r>
              <a:rPr lang="en-IN" dirty="0"/>
              <a:t>      m1.disp();</a:t>
            </a:r>
          </a:p>
          <a:p>
            <a:pPr marL="0" indent="0">
              <a:buNone/>
            </a:pPr>
            <a:r>
              <a:rPr lang="en-IN" dirty="0"/>
              <a:t>    } </a:t>
            </a:r>
          </a:p>
          <a:p>
            <a:pPr marL="0" indent="0">
              <a:buNone/>
            </a:pPr>
            <a:r>
              <a:rPr lang="en-IN" dirty="0"/>
              <a:t>}</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47500" lnSpcReduction="20000"/>
          </a:bodyPr>
          <a:lstStyle/>
          <a:p>
            <a:r>
              <a:rPr lang="en-US" dirty="0"/>
              <a:t>Here the statement Marks m1= new Marks() { }; will create a anonymous class like this -</a:t>
            </a:r>
          </a:p>
          <a:p>
            <a:pPr marL="0" indent="0">
              <a:buNone/>
            </a:pPr>
            <a:r>
              <a:rPr lang="en-US" dirty="0"/>
              <a:t>class  ------------- extends Marks</a:t>
            </a:r>
          </a:p>
          <a:p>
            <a:pPr marL="0" indent="0">
              <a:buNone/>
            </a:pPr>
            <a:r>
              <a:rPr lang="en-US" dirty="0"/>
              <a:t> {</a:t>
            </a:r>
          </a:p>
          <a:p>
            <a:pPr marL="0" indent="0">
              <a:buNone/>
            </a:pPr>
            <a:r>
              <a:rPr lang="en-US" dirty="0"/>
              <a:t> }</a:t>
            </a:r>
          </a:p>
          <a:p>
            <a:r>
              <a:rPr lang="en-US" dirty="0"/>
              <a:t> </a:t>
            </a:r>
          </a:p>
          <a:p>
            <a:r>
              <a:rPr lang="en-US" dirty="0"/>
              <a:t>That is class does not have any name and extends Marks class, so now we can create object and access members of Marks class.</a:t>
            </a:r>
          </a:p>
          <a:p>
            <a:r>
              <a:rPr lang="en-US" dirty="0"/>
              <a:t>If Marks class also contain some abstract methods (as in Example 3) then they also need to be override like this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Marks m1= new Marks() </a:t>
            </a:r>
          </a:p>
          <a:p>
            <a:pPr marL="0" indent="0">
              <a:buNone/>
            </a:pPr>
            <a:r>
              <a:rPr lang="en-US" dirty="0"/>
              <a:t>      {</a:t>
            </a:r>
          </a:p>
          <a:p>
            <a:pPr marL="0" indent="0">
              <a:buNone/>
            </a:pPr>
            <a:r>
              <a:rPr lang="en-US" dirty="0"/>
              <a:t>          public void </a:t>
            </a:r>
            <a:r>
              <a:rPr lang="en-US" dirty="0" err="1"/>
              <a:t>disp</a:t>
            </a:r>
            <a:r>
              <a:rPr lang="en-US" dirty="0"/>
              <a:t>()</a:t>
            </a:r>
          </a:p>
          <a:p>
            <a:pPr marL="0" indent="0">
              <a:buNone/>
            </a:pPr>
            <a:r>
              <a:rPr lang="en-US" dirty="0"/>
              <a:t>          {</a:t>
            </a:r>
          </a:p>
          <a:p>
            <a:pPr marL="0" indent="0">
              <a:buNone/>
            </a:pPr>
            <a:r>
              <a:rPr lang="en-US" dirty="0"/>
              <a:t>              </a:t>
            </a:r>
            <a:r>
              <a:rPr lang="en-US" dirty="0" err="1"/>
              <a:t>System.out.println</a:t>
            </a:r>
            <a:r>
              <a:rPr lang="en-US" dirty="0"/>
              <a:t>("Just a Demo");</a:t>
            </a:r>
          </a:p>
          <a:p>
            <a:pPr marL="0" indent="0">
              <a:buNone/>
            </a:pPr>
            <a:r>
              <a:rPr lang="en-US" dirty="0"/>
              <a:t>          }</a:t>
            </a:r>
          </a:p>
          <a:p>
            <a:pPr marL="0" indent="0">
              <a:buNone/>
            </a:pPr>
            <a:r>
              <a:rPr lang="en-US" dirty="0"/>
              <a:t>      };</a:t>
            </a:r>
          </a:p>
          <a:p>
            <a:pPr marL="0" indent="0">
              <a:buNone/>
            </a:pPr>
            <a:r>
              <a:rPr lang="en-US" dirty="0"/>
              <a:t>      m1.input();</a:t>
            </a:r>
          </a:p>
          <a:p>
            <a:pPr marL="0" indent="0">
              <a:buNone/>
            </a:pPr>
            <a:r>
              <a:rPr lang="en-US" dirty="0"/>
              <a:t>      m1.disp();</a:t>
            </a:r>
          </a:p>
          <a:p>
            <a:pPr marL="0" indent="0">
              <a:buNone/>
            </a:pPr>
            <a:r>
              <a:rPr lang="en-US" dirty="0"/>
              <a:t>      m1.show();</a:t>
            </a:r>
          </a:p>
          <a:p>
            <a:pPr marL="0" indent="0">
              <a:buNone/>
            </a:pPr>
            <a:r>
              <a:rPr lang="en-US" dirty="0"/>
              <a:t>    } </a:t>
            </a:r>
          </a:p>
          <a:p>
            <a:pPr marL="0" indent="0">
              <a:buNone/>
            </a:pPr>
            <a:r>
              <a:rPr lang="en-US" dirty="0"/>
              <a:t>}</a:t>
            </a:r>
            <a:endParaRPr lang="en-IN" dirty="0"/>
          </a:p>
        </p:txBody>
      </p:sp>
    </p:spTree>
    <p:extLst>
      <p:ext uri="{BB962C8B-B14F-4D97-AF65-F5344CB8AC3E}">
        <p14:creationId xmlns:p14="http://schemas.microsoft.com/office/powerpoint/2010/main" val="2862767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dirty="0"/>
              <a:t>The statements -</a:t>
            </a:r>
          </a:p>
          <a:p>
            <a:pPr marL="0" indent="0">
              <a:buNone/>
            </a:pPr>
            <a:r>
              <a:rPr lang="en-IN" dirty="0"/>
              <a:t>Marks m1= new Marks()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("Just a Demo");</a:t>
            </a:r>
          </a:p>
          <a:p>
            <a:pPr marL="0" indent="0">
              <a:buNone/>
            </a:pPr>
            <a:r>
              <a:rPr lang="en-IN" dirty="0"/>
              <a:t>          }</a:t>
            </a:r>
          </a:p>
          <a:p>
            <a:pPr marL="0" indent="0">
              <a:buNone/>
            </a:pPr>
            <a:r>
              <a:rPr lang="en-IN" dirty="0"/>
              <a:t>      };</a:t>
            </a:r>
          </a:p>
          <a:p>
            <a:endParaRPr lang="en-IN" dirty="0"/>
          </a:p>
          <a:p>
            <a:r>
              <a:rPr lang="en-IN" dirty="0"/>
              <a:t>Will create a anonymous class like this -</a:t>
            </a:r>
          </a:p>
          <a:p>
            <a:pPr marL="0" indent="0">
              <a:buNone/>
            </a:pPr>
            <a:r>
              <a:rPr lang="en-IN" dirty="0"/>
              <a:t>class -------------------------  extends Marks      // class with no name</a:t>
            </a:r>
          </a:p>
          <a:p>
            <a:pPr marL="0" indent="0">
              <a:buNone/>
            </a:pPr>
            <a:r>
              <a:rPr lang="en-IN" dirty="0"/>
              <a:t>{</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("Just a Demo");</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862767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final Keyword</a:t>
            </a:r>
            <a:br>
              <a:rPr lang="en-IN" dirty="0"/>
            </a:br>
            <a:endParaRPr lang="en-IN" dirty="0"/>
          </a:p>
        </p:txBody>
      </p:sp>
      <p:sp>
        <p:nvSpPr>
          <p:cNvPr id="3" name="Content Placeholder 2"/>
          <p:cNvSpPr>
            <a:spLocks noGrp="1"/>
          </p:cNvSpPr>
          <p:nvPr>
            <p:ph idx="1"/>
          </p:nvPr>
        </p:nvSpPr>
        <p:spPr/>
        <p:txBody>
          <a:bodyPr/>
          <a:lstStyle/>
          <a:p>
            <a:r>
              <a:rPr lang="en-US" dirty="0"/>
              <a:t>It is used to finalize something that we cannot change. final can be classes, methods and variables</a:t>
            </a:r>
            <a:r>
              <a:rPr lang="en-US" dirty="0" smtClean="0"/>
              <a:t>.</a:t>
            </a:r>
          </a:p>
          <a:p>
            <a:r>
              <a:rPr lang="en-US" b="1" dirty="0"/>
              <a:t>final variable -</a:t>
            </a:r>
          </a:p>
          <a:p>
            <a:r>
              <a:rPr lang="en-US" dirty="0"/>
              <a:t>If we declare any variable as final then once the value is assigned to it, we cannot change it.</a:t>
            </a:r>
            <a:endParaRPr lang="en-IN" dirty="0"/>
          </a:p>
        </p:txBody>
      </p:sp>
    </p:spTree>
    <p:extLst>
      <p:ext uri="{BB962C8B-B14F-4D97-AF65-F5344CB8AC3E}">
        <p14:creationId xmlns:p14="http://schemas.microsoft.com/office/powerpoint/2010/main" val="504930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25000" lnSpcReduction="20000"/>
          </a:bodyPr>
          <a:lstStyle/>
          <a:p>
            <a:r>
              <a:rPr lang="en-IN" dirty="0"/>
              <a:t>Example -</a:t>
            </a:r>
          </a:p>
          <a:p>
            <a:pPr marL="0" indent="0">
              <a:buNone/>
            </a:pPr>
            <a:r>
              <a:rPr lang="en-IN" dirty="0"/>
              <a:t>class Test</a:t>
            </a:r>
          </a:p>
          <a:p>
            <a:pPr marL="0" indent="0">
              <a:buNone/>
            </a:pPr>
            <a:r>
              <a:rPr lang="en-IN" dirty="0"/>
              <a:t>{</a:t>
            </a:r>
          </a:p>
          <a:p>
            <a:pPr marL="0" indent="0">
              <a:buNone/>
            </a:pPr>
            <a:r>
              <a:rPr lang="en-IN" dirty="0"/>
              <a:t>    private </a:t>
            </a:r>
            <a:r>
              <a:rPr lang="en-IN" dirty="0" err="1"/>
              <a:t>int</a:t>
            </a:r>
            <a:r>
              <a:rPr lang="en-IN" dirty="0"/>
              <a:t> a;</a:t>
            </a:r>
          </a:p>
          <a:p>
            <a:pPr marL="0" indent="0">
              <a:buNone/>
            </a:pPr>
            <a:r>
              <a:rPr lang="en-IN" dirty="0"/>
              <a:t>    private final </a:t>
            </a:r>
            <a:r>
              <a:rPr lang="en-IN" dirty="0" err="1"/>
              <a:t>int</a:t>
            </a:r>
            <a:r>
              <a:rPr lang="en-IN" dirty="0"/>
              <a:t> b, c=300;</a:t>
            </a:r>
          </a:p>
          <a:p>
            <a:pPr marL="0" indent="0">
              <a:buNone/>
            </a:pPr>
            <a:r>
              <a:rPr lang="en-IN" dirty="0"/>
              <a:t>    </a:t>
            </a:r>
          </a:p>
          <a:p>
            <a:pPr marL="0" indent="0">
              <a:buNone/>
            </a:pPr>
            <a:r>
              <a:rPr lang="en-IN" dirty="0"/>
              <a:t>    public Test()</a:t>
            </a:r>
          </a:p>
          <a:p>
            <a:pPr marL="0" indent="0">
              <a:buNone/>
            </a:pPr>
            <a:r>
              <a:rPr lang="en-IN" dirty="0"/>
              <a:t>    {</a:t>
            </a:r>
          </a:p>
          <a:p>
            <a:pPr marL="0" indent="0">
              <a:buNone/>
            </a:pPr>
            <a:r>
              <a:rPr lang="en-IN" dirty="0"/>
              <a:t>        a = 100;</a:t>
            </a:r>
          </a:p>
          <a:p>
            <a:pPr marL="0" indent="0">
              <a:buNone/>
            </a:pPr>
            <a:r>
              <a:rPr lang="en-IN" dirty="0"/>
              <a:t>        b = 200;</a:t>
            </a:r>
          </a:p>
          <a:p>
            <a:pPr marL="0" indent="0">
              <a:buNone/>
            </a:pPr>
            <a:r>
              <a:rPr lang="en-IN" dirty="0"/>
              <a:t>      //c = 300;  Error, cannot assign a value to final variable c.</a:t>
            </a:r>
          </a:p>
          <a:p>
            <a:pPr marL="0" indent="0">
              <a:buNone/>
            </a:pPr>
            <a:r>
              <a:rPr lang="en-IN" dirty="0"/>
              <a:t>    }</a:t>
            </a:r>
          </a:p>
          <a:p>
            <a:pPr marL="0" indent="0">
              <a:buNone/>
            </a:pPr>
            <a:r>
              <a:rPr lang="en-IN" dirty="0"/>
              <a:t>    </a:t>
            </a:r>
          </a:p>
          <a:p>
            <a:pPr marL="0" indent="0">
              <a:buNone/>
            </a:pPr>
            <a:r>
              <a:rPr lang="en-IN" dirty="0"/>
              <a:t>    public Test(</a:t>
            </a:r>
            <a:r>
              <a:rPr lang="en-IN" dirty="0" err="1"/>
              <a:t>int</a:t>
            </a:r>
            <a:r>
              <a:rPr lang="en-IN" dirty="0"/>
              <a:t> x, </a:t>
            </a:r>
            <a:r>
              <a:rPr lang="en-IN" dirty="0" err="1"/>
              <a:t>int</a:t>
            </a:r>
            <a:r>
              <a:rPr lang="en-IN" dirty="0"/>
              <a:t> y)</a:t>
            </a:r>
          </a:p>
          <a:p>
            <a:pPr marL="0" indent="0">
              <a:buNone/>
            </a:pPr>
            <a:r>
              <a:rPr lang="en-IN" dirty="0"/>
              <a:t>    {</a:t>
            </a:r>
          </a:p>
          <a:p>
            <a:pPr marL="0" indent="0">
              <a:buNone/>
            </a:pPr>
            <a:r>
              <a:rPr lang="en-IN" dirty="0"/>
              <a:t>        a = x;</a:t>
            </a:r>
          </a:p>
          <a:p>
            <a:pPr marL="0" indent="0">
              <a:buNone/>
            </a:pPr>
            <a:r>
              <a:rPr lang="en-IN" dirty="0"/>
              <a:t>        b = y;</a:t>
            </a:r>
          </a:p>
          <a:p>
            <a:pPr marL="0" indent="0">
              <a:buNone/>
            </a:pPr>
            <a:r>
              <a:rPr lang="en-IN" dirty="0"/>
              <a:t>    }</a:t>
            </a:r>
          </a:p>
          <a:p>
            <a:pPr marL="0" indent="0">
              <a:buNone/>
            </a:pPr>
            <a:r>
              <a:rPr lang="en-IN" dirty="0"/>
              <a:t>    </a:t>
            </a:r>
          </a:p>
          <a:p>
            <a:pPr marL="0" indent="0">
              <a:buNone/>
            </a:pPr>
            <a:r>
              <a:rPr lang="en-IN" dirty="0"/>
              <a:t>    public void </a:t>
            </a:r>
            <a:r>
              <a:rPr lang="en-IN" dirty="0" err="1"/>
              <a:t>setA</a:t>
            </a:r>
            <a:r>
              <a:rPr lang="en-IN" dirty="0"/>
              <a:t>(</a:t>
            </a:r>
            <a:r>
              <a:rPr lang="en-IN" dirty="0" err="1"/>
              <a:t>int</a:t>
            </a:r>
            <a:r>
              <a:rPr lang="en-IN" dirty="0"/>
              <a:t> x)</a:t>
            </a:r>
          </a:p>
          <a:p>
            <a:pPr marL="0" indent="0">
              <a:buNone/>
            </a:pPr>
            <a:r>
              <a:rPr lang="en-IN" dirty="0"/>
              <a:t>    {</a:t>
            </a:r>
          </a:p>
          <a:p>
            <a:pPr marL="0" indent="0">
              <a:buNone/>
            </a:pPr>
            <a:r>
              <a:rPr lang="en-IN" dirty="0"/>
              <a:t>        a = x;</a:t>
            </a:r>
          </a:p>
          <a:p>
            <a:pPr marL="0" indent="0">
              <a:buNone/>
            </a:pPr>
            <a:r>
              <a:rPr lang="en-IN" dirty="0"/>
              <a:t>    }</a:t>
            </a:r>
          </a:p>
          <a:p>
            <a:pPr marL="0" indent="0">
              <a:buNone/>
            </a:pPr>
            <a:r>
              <a:rPr lang="en-IN" dirty="0"/>
              <a:t>    public void </a:t>
            </a:r>
            <a:r>
              <a:rPr lang="en-IN" dirty="0" err="1"/>
              <a:t>setB</a:t>
            </a:r>
            <a:r>
              <a:rPr lang="en-IN" dirty="0"/>
              <a:t>(</a:t>
            </a:r>
            <a:r>
              <a:rPr lang="en-IN" dirty="0" err="1"/>
              <a:t>int</a:t>
            </a:r>
            <a:r>
              <a:rPr lang="en-IN" dirty="0"/>
              <a:t> y)</a:t>
            </a:r>
          </a:p>
          <a:p>
            <a:pPr marL="0" indent="0">
              <a:buNone/>
            </a:pPr>
            <a:r>
              <a:rPr lang="en-IN" dirty="0"/>
              <a:t>    {</a:t>
            </a:r>
          </a:p>
          <a:p>
            <a:pPr marL="0" indent="0">
              <a:buNone/>
            </a:pPr>
            <a:r>
              <a:rPr lang="en-IN" dirty="0"/>
              <a:t>       // b = y;    Error, cannot assign a value to final variable c.</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  "+b+"  "+c);</a:t>
            </a:r>
          </a:p>
          <a:p>
            <a:pPr marL="0" indent="0">
              <a:buNone/>
            </a:pPr>
            <a:r>
              <a:rPr lang="en-IN" dirty="0"/>
              <a:t>    }</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Test t1 = new Test();</a:t>
            </a:r>
          </a:p>
          <a:p>
            <a:pPr marL="0" indent="0">
              <a:buNone/>
            </a:pPr>
            <a:r>
              <a:rPr lang="en-IN" dirty="0"/>
              <a:t>        t1.disp();</a:t>
            </a:r>
          </a:p>
          <a:p>
            <a:pPr marL="0" indent="0">
              <a:buNone/>
            </a:pPr>
            <a:r>
              <a:rPr lang="en-IN" dirty="0"/>
              <a:t>        Test t2 = new Test(10, 20);</a:t>
            </a:r>
          </a:p>
          <a:p>
            <a:pPr marL="0" indent="0">
              <a:buNone/>
            </a:pPr>
            <a:r>
              <a:rPr lang="en-IN" dirty="0"/>
              <a:t>        t2.disp();</a:t>
            </a:r>
          </a:p>
          <a:p>
            <a:pPr marL="0" indent="0">
              <a:buNone/>
            </a:pPr>
            <a:r>
              <a:rPr lang="en-IN" dirty="0"/>
              <a:t>        </a:t>
            </a:r>
          </a:p>
          <a:p>
            <a:pPr marL="0" indent="0">
              <a:buNone/>
            </a:pPr>
            <a:r>
              <a:rPr lang="en-IN" dirty="0"/>
              <a:t>    } </a:t>
            </a:r>
          </a:p>
          <a:p>
            <a:pPr marL="0" indent="0">
              <a:buNone/>
            </a:pPr>
            <a:r>
              <a:rPr lang="en-IN" dirty="0"/>
              <a:t>}</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US" dirty="0"/>
              <a:t>Output -</a:t>
            </a:r>
          </a:p>
          <a:p>
            <a:pPr marL="0" indent="0">
              <a:buNone/>
            </a:pPr>
            <a:r>
              <a:rPr lang="en-US" dirty="0"/>
              <a:t>        100    200     300</a:t>
            </a:r>
          </a:p>
          <a:p>
            <a:pPr marL="0" indent="0">
              <a:buNone/>
            </a:pPr>
            <a:r>
              <a:rPr lang="en-US" dirty="0"/>
              <a:t>        10      20       300</a:t>
            </a:r>
          </a:p>
          <a:p>
            <a:r>
              <a:rPr lang="en-US" dirty="0"/>
              <a:t>    </a:t>
            </a:r>
          </a:p>
          <a:p>
            <a:r>
              <a:rPr lang="en-US" dirty="0"/>
              <a:t>Here we have declared 3 variables a, b and c, out of them b and c are final.</a:t>
            </a:r>
          </a:p>
          <a:p>
            <a:r>
              <a:rPr lang="en-US" dirty="0"/>
              <a:t>Variable c has assigned a value 300, so we cannot change it, that is why we are also not able to initialize it in any constructor and simple method.</a:t>
            </a:r>
          </a:p>
          <a:p>
            <a:r>
              <a:rPr lang="en-US" dirty="0"/>
              <a:t>Variable b is not initialized to any value so we can initialize them in constructors.</a:t>
            </a:r>
          </a:p>
          <a:p>
            <a:r>
              <a:rPr lang="en-US" dirty="0"/>
              <a:t>Note that we cannot initialize final variables in simple methods. Because only constructor gives guarantee that it will run only once for any object whereas methods can run any number of times.</a:t>
            </a:r>
          </a:p>
          <a:p>
            <a:r>
              <a:rPr lang="en-US" dirty="0"/>
              <a:t>So methods can change the value of variables for any objects and that is not possible for final variables.</a:t>
            </a:r>
            <a:endParaRPr lang="en-IN" dirty="0"/>
          </a:p>
        </p:txBody>
      </p:sp>
    </p:spTree>
    <p:extLst>
      <p:ext uri="{BB962C8B-B14F-4D97-AF65-F5344CB8AC3E}">
        <p14:creationId xmlns:p14="http://schemas.microsoft.com/office/powerpoint/2010/main" val="2862767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32500" lnSpcReduction="20000"/>
          </a:bodyPr>
          <a:lstStyle/>
          <a:p>
            <a:r>
              <a:rPr lang="en-IN" b="1" dirty="0"/>
              <a:t>final methods -</a:t>
            </a:r>
          </a:p>
          <a:p>
            <a:r>
              <a:rPr lang="en-IN" dirty="0"/>
              <a:t>Once a method is declared as final, we cannot override it. That is we cannot change its definition.</a:t>
            </a:r>
          </a:p>
          <a:p>
            <a:r>
              <a:rPr lang="en-IN" dirty="0"/>
              <a:t>Example -</a:t>
            </a:r>
          </a:p>
          <a:p>
            <a:pPr marL="0" indent="0">
              <a:buNone/>
            </a:pPr>
            <a:r>
              <a:rPr lang="en-IN" dirty="0"/>
              <a:t> class Test1</a:t>
            </a:r>
          </a:p>
          <a:p>
            <a:pPr marL="0" indent="0">
              <a:buNone/>
            </a:pPr>
            <a:r>
              <a:rPr lang="en-IN" dirty="0"/>
              <a:t>{</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("Test1 </a:t>
            </a:r>
            <a:r>
              <a:rPr lang="en-IN" dirty="0" err="1"/>
              <a:t>Disp</a:t>
            </a:r>
            <a:r>
              <a:rPr lang="en-IN" dirty="0"/>
              <a:t>");</a:t>
            </a:r>
          </a:p>
          <a:p>
            <a:pPr marL="0" indent="0">
              <a:buNone/>
            </a:pPr>
            <a:r>
              <a:rPr lang="en-IN" dirty="0"/>
              <a:t>  }</a:t>
            </a:r>
          </a:p>
          <a:p>
            <a:pPr marL="0" indent="0">
              <a:buNone/>
            </a:pPr>
            <a:r>
              <a:rPr lang="en-IN" dirty="0"/>
              <a:t>    </a:t>
            </a:r>
          </a:p>
          <a:p>
            <a:pPr marL="0" indent="0">
              <a:buNone/>
            </a:pPr>
            <a:r>
              <a:rPr lang="en-IN" dirty="0"/>
              <a:t>  public final void show()  // or final public void show()</a:t>
            </a:r>
          </a:p>
          <a:p>
            <a:pPr marL="0" indent="0">
              <a:buNone/>
            </a:pPr>
            <a:r>
              <a:rPr lang="en-IN" dirty="0"/>
              <a:t>  {</a:t>
            </a:r>
          </a:p>
          <a:p>
            <a:pPr marL="0" indent="0">
              <a:buNone/>
            </a:pPr>
            <a:r>
              <a:rPr lang="en-IN" dirty="0"/>
              <a:t>      </a:t>
            </a:r>
            <a:r>
              <a:rPr lang="en-IN" dirty="0" err="1"/>
              <a:t>System.out.println</a:t>
            </a:r>
            <a:r>
              <a:rPr lang="en-IN" dirty="0"/>
              <a:t>("Final Method, So cannot change definition");</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class Test2 extends Test1</a:t>
            </a:r>
          </a:p>
          <a:p>
            <a:pPr marL="0" indent="0">
              <a:buNone/>
            </a:pPr>
            <a:r>
              <a:rPr lang="en-IN" dirty="0"/>
              <a:t>{</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("Test2 </a:t>
            </a:r>
            <a:r>
              <a:rPr lang="en-IN" dirty="0" err="1"/>
              <a:t>Disp</a:t>
            </a:r>
            <a:r>
              <a:rPr lang="en-IN" dirty="0"/>
              <a:t>");</a:t>
            </a:r>
          </a:p>
          <a:p>
            <a:pPr marL="0" indent="0">
              <a:buNone/>
            </a:pPr>
            <a:r>
              <a:rPr lang="en-IN" dirty="0"/>
              <a:t>    }</a:t>
            </a:r>
          </a:p>
          <a:p>
            <a:pPr marL="0" indent="0">
              <a:buNone/>
            </a:pPr>
            <a:r>
              <a:rPr lang="en-IN" dirty="0"/>
              <a:t>    </a:t>
            </a:r>
          </a:p>
          <a:p>
            <a:pPr marL="0" indent="0">
              <a:buNone/>
            </a:pPr>
            <a:r>
              <a:rPr lang="en-IN" dirty="0"/>
              <a:t>  /*  public void show()             We cannot override final methods</a:t>
            </a:r>
          </a:p>
          <a:p>
            <a:pPr marL="0" indent="0">
              <a:buNone/>
            </a:pPr>
            <a:r>
              <a:rPr lang="en-IN" dirty="0"/>
              <a:t>    {</a:t>
            </a:r>
          </a:p>
          <a:p>
            <a:pPr marL="0" indent="0">
              <a:buNone/>
            </a:pPr>
            <a:r>
              <a:rPr lang="en-IN" dirty="0"/>
              <a:t>        </a:t>
            </a:r>
            <a:r>
              <a:rPr lang="en-IN" dirty="0" err="1"/>
              <a:t>System.out.println</a:t>
            </a:r>
            <a:r>
              <a:rPr lang="en-IN" dirty="0"/>
              <a:t>("No way");</a:t>
            </a:r>
          </a:p>
          <a:p>
            <a:pPr marL="0" indent="0">
              <a:buNone/>
            </a:pPr>
            <a:r>
              <a:rPr lang="en-IN" dirty="0"/>
              <a:t>    }</a:t>
            </a:r>
          </a:p>
          <a:p>
            <a:pPr marL="0" indent="0">
              <a:buNone/>
            </a:pPr>
            <a:r>
              <a:rPr lang="en-IN" dirty="0"/>
              <a:t>*/</a:t>
            </a:r>
          </a:p>
          <a:p>
            <a:pPr marL="0" indent="0">
              <a:buNone/>
            </a:pPr>
            <a:r>
              <a:rPr lang="en-IN" dirty="0"/>
              <a:t>}</a:t>
            </a:r>
          </a:p>
          <a:p>
            <a:pPr marL="0" indent="0">
              <a:buNone/>
            </a:pPr>
            <a:r>
              <a:rPr lang="en-IN" dirty="0"/>
              <a:t>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Test2  t1 = new Test2();</a:t>
            </a:r>
          </a:p>
          <a:p>
            <a:pPr marL="0" indent="0">
              <a:buNone/>
            </a:pPr>
            <a:r>
              <a:rPr lang="en-IN" dirty="0"/>
              <a:t>        t1.disp();</a:t>
            </a:r>
          </a:p>
          <a:p>
            <a:pPr marL="0" indent="0">
              <a:buNone/>
            </a:pPr>
            <a:r>
              <a:rPr lang="en-IN" dirty="0"/>
              <a:t>        t1.show();</a:t>
            </a:r>
          </a:p>
          <a:p>
            <a:pPr marL="0" indent="0">
              <a:buNone/>
            </a:pPr>
            <a:r>
              <a:rPr lang="en-IN" dirty="0"/>
              <a:t>      </a:t>
            </a:r>
          </a:p>
          <a:p>
            <a:pPr marL="0" indent="0">
              <a:buNone/>
            </a:pPr>
            <a:r>
              <a:rPr lang="en-IN" dirty="0"/>
              <a:t>    } </a:t>
            </a:r>
          </a:p>
          <a:p>
            <a:pPr marL="0" indent="0">
              <a:buNone/>
            </a:pPr>
            <a:r>
              <a:rPr lang="en-IN" dirty="0"/>
              <a:t>} </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85000" lnSpcReduction="20000"/>
          </a:bodyPr>
          <a:lstStyle/>
          <a:p>
            <a:r>
              <a:rPr lang="en-US" b="1" dirty="0"/>
              <a:t>final class -</a:t>
            </a:r>
          </a:p>
          <a:p>
            <a:r>
              <a:rPr lang="en-US" dirty="0"/>
              <a:t>We cannot override final classes.</a:t>
            </a:r>
          </a:p>
          <a:p>
            <a:r>
              <a:rPr lang="en-US" dirty="0"/>
              <a:t>Example -</a:t>
            </a:r>
          </a:p>
          <a:p>
            <a:pPr marL="0" indent="0">
              <a:buNone/>
            </a:pPr>
            <a:r>
              <a:rPr lang="en-US" dirty="0"/>
              <a:t>final class Test1</a:t>
            </a:r>
          </a:p>
          <a:p>
            <a:pPr marL="0" indent="0">
              <a:buNone/>
            </a:pPr>
            <a:r>
              <a:rPr lang="en-US" dirty="0"/>
              <a:t>{</a:t>
            </a:r>
          </a:p>
          <a:p>
            <a:pPr marL="0" indent="0">
              <a:buNone/>
            </a:pPr>
            <a:r>
              <a:rPr lang="en-US" dirty="0" smtClean="0"/>
              <a:t>}</a:t>
            </a:r>
            <a:endParaRPr lang="en-US" dirty="0"/>
          </a:p>
          <a:p>
            <a:pPr marL="0" indent="0">
              <a:buNone/>
            </a:pPr>
            <a:r>
              <a:rPr lang="en-US" dirty="0"/>
              <a:t>class Test2 extends Test1      //Error, cannot inherit final classes</a:t>
            </a:r>
          </a:p>
          <a:p>
            <a:pPr marL="0" indent="0">
              <a:buNone/>
            </a:pPr>
            <a:r>
              <a:rPr lang="en-US" dirty="0"/>
              <a:t>{</a:t>
            </a:r>
          </a:p>
          <a:p>
            <a:pPr marL="0" indent="0">
              <a:buNone/>
            </a:pPr>
            <a:r>
              <a:rPr lang="en-US" dirty="0"/>
              <a:t>} </a:t>
            </a:r>
          </a:p>
          <a:p>
            <a:pPr marL="0" indent="0">
              <a:buNone/>
            </a:pPr>
            <a:r>
              <a:rPr lang="en-US" dirty="0"/>
              <a:t> </a:t>
            </a:r>
          </a:p>
          <a:p>
            <a:r>
              <a:rPr lang="en-US" dirty="0"/>
              <a:t>Note - abstract and final are reverse of each other i.e. abstract need to be override and final cannot be override. So we cannot use abstract and final at the same time.</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553200"/>
          </a:xfrm>
        </p:spPr>
        <p:txBody>
          <a:bodyPr>
            <a:normAutofit fontScale="40000" lnSpcReduction="20000"/>
          </a:bodyPr>
          <a:lstStyle/>
          <a:p>
            <a:r>
              <a:rPr lang="en-IN" b="1" dirty="0"/>
              <a:t>final reference -</a:t>
            </a:r>
          </a:p>
          <a:p>
            <a:r>
              <a:rPr lang="en-IN" dirty="0"/>
              <a:t>Like final variables we can also declare final reference. Once a reference is declared as final, we cannot change that.</a:t>
            </a:r>
          </a:p>
          <a:p>
            <a:r>
              <a:rPr lang="en-IN" dirty="0"/>
              <a:t>Example -</a:t>
            </a:r>
          </a:p>
          <a:p>
            <a:pPr marL="0" indent="0">
              <a:buNone/>
            </a:pPr>
            <a:r>
              <a:rPr lang="en-IN" dirty="0"/>
              <a:t>class Employee</a:t>
            </a:r>
          </a:p>
          <a:p>
            <a:pPr marL="0" indent="0">
              <a:buNone/>
            </a:pPr>
            <a:r>
              <a:rPr lang="en-IN" dirty="0"/>
              <a:t>{</a:t>
            </a:r>
          </a:p>
          <a:p>
            <a:pPr marL="0" indent="0">
              <a:buNone/>
            </a:pPr>
            <a:r>
              <a:rPr lang="en-IN" dirty="0"/>
              <a:t>    </a:t>
            </a:r>
            <a:r>
              <a:rPr lang="en-IN" dirty="0" err="1"/>
              <a:t>int</a:t>
            </a:r>
            <a:r>
              <a:rPr lang="en-IN" dirty="0"/>
              <a:t> roll;</a:t>
            </a:r>
          </a:p>
          <a:p>
            <a:pPr marL="0" indent="0">
              <a:buNone/>
            </a:pPr>
            <a:r>
              <a:rPr lang="en-IN" dirty="0"/>
              <a:t>    String name;</a:t>
            </a:r>
          </a:p>
          <a:p>
            <a:pPr marL="0" indent="0">
              <a:buNone/>
            </a:pPr>
            <a:r>
              <a:rPr lang="en-IN" dirty="0"/>
              <a:t>    </a:t>
            </a:r>
          </a:p>
          <a:p>
            <a:pPr marL="0" indent="0">
              <a:buNone/>
            </a:pPr>
            <a:r>
              <a:rPr lang="en-IN" dirty="0"/>
              <a:t>    public Employee(</a:t>
            </a:r>
            <a:r>
              <a:rPr lang="en-IN" dirty="0" err="1"/>
              <a:t>int</a:t>
            </a:r>
            <a:r>
              <a:rPr lang="en-IN" dirty="0"/>
              <a:t> r, String n)</a:t>
            </a:r>
          </a:p>
          <a:p>
            <a:pPr marL="0" indent="0">
              <a:buNone/>
            </a:pPr>
            <a:r>
              <a:rPr lang="en-IN" dirty="0"/>
              <a:t>    {</a:t>
            </a:r>
          </a:p>
          <a:p>
            <a:pPr marL="0" indent="0">
              <a:buNone/>
            </a:pPr>
            <a:r>
              <a:rPr lang="en-IN" dirty="0"/>
              <a:t>        roll = r;</a:t>
            </a:r>
          </a:p>
          <a:p>
            <a:pPr marL="0" indent="0">
              <a:buNone/>
            </a:pPr>
            <a:r>
              <a:rPr lang="en-IN" dirty="0"/>
              <a:t>        name= n;</a:t>
            </a:r>
          </a:p>
          <a:p>
            <a:pPr marL="0" indent="0">
              <a:buNone/>
            </a:pPr>
            <a:r>
              <a:rPr lang="en-IN" dirty="0"/>
              <a:t>    }</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(roll+ "   "+ name);</a:t>
            </a:r>
          </a:p>
          <a:p>
            <a:pPr marL="0" indent="0">
              <a:buNone/>
            </a:pPr>
            <a:r>
              <a:rPr lang="en-IN" dirty="0"/>
              <a:t>    }</a:t>
            </a:r>
          </a:p>
          <a:p>
            <a:pPr marL="0" indent="0">
              <a:buNone/>
            </a:pPr>
            <a:r>
              <a:rPr lang="en-IN" dirty="0"/>
              <a:t>}</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final Employee e1 = new Employee(1, "Tom");</a:t>
            </a:r>
          </a:p>
          <a:p>
            <a:pPr marL="0" indent="0">
              <a:buNone/>
            </a:pPr>
            <a:r>
              <a:rPr lang="en-IN" dirty="0"/>
              <a:t>        e1.disp();</a:t>
            </a:r>
          </a:p>
          <a:p>
            <a:pPr marL="0" indent="0">
              <a:buNone/>
            </a:pPr>
            <a:r>
              <a:rPr lang="en-IN" dirty="0"/>
              <a:t>        Employee e2 = new Employee(2, "John");</a:t>
            </a:r>
          </a:p>
          <a:p>
            <a:pPr marL="0" indent="0">
              <a:buNone/>
            </a:pPr>
            <a:r>
              <a:rPr lang="en-IN" dirty="0"/>
              <a:t>        e2.disp();</a:t>
            </a:r>
          </a:p>
          <a:p>
            <a:pPr marL="0" indent="0">
              <a:buNone/>
            </a:pPr>
            <a:r>
              <a:rPr lang="en-IN" dirty="0"/>
              <a:t>      //  e1 = new Employee(3, "Jack");     Error cannot assign value to a final reference</a:t>
            </a:r>
          </a:p>
          <a:p>
            <a:pPr marL="0" indent="0">
              <a:buNone/>
            </a:pPr>
            <a:r>
              <a:rPr lang="en-IN" dirty="0"/>
              <a:t>        e2 = new Employee(4, "Tim");</a:t>
            </a:r>
          </a:p>
          <a:p>
            <a:pPr marL="0" indent="0">
              <a:buNone/>
            </a:pPr>
            <a:r>
              <a:rPr lang="en-IN" dirty="0"/>
              <a:t>        e2.disp();</a:t>
            </a:r>
          </a:p>
          <a:p>
            <a:pPr marL="0" indent="0">
              <a:buNone/>
            </a:pPr>
            <a:r>
              <a:rPr lang="en-IN" dirty="0"/>
              <a:t>        } </a:t>
            </a:r>
          </a:p>
          <a:p>
            <a:pPr marL="0" indent="0">
              <a:buNone/>
            </a:pPr>
            <a:r>
              <a:rPr lang="en-IN" dirty="0"/>
              <a:t>}</a:t>
            </a:r>
          </a:p>
          <a:p>
            <a:endParaRPr lang="en-IN" dirty="0"/>
          </a:p>
        </p:txBody>
      </p:sp>
    </p:spTree>
    <p:extLst>
      <p:ext uri="{BB962C8B-B14F-4D97-AF65-F5344CB8AC3E}">
        <p14:creationId xmlns:p14="http://schemas.microsoft.com/office/powerpoint/2010/main" val="2862767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r>
              <a:rPr lang="en-US" sz="2000" dirty="0"/>
              <a:t>Here we have declared two references e1 and e2. e1 is final, so once any value assigned to e1, it cannot be changed</a:t>
            </a:r>
            <a:r>
              <a:rPr lang="en-US" sz="2000" dirty="0" smtClean="0"/>
              <a:t>.</a:t>
            </a:r>
          </a:p>
          <a:p>
            <a:endParaRPr lang="en-US" sz="2000" dirty="0" smtClean="0"/>
          </a:p>
          <a:p>
            <a:endParaRPr lang="en-US" sz="2000" dirty="0"/>
          </a:p>
          <a:p>
            <a:pPr marL="0" indent="0">
              <a:buNone/>
            </a:pPr>
            <a:r>
              <a:rPr lang="en-US" sz="2000" dirty="0"/>
              <a:t/>
            </a:r>
            <a:br>
              <a:rPr lang="en-US" sz="2000" dirty="0"/>
            </a:br>
            <a:r>
              <a:rPr lang="en-US" sz="2000" dirty="0"/>
              <a:t/>
            </a:r>
            <a:br>
              <a:rPr lang="en-US" sz="2000" dirty="0"/>
            </a:br>
            <a:endParaRPr lang="en-US" sz="2000" dirty="0" smtClean="0"/>
          </a:p>
          <a:p>
            <a:pPr marL="0" indent="0">
              <a:buNone/>
            </a:pPr>
            <a:endParaRPr lang="en-US" sz="2000" dirty="0"/>
          </a:p>
          <a:p>
            <a:pPr marL="0" indent="0">
              <a:buNone/>
            </a:pPr>
            <a:r>
              <a:rPr lang="en-US" sz="2000" dirty="0" smtClean="0"/>
              <a:t>Because </a:t>
            </a:r>
            <a:r>
              <a:rPr lang="en-US" sz="2000" dirty="0"/>
              <a:t>e1 is final so we cannot change its value. So it cannot refer to other objects. If reference is not final then it can refer to any object as shown below -</a:t>
            </a:r>
            <a:br>
              <a:rPr lang="en-US" sz="2000" dirty="0"/>
            </a:br>
            <a:endParaRPr lang="en-US" sz="2000" dirty="0" smtClean="0"/>
          </a:p>
          <a:p>
            <a:pPr marL="0" indent="0">
              <a:buNone/>
            </a:pPr>
            <a:endParaRPr lang="en-US" sz="2000" dirty="0"/>
          </a:p>
          <a:p>
            <a:pPr marL="0" indent="0">
              <a:buNone/>
            </a:pPr>
            <a:r>
              <a:rPr lang="en-US" sz="2000" dirty="0"/>
              <a:t/>
            </a:r>
            <a:br>
              <a:rPr lang="en-US" sz="2000" dirty="0"/>
            </a:br>
            <a:endParaRPr lang="en-US" sz="2000" dirty="0" smtClean="0"/>
          </a:p>
          <a:p>
            <a:pPr marL="0" indent="0">
              <a:buNone/>
            </a:pPr>
            <a:endParaRPr lang="en-US" sz="2000" dirty="0"/>
          </a:p>
          <a:p>
            <a:pPr marL="0" indent="0">
              <a:buNone/>
            </a:pPr>
            <a:r>
              <a:rPr lang="en-US" sz="2000" dirty="0" smtClean="0"/>
              <a:t>Here </a:t>
            </a:r>
            <a:r>
              <a:rPr lang="en-US" sz="2000" dirty="0"/>
              <a:t>firstly e2 will refer to object 3 but later we change it to object 4.</a:t>
            </a:r>
            <a:endParaRPr lang="en-IN" sz="2000" dirty="0"/>
          </a:p>
        </p:txBody>
      </p:sp>
      <p:pic>
        <p:nvPicPr>
          <p:cNvPr id="1026" name="Picture 2" descr="http://localhost/my_website/public_html/Images/abstfi/finalre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19200"/>
            <a:ext cx="439102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localhost/my_website/public_html/Images/abstfi/finalref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637" y="4038600"/>
            <a:ext cx="4048125" cy="1343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767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static keyword</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US" dirty="0"/>
              <a:t>The static keyword in Java is used to define class-level members (fields, methods, blocks, or nested classes). It indicates that a member belongs to the class itself rather than to instances (objects) of the class. As a result, you can access static members without creating an instance of the class</a:t>
            </a:r>
            <a:r>
              <a:rPr lang="en-US" dirty="0" smtClean="0"/>
              <a:t>.</a:t>
            </a:r>
          </a:p>
          <a:p>
            <a:r>
              <a:rPr lang="en-US" b="1" dirty="0"/>
              <a:t>Static Variables (Class Variables)</a:t>
            </a:r>
            <a:r>
              <a:rPr lang="en-US" dirty="0"/>
              <a:t>:</a:t>
            </a:r>
          </a:p>
          <a:p>
            <a:r>
              <a:rPr lang="en-US" dirty="0"/>
              <a:t>A static variable is shared among all instances of a class. It is created only once when the class is loaded into memory, and all instances refer to the same static variable.</a:t>
            </a:r>
          </a:p>
          <a:p>
            <a:r>
              <a:rPr lang="en-US" dirty="0"/>
              <a:t>Static variables are typically used for constants or common data that should be shared across all instances.</a:t>
            </a:r>
          </a:p>
          <a:p>
            <a:endParaRPr lang="en-IN" dirty="0"/>
          </a:p>
        </p:txBody>
      </p:sp>
    </p:spTree>
    <p:extLst>
      <p:ext uri="{BB962C8B-B14F-4D97-AF65-F5344CB8AC3E}">
        <p14:creationId xmlns:p14="http://schemas.microsoft.com/office/powerpoint/2010/main" val="1645458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25000" lnSpcReduction="20000"/>
          </a:bodyPr>
          <a:lstStyle/>
          <a:p>
            <a:pPr marL="0" indent="0">
              <a:buNone/>
            </a:pPr>
            <a:r>
              <a:rPr lang="en-IN" dirty="0"/>
              <a:t>class Test</a:t>
            </a:r>
          </a:p>
          <a:p>
            <a:pPr marL="0" indent="0">
              <a:buNone/>
            </a:pPr>
            <a:r>
              <a:rPr lang="en-IN" dirty="0"/>
              <a:t>{</a:t>
            </a:r>
          </a:p>
          <a:p>
            <a:pPr marL="0" indent="0">
              <a:buNone/>
            </a:pPr>
            <a:r>
              <a:rPr lang="en-IN" dirty="0"/>
              <a:t>    private </a:t>
            </a:r>
            <a:r>
              <a:rPr lang="en-IN" dirty="0" err="1"/>
              <a:t>int</a:t>
            </a:r>
            <a:r>
              <a:rPr lang="en-IN" dirty="0"/>
              <a:t> a = 0;</a:t>
            </a:r>
          </a:p>
          <a:p>
            <a:pPr marL="0" indent="0">
              <a:buNone/>
            </a:pPr>
            <a:r>
              <a:rPr lang="en-IN" dirty="0"/>
              <a:t>    private static </a:t>
            </a:r>
            <a:r>
              <a:rPr lang="en-IN" dirty="0" err="1"/>
              <a:t>int</a:t>
            </a:r>
            <a:r>
              <a:rPr lang="en-IN" dirty="0"/>
              <a:t> b = 0;</a:t>
            </a:r>
          </a:p>
          <a:p>
            <a:pPr marL="0" indent="0">
              <a:buNone/>
            </a:pPr>
            <a:r>
              <a:rPr lang="en-IN" dirty="0"/>
              <a:t>    </a:t>
            </a:r>
          </a:p>
          <a:p>
            <a:pPr marL="0" indent="0">
              <a:buNone/>
            </a:pPr>
            <a:r>
              <a:rPr lang="en-IN" dirty="0"/>
              <a:t>    public Test()</a:t>
            </a:r>
          </a:p>
          <a:p>
            <a:pPr marL="0" indent="0">
              <a:buNone/>
            </a:pPr>
            <a:r>
              <a:rPr lang="en-IN" dirty="0"/>
              <a:t>    {</a:t>
            </a:r>
          </a:p>
          <a:p>
            <a:pPr marL="0" indent="0">
              <a:buNone/>
            </a:pPr>
            <a:r>
              <a:rPr lang="en-IN" dirty="0"/>
              <a:t>        a++;</a:t>
            </a:r>
          </a:p>
          <a:p>
            <a:pPr marL="0" indent="0">
              <a:buNone/>
            </a:pPr>
            <a:r>
              <a:rPr lang="en-IN" dirty="0"/>
              <a:t>        b++;</a:t>
            </a:r>
          </a:p>
          <a:p>
            <a:pPr marL="0" indent="0">
              <a:buNone/>
            </a:pPr>
            <a:r>
              <a:rPr lang="en-IN" dirty="0"/>
              <a:t>    }</a:t>
            </a:r>
          </a:p>
          <a:p>
            <a:pPr marL="0" indent="0">
              <a:buNone/>
            </a:pPr>
            <a:r>
              <a:rPr lang="en-IN" dirty="0"/>
              <a:t>    public void </a:t>
            </a:r>
            <a:r>
              <a:rPr lang="en-IN" dirty="0" err="1"/>
              <a:t>setA</a:t>
            </a:r>
            <a:r>
              <a:rPr lang="en-IN" dirty="0"/>
              <a:t>(</a:t>
            </a:r>
            <a:r>
              <a:rPr lang="en-IN" dirty="0" err="1"/>
              <a:t>int</a:t>
            </a:r>
            <a:r>
              <a:rPr lang="en-IN" dirty="0"/>
              <a:t> x)</a:t>
            </a:r>
          </a:p>
          <a:p>
            <a:pPr marL="0" indent="0">
              <a:buNone/>
            </a:pPr>
            <a:r>
              <a:rPr lang="en-IN" dirty="0"/>
              <a:t>    {</a:t>
            </a:r>
          </a:p>
          <a:p>
            <a:pPr marL="0" indent="0">
              <a:buNone/>
            </a:pPr>
            <a:r>
              <a:rPr lang="en-IN" dirty="0"/>
              <a:t>        a = x;</a:t>
            </a:r>
          </a:p>
          <a:p>
            <a:pPr marL="0" indent="0">
              <a:buNone/>
            </a:pPr>
            <a:r>
              <a:rPr lang="en-IN" dirty="0"/>
              <a:t>    }</a:t>
            </a:r>
          </a:p>
          <a:p>
            <a:pPr marL="0" indent="0">
              <a:buNone/>
            </a:pPr>
            <a:r>
              <a:rPr lang="en-IN" dirty="0"/>
              <a:t>    public void </a:t>
            </a:r>
            <a:r>
              <a:rPr lang="en-IN" dirty="0" err="1"/>
              <a:t>setB</a:t>
            </a:r>
            <a:r>
              <a:rPr lang="en-IN" dirty="0"/>
              <a:t>(</a:t>
            </a:r>
            <a:r>
              <a:rPr lang="en-IN" dirty="0" err="1"/>
              <a:t>int</a:t>
            </a:r>
            <a:r>
              <a:rPr lang="en-IN" dirty="0"/>
              <a:t> y)</a:t>
            </a:r>
          </a:p>
          <a:p>
            <a:pPr marL="0" indent="0">
              <a:buNone/>
            </a:pPr>
            <a:r>
              <a:rPr lang="en-IN" dirty="0"/>
              <a:t>    {</a:t>
            </a:r>
          </a:p>
          <a:p>
            <a:pPr marL="0" indent="0">
              <a:buNone/>
            </a:pPr>
            <a:r>
              <a:rPr lang="en-IN" dirty="0"/>
              <a:t>        b = y;</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(a+"   "+b);</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Test t1 = new Test();</a:t>
            </a:r>
          </a:p>
          <a:p>
            <a:pPr marL="0" indent="0">
              <a:buNone/>
            </a:pPr>
            <a:r>
              <a:rPr lang="en-IN" dirty="0"/>
              <a:t>        t1.disp();</a:t>
            </a:r>
          </a:p>
          <a:p>
            <a:pPr marL="0" indent="0">
              <a:buNone/>
            </a:pPr>
            <a:r>
              <a:rPr lang="en-IN" dirty="0"/>
              <a:t>        Test t2 = new Test();</a:t>
            </a:r>
          </a:p>
          <a:p>
            <a:pPr marL="0" indent="0">
              <a:buNone/>
            </a:pPr>
            <a:r>
              <a:rPr lang="en-IN" dirty="0"/>
              <a:t>        t2.disp();</a:t>
            </a:r>
          </a:p>
          <a:p>
            <a:pPr marL="0" indent="0">
              <a:buNone/>
            </a:pPr>
            <a:r>
              <a:rPr lang="en-IN" dirty="0"/>
              <a:t>        Test t3 = new Test();</a:t>
            </a:r>
          </a:p>
          <a:p>
            <a:pPr marL="0" indent="0">
              <a:buNone/>
            </a:pPr>
            <a:r>
              <a:rPr lang="en-IN" dirty="0"/>
              <a:t>        t3.disp();</a:t>
            </a:r>
          </a:p>
          <a:p>
            <a:pPr marL="0" indent="0">
              <a:buNone/>
            </a:pPr>
            <a:r>
              <a:rPr lang="en-IN" dirty="0"/>
              <a:t> </a:t>
            </a:r>
          </a:p>
          <a:p>
            <a:pPr marL="0" indent="0">
              <a:buNone/>
            </a:pPr>
            <a:r>
              <a:rPr lang="en-IN" dirty="0"/>
              <a:t>        t1.setB(10);</a:t>
            </a:r>
          </a:p>
          <a:p>
            <a:pPr marL="0" indent="0">
              <a:buNone/>
            </a:pPr>
            <a:r>
              <a:rPr lang="en-IN" dirty="0"/>
              <a:t>        t1.disp();</a:t>
            </a:r>
          </a:p>
          <a:p>
            <a:pPr marL="0" indent="0">
              <a:buNone/>
            </a:pPr>
            <a:r>
              <a:rPr lang="en-IN" dirty="0"/>
              <a:t>        t2.disp();</a:t>
            </a:r>
          </a:p>
          <a:p>
            <a:pPr marL="0" indent="0">
              <a:buNone/>
            </a:pPr>
            <a:r>
              <a:rPr lang="en-IN" dirty="0"/>
              <a:t>        t3.disp();</a:t>
            </a:r>
          </a:p>
          <a:p>
            <a:pPr marL="0" indent="0">
              <a:buNone/>
            </a:pPr>
            <a:r>
              <a:rPr lang="en-IN" dirty="0"/>
              <a:t>        </a:t>
            </a:r>
          </a:p>
          <a:p>
            <a:pPr marL="0" indent="0">
              <a:buNone/>
            </a:pPr>
            <a:r>
              <a:rPr lang="en-IN" dirty="0"/>
              <a:t>    }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862767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62500" lnSpcReduction="20000"/>
          </a:bodyPr>
          <a:lstStyle/>
          <a:p>
            <a:r>
              <a:rPr lang="en-US" dirty="0"/>
              <a:t>Output -</a:t>
            </a:r>
          </a:p>
          <a:p>
            <a:pPr marL="0" indent="0">
              <a:buNone/>
            </a:pPr>
            <a:r>
              <a:rPr lang="en-US" dirty="0"/>
              <a:t>     1   1</a:t>
            </a:r>
          </a:p>
          <a:p>
            <a:pPr marL="0" indent="0">
              <a:buNone/>
            </a:pPr>
            <a:r>
              <a:rPr lang="en-US" dirty="0"/>
              <a:t>     1   2</a:t>
            </a:r>
          </a:p>
          <a:p>
            <a:pPr marL="0" indent="0">
              <a:buNone/>
            </a:pPr>
            <a:r>
              <a:rPr lang="en-US" dirty="0"/>
              <a:t>     1   3</a:t>
            </a:r>
          </a:p>
          <a:p>
            <a:pPr marL="0" indent="0">
              <a:buNone/>
            </a:pPr>
            <a:r>
              <a:rPr lang="en-US" dirty="0"/>
              <a:t>     1   10</a:t>
            </a:r>
          </a:p>
          <a:p>
            <a:pPr marL="0" indent="0">
              <a:buNone/>
            </a:pPr>
            <a:r>
              <a:rPr lang="en-US" dirty="0"/>
              <a:t>     1   10</a:t>
            </a:r>
          </a:p>
          <a:p>
            <a:pPr marL="0" indent="0">
              <a:buNone/>
            </a:pPr>
            <a:r>
              <a:rPr lang="en-US" dirty="0"/>
              <a:t> </a:t>
            </a:r>
          </a:p>
          <a:p>
            <a:r>
              <a:rPr lang="en-US" dirty="0"/>
              <a:t>Here we have two variables a and b, and 3 objects t1, t2 and t3. As b is static so it will be common for all the three objects, whereas there will be separate copy of a for each object.</a:t>
            </a:r>
          </a:p>
          <a:p>
            <a:r>
              <a:rPr lang="en-US" dirty="0"/>
              <a:t>When the statement Test t1 = new Test(); gets executed an object t1 will created and it will call default constructor of Test class and value of a and b will be incremented by 1. So the statement t1.disp(); will print the output - 1 1</a:t>
            </a:r>
          </a:p>
          <a:p>
            <a:r>
              <a:rPr lang="en-US" dirty="0"/>
              <a:t>Next the statement Test t2 = new Test(); gets executed and same process follows but now value of a will be 1 and value of b will be 2, because there will be separate copy of a for t2 object, so it will incremented to 1, but b is common for all objects and its value is already incremented to 1 by t1 object so now when it will increment by t2 object, it will becomes 2.</a:t>
            </a:r>
            <a:endParaRPr lang="en-IN" dirty="0"/>
          </a:p>
        </p:txBody>
      </p:sp>
    </p:spTree>
    <p:extLst>
      <p:ext uri="{BB962C8B-B14F-4D97-AF65-F5344CB8AC3E}">
        <p14:creationId xmlns:p14="http://schemas.microsoft.com/office/powerpoint/2010/main" val="2862767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92500" lnSpcReduction="20000"/>
          </a:bodyPr>
          <a:lstStyle/>
          <a:p>
            <a:endParaRPr lang="en-IN" dirty="0" smtClean="0"/>
          </a:p>
          <a:p>
            <a:endParaRPr lang="en-IN" dirty="0"/>
          </a:p>
          <a:p>
            <a:endParaRPr lang="en-IN" dirty="0" smtClean="0"/>
          </a:p>
          <a:p>
            <a:endParaRPr lang="en-IN" dirty="0"/>
          </a:p>
          <a:p>
            <a:endParaRPr lang="en-IN" dirty="0" smtClean="0"/>
          </a:p>
          <a:p>
            <a:endParaRPr lang="en-US" dirty="0" smtClean="0"/>
          </a:p>
          <a:p>
            <a:r>
              <a:rPr lang="en-US" dirty="0" smtClean="0"/>
              <a:t>so </a:t>
            </a:r>
            <a:r>
              <a:rPr lang="en-US" dirty="0"/>
              <a:t>the statement </a:t>
            </a:r>
            <a:r>
              <a:rPr lang="en-US" b="1" dirty="0"/>
              <a:t>t2.disp();</a:t>
            </a:r>
            <a:r>
              <a:rPr lang="en-US" dirty="0"/>
              <a:t> will print the output ? 1 2.</a:t>
            </a:r>
            <a:br>
              <a:rPr lang="en-US" dirty="0"/>
            </a:br>
            <a:r>
              <a:rPr lang="en-US" dirty="0"/>
              <a:t>Next a third object t3 is created and same process follows and </a:t>
            </a:r>
            <a:r>
              <a:rPr lang="en-US" b="1" dirty="0"/>
              <a:t>t3.disp();</a:t>
            </a:r>
            <a:r>
              <a:rPr lang="en-US" dirty="0"/>
              <a:t> will print the output - 1 3.</a:t>
            </a:r>
            <a:br>
              <a:rPr lang="en-US" dirty="0"/>
            </a:br>
            <a:r>
              <a:rPr lang="en-US" dirty="0"/>
              <a:t>Next t1 has changed the value of b to 10. So it will be changed for every object. So if we again print the values of t1, t2 and t3 objects they all going to have the same value 10 for variable b.</a:t>
            </a:r>
            <a:endParaRPr lang="en-IN" dirty="0"/>
          </a:p>
        </p:txBody>
      </p:sp>
      <p:pic>
        <p:nvPicPr>
          <p:cNvPr id="2050" name="Picture 2" descr="http://localhost/my_website/public_html/Images/abstfi/stati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6172200" cy="2171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051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Static Methods</a:t>
            </a:r>
            <a:r>
              <a:rPr lang="en-US" dirty="0"/>
              <a:t>:</a:t>
            </a:r>
          </a:p>
          <a:p>
            <a:r>
              <a:rPr lang="en-US" dirty="0"/>
              <a:t>Static methods belong to the class and can be called without creating an instance of the class. They can only access other static members (variables or methods) of the class.</a:t>
            </a:r>
          </a:p>
          <a:p>
            <a:r>
              <a:rPr lang="en-US" dirty="0"/>
              <a:t>Static methods are commonly used for utility or helper functions.</a:t>
            </a:r>
          </a:p>
          <a:p>
            <a:endParaRPr lang="en-IN" dirty="0"/>
          </a:p>
        </p:txBody>
      </p:sp>
    </p:spTree>
    <p:extLst>
      <p:ext uri="{BB962C8B-B14F-4D97-AF65-F5344CB8AC3E}">
        <p14:creationId xmlns:p14="http://schemas.microsoft.com/office/powerpoint/2010/main" val="2655051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pPr marL="0" indent="0">
              <a:buNone/>
            </a:pPr>
            <a:r>
              <a:rPr lang="en-IN" dirty="0"/>
              <a:t>class </a:t>
            </a:r>
            <a:r>
              <a:rPr lang="en-IN" dirty="0" err="1"/>
              <a:t>MathUtility</a:t>
            </a:r>
            <a:r>
              <a:rPr lang="en-IN" dirty="0"/>
              <a:t> {</a:t>
            </a:r>
          </a:p>
          <a:p>
            <a:pPr marL="0" indent="0">
              <a:buNone/>
            </a:pPr>
            <a:r>
              <a:rPr lang="en-IN" dirty="0"/>
              <a:t>    static </a:t>
            </a:r>
            <a:r>
              <a:rPr lang="en-IN" dirty="0" err="1"/>
              <a:t>int</a:t>
            </a:r>
            <a:r>
              <a:rPr lang="en-IN" dirty="0"/>
              <a:t> add(</a:t>
            </a:r>
            <a:r>
              <a:rPr lang="en-IN" dirty="0" err="1"/>
              <a:t>int</a:t>
            </a:r>
            <a:r>
              <a:rPr lang="en-IN" dirty="0"/>
              <a:t> a, </a:t>
            </a:r>
            <a:r>
              <a:rPr lang="en-IN" dirty="0" err="1"/>
              <a:t>int</a:t>
            </a:r>
            <a:r>
              <a:rPr lang="en-IN" dirty="0"/>
              <a:t> b) {</a:t>
            </a:r>
          </a:p>
          <a:p>
            <a:pPr marL="0" indent="0">
              <a:buNone/>
            </a:pPr>
            <a:r>
              <a:rPr lang="en-IN" dirty="0"/>
              <a:t>        return a + b;</a:t>
            </a:r>
          </a:p>
          <a:p>
            <a:pPr marL="0" indent="0">
              <a:buNone/>
            </a:pPr>
            <a:r>
              <a:rPr lang="en-IN" dirty="0"/>
              <a:t>    }</a:t>
            </a:r>
          </a:p>
          <a:p>
            <a:pPr marL="0" indent="0">
              <a:buNone/>
            </a:pPr>
            <a:endParaRPr lang="en-IN" dirty="0"/>
          </a:p>
          <a:p>
            <a:pPr marL="0" indent="0">
              <a:buNone/>
            </a:pPr>
            <a:r>
              <a:rPr lang="en-IN" dirty="0"/>
              <a:t>    static </a:t>
            </a:r>
            <a:r>
              <a:rPr lang="en-IN" dirty="0" err="1"/>
              <a:t>int</a:t>
            </a:r>
            <a:r>
              <a:rPr lang="en-IN" dirty="0"/>
              <a:t> multiply(</a:t>
            </a:r>
            <a:r>
              <a:rPr lang="en-IN" dirty="0" err="1"/>
              <a:t>int</a:t>
            </a:r>
            <a:r>
              <a:rPr lang="en-IN" dirty="0"/>
              <a:t> a, </a:t>
            </a:r>
            <a:r>
              <a:rPr lang="en-IN" dirty="0" err="1"/>
              <a:t>int</a:t>
            </a:r>
            <a:r>
              <a:rPr lang="en-IN" dirty="0"/>
              <a:t> b) {</a:t>
            </a:r>
          </a:p>
          <a:p>
            <a:pPr marL="0" indent="0">
              <a:buNone/>
            </a:pPr>
            <a:r>
              <a:rPr lang="en-IN" dirty="0"/>
              <a:t>        return a * b;</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System.out.println</a:t>
            </a:r>
            <a:r>
              <a:rPr lang="en-IN" dirty="0"/>
              <a:t>(</a:t>
            </a:r>
            <a:r>
              <a:rPr lang="en-IN" dirty="0" err="1"/>
              <a:t>MathUtility.add</a:t>
            </a:r>
            <a:r>
              <a:rPr lang="en-IN" dirty="0"/>
              <a:t>(5, 3));  // Output: 8</a:t>
            </a:r>
          </a:p>
          <a:p>
            <a:pPr marL="0" indent="0">
              <a:buNone/>
            </a:pPr>
            <a:r>
              <a:rPr lang="en-IN" dirty="0"/>
              <a:t>        </a:t>
            </a:r>
            <a:r>
              <a:rPr lang="en-IN" dirty="0" err="1"/>
              <a:t>System.out.println</a:t>
            </a:r>
            <a:r>
              <a:rPr lang="en-IN" dirty="0"/>
              <a:t>(</a:t>
            </a:r>
            <a:r>
              <a:rPr lang="en-IN" dirty="0" err="1"/>
              <a:t>MathUtility.multiply</a:t>
            </a:r>
            <a:r>
              <a:rPr lang="en-IN" dirty="0"/>
              <a:t>(5, 3));  // Output: 15</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655051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Static Blocks</a:t>
            </a:r>
            <a:r>
              <a:rPr lang="en-US" dirty="0"/>
              <a:t>:</a:t>
            </a:r>
          </a:p>
          <a:p>
            <a:r>
              <a:rPr lang="en-US" dirty="0"/>
              <a:t>A static block is used for initializing static variables or performing setup operations when the class is loaded.</a:t>
            </a:r>
          </a:p>
          <a:p>
            <a:r>
              <a:rPr lang="en-US" dirty="0"/>
              <a:t>Static blocks are executed only once when the class is loaded into memory, even before any static methods or variables are accessed.</a:t>
            </a:r>
          </a:p>
          <a:p>
            <a:endParaRPr lang="en-IN" dirty="0"/>
          </a:p>
        </p:txBody>
      </p:sp>
    </p:spTree>
    <p:extLst>
      <p:ext uri="{BB962C8B-B14F-4D97-AF65-F5344CB8AC3E}">
        <p14:creationId xmlns:p14="http://schemas.microsoft.com/office/powerpoint/2010/main" val="2655051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62500" lnSpcReduction="20000"/>
          </a:bodyPr>
          <a:lstStyle/>
          <a:p>
            <a:pPr marL="0" indent="0">
              <a:buNone/>
            </a:pPr>
            <a:r>
              <a:rPr lang="en-IN" dirty="0"/>
              <a:t>class </a:t>
            </a:r>
            <a:r>
              <a:rPr lang="en-IN" dirty="0" err="1"/>
              <a:t>MyClass</a:t>
            </a:r>
            <a:r>
              <a:rPr lang="en-IN" dirty="0"/>
              <a:t> {</a:t>
            </a:r>
          </a:p>
          <a:p>
            <a:pPr marL="0" indent="0">
              <a:buNone/>
            </a:pPr>
            <a:r>
              <a:rPr lang="en-IN" dirty="0"/>
              <a:t>    static </a:t>
            </a:r>
            <a:r>
              <a:rPr lang="en-IN" dirty="0" err="1"/>
              <a:t>int</a:t>
            </a:r>
            <a:r>
              <a:rPr lang="en-IN" dirty="0"/>
              <a:t> value;</a:t>
            </a:r>
          </a:p>
          <a:p>
            <a:pPr marL="0" indent="0">
              <a:buNone/>
            </a:pPr>
            <a:endParaRPr lang="en-IN" dirty="0"/>
          </a:p>
          <a:p>
            <a:pPr marL="0" indent="0">
              <a:buNone/>
            </a:pPr>
            <a:r>
              <a:rPr lang="en-IN" dirty="0"/>
              <a:t>    static {</a:t>
            </a:r>
          </a:p>
          <a:p>
            <a:pPr marL="0" indent="0">
              <a:buNone/>
            </a:pPr>
            <a:r>
              <a:rPr lang="en-IN" dirty="0"/>
              <a:t>        value = 10;  // Static block to initialize static variable</a:t>
            </a:r>
          </a:p>
          <a:p>
            <a:pPr marL="0" indent="0">
              <a:buNone/>
            </a:pPr>
            <a:r>
              <a:rPr lang="en-IN" dirty="0"/>
              <a:t>        </a:t>
            </a:r>
            <a:r>
              <a:rPr lang="en-IN" dirty="0" err="1"/>
              <a:t>System.out.println</a:t>
            </a:r>
            <a:r>
              <a:rPr lang="en-IN" dirty="0"/>
              <a:t>("Static block executed");</a:t>
            </a:r>
          </a:p>
          <a:p>
            <a:pPr marL="0" indent="0">
              <a:buNone/>
            </a:pPr>
            <a:r>
              <a:rPr lang="en-IN" dirty="0"/>
              <a:t>    }</a:t>
            </a:r>
          </a:p>
          <a:p>
            <a:pPr marL="0" indent="0">
              <a:buNone/>
            </a:pPr>
            <a:endParaRPr lang="en-IN" dirty="0"/>
          </a:p>
          <a:p>
            <a:pPr marL="0" indent="0">
              <a:buNone/>
            </a:pPr>
            <a:r>
              <a:rPr lang="en-IN" dirty="0"/>
              <a:t>    static void </a:t>
            </a:r>
            <a:r>
              <a:rPr lang="en-IN" dirty="0" err="1"/>
              <a:t>displayValue</a:t>
            </a:r>
            <a:r>
              <a:rPr lang="en-IN" dirty="0"/>
              <a:t>() {</a:t>
            </a:r>
          </a:p>
          <a:p>
            <a:pPr marL="0" indent="0">
              <a:buNone/>
            </a:pPr>
            <a:r>
              <a:rPr lang="en-IN" dirty="0"/>
              <a:t>        </a:t>
            </a:r>
            <a:r>
              <a:rPr lang="en-IN" dirty="0" err="1"/>
              <a:t>System.out.println</a:t>
            </a:r>
            <a:r>
              <a:rPr lang="en-IN" dirty="0"/>
              <a:t>("Value: " + value);</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MyClass.displayValue</a:t>
            </a:r>
            <a:r>
              <a:rPr lang="en-IN" dirty="0"/>
              <a:t>();  // Output: Static block executed</a:t>
            </a:r>
          </a:p>
          <a:p>
            <a:pPr marL="0" indent="0">
              <a:buNone/>
            </a:pPr>
            <a:r>
              <a:rPr lang="en-IN" dirty="0"/>
              <a:t>                                 //         Value: 10</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55051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r>
              <a:rPr lang="en-US" b="1" dirty="0"/>
              <a:t>Static Nested Classes</a:t>
            </a:r>
            <a:r>
              <a:rPr lang="en-US" dirty="0"/>
              <a:t>:</a:t>
            </a:r>
          </a:p>
          <a:p>
            <a:r>
              <a:rPr lang="en-US" dirty="0"/>
              <a:t>A static nested class is a class that is nested within another class but is declared with the static keyword. A static nested class can be instantiated without an instance of the outer class.</a:t>
            </a:r>
          </a:p>
          <a:p>
            <a:r>
              <a:rPr lang="en-US" dirty="0"/>
              <a:t>Static nested classes are used when the inner class does not require access to the instance members of the outer class.</a:t>
            </a:r>
          </a:p>
          <a:p>
            <a:endParaRPr lang="en-IN" dirty="0"/>
          </a:p>
        </p:txBody>
      </p:sp>
    </p:spTree>
    <p:extLst>
      <p:ext uri="{BB962C8B-B14F-4D97-AF65-F5344CB8AC3E}">
        <p14:creationId xmlns:p14="http://schemas.microsoft.com/office/powerpoint/2010/main" val="2655051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pPr marL="0" indent="0">
              <a:buNone/>
            </a:pPr>
            <a:r>
              <a:rPr lang="en-IN" dirty="0"/>
              <a:t>class </a:t>
            </a:r>
            <a:r>
              <a:rPr lang="en-IN" dirty="0" err="1"/>
              <a:t>OuterClass</a:t>
            </a:r>
            <a:r>
              <a:rPr lang="en-IN" dirty="0"/>
              <a:t> {</a:t>
            </a:r>
          </a:p>
          <a:p>
            <a:pPr marL="0" indent="0">
              <a:buNone/>
            </a:pPr>
            <a:r>
              <a:rPr lang="en-IN" dirty="0"/>
              <a:t>    static </a:t>
            </a:r>
            <a:r>
              <a:rPr lang="en-IN" dirty="0" err="1"/>
              <a:t>int</a:t>
            </a:r>
            <a:r>
              <a:rPr lang="en-IN" dirty="0"/>
              <a:t> </a:t>
            </a:r>
            <a:r>
              <a:rPr lang="en-IN" dirty="0" err="1"/>
              <a:t>outerValue</a:t>
            </a:r>
            <a:r>
              <a:rPr lang="en-IN" dirty="0"/>
              <a:t> = 100;</a:t>
            </a:r>
          </a:p>
          <a:p>
            <a:pPr marL="0" indent="0">
              <a:buNone/>
            </a:pPr>
            <a:endParaRPr lang="en-IN" dirty="0"/>
          </a:p>
          <a:p>
            <a:pPr marL="0" indent="0">
              <a:buNone/>
            </a:pPr>
            <a:r>
              <a:rPr lang="en-IN" dirty="0"/>
              <a:t>    static class </a:t>
            </a:r>
            <a:r>
              <a:rPr lang="en-IN" dirty="0" err="1"/>
              <a:t>InnerClass</a:t>
            </a:r>
            <a:r>
              <a:rPr lang="en-IN" dirty="0"/>
              <a:t> {</a:t>
            </a:r>
          </a:p>
          <a:p>
            <a:pPr marL="0" indent="0">
              <a:buNone/>
            </a:pPr>
            <a:r>
              <a:rPr lang="en-IN" dirty="0"/>
              <a:t>        void display() {</a:t>
            </a:r>
          </a:p>
          <a:p>
            <a:pPr marL="0" indent="0">
              <a:buNone/>
            </a:pPr>
            <a:r>
              <a:rPr lang="en-IN" dirty="0"/>
              <a:t>            </a:t>
            </a:r>
            <a:r>
              <a:rPr lang="en-IN" dirty="0" err="1"/>
              <a:t>System.out.println</a:t>
            </a:r>
            <a:r>
              <a:rPr lang="en-IN" dirty="0"/>
              <a:t>("Outer value: " + </a:t>
            </a:r>
            <a:r>
              <a:rPr lang="en-IN" dirty="0" err="1"/>
              <a:t>outerValue</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OuterClass.InnerClass</a:t>
            </a:r>
            <a:r>
              <a:rPr lang="en-IN" dirty="0"/>
              <a:t> inner = new </a:t>
            </a:r>
            <a:r>
              <a:rPr lang="en-IN" dirty="0" err="1"/>
              <a:t>OuterClass.InnerClass</a:t>
            </a:r>
            <a:r>
              <a:rPr lang="en-IN" dirty="0"/>
              <a:t>();</a:t>
            </a:r>
          </a:p>
          <a:p>
            <a:pPr marL="0" indent="0">
              <a:buNone/>
            </a:pPr>
            <a:r>
              <a:rPr lang="en-IN" dirty="0"/>
              <a:t>        </a:t>
            </a:r>
            <a:r>
              <a:rPr lang="en-IN" dirty="0" err="1"/>
              <a:t>inner.display</a:t>
            </a:r>
            <a:r>
              <a:rPr lang="en-IN" dirty="0"/>
              <a:t>();  // Output: Outer value: 100</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55051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endParaRPr lang="en-IN" dirty="0"/>
          </a:p>
        </p:txBody>
      </p:sp>
    </p:spTree>
    <p:extLst>
      <p:ext uri="{BB962C8B-B14F-4D97-AF65-F5344CB8AC3E}">
        <p14:creationId xmlns:p14="http://schemas.microsoft.com/office/powerpoint/2010/main" val="2655051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TotalTime>
  <Words>3228</Words>
  <Application>Microsoft Office PowerPoint</Application>
  <PresentationFormat>On-screen Show (4:3)</PresentationFormat>
  <Paragraphs>538</Paragraphs>
  <Slides>33</Slides>
  <Notes>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Access Specifiers</vt:lpstr>
      <vt:lpstr>PowerPoint Presentation</vt:lpstr>
      <vt:lpstr>PowerPoint Presentation</vt:lpstr>
      <vt:lpstr>PowerPoint Presentation</vt:lpstr>
      <vt:lpstr>PowerPoint Presentation</vt:lpstr>
      <vt:lpstr>abstract keyword </vt:lpstr>
      <vt:lpstr>PowerPoint Presentation</vt:lpstr>
      <vt:lpstr>PowerPoint Presentation</vt:lpstr>
      <vt:lpstr>PowerPoint Presentation</vt:lpstr>
      <vt:lpstr>PowerPoint Presentation</vt:lpstr>
      <vt:lpstr>Anonymous Class </vt:lpstr>
      <vt:lpstr>PowerPoint Presentation</vt:lpstr>
      <vt:lpstr>PowerPoint Presentation</vt:lpstr>
      <vt:lpstr>PowerPoint Presentation</vt:lpstr>
      <vt:lpstr>final Keyword </vt:lpstr>
      <vt:lpstr>PowerPoint Presentation</vt:lpstr>
      <vt:lpstr>PowerPoint Presentation</vt:lpstr>
      <vt:lpstr>PowerPoint Presentation</vt:lpstr>
      <vt:lpstr>PowerPoint Presentation</vt:lpstr>
      <vt:lpstr>PowerPoint Presentation</vt:lpstr>
      <vt:lpstr>PowerPoint Presentation</vt:lpstr>
      <vt:lpstr>static keyword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Rohit Kamboj</cp:lastModifiedBy>
  <cp:revision>61</cp:revision>
  <dcterms:created xsi:type="dcterms:W3CDTF">2006-08-16T00:00:00Z</dcterms:created>
  <dcterms:modified xsi:type="dcterms:W3CDTF">2025-01-28T07:53:55Z</dcterms:modified>
</cp:coreProperties>
</file>