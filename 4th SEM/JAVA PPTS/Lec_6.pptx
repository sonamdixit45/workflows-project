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71" r:id="rId4"/>
    <p:sldId id="258" r:id="rId5"/>
    <p:sldId id="259" r:id="rId6"/>
    <p:sldId id="260" r:id="rId7"/>
    <p:sldId id="261" r:id="rId8"/>
    <p:sldId id="262" r:id="rId9"/>
    <p:sldId id="263" r:id="rId10"/>
    <p:sldId id="264" r:id="rId11"/>
    <p:sldId id="265" r:id="rId12"/>
    <p:sldId id="266" r:id="rId13"/>
    <p:sldId id="272" r:id="rId14"/>
    <p:sldId id="267" r:id="rId15"/>
    <p:sldId id="268" r:id="rId16"/>
    <p:sldId id="269" r:id="rId17"/>
    <p:sldId id="273" r:id="rId18"/>
    <p:sldId id="270"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89" autoAdjust="0"/>
  </p:normalViewPr>
  <p:slideViewPr>
    <p:cSldViewPr>
      <p:cViewPr varScale="1">
        <p:scale>
          <a:sx n="80" d="100"/>
          <a:sy n="80" d="100"/>
        </p:scale>
        <p:origin x="-1522"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0C9F0C-2BA5-4987-AD93-15D7DC6A1A7D}" type="datetimeFigureOut">
              <a:rPr lang="en-IN" smtClean="0"/>
              <a:t>12-12-2024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337E03F-6F64-4C24-A263-460906981C74}" type="slidenum">
              <a:rPr lang="en-IN" smtClean="0"/>
              <a:t>‹#›</a:t>
            </a:fld>
            <a:endParaRPr lang="en-IN"/>
          </a:p>
        </p:txBody>
      </p:sp>
    </p:spTree>
    <p:extLst>
      <p:ext uri="{BB962C8B-B14F-4D97-AF65-F5344CB8AC3E}">
        <p14:creationId xmlns:p14="http://schemas.microsoft.com/office/powerpoint/2010/main" val="57319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Length of a1 array = 5 Length of a2 array = 10 Length of a3 array = 4 Length of a4 array = 2</a:t>
            </a:r>
          </a:p>
          <a:p>
            <a:r>
              <a:rPr lang="en-US" sz="1200" b="1" i="0" kern="1200" dirty="0" smtClean="0">
                <a:solidFill>
                  <a:schemeClr val="tx1"/>
                </a:solidFill>
                <a:effectLst/>
                <a:latin typeface="+mn-lt"/>
                <a:ea typeface="+mn-ea"/>
                <a:cs typeface="+mn-cs"/>
              </a:rPr>
              <a:t>Note - </a:t>
            </a:r>
            <a:r>
              <a:rPr lang="en-US" sz="1200" b="0" i="0" kern="1200" dirty="0" smtClean="0">
                <a:solidFill>
                  <a:schemeClr val="tx1"/>
                </a:solidFill>
                <a:effectLst/>
                <a:latin typeface="+mn-lt"/>
                <a:ea typeface="+mn-ea"/>
                <a:cs typeface="+mn-cs"/>
              </a:rPr>
              <a:t>Keep in mind that the value of length has nothing to do with the number of elements that are actually in use. It only reflects the number of elements that the array is designed to hold.</a:t>
            </a:r>
            <a:endParaRPr lang="en-IN" dirty="0"/>
          </a:p>
        </p:txBody>
      </p:sp>
      <p:sp>
        <p:nvSpPr>
          <p:cNvPr id="4" name="Slide Number Placeholder 3"/>
          <p:cNvSpPr>
            <a:spLocks noGrp="1"/>
          </p:cNvSpPr>
          <p:nvPr>
            <p:ph type="sldNum" sz="quarter" idx="10"/>
          </p:nvPr>
        </p:nvSpPr>
        <p:spPr/>
        <p:txBody>
          <a:bodyPr/>
          <a:lstStyle/>
          <a:p>
            <a:fld id="{B337E03F-6F64-4C24-A263-460906981C74}" type="slidenum">
              <a:rPr lang="en-IN" smtClean="0"/>
              <a:t>10</a:t>
            </a:fld>
            <a:endParaRPr lang="en-IN"/>
          </a:p>
        </p:txBody>
      </p:sp>
    </p:spTree>
    <p:extLst>
      <p:ext uri="{BB962C8B-B14F-4D97-AF65-F5344CB8AC3E}">
        <p14:creationId xmlns:p14="http://schemas.microsoft.com/office/powerpoint/2010/main" val="3024472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Explanation of Code</a:t>
            </a:r>
          </a:p>
          <a:p>
            <a:r>
              <a:rPr lang="en-US" b="1" dirty="0" smtClean="0"/>
              <a:t>Outer Loop:</a:t>
            </a:r>
            <a:r>
              <a:rPr lang="en-US" dirty="0" smtClean="0"/>
              <a:t> Controls the number of passes. For n elements, at most n-1 passes are required.</a:t>
            </a:r>
          </a:p>
          <a:p>
            <a:r>
              <a:rPr lang="en-US" b="1" dirty="0" smtClean="0"/>
              <a:t>Inner Loop:</a:t>
            </a:r>
            <a:r>
              <a:rPr lang="en-US" dirty="0" smtClean="0"/>
              <a:t> Compares adjacent elements and swaps them if needed. The range decreases with each pass because the largest elements "bubble" to the correct position.</a:t>
            </a:r>
          </a:p>
          <a:p>
            <a:r>
              <a:rPr lang="en-US" b="1" dirty="0" smtClean="0"/>
              <a:t>Optimization with swapped:</a:t>
            </a:r>
            <a:endParaRPr lang="en-US" dirty="0" smtClean="0"/>
          </a:p>
          <a:p>
            <a:pPr lvl="1"/>
            <a:r>
              <a:rPr lang="en-US" dirty="0" smtClean="0"/>
              <a:t>If no swaps are made in a pass, the array is already sorted, and the algorithm exits early.</a:t>
            </a:r>
          </a:p>
          <a:p>
            <a:endParaRPr lang="en-IN" dirty="0"/>
          </a:p>
        </p:txBody>
      </p:sp>
      <p:sp>
        <p:nvSpPr>
          <p:cNvPr id="4" name="Slide Number Placeholder 3"/>
          <p:cNvSpPr>
            <a:spLocks noGrp="1"/>
          </p:cNvSpPr>
          <p:nvPr>
            <p:ph type="sldNum" sz="quarter" idx="10"/>
          </p:nvPr>
        </p:nvSpPr>
        <p:spPr/>
        <p:txBody>
          <a:bodyPr/>
          <a:lstStyle/>
          <a:p>
            <a:fld id="{B337E03F-6F64-4C24-A263-460906981C74}" type="slidenum">
              <a:rPr lang="en-IN" smtClean="0"/>
              <a:t>26</a:t>
            </a:fld>
            <a:endParaRPr lang="en-IN"/>
          </a:p>
        </p:txBody>
      </p:sp>
    </p:spTree>
    <p:extLst>
      <p:ext uri="{BB962C8B-B14F-4D97-AF65-F5344CB8AC3E}">
        <p14:creationId xmlns:p14="http://schemas.microsoft.com/office/powerpoint/2010/main" val="1442092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a:t>
            </a:r>
            <a:r>
              <a:rPr lang="en-US" b="1" dirty="0" smtClean="0"/>
              <a:t>can</a:t>
            </a:r>
            <a:r>
              <a:rPr lang="en-US" dirty="0" smtClean="0"/>
              <a:t> replace </a:t>
            </a:r>
            <a:r>
              <a:rPr lang="en-US" dirty="0" err="1" smtClean="0"/>
              <a:t>Integer.MIN_VALUE</a:t>
            </a:r>
            <a:r>
              <a:rPr lang="en-US" dirty="0" smtClean="0"/>
              <a:t> with 0 to initialize largest and </a:t>
            </a:r>
            <a:r>
              <a:rPr lang="en-US" dirty="0" err="1" smtClean="0"/>
              <a:t>secondLargest</a:t>
            </a:r>
            <a:r>
              <a:rPr lang="en-US" dirty="0" smtClean="0"/>
              <a:t> if you are confident that all elements in the array are </a:t>
            </a:r>
            <a:r>
              <a:rPr lang="en-US" b="1" dirty="0" smtClean="0"/>
              <a:t>non-negative</a:t>
            </a:r>
            <a:r>
              <a:rPr lang="en-US" dirty="0" smtClean="0"/>
              <a:t> (i.e., greater than or equal to 0). However, this approach will fail if the array contains negative numbers because it assumes 0 as the minimum possible value, which might not hold true in such cases.</a:t>
            </a:r>
          </a:p>
          <a:p>
            <a:r>
              <a:rPr lang="en-US" b="1" dirty="0" smtClean="0"/>
              <a:t>Why Use </a:t>
            </a:r>
            <a:r>
              <a:rPr lang="en-US" b="1" dirty="0" err="1" smtClean="0"/>
              <a:t>Integer.MIN_VALUE</a:t>
            </a:r>
            <a:r>
              <a:rPr lang="en-US" b="1" dirty="0" smtClean="0"/>
              <a:t>?</a:t>
            </a:r>
          </a:p>
          <a:p>
            <a:r>
              <a:rPr lang="en-US" dirty="0" smtClean="0"/>
              <a:t>Using </a:t>
            </a:r>
            <a:r>
              <a:rPr lang="en-US" dirty="0" err="1" smtClean="0"/>
              <a:t>Integer.MIN_VALUE</a:t>
            </a:r>
            <a:r>
              <a:rPr lang="en-US" dirty="0" smtClean="0"/>
              <a:t> ensures that any number, whether negative or positive, will be larger than the initial value of largest or </a:t>
            </a:r>
            <a:r>
              <a:rPr lang="en-US" dirty="0" err="1" smtClean="0"/>
              <a:t>secondLargest</a:t>
            </a:r>
            <a:r>
              <a:rPr lang="en-US" dirty="0" smtClean="0"/>
              <a:t>. This makes the algorithm robust for all possible integer values.</a:t>
            </a:r>
          </a:p>
          <a:p>
            <a:endParaRPr lang="en-IN" dirty="0"/>
          </a:p>
        </p:txBody>
      </p:sp>
      <p:sp>
        <p:nvSpPr>
          <p:cNvPr id="4" name="Slide Number Placeholder 3"/>
          <p:cNvSpPr>
            <a:spLocks noGrp="1"/>
          </p:cNvSpPr>
          <p:nvPr>
            <p:ph type="sldNum" sz="quarter" idx="10"/>
          </p:nvPr>
        </p:nvSpPr>
        <p:spPr/>
        <p:txBody>
          <a:bodyPr/>
          <a:lstStyle/>
          <a:p>
            <a:fld id="{B337E03F-6F64-4C24-A263-460906981C74}" type="slidenum">
              <a:rPr lang="en-IN" smtClean="0"/>
              <a:t>28</a:t>
            </a:fld>
            <a:endParaRPr lang="en-IN"/>
          </a:p>
        </p:txBody>
      </p:sp>
    </p:spTree>
    <p:extLst>
      <p:ext uri="{BB962C8B-B14F-4D97-AF65-F5344CB8AC3E}">
        <p14:creationId xmlns:p14="http://schemas.microsoft.com/office/powerpoint/2010/main" val="3877042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Explanation of the Code</a:t>
            </a:r>
          </a:p>
          <a:p>
            <a:r>
              <a:rPr lang="en-US" b="1" dirty="0" smtClean="0"/>
              <a:t>Array Initialization:</a:t>
            </a:r>
            <a:endParaRPr lang="en-US" dirty="0" smtClean="0"/>
          </a:p>
          <a:p>
            <a:pPr lvl="1"/>
            <a:r>
              <a:rPr lang="en-US" dirty="0" smtClean="0"/>
              <a:t>We define a sorted array of integers: {1, 3, 5, 7, 9, 11, 13, 15, 17, 19}.</a:t>
            </a:r>
          </a:p>
          <a:p>
            <a:r>
              <a:rPr lang="en-US" b="1" dirty="0" smtClean="0"/>
              <a:t>Target Element:</a:t>
            </a:r>
            <a:endParaRPr lang="en-US" dirty="0" smtClean="0"/>
          </a:p>
          <a:p>
            <a:pPr lvl="1"/>
            <a:r>
              <a:rPr lang="en-US" dirty="0" smtClean="0"/>
              <a:t>We define the target element to search for, which is 7 in this case.</a:t>
            </a:r>
          </a:p>
          <a:p>
            <a:r>
              <a:rPr lang="en-US" b="1" dirty="0" smtClean="0"/>
              <a:t>Binary Search Loop:</a:t>
            </a:r>
            <a:endParaRPr lang="en-US" dirty="0" smtClean="0"/>
          </a:p>
          <a:p>
            <a:pPr lvl="1"/>
            <a:r>
              <a:rPr lang="en-US" dirty="0" smtClean="0"/>
              <a:t>We initialize left pointer at the start (0) and right pointer at the end of the array (</a:t>
            </a:r>
            <a:r>
              <a:rPr lang="en-US" dirty="0" err="1" smtClean="0"/>
              <a:t>numbers.length</a:t>
            </a:r>
            <a:r>
              <a:rPr lang="en-US" dirty="0" smtClean="0"/>
              <a:t> - 1).</a:t>
            </a:r>
          </a:p>
          <a:p>
            <a:pPr lvl="1"/>
            <a:r>
              <a:rPr lang="en-US" dirty="0" smtClean="0"/>
              <a:t>The loop runs as long as left &lt;= right (this ensures that we haven't searched through the entire array).</a:t>
            </a:r>
          </a:p>
          <a:p>
            <a:pPr lvl="1"/>
            <a:r>
              <a:rPr lang="en-US" dirty="0" smtClean="0"/>
              <a:t>In each iteration:</a:t>
            </a:r>
          </a:p>
          <a:p>
            <a:pPr lvl="2"/>
            <a:r>
              <a:rPr lang="en-US" dirty="0" smtClean="0"/>
              <a:t>We calculate the mid index: (left + right) / 2.</a:t>
            </a:r>
          </a:p>
          <a:p>
            <a:pPr lvl="2"/>
            <a:r>
              <a:rPr lang="en-US" dirty="0" smtClean="0"/>
              <a:t>If the element at mid equals the target, we print the index and set found to true.</a:t>
            </a:r>
          </a:p>
          <a:p>
            <a:pPr lvl="2"/>
            <a:r>
              <a:rPr lang="en-US" dirty="0" smtClean="0"/>
              <a:t>If the target is smaller than the middle element, we adjust the right pointer to mid - 1, narrowing the search to the left half.</a:t>
            </a:r>
          </a:p>
          <a:p>
            <a:pPr lvl="2"/>
            <a:r>
              <a:rPr lang="en-US" dirty="0" smtClean="0"/>
              <a:t>If the target is larger than the middle element, we adjust the left pointer to mid + 1, narrowing the search to the right half.</a:t>
            </a:r>
          </a:p>
          <a:p>
            <a:r>
              <a:rPr lang="en-US" b="1" dirty="0" smtClean="0"/>
              <a:t>Result Handling:</a:t>
            </a:r>
            <a:endParaRPr lang="en-US" dirty="0" smtClean="0"/>
          </a:p>
          <a:p>
            <a:pPr lvl="1"/>
            <a:r>
              <a:rPr lang="en-US" dirty="0" smtClean="0"/>
              <a:t>If the found flag is set to true, we break out of the loop and print the index.</a:t>
            </a:r>
          </a:p>
          <a:p>
            <a:pPr lvl="1"/>
            <a:r>
              <a:rPr lang="en-US" dirty="0" smtClean="0"/>
              <a:t>If after the loop the target is not found, we print that the element was not found.</a:t>
            </a:r>
          </a:p>
          <a:p>
            <a:endParaRPr lang="en-IN" dirty="0"/>
          </a:p>
        </p:txBody>
      </p:sp>
      <p:sp>
        <p:nvSpPr>
          <p:cNvPr id="4" name="Slide Number Placeholder 3"/>
          <p:cNvSpPr>
            <a:spLocks noGrp="1"/>
          </p:cNvSpPr>
          <p:nvPr>
            <p:ph type="sldNum" sz="quarter" idx="10"/>
          </p:nvPr>
        </p:nvSpPr>
        <p:spPr/>
        <p:txBody>
          <a:bodyPr/>
          <a:lstStyle/>
          <a:p>
            <a:fld id="{B337E03F-6F64-4C24-A263-460906981C74}" type="slidenum">
              <a:rPr lang="en-IN" smtClean="0"/>
              <a:t>30</a:t>
            </a:fld>
            <a:endParaRPr lang="en-IN"/>
          </a:p>
        </p:txBody>
      </p:sp>
    </p:spTree>
    <p:extLst>
      <p:ext uri="{BB962C8B-B14F-4D97-AF65-F5344CB8AC3E}">
        <p14:creationId xmlns:p14="http://schemas.microsoft.com/office/powerpoint/2010/main" val="1842205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Working with Arrays</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194762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r>
              <a:rPr lang="en-US" dirty="0"/>
              <a:t>An </a:t>
            </a:r>
            <a:r>
              <a:rPr lang="en-US" b="1" dirty="0"/>
              <a:t>array</a:t>
            </a:r>
            <a:r>
              <a:rPr lang="en-US" dirty="0"/>
              <a:t> in Java is a data structure that allows you to store multiple values of the same type in a single variable. Instead of declaring individual variables for each value, you can use an array to group them together and access them using their </a:t>
            </a:r>
            <a:r>
              <a:rPr lang="en-US" dirty="0" smtClean="0"/>
              <a:t>index.</a:t>
            </a:r>
          </a:p>
          <a:p>
            <a:endParaRPr lang="en-US" dirty="0"/>
          </a:p>
          <a:p>
            <a:r>
              <a:rPr lang="en-US" b="1" dirty="0"/>
              <a:t>Key Features of Arrays in Java</a:t>
            </a:r>
          </a:p>
          <a:p>
            <a:r>
              <a:rPr lang="en-US" b="1" dirty="0"/>
              <a:t>Fixed Size</a:t>
            </a:r>
            <a:r>
              <a:rPr lang="en-US" dirty="0"/>
              <a:t>: Once an array is created, its size cannot be changed.</a:t>
            </a:r>
          </a:p>
          <a:p>
            <a:r>
              <a:rPr lang="en-US" b="1" dirty="0"/>
              <a:t>Homogeneous</a:t>
            </a:r>
            <a:r>
              <a:rPr lang="en-US" dirty="0"/>
              <a:t>: All elements in an array must be of the same data type.</a:t>
            </a:r>
          </a:p>
          <a:p>
            <a:r>
              <a:rPr lang="en-US" b="1" dirty="0"/>
              <a:t>Zero-based Indexing</a:t>
            </a:r>
            <a:r>
              <a:rPr lang="en-US" dirty="0"/>
              <a:t>: Array indexing starts from 0 (the first element is at index 0).</a:t>
            </a:r>
          </a:p>
          <a:p>
            <a:r>
              <a:rPr lang="en-US" b="1" dirty="0"/>
              <a:t>Efficient Access</a:t>
            </a:r>
            <a:r>
              <a:rPr lang="en-US" dirty="0"/>
              <a:t>: Elements in an array can be accessed quickly using their index.</a:t>
            </a:r>
          </a:p>
          <a:p>
            <a:r>
              <a:rPr lang="en-US" b="1" dirty="0"/>
              <a:t>Stored in Contiguous Memory</a:t>
            </a:r>
            <a:r>
              <a:rPr lang="en-US" dirty="0"/>
              <a:t>: Arrays are stored in contiguous memory locations, which makes element access faster.</a:t>
            </a:r>
          </a:p>
          <a:p>
            <a:endParaRPr lang="en-IN" dirty="0"/>
          </a:p>
        </p:txBody>
      </p:sp>
    </p:spTree>
    <p:extLst>
      <p:ext uri="{BB962C8B-B14F-4D97-AF65-F5344CB8AC3E}">
        <p14:creationId xmlns:p14="http://schemas.microsoft.com/office/powerpoint/2010/main" val="2347086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Types of array</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Array can be </a:t>
            </a:r>
            <a:r>
              <a:rPr lang="en-US" dirty="0" smtClean="0"/>
              <a:t>categorized </a:t>
            </a:r>
            <a:r>
              <a:rPr lang="en-US" dirty="0"/>
              <a:t>into two categories -</a:t>
            </a:r>
            <a:br>
              <a:rPr lang="en-US" dirty="0"/>
            </a:br>
            <a:r>
              <a:rPr lang="en-US" dirty="0"/>
              <a:t>1- Single Dimensional Array.</a:t>
            </a:r>
            <a:br>
              <a:rPr lang="en-US" dirty="0"/>
            </a:br>
            <a:r>
              <a:rPr lang="en-US" dirty="0"/>
              <a:t>2- Multi Dimensional Array</a:t>
            </a:r>
            <a:r>
              <a:rPr lang="en-US" dirty="0" smtClean="0"/>
              <a:t>.</a:t>
            </a:r>
          </a:p>
          <a:p>
            <a:endParaRPr lang="en-US" dirty="0" smtClean="0"/>
          </a:p>
          <a:p>
            <a:r>
              <a:rPr lang="en-US" dirty="0" smtClean="0"/>
              <a:t>1- </a:t>
            </a:r>
            <a:r>
              <a:rPr lang="en-US" dirty="0"/>
              <a:t>Single Dimensional Array -</a:t>
            </a:r>
          </a:p>
          <a:p>
            <a:r>
              <a:rPr lang="en-US" dirty="0"/>
              <a:t>An array which contains only one subscript or dimension is called single dimensional array. Creation of array involve following three steps-</a:t>
            </a:r>
            <a:br>
              <a:rPr lang="en-US" dirty="0"/>
            </a:br>
            <a:r>
              <a:rPr lang="en-US" dirty="0"/>
              <a:t>Declaring array.</a:t>
            </a:r>
          </a:p>
          <a:p>
            <a:r>
              <a:rPr lang="en-US" dirty="0"/>
              <a:t>Allocating memory to array.</a:t>
            </a:r>
          </a:p>
          <a:p>
            <a:r>
              <a:rPr lang="en-US" dirty="0"/>
              <a:t>Initializing array.</a:t>
            </a:r>
          </a:p>
          <a:p>
            <a:endParaRPr lang="en-IN" dirty="0"/>
          </a:p>
        </p:txBody>
      </p:sp>
    </p:spTree>
    <p:extLst>
      <p:ext uri="{BB962C8B-B14F-4D97-AF65-F5344CB8AC3E}">
        <p14:creationId xmlns:p14="http://schemas.microsoft.com/office/powerpoint/2010/main" val="3887168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US" dirty="0"/>
              <a:t>Declaring Array - In java array can be declared in two ways -</a:t>
            </a:r>
          </a:p>
          <a:p>
            <a:r>
              <a:rPr lang="en-US" dirty="0"/>
              <a:t>   </a:t>
            </a:r>
          </a:p>
          <a:p>
            <a:r>
              <a:rPr lang="en-US" dirty="0"/>
              <a:t>1st form -    </a:t>
            </a:r>
            <a:r>
              <a:rPr lang="en-US" b="1" dirty="0"/>
              <a:t>type  </a:t>
            </a:r>
            <a:r>
              <a:rPr lang="en-US" b="1" dirty="0" err="1"/>
              <a:t>array_name</a:t>
            </a:r>
            <a:r>
              <a:rPr lang="en-US" b="1" dirty="0"/>
              <a:t>[ ];</a:t>
            </a:r>
          </a:p>
          <a:p>
            <a:r>
              <a:rPr lang="en-US" dirty="0"/>
              <a:t>2nd form -    </a:t>
            </a:r>
            <a:r>
              <a:rPr lang="en-US" b="1" dirty="0"/>
              <a:t>type [ ] </a:t>
            </a:r>
            <a:r>
              <a:rPr lang="en-US" b="1" dirty="0" err="1"/>
              <a:t>array_name</a:t>
            </a:r>
            <a:r>
              <a:rPr lang="en-US" b="1" dirty="0" smtClean="0"/>
              <a:t>;</a:t>
            </a:r>
          </a:p>
          <a:p>
            <a:endParaRPr lang="en-US" dirty="0"/>
          </a:p>
          <a:p>
            <a:r>
              <a:rPr lang="en-US" dirty="0"/>
              <a:t>Here type can be any valid java data type or object type, </a:t>
            </a:r>
            <a:r>
              <a:rPr lang="en-US" dirty="0" err="1"/>
              <a:t>array_name</a:t>
            </a:r>
            <a:r>
              <a:rPr lang="en-US" dirty="0"/>
              <a:t> can be any valid java identifier that you want to use for your array name</a:t>
            </a:r>
            <a:r>
              <a:rPr lang="en-US" dirty="0" smtClean="0"/>
              <a:t>.</a:t>
            </a:r>
          </a:p>
          <a:p>
            <a:endParaRPr lang="en-US" dirty="0"/>
          </a:p>
          <a:p>
            <a:r>
              <a:rPr lang="en-US" dirty="0"/>
              <a:t>For example -</a:t>
            </a:r>
          </a:p>
          <a:p>
            <a:r>
              <a:rPr lang="en-US" b="1" dirty="0" err="1"/>
              <a:t>int</a:t>
            </a:r>
            <a:r>
              <a:rPr lang="en-US" b="1" dirty="0"/>
              <a:t> </a:t>
            </a:r>
            <a:r>
              <a:rPr lang="en-US" b="1" dirty="0" err="1"/>
              <a:t>arr</a:t>
            </a:r>
            <a:r>
              <a:rPr lang="en-US" b="1" dirty="0"/>
              <a:t>[ ];</a:t>
            </a:r>
          </a:p>
          <a:p>
            <a:r>
              <a:rPr lang="en-US" b="1" dirty="0"/>
              <a:t>float numbers[ ];</a:t>
            </a:r>
          </a:p>
          <a:p>
            <a:r>
              <a:rPr lang="en-US" b="1" dirty="0"/>
              <a:t>double [ ] roll</a:t>
            </a:r>
            <a:r>
              <a:rPr lang="en-US" b="1" dirty="0" smtClean="0"/>
              <a:t>;</a:t>
            </a:r>
          </a:p>
          <a:p>
            <a:endParaRPr lang="en-US" b="1" dirty="0" smtClean="0"/>
          </a:p>
          <a:p>
            <a:r>
              <a:rPr lang="en-US" dirty="0"/>
              <a:t>At this step, there will be no physical array in memory. Right now </a:t>
            </a:r>
            <a:r>
              <a:rPr lang="en-US" dirty="0" err="1"/>
              <a:t>array_name</a:t>
            </a:r>
            <a:r>
              <a:rPr lang="en-US" dirty="0"/>
              <a:t> will refer to null and does not contain any value.</a:t>
            </a:r>
            <a:endParaRPr lang="en-IN" b="1" dirty="0"/>
          </a:p>
        </p:txBody>
      </p:sp>
    </p:spTree>
    <p:extLst>
      <p:ext uri="{BB962C8B-B14F-4D97-AF65-F5344CB8AC3E}">
        <p14:creationId xmlns:p14="http://schemas.microsoft.com/office/powerpoint/2010/main" val="235329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7500" lnSpcReduction="20000"/>
          </a:bodyPr>
          <a:lstStyle/>
          <a:p>
            <a:r>
              <a:rPr lang="en-US" b="1" dirty="0"/>
              <a:t>Allocating memory to array - </a:t>
            </a:r>
            <a:r>
              <a:rPr lang="en-US" dirty="0"/>
              <a:t>Array will came into physical existence after allocating memory to it. And we allocate memory to array using new keyword as follows -</a:t>
            </a:r>
          </a:p>
          <a:p>
            <a:r>
              <a:rPr lang="en-US" dirty="0"/>
              <a:t>  </a:t>
            </a:r>
            <a:r>
              <a:rPr lang="en-US" dirty="0" err="1"/>
              <a:t>array_name</a:t>
            </a:r>
            <a:r>
              <a:rPr lang="en-US" dirty="0"/>
              <a:t> = new type[</a:t>
            </a:r>
            <a:r>
              <a:rPr lang="en-US" dirty="0" err="1"/>
              <a:t>array_size</a:t>
            </a:r>
            <a:r>
              <a:rPr lang="en-US" dirty="0"/>
              <a:t>];</a:t>
            </a:r>
          </a:p>
          <a:p>
            <a:r>
              <a:rPr lang="en-US" dirty="0"/>
              <a:t>Here type should be the same as used in declaration and </a:t>
            </a:r>
            <a:r>
              <a:rPr lang="en-US" dirty="0" err="1"/>
              <a:t>array_size</a:t>
            </a:r>
            <a:r>
              <a:rPr lang="en-US" dirty="0"/>
              <a:t> determines the number of elements array can contain and it can be any integer value greater than zero.</a:t>
            </a:r>
          </a:p>
          <a:p>
            <a:r>
              <a:rPr lang="en-US" dirty="0"/>
              <a:t>For example -</a:t>
            </a:r>
          </a:p>
          <a:p>
            <a:r>
              <a:rPr lang="en-US" dirty="0"/>
              <a:t>     </a:t>
            </a:r>
            <a:r>
              <a:rPr lang="en-US" dirty="0" err="1"/>
              <a:t>arr</a:t>
            </a:r>
            <a:r>
              <a:rPr lang="en-US" dirty="0"/>
              <a:t> = new </a:t>
            </a:r>
            <a:r>
              <a:rPr lang="en-US" dirty="0" err="1"/>
              <a:t>int</a:t>
            </a:r>
            <a:r>
              <a:rPr lang="en-US" dirty="0"/>
              <a:t>[5];</a:t>
            </a:r>
          </a:p>
          <a:p>
            <a:r>
              <a:rPr lang="en-US" dirty="0"/>
              <a:t>     numbers = new float[10];</a:t>
            </a:r>
          </a:p>
          <a:p>
            <a:r>
              <a:rPr lang="en-US" dirty="0"/>
              <a:t>     roll  =  new double[5];</a:t>
            </a:r>
          </a:p>
          <a:p>
            <a:pPr marL="0" indent="0">
              <a:buNone/>
            </a:pPr>
            <a:r>
              <a:rPr lang="en-US" dirty="0"/>
              <a:t> </a:t>
            </a:r>
          </a:p>
          <a:p>
            <a:r>
              <a:rPr lang="en-US" dirty="0"/>
              <a:t>The first example will allocate 20 bytes (5*4 = 20) of storage for array - '</a:t>
            </a:r>
            <a:r>
              <a:rPr lang="en-US" dirty="0" err="1"/>
              <a:t>arr</a:t>
            </a:r>
            <a:r>
              <a:rPr lang="en-US" dirty="0"/>
              <a:t>'. Similarly second one will allocate 40 (10*4 = 40) bytes and third one will allocate 40 (5*8=40) bytes.</a:t>
            </a:r>
          </a:p>
          <a:p>
            <a:endParaRPr lang="en-IN" dirty="0"/>
          </a:p>
        </p:txBody>
      </p:sp>
    </p:spTree>
    <p:extLst>
      <p:ext uri="{BB962C8B-B14F-4D97-AF65-F5344CB8AC3E}">
        <p14:creationId xmlns:p14="http://schemas.microsoft.com/office/powerpoint/2010/main" val="1460776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a:bodyPr>
          <a:lstStyle/>
          <a:p>
            <a:r>
              <a:rPr lang="en-US" sz="2400" dirty="0"/>
              <a:t>We can also combine the above two steps into one as follows </a:t>
            </a:r>
          </a:p>
          <a:p>
            <a:r>
              <a:rPr lang="en-US" sz="2400" dirty="0"/>
              <a:t>     </a:t>
            </a:r>
            <a:r>
              <a:rPr lang="en-US" sz="2400" dirty="0" err="1"/>
              <a:t>int</a:t>
            </a:r>
            <a:r>
              <a:rPr lang="en-US" sz="2400" dirty="0"/>
              <a:t> </a:t>
            </a:r>
            <a:r>
              <a:rPr lang="en-US" sz="2400" dirty="0" err="1"/>
              <a:t>arr</a:t>
            </a:r>
            <a:r>
              <a:rPr lang="en-US" sz="2400" dirty="0"/>
              <a:t>[] = new </a:t>
            </a:r>
            <a:r>
              <a:rPr lang="en-US" sz="2400" dirty="0" err="1"/>
              <a:t>int</a:t>
            </a:r>
            <a:r>
              <a:rPr lang="en-US" sz="2400" dirty="0"/>
              <a:t>[5];</a:t>
            </a:r>
          </a:p>
          <a:p>
            <a:r>
              <a:rPr lang="en-US" sz="2400" dirty="0"/>
              <a:t>     float numbers[] = new float[10]; </a:t>
            </a:r>
          </a:p>
          <a:p>
            <a:r>
              <a:rPr lang="en-US" sz="2400" dirty="0"/>
              <a:t>     double[] roll = new double[5]; </a:t>
            </a:r>
            <a:endParaRPr lang="en-US" sz="2400" dirty="0" smtClean="0"/>
          </a:p>
          <a:p>
            <a:r>
              <a:rPr lang="en-US" sz="2400" b="1" dirty="0"/>
              <a:t>Initializing array - </a:t>
            </a:r>
            <a:r>
              <a:rPr lang="en-US" sz="2400" dirty="0"/>
              <a:t>Let us suppose that we have an array a with 5 integer elements -</a:t>
            </a:r>
            <a:br>
              <a:rPr lang="en-US" sz="2400" dirty="0"/>
            </a:br>
            <a:r>
              <a:rPr lang="en-US" sz="2400" b="1" dirty="0" err="1"/>
              <a:t>int</a:t>
            </a:r>
            <a:r>
              <a:rPr lang="en-US" sz="2400" b="1" dirty="0"/>
              <a:t> a[] = new </a:t>
            </a:r>
            <a:r>
              <a:rPr lang="en-US" sz="2400" b="1" dirty="0" err="1"/>
              <a:t>int</a:t>
            </a:r>
            <a:r>
              <a:rPr lang="en-US" sz="2400" b="1" dirty="0"/>
              <a:t>[5</a:t>
            </a:r>
            <a:r>
              <a:rPr lang="en-US" sz="2400" b="1" dirty="0" smtClean="0"/>
              <a:t>];</a:t>
            </a:r>
          </a:p>
          <a:p>
            <a:r>
              <a:rPr lang="en-US" sz="2400" dirty="0" smtClean="0"/>
              <a:t>It </a:t>
            </a:r>
            <a:r>
              <a:rPr lang="en-US" sz="2400" dirty="0"/>
              <a:t>can be represent in memory like this -</a:t>
            </a:r>
            <a:endParaRPr lang="en-IN"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4343400"/>
            <a:ext cx="6172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776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70000" lnSpcReduction="20000"/>
          </a:bodyPr>
          <a:lstStyle/>
          <a:p>
            <a:r>
              <a:rPr lang="en-US" b="1" dirty="0"/>
              <a:t>We can initialize an array in two ways -</a:t>
            </a:r>
          </a:p>
          <a:p>
            <a:r>
              <a:rPr lang="en-US" b="1" dirty="0"/>
              <a:t>1st form -</a:t>
            </a:r>
          </a:p>
          <a:p>
            <a:r>
              <a:rPr lang="en-US" b="1" dirty="0" err="1"/>
              <a:t>array_name</a:t>
            </a:r>
            <a:r>
              <a:rPr lang="en-US" b="1" dirty="0"/>
              <a:t>[index] = value</a:t>
            </a:r>
            <a:r>
              <a:rPr lang="en-US" b="1" dirty="0" smtClean="0"/>
              <a:t>;</a:t>
            </a:r>
          </a:p>
          <a:p>
            <a:endParaRPr lang="en-US" b="1" dirty="0"/>
          </a:p>
          <a:p>
            <a:r>
              <a:rPr lang="en-US" dirty="0"/>
              <a:t>Example </a:t>
            </a:r>
            <a:r>
              <a:rPr lang="en-US" dirty="0" smtClean="0"/>
              <a:t>- </a:t>
            </a:r>
            <a:endParaRPr lang="en-US" dirty="0"/>
          </a:p>
          <a:p>
            <a:r>
              <a:rPr lang="en-US" dirty="0" err="1"/>
              <a:t>int</a:t>
            </a:r>
            <a:r>
              <a:rPr lang="en-US" dirty="0"/>
              <a:t>[0] = 2;</a:t>
            </a:r>
          </a:p>
          <a:p>
            <a:r>
              <a:rPr lang="en-US" dirty="0" err="1"/>
              <a:t>int</a:t>
            </a:r>
            <a:r>
              <a:rPr lang="en-US" dirty="0"/>
              <a:t>[1] = 4;</a:t>
            </a:r>
          </a:p>
          <a:p>
            <a:r>
              <a:rPr lang="en-US" dirty="0" err="1"/>
              <a:t>int</a:t>
            </a:r>
            <a:r>
              <a:rPr lang="en-US" dirty="0"/>
              <a:t>[2] = 6; </a:t>
            </a:r>
          </a:p>
          <a:p>
            <a:r>
              <a:rPr lang="en-US" dirty="0" err="1"/>
              <a:t>int</a:t>
            </a:r>
            <a:r>
              <a:rPr lang="en-US" dirty="0"/>
              <a:t>[3] = 8; </a:t>
            </a:r>
          </a:p>
          <a:p>
            <a:r>
              <a:rPr lang="en-US" dirty="0" err="1"/>
              <a:t>int</a:t>
            </a:r>
            <a:r>
              <a:rPr lang="en-US" dirty="0"/>
              <a:t>[4] = 10;</a:t>
            </a:r>
          </a:p>
          <a:p>
            <a:pPr marL="0" indent="0">
              <a:buNone/>
            </a:pPr>
            <a:r>
              <a:rPr lang="en-US" dirty="0"/>
              <a:t>    </a:t>
            </a:r>
          </a:p>
          <a:p>
            <a:r>
              <a:rPr lang="en-US" b="1" dirty="0"/>
              <a:t>2nd form -</a:t>
            </a:r>
          </a:p>
          <a:p>
            <a:r>
              <a:rPr lang="en-US" dirty="0"/>
              <a:t>type </a:t>
            </a:r>
            <a:r>
              <a:rPr lang="en-US" dirty="0" err="1"/>
              <a:t>array_name</a:t>
            </a:r>
            <a:r>
              <a:rPr lang="en-US" dirty="0"/>
              <a:t>[] = {list of values};</a:t>
            </a:r>
          </a:p>
          <a:p>
            <a:r>
              <a:rPr lang="en-US" dirty="0"/>
              <a:t>                    Or</a:t>
            </a:r>
          </a:p>
          <a:p>
            <a:r>
              <a:rPr lang="en-US" dirty="0"/>
              <a:t> </a:t>
            </a:r>
            <a:r>
              <a:rPr lang="en-US" dirty="0" smtClean="0"/>
              <a:t>type </a:t>
            </a:r>
            <a:r>
              <a:rPr lang="en-US" dirty="0" err="1"/>
              <a:t>array_name</a:t>
            </a:r>
            <a:r>
              <a:rPr lang="en-US" dirty="0"/>
              <a:t>[] = new type[]{list of values};  </a:t>
            </a:r>
          </a:p>
          <a:p>
            <a:r>
              <a:rPr lang="en-US" dirty="0"/>
              <a:t>Example -</a:t>
            </a:r>
          </a:p>
          <a:p>
            <a:r>
              <a:rPr lang="en-US" dirty="0"/>
              <a:t>        </a:t>
            </a:r>
            <a:r>
              <a:rPr lang="en-US" dirty="0" err="1"/>
              <a:t>int</a:t>
            </a:r>
            <a:r>
              <a:rPr lang="en-US" dirty="0"/>
              <a:t> a[] = {2,4,6,8,10};</a:t>
            </a:r>
          </a:p>
          <a:p>
            <a:r>
              <a:rPr lang="en-US" dirty="0"/>
              <a:t>        </a:t>
            </a:r>
            <a:r>
              <a:rPr lang="en-US" dirty="0" err="1"/>
              <a:t>int</a:t>
            </a:r>
            <a:r>
              <a:rPr lang="en-US" dirty="0"/>
              <a:t> a[] = new </a:t>
            </a:r>
            <a:r>
              <a:rPr lang="en-US" dirty="0" err="1"/>
              <a:t>int</a:t>
            </a:r>
            <a:r>
              <a:rPr lang="en-US" dirty="0"/>
              <a:t>[]{2,4,6,8,10};   // both are same</a:t>
            </a:r>
          </a:p>
          <a:p>
            <a:pPr marL="0" indent="0">
              <a:buNone/>
            </a:pPr>
            <a:endParaRPr lang="en-US" dirty="0"/>
          </a:p>
        </p:txBody>
      </p:sp>
    </p:spTree>
    <p:extLst>
      <p:ext uri="{BB962C8B-B14F-4D97-AF65-F5344CB8AC3E}">
        <p14:creationId xmlns:p14="http://schemas.microsoft.com/office/powerpoint/2010/main" val="1460776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7500" lnSpcReduction="20000"/>
          </a:bodyPr>
          <a:lstStyle/>
          <a:p>
            <a:r>
              <a:rPr lang="en-US" dirty="0"/>
              <a:t>Here array will be big enough to hold the number of elements defined in braces { }. That is, in both the cases an array of 5 </a:t>
            </a:r>
            <a:r>
              <a:rPr lang="en-US" dirty="0" err="1"/>
              <a:t>int</a:t>
            </a:r>
            <a:r>
              <a:rPr lang="en-US" dirty="0"/>
              <a:t> elements will be created and it can be represented in memory as follows </a:t>
            </a:r>
            <a:r>
              <a:rPr lang="en-US" dirty="0" smtClean="0"/>
              <a:t>–</a:t>
            </a:r>
          </a:p>
          <a:p>
            <a:endParaRPr lang="en-US" dirty="0"/>
          </a:p>
          <a:p>
            <a:endParaRPr lang="en-US" dirty="0" smtClean="0"/>
          </a:p>
          <a:p>
            <a:endParaRPr lang="en-US" dirty="0"/>
          </a:p>
          <a:p>
            <a:r>
              <a:rPr lang="en-US" dirty="0"/>
              <a:t>In java array index always starts from 0. And also we cannot store more values than the size of array, if we try to do that , a runtime exception 'Array Index Out Of Bound' will occur. We can also assign an array into another array as follows -</a:t>
            </a:r>
          </a:p>
          <a:p>
            <a:r>
              <a:rPr lang="en-US" dirty="0" err="1"/>
              <a:t>int</a:t>
            </a:r>
            <a:r>
              <a:rPr lang="en-US" dirty="0"/>
              <a:t> </a:t>
            </a:r>
            <a:r>
              <a:rPr lang="en-US" dirty="0" err="1"/>
              <a:t>arr</a:t>
            </a:r>
            <a:r>
              <a:rPr lang="en-US" dirty="0"/>
              <a:t>[] = {1,2,3,4};</a:t>
            </a:r>
          </a:p>
          <a:p>
            <a:r>
              <a:rPr lang="en-US" dirty="0" err="1"/>
              <a:t>int</a:t>
            </a:r>
            <a:r>
              <a:rPr lang="en-US" dirty="0"/>
              <a:t> b[];</a:t>
            </a:r>
          </a:p>
          <a:p>
            <a:r>
              <a:rPr lang="en-US" dirty="0"/>
              <a:t>b = </a:t>
            </a:r>
            <a:r>
              <a:rPr lang="en-US" dirty="0" err="1"/>
              <a:t>arr</a:t>
            </a:r>
            <a:r>
              <a:rPr lang="en-US" dirty="0"/>
              <a:t>;</a:t>
            </a:r>
          </a:p>
          <a:p>
            <a:r>
              <a:rPr lang="en-US" dirty="0"/>
              <a:t>Now array </a:t>
            </a:r>
            <a:r>
              <a:rPr lang="en-US" dirty="0" err="1"/>
              <a:t>arr</a:t>
            </a:r>
            <a:r>
              <a:rPr lang="en-US" dirty="0"/>
              <a:t> and b will point to the same </a:t>
            </a:r>
            <a:r>
              <a:rPr lang="en-US" dirty="0" err="1"/>
              <a:t>int</a:t>
            </a:r>
            <a:r>
              <a:rPr lang="en-US" dirty="0"/>
              <a:t> object and contain same values.</a:t>
            </a:r>
            <a:endParaRPr lang="en-IN" dirty="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905000"/>
            <a:ext cx="55245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776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fontScale="47500" lnSpcReduction="20000"/>
          </a:bodyPr>
          <a:lstStyle/>
          <a:p>
            <a:r>
              <a:rPr lang="en-US" b="1" dirty="0"/>
              <a:t>Accessing Array Elements - </a:t>
            </a:r>
            <a:r>
              <a:rPr lang="en-US" dirty="0"/>
              <a:t>We can access array elements by using array index as </a:t>
            </a:r>
            <a:r>
              <a:rPr lang="en-US" dirty="0" smtClean="0"/>
              <a:t>follows</a:t>
            </a:r>
            <a:endParaRPr lang="en-US" dirty="0"/>
          </a:p>
          <a:p>
            <a:r>
              <a:rPr lang="en-US" dirty="0" err="1"/>
              <a:t>int</a:t>
            </a:r>
            <a:r>
              <a:rPr lang="en-US" dirty="0"/>
              <a:t> x  = a[2];</a:t>
            </a:r>
          </a:p>
          <a:p>
            <a:r>
              <a:rPr lang="en-US" dirty="0"/>
              <a:t>The above statement will take the 3rd element (element at 2nd index) of array "a" and assign to variable x. So the value of x will be 6</a:t>
            </a:r>
            <a:r>
              <a:rPr lang="en-US" dirty="0" smtClean="0"/>
              <a:t>.</a:t>
            </a:r>
          </a:p>
          <a:p>
            <a:endParaRPr lang="en-US" dirty="0" smtClean="0"/>
          </a:p>
          <a:p>
            <a:r>
              <a:rPr lang="en-US" dirty="0" smtClean="0"/>
              <a:t>Example – </a:t>
            </a:r>
          </a:p>
          <a:p>
            <a:pPr marL="0" indent="0">
              <a:buNone/>
            </a:pPr>
            <a:r>
              <a:rPr lang="en-IN" dirty="0"/>
              <a:t>Example -</a:t>
            </a:r>
          </a:p>
          <a:p>
            <a:pPr marL="0" indent="0">
              <a:buNone/>
            </a:pPr>
            <a:r>
              <a:rPr lang="en-IN" dirty="0"/>
              <a:t>Putting together all the above code, here is the program that create, initialize and access the array.</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a:t>
            </a:r>
            <a:r>
              <a:rPr lang="en-IN" dirty="0" err="1"/>
              <a:t>int</a:t>
            </a:r>
            <a:r>
              <a:rPr lang="en-IN" dirty="0"/>
              <a:t> a[] = new </a:t>
            </a:r>
            <a:r>
              <a:rPr lang="en-IN" dirty="0" err="1"/>
              <a:t>int</a:t>
            </a:r>
            <a:r>
              <a:rPr lang="en-IN" dirty="0"/>
              <a:t>[5];                               // declaring and allocating memory</a:t>
            </a:r>
          </a:p>
          <a:p>
            <a:pPr marL="0" indent="0">
              <a:buNone/>
            </a:pPr>
            <a:r>
              <a:rPr lang="en-IN" dirty="0"/>
              <a:t>        </a:t>
            </a:r>
            <a:r>
              <a:rPr lang="en-IN" dirty="0" err="1"/>
              <a:t>System.out.println</a:t>
            </a:r>
            <a:r>
              <a:rPr lang="en-IN" dirty="0"/>
              <a:t>("Enter array elements");</a:t>
            </a:r>
          </a:p>
          <a:p>
            <a:pPr marL="0" indent="0">
              <a:buNone/>
            </a:pPr>
            <a:r>
              <a:rPr lang="en-IN" dirty="0"/>
              <a:t>        for(</a:t>
            </a:r>
            <a:r>
              <a:rPr lang="en-IN" dirty="0" err="1"/>
              <a:t>int</a:t>
            </a:r>
            <a:r>
              <a:rPr lang="en-IN" dirty="0"/>
              <a:t> i=0;i&lt;5;i++)                                // Normally we use loop to initialise array.</a:t>
            </a:r>
          </a:p>
          <a:p>
            <a:pPr marL="0" indent="0">
              <a:buNone/>
            </a:pPr>
            <a:r>
              <a:rPr lang="en-IN" dirty="0"/>
              <a:t>        {</a:t>
            </a:r>
          </a:p>
          <a:p>
            <a:pPr marL="0" indent="0">
              <a:buNone/>
            </a:pPr>
            <a:r>
              <a:rPr lang="en-IN" dirty="0"/>
              <a:t>            a[i] = </a:t>
            </a:r>
            <a:r>
              <a:rPr lang="en-IN" dirty="0" err="1"/>
              <a:t>Integer.parseInt</a:t>
            </a:r>
            <a:r>
              <a:rPr lang="en-IN" dirty="0"/>
              <a:t>(</a:t>
            </a:r>
            <a:r>
              <a:rPr lang="en-IN" dirty="0" err="1"/>
              <a:t>System.console</a:t>
            </a:r>
            <a:r>
              <a:rPr lang="en-IN" dirty="0"/>
              <a:t>().</a:t>
            </a:r>
            <a:r>
              <a:rPr lang="en-IN" dirty="0" err="1"/>
              <a:t>readLine</a:t>
            </a:r>
            <a:r>
              <a:rPr lang="en-IN" dirty="0"/>
              <a:t>());</a:t>
            </a:r>
          </a:p>
          <a:p>
            <a:pPr marL="0" indent="0">
              <a:buNone/>
            </a:pPr>
            <a:r>
              <a:rPr lang="en-IN" dirty="0"/>
              <a:t>        }</a:t>
            </a:r>
          </a:p>
          <a:p>
            <a:pPr marL="0" indent="0">
              <a:buNone/>
            </a:pPr>
            <a:r>
              <a:rPr lang="en-IN" dirty="0"/>
              <a:t>       for(</a:t>
            </a:r>
            <a:r>
              <a:rPr lang="en-IN" dirty="0" err="1"/>
              <a:t>int</a:t>
            </a:r>
            <a:r>
              <a:rPr lang="en-IN" dirty="0"/>
              <a:t> i =0;i&lt;5;i++)</a:t>
            </a:r>
          </a:p>
          <a:p>
            <a:pPr marL="0" indent="0">
              <a:buNone/>
            </a:pPr>
            <a:r>
              <a:rPr lang="en-IN" dirty="0"/>
              <a:t>       {</a:t>
            </a:r>
          </a:p>
          <a:p>
            <a:pPr marL="0" indent="0">
              <a:buNone/>
            </a:pPr>
            <a:r>
              <a:rPr lang="en-IN" dirty="0"/>
              <a:t>           </a:t>
            </a:r>
            <a:r>
              <a:rPr lang="en-IN" dirty="0" err="1"/>
              <a:t>System.out.println</a:t>
            </a:r>
            <a:r>
              <a:rPr lang="en-IN" dirty="0"/>
              <a:t>(a[i]);</a:t>
            </a:r>
          </a:p>
          <a:p>
            <a:pPr marL="0" indent="0">
              <a:buNone/>
            </a:pPr>
            <a:r>
              <a:rPr lang="en-IN" dirty="0"/>
              <a:t>       }</a:t>
            </a:r>
          </a:p>
          <a:p>
            <a:pPr marL="0" indent="0">
              <a:buNone/>
            </a:pPr>
            <a:r>
              <a:rPr lang="en-IN" dirty="0"/>
              <a:t>    }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460776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55000" lnSpcReduction="20000"/>
          </a:bodyPr>
          <a:lstStyle/>
          <a:p>
            <a:r>
              <a:rPr lang="en-US" b="1" dirty="0"/>
              <a:t>length property -</a:t>
            </a:r>
          </a:p>
          <a:p>
            <a:r>
              <a:rPr lang="en-US" dirty="0"/>
              <a:t>We can find the size of an array by using length property as follows -</a:t>
            </a:r>
          </a:p>
          <a:p>
            <a:r>
              <a:rPr lang="en-US" dirty="0" err="1"/>
              <a:t>array_name.length</a:t>
            </a:r>
            <a:r>
              <a:rPr lang="en-US" dirty="0"/>
              <a:t>;</a:t>
            </a:r>
          </a:p>
          <a:p>
            <a:r>
              <a:rPr lang="en-US" dirty="0"/>
              <a:t>It will return allocated size of array.</a:t>
            </a:r>
          </a:p>
          <a:p>
            <a:r>
              <a:rPr lang="en-US" dirty="0"/>
              <a:t>Example 1 -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a:t>
            </a:r>
            <a:r>
              <a:rPr lang="en-US" dirty="0" err="1"/>
              <a:t>int</a:t>
            </a:r>
            <a:r>
              <a:rPr lang="en-US" dirty="0"/>
              <a:t> a1[] = new </a:t>
            </a:r>
            <a:r>
              <a:rPr lang="en-US" dirty="0" err="1"/>
              <a:t>int</a:t>
            </a:r>
            <a:r>
              <a:rPr lang="en-US" dirty="0"/>
              <a:t>[5];</a:t>
            </a:r>
          </a:p>
          <a:p>
            <a:pPr marL="0" indent="0">
              <a:buNone/>
            </a:pPr>
            <a:r>
              <a:rPr lang="en-US" dirty="0"/>
              <a:t>        </a:t>
            </a:r>
            <a:r>
              <a:rPr lang="en-US" dirty="0" err="1"/>
              <a:t>int</a:t>
            </a:r>
            <a:r>
              <a:rPr lang="en-US" dirty="0"/>
              <a:t>[] a2 = new </a:t>
            </a:r>
            <a:r>
              <a:rPr lang="en-US" dirty="0" err="1"/>
              <a:t>int</a:t>
            </a:r>
            <a:r>
              <a:rPr lang="en-US" dirty="0"/>
              <a:t>[10];</a:t>
            </a:r>
          </a:p>
          <a:p>
            <a:pPr marL="0" indent="0">
              <a:buNone/>
            </a:pPr>
            <a:r>
              <a:rPr lang="en-US" dirty="0"/>
              <a:t>        double a3[] = {1.1,2.1,3.1,4.1};</a:t>
            </a:r>
          </a:p>
          <a:p>
            <a:pPr marL="0" indent="0">
              <a:buNone/>
            </a:pPr>
            <a:r>
              <a:rPr lang="en-US" dirty="0"/>
              <a:t>        char[] a4 = {'</a:t>
            </a:r>
            <a:r>
              <a:rPr lang="en-US" dirty="0" err="1"/>
              <a:t>a','b</a:t>
            </a:r>
            <a:r>
              <a:rPr lang="en-US" dirty="0"/>
              <a:t>'};</a:t>
            </a:r>
          </a:p>
          <a:p>
            <a:pPr marL="0" indent="0">
              <a:buNone/>
            </a:pPr>
            <a:r>
              <a:rPr lang="en-US" dirty="0"/>
              <a:t>        </a:t>
            </a:r>
            <a:r>
              <a:rPr lang="en-US" dirty="0" err="1"/>
              <a:t>System.out.println</a:t>
            </a:r>
            <a:r>
              <a:rPr lang="en-US" dirty="0"/>
              <a:t>("Length of a1 array = "+ a1.length);</a:t>
            </a:r>
          </a:p>
          <a:p>
            <a:pPr marL="0" indent="0">
              <a:buNone/>
            </a:pPr>
            <a:r>
              <a:rPr lang="en-US" dirty="0"/>
              <a:t>        </a:t>
            </a:r>
            <a:r>
              <a:rPr lang="en-US" dirty="0" err="1"/>
              <a:t>System.out.println</a:t>
            </a:r>
            <a:r>
              <a:rPr lang="en-US" dirty="0"/>
              <a:t>("Length of a2 array = "+ a2.length);</a:t>
            </a:r>
          </a:p>
          <a:p>
            <a:pPr marL="0" indent="0">
              <a:buNone/>
            </a:pPr>
            <a:r>
              <a:rPr lang="en-US" dirty="0"/>
              <a:t>        </a:t>
            </a:r>
            <a:r>
              <a:rPr lang="en-US" dirty="0" err="1"/>
              <a:t>System.out.println</a:t>
            </a:r>
            <a:r>
              <a:rPr lang="en-US" dirty="0"/>
              <a:t>("Length of a3 array = "+ a3.length);</a:t>
            </a:r>
          </a:p>
          <a:p>
            <a:pPr marL="0" indent="0">
              <a:buNone/>
            </a:pPr>
            <a:r>
              <a:rPr lang="en-US" dirty="0"/>
              <a:t>        </a:t>
            </a:r>
            <a:r>
              <a:rPr lang="en-US" dirty="0" err="1"/>
              <a:t>System.out.println</a:t>
            </a:r>
            <a:r>
              <a:rPr lang="en-US" dirty="0"/>
              <a:t>("Length of a4 array = "+ a4.length);</a:t>
            </a:r>
          </a:p>
          <a:p>
            <a:pPr marL="0" indent="0">
              <a:buNone/>
            </a:pPr>
            <a:r>
              <a:rPr lang="en-US" dirty="0"/>
              <a:t>        </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1460776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IN" dirty="0"/>
              <a:t>Example 2 -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a:t>
            </a:r>
            <a:r>
              <a:rPr lang="en-IN" dirty="0" err="1"/>
              <a:t>int</a:t>
            </a:r>
            <a:r>
              <a:rPr lang="en-IN" dirty="0"/>
              <a:t> a[] = new </a:t>
            </a:r>
            <a:r>
              <a:rPr lang="en-IN" dirty="0" err="1"/>
              <a:t>int</a:t>
            </a:r>
            <a:r>
              <a:rPr lang="en-IN" dirty="0"/>
              <a:t>[5];</a:t>
            </a:r>
          </a:p>
          <a:p>
            <a:pPr marL="0" indent="0">
              <a:buNone/>
            </a:pPr>
            <a:r>
              <a:rPr lang="en-IN" dirty="0"/>
              <a:t>       for(</a:t>
            </a:r>
            <a:r>
              <a:rPr lang="en-IN" dirty="0" err="1"/>
              <a:t>int</a:t>
            </a:r>
            <a:r>
              <a:rPr lang="en-IN" dirty="0"/>
              <a:t> i=0;i&lt; </a:t>
            </a:r>
            <a:r>
              <a:rPr lang="en-IN" dirty="0" err="1"/>
              <a:t>a.length;i</a:t>
            </a:r>
            <a:r>
              <a:rPr lang="en-IN" dirty="0"/>
              <a:t>++)</a:t>
            </a:r>
          </a:p>
          <a:p>
            <a:pPr marL="0" indent="0">
              <a:buNone/>
            </a:pPr>
            <a:r>
              <a:rPr lang="en-IN" dirty="0"/>
              <a:t>       {</a:t>
            </a:r>
          </a:p>
          <a:p>
            <a:pPr marL="0" indent="0">
              <a:buNone/>
            </a:pPr>
            <a:r>
              <a:rPr lang="en-IN" dirty="0"/>
              <a:t>           a[i] = </a:t>
            </a:r>
            <a:r>
              <a:rPr lang="en-IN" dirty="0" err="1"/>
              <a:t>Integer.parseInt</a:t>
            </a:r>
            <a:r>
              <a:rPr lang="en-IN" dirty="0"/>
              <a:t>(</a:t>
            </a:r>
            <a:r>
              <a:rPr lang="en-IN" dirty="0" err="1"/>
              <a:t>System.console</a:t>
            </a:r>
            <a:r>
              <a:rPr lang="en-IN" dirty="0"/>
              <a:t>().</a:t>
            </a:r>
            <a:r>
              <a:rPr lang="en-IN" dirty="0" err="1"/>
              <a:t>readLine</a:t>
            </a:r>
            <a:r>
              <a:rPr lang="en-IN" dirty="0"/>
              <a:t>());</a:t>
            </a:r>
          </a:p>
          <a:p>
            <a:pPr marL="0" indent="0">
              <a:buNone/>
            </a:pPr>
            <a:r>
              <a:rPr lang="en-IN" dirty="0"/>
              <a:t>       }</a:t>
            </a:r>
          </a:p>
          <a:p>
            <a:pPr marL="0" indent="0">
              <a:buNone/>
            </a:pPr>
            <a:r>
              <a:rPr lang="en-IN" dirty="0"/>
              <a:t>       for(</a:t>
            </a:r>
            <a:r>
              <a:rPr lang="en-IN" dirty="0" err="1"/>
              <a:t>int</a:t>
            </a:r>
            <a:r>
              <a:rPr lang="en-IN" dirty="0"/>
              <a:t> i =0;i&lt; </a:t>
            </a:r>
            <a:r>
              <a:rPr lang="en-IN" dirty="0" err="1"/>
              <a:t>a.length;i</a:t>
            </a:r>
            <a:r>
              <a:rPr lang="en-IN" dirty="0"/>
              <a:t>++)</a:t>
            </a:r>
          </a:p>
          <a:p>
            <a:pPr marL="0" indent="0">
              <a:buNone/>
            </a:pPr>
            <a:r>
              <a:rPr lang="en-IN" dirty="0"/>
              <a:t>       {</a:t>
            </a:r>
          </a:p>
          <a:p>
            <a:pPr marL="0" indent="0">
              <a:buNone/>
            </a:pPr>
            <a:r>
              <a:rPr lang="en-IN" dirty="0"/>
              <a:t>           </a:t>
            </a:r>
            <a:r>
              <a:rPr lang="en-IN" dirty="0" err="1"/>
              <a:t>System.out.println</a:t>
            </a:r>
            <a:r>
              <a:rPr lang="en-IN" dirty="0"/>
              <a:t>(a[i]);</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1460776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55000" lnSpcReduction="20000"/>
          </a:bodyPr>
          <a:lstStyle/>
          <a:p>
            <a:r>
              <a:rPr lang="en-US" b="1" dirty="0"/>
              <a:t>for each loop -</a:t>
            </a:r>
          </a:p>
          <a:p>
            <a:r>
              <a:rPr lang="en-US" dirty="0"/>
              <a:t>This style of for loop is added in jdk1.5. It is mainly used to iterate through the elements of arrays and collections. It is called "for each" because it iterate through each element of array or collection.</a:t>
            </a:r>
          </a:p>
          <a:p>
            <a:r>
              <a:rPr lang="en-US" dirty="0"/>
              <a:t>Syntax -</a:t>
            </a:r>
          </a:p>
          <a:p>
            <a:r>
              <a:rPr lang="en-US" dirty="0"/>
              <a:t>  for(</a:t>
            </a:r>
            <a:r>
              <a:rPr lang="en-US" dirty="0" err="1"/>
              <a:t>data_type:array|collection</a:t>
            </a:r>
            <a:r>
              <a:rPr lang="en-US" dirty="0"/>
              <a:t> name)</a:t>
            </a:r>
          </a:p>
          <a:p>
            <a:r>
              <a:rPr lang="en-US" dirty="0"/>
              <a:t>Here </a:t>
            </a:r>
            <a:r>
              <a:rPr lang="en-US" dirty="0" err="1"/>
              <a:t>data_type</a:t>
            </a:r>
            <a:r>
              <a:rPr lang="en-US" dirty="0"/>
              <a:t> should be of the same type as data type of elements of array or collection. For example if array contains integer type elements then </a:t>
            </a:r>
            <a:r>
              <a:rPr lang="en-US" dirty="0" err="1"/>
              <a:t>data_type</a:t>
            </a:r>
            <a:r>
              <a:rPr lang="en-US" dirty="0"/>
              <a:t> should be integer and if it contains some object type element then </a:t>
            </a:r>
            <a:r>
              <a:rPr lang="en-US" dirty="0" err="1"/>
              <a:t>data_type</a:t>
            </a:r>
            <a:r>
              <a:rPr lang="en-US" dirty="0"/>
              <a:t> should be of that type.</a:t>
            </a:r>
          </a:p>
          <a:p>
            <a:r>
              <a:rPr lang="en-US" dirty="0"/>
              <a:t>Example -</a:t>
            </a:r>
          </a:p>
          <a:p>
            <a:pPr marL="0" indent="0">
              <a:buNone/>
            </a:pPr>
            <a:r>
              <a:rPr lang="en-US" dirty="0"/>
              <a:t>public class Call {</a:t>
            </a:r>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a:t>
            </a:r>
            <a:r>
              <a:rPr lang="en-US" dirty="0" err="1"/>
              <a:t>int</a:t>
            </a:r>
            <a:r>
              <a:rPr lang="en-US" dirty="0"/>
              <a:t> a[] = {1,2,3,4,5};</a:t>
            </a:r>
          </a:p>
          <a:p>
            <a:pPr marL="0" indent="0">
              <a:buNone/>
            </a:pPr>
            <a:r>
              <a:rPr lang="en-US" dirty="0"/>
              <a:t>        </a:t>
            </a:r>
            <a:r>
              <a:rPr lang="en-US" dirty="0" err="1"/>
              <a:t>System.out.println</a:t>
            </a:r>
            <a:r>
              <a:rPr lang="en-US" dirty="0"/>
              <a:t>("Array elements are :");</a:t>
            </a:r>
          </a:p>
          <a:p>
            <a:pPr marL="0" indent="0">
              <a:buNone/>
            </a:pPr>
            <a:r>
              <a:rPr lang="en-US" dirty="0"/>
              <a:t>        for(</a:t>
            </a:r>
            <a:r>
              <a:rPr lang="en-US" dirty="0" err="1"/>
              <a:t>int</a:t>
            </a:r>
            <a:r>
              <a:rPr lang="en-US" dirty="0"/>
              <a:t> i : a)</a:t>
            </a:r>
          </a:p>
          <a:p>
            <a:pPr marL="0" indent="0">
              <a:buNone/>
            </a:pPr>
            <a:r>
              <a:rPr lang="en-US" dirty="0"/>
              <a:t>        {</a:t>
            </a:r>
          </a:p>
          <a:p>
            <a:pPr marL="0" indent="0">
              <a:buNone/>
            </a:pPr>
            <a:r>
              <a:rPr lang="en-US" dirty="0"/>
              <a:t>            </a:t>
            </a:r>
            <a:r>
              <a:rPr lang="en-US" dirty="0" err="1"/>
              <a:t>System.out.println</a:t>
            </a:r>
            <a:r>
              <a:rPr lang="en-US" dirty="0"/>
              <a:t>(i);</a:t>
            </a:r>
          </a:p>
          <a:p>
            <a:pPr marL="0" indent="0">
              <a:buNone/>
            </a:pPr>
            <a:r>
              <a:rPr lang="en-US" dirty="0"/>
              <a:t>        }</a:t>
            </a:r>
          </a:p>
          <a:p>
            <a:pPr marL="0" indent="0">
              <a:buNone/>
            </a:pPr>
            <a:r>
              <a:rPr lang="en-US" dirty="0"/>
              <a:t>    } </a:t>
            </a:r>
          </a:p>
          <a:p>
            <a:pPr marL="0" indent="0">
              <a:buNone/>
            </a:pPr>
            <a:r>
              <a:rPr lang="en-US" dirty="0"/>
              <a:t>}</a:t>
            </a:r>
            <a:endParaRPr lang="en-IN" dirty="0"/>
          </a:p>
        </p:txBody>
      </p:sp>
    </p:spTree>
    <p:extLst>
      <p:ext uri="{BB962C8B-B14F-4D97-AF65-F5344CB8AC3E}">
        <p14:creationId xmlns:p14="http://schemas.microsoft.com/office/powerpoint/2010/main" val="1460776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2 - Multidimensional Array -</a:t>
            </a:r>
            <a:br>
              <a:rPr lang="en-IN" dirty="0"/>
            </a:br>
            <a:endParaRPr lang="en-IN" dirty="0"/>
          </a:p>
        </p:txBody>
      </p:sp>
      <p:sp>
        <p:nvSpPr>
          <p:cNvPr id="3" name="Content Placeholder 2"/>
          <p:cNvSpPr>
            <a:spLocks noGrp="1"/>
          </p:cNvSpPr>
          <p:nvPr>
            <p:ph idx="1"/>
          </p:nvPr>
        </p:nvSpPr>
        <p:spPr/>
        <p:txBody>
          <a:bodyPr>
            <a:normAutofit fontScale="55000" lnSpcReduction="20000"/>
          </a:bodyPr>
          <a:lstStyle/>
          <a:p>
            <a:r>
              <a:rPr lang="en-US" dirty="0"/>
              <a:t>An array which has more than one dimension is called multidimensional array.</a:t>
            </a:r>
          </a:p>
          <a:p>
            <a:r>
              <a:rPr lang="en-US" dirty="0"/>
              <a:t>Double Dimensional Array (2D array) - 2D Array is the most general form of multidimensional array. It contains 2 dimensions, first dimension represents the number of rows and second one represents number of columns in each row. It is also called matrix or table. We can declare an array as follows -</a:t>
            </a:r>
          </a:p>
          <a:p>
            <a:r>
              <a:rPr lang="en-US" dirty="0"/>
              <a:t>data_ type </a:t>
            </a:r>
            <a:r>
              <a:rPr lang="en-US" dirty="0" err="1"/>
              <a:t>array_name</a:t>
            </a:r>
            <a:r>
              <a:rPr lang="en-US" dirty="0"/>
              <a:t>[ ][ ];</a:t>
            </a:r>
          </a:p>
          <a:p>
            <a:r>
              <a:rPr lang="en-US" dirty="0"/>
              <a:t>Here type can be any valid java data type and </a:t>
            </a:r>
            <a:r>
              <a:rPr lang="en-US" dirty="0" err="1"/>
              <a:t>array_name</a:t>
            </a:r>
            <a:r>
              <a:rPr lang="en-US" dirty="0"/>
              <a:t> will be any valid java identifier. For example -</a:t>
            </a:r>
          </a:p>
          <a:p>
            <a:r>
              <a:rPr lang="en-US" dirty="0" err="1"/>
              <a:t>int</a:t>
            </a:r>
            <a:r>
              <a:rPr lang="en-US" dirty="0"/>
              <a:t> </a:t>
            </a:r>
            <a:r>
              <a:rPr lang="en-US" dirty="0" err="1"/>
              <a:t>arr</a:t>
            </a:r>
            <a:r>
              <a:rPr lang="en-US" dirty="0"/>
              <a:t>[ ][ ];</a:t>
            </a:r>
          </a:p>
          <a:p>
            <a:r>
              <a:rPr lang="en-US" dirty="0"/>
              <a:t>Here we define a 2D array of integers named arr.</a:t>
            </a:r>
          </a:p>
          <a:p>
            <a:r>
              <a:rPr lang="en-US" dirty="0"/>
              <a:t>A 2D Array can be declared using any of the following forms -</a:t>
            </a:r>
          </a:p>
          <a:p>
            <a:r>
              <a:rPr lang="en-US" dirty="0"/>
              <a:t>1- </a:t>
            </a:r>
            <a:r>
              <a:rPr lang="en-US" dirty="0" err="1"/>
              <a:t>data_type</a:t>
            </a:r>
            <a:r>
              <a:rPr lang="en-US" dirty="0"/>
              <a:t>  </a:t>
            </a:r>
            <a:r>
              <a:rPr lang="en-US" dirty="0" err="1"/>
              <a:t>array_name</a:t>
            </a:r>
            <a:r>
              <a:rPr lang="en-US" dirty="0"/>
              <a:t>[ ][ ];                  for example - </a:t>
            </a:r>
            <a:r>
              <a:rPr lang="en-US" dirty="0" err="1"/>
              <a:t>int</a:t>
            </a:r>
            <a:r>
              <a:rPr lang="en-US" dirty="0"/>
              <a:t> </a:t>
            </a:r>
            <a:r>
              <a:rPr lang="en-US" dirty="0" err="1"/>
              <a:t>arr</a:t>
            </a:r>
            <a:r>
              <a:rPr lang="en-US" dirty="0"/>
              <a:t>[ ][ ];</a:t>
            </a:r>
          </a:p>
          <a:p>
            <a:r>
              <a:rPr lang="en-US" dirty="0"/>
              <a:t>2- </a:t>
            </a:r>
            <a:r>
              <a:rPr lang="en-US" dirty="0" err="1"/>
              <a:t>data_type</a:t>
            </a:r>
            <a:r>
              <a:rPr lang="en-US" dirty="0"/>
              <a:t>[ ]  </a:t>
            </a:r>
            <a:r>
              <a:rPr lang="en-US" dirty="0" err="1"/>
              <a:t>array_name</a:t>
            </a:r>
            <a:r>
              <a:rPr lang="en-US" dirty="0"/>
              <a:t>[ ];                  for example - </a:t>
            </a:r>
            <a:r>
              <a:rPr lang="en-US" dirty="0" err="1"/>
              <a:t>int</a:t>
            </a:r>
            <a:r>
              <a:rPr lang="en-US" dirty="0"/>
              <a:t>[ ] </a:t>
            </a:r>
            <a:r>
              <a:rPr lang="en-US" dirty="0" err="1"/>
              <a:t>arr</a:t>
            </a:r>
            <a:r>
              <a:rPr lang="en-US" dirty="0"/>
              <a:t>[ ];</a:t>
            </a:r>
          </a:p>
          <a:p>
            <a:r>
              <a:rPr lang="en-US" dirty="0"/>
              <a:t>3- </a:t>
            </a:r>
            <a:r>
              <a:rPr lang="en-US" dirty="0" err="1"/>
              <a:t>data_type</a:t>
            </a:r>
            <a:r>
              <a:rPr lang="en-US" dirty="0"/>
              <a:t>[ ][ ]  </a:t>
            </a:r>
            <a:r>
              <a:rPr lang="en-US" dirty="0" err="1"/>
              <a:t>array_name</a:t>
            </a:r>
            <a:r>
              <a:rPr lang="en-US" dirty="0"/>
              <a:t>;                  for example -  </a:t>
            </a:r>
            <a:r>
              <a:rPr lang="en-US" dirty="0" err="1"/>
              <a:t>int</a:t>
            </a:r>
            <a:r>
              <a:rPr lang="en-US" dirty="0"/>
              <a:t> [ ][ ] </a:t>
            </a:r>
            <a:r>
              <a:rPr lang="en-US" dirty="0" err="1"/>
              <a:t>arr</a:t>
            </a:r>
            <a:r>
              <a:rPr lang="en-US" dirty="0"/>
              <a:t>;</a:t>
            </a:r>
            <a:endParaRPr lang="en-IN" dirty="0"/>
          </a:p>
        </p:txBody>
      </p:sp>
    </p:spTree>
    <p:extLst>
      <p:ext uri="{BB962C8B-B14F-4D97-AF65-F5344CB8AC3E}">
        <p14:creationId xmlns:p14="http://schemas.microsoft.com/office/powerpoint/2010/main" val="39582694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a:bodyPr>
          <a:lstStyle/>
          <a:p>
            <a:r>
              <a:rPr lang="en-US" sz="2400" dirty="0"/>
              <a:t>All the statements are equivalent; you can use any of them. We can allocate memory to array </a:t>
            </a:r>
            <a:r>
              <a:rPr lang="en-US" sz="2400" dirty="0" err="1"/>
              <a:t>arr</a:t>
            </a:r>
            <a:r>
              <a:rPr lang="en-US" sz="2400" dirty="0"/>
              <a:t> as follows -</a:t>
            </a:r>
          </a:p>
          <a:p>
            <a:r>
              <a:rPr lang="en-US" sz="2400" dirty="0" err="1"/>
              <a:t>arr</a:t>
            </a:r>
            <a:r>
              <a:rPr lang="en-US" sz="2400" dirty="0"/>
              <a:t> = new </a:t>
            </a:r>
            <a:r>
              <a:rPr lang="en-US" sz="2400" dirty="0" err="1"/>
              <a:t>int</a:t>
            </a:r>
            <a:r>
              <a:rPr lang="en-US" sz="2400" dirty="0"/>
              <a:t>[3][4];  </a:t>
            </a:r>
          </a:p>
          <a:p>
            <a:r>
              <a:rPr lang="en-US" sz="2400" dirty="0"/>
              <a:t>This statement define an array </a:t>
            </a:r>
            <a:r>
              <a:rPr lang="en-US" sz="2400" dirty="0" err="1"/>
              <a:t>arr</a:t>
            </a:r>
            <a:r>
              <a:rPr lang="en-US" sz="2400" dirty="0"/>
              <a:t> containing 3 rows and 4 columns and will allocate 48 byte (3*4 = 12(elements)*4 = 48 bytes) of memory storage to array arr. It can be represented as follows -</a:t>
            </a:r>
            <a:endParaRPr lang="en-IN"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505200"/>
            <a:ext cx="58674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776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32500" lnSpcReduction="20000"/>
          </a:bodyPr>
          <a:lstStyle/>
          <a:p>
            <a:r>
              <a:rPr lang="en-US" b="1" dirty="0"/>
              <a:t>Initializing 2D Array - </a:t>
            </a:r>
            <a:r>
              <a:rPr lang="en-US" dirty="0"/>
              <a:t>We can initialize a 2D Array either one by one or by using a single statement as follows -</a:t>
            </a:r>
          </a:p>
          <a:p>
            <a:r>
              <a:rPr lang="en-US" dirty="0"/>
              <a:t>Example 1 -</a:t>
            </a:r>
          </a:p>
          <a:p>
            <a:pPr marL="0" indent="0">
              <a:buNone/>
            </a:pPr>
            <a:r>
              <a:rPr lang="en-US" dirty="0"/>
              <a:t>public class Call </a:t>
            </a:r>
          </a:p>
          <a:p>
            <a:pPr marL="0" indent="0">
              <a:buNone/>
            </a:pPr>
            <a:r>
              <a:rPr lang="en-US" dirty="0"/>
              <a:t>{</a:t>
            </a:r>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a:t>
            </a:r>
            <a:r>
              <a:rPr lang="en-US" dirty="0" err="1"/>
              <a:t>int</a:t>
            </a:r>
            <a:r>
              <a:rPr lang="en-US" dirty="0"/>
              <a:t> </a:t>
            </a:r>
            <a:r>
              <a:rPr lang="en-US" dirty="0" err="1"/>
              <a:t>arr</a:t>
            </a:r>
            <a:r>
              <a:rPr lang="en-US" dirty="0"/>
              <a:t>[][] = new </a:t>
            </a:r>
            <a:r>
              <a:rPr lang="en-US" dirty="0" err="1"/>
              <a:t>int</a:t>
            </a:r>
            <a:r>
              <a:rPr lang="en-US" dirty="0"/>
              <a:t>[2][3];</a:t>
            </a:r>
          </a:p>
          <a:p>
            <a:pPr marL="0" indent="0">
              <a:buNone/>
            </a:pPr>
            <a:r>
              <a:rPr lang="en-US" dirty="0"/>
              <a:t> </a:t>
            </a:r>
            <a:r>
              <a:rPr lang="en-US" dirty="0" err="1"/>
              <a:t>System.out.println</a:t>
            </a:r>
            <a:r>
              <a:rPr lang="en-US" dirty="0"/>
              <a:t>("Enter array elements");</a:t>
            </a:r>
          </a:p>
          <a:p>
            <a:pPr marL="0" indent="0">
              <a:buNone/>
            </a:pPr>
            <a:r>
              <a:rPr lang="en-US" dirty="0"/>
              <a:t>        </a:t>
            </a:r>
          </a:p>
          <a:p>
            <a:pPr marL="0" indent="0">
              <a:buNone/>
            </a:pPr>
            <a:r>
              <a:rPr lang="en-US" dirty="0"/>
              <a:t> // </a:t>
            </a:r>
            <a:r>
              <a:rPr lang="en-US" dirty="0" err="1"/>
              <a:t>Initialising</a:t>
            </a:r>
            <a:r>
              <a:rPr lang="en-US" dirty="0"/>
              <a:t> </a:t>
            </a:r>
            <a:r>
              <a:rPr lang="en-US" dirty="0" err="1"/>
              <a:t>Arry</a:t>
            </a:r>
            <a:r>
              <a:rPr lang="en-US" dirty="0"/>
              <a:t> elements one by one</a:t>
            </a:r>
          </a:p>
          <a:p>
            <a:pPr marL="0" indent="0">
              <a:buNone/>
            </a:pPr>
            <a:r>
              <a:rPr lang="en-US" dirty="0"/>
              <a:t> for(</a:t>
            </a:r>
            <a:r>
              <a:rPr lang="en-US" dirty="0" err="1"/>
              <a:t>int</a:t>
            </a:r>
            <a:r>
              <a:rPr lang="en-US" dirty="0"/>
              <a:t> r=0; r &lt; </a:t>
            </a:r>
            <a:r>
              <a:rPr lang="en-US" dirty="0" err="1"/>
              <a:t>arr.length</a:t>
            </a:r>
            <a:r>
              <a:rPr lang="en-US" dirty="0"/>
              <a:t>; r++)   // </a:t>
            </a:r>
            <a:r>
              <a:rPr lang="en-US" dirty="0" err="1"/>
              <a:t>arr.length</a:t>
            </a:r>
            <a:r>
              <a:rPr lang="en-US" dirty="0"/>
              <a:t> will return the number of rows in </a:t>
            </a:r>
            <a:r>
              <a:rPr lang="en-US" dirty="0" err="1"/>
              <a:t>arr</a:t>
            </a:r>
            <a:endParaRPr lang="en-US" dirty="0"/>
          </a:p>
          <a:p>
            <a:pPr marL="0" indent="0">
              <a:buNone/>
            </a:pPr>
            <a:r>
              <a:rPr lang="en-US" dirty="0"/>
              <a:t> {</a:t>
            </a:r>
          </a:p>
          <a:p>
            <a:pPr marL="0" indent="0">
              <a:buNone/>
            </a:pPr>
            <a:r>
              <a:rPr lang="en-US" dirty="0"/>
              <a:t>  for(</a:t>
            </a:r>
            <a:r>
              <a:rPr lang="en-US" dirty="0" err="1"/>
              <a:t>int</a:t>
            </a:r>
            <a:r>
              <a:rPr lang="en-US" dirty="0"/>
              <a:t> c=0; c &lt; </a:t>
            </a:r>
            <a:r>
              <a:rPr lang="en-US" dirty="0" err="1"/>
              <a:t>arr</a:t>
            </a:r>
            <a:r>
              <a:rPr lang="en-US" dirty="0"/>
              <a:t>[r].</a:t>
            </a:r>
            <a:r>
              <a:rPr lang="en-US" dirty="0" err="1"/>
              <a:t>length;c</a:t>
            </a:r>
            <a:r>
              <a:rPr lang="en-US" dirty="0"/>
              <a:t>++)  // </a:t>
            </a:r>
            <a:r>
              <a:rPr lang="en-US" dirty="0" err="1"/>
              <a:t>arr</a:t>
            </a:r>
            <a:r>
              <a:rPr lang="en-US" dirty="0"/>
              <a:t>[r].length will return the number of columns in each row r.</a:t>
            </a:r>
          </a:p>
          <a:p>
            <a:pPr marL="0" indent="0">
              <a:buNone/>
            </a:pPr>
            <a:r>
              <a:rPr lang="en-US" dirty="0"/>
              <a:t>  {</a:t>
            </a:r>
          </a:p>
          <a:p>
            <a:pPr marL="0" indent="0">
              <a:buNone/>
            </a:pPr>
            <a:r>
              <a:rPr lang="en-US" dirty="0"/>
              <a:t>   </a:t>
            </a:r>
            <a:r>
              <a:rPr lang="en-US" dirty="0" err="1"/>
              <a:t>arr</a:t>
            </a:r>
            <a:r>
              <a:rPr lang="en-US" dirty="0"/>
              <a:t>[r][c] = </a:t>
            </a:r>
            <a:r>
              <a:rPr lang="en-US" dirty="0" err="1"/>
              <a:t>Integer.parseInt</a:t>
            </a:r>
            <a:r>
              <a:rPr lang="en-US" dirty="0"/>
              <a:t>(</a:t>
            </a:r>
            <a:r>
              <a:rPr lang="en-US" dirty="0" err="1"/>
              <a:t>System.console</a:t>
            </a:r>
            <a:r>
              <a:rPr lang="en-US" dirty="0"/>
              <a:t>().</a:t>
            </a:r>
            <a:r>
              <a:rPr lang="en-US" dirty="0" err="1"/>
              <a:t>readLine</a:t>
            </a:r>
            <a:r>
              <a:rPr lang="en-US" dirty="0"/>
              <a:t>());</a:t>
            </a:r>
          </a:p>
          <a:p>
            <a:pPr marL="0" indent="0">
              <a:buNone/>
            </a:pPr>
            <a:r>
              <a:rPr lang="en-US" dirty="0"/>
              <a:t>  }</a:t>
            </a:r>
          </a:p>
          <a:p>
            <a:pPr marL="0" indent="0">
              <a:buNone/>
            </a:pPr>
            <a:r>
              <a:rPr lang="en-US" dirty="0"/>
              <a:t>}</a:t>
            </a:r>
          </a:p>
          <a:p>
            <a:pPr marL="0" indent="0">
              <a:buNone/>
            </a:pPr>
            <a:r>
              <a:rPr lang="en-US" dirty="0"/>
              <a:t>        </a:t>
            </a:r>
          </a:p>
          <a:p>
            <a:pPr marL="0" indent="0">
              <a:buNone/>
            </a:pPr>
            <a:r>
              <a:rPr lang="en-US" dirty="0"/>
              <a:t>// Accessing array elements - </a:t>
            </a:r>
          </a:p>
          <a:p>
            <a:pPr marL="0" indent="0">
              <a:buNone/>
            </a:pPr>
            <a:r>
              <a:rPr lang="en-US" dirty="0"/>
              <a:t> for(</a:t>
            </a:r>
            <a:r>
              <a:rPr lang="en-US" dirty="0" err="1"/>
              <a:t>int</a:t>
            </a:r>
            <a:r>
              <a:rPr lang="en-US" dirty="0"/>
              <a:t> r[]: </a:t>
            </a:r>
            <a:r>
              <a:rPr lang="en-US" dirty="0" err="1"/>
              <a:t>arr</a:t>
            </a:r>
            <a:r>
              <a:rPr lang="en-US" dirty="0"/>
              <a:t>)   // It will return and copy a complete row in array r of integers at a time.</a:t>
            </a:r>
          </a:p>
          <a:p>
            <a:pPr marL="0" indent="0">
              <a:buNone/>
            </a:pPr>
            <a:r>
              <a:rPr lang="en-US" dirty="0"/>
              <a:t> {</a:t>
            </a:r>
          </a:p>
          <a:p>
            <a:pPr marL="0" indent="0">
              <a:buNone/>
            </a:pPr>
            <a:r>
              <a:rPr lang="en-US" dirty="0"/>
              <a:t>  for(</a:t>
            </a:r>
            <a:r>
              <a:rPr lang="en-US" dirty="0" err="1"/>
              <a:t>int</a:t>
            </a:r>
            <a:r>
              <a:rPr lang="en-US" dirty="0"/>
              <a:t> c : r)  // It will return each columns in row r and copy that in c.</a:t>
            </a:r>
          </a:p>
          <a:p>
            <a:pPr marL="0" indent="0">
              <a:buNone/>
            </a:pPr>
            <a:r>
              <a:rPr lang="en-US" dirty="0"/>
              <a:t>  {</a:t>
            </a:r>
          </a:p>
          <a:p>
            <a:pPr marL="0" indent="0">
              <a:buNone/>
            </a:pPr>
            <a:r>
              <a:rPr lang="en-US" dirty="0"/>
              <a:t>   </a:t>
            </a:r>
            <a:r>
              <a:rPr lang="en-US" dirty="0" err="1"/>
              <a:t>System.out.print</a:t>
            </a:r>
            <a:r>
              <a:rPr lang="en-US" dirty="0"/>
              <a:t>(c);</a:t>
            </a:r>
          </a:p>
          <a:p>
            <a:pPr marL="0" indent="0">
              <a:buNone/>
            </a:pPr>
            <a:r>
              <a:rPr lang="en-US" dirty="0"/>
              <a:t>  }</a:t>
            </a:r>
          </a:p>
          <a:p>
            <a:pPr marL="0" indent="0">
              <a:buNone/>
            </a:pPr>
            <a:r>
              <a:rPr lang="en-US" dirty="0"/>
              <a:t>  </a:t>
            </a:r>
            <a:r>
              <a:rPr lang="en-US" dirty="0" err="1"/>
              <a:t>System.out.println</a:t>
            </a:r>
            <a:r>
              <a:rPr lang="en-US" dirty="0"/>
              <a:t>();</a:t>
            </a:r>
          </a:p>
          <a:p>
            <a:pPr marL="0" indent="0">
              <a:buNone/>
            </a:pPr>
            <a:r>
              <a:rPr lang="en-US" dirty="0"/>
              <a:t> }</a:t>
            </a:r>
          </a:p>
          <a:p>
            <a:pPr marL="0" indent="0">
              <a:buNone/>
            </a:pPr>
            <a:r>
              <a:rPr lang="en-US" dirty="0"/>
              <a:t>        </a:t>
            </a:r>
          </a:p>
          <a:p>
            <a:pPr marL="0" indent="0">
              <a:buNone/>
            </a:pPr>
            <a:r>
              <a:rPr lang="en-US" dirty="0"/>
              <a:t>}</a:t>
            </a:r>
          </a:p>
          <a:p>
            <a:pPr marL="0" indent="0">
              <a:buNone/>
            </a:pPr>
            <a:r>
              <a:rPr lang="en-US" dirty="0"/>
              <a:t>       </a:t>
            </a:r>
          </a:p>
          <a:p>
            <a:pPr marL="0" indent="0">
              <a:buNone/>
            </a:pPr>
            <a:r>
              <a:rPr lang="en-US" dirty="0"/>
              <a:t>}</a:t>
            </a:r>
          </a:p>
          <a:p>
            <a:endParaRPr lang="en-US" dirty="0"/>
          </a:p>
          <a:p>
            <a:r>
              <a:rPr lang="en-US" dirty="0"/>
              <a:t>Note - for accessing the array elements we can either use for each loop style as we use above or we can use simple for loop style as used to initialize array elements.</a:t>
            </a:r>
            <a:endParaRPr lang="en-IN" dirty="0"/>
          </a:p>
        </p:txBody>
      </p:sp>
    </p:spTree>
    <p:extLst>
      <p:ext uri="{BB962C8B-B14F-4D97-AF65-F5344CB8AC3E}">
        <p14:creationId xmlns:p14="http://schemas.microsoft.com/office/powerpoint/2010/main" val="1460776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55000" lnSpcReduction="20000"/>
          </a:bodyPr>
          <a:lstStyle/>
          <a:p>
            <a:r>
              <a:rPr lang="en-IN" dirty="0"/>
              <a:t>Example 2</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Declaring and initialising array</a:t>
            </a:r>
          </a:p>
          <a:p>
            <a:pPr marL="0" indent="0">
              <a:buNone/>
            </a:pPr>
            <a:r>
              <a:rPr lang="en-IN" dirty="0"/>
              <a:t>     </a:t>
            </a:r>
            <a:r>
              <a:rPr lang="en-IN" dirty="0" err="1"/>
              <a:t>int</a:t>
            </a:r>
            <a:r>
              <a:rPr lang="en-IN" dirty="0"/>
              <a:t> </a:t>
            </a:r>
            <a:r>
              <a:rPr lang="en-IN" dirty="0" err="1"/>
              <a:t>arr</a:t>
            </a:r>
            <a:r>
              <a:rPr lang="en-IN" dirty="0"/>
              <a:t>[ ][ ] = {{1,2,3},   // This will declare an array containing 2 rows and 4 columns.</a:t>
            </a:r>
          </a:p>
          <a:p>
            <a:pPr marL="0" indent="0">
              <a:buNone/>
            </a:pPr>
            <a:r>
              <a:rPr lang="en-IN" dirty="0"/>
              <a:t>                      {4,5,6}};</a:t>
            </a:r>
          </a:p>
          <a:p>
            <a:pPr marL="0" indent="0">
              <a:buNone/>
            </a:pPr>
            <a:r>
              <a:rPr lang="en-IN" dirty="0"/>
              <a:t>             </a:t>
            </a:r>
          </a:p>
          <a:p>
            <a:pPr marL="0" indent="0">
              <a:buNone/>
            </a:pPr>
            <a:r>
              <a:rPr lang="en-IN" dirty="0"/>
              <a:t>        // Accessing array elements - </a:t>
            </a:r>
          </a:p>
          <a:p>
            <a:pPr marL="0" indent="0">
              <a:buNone/>
            </a:pPr>
            <a:r>
              <a:rPr lang="en-IN" dirty="0"/>
              <a:t>        for(</a:t>
            </a:r>
            <a:r>
              <a:rPr lang="en-IN" dirty="0" err="1"/>
              <a:t>int</a:t>
            </a:r>
            <a:r>
              <a:rPr lang="en-IN" dirty="0"/>
              <a:t> r[]: </a:t>
            </a:r>
            <a:r>
              <a:rPr lang="en-IN" dirty="0" err="1"/>
              <a:t>arr</a:t>
            </a:r>
            <a:r>
              <a:rPr lang="en-IN" dirty="0"/>
              <a:t>)</a:t>
            </a:r>
          </a:p>
          <a:p>
            <a:pPr marL="0" indent="0">
              <a:buNone/>
            </a:pPr>
            <a:r>
              <a:rPr lang="en-IN" dirty="0"/>
              <a:t>        {</a:t>
            </a:r>
          </a:p>
          <a:p>
            <a:pPr marL="0" indent="0">
              <a:buNone/>
            </a:pPr>
            <a:r>
              <a:rPr lang="en-IN" dirty="0"/>
              <a:t>            for(</a:t>
            </a:r>
            <a:r>
              <a:rPr lang="en-IN" dirty="0" err="1"/>
              <a:t>int</a:t>
            </a:r>
            <a:r>
              <a:rPr lang="en-IN" dirty="0"/>
              <a:t> c : r)</a:t>
            </a:r>
          </a:p>
          <a:p>
            <a:pPr marL="0" indent="0">
              <a:buNone/>
            </a:pPr>
            <a:r>
              <a:rPr lang="en-IN" dirty="0"/>
              <a:t>            {</a:t>
            </a:r>
          </a:p>
          <a:p>
            <a:pPr marL="0" indent="0">
              <a:buNone/>
            </a:pPr>
            <a:r>
              <a:rPr lang="en-IN" dirty="0"/>
              <a:t>                </a:t>
            </a:r>
            <a:r>
              <a:rPr lang="en-IN" dirty="0" err="1"/>
              <a:t>System.out.print</a:t>
            </a:r>
            <a:r>
              <a:rPr lang="en-IN" dirty="0"/>
              <a:t>(c);</a:t>
            </a:r>
          </a:p>
          <a:p>
            <a:pPr marL="0" indent="0">
              <a:buNone/>
            </a:pPr>
            <a:r>
              <a:rPr lang="en-IN" dirty="0"/>
              <a:t>            }</a:t>
            </a:r>
          </a:p>
          <a:p>
            <a:pPr marL="0" indent="0">
              <a:buNone/>
            </a:pPr>
            <a:r>
              <a:rPr lang="en-IN" dirty="0"/>
              <a:t>            </a:t>
            </a:r>
            <a:r>
              <a:rPr lang="en-IN" dirty="0" err="1"/>
              <a:t>System.out.println</a:t>
            </a:r>
            <a:r>
              <a:rPr lang="en-IN" dirty="0"/>
              <a:t>();</a:t>
            </a:r>
          </a:p>
          <a:p>
            <a:pPr marL="0" indent="0">
              <a:buNone/>
            </a:pPr>
            <a:r>
              <a:rPr lang="en-IN" dirty="0"/>
              <a:t>        }</a:t>
            </a:r>
          </a:p>
          <a:p>
            <a:pPr marL="0" indent="0">
              <a:buNone/>
            </a:pPr>
            <a:r>
              <a:rPr lang="en-IN" dirty="0"/>
              <a:t>    }</a:t>
            </a:r>
          </a:p>
          <a:p>
            <a:pPr marL="0" indent="0">
              <a:buNone/>
            </a:pPr>
            <a:r>
              <a:rPr lang="en-IN" dirty="0"/>
              <a:t> }</a:t>
            </a:r>
          </a:p>
          <a:p>
            <a:endParaRPr lang="en-IN" dirty="0"/>
          </a:p>
        </p:txBody>
      </p:sp>
    </p:spTree>
    <p:extLst>
      <p:ext uri="{BB962C8B-B14F-4D97-AF65-F5344CB8AC3E}">
        <p14:creationId xmlns:p14="http://schemas.microsoft.com/office/powerpoint/2010/main" val="1460776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Jagged Array</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r>
              <a:rPr lang="en-US" dirty="0"/>
              <a:t>A </a:t>
            </a:r>
            <a:r>
              <a:rPr lang="en-US" b="1" dirty="0"/>
              <a:t>jagged array</a:t>
            </a:r>
            <a:r>
              <a:rPr lang="en-US" dirty="0"/>
              <a:t> in Java is a 2D array where the rows can have different lengths. Unlike a regular 2D array, where all rows have the same number of columns, a jagged array allows each row to have a variable number of elements</a:t>
            </a:r>
            <a:r>
              <a:rPr lang="en-US" dirty="0" smtClean="0"/>
              <a:t>.</a:t>
            </a:r>
          </a:p>
          <a:p>
            <a:r>
              <a:rPr lang="en-US" dirty="0"/>
              <a:t>Following is the declaration of jagged array containing 4 elements each of which is a 1D array of integers -</a:t>
            </a:r>
          </a:p>
          <a:p>
            <a:r>
              <a:rPr lang="en-US" dirty="0" err="1"/>
              <a:t>Int</a:t>
            </a:r>
            <a:r>
              <a:rPr lang="en-US" dirty="0"/>
              <a:t> </a:t>
            </a:r>
            <a:r>
              <a:rPr lang="en-US" dirty="0" err="1"/>
              <a:t>arr</a:t>
            </a:r>
            <a:r>
              <a:rPr lang="en-US" dirty="0"/>
              <a:t>[ ][ ] = new </a:t>
            </a:r>
            <a:r>
              <a:rPr lang="en-US" dirty="0" err="1"/>
              <a:t>int</a:t>
            </a:r>
            <a:r>
              <a:rPr lang="en-US" dirty="0"/>
              <a:t>[4][ ];  </a:t>
            </a:r>
          </a:p>
          <a:p>
            <a:r>
              <a:rPr lang="en-US" dirty="0" err="1"/>
              <a:t>arr</a:t>
            </a:r>
            <a:r>
              <a:rPr lang="en-US" dirty="0"/>
              <a:t>[0] = new </a:t>
            </a:r>
            <a:r>
              <a:rPr lang="en-US" dirty="0" err="1"/>
              <a:t>int</a:t>
            </a:r>
            <a:r>
              <a:rPr lang="en-US" dirty="0"/>
              <a:t>[3];</a:t>
            </a:r>
          </a:p>
          <a:p>
            <a:r>
              <a:rPr lang="en-US" dirty="0" err="1"/>
              <a:t>arr</a:t>
            </a:r>
            <a:r>
              <a:rPr lang="en-US" dirty="0"/>
              <a:t>[1] = new </a:t>
            </a:r>
            <a:r>
              <a:rPr lang="en-US" dirty="0" err="1"/>
              <a:t>int</a:t>
            </a:r>
            <a:r>
              <a:rPr lang="en-US" dirty="0"/>
              <a:t>[4];</a:t>
            </a:r>
          </a:p>
          <a:p>
            <a:r>
              <a:rPr lang="en-US" dirty="0" err="1"/>
              <a:t>arr</a:t>
            </a:r>
            <a:r>
              <a:rPr lang="en-US" dirty="0"/>
              <a:t>[2] = new </a:t>
            </a:r>
            <a:r>
              <a:rPr lang="en-US" dirty="0" err="1"/>
              <a:t>int</a:t>
            </a:r>
            <a:r>
              <a:rPr lang="en-US" dirty="0"/>
              <a:t>[2];</a:t>
            </a:r>
          </a:p>
          <a:p>
            <a:r>
              <a:rPr lang="en-US" dirty="0" err="1"/>
              <a:t>arr</a:t>
            </a:r>
            <a:r>
              <a:rPr lang="en-US" dirty="0"/>
              <a:t>[3] = new </a:t>
            </a:r>
            <a:r>
              <a:rPr lang="en-US" dirty="0" err="1"/>
              <a:t>int</a:t>
            </a:r>
            <a:r>
              <a:rPr lang="en-US" dirty="0"/>
              <a:t>[1];</a:t>
            </a:r>
            <a:endParaRPr lang="en-IN" dirty="0"/>
          </a:p>
        </p:txBody>
      </p:sp>
    </p:spTree>
    <p:extLst>
      <p:ext uri="{BB962C8B-B14F-4D97-AF65-F5344CB8AC3E}">
        <p14:creationId xmlns:p14="http://schemas.microsoft.com/office/powerpoint/2010/main" val="935947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endParaRPr lang="en-IN" dirty="0" smtClean="0"/>
          </a:p>
          <a:p>
            <a:endParaRPr lang="en-IN" dirty="0"/>
          </a:p>
          <a:p>
            <a:endParaRPr lang="en-IN" dirty="0" smtClean="0"/>
          </a:p>
          <a:p>
            <a:endParaRPr lang="en-IN" dirty="0"/>
          </a:p>
          <a:p>
            <a:endParaRPr lang="en-US" dirty="0" smtClean="0"/>
          </a:p>
          <a:p>
            <a:endParaRPr lang="en-US" dirty="0"/>
          </a:p>
          <a:p>
            <a:r>
              <a:rPr lang="en-US" dirty="0" smtClean="0"/>
              <a:t>Here </a:t>
            </a:r>
            <a:r>
              <a:rPr lang="en-US" dirty="0"/>
              <a:t>array </a:t>
            </a:r>
            <a:r>
              <a:rPr lang="en-US" dirty="0" err="1"/>
              <a:t>arr</a:t>
            </a:r>
            <a:r>
              <a:rPr lang="en-US" dirty="0"/>
              <a:t> contain 4 elements (row), first element is an array </a:t>
            </a:r>
            <a:r>
              <a:rPr lang="en-US" dirty="0" err="1"/>
              <a:t>arr</a:t>
            </a:r>
            <a:r>
              <a:rPr lang="en-US" dirty="0"/>
              <a:t>[0] containing 3 elements (columns) , second element is an array </a:t>
            </a:r>
            <a:r>
              <a:rPr lang="en-US" dirty="0" err="1"/>
              <a:t>arr</a:t>
            </a:r>
            <a:r>
              <a:rPr lang="en-US" dirty="0"/>
              <a:t>[1] containing 4 elements and so on.</a:t>
            </a:r>
          </a:p>
          <a:p>
            <a:r>
              <a:rPr lang="en-US" dirty="0"/>
              <a:t>We can also declare and </a:t>
            </a:r>
            <a:r>
              <a:rPr lang="en-US" dirty="0" err="1"/>
              <a:t>initialise</a:t>
            </a:r>
            <a:r>
              <a:rPr lang="en-US" dirty="0"/>
              <a:t> a jagged array in single line as follows -</a:t>
            </a:r>
          </a:p>
          <a:p>
            <a:pPr marL="0" indent="0">
              <a:buNone/>
            </a:pPr>
            <a:r>
              <a:rPr lang="en-US" dirty="0"/>
              <a:t>            </a:t>
            </a:r>
            <a:r>
              <a:rPr lang="en-US" dirty="0" err="1"/>
              <a:t>int</a:t>
            </a:r>
            <a:r>
              <a:rPr lang="en-US" dirty="0"/>
              <a:t> </a:t>
            </a:r>
            <a:r>
              <a:rPr lang="en-US" dirty="0" err="1"/>
              <a:t>arr</a:t>
            </a:r>
            <a:r>
              <a:rPr lang="en-US" dirty="0"/>
              <a:t>[][] = {{1,2,3},</a:t>
            </a:r>
          </a:p>
          <a:p>
            <a:pPr marL="0" indent="0">
              <a:buNone/>
            </a:pPr>
            <a:r>
              <a:rPr lang="en-US" dirty="0"/>
              <a:t>                           {4,5,6,7,8},</a:t>
            </a:r>
          </a:p>
          <a:p>
            <a:pPr marL="0" indent="0">
              <a:buNone/>
            </a:pPr>
            <a:r>
              <a:rPr lang="en-US" dirty="0"/>
              <a:t>                           {10,11}};</a:t>
            </a:r>
          </a:p>
          <a:p>
            <a:pPr marL="0" indent="0">
              <a:buNone/>
            </a:pPr>
            <a:endParaRPr lang="en-US" dirty="0"/>
          </a:p>
          <a:p>
            <a:r>
              <a:rPr lang="en-US" dirty="0"/>
              <a:t>A jagged array </a:t>
            </a:r>
            <a:r>
              <a:rPr lang="en-US" dirty="0" err="1"/>
              <a:t>arr</a:t>
            </a:r>
            <a:r>
              <a:rPr lang="en-US" dirty="0"/>
              <a:t> containing 3 rows, 1st row containing 3 elements, 2nd row containing 4 elements, 3rd row containing 2 elements.</a:t>
            </a:r>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685800"/>
            <a:ext cx="3978275"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0776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55000" lnSpcReduction="20000"/>
          </a:bodyPr>
          <a:lstStyle/>
          <a:p>
            <a:r>
              <a:rPr lang="en-IN" dirty="0"/>
              <a:t>Example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a:t>
            </a:r>
            <a:r>
              <a:rPr lang="en-IN" dirty="0" err="1"/>
              <a:t>int</a:t>
            </a:r>
            <a:r>
              <a:rPr lang="en-IN" dirty="0"/>
              <a:t> </a:t>
            </a:r>
            <a:r>
              <a:rPr lang="en-IN" dirty="0" err="1"/>
              <a:t>arr</a:t>
            </a:r>
            <a:r>
              <a:rPr lang="en-IN" dirty="0"/>
              <a:t>[][] = {{1,2,3},</a:t>
            </a:r>
          </a:p>
          <a:p>
            <a:pPr marL="0" indent="0">
              <a:buNone/>
            </a:pPr>
            <a:r>
              <a:rPr lang="en-IN" dirty="0"/>
              <a:t>                   {4,5,6,7,8},</a:t>
            </a:r>
          </a:p>
          <a:p>
            <a:pPr marL="0" indent="0">
              <a:buNone/>
            </a:pPr>
            <a:r>
              <a:rPr lang="en-IN" dirty="0"/>
              <a:t>                   {10,11}};</a:t>
            </a:r>
          </a:p>
          <a:p>
            <a:pPr marL="0" indent="0">
              <a:buNone/>
            </a:pPr>
            <a:r>
              <a:rPr lang="en-IN" dirty="0"/>
              <a:t>        </a:t>
            </a:r>
            <a:r>
              <a:rPr lang="en-IN" dirty="0" err="1"/>
              <a:t>System.out.println</a:t>
            </a:r>
            <a:r>
              <a:rPr lang="en-IN" dirty="0"/>
              <a:t>("Array elements are :-");</a:t>
            </a:r>
          </a:p>
          <a:p>
            <a:pPr marL="0" indent="0">
              <a:buNone/>
            </a:pPr>
            <a:r>
              <a:rPr lang="en-IN" dirty="0"/>
              <a:t>        </a:t>
            </a:r>
          </a:p>
          <a:p>
            <a:pPr marL="0" indent="0">
              <a:buNone/>
            </a:pPr>
            <a:r>
              <a:rPr lang="en-IN" dirty="0"/>
              <a:t>        for(</a:t>
            </a:r>
            <a:r>
              <a:rPr lang="en-IN" dirty="0" err="1"/>
              <a:t>int</a:t>
            </a:r>
            <a:r>
              <a:rPr lang="en-IN" dirty="0"/>
              <a:t> r=0;r&lt; </a:t>
            </a:r>
            <a:r>
              <a:rPr lang="en-IN" dirty="0" err="1"/>
              <a:t>arr.length;r</a:t>
            </a:r>
            <a:r>
              <a:rPr lang="en-IN" dirty="0"/>
              <a:t>++)</a:t>
            </a:r>
          </a:p>
          <a:p>
            <a:pPr marL="0" indent="0">
              <a:buNone/>
            </a:pPr>
            <a:r>
              <a:rPr lang="en-IN" dirty="0"/>
              <a:t>        {</a:t>
            </a:r>
          </a:p>
          <a:p>
            <a:pPr marL="0" indent="0">
              <a:buNone/>
            </a:pPr>
            <a:r>
              <a:rPr lang="en-IN" dirty="0"/>
              <a:t>            for(</a:t>
            </a:r>
            <a:r>
              <a:rPr lang="en-IN" dirty="0" err="1"/>
              <a:t>int</a:t>
            </a:r>
            <a:r>
              <a:rPr lang="en-IN" dirty="0"/>
              <a:t> c=0;c&lt; </a:t>
            </a:r>
            <a:r>
              <a:rPr lang="en-IN" dirty="0" err="1"/>
              <a:t>arr</a:t>
            </a:r>
            <a:r>
              <a:rPr lang="en-IN" dirty="0"/>
              <a:t>[r].</a:t>
            </a:r>
            <a:r>
              <a:rPr lang="en-IN" dirty="0" err="1"/>
              <a:t>length;c</a:t>
            </a:r>
            <a:r>
              <a:rPr lang="en-IN" dirty="0"/>
              <a:t>++)</a:t>
            </a:r>
          </a:p>
          <a:p>
            <a:pPr marL="0" indent="0">
              <a:buNone/>
            </a:pPr>
            <a:r>
              <a:rPr lang="en-IN" dirty="0"/>
              <a:t>            {</a:t>
            </a:r>
          </a:p>
          <a:p>
            <a:pPr marL="0" indent="0">
              <a:buNone/>
            </a:pPr>
            <a:r>
              <a:rPr lang="en-IN" dirty="0"/>
              <a:t>                </a:t>
            </a:r>
            <a:r>
              <a:rPr lang="en-IN" dirty="0" err="1"/>
              <a:t>System.out.print</a:t>
            </a:r>
            <a:r>
              <a:rPr lang="en-IN" dirty="0"/>
              <a:t>(</a:t>
            </a:r>
            <a:r>
              <a:rPr lang="en-IN" dirty="0" err="1"/>
              <a:t>arr</a:t>
            </a:r>
            <a:r>
              <a:rPr lang="en-IN" dirty="0"/>
              <a:t>[r][c]+"  ");</a:t>
            </a:r>
          </a:p>
          <a:p>
            <a:pPr marL="0" indent="0">
              <a:buNone/>
            </a:pPr>
            <a:r>
              <a:rPr lang="en-IN" dirty="0"/>
              <a:t>            }</a:t>
            </a:r>
          </a:p>
          <a:p>
            <a:pPr marL="0" indent="0">
              <a:buNone/>
            </a:pPr>
            <a:r>
              <a:rPr lang="en-IN" dirty="0"/>
              <a:t>            </a:t>
            </a:r>
            <a:r>
              <a:rPr lang="en-IN" dirty="0" err="1"/>
              <a:t>System.out.println</a:t>
            </a:r>
            <a:r>
              <a:rPr lang="en-IN" dirty="0"/>
              <a:t>();</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1113352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IN" b="1" dirty="0" smtClean="0"/>
              <a:t>Practice Problems – </a:t>
            </a:r>
          </a:p>
          <a:p>
            <a:r>
              <a:rPr lang="en-US" dirty="0"/>
              <a:t>Find Maximum and Minimum in an </a:t>
            </a:r>
            <a:r>
              <a:rPr lang="en-US" dirty="0" smtClean="0"/>
              <a:t>Array- </a:t>
            </a:r>
          </a:p>
          <a:p>
            <a:pPr marL="0" indent="0">
              <a:buNone/>
            </a:pPr>
            <a:r>
              <a:rPr lang="en-IN" dirty="0"/>
              <a:t>public class </a:t>
            </a:r>
            <a:r>
              <a:rPr lang="en-IN" dirty="0" err="1"/>
              <a:t>MaxMinArray</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numbers = {12, 4, 19, 33, 7};</a:t>
            </a:r>
          </a:p>
          <a:p>
            <a:pPr marL="0" indent="0">
              <a:buNone/>
            </a:pPr>
            <a:r>
              <a:rPr lang="en-IN" dirty="0"/>
              <a:t>        </a:t>
            </a:r>
            <a:r>
              <a:rPr lang="en-IN" dirty="0" err="1"/>
              <a:t>int</a:t>
            </a:r>
            <a:r>
              <a:rPr lang="en-IN" dirty="0"/>
              <a:t> max = numbers[0];</a:t>
            </a:r>
          </a:p>
          <a:p>
            <a:pPr marL="0" indent="0">
              <a:buNone/>
            </a:pPr>
            <a:r>
              <a:rPr lang="en-IN" dirty="0"/>
              <a:t>        </a:t>
            </a:r>
            <a:r>
              <a:rPr lang="en-IN" dirty="0" err="1"/>
              <a:t>int</a:t>
            </a:r>
            <a:r>
              <a:rPr lang="en-IN" dirty="0"/>
              <a:t> min = numbers[0];</a:t>
            </a:r>
          </a:p>
          <a:p>
            <a:pPr marL="0" indent="0">
              <a:buNone/>
            </a:pPr>
            <a:endParaRPr lang="en-IN" dirty="0"/>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if (</a:t>
            </a:r>
            <a:r>
              <a:rPr lang="en-IN" dirty="0" err="1"/>
              <a:t>num</a:t>
            </a:r>
            <a:r>
              <a:rPr lang="en-IN" dirty="0"/>
              <a:t> &gt; max) max = </a:t>
            </a:r>
            <a:r>
              <a:rPr lang="en-IN" dirty="0" err="1"/>
              <a:t>num</a:t>
            </a:r>
            <a:r>
              <a:rPr lang="en-IN" dirty="0"/>
              <a:t>;</a:t>
            </a:r>
          </a:p>
          <a:p>
            <a:pPr marL="0" indent="0">
              <a:buNone/>
            </a:pPr>
            <a:r>
              <a:rPr lang="en-IN" dirty="0"/>
              <a:t>            if (</a:t>
            </a:r>
            <a:r>
              <a:rPr lang="en-IN" dirty="0" err="1"/>
              <a:t>num</a:t>
            </a:r>
            <a:r>
              <a:rPr lang="en-IN" dirty="0"/>
              <a:t> &lt; min) min = </a:t>
            </a:r>
            <a:r>
              <a:rPr lang="en-IN" dirty="0" err="1"/>
              <a:t>num</a:t>
            </a:r>
            <a:r>
              <a:rPr lang="en-IN" dirty="0"/>
              <a:t>;</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("Maximum: " + max);</a:t>
            </a:r>
          </a:p>
          <a:p>
            <a:pPr marL="0" indent="0">
              <a:buNone/>
            </a:pPr>
            <a:r>
              <a:rPr lang="en-IN" dirty="0"/>
              <a:t>        </a:t>
            </a:r>
            <a:r>
              <a:rPr lang="en-IN" dirty="0" err="1"/>
              <a:t>System.out.println</a:t>
            </a:r>
            <a:r>
              <a:rPr lang="en-IN" dirty="0"/>
              <a:t>("Minimum: " + min);</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297406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7500" lnSpcReduction="20000"/>
          </a:bodyPr>
          <a:lstStyle/>
          <a:p>
            <a:r>
              <a:rPr lang="en-US" dirty="0"/>
              <a:t>Sum and Average of Array </a:t>
            </a:r>
            <a:r>
              <a:rPr lang="en-US" dirty="0" smtClean="0"/>
              <a:t>Elements – </a:t>
            </a:r>
          </a:p>
          <a:p>
            <a:pPr marL="0" indent="0">
              <a:buNone/>
            </a:pPr>
            <a:r>
              <a:rPr lang="en-IN" dirty="0"/>
              <a:t>public class </a:t>
            </a:r>
            <a:r>
              <a:rPr lang="en-IN" dirty="0" err="1"/>
              <a:t>SumAverage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numbers = {5, 10, 15, 20, 25};</a:t>
            </a:r>
          </a:p>
          <a:p>
            <a:pPr marL="0" indent="0">
              <a:buNone/>
            </a:pPr>
            <a:r>
              <a:rPr lang="en-IN" dirty="0"/>
              <a:t>        </a:t>
            </a:r>
            <a:r>
              <a:rPr lang="en-IN" dirty="0" err="1"/>
              <a:t>int</a:t>
            </a:r>
            <a:r>
              <a:rPr lang="en-IN" dirty="0"/>
              <a:t> sum = 0;</a:t>
            </a:r>
          </a:p>
          <a:p>
            <a:pPr marL="0" indent="0">
              <a:buNone/>
            </a:pPr>
            <a:endParaRPr lang="en-IN" dirty="0"/>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sum += </a:t>
            </a:r>
            <a:r>
              <a:rPr lang="en-IN" dirty="0" err="1"/>
              <a:t>num</a:t>
            </a:r>
            <a:r>
              <a:rPr lang="en-IN" dirty="0"/>
              <a:t>;</a:t>
            </a:r>
          </a:p>
          <a:p>
            <a:pPr marL="0" indent="0">
              <a:buNone/>
            </a:pPr>
            <a:r>
              <a:rPr lang="en-IN" dirty="0"/>
              <a:t>        }</a:t>
            </a:r>
          </a:p>
          <a:p>
            <a:pPr marL="0" indent="0">
              <a:buNone/>
            </a:pPr>
            <a:endParaRPr lang="en-IN" dirty="0"/>
          </a:p>
          <a:p>
            <a:pPr marL="0" indent="0">
              <a:buNone/>
            </a:pPr>
            <a:r>
              <a:rPr lang="en-IN" dirty="0"/>
              <a:t>        double average = (double) sum / </a:t>
            </a:r>
            <a:r>
              <a:rPr lang="en-IN" dirty="0" err="1"/>
              <a:t>numbers.length</a:t>
            </a:r>
            <a:r>
              <a:rPr lang="en-IN" dirty="0"/>
              <a:t>;</a:t>
            </a:r>
          </a:p>
          <a:p>
            <a:pPr marL="0" indent="0">
              <a:buNone/>
            </a:pPr>
            <a:r>
              <a:rPr lang="en-IN" dirty="0"/>
              <a:t>        </a:t>
            </a:r>
            <a:r>
              <a:rPr lang="en-IN" dirty="0" err="1"/>
              <a:t>System.out.println</a:t>
            </a:r>
            <a:r>
              <a:rPr lang="en-IN" dirty="0"/>
              <a:t>("Sum: " + sum);</a:t>
            </a:r>
          </a:p>
          <a:p>
            <a:pPr marL="0" indent="0">
              <a:buNone/>
            </a:pPr>
            <a:r>
              <a:rPr lang="en-IN" dirty="0"/>
              <a:t>        </a:t>
            </a:r>
            <a:r>
              <a:rPr lang="en-IN" dirty="0" err="1"/>
              <a:t>System.out.println</a:t>
            </a:r>
            <a:r>
              <a:rPr lang="en-IN" dirty="0"/>
              <a:t>("Average: " + average);</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153637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55000" lnSpcReduction="20000"/>
          </a:bodyPr>
          <a:lstStyle/>
          <a:p>
            <a:r>
              <a:rPr lang="en-IN" dirty="0"/>
              <a:t>Search an </a:t>
            </a:r>
            <a:r>
              <a:rPr lang="en-IN" dirty="0" smtClean="0"/>
              <a:t>Element – (Linear Search)</a:t>
            </a:r>
          </a:p>
          <a:p>
            <a:pPr marL="0" indent="0">
              <a:buNone/>
            </a:pPr>
            <a:r>
              <a:rPr lang="en-IN" dirty="0"/>
              <a:t>public class </a:t>
            </a:r>
            <a:r>
              <a:rPr lang="en-IN" dirty="0" err="1"/>
              <a:t>SearchArray</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numbers = {3, 8, 15, 6, 11};</a:t>
            </a:r>
          </a:p>
          <a:p>
            <a:pPr marL="0" indent="0">
              <a:buNone/>
            </a:pPr>
            <a:r>
              <a:rPr lang="en-IN" dirty="0"/>
              <a:t>        </a:t>
            </a:r>
            <a:r>
              <a:rPr lang="en-IN" dirty="0" err="1"/>
              <a:t>int</a:t>
            </a:r>
            <a:r>
              <a:rPr lang="en-IN" dirty="0"/>
              <a:t> target = 15;</a:t>
            </a:r>
          </a:p>
          <a:p>
            <a:pPr marL="0" indent="0">
              <a:buNone/>
            </a:pPr>
            <a:r>
              <a:rPr lang="en-IN" dirty="0"/>
              <a:t>        </a:t>
            </a:r>
            <a:r>
              <a:rPr lang="en-IN" dirty="0" err="1"/>
              <a:t>boolean</a:t>
            </a:r>
            <a:r>
              <a:rPr lang="en-IN" dirty="0"/>
              <a:t> found = false;</a:t>
            </a:r>
          </a:p>
          <a:p>
            <a:pPr marL="0" indent="0">
              <a:buNone/>
            </a:pPr>
            <a:endParaRPr lang="en-IN" dirty="0"/>
          </a:p>
          <a:p>
            <a:pPr marL="0" indent="0">
              <a:buNone/>
            </a:pPr>
            <a:r>
              <a:rPr lang="en-IN" dirty="0"/>
              <a:t>        for (</a:t>
            </a:r>
            <a:r>
              <a:rPr lang="en-IN" dirty="0" err="1"/>
              <a:t>int</a:t>
            </a:r>
            <a:r>
              <a:rPr lang="en-IN" dirty="0"/>
              <a:t> i = 0; i &lt; </a:t>
            </a:r>
            <a:r>
              <a:rPr lang="en-IN" dirty="0" err="1"/>
              <a:t>numbers.length</a:t>
            </a:r>
            <a:r>
              <a:rPr lang="en-IN" dirty="0"/>
              <a:t>; i++) {</a:t>
            </a:r>
          </a:p>
          <a:p>
            <a:pPr marL="0" indent="0">
              <a:buNone/>
            </a:pPr>
            <a:r>
              <a:rPr lang="en-IN" dirty="0"/>
              <a:t>            if (numbers[i] == target) {</a:t>
            </a:r>
          </a:p>
          <a:p>
            <a:pPr marL="0" indent="0">
              <a:buNone/>
            </a:pPr>
            <a:r>
              <a:rPr lang="en-IN" dirty="0"/>
              <a:t>                </a:t>
            </a:r>
            <a:r>
              <a:rPr lang="en-IN" dirty="0" err="1"/>
              <a:t>System.out.println</a:t>
            </a:r>
            <a:r>
              <a:rPr lang="en-IN" dirty="0"/>
              <a:t>("Element found at index: " + i);</a:t>
            </a:r>
          </a:p>
          <a:p>
            <a:pPr marL="0" indent="0">
              <a:buNone/>
            </a:pPr>
            <a:r>
              <a:rPr lang="en-IN" dirty="0"/>
              <a:t>                found = true;</a:t>
            </a:r>
          </a:p>
          <a:p>
            <a:pPr marL="0" indent="0">
              <a:buNone/>
            </a:pPr>
            <a:r>
              <a:rPr lang="en-IN" dirty="0"/>
              <a:t>                break;</a:t>
            </a:r>
          </a:p>
          <a:p>
            <a:pPr marL="0" indent="0">
              <a:buNone/>
            </a:pPr>
            <a:r>
              <a:rPr lang="en-IN" dirty="0"/>
              <a:t>            }</a:t>
            </a:r>
          </a:p>
          <a:p>
            <a:pPr marL="0" indent="0">
              <a:buNone/>
            </a:pPr>
            <a:r>
              <a:rPr lang="en-IN" dirty="0"/>
              <a:t>        }</a:t>
            </a:r>
          </a:p>
          <a:p>
            <a:pPr marL="0" indent="0">
              <a:buNone/>
            </a:pPr>
            <a:endParaRPr lang="en-IN" dirty="0"/>
          </a:p>
          <a:p>
            <a:pPr marL="0" indent="0">
              <a:buNone/>
            </a:pPr>
            <a:r>
              <a:rPr lang="en-IN" dirty="0"/>
              <a:t>        if (!found) {</a:t>
            </a:r>
          </a:p>
          <a:p>
            <a:pPr marL="0" indent="0">
              <a:buNone/>
            </a:pPr>
            <a:r>
              <a:rPr lang="en-IN" dirty="0"/>
              <a:t>            </a:t>
            </a:r>
            <a:r>
              <a:rPr lang="en-IN" dirty="0" err="1"/>
              <a:t>System.out.println</a:t>
            </a:r>
            <a:r>
              <a:rPr lang="en-IN" dirty="0"/>
              <a:t>("Element not found");</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153637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IN" dirty="0"/>
              <a:t>Reverse an </a:t>
            </a:r>
            <a:r>
              <a:rPr lang="en-IN" dirty="0" smtClean="0"/>
              <a:t>Array – </a:t>
            </a:r>
          </a:p>
          <a:p>
            <a:pPr marL="0" indent="0">
              <a:buNone/>
            </a:pPr>
            <a:r>
              <a:rPr lang="en-IN" dirty="0"/>
              <a:t>public class </a:t>
            </a:r>
            <a:r>
              <a:rPr lang="en-IN" dirty="0" err="1"/>
              <a:t>ReverseArray</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numbers = {1, 2, 3, 4, 5};</a:t>
            </a:r>
          </a:p>
          <a:p>
            <a:pPr marL="0" indent="0">
              <a:buNone/>
            </a:pPr>
            <a:endParaRPr lang="en-IN" dirty="0"/>
          </a:p>
          <a:p>
            <a:pPr marL="0" indent="0">
              <a:buNone/>
            </a:pPr>
            <a:r>
              <a:rPr lang="en-IN" dirty="0"/>
              <a:t>        </a:t>
            </a:r>
            <a:r>
              <a:rPr lang="en-IN" dirty="0" err="1"/>
              <a:t>System.out.println</a:t>
            </a:r>
            <a:r>
              <a:rPr lang="en-IN" dirty="0"/>
              <a:t>("Original array:");</a:t>
            </a:r>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a:t>
            </a:r>
            <a:r>
              <a:rPr lang="en-IN" dirty="0" err="1"/>
              <a:t>System.out.print</a:t>
            </a:r>
            <a:r>
              <a:rPr lang="en-IN" dirty="0"/>
              <a:t>(</a:t>
            </a:r>
            <a:r>
              <a:rPr lang="en-IN" dirty="0" err="1"/>
              <a:t>num</a:t>
            </a:r>
            <a:r>
              <a:rPr lang="en-IN" dirty="0"/>
              <a:t> + " ");</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a:t>
            </a:r>
            <a:r>
              <a:rPr lang="en-IN" dirty="0" err="1"/>
              <a:t>nReversed</a:t>
            </a:r>
            <a:r>
              <a:rPr lang="en-IN" dirty="0"/>
              <a:t> array:");</a:t>
            </a:r>
          </a:p>
          <a:p>
            <a:pPr marL="0" indent="0">
              <a:buNone/>
            </a:pPr>
            <a:r>
              <a:rPr lang="en-IN" dirty="0"/>
              <a:t>        for (</a:t>
            </a:r>
            <a:r>
              <a:rPr lang="en-IN" dirty="0" err="1"/>
              <a:t>int</a:t>
            </a:r>
            <a:r>
              <a:rPr lang="en-IN" dirty="0"/>
              <a:t> i = </a:t>
            </a:r>
            <a:r>
              <a:rPr lang="en-IN" dirty="0" err="1"/>
              <a:t>numbers.length</a:t>
            </a:r>
            <a:r>
              <a:rPr lang="en-IN" dirty="0"/>
              <a:t> - 1; i &gt;= 0; i--) {</a:t>
            </a:r>
          </a:p>
          <a:p>
            <a:pPr marL="0" indent="0">
              <a:buNone/>
            </a:pPr>
            <a:r>
              <a:rPr lang="en-IN" dirty="0"/>
              <a:t>            </a:t>
            </a:r>
            <a:r>
              <a:rPr lang="en-IN" dirty="0" err="1"/>
              <a:t>System.out.print</a:t>
            </a:r>
            <a:r>
              <a:rPr lang="en-IN" dirty="0"/>
              <a:t>(numbers[i] + " ");</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1536374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US" dirty="0"/>
              <a:t>Sort an Array (Bubble Sort</a:t>
            </a:r>
            <a:r>
              <a:rPr lang="en-US" dirty="0" smtClean="0"/>
              <a:t>) –</a:t>
            </a:r>
          </a:p>
          <a:p>
            <a:r>
              <a:rPr lang="en-US" b="1" dirty="0"/>
              <a:t>Bubble Sort</a:t>
            </a:r>
            <a:r>
              <a:rPr lang="en-US" dirty="0"/>
              <a:t> is a simple sorting algorithm that repeatedly steps through the array, compares adjacent elements, and swaps them if they are in the wrong order. This process is repeated until the array is sorted</a:t>
            </a:r>
            <a:r>
              <a:rPr lang="en-US" dirty="0" smtClean="0"/>
              <a:t>.</a:t>
            </a:r>
          </a:p>
          <a:p>
            <a:r>
              <a:rPr lang="en-US" b="1" dirty="0"/>
              <a:t>Steps of Bubble Sort:</a:t>
            </a:r>
          </a:p>
          <a:p>
            <a:r>
              <a:rPr lang="en-US" dirty="0"/>
              <a:t>Start with the first element of the array.</a:t>
            </a:r>
          </a:p>
          <a:p>
            <a:r>
              <a:rPr lang="en-US" dirty="0"/>
              <a:t>Compare the current element with the next one:</a:t>
            </a:r>
          </a:p>
          <a:p>
            <a:pPr lvl="1"/>
            <a:r>
              <a:rPr lang="en-US" dirty="0"/>
              <a:t>If the current element is greater than the next, swap them.</a:t>
            </a:r>
          </a:p>
          <a:p>
            <a:pPr lvl="1"/>
            <a:r>
              <a:rPr lang="en-US" dirty="0"/>
              <a:t>Otherwise, leave them as is.</a:t>
            </a:r>
          </a:p>
          <a:p>
            <a:r>
              <a:rPr lang="en-US" dirty="0"/>
              <a:t>Move to the next pair of elements and repeat the comparison.</a:t>
            </a:r>
          </a:p>
          <a:p>
            <a:r>
              <a:rPr lang="en-US" dirty="0"/>
              <a:t>Continue until the end of the array, completing one "pass."</a:t>
            </a:r>
          </a:p>
          <a:p>
            <a:r>
              <a:rPr lang="en-US" dirty="0"/>
              <a:t>After each pass, the largest unsorted element "bubbles" to its correct position.</a:t>
            </a:r>
          </a:p>
          <a:p>
            <a:r>
              <a:rPr lang="en-US" dirty="0"/>
              <a:t>Repeat the process for the remaining unsorted portion of the array until no swaps are needed (the array is sorted).</a:t>
            </a:r>
          </a:p>
          <a:p>
            <a:r>
              <a:rPr lang="en-US" dirty="0" smtClean="0"/>
              <a:t> </a:t>
            </a:r>
          </a:p>
          <a:p>
            <a:endParaRPr lang="en-IN" dirty="0"/>
          </a:p>
        </p:txBody>
      </p:sp>
    </p:spTree>
    <p:extLst>
      <p:ext uri="{BB962C8B-B14F-4D97-AF65-F5344CB8AC3E}">
        <p14:creationId xmlns:p14="http://schemas.microsoft.com/office/powerpoint/2010/main" val="11536374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62500" lnSpcReduction="20000"/>
          </a:bodyPr>
          <a:lstStyle/>
          <a:p>
            <a:r>
              <a:rPr lang="en-IN" b="1" dirty="0"/>
              <a:t>Unsorted Array: {5, 3, 8, 6, 2}</a:t>
            </a:r>
          </a:p>
          <a:p>
            <a:r>
              <a:rPr lang="en-IN" b="1" dirty="0"/>
              <a:t>Pass 1:</a:t>
            </a:r>
          </a:p>
          <a:p>
            <a:r>
              <a:rPr lang="en-IN" dirty="0"/>
              <a:t>Compare 5 and 3 → </a:t>
            </a:r>
            <a:r>
              <a:rPr lang="en-IN" b="1" dirty="0"/>
              <a:t>Swap</a:t>
            </a:r>
            <a:r>
              <a:rPr lang="en-IN" dirty="0"/>
              <a:t> → {3, 5, 8, 6, 2}</a:t>
            </a:r>
          </a:p>
          <a:p>
            <a:r>
              <a:rPr lang="en-IN" dirty="0"/>
              <a:t>Compare 5 and 8 → </a:t>
            </a:r>
            <a:r>
              <a:rPr lang="en-IN" b="1" dirty="0"/>
              <a:t>No Swap</a:t>
            </a:r>
            <a:r>
              <a:rPr lang="en-IN" dirty="0"/>
              <a:t> → {3, 5, 8, 6, 2}</a:t>
            </a:r>
          </a:p>
          <a:p>
            <a:r>
              <a:rPr lang="en-IN" dirty="0"/>
              <a:t>Compare 8 and 6 → </a:t>
            </a:r>
            <a:r>
              <a:rPr lang="en-IN" b="1" dirty="0"/>
              <a:t>Swap</a:t>
            </a:r>
            <a:r>
              <a:rPr lang="en-IN" dirty="0"/>
              <a:t> → {3, 5, 6, 8, 2}</a:t>
            </a:r>
          </a:p>
          <a:p>
            <a:r>
              <a:rPr lang="en-IN" dirty="0"/>
              <a:t>Compare 8 and 2 → </a:t>
            </a:r>
            <a:r>
              <a:rPr lang="en-IN" b="1" dirty="0"/>
              <a:t>Swap</a:t>
            </a:r>
            <a:r>
              <a:rPr lang="en-IN" dirty="0"/>
              <a:t> → {3, 5, 6, 2, 8}</a:t>
            </a:r>
          </a:p>
          <a:p>
            <a:r>
              <a:rPr lang="en-IN" b="1" dirty="0"/>
              <a:t>After Pass 1:</a:t>
            </a:r>
            <a:r>
              <a:rPr lang="en-IN" dirty="0"/>
              <a:t> The largest element 8 is in its correct position.</a:t>
            </a:r>
          </a:p>
          <a:p>
            <a:r>
              <a:rPr lang="en-IN" b="1" dirty="0"/>
              <a:t>Pass 2:</a:t>
            </a:r>
          </a:p>
          <a:p>
            <a:r>
              <a:rPr lang="en-IN" dirty="0"/>
              <a:t>Compare 3 and 5 → </a:t>
            </a:r>
            <a:r>
              <a:rPr lang="en-IN" b="1" dirty="0"/>
              <a:t>No Swap</a:t>
            </a:r>
            <a:r>
              <a:rPr lang="en-IN" dirty="0"/>
              <a:t> → {3, 5, 6, 2, 8}</a:t>
            </a:r>
          </a:p>
          <a:p>
            <a:r>
              <a:rPr lang="en-IN" dirty="0"/>
              <a:t>Compare 5 and 6 → </a:t>
            </a:r>
            <a:r>
              <a:rPr lang="en-IN" b="1" dirty="0"/>
              <a:t>No Swap</a:t>
            </a:r>
            <a:r>
              <a:rPr lang="en-IN" dirty="0"/>
              <a:t> → {3, 5, 6, 2, 8}</a:t>
            </a:r>
          </a:p>
          <a:p>
            <a:r>
              <a:rPr lang="en-IN" dirty="0"/>
              <a:t>Compare 6 and 2 → </a:t>
            </a:r>
            <a:r>
              <a:rPr lang="en-IN" b="1" dirty="0"/>
              <a:t>Swap</a:t>
            </a:r>
            <a:r>
              <a:rPr lang="en-IN" dirty="0"/>
              <a:t> → {3, 5, 2, 6, 8}</a:t>
            </a:r>
          </a:p>
          <a:p>
            <a:r>
              <a:rPr lang="en-IN" b="1" dirty="0"/>
              <a:t>After Pass 2:</a:t>
            </a:r>
            <a:r>
              <a:rPr lang="en-IN" dirty="0"/>
              <a:t> The second largest element 6 is in its correct position.</a:t>
            </a:r>
          </a:p>
          <a:p>
            <a:r>
              <a:rPr lang="en-IN" b="1" dirty="0"/>
              <a:t>Pass 3:</a:t>
            </a:r>
          </a:p>
          <a:p>
            <a:r>
              <a:rPr lang="en-IN" dirty="0"/>
              <a:t>Compare 3 and 5 → </a:t>
            </a:r>
            <a:r>
              <a:rPr lang="en-IN" b="1" dirty="0"/>
              <a:t>No Swap</a:t>
            </a:r>
            <a:r>
              <a:rPr lang="en-IN" dirty="0"/>
              <a:t> → {3, 5, 2, 6, 8}</a:t>
            </a:r>
          </a:p>
          <a:p>
            <a:r>
              <a:rPr lang="en-IN" dirty="0"/>
              <a:t>Compare 5 and 2 → </a:t>
            </a:r>
            <a:r>
              <a:rPr lang="en-IN" b="1" dirty="0"/>
              <a:t>Swap</a:t>
            </a:r>
            <a:r>
              <a:rPr lang="en-IN" dirty="0"/>
              <a:t> → {3, 2, 5, 6, 8}</a:t>
            </a:r>
          </a:p>
          <a:p>
            <a:r>
              <a:rPr lang="en-IN" b="1" dirty="0"/>
              <a:t>After Pass 3:</a:t>
            </a:r>
            <a:r>
              <a:rPr lang="en-IN" dirty="0"/>
              <a:t> The third largest element 5 is in its correct position.</a:t>
            </a:r>
          </a:p>
          <a:p>
            <a:r>
              <a:rPr lang="en-IN" b="1" dirty="0"/>
              <a:t>Pass 4:</a:t>
            </a:r>
          </a:p>
          <a:p>
            <a:r>
              <a:rPr lang="en-IN" dirty="0"/>
              <a:t>Compare 3 and 2 → </a:t>
            </a:r>
            <a:r>
              <a:rPr lang="en-IN" b="1" dirty="0"/>
              <a:t>Swap</a:t>
            </a:r>
            <a:r>
              <a:rPr lang="en-IN" dirty="0"/>
              <a:t> → {2, 3, 5, 6, 8}</a:t>
            </a:r>
          </a:p>
          <a:p>
            <a:r>
              <a:rPr lang="en-IN" b="1" dirty="0"/>
              <a:t>After Pass 4:</a:t>
            </a:r>
            <a:r>
              <a:rPr lang="en-IN" dirty="0"/>
              <a:t> The array is fully sorted.</a:t>
            </a:r>
          </a:p>
          <a:p>
            <a:endParaRPr lang="en-IN" dirty="0"/>
          </a:p>
        </p:txBody>
      </p:sp>
    </p:spTree>
    <p:extLst>
      <p:ext uri="{BB962C8B-B14F-4D97-AF65-F5344CB8AC3E}">
        <p14:creationId xmlns:p14="http://schemas.microsoft.com/office/powerpoint/2010/main" val="1153637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32500" lnSpcReduction="20000"/>
          </a:bodyPr>
          <a:lstStyle/>
          <a:p>
            <a:pPr marL="0" indent="0">
              <a:buNone/>
            </a:pPr>
            <a:r>
              <a:rPr lang="en-IN" dirty="0"/>
              <a:t>public class </a:t>
            </a:r>
            <a:r>
              <a:rPr lang="en-IN" dirty="0" err="1"/>
              <a:t>BubbleSortExample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numbers = {5, 3, 8, 6, 2};</a:t>
            </a:r>
          </a:p>
          <a:p>
            <a:pPr marL="0" indent="0">
              <a:buNone/>
            </a:pPr>
            <a:endParaRPr lang="en-IN" dirty="0"/>
          </a:p>
          <a:p>
            <a:pPr marL="0" indent="0">
              <a:buNone/>
            </a:pPr>
            <a:r>
              <a:rPr lang="en-IN" dirty="0"/>
              <a:t>        </a:t>
            </a:r>
            <a:r>
              <a:rPr lang="en-IN" dirty="0" err="1"/>
              <a:t>System.out.println</a:t>
            </a:r>
            <a:r>
              <a:rPr lang="en-IN" dirty="0"/>
              <a:t>("Original Array:");</a:t>
            </a:r>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a:t>
            </a:r>
            <a:r>
              <a:rPr lang="en-IN" dirty="0" err="1"/>
              <a:t>System.out.print</a:t>
            </a:r>
            <a:r>
              <a:rPr lang="en-IN" dirty="0"/>
              <a:t>(</a:t>
            </a:r>
            <a:r>
              <a:rPr lang="en-IN" dirty="0" err="1"/>
              <a:t>num</a:t>
            </a:r>
            <a:r>
              <a:rPr lang="en-IN" dirty="0"/>
              <a:t> + " ");</a:t>
            </a:r>
          </a:p>
          <a:p>
            <a:pPr marL="0" indent="0">
              <a:buNone/>
            </a:pPr>
            <a:r>
              <a:rPr lang="en-IN" dirty="0"/>
              <a:t>        }</a:t>
            </a:r>
          </a:p>
          <a:p>
            <a:pPr marL="0" indent="0">
              <a:buNone/>
            </a:pPr>
            <a:endParaRPr lang="en-IN" dirty="0"/>
          </a:p>
          <a:p>
            <a:pPr marL="0" indent="0">
              <a:buNone/>
            </a:pPr>
            <a:r>
              <a:rPr lang="en-IN" dirty="0"/>
              <a:t>        // Bubble Sort Algorithm</a:t>
            </a:r>
          </a:p>
          <a:p>
            <a:pPr marL="0" indent="0">
              <a:buNone/>
            </a:pPr>
            <a:r>
              <a:rPr lang="en-IN" dirty="0"/>
              <a:t>        for (</a:t>
            </a:r>
            <a:r>
              <a:rPr lang="en-IN" dirty="0" err="1"/>
              <a:t>int</a:t>
            </a:r>
            <a:r>
              <a:rPr lang="en-IN" dirty="0"/>
              <a:t> i = 0; i &lt; </a:t>
            </a:r>
            <a:r>
              <a:rPr lang="en-IN" dirty="0" err="1"/>
              <a:t>numbers.length</a:t>
            </a:r>
            <a:r>
              <a:rPr lang="en-IN" dirty="0"/>
              <a:t> - 1; i++) {</a:t>
            </a:r>
          </a:p>
          <a:p>
            <a:pPr marL="0" indent="0">
              <a:buNone/>
            </a:pPr>
            <a:r>
              <a:rPr lang="en-IN" dirty="0"/>
              <a:t>            </a:t>
            </a:r>
            <a:r>
              <a:rPr lang="en-IN" dirty="0" err="1"/>
              <a:t>boolean</a:t>
            </a:r>
            <a:r>
              <a:rPr lang="en-IN" dirty="0"/>
              <a:t> swapped = false; // Track if any swaps occurred in this pass</a:t>
            </a:r>
          </a:p>
          <a:p>
            <a:pPr marL="0" indent="0">
              <a:buNone/>
            </a:pPr>
            <a:endParaRPr lang="en-IN" dirty="0"/>
          </a:p>
          <a:p>
            <a:pPr marL="0" indent="0">
              <a:buNone/>
            </a:pPr>
            <a:r>
              <a:rPr lang="en-IN" dirty="0"/>
              <a:t>            for (</a:t>
            </a:r>
            <a:r>
              <a:rPr lang="en-IN" dirty="0" err="1"/>
              <a:t>int</a:t>
            </a:r>
            <a:r>
              <a:rPr lang="en-IN" dirty="0"/>
              <a:t> j = 0; j &lt; </a:t>
            </a:r>
            <a:r>
              <a:rPr lang="en-IN" dirty="0" err="1"/>
              <a:t>numbers.length</a:t>
            </a:r>
            <a:r>
              <a:rPr lang="en-IN" dirty="0"/>
              <a:t> - i - 1; j++) {</a:t>
            </a:r>
          </a:p>
          <a:p>
            <a:pPr marL="0" indent="0">
              <a:buNone/>
            </a:pPr>
            <a:r>
              <a:rPr lang="en-IN" dirty="0"/>
              <a:t>                if (numbers[j] &gt; numbers[j + 1]) {</a:t>
            </a:r>
          </a:p>
          <a:p>
            <a:pPr marL="0" indent="0">
              <a:buNone/>
            </a:pPr>
            <a:r>
              <a:rPr lang="en-IN" dirty="0"/>
              <a:t>                    // Swap numbers[j] and numbers[j + 1]</a:t>
            </a:r>
          </a:p>
          <a:p>
            <a:pPr marL="0" indent="0">
              <a:buNone/>
            </a:pPr>
            <a:r>
              <a:rPr lang="en-IN" dirty="0"/>
              <a:t>                    </a:t>
            </a:r>
            <a:r>
              <a:rPr lang="en-IN" dirty="0" err="1"/>
              <a:t>int</a:t>
            </a:r>
            <a:r>
              <a:rPr lang="en-IN" dirty="0"/>
              <a:t> temp = numbers[j];</a:t>
            </a:r>
          </a:p>
          <a:p>
            <a:pPr marL="0" indent="0">
              <a:buNone/>
            </a:pPr>
            <a:r>
              <a:rPr lang="en-IN" dirty="0"/>
              <a:t>                    numbers[j] = numbers[j + 1];</a:t>
            </a:r>
          </a:p>
          <a:p>
            <a:pPr marL="0" indent="0">
              <a:buNone/>
            </a:pPr>
            <a:r>
              <a:rPr lang="en-IN" dirty="0"/>
              <a:t>                    numbers[j + 1] = temp;</a:t>
            </a:r>
          </a:p>
          <a:p>
            <a:pPr marL="0" indent="0">
              <a:buNone/>
            </a:pPr>
            <a:r>
              <a:rPr lang="en-IN" dirty="0"/>
              <a:t>                    swapped = true;</a:t>
            </a:r>
          </a:p>
          <a:p>
            <a:pPr marL="0" indent="0">
              <a:buNone/>
            </a:pPr>
            <a:r>
              <a:rPr lang="en-IN" dirty="0"/>
              <a:t>                }</a:t>
            </a:r>
          </a:p>
          <a:p>
            <a:pPr marL="0" indent="0">
              <a:buNone/>
            </a:pPr>
            <a:r>
              <a:rPr lang="en-IN" dirty="0"/>
              <a:t>            }</a:t>
            </a:r>
          </a:p>
          <a:p>
            <a:pPr marL="0" indent="0">
              <a:buNone/>
            </a:pPr>
            <a:endParaRPr lang="en-IN" dirty="0"/>
          </a:p>
          <a:p>
            <a:pPr marL="0" indent="0">
              <a:buNone/>
            </a:pPr>
            <a:r>
              <a:rPr lang="en-IN" dirty="0"/>
              <a:t>            // If no swaps occurred, the array is already sorted</a:t>
            </a:r>
          </a:p>
          <a:p>
            <a:pPr marL="0" indent="0">
              <a:buNone/>
            </a:pPr>
            <a:r>
              <a:rPr lang="en-IN" dirty="0"/>
              <a:t>            if (!swapped) {</a:t>
            </a:r>
          </a:p>
          <a:p>
            <a:pPr marL="0" indent="0">
              <a:buNone/>
            </a:pPr>
            <a:r>
              <a:rPr lang="en-IN" dirty="0"/>
              <a:t>                break;</a:t>
            </a:r>
          </a:p>
          <a:p>
            <a:pPr marL="0" indent="0">
              <a:buNone/>
            </a:pPr>
            <a:r>
              <a:rPr lang="en-IN" dirty="0"/>
              <a:t>            }</a:t>
            </a:r>
          </a:p>
          <a:p>
            <a:pPr marL="0" indent="0">
              <a:buNone/>
            </a:pPr>
            <a:r>
              <a:rPr lang="en-IN" dirty="0"/>
              <a:t>        }</a:t>
            </a:r>
          </a:p>
          <a:p>
            <a:pPr marL="0" indent="0">
              <a:buNone/>
            </a:pPr>
            <a:endParaRPr lang="en-IN" dirty="0"/>
          </a:p>
          <a:p>
            <a:pPr marL="0" indent="0">
              <a:buNone/>
            </a:pPr>
            <a:r>
              <a:rPr lang="en-IN" dirty="0"/>
              <a:t>        </a:t>
            </a:r>
            <a:r>
              <a:rPr lang="en-IN" dirty="0" err="1"/>
              <a:t>System.out.println</a:t>
            </a:r>
            <a:r>
              <a:rPr lang="en-IN" dirty="0"/>
              <a:t>("\</a:t>
            </a:r>
            <a:r>
              <a:rPr lang="en-IN" dirty="0" err="1"/>
              <a:t>nSorted</a:t>
            </a:r>
            <a:r>
              <a:rPr lang="en-IN" dirty="0"/>
              <a:t> Array:");</a:t>
            </a:r>
          </a:p>
          <a:p>
            <a:pPr marL="0" indent="0">
              <a:buNone/>
            </a:pPr>
            <a:r>
              <a:rPr lang="en-IN" dirty="0"/>
              <a:t>        for (</a:t>
            </a:r>
            <a:r>
              <a:rPr lang="en-IN" dirty="0" err="1"/>
              <a:t>int</a:t>
            </a:r>
            <a:r>
              <a:rPr lang="en-IN" dirty="0"/>
              <a:t> </a:t>
            </a:r>
            <a:r>
              <a:rPr lang="en-IN" dirty="0" err="1"/>
              <a:t>num</a:t>
            </a:r>
            <a:r>
              <a:rPr lang="en-IN" dirty="0"/>
              <a:t> : numbers) {</a:t>
            </a:r>
          </a:p>
          <a:p>
            <a:pPr marL="0" indent="0">
              <a:buNone/>
            </a:pPr>
            <a:r>
              <a:rPr lang="en-IN" dirty="0"/>
              <a:t>            </a:t>
            </a:r>
            <a:r>
              <a:rPr lang="en-IN" dirty="0" err="1"/>
              <a:t>System.out.print</a:t>
            </a:r>
            <a:r>
              <a:rPr lang="en-IN" dirty="0"/>
              <a:t>(</a:t>
            </a:r>
            <a:r>
              <a:rPr lang="en-IN" dirty="0" err="1"/>
              <a:t>num</a:t>
            </a:r>
            <a:r>
              <a:rPr lang="en-IN" dirty="0"/>
              <a:t> + " ");</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153637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92500"/>
          </a:bodyPr>
          <a:lstStyle/>
          <a:p>
            <a:r>
              <a:rPr lang="en-US" b="1" dirty="0"/>
              <a:t>Find the Second Largest Element</a:t>
            </a:r>
          </a:p>
          <a:p>
            <a:r>
              <a:rPr lang="en-US" dirty="0"/>
              <a:t>Initialize two variables:</a:t>
            </a:r>
          </a:p>
          <a:p>
            <a:pPr lvl="1"/>
            <a:r>
              <a:rPr lang="en-US" dirty="0"/>
              <a:t>largest to hold the largest element.</a:t>
            </a:r>
          </a:p>
          <a:p>
            <a:pPr lvl="1"/>
            <a:r>
              <a:rPr lang="en-US" dirty="0" err="1"/>
              <a:t>secondLargest</a:t>
            </a:r>
            <a:r>
              <a:rPr lang="en-US" dirty="0"/>
              <a:t> to hold the second largest element.</a:t>
            </a:r>
          </a:p>
          <a:p>
            <a:r>
              <a:rPr lang="en-US" dirty="0"/>
              <a:t>Traverse the array:</a:t>
            </a:r>
          </a:p>
          <a:p>
            <a:pPr lvl="1"/>
            <a:r>
              <a:rPr lang="en-US" dirty="0"/>
              <a:t>If the current element is greater than largest, update </a:t>
            </a:r>
            <a:r>
              <a:rPr lang="en-US" dirty="0" err="1"/>
              <a:t>secondLargest</a:t>
            </a:r>
            <a:r>
              <a:rPr lang="en-US" dirty="0"/>
              <a:t> to largest and then update </a:t>
            </a:r>
            <a:r>
              <a:rPr lang="en-US" dirty="0" smtClean="0"/>
              <a:t>largest to current element.</a:t>
            </a:r>
            <a:endParaRPr lang="en-US" dirty="0"/>
          </a:p>
          <a:p>
            <a:pPr lvl="1"/>
            <a:r>
              <a:rPr lang="en-US" dirty="0"/>
              <a:t>If the current element is not equal to largest and greater than </a:t>
            </a:r>
            <a:r>
              <a:rPr lang="en-US" dirty="0" err="1"/>
              <a:t>secondLargest</a:t>
            </a:r>
            <a:r>
              <a:rPr lang="en-US" dirty="0"/>
              <a:t>, update </a:t>
            </a:r>
            <a:r>
              <a:rPr lang="en-US" dirty="0" err="1"/>
              <a:t>secondLargest</a:t>
            </a:r>
            <a:r>
              <a:rPr lang="en-US" dirty="0"/>
              <a:t>.</a:t>
            </a:r>
          </a:p>
          <a:p>
            <a:r>
              <a:rPr lang="en-US" dirty="0"/>
              <a:t>At the end of the traversal, </a:t>
            </a:r>
            <a:r>
              <a:rPr lang="en-US" dirty="0" err="1"/>
              <a:t>secondLargest</a:t>
            </a:r>
            <a:r>
              <a:rPr lang="en-US" dirty="0"/>
              <a:t> will contain the second largest value.</a:t>
            </a:r>
          </a:p>
          <a:p>
            <a:endParaRPr lang="en-IN" dirty="0"/>
          </a:p>
        </p:txBody>
      </p:sp>
    </p:spTree>
    <p:extLst>
      <p:ext uri="{BB962C8B-B14F-4D97-AF65-F5344CB8AC3E}">
        <p14:creationId xmlns:p14="http://schemas.microsoft.com/office/powerpoint/2010/main" val="1153637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32500" lnSpcReduction="20000"/>
          </a:bodyPr>
          <a:lstStyle/>
          <a:p>
            <a:pPr marL="0" indent="0">
              <a:buNone/>
            </a:pPr>
            <a:r>
              <a:rPr lang="en-IN" dirty="0"/>
              <a:t>public class </a:t>
            </a:r>
            <a:r>
              <a:rPr lang="en-IN" dirty="0" err="1"/>
              <a:t>SecondLargest</a:t>
            </a:r>
            <a:r>
              <a:rPr lang="en-IN" dirty="0"/>
              <a:t> {</a:t>
            </a:r>
          </a:p>
          <a:p>
            <a:pPr marL="0" indent="0">
              <a:buNone/>
            </a:pPr>
            <a:r>
              <a:rPr lang="en-IN" dirty="0"/>
              <a:t>    public static void main(String[] </a:t>
            </a:r>
            <a:r>
              <a:rPr lang="en-IN" dirty="0" err="1"/>
              <a:t>args</a:t>
            </a:r>
            <a:r>
              <a:rPr lang="en-IN" dirty="0"/>
              <a:t>) {</a:t>
            </a:r>
          </a:p>
          <a:p>
            <a:pPr marL="0" indent="0">
              <a:buNone/>
            </a:pPr>
            <a:r>
              <a:rPr lang="en-IN" dirty="0"/>
              <a:t>        </a:t>
            </a:r>
            <a:r>
              <a:rPr lang="en-IN" dirty="0" err="1"/>
              <a:t>int</a:t>
            </a:r>
            <a:r>
              <a:rPr lang="en-IN" dirty="0"/>
              <a:t>[] numbers = {12, 35, 1, 10, 34, 1};</a:t>
            </a:r>
          </a:p>
          <a:p>
            <a:pPr marL="0" indent="0">
              <a:buNone/>
            </a:pPr>
            <a:endParaRPr lang="en-IN" dirty="0"/>
          </a:p>
          <a:p>
            <a:pPr marL="0" indent="0">
              <a:buNone/>
            </a:pPr>
            <a:r>
              <a:rPr lang="en-IN" dirty="0"/>
              <a:t>        // Edge case: Ensure the array has at least two elements</a:t>
            </a:r>
          </a:p>
          <a:p>
            <a:pPr marL="0" indent="0">
              <a:buNone/>
            </a:pPr>
            <a:r>
              <a:rPr lang="en-IN" dirty="0"/>
              <a:t>        if (</a:t>
            </a:r>
            <a:r>
              <a:rPr lang="en-IN" dirty="0" err="1"/>
              <a:t>numbers.length</a:t>
            </a:r>
            <a:r>
              <a:rPr lang="en-IN" dirty="0"/>
              <a:t> &lt; 2) {</a:t>
            </a:r>
          </a:p>
          <a:p>
            <a:pPr marL="0" indent="0">
              <a:buNone/>
            </a:pPr>
            <a:r>
              <a:rPr lang="en-IN" dirty="0"/>
              <a:t>            </a:t>
            </a:r>
            <a:r>
              <a:rPr lang="en-IN" dirty="0" err="1"/>
              <a:t>System.out.println</a:t>
            </a:r>
            <a:r>
              <a:rPr lang="en-IN" dirty="0"/>
              <a:t>("Array must have at least two distinct elements.");</a:t>
            </a:r>
          </a:p>
          <a:p>
            <a:pPr marL="0" indent="0">
              <a:buNone/>
            </a:pPr>
            <a:r>
              <a:rPr lang="en-IN" dirty="0"/>
              <a:t>            return;</a:t>
            </a:r>
          </a:p>
          <a:p>
            <a:pPr marL="0" indent="0">
              <a:buNone/>
            </a:pPr>
            <a:r>
              <a:rPr lang="en-IN" dirty="0"/>
              <a:t>        }</a:t>
            </a:r>
          </a:p>
          <a:p>
            <a:pPr marL="0" indent="0">
              <a:buNone/>
            </a:pPr>
            <a:endParaRPr lang="en-IN" dirty="0"/>
          </a:p>
          <a:p>
            <a:pPr marL="0" indent="0">
              <a:buNone/>
            </a:pPr>
            <a:r>
              <a:rPr lang="en-IN" dirty="0"/>
              <a:t>        // Initialize variables</a:t>
            </a:r>
          </a:p>
          <a:p>
            <a:pPr marL="0" indent="0">
              <a:buNone/>
            </a:pPr>
            <a:r>
              <a:rPr lang="en-IN" dirty="0"/>
              <a:t>        </a:t>
            </a:r>
            <a:r>
              <a:rPr lang="en-IN" dirty="0" err="1"/>
              <a:t>int</a:t>
            </a:r>
            <a:r>
              <a:rPr lang="en-IN" dirty="0"/>
              <a:t> largest = </a:t>
            </a:r>
            <a:r>
              <a:rPr lang="en-IN" dirty="0" err="1"/>
              <a:t>Integer.MIN_VALUE</a:t>
            </a:r>
            <a:r>
              <a:rPr lang="en-IN" dirty="0"/>
              <a:t>;</a:t>
            </a:r>
          </a:p>
          <a:p>
            <a:pPr marL="0" indent="0">
              <a:buNone/>
            </a:pPr>
            <a:r>
              <a:rPr lang="en-IN" dirty="0"/>
              <a:t>        </a:t>
            </a:r>
            <a:r>
              <a:rPr lang="en-IN" dirty="0" err="1"/>
              <a:t>int</a:t>
            </a:r>
            <a:r>
              <a:rPr lang="en-IN" dirty="0"/>
              <a:t> </a:t>
            </a:r>
            <a:r>
              <a:rPr lang="en-IN" dirty="0" err="1"/>
              <a:t>secondLargest</a:t>
            </a:r>
            <a:r>
              <a:rPr lang="en-IN" dirty="0"/>
              <a:t> = </a:t>
            </a:r>
            <a:r>
              <a:rPr lang="en-IN" dirty="0" err="1"/>
              <a:t>Integer.MIN_VALUE</a:t>
            </a:r>
            <a:r>
              <a:rPr lang="en-IN" dirty="0"/>
              <a:t>;</a:t>
            </a:r>
          </a:p>
          <a:p>
            <a:pPr marL="0" indent="0">
              <a:buNone/>
            </a:pPr>
            <a:endParaRPr lang="en-IN" dirty="0"/>
          </a:p>
          <a:p>
            <a:pPr marL="0" indent="0">
              <a:buNone/>
            </a:pPr>
            <a:r>
              <a:rPr lang="en-IN" dirty="0"/>
              <a:t>        // Traverse the array</a:t>
            </a:r>
          </a:p>
          <a:p>
            <a:pPr marL="0" indent="0">
              <a:buNone/>
            </a:pPr>
            <a:r>
              <a:rPr lang="en-IN" dirty="0"/>
              <a:t>        for (</a:t>
            </a:r>
            <a:r>
              <a:rPr lang="en-IN" dirty="0" err="1"/>
              <a:t>int</a:t>
            </a:r>
            <a:r>
              <a:rPr lang="en-IN" dirty="0"/>
              <a:t> number : numbers) {</a:t>
            </a:r>
          </a:p>
          <a:p>
            <a:pPr marL="0" indent="0">
              <a:buNone/>
            </a:pPr>
            <a:r>
              <a:rPr lang="en-IN" dirty="0"/>
              <a:t>            if (number &gt; largest) {</a:t>
            </a:r>
          </a:p>
          <a:p>
            <a:pPr marL="0" indent="0">
              <a:buNone/>
            </a:pPr>
            <a:r>
              <a:rPr lang="en-IN" dirty="0"/>
              <a:t>                // Update </a:t>
            </a:r>
            <a:r>
              <a:rPr lang="en-IN" dirty="0" err="1"/>
              <a:t>secondLargest</a:t>
            </a:r>
            <a:r>
              <a:rPr lang="en-IN" dirty="0"/>
              <a:t> before updating largest</a:t>
            </a:r>
          </a:p>
          <a:p>
            <a:pPr marL="0" indent="0">
              <a:buNone/>
            </a:pPr>
            <a:r>
              <a:rPr lang="en-IN" dirty="0"/>
              <a:t>                </a:t>
            </a:r>
            <a:r>
              <a:rPr lang="en-IN" dirty="0" err="1"/>
              <a:t>secondLargest</a:t>
            </a:r>
            <a:r>
              <a:rPr lang="en-IN" dirty="0"/>
              <a:t> = largest;</a:t>
            </a:r>
          </a:p>
          <a:p>
            <a:pPr marL="0" indent="0">
              <a:buNone/>
            </a:pPr>
            <a:r>
              <a:rPr lang="en-IN" dirty="0"/>
              <a:t>                largest = number;</a:t>
            </a:r>
          </a:p>
          <a:p>
            <a:pPr marL="0" indent="0">
              <a:buNone/>
            </a:pPr>
            <a:r>
              <a:rPr lang="en-IN" dirty="0"/>
              <a:t>            } else if (number &gt; </a:t>
            </a:r>
            <a:r>
              <a:rPr lang="en-IN" dirty="0" err="1"/>
              <a:t>secondLargest</a:t>
            </a:r>
            <a:r>
              <a:rPr lang="en-IN" dirty="0"/>
              <a:t> &amp;&amp; number != largest) {</a:t>
            </a:r>
          </a:p>
          <a:p>
            <a:pPr marL="0" indent="0">
              <a:buNone/>
            </a:pPr>
            <a:r>
              <a:rPr lang="en-IN" dirty="0"/>
              <a:t>                // Update </a:t>
            </a:r>
            <a:r>
              <a:rPr lang="en-IN" dirty="0" err="1"/>
              <a:t>secondLargest</a:t>
            </a:r>
            <a:r>
              <a:rPr lang="en-IN" dirty="0"/>
              <a:t> if number is smaller than largest but greater than </a:t>
            </a:r>
            <a:r>
              <a:rPr lang="en-IN" dirty="0" err="1"/>
              <a:t>secondLargest</a:t>
            </a:r>
            <a:endParaRPr lang="en-IN" dirty="0"/>
          </a:p>
          <a:p>
            <a:pPr marL="0" indent="0">
              <a:buNone/>
            </a:pPr>
            <a:r>
              <a:rPr lang="en-IN" dirty="0"/>
              <a:t>                </a:t>
            </a:r>
            <a:r>
              <a:rPr lang="en-IN" dirty="0" err="1"/>
              <a:t>secondLargest</a:t>
            </a:r>
            <a:r>
              <a:rPr lang="en-IN" dirty="0"/>
              <a:t> = number;</a:t>
            </a:r>
          </a:p>
          <a:p>
            <a:pPr marL="0" indent="0">
              <a:buNone/>
            </a:pPr>
            <a:r>
              <a:rPr lang="en-IN" dirty="0"/>
              <a:t>            }</a:t>
            </a:r>
          </a:p>
          <a:p>
            <a:pPr marL="0" indent="0">
              <a:buNone/>
            </a:pPr>
            <a:r>
              <a:rPr lang="en-IN" dirty="0"/>
              <a:t>        }</a:t>
            </a:r>
          </a:p>
          <a:p>
            <a:pPr marL="0" indent="0">
              <a:buNone/>
            </a:pPr>
            <a:endParaRPr lang="en-IN" dirty="0"/>
          </a:p>
          <a:p>
            <a:pPr marL="0" indent="0">
              <a:buNone/>
            </a:pPr>
            <a:r>
              <a:rPr lang="en-IN" dirty="0"/>
              <a:t>        // Check if </a:t>
            </a:r>
            <a:r>
              <a:rPr lang="en-IN" dirty="0" err="1"/>
              <a:t>secondLargest</a:t>
            </a:r>
            <a:r>
              <a:rPr lang="en-IN" dirty="0"/>
              <a:t> was updated</a:t>
            </a:r>
          </a:p>
          <a:p>
            <a:pPr marL="0" indent="0">
              <a:buNone/>
            </a:pPr>
            <a:r>
              <a:rPr lang="en-IN" dirty="0"/>
              <a:t>        if (</a:t>
            </a:r>
            <a:r>
              <a:rPr lang="en-IN" dirty="0" err="1"/>
              <a:t>secondLargest</a:t>
            </a:r>
            <a:r>
              <a:rPr lang="en-IN" dirty="0"/>
              <a:t> == </a:t>
            </a:r>
            <a:r>
              <a:rPr lang="en-IN" dirty="0" err="1"/>
              <a:t>Integer.MIN_VALUE</a:t>
            </a:r>
            <a:r>
              <a:rPr lang="en-IN" dirty="0"/>
              <a:t>) {</a:t>
            </a:r>
          </a:p>
          <a:p>
            <a:pPr marL="0" indent="0">
              <a:buNone/>
            </a:pPr>
            <a:r>
              <a:rPr lang="en-IN" dirty="0"/>
              <a:t>            </a:t>
            </a:r>
            <a:r>
              <a:rPr lang="en-IN" dirty="0" err="1"/>
              <a:t>System.out.println</a:t>
            </a:r>
            <a:r>
              <a:rPr lang="en-IN" dirty="0"/>
              <a:t>("No second largest element found (all elements are equal).");</a:t>
            </a:r>
          </a:p>
          <a:p>
            <a:pPr marL="0" indent="0">
              <a:buNone/>
            </a:pPr>
            <a:r>
              <a:rPr lang="en-IN" dirty="0"/>
              <a:t>        } else {</a:t>
            </a:r>
          </a:p>
          <a:p>
            <a:pPr marL="0" indent="0">
              <a:buNone/>
            </a:pPr>
            <a:r>
              <a:rPr lang="en-IN" dirty="0"/>
              <a:t>            </a:t>
            </a:r>
            <a:r>
              <a:rPr lang="en-IN" dirty="0" err="1"/>
              <a:t>System.out.println</a:t>
            </a:r>
            <a:r>
              <a:rPr lang="en-IN" dirty="0"/>
              <a:t>("The second largest element is: " + </a:t>
            </a:r>
            <a:r>
              <a:rPr lang="en-IN" dirty="0" err="1"/>
              <a:t>secondLargest</a:t>
            </a:r>
            <a:r>
              <a:rPr lang="en-IN" dirty="0"/>
              <a:t>);</a:t>
            </a:r>
          </a:p>
          <a:p>
            <a:pPr marL="0" indent="0">
              <a:buNone/>
            </a:pPr>
            <a:r>
              <a:rPr lang="en-IN" dirty="0"/>
              <a:t>        }</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1536374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70000" lnSpcReduction="20000"/>
          </a:bodyPr>
          <a:lstStyle/>
          <a:p>
            <a:r>
              <a:rPr lang="en-IN" b="1" dirty="0" smtClean="0"/>
              <a:t>Binary Search – </a:t>
            </a:r>
          </a:p>
          <a:p>
            <a:r>
              <a:rPr lang="en-US" b="1" dirty="0"/>
              <a:t>Binary Search</a:t>
            </a:r>
            <a:r>
              <a:rPr lang="en-US" dirty="0"/>
              <a:t> is an efficient algorithm for finding an element in a </a:t>
            </a:r>
            <a:r>
              <a:rPr lang="en-US" b="1" dirty="0"/>
              <a:t>sorted array</a:t>
            </a:r>
            <a:r>
              <a:rPr lang="en-US" dirty="0"/>
              <a:t>. The main idea is to repeatedly divide the search interval in half:</a:t>
            </a:r>
          </a:p>
          <a:p>
            <a:r>
              <a:rPr lang="en-US" b="1" dirty="0"/>
              <a:t>Initial Step:</a:t>
            </a:r>
            <a:r>
              <a:rPr lang="en-US" dirty="0"/>
              <a:t> Start with the middle element.</a:t>
            </a:r>
          </a:p>
          <a:p>
            <a:r>
              <a:rPr lang="en-US" b="1" dirty="0"/>
              <a:t>Comparison:</a:t>
            </a:r>
            <a:endParaRPr lang="en-US" dirty="0"/>
          </a:p>
          <a:p>
            <a:pPr lvl="1"/>
            <a:r>
              <a:rPr lang="en-US" dirty="0"/>
              <a:t>If the middle element is the target, return its index.</a:t>
            </a:r>
          </a:p>
          <a:p>
            <a:pPr lvl="1"/>
            <a:r>
              <a:rPr lang="en-US" dirty="0"/>
              <a:t>If the target is smaller than the middle element, the target must be in the left half of the array, so update the right pointer to be the element just before the middle.</a:t>
            </a:r>
          </a:p>
          <a:p>
            <a:pPr lvl="1"/>
            <a:r>
              <a:rPr lang="en-US" dirty="0"/>
              <a:t>If the target is larger than the middle element, the target must be in the right half of the array, so update the left pointer to be the element just after the middle.</a:t>
            </a:r>
          </a:p>
          <a:p>
            <a:r>
              <a:rPr lang="en-US" dirty="0"/>
              <a:t>Repeat the process until the left pointer surpasses the right pointer, which means the element is not present in the array.</a:t>
            </a:r>
          </a:p>
          <a:p>
            <a:r>
              <a:rPr lang="en-US" b="1" dirty="0"/>
              <a:t>Conditions for Binary Search:</a:t>
            </a:r>
          </a:p>
          <a:p>
            <a:r>
              <a:rPr lang="en-US" dirty="0"/>
              <a:t>The array </a:t>
            </a:r>
            <a:r>
              <a:rPr lang="en-US" b="1" dirty="0"/>
              <a:t>must be sorted</a:t>
            </a:r>
            <a:r>
              <a:rPr lang="en-US" dirty="0"/>
              <a:t>.</a:t>
            </a:r>
          </a:p>
          <a:p>
            <a:r>
              <a:rPr lang="en-US" dirty="0"/>
              <a:t>It works on both ascending and descending sorted arrays, but you need to handle the comparison conditions appropriately.</a:t>
            </a:r>
          </a:p>
          <a:p>
            <a:endParaRPr lang="en-IN" dirty="0"/>
          </a:p>
        </p:txBody>
      </p:sp>
    </p:spTree>
    <p:extLst>
      <p:ext uri="{BB962C8B-B14F-4D97-AF65-F5344CB8AC3E}">
        <p14:creationId xmlns:p14="http://schemas.microsoft.com/office/powerpoint/2010/main" val="3785130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fontScale="25000" lnSpcReduction="20000"/>
          </a:bodyPr>
          <a:lstStyle/>
          <a:p>
            <a:pPr marL="0" indent="0">
              <a:buNone/>
            </a:pPr>
            <a:r>
              <a:rPr lang="en-US" dirty="0"/>
              <a:t>public class </a:t>
            </a:r>
            <a:r>
              <a:rPr lang="en-US" dirty="0" err="1"/>
              <a:t>BinarySearchWithoutFunction</a:t>
            </a:r>
            <a:r>
              <a:rPr lang="en-US" dirty="0"/>
              <a:t> {</a:t>
            </a:r>
          </a:p>
          <a:p>
            <a:pPr marL="0" indent="0">
              <a:buNone/>
            </a:pPr>
            <a:r>
              <a:rPr lang="en-US" dirty="0"/>
              <a:t>    public static void main(String[] </a:t>
            </a:r>
            <a:r>
              <a:rPr lang="en-US" dirty="0" err="1"/>
              <a:t>args</a:t>
            </a:r>
            <a:r>
              <a:rPr lang="en-US" dirty="0"/>
              <a:t>) {</a:t>
            </a:r>
          </a:p>
          <a:p>
            <a:pPr marL="0" indent="0">
              <a:buNone/>
            </a:pPr>
            <a:r>
              <a:rPr lang="en-US" dirty="0"/>
              <a:t>        // Sorted array</a:t>
            </a:r>
          </a:p>
          <a:p>
            <a:pPr marL="0" indent="0">
              <a:buNone/>
            </a:pPr>
            <a:r>
              <a:rPr lang="en-US" dirty="0"/>
              <a:t>        </a:t>
            </a:r>
            <a:r>
              <a:rPr lang="en-US" dirty="0" err="1"/>
              <a:t>int</a:t>
            </a:r>
            <a:r>
              <a:rPr lang="en-US" dirty="0"/>
              <a:t>[] numbers = {1, 3, 5, 7, 9, 11, 13, 15, 17, 19};</a:t>
            </a:r>
          </a:p>
          <a:p>
            <a:pPr marL="0" indent="0">
              <a:buNone/>
            </a:pPr>
            <a:endParaRPr lang="en-US" dirty="0"/>
          </a:p>
          <a:p>
            <a:pPr marL="0" indent="0">
              <a:buNone/>
            </a:pPr>
            <a:r>
              <a:rPr lang="en-US" dirty="0"/>
              <a:t>        // Target element to search</a:t>
            </a:r>
          </a:p>
          <a:p>
            <a:pPr marL="0" indent="0">
              <a:buNone/>
            </a:pPr>
            <a:r>
              <a:rPr lang="en-US" dirty="0"/>
              <a:t>        </a:t>
            </a:r>
            <a:r>
              <a:rPr lang="en-US" dirty="0" err="1"/>
              <a:t>int</a:t>
            </a:r>
            <a:r>
              <a:rPr lang="en-US" dirty="0"/>
              <a:t> target = 7;</a:t>
            </a:r>
          </a:p>
          <a:p>
            <a:pPr marL="0" indent="0">
              <a:buNone/>
            </a:pPr>
            <a:endParaRPr lang="en-US" dirty="0"/>
          </a:p>
          <a:p>
            <a:pPr marL="0" indent="0">
              <a:buNone/>
            </a:pPr>
            <a:r>
              <a:rPr lang="en-US" dirty="0"/>
              <a:t>        // Initialize left and right pointers</a:t>
            </a:r>
          </a:p>
          <a:p>
            <a:pPr marL="0" indent="0">
              <a:buNone/>
            </a:pPr>
            <a:r>
              <a:rPr lang="en-US" dirty="0"/>
              <a:t>        </a:t>
            </a:r>
            <a:r>
              <a:rPr lang="en-US" dirty="0" err="1"/>
              <a:t>int</a:t>
            </a:r>
            <a:r>
              <a:rPr lang="en-US" dirty="0"/>
              <a:t> left = 0;</a:t>
            </a:r>
          </a:p>
          <a:p>
            <a:pPr marL="0" indent="0">
              <a:buNone/>
            </a:pPr>
            <a:r>
              <a:rPr lang="en-US" dirty="0"/>
              <a:t>        </a:t>
            </a:r>
            <a:r>
              <a:rPr lang="en-US" dirty="0" err="1"/>
              <a:t>int</a:t>
            </a:r>
            <a:r>
              <a:rPr lang="en-US" dirty="0"/>
              <a:t> right = </a:t>
            </a:r>
            <a:r>
              <a:rPr lang="en-US" dirty="0" err="1"/>
              <a:t>numbers.length</a:t>
            </a:r>
            <a:r>
              <a:rPr lang="en-US" dirty="0"/>
              <a:t> - 1;</a:t>
            </a:r>
          </a:p>
          <a:p>
            <a:pPr marL="0" indent="0">
              <a:buNone/>
            </a:pPr>
            <a:r>
              <a:rPr lang="en-US" dirty="0"/>
              <a:t>        </a:t>
            </a:r>
            <a:r>
              <a:rPr lang="en-US" dirty="0" err="1"/>
              <a:t>int</a:t>
            </a:r>
            <a:r>
              <a:rPr lang="en-US" dirty="0"/>
              <a:t> mid = 0;</a:t>
            </a:r>
          </a:p>
          <a:p>
            <a:pPr marL="0" indent="0">
              <a:buNone/>
            </a:pPr>
            <a:r>
              <a:rPr lang="en-US" dirty="0"/>
              <a:t>        </a:t>
            </a:r>
            <a:r>
              <a:rPr lang="en-US" dirty="0" err="1"/>
              <a:t>boolean</a:t>
            </a:r>
            <a:r>
              <a:rPr lang="en-US" dirty="0"/>
              <a:t> found = false;</a:t>
            </a:r>
          </a:p>
          <a:p>
            <a:pPr marL="0" indent="0">
              <a:buNone/>
            </a:pPr>
            <a:endParaRPr lang="en-US" dirty="0"/>
          </a:p>
          <a:p>
            <a:pPr marL="0" indent="0">
              <a:buNone/>
            </a:pPr>
            <a:r>
              <a:rPr lang="en-US" dirty="0"/>
              <a:t>        // Perform binary search</a:t>
            </a:r>
          </a:p>
          <a:p>
            <a:pPr marL="0" indent="0">
              <a:buNone/>
            </a:pPr>
            <a:r>
              <a:rPr lang="en-US" dirty="0"/>
              <a:t>        while (left &lt;= right) {</a:t>
            </a:r>
          </a:p>
          <a:p>
            <a:pPr marL="0" indent="0">
              <a:buNone/>
            </a:pPr>
            <a:r>
              <a:rPr lang="en-US" dirty="0"/>
              <a:t>            // Find the middle index</a:t>
            </a:r>
          </a:p>
          <a:p>
            <a:pPr marL="0" indent="0">
              <a:buNone/>
            </a:pPr>
            <a:r>
              <a:rPr lang="en-US" dirty="0"/>
              <a:t>            mid = (left + right) / 2;</a:t>
            </a:r>
          </a:p>
          <a:p>
            <a:pPr marL="0" indent="0">
              <a:buNone/>
            </a:pPr>
            <a:endParaRPr lang="en-US" dirty="0"/>
          </a:p>
          <a:p>
            <a:pPr marL="0" indent="0">
              <a:buNone/>
            </a:pPr>
            <a:r>
              <a:rPr lang="en-US" dirty="0"/>
              <a:t>            // If the target is found at mid</a:t>
            </a:r>
          </a:p>
          <a:p>
            <a:pPr marL="0" indent="0">
              <a:buNone/>
            </a:pPr>
            <a:r>
              <a:rPr lang="en-US" dirty="0"/>
              <a:t>            if (numbers[mid] == target) {</a:t>
            </a:r>
          </a:p>
          <a:p>
            <a:pPr marL="0" indent="0">
              <a:buNone/>
            </a:pPr>
            <a:r>
              <a:rPr lang="en-US" dirty="0"/>
              <a:t>                </a:t>
            </a:r>
            <a:r>
              <a:rPr lang="en-US" dirty="0" err="1"/>
              <a:t>System.out.println</a:t>
            </a:r>
            <a:r>
              <a:rPr lang="en-US" dirty="0"/>
              <a:t>("Element " + target + " found at index " + mid);</a:t>
            </a:r>
          </a:p>
          <a:p>
            <a:pPr marL="0" indent="0">
              <a:buNone/>
            </a:pPr>
            <a:r>
              <a:rPr lang="en-US" dirty="0"/>
              <a:t>                found = true;</a:t>
            </a:r>
          </a:p>
          <a:p>
            <a:pPr marL="0" indent="0">
              <a:buNone/>
            </a:pPr>
            <a:r>
              <a:rPr lang="en-US" dirty="0"/>
              <a:t>                break; // Exit the loop if found</a:t>
            </a:r>
          </a:p>
          <a:p>
            <a:pPr marL="0" indent="0">
              <a:buNone/>
            </a:pPr>
            <a:r>
              <a:rPr lang="en-US" dirty="0"/>
              <a:t>            }</a:t>
            </a:r>
          </a:p>
          <a:p>
            <a:pPr marL="0" indent="0">
              <a:buNone/>
            </a:pPr>
            <a:r>
              <a:rPr lang="en-US" dirty="0"/>
              <a:t>            // If target is smaller than mid element, narrow the search to the left half</a:t>
            </a:r>
          </a:p>
          <a:p>
            <a:pPr marL="0" indent="0">
              <a:buNone/>
            </a:pPr>
            <a:r>
              <a:rPr lang="en-US" dirty="0"/>
              <a:t>            else if (numbers[mid] &gt; target) {</a:t>
            </a:r>
          </a:p>
          <a:p>
            <a:pPr marL="0" indent="0">
              <a:buNone/>
            </a:pPr>
            <a:r>
              <a:rPr lang="en-US" dirty="0"/>
              <a:t>                right = mid - 1;</a:t>
            </a:r>
          </a:p>
          <a:p>
            <a:pPr marL="0" indent="0">
              <a:buNone/>
            </a:pPr>
            <a:r>
              <a:rPr lang="en-US" dirty="0"/>
              <a:t>            }</a:t>
            </a:r>
          </a:p>
          <a:p>
            <a:pPr marL="0" indent="0">
              <a:buNone/>
            </a:pPr>
            <a:r>
              <a:rPr lang="en-US" dirty="0"/>
              <a:t>            // If target is larger than mid element, narrow the search to the right half</a:t>
            </a:r>
          </a:p>
          <a:p>
            <a:pPr marL="0" indent="0">
              <a:buNone/>
            </a:pPr>
            <a:r>
              <a:rPr lang="en-US" dirty="0"/>
              <a:t>            else {</a:t>
            </a:r>
          </a:p>
          <a:p>
            <a:pPr marL="0" indent="0">
              <a:buNone/>
            </a:pPr>
            <a:r>
              <a:rPr lang="en-US" dirty="0"/>
              <a:t>                left = mid + 1;</a:t>
            </a:r>
          </a:p>
          <a:p>
            <a:pPr marL="0" indent="0">
              <a:buNone/>
            </a:pPr>
            <a:r>
              <a:rPr lang="en-US" dirty="0"/>
              <a:t>            }</a:t>
            </a:r>
          </a:p>
          <a:p>
            <a:pPr marL="0" indent="0">
              <a:buNone/>
            </a:pPr>
            <a:r>
              <a:rPr lang="en-US" dirty="0"/>
              <a:t>        }</a:t>
            </a:r>
          </a:p>
          <a:p>
            <a:pPr marL="0" indent="0">
              <a:buNone/>
            </a:pPr>
            <a:endParaRPr lang="en-US" dirty="0"/>
          </a:p>
          <a:p>
            <a:pPr marL="0" indent="0">
              <a:buNone/>
            </a:pPr>
            <a:r>
              <a:rPr lang="en-US" dirty="0"/>
              <a:t>        // If element is not found</a:t>
            </a:r>
          </a:p>
          <a:p>
            <a:pPr marL="0" indent="0">
              <a:buNone/>
            </a:pPr>
            <a:r>
              <a:rPr lang="en-US" dirty="0"/>
              <a:t>        if (!found) {</a:t>
            </a:r>
          </a:p>
          <a:p>
            <a:pPr marL="0" indent="0">
              <a:buNone/>
            </a:pPr>
            <a:r>
              <a:rPr lang="en-US" dirty="0"/>
              <a:t>            </a:t>
            </a:r>
            <a:r>
              <a:rPr lang="en-US" dirty="0" err="1"/>
              <a:t>System.out.println</a:t>
            </a:r>
            <a:r>
              <a:rPr lang="en-US" dirty="0"/>
              <a:t>("Element " + target + " not found in the array.");</a:t>
            </a:r>
          </a:p>
          <a:p>
            <a:pPr marL="0" indent="0">
              <a:buNone/>
            </a:pPr>
            <a:r>
              <a:rPr lang="en-US" dirty="0"/>
              <a:t>        }</a:t>
            </a:r>
          </a:p>
          <a:p>
            <a:pPr marL="0" indent="0">
              <a:buNone/>
            </a:pPr>
            <a:r>
              <a:rPr lang="en-US" dirty="0"/>
              <a:t>    }</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1819931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867400"/>
          </a:xfrm>
        </p:spPr>
        <p:txBody>
          <a:bodyPr>
            <a:normAutofit/>
          </a:bodyPr>
          <a:lstStyle/>
          <a:p>
            <a:pPr marL="0" indent="0">
              <a:buNone/>
            </a:pPr>
            <a:endParaRPr lang="en-IN" dirty="0"/>
          </a:p>
        </p:txBody>
      </p:sp>
    </p:spTree>
    <p:extLst>
      <p:ext uri="{BB962C8B-B14F-4D97-AF65-F5344CB8AC3E}">
        <p14:creationId xmlns:p14="http://schemas.microsoft.com/office/powerpoint/2010/main" val="1819931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4181</Words>
  <Application>Microsoft Office PowerPoint</Application>
  <PresentationFormat>On-screen Show (4:3)</PresentationFormat>
  <Paragraphs>516</Paragraphs>
  <Slides>31</Slides>
  <Notes>4</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Working with Arrays</vt:lpstr>
      <vt:lpstr>PowerPoint Presentation</vt:lpstr>
      <vt:lpstr>Types of array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2 - Multidimensional Array - </vt:lpstr>
      <vt:lpstr>PowerPoint Presentation</vt:lpstr>
      <vt:lpstr>PowerPoint Presentation</vt:lpstr>
      <vt:lpstr>PowerPoint Presentation</vt:lpstr>
      <vt:lpstr>Jagged Array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Arrays</dc:title>
  <dc:creator/>
  <cp:lastModifiedBy>Rohit Kamboj</cp:lastModifiedBy>
  <cp:revision>81</cp:revision>
  <dcterms:created xsi:type="dcterms:W3CDTF">2006-08-16T00:00:00Z</dcterms:created>
  <dcterms:modified xsi:type="dcterms:W3CDTF">2024-12-12T07:23:38Z</dcterms:modified>
</cp:coreProperties>
</file>