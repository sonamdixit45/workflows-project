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351" autoAdjust="0"/>
  </p:normalViewPr>
  <p:slideViewPr>
    <p:cSldViewPr>
      <p:cViewPr varScale="1">
        <p:scale>
          <a:sx n="78" d="100"/>
          <a:sy n="78" d="100"/>
        </p:scale>
        <p:origin x="-157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0AB0E0-C9E8-45D8-B638-396FD3114126}" type="datetimeFigureOut">
              <a:rPr lang="en-IN" smtClean="0"/>
              <a:t>10-02-2025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8E5F91-DFF6-4752-A8FE-4848D251C0AD}" type="slidenum">
              <a:rPr lang="en-IN" smtClean="0"/>
              <a:t>‹#›</a:t>
            </a:fld>
            <a:endParaRPr lang="en-IN"/>
          </a:p>
        </p:txBody>
      </p:sp>
    </p:spTree>
    <p:extLst>
      <p:ext uri="{BB962C8B-B14F-4D97-AF65-F5344CB8AC3E}">
        <p14:creationId xmlns:p14="http://schemas.microsoft.com/office/powerpoint/2010/main" val="4250687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Output -</a:t>
            </a:r>
          </a:p>
          <a:p>
            <a:r>
              <a:rPr lang="en-US" dirty="0" smtClean="0"/>
              <a:t>-1  -1  -1</a:t>
            </a:r>
          </a:p>
          <a:p>
            <a:r>
              <a:rPr lang="en-US" dirty="0" smtClean="0"/>
              <a:t>Divide by zero Arithmetic Exception</a:t>
            </a:r>
          </a:p>
          <a:p>
            <a:r>
              <a:rPr lang="en-US" dirty="0" smtClean="0"/>
              <a:t>After catch block</a:t>
            </a:r>
          </a:p>
          <a:p>
            <a:endParaRPr lang="en-US" dirty="0" smtClean="0"/>
          </a:p>
          <a:p>
            <a:r>
              <a:rPr lang="en-US" dirty="0" smtClean="0"/>
              <a:t> </a:t>
            </a:r>
          </a:p>
        </p:txBody>
      </p:sp>
      <p:sp>
        <p:nvSpPr>
          <p:cNvPr id="4" name="Slide Number Placeholder 3"/>
          <p:cNvSpPr>
            <a:spLocks noGrp="1"/>
          </p:cNvSpPr>
          <p:nvPr>
            <p:ph type="sldNum" sz="quarter" idx="10"/>
          </p:nvPr>
        </p:nvSpPr>
        <p:spPr/>
        <p:txBody>
          <a:bodyPr/>
          <a:lstStyle/>
          <a:p>
            <a:fld id="{288E5F91-DFF6-4752-A8FE-4848D251C0AD}" type="slidenum">
              <a:rPr lang="en-IN" smtClean="0"/>
              <a:t>9</a:t>
            </a:fld>
            <a:endParaRPr lang="en-IN"/>
          </a:p>
        </p:txBody>
      </p:sp>
    </p:spTree>
    <p:extLst>
      <p:ext uri="{BB962C8B-B14F-4D97-AF65-F5344CB8AC3E}">
        <p14:creationId xmlns:p14="http://schemas.microsoft.com/office/powerpoint/2010/main" val="933499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IN" dirty="0" smtClean="0"/>
              <a:t>Output -</a:t>
            </a:r>
          </a:p>
          <a:p>
            <a:pPr marL="0" indent="0">
              <a:buNone/>
            </a:pPr>
            <a:r>
              <a:rPr lang="en-IN" dirty="0" smtClean="0"/>
              <a:t>Enter a</a:t>
            </a:r>
          </a:p>
          <a:p>
            <a:pPr marL="0" indent="0">
              <a:buNone/>
            </a:pPr>
            <a:r>
              <a:rPr lang="en-IN" dirty="0" smtClean="0"/>
              <a:t>10</a:t>
            </a:r>
          </a:p>
          <a:p>
            <a:pPr marL="0" indent="0">
              <a:buNone/>
            </a:pPr>
            <a:r>
              <a:rPr lang="en-IN" dirty="0" smtClean="0"/>
              <a:t>Enter b</a:t>
            </a:r>
          </a:p>
          <a:p>
            <a:pPr marL="0" indent="0">
              <a:buNone/>
            </a:pPr>
            <a:r>
              <a:rPr lang="en-IN" dirty="0" smtClean="0"/>
              <a:t>-1</a:t>
            </a:r>
          </a:p>
          <a:p>
            <a:pPr marL="0" indent="0">
              <a:buNone/>
            </a:pPr>
            <a:r>
              <a:rPr lang="en-IN" dirty="0" err="1" smtClean="0"/>
              <a:t>java.lang.RuntimeException</a:t>
            </a:r>
            <a:r>
              <a:rPr lang="en-IN" dirty="0" smtClean="0"/>
              <a:t>: b is wrong</a:t>
            </a:r>
          </a:p>
          <a:p>
            <a:pPr marL="0" indent="0">
              <a:buNone/>
            </a:pPr>
            <a:r>
              <a:rPr lang="en-IN" dirty="0" smtClean="0"/>
              <a:t>-3  -3  -3</a:t>
            </a:r>
          </a:p>
          <a:p>
            <a:endParaRPr lang="en-IN" dirty="0"/>
          </a:p>
        </p:txBody>
      </p:sp>
      <p:sp>
        <p:nvSpPr>
          <p:cNvPr id="4" name="Slide Number Placeholder 3"/>
          <p:cNvSpPr>
            <a:spLocks noGrp="1"/>
          </p:cNvSpPr>
          <p:nvPr>
            <p:ph type="sldNum" sz="quarter" idx="10"/>
          </p:nvPr>
        </p:nvSpPr>
        <p:spPr/>
        <p:txBody>
          <a:bodyPr/>
          <a:lstStyle/>
          <a:p>
            <a:fld id="{288E5F91-DFF6-4752-A8FE-4848D251C0AD}" type="slidenum">
              <a:rPr lang="en-IN" smtClean="0"/>
              <a:t>21</a:t>
            </a:fld>
            <a:endParaRPr lang="en-IN"/>
          </a:p>
        </p:txBody>
      </p:sp>
    </p:spTree>
    <p:extLst>
      <p:ext uri="{BB962C8B-B14F-4D97-AF65-F5344CB8AC3E}">
        <p14:creationId xmlns:p14="http://schemas.microsoft.com/office/powerpoint/2010/main" val="468655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err="1" smtClean="0"/>
              <a:t>java.io.IOException</a:t>
            </a:r>
            <a:r>
              <a:rPr lang="en-US" dirty="0" smtClean="0"/>
              <a:t>: </a:t>
            </a:r>
          </a:p>
          <a:p>
            <a:r>
              <a:rPr lang="en-US" dirty="0" smtClean="0"/>
              <a:t>Roll is wrong </a:t>
            </a:r>
            <a:r>
              <a:rPr lang="en-US" sz="1200" b="0" i="0" kern="1200" dirty="0" smtClean="0">
                <a:solidFill>
                  <a:schemeClr val="tx1"/>
                </a:solidFill>
                <a:effectLst/>
                <a:latin typeface="+mn-lt"/>
                <a:ea typeface="+mn-ea"/>
                <a:cs typeface="+mn-cs"/>
              </a:rPr>
              <a:t>If checked exceptions are not handle then the code will not even compile.</a:t>
            </a:r>
            <a:r>
              <a:rPr lang="en-US" dirty="0" smtClean="0"/>
              <a:t/>
            </a:r>
            <a:br>
              <a:rPr lang="en-US" dirty="0" smtClean="0"/>
            </a:br>
            <a:r>
              <a:rPr lang="en-US" sz="1200" b="0" i="0" kern="1200" dirty="0" smtClean="0">
                <a:solidFill>
                  <a:schemeClr val="tx1"/>
                </a:solidFill>
                <a:effectLst/>
                <a:latin typeface="+mn-lt"/>
                <a:ea typeface="+mn-ea"/>
                <a:cs typeface="+mn-cs"/>
              </a:rPr>
              <a:t>In the above example </a:t>
            </a:r>
            <a:r>
              <a:rPr lang="en-US" sz="1200" b="0" i="0" kern="1200" dirty="0" err="1" smtClean="0">
                <a:solidFill>
                  <a:schemeClr val="tx1"/>
                </a:solidFill>
                <a:effectLst/>
                <a:latin typeface="+mn-lt"/>
                <a:ea typeface="+mn-ea"/>
                <a:cs typeface="+mn-cs"/>
              </a:rPr>
              <a:t>setRoll</a:t>
            </a:r>
            <a:r>
              <a:rPr lang="en-US" sz="1200" b="0" i="0" kern="1200" dirty="0" smtClean="0">
                <a:solidFill>
                  <a:schemeClr val="tx1"/>
                </a:solidFill>
                <a:effectLst/>
                <a:latin typeface="+mn-lt"/>
                <a:ea typeface="+mn-ea"/>
                <a:cs typeface="+mn-cs"/>
              </a:rPr>
              <a:t>() may throw a checked exception (</a:t>
            </a:r>
            <a:r>
              <a:rPr lang="en-US" sz="1200" b="0" i="0" kern="1200" dirty="0" err="1" smtClean="0">
                <a:solidFill>
                  <a:schemeClr val="tx1"/>
                </a:solidFill>
                <a:effectLst/>
                <a:latin typeface="+mn-lt"/>
                <a:ea typeface="+mn-ea"/>
                <a:cs typeface="+mn-cs"/>
              </a:rPr>
              <a:t>IOException</a:t>
            </a:r>
            <a:r>
              <a:rPr lang="en-US" sz="1200" b="0" i="0" kern="1200" dirty="0" smtClean="0">
                <a:solidFill>
                  <a:schemeClr val="tx1"/>
                </a:solidFill>
                <a:effectLst/>
                <a:latin typeface="+mn-lt"/>
                <a:ea typeface="+mn-ea"/>
                <a:cs typeface="+mn-cs"/>
              </a:rPr>
              <a:t>) , so we have to handle this exception in the method where it occur using either throws clauses or using try catch block as well as in the method where we are using this class.</a:t>
            </a:r>
            <a:endParaRPr lang="en-IN" dirty="0"/>
          </a:p>
        </p:txBody>
      </p:sp>
      <p:sp>
        <p:nvSpPr>
          <p:cNvPr id="4" name="Slide Number Placeholder 3"/>
          <p:cNvSpPr>
            <a:spLocks noGrp="1"/>
          </p:cNvSpPr>
          <p:nvPr>
            <p:ph type="sldNum" sz="quarter" idx="10"/>
          </p:nvPr>
        </p:nvSpPr>
        <p:spPr/>
        <p:txBody>
          <a:bodyPr/>
          <a:lstStyle/>
          <a:p>
            <a:fld id="{288E5F91-DFF6-4752-A8FE-4848D251C0AD}" type="slidenum">
              <a:rPr lang="en-IN" smtClean="0"/>
              <a:t>24</a:t>
            </a:fld>
            <a:endParaRPr lang="en-IN"/>
          </a:p>
        </p:txBody>
      </p:sp>
    </p:spTree>
    <p:extLst>
      <p:ext uri="{BB962C8B-B14F-4D97-AF65-F5344CB8AC3E}">
        <p14:creationId xmlns:p14="http://schemas.microsoft.com/office/powerpoint/2010/main" val="1302828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dirty="0" err="1" smtClean="0"/>
              <a:t>setRoll</a:t>
            </a:r>
            <a:r>
              <a:rPr lang="en-US" dirty="0" smtClean="0"/>
              <a:t>(</a:t>
            </a:r>
            <a:r>
              <a:rPr lang="en-US" dirty="0" err="1" smtClean="0"/>
              <a:t>int</a:t>
            </a:r>
            <a:r>
              <a:rPr lang="en-US" dirty="0" smtClean="0"/>
              <a:t> r) method declares that it </a:t>
            </a:r>
            <a:r>
              <a:rPr lang="en-US" b="1" dirty="0" smtClean="0"/>
              <a:t>throws </a:t>
            </a:r>
            <a:r>
              <a:rPr lang="en-US" b="1" dirty="0" err="1" smtClean="0"/>
              <a:t>IOException</a:t>
            </a:r>
            <a:r>
              <a:rPr lang="en-US" b="1" dirty="0" smtClean="0"/>
              <a:t> and </a:t>
            </a:r>
            <a:r>
              <a:rPr lang="en-US" b="1" dirty="0" err="1" smtClean="0"/>
              <a:t>SQLException</a:t>
            </a:r>
            <a:r>
              <a:rPr lang="en-US" dirty="0" err="1" smtClean="0"/>
              <a:t>.If</a:t>
            </a:r>
            <a:r>
              <a:rPr lang="en-US" dirty="0" smtClean="0"/>
              <a:t> r &lt; 0, it explicitly </a:t>
            </a:r>
            <a:r>
              <a:rPr lang="en-US" b="1" dirty="0" smtClean="0"/>
              <a:t>throws an </a:t>
            </a:r>
            <a:r>
              <a:rPr lang="en-US" b="1" dirty="0" err="1" smtClean="0"/>
              <a:t>IOException</a:t>
            </a:r>
            <a:r>
              <a:rPr lang="en-US" dirty="0" err="1" smtClean="0"/>
              <a:t>.If</a:t>
            </a:r>
            <a:r>
              <a:rPr lang="en-US" dirty="0" smtClean="0"/>
              <a:t> r == 0, it </a:t>
            </a:r>
            <a:r>
              <a:rPr lang="en-US" b="1" dirty="0" smtClean="0"/>
              <a:t>throws a </a:t>
            </a:r>
            <a:r>
              <a:rPr lang="en-US" b="1" dirty="0" err="1" smtClean="0"/>
              <a:t>SQLException</a:t>
            </a:r>
            <a:r>
              <a:rPr lang="en-US" dirty="0" err="1" smtClean="0"/>
              <a:t>.Since</a:t>
            </a:r>
            <a:r>
              <a:rPr lang="en-US" dirty="0" smtClean="0"/>
              <a:t> these are checked exceptions, they </a:t>
            </a:r>
            <a:r>
              <a:rPr lang="en-US" b="1" dirty="0" smtClean="0"/>
              <a:t>must be handled in the calling method (main)</a:t>
            </a:r>
            <a:r>
              <a:rPr lang="en-US" dirty="0" smtClean="0"/>
              <a:t> using a try-catch </a:t>
            </a:r>
            <a:r>
              <a:rPr lang="en-US" dirty="0" err="1" smtClean="0"/>
              <a:t>block.The</a:t>
            </a:r>
            <a:r>
              <a:rPr lang="en-US" dirty="0" smtClean="0"/>
              <a:t> method declaration throws </a:t>
            </a:r>
            <a:r>
              <a:rPr lang="en-US" dirty="0" err="1" smtClean="0"/>
              <a:t>IOException</a:t>
            </a:r>
            <a:r>
              <a:rPr lang="en-US" dirty="0" smtClean="0"/>
              <a:t>, </a:t>
            </a:r>
            <a:r>
              <a:rPr lang="en-US" dirty="0" err="1" smtClean="0"/>
              <a:t>SQLException</a:t>
            </a:r>
            <a:r>
              <a:rPr lang="en-US" dirty="0" smtClean="0"/>
              <a:t> informs the caller that these exceptions might occur, allowing the caller to decide how to handle them.</a:t>
            </a:r>
            <a:endParaRPr lang="en-IN" dirty="0"/>
          </a:p>
        </p:txBody>
      </p:sp>
      <p:sp>
        <p:nvSpPr>
          <p:cNvPr id="4" name="Slide Number Placeholder 3"/>
          <p:cNvSpPr>
            <a:spLocks noGrp="1"/>
          </p:cNvSpPr>
          <p:nvPr>
            <p:ph type="sldNum" sz="quarter" idx="10"/>
          </p:nvPr>
        </p:nvSpPr>
        <p:spPr/>
        <p:txBody>
          <a:bodyPr/>
          <a:lstStyle/>
          <a:p>
            <a:fld id="{288E5F91-DFF6-4752-A8FE-4848D251C0AD}" type="slidenum">
              <a:rPr lang="en-IN" smtClean="0"/>
              <a:t>27</a:t>
            </a:fld>
            <a:endParaRPr lang="en-IN"/>
          </a:p>
        </p:txBody>
      </p:sp>
    </p:spTree>
    <p:extLst>
      <p:ext uri="{BB962C8B-B14F-4D97-AF65-F5344CB8AC3E}">
        <p14:creationId xmlns:p14="http://schemas.microsoft.com/office/powerpoint/2010/main" val="2581317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Output – </a:t>
            </a:r>
          </a:p>
          <a:p>
            <a:r>
              <a:rPr lang="en-US" dirty="0" smtClean="0"/>
              <a:t>Outer try block begins</a:t>
            </a:r>
          </a:p>
          <a:p>
            <a:r>
              <a:rPr lang="en-US" dirty="0" smtClean="0"/>
              <a:t>Inner catch: Array index is out of bounds!</a:t>
            </a:r>
          </a:p>
          <a:p>
            <a:r>
              <a:rPr lang="en-US" dirty="0" smtClean="0"/>
              <a:t>Inner catch: Division by zero!</a:t>
            </a:r>
          </a:p>
          <a:p>
            <a:r>
              <a:rPr lang="en-US" dirty="0" smtClean="0"/>
              <a:t>End of outer try block</a:t>
            </a:r>
          </a:p>
          <a:p>
            <a:r>
              <a:rPr lang="en-US" dirty="0" smtClean="0"/>
              <a:t>Program continues...</a:t>
            </a:r>
          </a:p>
          <a:p>
            <a:endParaRPr lang="en-IN" dirty="0"/>
          </a:p>
        </p:txBody>
      </p:sp>
      <p:sp>
        <p:nvSpPr>
          <p:cNvPr id="4" name="Slide Number Placeholder 3"/>
          <p:cNvSpPr>
            <a:spLocks noGrp="1"/>
          </p:cNvSpPr>
          <p:nvPr>
            <p:ph type="sldNum" sz="quarter" idx="10"/>
          </p:nvPr>
        </p:nvSpPr>
        <p:spPr/>
        <p:txBody>
          <a:bodyPr/>
          <a:lstStyle/>
          <a:p>
            <a:fld id="{288E5F91-DFF6-4752-A8FE-4848D251C0AD}" type="slidenum">
              <a:rPr lang="en-IN" smtClean="0"/>
              <a:t>29</a:t>
            </a:fld>
            <a:endParaRPr lang="en-IN"/>
          </a:p>
        </p:txBody>
      </p:sp>
    </p:spTree>
    <p:extLst>
      <p:ext uri="{BB962C8B-B14F-4D97-AF65-F5344CB8AC3E}">
        <p14:creationId xmlns:p14="http://schemas.microsoft.com/office/powerpoint/2010/main" val="2212627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Exception Handling:</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431465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Exception</a:t>
            </a:r>
            <a:endParaRPr lang="en-IN" dirty="0"/>
          </a:p>
        </p:txBody>
      </p:sp>
      <p:sp>
        <p:nvSpPr>
          <p:cNvPr id="3" name="Content Placeholder 2"/>
          <p:cNvSpPr>
            <a:spLocks noGrp="1"/>
          </p:cNvSpPr>
          <p:nvPr>
            <p:ph idx="1"/>
          </p:nvPr>
        </p:nvSpPr>
        <p:spPr/>
        <p:txBody>
          <a:bodyPr>
            <a:normAutofit fontScale="77500" lnSpcReduction="20000"/>
          </a:bodyPr>
          <a:lstStyle/>
          <a:p>
            <a:r>
              <a:rPr lang="en-US" dirty="0"/>
              <a:t>An </a:t>
            </a:r>
            <a:r>
              <a:rPr lang="en-US" b="1" dirty="0"/>
              <a:t>exception</a:t>
            </a:r>
            <a:r>
              <a:rPr lang="en-US" dirty="0"/>
              <a:t> is an abnormal condition that occurs during the execution of a program due to </a:t>
            </a:r>
            <a:r>
              <a:rPr lang="en-US" b="1" dirty="0"/>
              <a:t>runtime errors</a:t>
            </a:r>
            <a:r>
              <a:rPr lang="en-US" dirty="0"/>
              <a:t>. Whenever the </a:t>
            </a:r>
            <a:r>
              <a:rPr lang="en-US" b="1" dirty="0"/>
              <a:t>Java Runtime System</a:t>
            </a:r>
            <a:r>
              <a:rPr lang="en-US" dirty="0"/>
              <a:t> encounters an exceptional condition, it </a:t>
            </a:r>
            <a:r>
              <a:rPr lang="en-US" b="1" dirty="0"/>
              <a:t>creates an exception object</a:t>
            </a:r>
            <a:r>
              <a:rPr lang="en-US" dirty="0"/>
              <a:t> and </a:t>
            </a:r>
            <a:r>
              <a:rPr lang="en-US" b="1" dirty="0"/>
              <a:t>throws</a:t>
            </a:r>
            <a:r>
              <a:rPr lang="en-US" dirty="0"/>
              <a:t> it.</a:t>
            </a:r>
          </a:p>
          <a:p>
            <a:r>
              <a:rPr lang="en-US" dirty="0"/>
              <a:t>If the exception is </a:t>
            </a:r>
            <a:r>
              <a:rPr lang="en-US" b="1" dirty="0"/>
              <a:t>not handled properly</a:t>
            </a:r>
            <a:r>
              <a:rPr lang="en-US" dirty="0"/>
              <a:t>, the program will </a:t>
            </a:r>
            <a:r>
              <a:rPr lang="en-US" b="1" dirty="0"/>
              <a:t>terminate</a:t>
            </a:r>
            <a:r>
              <a:rPr lang="en-US" dirty="0"/>
              <a:t> after displaying an error message. </a:t>
            </a:r>
            <a:endParaRPr lang="en-US" dirty="0" smtClean="0"/>
          </a:p>
          <a:p>
            <a:r>
              <a:rPr lang="en-US" dirty="0" smtClean="0"/>
              <a:t>Exceptions </a:t>
            </a:r>
            <a:r>
              <a:rPr lang="en-US" dirty="0"/>
              <a:t>can be handled in the </a:t>
            </a:r>
            <a:r>
              <a:rPr lang="en-US" b="1" dirty="0"/>
              <a:t>same method</a:t>
            </a:r>
            <a:r>
              <a:rPr lang="en-US" dirty="0"/>
              <a:t> where they arise, or they can be </a:t>
            </a:r>
            <a:r>
              <a:rPr lang="en-US" b="1" dirty="0"/>
              <a:t>propagated</a:t>
            </a:r>
            <a:r>
              <a:rPr lang="en-US" dirty="0"/>
              <a:t> to be handled elsewhere.</a:t>
            </a:r>
          </a:p>
          <a:p>
            <a:r>
              <a:rPr lang="en-US" dirty="0"/>
              <a:t>The process of </a:t>
            </a:r>
            <a:r>
              <a:rPr lang="en-US" b="1" dirty="0"/>
              <a:t>catching and handling exceptions</a:t>
            </a:r>
            <a:r>
              <a:rPr lang="en-US" dirty="0"/>
              <a:t> to maintain normal program flow is known as </a:t>
            </a:r>
            <a:r>
              <a:rPr lang="en-US" b="1" dirty="0"/>
              <a:t>exception handling</a:t>
            </a:r>
            <a:r>
              <a:rPr lang="en-US" dirty="0"/>
              <a:t>.</a:t>
            </a:r>
          </a:p>
          <a:p>
            <a:endParaRPr lang="en-IN" dirty="0"/>
          </a:p>
        </p:txBody>
      </p:sp>
    </p:spTree>
    <p:extLst>
      <p:ext uri="{BB962C8B-B14F-4D97-AF65-F5344CB8AC3E}">
        <p14:creationId xmlns:p14="http://schemas.microsoft.com/office/powerpoint/2010/main" val="1256126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55000" lnSpcReduction="20000"/>
          </a:bodyPr>
          <a:lstStyle/>
          <a:p>
            <a:r>
              <a:rPr lang="en-US" dirty="0"/>
              <a:t>Exception handling in Java is done using five keywords: </a:t>
            </a:r>
            <a:r>
              <a:rPr lang="en-US" b="1" dirty="0"/>
              <a:t>try</a:t>
            </a:r>
            <a:r>
              <a:rPr lang="en-US" dirty="0"/>
              <a:t>, </a:t>
            </a:r>
            <a:r>
              <a:rPr lang="en-US" b="1" dirty="0"/>
              <a:t>catch</a:t>
            </a:r>
            <a:r>
              <a:rPr lang="en-US" dirty="0"/>
              <a:t>, </a:t>
            </a:r>
            <a:r>
              <a:rPr lang="en-US" b="1" dirty="0"/>
              <a:t>throw</a:t>
            </a:r>
            <a:r>
              <a:rPr lang="en-US" dirty="0"/>
              <a:t>, </a:t>
            </a:r>
            <a:r>
              <a:rPr lang="en-US" b="1" dirty="0"/>
              <a:t>throws</a:t>
            </a:r>
            <a:r>
              <a:rPr lang="en-US" dirty="0"/>
              <a:t>, and </a:t>
            </a:r>
            <a:r>
              <a:rPr lang="en-US" b="1" dirty="0"/>
              <a:t>finally</a:t>
            </a:r>
            <a:r>
              <a:rPr lang="en-US" dirty="0"/>
              <a:t>. The process includes the following steps</a:t>
            </a:r>
            <a:r>
              <a:rPr lang="en-US" dirty="0" smtClean="0"/>
              <a:t>:</a:t>
            </a:r>
          </a:p>
          <a:p>
            <a:endParaRPr lang="en-US" dirty="0"/>
          </a:p>
          <a:p>
            <a:r>
              <a:rPr lang="en-US" b="1" dirty="0"/>
              <a:t>Placing Code in try Block:</a:t>
            </a:r>
            <a:endParaRPr lang="en-US" dirty="0"/>
          </a:p>
          <a:p>
            <a:pPr lvl="1"/>
            <a:r>
              <a:rPr lang="en-US" dirty="0"/>
              <a:t>The program code that you want to monitor for exceptions is placed inside a </a:t>
            </a:r>
            <a:r>
              <a:rPr lang="en-US" b="1" dirty="0"/>
              <a:t>try</a:t>
            </a:r>
            <a:r>
              <a:rPr lang="en-US" dirty="0"/>
              <a:t> block.</a:t>
            </a:r>
          </a:p>
          <a:p>
            <a:r>
              <a:rPr lang="en-US" b="1" dirty="0"/>
              <a:t>Catching Exceptions with catch:</a:t>
            </a:r>
            <a:endParaRPr lang="en-US" dirty="0"/>
          </a:p>
          <a:p>
            <a:pPr lvl="1"/>
            <a:r>
              <a:rPr lang="en-US" dirty="0"/>
              <a:t>If an exception occurs inside the try block, it is thrown by the </a:t>
            </a:r>
            <a:r>
              <a:rPr lang="en-US" b="1" dirty="0"/>
              <a:t>Java Runtime System</a:t>
            </a:r>
            <a:r>
              <a:rPr lang="en-US" dirty="0"/>
              <a:t> and caught by a corresponding </a:t>
            </a:r>
            <a:r>
              <a:rPr lang="en-US" b="1" dirty="0"/>
              <a:t>catch</a:t>
            </a:r>
            <a:r>
              <a:rPr lang="en-US" dirty="0"/>
              <a:t> block, where it is processed accordingly.</a:t>
            </a:r>
          </a:p>
          <a:p>
            <a:r>
              <a:rPr lang="en-US" b="1" dirty="0"/>
              <a:t>Throwing Exceptions Manually (throw Keyword):</a:t>
            </a:r>
            <a:endParaRPr lang="en-US" dirty="0"/>
          </a:p>
          <a:p>
            <a:pPr lvl="1"/>
            <a:r>
              <a:rPr lang="en-US" dirty="0"/>
              <a:t>Exceptions that are </a:t>
            </a:r>
            <a:r>
              <a:rPr lang="en-US" b="1" dirty="0"/>
              <a:t>automatically generated by the system</a:t>
            </a:r>
            <a:r>
              <a:rPr lang="en-US" dirty="0"/>
              <a:t> are thrown by the runtime system. However, if you need to </a:t>
            </a:r>
            <a:r>
              <a:rPr lang="en-US" b="1" dirty="0"/>
              <a:t>throw an exception manually</a:t>
            </a:r>
            <a:r>
              <a:rPr lang="en-US" dirty="0"/>
              <a:t>, you can use the </a:t>
            </a:r>
            <a:r>
              <a:rPr lang="en-US" b="1" dirty="0"/>
              <a:t>throw</a:t>
            </a:r>
            <a:r>
              <a:rPr lang="en-US" dirty="0"/>
              <a:t> keyword.</a:t>
            </a:r>
          </a:p>
          <a:p>
            <a:r>
              <a:rPr lang="en-US" b="1" dirty="0"/>
              <a:t>Propagating Exceptions (throws Keyword):</a:t>
            </a:r>
            <a:endParaRPr lang="en-US" dirty="0"/>
          </a:p>
          <a:p>
            <a:pPr lvl="1"/>
            <a:r>
              <a:rPr lang="en-US" dirty="0"/>
              <a:t>If you want a method to pass an exception to the calling method </a:t>
            </a:r>
            <a:r>
              <a:rPr lang="en-US" b="1" dirty="0"/>
              <a:t>instead of handling it inside the method itself</a:t>
            </a:r>
            <a:r>
              <a:rPr lang="en-US" dirty="0"/>
              <a:t>, you can declare it using the </a:t>
            </a:r>
            <a:r>
              <a:rPr lang="en-US" b="1" dirty="0"/>
              <a:t>throws</a:t>
            </a:r>
            <a:r>
              <a:rPr lang="en-US" dirty="0"/>
              <a:t> keyword.</a:t>
            </a:r>
          </a:p>
          <a:p>
            <a:r>
              <a:rPr lang="en-US" b="1" dirty="0"/>
              <a:t>Ensuring Execution (finally Block):</a:t>
            </a:r>
            <a:endParaRPr lang="en-US" dirty="0"/>
          </a:p>
          <a:p>
            <a:pPr lvl="1"/>
            <a:r>
              <a:rPr lang="en-US" dirty="0"/>
              <a:t>If you want certain code to </a:t>
            </a:r>
            <a:r>
              <a:rPr lang="en-US" b="1" dirty="0"/>
              <a:t>execute regardless of whether an exception occurs or not</a:t>
            </a:r>
            <a:r>
              <a:rPr lang="en-US" dirty="0"/>
              <a:t>, you can place it inside the </a:t>
            </a:r>
            <a:r>
              <a:rPr lang="en-US" b="1" dirty="0"/>
              <a:t>finally</a:t>
            </a:r>
            <a:r>
              <a:rPr lang="en-US" dirty="0"/>
              <a:t> block. This is often used for resource cleanup (e.g., closing files, database connections).</a:t>
            </a:r>
          </a:p>
          <a:p>
            <a:endParaRPr lang="en-IN" dirty="0"/>
          </a:p>
        </p:txBody>
      </p:sp>
    </p:spTree>
    <p:extLst>
      <p:ext uri="{BB962C8B-B14F-4D97-AF65-F5344CB8AC3E}">
        <p14:creationId xmlns:p14="http://schemas.microsoft.com/office/powerpoint/2010/main" val="2913260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20000"/>
          </a:bodyPr>
          <a:lstStyle/>
          <a:p>
            <a:r>
              <a:rPr lang="en-US" b="1" dirty="0"/>
              <a:t>General Syntax of Exception Handling in Java:</a:t>
            </a:r>
          </a:p>
          <a:p>
            <a:pPr marL="0" indent="0">
              <a:buNone/>
            </a:pPr>
            <a:r>
              <a:rPr lang="en-US" dirty="0"/>
              <a:t>try {</a:t>
            </a:r>
          </a:p>
          <a:p>
            <a:pPr marL="0" indent="0">
              <a:buNone/>
            </a:pPr>
            <a:r>
              <a:rPr lang="en-US" dirty="0"/>
              <a:t>    // Code that may throw an exception</a:t>
            </a:r>
          </a:p>
          <a:p>
            <a:pPr marL="0" indent="0">
              <a:buNone/>
            </a:pPr>
            <a:r>
              <a:rPr lang="en-US" dirty="0"/>
              <a:t>} </a:t>
            </a:r>
          </a:p>
          <a:p>
            <a:pPr marL="0" indent="0">
              <a:buNone/>
            </a:pPr>
            <a:r>
              <a:rPr lang="en-US" dirty="0"/>
              <a:t>catch (ExceptionType1 ex) {</a:t>
            </a:r>
          </a:p>
          <a:p>
            <a:pPr marL="0" indent="0">
              <a:buNone/>
            </a:pPr>
            <a:r>
              <a:rPr lang="en-US" dirty="0"/>
              <a:t>    // Code to handle the exception</a:t>
            </a:r>
          </a:p>
          <a:p>
            <a:pPr marL="0" indent="0">
              <a:buNone/>
            </a:pPr>
            <a:r>
              <a:rPr lang="en-US" dirty="0"/>
              <a:t>} </a:t>
            </a:r>
          </a:p>
          <a:p>
            <a:pPr marL="0" indent="0">
              <a:buNone/>
            </a:pPr>
            <a:r>
              <a:rPr lang="en-US" dirty="0"/>
              <a:t>catch (ExceptionType2 ex) {</a:t>
            </a:r>
          </a:p>
          <a:p>
            <a:pPr marL="0" indent="0">
              <a:buNone/>
            </a:pPr>
            <a:r>
              <a:rPr lang="en-US" dirty="0"/>
              <a:t>    // Code to handle another type of exception</a:t>
            </a:r>
          </a:p>
          <a:p>
            <a:pPr marL="0" indent="0">
              <a:buNone/>
            </a:pPr>
            <a:r>
              <a:rPr lang="en-US" dirty="0"/>
              <a:t>} </a:t>
            </a:r>
          </a:p>
          <a:p>
            <a:pPr marL="0" indent="0">
              <a:buNone/>
            </a:pPr>
            <a:r>
              <a:rPr lang="en-US" dirty="0"/>
              <a:t>finally {</a:t>
            </a:r>
          </a:p>
          <a:p>
            <a:pPr marL="0" indent="0">
              <a:buNone/>
            </a:pPr>
            <a:r>
              <a:rPr lang="en-US" dirty="0"/>
              <a:t>    // Code that will execute whether an exception occurs or not</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2640304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IN" dirty="0"/>
              <a:t>Types of Exceptions -</a:t>
            </a:r>
          </a:p>
          <a:p>
            <a:endParaRPr lang="en-IN" dirty="0"/>
          </a:p>
        </p:txBody>
      </p:sp>
      <p:pic>
        <p:nvPicPr>
          <p:cNvPr id="1026" name="Picture 2" descr="http://localhost/my_website/public_html/Images/Exception/Excep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600200"/>
            <a:ext cx="6477000"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0304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10000"/>
          </a:bodyPr>
          <a:lstStyle/>
          <a:p>
            <a:r>
              <a:rPr lang="en-US" b="1" dirty="0" err="1"/>
              <a:t>Throwable</a:t>
            </a:r>
            <a:r>
              <a:rPr lang="en-US" b="1" dirty="0"/>
              <a:t> class -</a:t>
            </a:r>
          </a:p>
          <a:p>
            <a:r>
              <a:rPr lang="en-US" dirty="0"/>
              <a:t>The parent class of all types of exceptions is </a:t>
            </a:r>
            <a:r>
              <a:rPr lang="en-US" dirty="0" err="1"/>
              <a:t>Throwable</a:t>
            </a:r>
            <a:r>
              <a:rPr lang="en-US" dirty="0"/>
              <a:t> class. All types of exceptions are derived from </a:t>
            </a:r>
            <a:r>
              <a:rPr lang="en-US" dirty="0" err="1"/>
              <a:t>Throwable</a:t>
            </a:r>
            <a:r>
              <a:rPr lang="en-US" dirty="0"/>
              <a:t> class.</a:t>
            </a:r>
            <a:r>
              <a:rPr lang="en-US" dirty="0"/>
              <a:t/>
            </a:r>
            <a:br>
              <a:rPr lang="en-US" dirty="0"/>
            </a:br>
            <a:endParaRPr lang="en-US" dirty="0" smtClean="0"/>
          </a:p>
          <a:p>
            <a:r>
              <a:rPr lang="en-US" b="1" dirty="0" smtClean="0"/>
              <a:t>Error </a:t>
            </a:r>
            <a:r>
              <a:rPr lang="en-US" b="1" dirty="0"/>
              <a:t>class -</a:t>
            </a:r>
          </a:p>
          <a:p>
            <a:r>
              <a:rPr lang="en-US" dirty="0"/>
              <a:t>The exceptions defined by Error and its subclasses are comes under the category of Error exceptions. These types of exceptions represent conditions that you are not supposed to handle i.e. you are not expected to catch and handle them</a:t>
            </a:r>
            <a:r>
              <a:rPr lang="en-US" dirty="0" smtClean="0"/>
              <a:t>.</a:t>
            </a:r>
          </a:p>
          <a:p>
            <a:r>
              <a:rPr lang="en-US" dirty="0" smtClean="0"/>
              <a:t>Errors </a:t>
            </a:r>
            <a:r>
              <a:rPr lang="en-US" dirty="0"/>
              <a:t>are usually caused by serious system failures and should not be caught in normal applications</a:t>
            </a:r>
            <a:r>
              <a:rPr lang="en-US" dirty="0" smtClean="0"/>
              <a:t>.“</a:t>
            </a:r>
          </a:p>
          <a:p>
            <a:endParaRPr lang="en-IN" dirty="0"/>
          </a:p>
        </p:txBody>
      </p:sp>
    </p:spTree>
    <p:extLst>
      <p:ext uri="{BB962C8B-B14F-4D97-AF65-F5344CB8AC3E}">
        <p14:creationId xmlns:p14="http://schemas.microsoft.com/office/powerpoint/2010/main" val="2640304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7500" lnSpcReduction="20000"/>
          </a:bodyPr>
          <a:lstStyle/>
          <a:p>
            <a:r>
              <a:rPr lang="en-US" b="1" dirty="0"/>
              <a:t>Exception class -</a:t>
            </a:r>
          </a:p>
          <a:p>
            <a:r>
              <a:rPr lang="en-US" dirty="0"/>
              <a:t>It is divided into 2 categories Checked and Unchecked Exceptions</a:t>
            </a:r>
            <a:r>
              <a:rPr lang="en-US" dirty="0" smtClean="0"/>
              <a:t>.</a:t>
            </a:r>
          </a:p>
          <a:p>
            <a:r>
              <a:rPr lang="en-US" dirty="0" smtClean="0"/>
              <a:t>1- </a:t>
            </a:r>
            <a:r>
              <a:rPr lang="en-US" dirty="0"/>
              <a:t>Unchecked </a:t>
            </a:r>
            <a:r>
              <a:rPr lang="en-US" dirty="0" smtClean="0"/>
              <a:t>Exceptions.</a:t>
            </a:r>
          </a:p>
          <a:p>
            <a:r>
              <a:rPr lang="en-US" dirty="0" smtClean="0"/>
              <a:t>2 – Checked Exceptions.</a:t>
            </a:r>
          </a:p>
          <a:p>
            <a:endParaRPr lang="en-US" b="1" dirty="0" smtClean="0"/>
          </a:p>
          <a:p>
            <a:r>
              <a:rPr lang="en-US" b="1" dirty="0" smtClean="0"/>
              <a:t>1- </a:t>
            </a:r>
            <a:r>
              <a:rPr lang="en-US" b="1" dirty="0"/>
              <a:t>Unchecked </a:t>
            </a:r>
            <a:r>
              <a:rPr lang="en-US" b="1" dirty="0" smtClean="0"/>
              <a:t>Exceptions - </a:t>
            </a:r>
            <a:endParaRPr lang="en-US" dirty="0"/>
          </a:p>
          <a:p>
            <a:r>
              <a:rPr lang="en-US" dirty="0"/>
              <a:t>All classes that extends </a:t>
            </a:r>
            <a:r>
              <a:rPr lang="en-US" b="1" dirty="0" err="1"/>
              <a:t>RuntimeException</a:t>
            </a:r>
            <a:r>
              <a:rPr lang="en-US" dirty="0"/>
              <a:t> class or its subclasses comes under the category of unchecked exceptions.</a:t>
            </a:r>
            <a:r>
              <a:rPr lang="en-US" dirty="0"/>
              <a:t/>
            </a:r>
            <a:br>
              <a:rPr lang="en-US" dirty="0"/>
            </a:br>
            <a:r>
              <a:rPr lang="en-US" dirty="0"/>
              <a:t>It is not always necessary to catch and handle unchecked exceptions, your code will compile successfully even if you include exception handling code or not. But if exception arise program will not run and terminate there.</a:t>
            </a:r>
            <a:r>
              <a:rPr lang="en-US" dirty="0"/>
              <a:t/>
            </a:r>
            <a:br>
              <a:rPr lang="en-US" dirty="0"/>
            </a:br>
            <a:r>
              <a:rPr lang="en-US" dirty="0"/>
              <a:t>Some common subclasses of </a:t>
            </a:r>
            <a:r>
              <a:rPr lang="en-US" dirty="0" err="1"/>
              <a:t>RuntimeException</a:t>
            </a:r>
            <a:r>
              <a:rPr lang="en-US" dirty="0"/>
              <a:t> are as follows -</a:t>
            </a:r>
            <a:endParaRPr lang="en-IN" dirty="0"/>
          </a:p>
        </p:txBody>
      </p:sp>
    </p:spTree>
    <p:extLst>
      <p:ext uri="{BB962C8B-B14F-4D97-AF65-F5344CB8AC3E}">
        <p14:creationId xmlns:p14="http://schemas.microsoft.com/office/powerpoint/2010/main" val="2640304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endParaRPr lang="en-IN" dirty="0" smtClean="0"/>
          </a:p>
          <a:p>
            <a:endParaRPr lang="en-IN" dirty="0"/>
          </a:p>
          <a:p>
            <a:endParaRPr lang="en-IN" dirty="0" smtClean="0"/>
          </a:p>
          <a:p>
            <a:endParaRPr lang="en-IN" dirty="0"/>
          </a:p>
          <a:p>
            <a:endParaRPr lang="en-IN" dirty="0" smtClean="0"/>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09600"/>
            <a:ext cx="8305800" cy="256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0304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40000" lnSpcReduction="20000"/>
          </a:bodyPr>
          <a:lstStyle/>
          <a:p>
            <a:r>
              <a:rPr lang="en-IN" dirty="0" smtClean="0"/>
              <a:t>Example – </a:t>
            </a:r>
          </a:p>
          <a:p>
            <a:pPr marL="0" indent="0">
              <a:buNone/>
            </a:pPr>
            <a:endParaRPr lang="en-IN" dirty="0"/>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endParaRPr lang="en-IN" dirty="0"/>
          </a:p>
          <a:p>
            <a:pPr marL="0" indent="0">
              <a:buNone/>
            </a:pPr>
            <a:r>
              <a:rPr lang="en-IN" dirty="0"/>
              <a:t>        </a:t>
            </a:r>
            <a:r>
              <a:rPr lang="en-IN" dirty="0" err="1"/>
              <a:t>int</a:t>
            </a:r>
            <a:r>
              <a:rPr lang="en-IN" dirty="0"/>
              <a:t> </a:t>
            </a:r>
            <a:r>
              <a:rPr lang="en-IN" dirty="0" err="1"/>
              <a:t>a,b,c</a:t>
            </a:r>
            <a:r>
              <a:rPr lang="en-IN" dirty="0"/>
              <a:t>;</a:t>
            </a:r>
          </a:p>
          <a:p>
            <a:pPr marL="0" indent="0">
              <a:buNone/>
            </a:pPr>
            <a:r>
              <a:rPr lang="en-IN" dirty="0"/>
              <a:t>        try</a:t>
            </a:r>
          </a:p>
          <a:p>
            <a:pPr marL="0" indent="0">
              <a:buNone/>
            </a:pPr>
            <a:r>
              <a:rPr lang="en-IN" dirty="0"/>
              <a:t>        {</a:t>
            </a:r>
          </a:p>
          <a:p>
            <a:pPr marL="0" indent="0">
              <a:buNone/>
            </a:pPr>
            <a:r>
              <a:rPr lang="en-IN" dirty="0"/>
              <a:t>            a=10;</a:t>
            </a:r>
          </a:p>
          <a:p>
            <a:pPr marL="0" indent="0">
              <a:buNone/>
            </a:pPr>
            <a:r>
              <a:rPr lang="en-IN" dirty="0"/>
              <a:t>            b=0;</a:t>
            </a:r>
          </a:p>
          <a:p>
            <a:pPr marL="0" indent="0">
              <a:buNone/>
            </a:pPr>
            <a:r>
              <a:rPr lang="en-IN" dirty="0"/>
              <a:t>            c=a/b;</a:t>
            </a:r>
          </a:p>
          <a:p>
            <a:pPr marL="0" indent="0">
              <a:buNone/>
            </a:pPr>
            <a:r>
              <a:rPr lang="en-IN" dirty="0"/>
              <a:t>            </a:t>
            </a:r>
            <a:r>
              <a:rPr lang="en-IN" dirty="0" err="1"/>
              <a:t>System.out.println</a:t>
            </a:r>
            <a:r>
              <a:rPr lang="en-IN" dirty="0"/>
              <a:t>("This will not be printed");</a:t>
            </a:r>
          </a:p>
          <a:p>
            <a:pPr marL="0" indent="0">
              <a:buNone/>
            </a:pPr>
            <a:r>
              <a:rPr lang="en-IN" dirty="0"/>
              <a:t>        }</a:t>
            </a:r>
          </a:p>
          <a:p>
            <a:pPr marL="0" indent="0">
              <a:buNone/>
            </a:pPr>
            <a:r>
              <a:rPr lang="en-IN" dirty="0"/>
              <a:t>        catch(Exception ex)</a:t>
            </a:r>
          </a:p>
          <a:p>
            <a:pPr marL="0" indent="0">
              <a:buNone/>
            </a:pPr>
            <a:r>
              <a:rPr lang="en-IN" dirty="0"/>
              <a:t>        {</a:t>
            </a:r>
          </a:p>
          <a:p>
            <a:pPr marL="0" indent="0">
              <a:buNone/>
            </a:pPr>
            <a:r>
              <a:rPr lang="en-IN" dirty="0"/>
              <a:t>            a=b=c=-1;</a:t>
            </a:r>
          </a:p>
          <a:p>
            <a:pPr marL="0" indent="0">
              <a:buNone/>
            </a:pPr>
            <a:r>
              <a:rPr lang="en-IN" dirty="0"/>
              <a:t>            </a:t>
            </a:r>
            <a:r>
              <a:rPr lang="en-IN" dirty="0" err="1"/>
              <a:t>System.out.println</a:t>
            </a:r>
            <a:r>
              <a:rPr lang="en-IN" dirty="0"/>
              <a:t>(a+"  "+b+ "  "+c);</a:t>
            </a:r>
          </a:p>
          <a:p>
            <a:pPr marL="0" indent="0">
              <a:buNone/>
            </a:pPr>
            <a:r>
              <a:rPr lang="en-IN" dirty="0"/>
              <a:t>            </a:t>
            </a:r>
            <a:r>
              <a:rPr lang="en-IN" dirty="0" err="1"/>
              <a:t>System.out.println</a:t>
            </a:r>
            <a:r>
              <a:rPr lang="en-IN" dirty="0"/>
              <a:t>("Divide by zero Arithmetic Exception");</a:t>
            </a:r>
          </a:p>
          <a:p>
            <a:pPr marL="0" indent="0">
              <a:buNone/>
            </a:pPr>
            <a:r>
              <a:rPr lang="en-IN" dirty="0"/>
              <a:t>        }</a:t>
            </a:r>
          </a:p>
          <a:p>
            <a:pPr marL="0" indent="0">
              <a:buNone/>
            </a:pPr>
            <a:r>
              <a:rPr lang="en-IN" dirty="0"/>
              <a:t>      </a:t>
            </a:r>
            <a:r>
              <a:rPr lang="en-IN" dirty="0" err="1"/>
              <a:t>System.out.println</a:t>
            </a:r>
            <a:r>
              <a:rPr lang="en-IN" dirty="0"/>
              <a:t>("After catch block");</a:t>
            </a:r>
          </a:p>
          <a:p>
            <a:pPr marL="0" indent="0">
              <a:buNone/>
            </a:pPr>
            <a:r>
              <a:rPr lang="en-IN" dirty="0"/>
              <a:t>    }</a:t>
            </a:r>
          </a:p>
          <a:p>
            <a:pPr marL="0" indent="0">
              <a:buNone/>
            </a:pPr>
            <a:r>
              <a:rPr lang="en-IN" dirty="0" smtClean="0"/>
              <a:t>}</a:t>
            </a:r>
          </a:p>
          <a:p>
            <a:r>
              <a:rPr lang="en-US" dirty="0"/>
              <a:t>Note that the statement </a:t>
            </a:r>
            <a:r>
              <a:rPr lang="en-US" dirty="0" err="1"/>
              <a:t>System.out.println</a:t>
            </a:r>
            <a:r>
              <a:rPr lang="en-US" dirty="0"/>
              <a:t>("This will not be printed"); will not be run because in the previous statement an exception has occurred, so Java run time system will create an object representing that exception and throw that to matching catch block. And catch block will gets executed. So any statements after exception has occur within try block, will not executes.</a:t>
            </a:r>
            <a:endParaRPr lang="en-IN" dirty="0"/>
          </a:p>
          <a:p>
            <a:endParaRPr lang="en-IN" dirty="0"/>
          </a:p>
          <a:p>
            <a:pPr marL="0" indent="0">
              <a:buNone/>
            </a:pPr>
            <a:endParaRPr lang="en-IN" dirty="0"/>
          </a:p>
          <a:p>
            <a:pPr marL="0" indent="0">
              <a:buNone/>
            </a:pPr>
            <a:r>
              <a:rPr lang="en-IN" dirty="0"/>
              <a:t> </a:t>
            </a:r>
          </a:p>
        </p:txBody>
      </p:sp>
    </p:spTree>
    <p:extLst>
      <p:ext uri="{BB962C8B-B14F-4D97-AF65-F5344CB8AC3E}">
        <p14:creationId xmlns:p14="http://schemas.microsoft.com/office/powerpoint/2010/main" val="2640304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0000" lnSpcReduction="20000"/>
          </a:bodyPr>
          <a:lstStyle/>
          <a:p>
            <a:r>
              <a:rPr lang="en-US" b="1" dirty="0"/>
              <a:t>Displaying description of Exception -</a:t>
            </a:r>
          </a:p>
          <a:p>
            <a:r>
              <a:rPr lang="en-US" dirty="0"/>
              <a:t>There are different methods to display the description of exceptions -</a:t>
            </a:r>
          </a:p>
          <a:p>
            <a:r>
              <a:rPr lang="en-US" dirty="0"/>
              <a:t>1- The catch block in the above program can be rewritten as follows -</a:t>
            </a:r>
          </a:p>
          <a:p>
            <a:pPr marL="0" indent="0">
              <a:buNone/>
            </a:pPr>
            <a:r>
              <a:rPr lang="en-US" dirty="0" err="1"/>
              <a:t>catach</a:t>
            </a:r>
            <a:r>
              <a:rPr lang="en-US" dirty="0"/>
              <a:t>(Exception ex)</a:t>
            </a:r>
          </a:p>
          <a:p>
            <a:pPr marL="0" indent="0">
              <a:buNone/>
            </a:pPr>
            <a:r>
              <a:rPr lang="en-US" dirty="0"/>
              <a:t>{</a:t>
            </a:r>
          </a:p>
          <a:p>
            <a:pPr marL="0" indent="0">
              <a:buNone/>
            </a:pPr>
            <a:r>
              <a:rPr lang="en-US" dirty="0"/>
              <a:t>  </a:t>
            </a:r>
            <a:r>
              <a:rPr lang="en-US" dirty="0" err="1"/>
              <a:t>System.out.println</a:t>
            </a:r>
            <a:r>
              <a:rPr lang="en-US" dirty="0"/>
              <a:t>(ex);</a:t>
            </a:r>
          </a:p>
          <a:p>
            <a:pPr marL="0" indent="0">
              <a:buNone/>
            </a:pPr>
            <a:r>
              <a:rPr lang="en-US" dirty="0"/>
              <a:t>}</a:t>
            </a:r>
          </a:p>
          <a:p>
            <a:endParaRPr lang="en-US" dirty="0"/>
          </a:p>
          <a:p>
            <a:r>
              <a:rPr lang="en-US" dirty="0"/>
              <a:t>And this block will produce the output - </a:t>
            </a:r>
            <a:r>
              <a:rPr lang="en-US" dirty="0" err="1"/>
              <a:t>java.lang.ArithmeticException</a:t>
            </a:r>
            <a:r>
              <a:rPr lang="en-US" dirty="0"/>
              <a:t>: / by zero</a:t>
            </a:r>
          </a:p>
          <a:p>
            <a:r>
              <a:rPr lang="en-US" dirty="0"/>
              <a:t>As we already know when we try to print any object in </a:t>
            </a:r>
            <a:r>
              <a:rPr lang="en-US" dirty="0" err="1"/>
              <a:t>println</a:t>
            </a:r>
            <a:r>
              <a:rPr lang="en-US" dirty="0"/>
              <a:t>() method it will call </a:t>
            </a:r>
            <a:r>
              <a:rPr lang="en-US" dirty="0" err="1"/>
              <a:t>toString</a:t>
            </a:r>
            <a:r>
              <a:rPr lang="en-US" dirty="0"/>
              <a:t>() method, So here </a:t>
            </a:r>
            <a:r>
              <a:rPr lang="en-US" dirty="0" err="1"/>
              <a:t>ex.toString</a:t>
            </a:r>
            <a:r>
              <a:rPr lang="en-US" dirty="0"/>
              <a:t>() will run and produce the description of exception.</a:t>
            </a:r>
          </a:p>
          <a:p>
            <a:r>
              <a:rPr lang="en-US" dirty="0"/>
              <a:t>This is because </a:t>
            </a:r>
            <a:r>
              <a:rPr lang="en-US" dirty="0" err="1"/>
              <a:t>Throwable</a:t>
            </a:r>
            <a:r>
              <a:rPr lang="en-US" dirty="0"/>
              <a:t> class has overridden </a:t>
            </a:r>
            <a:r>
              <a:rPr lang="en-US" dirty="0" err="1"/>
              <a:t>toString</a:t>
            </a:r>
            <a:r>
              <a:rPr lang="en-US" dirty="0"/>
              <a:t>() method of Object class to print the detail of exception.</a:t>
            </a:r>
            <a:endParaRPr lang="en-IN" dirty="0"/>
          </a:p>
        </p:txBody>
      </p:sp>
    </p:spTree>
    <p:extLst>
      <p:ext uri="{BB962C8B-B14F-4D97-AF65-F5344CB8AC3E}">
        <p14:creationId xmlns:p14="http://schemas.microsoft.com/office/powerpoint/2010/main" val="2640304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47500" lnSpcReduction="20000"/>
          </a:bodyPr>
          <a:lstStyle/>
          <a:p>
            <a:r>
              <a:rPr lang="en-US" dirty="0"/>
              <a:t>2- The second method to display description of exception is to use </a:t>
            </a:r>
            <a:r>
              <a:rPr lang="en-US" dirty="0" err="1"/>
              <a:t>getMessage</a:t>
            </a:r>
            <a:r>
              <a:rPr lang="en-US" dirty="0"/>
              <a:t>() method as follows -</a:t>
            </a:r>
          </a:p>
          <a:p>
            <a:pPr marL="0" indent="0">
              <a:buNone/>
            </a:pPr>
            <a:r>
              <a:rPr lang="en-US" dirty="0"/>
              <a:t>        catch(Exception ex)</a:t>
            </a:r>
          </a:p>
          <a:p>
            <a:pPr marL="0" indent="0">
              <a:buNone/>
            </a:pPr>
            <a:r>
              <a:rPr lang="en-US" dirty="0"/>
              <a:t>        {</a:t>
            </a:r>
          </a:p>
          <a:p>
            <a:pPr marL="0" indent="0">
              <a:buNone/>
            </a:pPr>
            <a:r>
              <a:rPr lang="en-US" dirty="0"/>
              <a:t>            </a:t>
            </a:r>
            <a:r>
              <a:rPr lang="en-US" dirty="0" err="1"/>
              <a:t>System.out.println</a:t>
            </a:r>
            <a:r>
              <a:rPr lang="en-US" dirty="0"/>
              <a:t>(</a:t>
            </a:r>
            <a:r>
              <a:rPr lang="en-US" dirty="0" err="1"/>
              <a:t>ex.getMessage</a:t>
            </a:r>
            <a:r>
              <a:rPr lang="en-US" dirty="0"/>
              <a:t>());</a:t>
            </a:r>
          </a:p>
          <a:p>
            <a:pPr marL="0" indent="0">
              <a:buNone/>
            </a:pPr>
            <a:r>
              <a:rPr lang="en-US" dirty="0"/>
              <a:t>        </a:t>
            </a:r>
            <a:r>
              <a:rPr lang="en-US" dirty="0" smtClean="0"/>
              <a:t>}</a:t>
            </a:r>
            <a:endParaRPr lang="en-US" dirty="0"/>
          </a:p>
          <a:p>
            <a:r>
              <a:rPr lang="en-US" dirty="0"/>
              <a:t>And this block will produce the output - / by zero</a:t>
            </a:r>
          </a:p>
          <a:p>
            <a:r>
              <a:rPr lang="en-US" dirty="0"/>
              <a:t>It displays a short description of exception</a:t>
            </a:r>
            <a:r>
              <a:rPr lang="en-US" dirty="0" smtClean="0"/>
              <a:t>.</a:t>
            </a:r>
          </a:p>
          <a:p>
            <a:endParaRPr lang="en-US" dirty="0"/>
          </a:p>
          <a:p>
            <a:endParaRPr lang="en-US" dirty="0" smtClean="0"/>
          </a:p>
          <a:p>
            <a:endParaRPr lang="en-US" dirty="0" smtClean="0"/>
          </a:p>
          <a:p>
            <a:r>
              <a:rPr lang="en-US" dirty="0"/>
              <a:t>3- The third method to get the full detail of exception is to use </a:t>
            </a:r>
            <a:r>
              <a:rPr lang="en-US" dirty="0" err="1"/>
              <a:t>printStackTrace</a:t>
            </a:r>
            <a:r>
              <a:rPr lang="en-US" dirty="0"/>
              <a:t>() method as follows -</a:t>
            </a:r>
          </a:p>
          <a:p>
            <a:pPr marL="0" indent="0">
              <a:buNone/>
            </a:pPr>
            <a:r>
              <a:rPr lang="en-US" dirty="0"/>
              <a:t>       catch(Exception ex)</a:t>
            </a:r>
          </a:p>
          <a:p>
            <a:pPr marL="0" indent="0">
              <a:buNone/>
            </a:pPr>
            <a:r>
              <a:rPr lang="en-US" dirty="0"/>
              <a:t>        {</a:t>
            </a:r>
          </a:p>
          <a:p>
            <a:pPr marL="0" indent="0">
              <a:buNone/>
            </a:pPr>
            <a:r>
              <a:rPr lang="en-US" dirty="0"/>
              <a:t>            </a:t>
            </a:r>
            <a:r>
              <a:rPr lang="en-US" dirty="0" err="1"/>
              <a:t>ex.printStackTrace</a:t>
            </a:r>
            <a:r>
              <a:rPr lang="en-US" dirty="0"/>
              <a:t>();</a:t>
            </a:r>
          </a:p>
          <a:p>
            <a:pPr marL="0" indent="0">
              <a:buNone/>
            </a:pPr>
            <a:r>
              <a:rPr lang="en-US" dirty="0"/>
              <a:t>        }</a:t>
            </a:r>
          </a:p>
          <a:p>
            <a:pPr marL="0" indent="0">
              <a:buNone/>
            </a:pPr>
            <a:endParaRPr lang="en-US" dirty="0"/>
          </a:p>
          <a:p>
            <a:r>
              <a:rPr lang="en-US" dirty="0"/>
              <a:t>And this block will produce the output - </a:t>
            </a:r>
            <a:r>
              <a:rPr lang="en-US" dirty="0" err="1"/>
              <a:t>java.lang.ArithmeticException</a:t>
            </a:r>
            <a:r>
              <a:rPr lang="en-US" dirty="0"/>
              <a:t>: / by zero at </a:t>
            </a:r>
            <a:r>
              <a:rPr lang="en-US" dirty="0" err="1"/>
              <a:t>call.Call.main</a:t>
            </a:r>
            <a:r>
              <a:rPr lang="en-US" dirty="0"/>
              <a:t>(Call.java:17)</a:t>
            </a:r>
          </a:p>
          <a:p>
            <a:r>
              <a:rPr lang="en-US" dirty="0"/>
              <a:t>It displays a full description of exception including line number at which exception occur, package, class and method name in which exception occur.</a:t>
            </a:r>
            <a:endParaRPr lang="en-IN" dirty="0"/>
          </a:p>
        </p:txBody>
      </p:sp>
    </p:spTree>
    <p:extLst>
      <p:ext uri="{BB962C8B-B14F-4D97-AF65-F5344CB8AC3E}">
        <p14:creationId xmlns:p14="http://schemas.microsoft.com/office/powerpoint/2010/main" val="2640304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55000" lnSpcReduction="20000"/>
          </a:bodyPr>
          <a:lstStyle/>
          <a:p>
            <a:r>
              <a:rPr lang="en-US" b="1" dirty="0"/>
              <a:t>Multiple catch blocks -</a:t>
            </a:r>
          </a:p>
          <a:p>
            <a:r>
              <a:rPr lang="en-US" dirty="0"/>
              <a:t>A single piece of code within try block may throw more than one exception in that case we need more than one catch statement to handle each exception.</a:t>
            </a:r>
            <a:r>
              <a:rPr lang="en-US" dirty="0"/>
              <a:t/>
            </a:r>
            <a:br>
              <a:rPr lang="en-US" dirty="0"/>
            </a:br>
            <a:r>
              <a:rPr lang="en-US" dirty="0"/>
              <a:t>When exception is thrown by java run time system, each catch statement is inspected in order from top to bottom one by one, and the first one whose type is same as that of exception thrown will gets executed and remaining catch statements will be bypassed and execution continues after try/catch block</a:t>
            </a:r>
            <a:r>
              <a:rPr lang="en-US" dirty="0" smtClean="0"/>
              <a:t>.</a:t>
            </a:r>
          </a:p>
          <a:p>
            <a:r>
              <a:rPr lang="en-IN" dirty="0"/>
              <a:t>Example -</a:t>
            </a:r>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endParaRPr lang="en-IN" dirty="0"/>
          </a:p>
          <a:p>
            <a:pPr marL="0" indent="0">
              <a:buNone/>
            </a:pPr>
            <a:r>
              <a:rPr lang="en-IN" dirty="0"/>
              <a:t>        </a:t>
            </a:r>
            <a:r>
              <a:rPr lang="en-IN" dirty="0" err="1"/>
              <a:t>int</a:t>
            </a:r>
            <a:r>
              <a:rPr lang="en-IN" dirty="0"/>
              <a:t> a=0,b=0,c=0;</a:t>
            </a:r>
          </a:p>
          <a:p>
            <a:pPr marL="0" indent="0">
              <a:buNone/>
            </a:pPr>
            <a:r>
              <a:rPr lang="en-IN" dirty="0"/>
              <a:t>        try</a:t>
            </a:r>
          </a:p>
          <a:p>
            <a:pPr marL="0" indent="0">
              <a:buNone/>
            </a:pPr>
            <a:r>
              <a:rPr lang="en-IN" dirty="0"/>
              <a:t>        {</a:t>
            </a:r>
          </a:p>
          <a:p>
            <a:pPr marL="0" indent="0">
              <a:buNone/>
            </a:pPr>
            <a:r>
              <a:rPr lang="en-IN" dirty="0"/>
              <a:t>            a= </a:t>
            </a:r>
            <a:r>
              <a:rPr lang="en-IN" dirty="0" err="1"/>
              <a:t>Integer.parseInt</a:t>
            </a:r>
            <a:r>
              <a:rPr lang="en-IN" dirty="0"/>
              <a:t>(</a:t>
            </a:r>
            <a:r>
              <a:rPr lang="en-IN" dirty="0" err="1"/>
              <a:t>System.console</a:t>
            </a:r>
            <a:r>
              <a:rPr lang="en-IN" dirty="0"/>
              <a:t>().</a:t>
            </a:r>
            <a:r>
              <a:rPr lang="en-IN" dirty="0" err="1"/>
              <a:t>readLine</a:t>
            </a:r>
            <a:r>
              <a:rPr lang="en-IN" dirty="0"/>
              <a:t>("Enter a"));</a:t>
            </a:r>
          </a:p>
          <a:p>
            <a:pPr marL="0" indent="0">
              <a:buNone/>
            </a:pPr>
            <a:r>
              <a:rPr lang="en-IN" dirty="0"/>
              <a:t>            b= </a:t>
            </a:r>
            <a:r>
              <a:rPr lang="en-IN" dirty="0" err="1"/>
              <a:t>Integer.parseInt</a:t>
            </a:r>
            <a:r>
              <a:rPr lang="en-IN" dirty="0"/>
              <a:t>(</a:t>
            </a:r>
            <a:r>
              <a:rPr lang="en-IN" dirty="0" err="1"/>
              <a:t>System.console</a:t>
            </a:r>
            <a:r>
              <a:rPr lang="en-IN" dirty="0"/>
              <a:t>().</a:t>
            </a:r>
            <a:r>
              <a:rPr lang="en-IN" dirty="0" err="1"/>
              <a:t>readLine</a:t>
            </a:r>
            <a:r>
              <a:rPr lang="en-IN" dirty="0"/>
              <a:t>("Enter b"));</a:t>
            </a:r>
          </a:p>
          <a:p>
            <a:pPr marL="0" indent="0">
              <a:buNone/>
            </a:pPr>
            <a:r>
              <a:rPr lang="en-IN" dirty="0"/>
              <a:t>            c=a/b;</a:t>
            </a:r>
          </a:p>
          <a:p>
            <a:pPr marL="0" indent="0">
              <a:buNone/>
            </a:pPr>
            <a:r>
              <a:rPr lang="en-IN" dirty="0"/>
              <a:t>        }</a:t>
            </a:r>
          </a:p>
          <a:p>
            <a:endParaRPr lang="en-IN" dirty="0"/>
          </a:p>
        </p:txBody>
      </p:sp>
    </p:spTree>
    <p:extLst>
      <p:ext uri="{BB962C8B-B14F-4D97-AF65-F5344CB8AC3E}">
        <p14:creationId xmlns:p14="http://schemas.microsoft.com/office/powerpoint/2010/main" val="2640304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32500" lnSpcReduction="20000"/>
          </a:bodyPr>
          <a:lstStyle/>
          <a:p>
            <a:pPr marL="0" indent="0">
              <a:buNone/>
            </a:pPr>
            <a:r>
              <a:rPr lang="en-IN" dirty="0"/>
              <a:t> catch(</a:t>
            </a:r>
            <a:r>
              <a:rPr lang="en-IN" dirty="0" err="1"/>
              <a:t>NumberFormatException</a:t>
            </a:r>
            <a:r>
              <a:rPr lang="en-IN" dirty="0"/>
              <a:t>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a=b=c= -1;</a:t>
            </a:r>
          </a:p>
          <a:p>
            <a:pPr marL="0" indent="0">
              <a:buNone/>
            </a:pPr>
            <a:r>
              <a:rPr lang="en-IN" dirty="0"/>
              <a:t>        }</a:t>
            </a:r>
          </a:p>
          <a:p>
            <a:pPr marL="0" indent="0">
              <a:buNone/>
            </a:pPr>
            <a:r>
              <a:rPr lang="en-IN" dirty="0"/>
              <a:t>        catch(</a:t>
            </a:r>
            <a:r>
              <a:rPr lang="en-IN" dirty="0" err="1"/>
              <a:t>ArithmeticException</a:t>
            </a:r>
            <a:r>
              <a:rPr lang="en-IN" dirty="0"/>
              <a:t>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a=b=c= -2;</a:t>
            </a:r>
          </a:p>
          <a:p>
            <a:pPr marL="0" indent="0">
              <a:buNone/>
            </a:pPr>
            <a:r>
              <a:rPr lang="en-IN" dirty="0"/>
              <a:t>        }</a:t>
            </a:r>
          </a:p>
          <a:p>
            <a:pPr marL="0" indent="0">
              <a:buNone/>
            </a:pPr>
            <a:r>
              <a:rPr lang="en-IN" dirty="0"/>
              <a:t>        catch(Exception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a=b=c= -3;</a:t>
            </a:r>
          </a:p>
          <a:p>
            <a:pPr marL="0" indent="0">
              <a:buNone/>
            </a:pPr>
            <a:r>
              <a:rPr lang="en-IN" dirty="0"/>
              <a:t>        }</a:t>
            </a:r>
          </a:p>
          <a:p>
            <a:pPr marL="0" indent="0">
              <a:buNone/>
            </a:pPr>
            <a:r>
              <a:rPr lang="en-IN" dirty="0"/>
              <a:t>        finally</a:t>
            </a:r>
          </a:p>
          <a:p>
            <a:pPr marL="0" indent="0">
              <a:buNone/>
            </a:pPr>
            <a:r>
              <a:rPr lang="en-IN" dirty="0"/>
              <a:t>        {</a:t>
            </a:r>
          </a:p>
          <a:p>
            <a:pPr marL="0" indent="0">
              <a:buNone/>
            </a:pPr>
            <a:r>
              <a:rPr lang="en-IN" dirty="0"/>
              <a:t>            </a:t>
            </a:r>
            <a:r>
              <a:rPr lang="en-IN" dirty="0" err="1"/>
              <a:t>System.out.println</a:t>
            </a:r>
            <a:r>
              <a:rPr lang="en-IN" dirty="0"/>
              <a:t>(a+"  "+b+"  "+c);</a:t>
            </a:r>
          </a:p>
          <a:p>
            <a:pPr marL="0" indent="0">
              <a:buNone/>
            </a:pPr>
            <a:r>
              <a:rPr lang="en-IN" dirty="0"/>
              <a:t>        }</a:t>
            </a:r>
          </a:p>
          <a:p>
            <a:pPr marL="0" indent="0">
              <a:buNone/>
            </a:pPr>
            <a:r>
              <a:rPr lang="en-IN" dirty="0"/>
              <a:t>        }</a:t>
            </a:r>
          </a:p>
          <a:p>
            <a:pPr marL="0" indent="0">
              <a:buNone/>
            </a:pPr>
            <a:r>
              <a:rPr lang="en-IN" dirty="0"/>
              <a:t>} </a:t>
            </a:r>
            <a:endParaRPr lang="en-IN" dirty="0" smtClean="0"/>
          </a:p>
          <a:p>
            <a:pPr marL="0" indent="0">
              <a:buNone/>
            </a:pPr>
            <a:endParaRPr lang="en-IN" dirty="0" smtClean="0"/>
          </a:p>
          <a:p>
            <a:pPr marL="0" indent="0">
              <a:buNone/>
            </a:pPr>
            <a:r>
              <a:rPr lang="en-US" dirty="0"/>
              <a:t>Output -</a:t>
            </a:r>
          </a:p>
          <a:p>
            <a:pPr marL="0" indent="0">
              <a:buNone/>
            </a:pPr>
            <a:r>
              <a:rPr lang="en-US" dirty="0"/>
              <a:t>Enter a</a:t>
            </a:r>
          </a:p>
          <a:p>
            <a:pPr marL="0" indent="0">
              <a:buNone/>
            </a:pPr>
            <a:r>
              <a:rPr lang="en-US" dirty="0"/>
              <a:t>10</a:t>
            </a:r>
          </a:p>
          <a:p>
            <a:pPr marL="0" indent="0">
              <a:buNone/>
            </a:pPr>
            <a:r>
              <a:rPr lang="en-US" dirty="0"/>
              <a:t>Enter b</a:t>
            </a:r>
          </a:p>
          <a:p>
            <a:pPr marL="0" indent="0">
              <a:buNone/>
            </a:pPr>
            <a:r>
              <a:rPr lang="en-US" dirty="0"/>
              <a:t>0</a:t>
            </a:r>
          </a:p>
          <a:p>
            <a:pPr marL="0" indent="0">
              <a:buNone/>
            </a:pPr>
            <a:r>
              <a:rPr lang="en-US" dirty="0" err="1"/>
              <a:t>java.lang.ArithmeticException</a:t>
            </a:r>
            <a:r>
              <a:rPr lang="en-US" dirty="0"/>
              <a:t>: / by zero</a:t>
            </a:r>
          </a:p>
          <a:p>
            <a:pPr marL="0" indent="0">
              <a:buNone/>
            </a:pPr>
            <a:r>
              <a:rPr lang="en-US" dirty="0"/>
              <a:t>-2  -2  -2</a:t>
            </a:r>
          </a:p>
          <a:p>
            <a:pPr marL="0" indent="0">
              <a:buNone/>
            </a:pPr>
            <a:endParaRPr lang="en-US" dirty="0"/>
          </a:p>
          <a:p>
            <a:pPr marL="0" indent="0">
              <a:buNone/>
            </a:pPr>
            <a:r>
              <a:rPr lang="en-US" dirty="0"/>
              <a:t>Here we have entered the value of b zero, so an </a:t>
            </a:r>
            <a:r>
              <a:rPr lang="en-US" dirty="0" err="1"/>
              <a:t>ArithmeticException</a:t>
            </a:r>
            <a:r>
              <a:rPr lang="en-US" dirty="0"/>
              <a:t>: / by zero will be thrown by java run time system.</a:t>
            </a:r>
          </a:p>
          <a:p>
            <a:pPr marL="0" indent="0">
              <a:buNone/>
            </a:pPr>
            <a:r>
              <a:rPr lang="en-US" dirty="0"/>
              <a:t>Here we have entered the value of b zero, so an </a:t>
            </a:r>
            <a:r>
              <a:rPr lang="en-US" dirty="0" err="1"/>
              <a:t>ArithmeticException</a:t>
            </a:r>
            <a:r>
              <a:rPr lang="en-US" dirty="0"/>
              <a:t>: / by zero will be thrown by java run time system.</a:t>
            </a:r>
          </a:p>
          <a:p>
            <a:pPr marL="0" indent="0">
              <a:buNone/>
            </a:pPr>
            <a:r>
              <a:rPr lang="en-US" dirty="0"/>
              <a:t>First it will inspect the first one and find no matching so forward to next one and find the matching exception class.</a:t>
            </a:r>
          </a:p>
          <a:p>
            <a:pPr marL="0" indent="0">
              <a:buNone/>
            </a:pPr>
            <a:r>
              <a:rPr lang="en-US" dirty="0"/>
              <a:t>So second catch block gets executes that display the detail of exception and set the value of a, b and c to -2, and third catch block will be bypassed by compiler.</a:t>
            </a:r>
          </a:p>
          <a:p>
            <a:pPr marL="0" indent="0">
              <a:buNone/>
            </a:pPr>
            <a:r>
              <a:rPr lang="en-US" dirty="0"/>
              <a:t>Note - finally block will always run even if exception occurs or not. So it gets executed and display the values of a, b and c.</a:t>
            </a:r>
            <a:endParaRPr lang="en-IN" dirty="0"/>
          </a:p>
        </p:txBody>
      </p:sp>
    </p:spTree>
    <p:extLst>
      <p:ext uri="{BB962C8B-B14F-4D97-AF65-F5344CB8AC3E}">
        <p14:creationId xmlns:p14="http://schemas.microsoft.com/office/powerpoint/2010/main" val="2640304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55000" lnSpcReduction="20000"/>
          </a:bodyPr>
          <a:lstStyle/>
          <a:p>
            <a:r>
              <a:rPr lang="en-US" b="1" dirty="0"/>
              <a:t>Unreachable code error -</a:t>
            </a:r>
          </a:p>
          <a:p>
            <a:r>
              <a:rPr lang="en-US" dirty="0"/>
              <a:t>While defining multiple catch clauses, always remember that exception child class must come before its parent class.</a:t>
            </a:r>
          </a:p>
          <a:p>
            <a:r>
              <a:rPr lang="en-US" dirty="0"/>
              <a:t>This is because any exception parent class can catch its own type exceptions as well as all of its child </a:t>
            </a:r>
            <a:r>
              <a:rPr lang="en-US" dirty="0" err="1"/>
              <a:t>class?s</a:t>
            </a:r>
            <a:r>
              <a:rPr lang="en-US" dirty="0"/>
              <a:t> exceptions too.</a:t>
            </a:r>
          </a:p>
          <a:p>
            <a:r>
              <a:rPr lang="en-US" dirty="0"/>
              <a:t>So child class will never be reached if it comes after its parent class. And catch clause containing child class exception becomes unreachable.</a:t>
            </a:r>
          </a:p>
          <a:p>
            <a:r>
              <a:rPr lang="en-US" dirty="0"/>
              <a:t>And it is a compile time error in java, if any code becomes unreachable.</a:t>
            </a:r>
          </a:p>
          <a:p>
            <a:r>
              <a:rPr lang="en-US" dirty="0"/>
              <a:t>Consider the following example -</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a:t>
            </a:r>
            <a:r>
              <a:rPr lang="en-US" dirty="0" err="1"/>
              <a:t>int</a:t>
            </a:r>
            <a:r>
              <a:rPr lang="en-US" dirty="0"/>
              <a:t> a=0,b=0,c=0;</a:t>
            </a:r>
          </a:p>
          <a:p>
            <a:pPr marL="0" indent="0">
              <a:buNone/>
            </a:pPr>
            <a:r>
              <a:rPr lang="en-US" dirty="0"/>
              <a:t>        try</a:t>
            </a:r>
          </a:p>
          <a:p>
            <a:pPr marL="0" indent="0">
              <a:buNone/>
            </a:pPr>
            <a:r>
              <a:rPr lang="en-US" dirty="0"/>
              <a:t>        {</a:t>
            </a:r>
          </a:p>
          <a:p>
            <a:pPr marL="0" indent="0">
              <a:buNone/>
            </a:pPr>
            <a:r>
              <a:rPr lang="en-US" dirty="0"/>
              <a:t>            a= </a:t>
            </a:r>
            <a:r>
              <a:rPr lang="en-US" dirty="0" err="1"/>
              <a:t>Integer.parseInt</a:t>
            </a:r>
            <a:r>
              <a:rPr lang="en-US" dirty="0"/>
              <a:t>(</a:t>
            </a:r>
            <a:r>
              <a:rPr lang="en-US" dirty="0" err="1"/>
              <a:t>System.console</a:t>
            </a:r>
            <a:r>
              <a:rPr lang="en-US" dirty="0"/>
              <a:t>().</a:t>
            </a:r>
            <a:r>
              <a:rPr lang="en-US" dirty="0" err="1"/>
              <a:t>readLine</a:t>
            </a:r>
            <a:r>
              <a:rPr lang="en-US" dirty="0"/>
              <a:t>("Enter a"));</a:t>
            </a:r>
          </a:p>
          <a:p>
            <a:pPr marL="0" indent="0">
              <a:buNone/>
            </a:pPr>
            <a:r>
              <a:rPr lang="en-US" dirty="0"/>
              <a:t>            b= </a:t>
            </a:r>
            <a:r>
              <a:rPr lang="en-US" dirty="0" err="1"/>
              <a:t>Integer.parseInt</a:t>
            </a:r>
            <a:r>
              <a:rPr lang="en-US" dirty="0"/>
              <a:t>(</a:t>
            </a:r>
            <a:r>
              <a:rPr lang="en-US" dirty="0" err="1"/>
              <a:t>System.console</a:t>
            </a:r>
            <a:r>
              <a:rPr lang="en-US" dirty="0"/>
              <a:t>().</a:t>
            </a:r>
            <a:r>
              <a:rPr lang="en-US" dirty="0" err="1"/>
              <a:t>readLine</a:t>
            </a:r>
            <a:r>
              <a:rPr lang="en-US" dirty="0"/>
              <a:t>("Enter b"));</a:t>
            </a:r>
          </a:p>
          <a:p>
            <a:pPr marL="0" indent="0">
              <a:buNone/>
            </a:pPr>
            <a:r>
              <a:rPr lang="en-US" dirty="0"/>
              <a:t>            c=a/b;</a:t>
            </a:r>
          </a:p>
          <a:p>
            <a:pPr marL="0" indent="0">
              <a:buNone/>
            </a:pPr>
            <a:r>
              <a:rPr lang="en-US" dirty="0"/>
              <a:t>        }</a:t>
            </a:r>
            <a:endParaRPr lang="en-IN" dirty="0"/>
          </a:p>
        </p:txBody>
      </p:sp>
    </p:spTree>
    <p:extLst>
      <p:ext uri="{BB962C8B-B14F-4D97-AF65-F5344CB8AC3E}">
        <p14:creationId xmlns:p14="http://schemas.microsoft.com/office/powerpoint/2010/main" val="2640304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40000" lnSpcReduction="20000"/>
          </a:bodyPr>
          <a:lstStyle/>
          <a:p>
            <a:pPr marL="0" indent="0">
              <a:buNone/>
            </a:pPr>
            <a:r>
              <a:rPr lang="en-US" dirty="0"/>
              <a:t>catch(Exception ex)</a:t>
            </a:r>
          </a:p>
          <a:p>
            <a:pPr marL="0" indent="0">
              <a:buNone/>
            </a:pPr>
            <a:r>
              <a:rPr lang="en-US" dirty="0"/>
              <a:t>        {</a:t>
            </a:r>
          </a:p>
          <a:p>
            <a:pPr marL="0" indent="0">
              <a:buNone/>
            </a:pPr>
            <a:r>
              <a:rPr lang="en-US" dirty="0"/>
              <a:t>            </a:t>
            </a:r>
            <a:r>
              <a:rPr lang="en-US" dirty="0" err="1"/>
              <a:t>System.out.println</a:t>
            </a:r>
            <a:r>
              <a:rPr lang="en-US" dirty="0"/>
              <a:t>(ex);</a:t>
            </a:r>
          </a:p>
          <a:p>
            <a:pPr marL="0" indent="0">
              <a:buNone/>
            </a:pPr>
            <a:r>
              <a:rPr lang="en-US" dirty="0"/>
              <a:t>            a=b=c= -3;</a:t>
            </a:r>
          </a:p>
          <a:p>
            <a:pPr marL="0" indent="0">
              <a:buNone/>
            </a:pPr>
            <a:r>
              <a:rPr lang="en-US" dirty="0"/>
              <a:t>        }</a:t>
            </a:r>
          </a:p>
          <a:p>
            <a:pPr marL="0" indent="0">
              <a:buNone/>
            </a:pPr>
            <a:r>
              <a:rPr lang="en-US" dirty="0"/>
              <a:t>        catch(</a:t>
            </a:r>
            <a:r>
              <a:rPr lang="en-US" dirty="0" err="1"/>
              <a:t>NumberFormatException</a:t>
            </a:r>
            <a:r>
              <a:rPr lang="en-US" dirty="0"/>
              <a:t> ex)</a:t>
            </a:r>
          </a:p>
          <a:p>
            <a:pPr marL="0" indent="0">
              <a:buNone/>
            </a:pPr>
            <a:r>
              <a:rPr lang="en-US" dirty="0"/>
              <a:t>        {</a:t>
            </a:r>
          </a:p>
          <a:p>
            <a:pPr marL="0" indent="0">
              <a:buNone/>
            </a:pPr>
            <a:r>
              <a:rPr lang="en-US" dirty="0"/>
              <a:t>            </a:t>
            </a:r>
            <a:r>
              <a:rPr lang="en-US" dirty="0" err="1"/>
              <a:t>System.out.println</a:t>
            </a:r>
            <a:r>
              <a:rPr lang="en-US" dirty="0"/>
              <a:t>(ex);</a:t>
            </a:r>
          </a:p>
          <a:p>
            <a:pPr marL="0" indent="0">
              <a:buNone/>
            </a:pPr>
            <a:r>
              <a:rPr lang="en-US" dirty="0"/>
              <a:t>            a=b=c= -1;</a:t>
            </a:r>
          </a:p>
          <a:p>
            <a:pPr marL="0" indent="0">
              <a:buNone/>
            </a:pPr>
            <a:r>
              <a:rPr lang="en-US" dirty="0"/>
              <a:t>        }</a:t>
            </a:r>
          </a:p>
          <a:p>
            <a:pPr marL="0" indent="0">
              <a:buNone/>
            </a:pPr>
            <a:r>
              <a:rPr lang="en-US" dirty="0"/>
              <a:t>        catch(</a:t>
            </a:r>
            <a:r>
              <a:rPr lang="en-US" dirty="0" err="1"/>
              <a:t>ArithmeticException</a:t>
            </a:r>
            <a:r>
              <a:rPr lang="en-US" dirty="0"/>
              <a:t> ex)</a:t>
            </a:r>
          </a:p>
          <a:p>
            <a:pPr marL="0" indent="0">
              <a:buNone/>
            </a:pPr>
            <a:r>
              <a:rPr lang="en-US" dirty="0"/>
              <a:t>        {</a:t>
            </a:r>
          </a:p>
          <a:p>
            <a:pPr marL="0" indent="0">
              <a:buNone/>
            </a:pPr>
            <a:r>
              <a:rPr lang="en-US" dirty="0"/>
              <a:t>            </a:t>
            </a:r>
            <a:r>
              <a:rPr lang="en-US" dirty="0" err="1"/>
              <a:t>System.out.println</a:t>
            </a:r>
            <a:r>
              <a:rPr lang="en-US" dirty="0"/>
              <a:t>(ex);</a:t>
            </a:r>
          </a:p>
          <a:p>
            <a:pPr marL="0" indent="0">
              <a:buNone/>
            </a:pPr>
            <a:r>
              <a:rPr lang="en-US" dirty="0"/>
              <a:t>            a=b=c= -2;</a:t>
            </a:r>
          </a:p>
          <a:p>
            <a:pPr marL="0" indent="0">
              <a:buNone/>
            </a:pPr>
            <a:r>
              <a:rPr lang="en-US" dirty="0"/>
              <a:t>        }</a:t>
            </a:r>
          </a:p>
          <a:p>
            <a:pPr marL="0" indent="0">
              <a:buNone/>
            </a:pPr>
            <a:r>
              <a:rPr lang="en-US" dirty="0"/>
              <a:t>      </a:t>
            </a:r>
          </a:p>
          <a:p>
            <a:pPr marL="0" indent="0">
              <a:buNone/>
            </a:pPr>
            <a:r>
              <a:rPr lang="en-US" dirty="0"/>
              <a:t>        finally</a:t>
            </a:r>
          </a:p>
          <a:p>
            <a:pPr marL="0" indent="0">
              <a:buNone/>
            </a:pPr>
            <a:r>
              <a:rPr lang="en-US" dirty="0"/>
              <a:t>        {</a:t>
            </a:r>
          </a:p>
          <a:p>
            <a:pPr marL="0" indent="0">
              <a:buNone/>
            </a:pPr>
            <a:r>
              <a:rPr lang="en-US" dirty="0"/>
              <a:t>            </a:t>
            </a:r>
            <a:r>
              <a:rPr lang="en-US" dirty="0" err="1"/>
              <a:t>System.out.println</a:t>
            </a:r>
            <a:r>
              <a:rPr lang="en-US" dirty="0"/>
              <a:t>(a+"  "+b+"  "+c);</a:t>
            </a:r>
          </a:p>
          <a:p>
            <a:pPr marL="0" indent="0">
              <a:buNone/>
            </a:pPr>
            <a:r>
              <a:rPr lang="en-US" dirty="0"/>
              <a:t>        }</a:t>
            </a:r>
          </a:p>
          <a:p>
            <a:pPr marL="0" indent="0">
              <a:buNone/>
            </a:pPr>
            <a:r>
              <a:rPr lang="en-US" dirty="0"/>
              <a:t>        }</a:t>
            </a:r>
          </a:p>
          <a:p>
            <a:pPr marL="0" indent="0">
              <a:buNone/>
            </a:pPr>
            <a:r>
              <a:rPr lang="en-US" dirty="0"/>
              <a:t>}</a:t>
            </a:r>
          </a:p>
          <a:p>
            <a:pPr marL="0" indent="0">
              <a:buNone/>
            </a:pPr>
            <a:endParaRPr lang="en-US" dirty="0"/>
          </a:p>
          <a:p>
            <a:pPr marL="0" indent="0">
              <a:buNone/>
            </a:pPr>
            <a:r>
              <a:rPr lang="en-US" dirty="0"/>
              <a:t>     </a:t>
            </a:r>
          </a:p>
          <a:p>
            <a:pPr marL="0" indent="0">
              <a:buNone/>
            </a:pPr>
            <a:r>
              <a:rPr lang="en-US" dirty="0"/>
              <a:t>In the above example Exception is the parent class of </a:t>
            </a:r>
            <a:r>
              <a:rPr lang="en-US" dirty="0" err="1"/>
              <a:t>NumberFormatException</a:t>
            </a:r>
            <a:r>
              <a:rPr lang="en-US" dirty="0"/>
              <a:t> and </a:t>
            </a:r>
            <a:r>
              <a:rPr lang="en-US" dirty="0" err="1"/>
              <a:t>ArithmeticException</a:t>
            </a:r>
            <a:r>
              <a:rPr lang="en-US" dirty="0"/>
              <a:t> so these both exceptions will be cached by the first catch block.</a:t>
            </a:r>
          </a:p>
          <a:p>
            <a:pPr marL="0" indent="0">
              <a:buNone/>
            </a:pPr>
            <a:r>
              <a:rPr lang="en-US" dirty="0"/>
              <a:t>So second and third cache clocks never execute and become unreachable.</a:t>
            </a:r>
          </a:p>
          <a:p>
            <a:pPr marL="0" indent="0">
              <a:buNone/>
            </a:pPr>
            <a:r>
              <a:rPr lang="en-US" dirty="0"/>
              <a:t>So here your program will not compile and run.</a:t>
            </a:r>
            <a:endParaRPr lang="en-IN" dirty="0"/>
          </a:p>
        </p:txBody>
      </p:sp>
    </p:spTree>
    <p:extLst>
      <p:ext uri="{BB962C8B-B14F-4D97-AF65-F5344CB8AC3E}">
        <p14:creationId xmlns:p14="http://schemas.microsoft.com/office/powerpoint/2010/main" val="2640304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32500" lnSpcReduction="20000"/>
          </a:bodyPr>
          <a:lstStyle/>
          <a:p>
            <a:r>
              <a:rPr lang="en-IN" b="1" dirty="0"/>
              <a:t>Different places to handle exceptions -</a:t>
            </a:r>
          </a:p>
          <a:p>
            <a:r>
              <a:rPr lang="en-IN" dirty="0"/>
              <a:t>We can handle exception either in the same class where they occur or in some other class that is using methods of that class that may generate exceptions.</a:t>
            </a:r>
          </a:p>
          <a:p>
            <a:r>
              <a:rPr lang="en-IN" dirty="0"/>
              <a:t>Example 1 - Handling exception in the same class -</a:t>
            </a:r>
          </a:p>
          <a:p>
            <a:pPr marL="0" indent="0">
              <a:buNone/>
            </a:pPr>
            <a:r>
              <a:rPr lang="en-IN" dirty="0"/>
              <a:t>class Demo</a:t>
            </a:r>
          </a:p>
          <a:p>
            <a:pPr marL="0" indent="0">
              <a:buNone/>
            </a:pPr>
            <a:r>
              <a:rPr lang="en-IN" dirty="0"/>
              <a:t>{</a:t>
            </a:r>
          </a:p>
          <a:p>
            <a:pPr marL="0" indent="0">
              <a:buNone/>
            </a:pPr>
            <a:r>
              <a:rPr lang="en-IN" dirty="0"/>
              <a:t>    </a:t>
            </a:r>
            <a:r>
              <a:rPr lang="en-IN" dirty="0" err="1"/>
              <a:t>int</a:t>
            </a:r>
            <a:r>
              <a:rPr lang="en-IN" dirty="0"/>
              <a:t> a, b, c;</a:t>
            </a:r>
          </a:p>
          <a:p>
            <a:pPr marL="0" indent="0">
              <a:buNone/>
            </a:pPr>
            <a:r>
              <a:rPr lang="en-IN" dirty="0"/>
              <a:t>    public void input()</a:t>
            </a:r>
          </a:p>
          <a:p>
            <a:pPr marL="0" indent="0">
              <a:buNone/>
            </a:pPr>
            <a:r>
              <a:rPr lang="en-IN" dirty="0"/>
              <a:t>    {</a:t>
            </a:r>
          </a:p>
          <a:p>
            <a:pPr marL="0" indent="0">
              <a:buNone/>
            </a:pPr>
            <a:r>
              <a:rPr lang="en-IN" dirty="0"/>
              <a:t>        try</a:t>
            </a:r>
          </a:p>
          <a:p>
            <a:pPr marL="0" indent="0">
              <a:buNone/>
            </a:pPr>
            <a:r>
              <a:rPr lang="en-IN" dirty="0"/>
              <a:t>        {</a:t>
            </a:r>
          </a:p>
          <a:p>
            <a:pPr marL="0" indent="0">
              <a:buNone/>
            </a:pPr>
            <a:r>
              <a:rPr lang="en-IN" dirty="0"/>
              <a:t>        a = </a:t>
            </a:r>
            <a:r>
              <a:rPr lang="en-IN" dirty="0" err="1"/>
              <a:t>Integer.parseInt</a:t>
            </a:r>
            <a:r>
              <a:rPr lang="en-IN" dirty="0"/>
              <a:t>(</a:t>
            </a:r>
            <a:r>
              <a:rPr lang="en-IN" dirty="0" err="1"/>
              <a:t>System.console</a:t>
            </a:r>
            <a:r>
              <a:rPr lang="en-IN" dirty="0"/>
              <a:t>().</a:t>
            </a:r>
            <a:r>
              <a:rPr lang="en-IN" dirty="0" err="1"/>
              <a:t>readLine</a:t>
            </a:r>
            <a:r>
              <a:rPr lang="en-IN" dirty="0"/>
              <a:t>("Enter a"));</a:t>
            </a:r>
          </a:p>
          <a:p>
            <a:pPr marL="0" indent="0">
              <a:buNone/>
            </a:pPr>
            <a:r>
              <a:rPr lang="en-IN" dirty="0"/>
              <a:t>        b = </a:t>
            </a:r>
            <a:r>
              <a:rPr lang="en-IN" dirty="0" err="1"/>
              <a:t>Integer.parseInt</a:t>
            </a:r>
            <a:r>
              <a:rPr lang="en-IN" dirty="0"/>
              <a:t>(</a:t>
            </a:r>
            <a:r>
              <a:rPr lang="en-IN" dirty="0" err="1"/>
              <a:t>System.console</a:t>
            </a:r>
            <a:r>
              <a:rPr lang="en-IN" dirty="0"/>
              <a:t>().</a:t>
            </a:r>
            <a:r>
              <a:rPr lang="en-IN" dirty="0" err="1"/>
              <a:t>readLine</a:t>
            </a:r>
            <a:r>
              <a:rPr lang="en-IN" dirty="0"/>
              <a:t>("Enter b"));</a:t>
            </a:r>
          </a:p>
          <a:p>
            <a:pPr marL="0" indent="0">
              <a:buNone/>
            </a:pPr>
            <a:r>
              <a:rPr lang="en-IN" dirty="0"/>
              <a:t>        c = a/b;</a:t>
            </a:r>
          </a:p>
          <a:p>
            <a:pPr marL="0" indent="0">
              <a:buNone/>
            </a:pPr>
            <a:r>
              <a:rPr lang="en-IN" dirty="0"/>
              <a:t>        }</a:t>
            </a:r>
          </a:p>
          <a:p>
            <a:pPr marL="0" indent="0">
              <a:buNone/>
            </a:pPr>
            <a:r>
              <a:rPr lang="en-IN" dirty="0"/>
              <a:t>        catch(</a:t>
            </a:r>
            <a:r>
              <a:rPr lang="en-IN" dirty="0" err="1"/>
              <a:t>ArithmeticException</a:t>
            </a:r>
            <a:r>
              <a:rPr lang="en-IN" dirty="0"/>
              <a:t>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a=b=c=-1;</a:t>
            </a:r>
          </a:p>
          <a:p>
            <a:pPr marL="0" indent="0">
              <a:buNone/>
            </a:pPr>
            <a:r>
              <a:rPr lang="en-IN" dirty="0"/>
              <a:t>        }</a:t>
            </a:r>
          </a:p>
          <a:p>
            <a:pPr marL="0" indent="0">
              <a:buNone/>
            </a:pPr>
            <a:r>
              <a:rPr lang="en-IN" dirty="0"/>
              <a:t>        catch(</a:t>
            </a:r>
            <a:r>
              <a:rPr lang="en-IN" dirty="0" err="1"/>
              <a:t>NumberFormatException</a:t>
            </a:r>
            <a:r>
              <a:rPr lang="en-IN" dirty="0"/>
              <a:t>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a=b=c=-2;</a:t>
            </a:r>
          </a:p>
          <a:p>
            <a:pPr marL="0" indent="0">
              <a:buNone/>
            </a:pPr>
            <a:r>
              <a:rPr lang="en-IN" dirty="0"/>
              <a:t>        }</a:t>
            </a:r>
          </a:p>
          <a:p>
            <a:pPr marL="0" indent="0">
              <a:buNone/>
            </a:pPr>
            <a:r>
              <a:rPr lang="en-IN" dirty="0"/>
              <a:t>        catch(Exception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a=b=c=-3;</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(a+"  "+b+"  "+c);</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2640304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62500" lnSpcReduction="20000"/>
          </a:bodyPr>
          <a:lstStyle/>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Demo d1 = new Demo();</a:t>
            </a:r>
          </a:p>
          <a:p>
            <a:pPr marL="0" indent="0">
              <a:buNone/>
            </a:pPr>
            <a:r>
              <a:rPr lang="en-IN" dirty="0"/>
              <a:t>        d1.input();</a:t>
            </a:r>
          </a:p>
          <a:p>
            <a:pPr marL="0" indent="0">
              <a:buNone/>
            </a:pPr>
            <a:r>
              <a:rPr lang="en-IN" dirty="0"/>
              <a:t>        d1.disp();</a:t>
            </a:r>
          </a:p>
          <a:p>
            <a:pPr marL="0" indent="0">
              <a:buNone/>
            </a:pPr>
            <a:endParaRPr lang="en-IN" dirty="0"/>
          </a:p>
          <a:p>
            <a:pPr marL="0" indent="0">
              <a:buNone/>
            </a:pPr>
            <a:r>
              <a:rPr lang="en-IN" dirty="0"/>
              <a:t>    }</a:t>
            </a:r>
          </a:p>
          <a:p>
            <a:pPr marL="0" indent="0">
              <a:buNone/>
            </a:pPr>
            <a:r>
              <a:rPr lang="en-IN" dirty="0"/>
              <a:t>}</a:t>
            </a:r>
          </a:p>
          <a:p>
            <a:pPr marL="0" indent="0">
              <a:buNone/>
            </a:pPr>
            <a:r>
              <a:rPr lang="en-IN" dirty="0"/>
              <a:t>         </a:t>
            </a:r>
          </a:p>
          <a:p>
            <a:pPr marL="0" indent="0">
              <a:buNone/>
            </a:pPr>
            <a:r>
              <a:rPr lang="en-IN" dirty="0"/>
              <a:t>Output -</a:t>
            </a:r>
          </a:p>
          <a:p>
            <a:pPr marL="0" indent="0">
              <a:buNone/>
            </a:pPr>
            <a:r>
              <a:rPr lang="en-IN" dirty="0"/>
              <a:t>Enter a</a:t>
            </a:r>
          </a:p>
          <a:p>
            <a:pPr marL="0" indent="0">
              <a:buNone/>
            </a:pPr>
            <a:r>
              <a:rPr lang="en-IN" dirty="0"/>
              <a:t>10</a:t>
            </a:r>
          </a:p>
          <a:p>
            <a:pPr marL="0" indent="0">
              <a:buNone/>
            </a:pPr>
            <a:r>
              <a:rPr lang="en-IN" dirty="0"/>
              <a:t>Enter b</a:t>
            </a:r>
          </a:p>
          <a:p>
            <a:pPr marL="0" indent="0">
              <a:buNone/>
            </a:pPr>
            <a:r>
              <a:rPr lang="en-IN" dirty="0"/>
              <a:t>hello</a:t>
            </a:r>
          </a:p>
          <a:p>
            <a:pPr marL="0" indent="0">
              <a:buNone/>
            </a:pPr>
            <a:r>
              <a:rPr lang="en-IN" dirty="0" err="1"/>
              <a:t>java.lang.NumberFormatException</a:t>
            </a:r>
            <a:r>
              <a:rPr lang="en-IN" dirty="0"/>
              <a:t>: For input string: "hello"</a:t>
            </a:r>
          </a:p>
          <a:p>
            <a:pPr marL="0" indent="0">
              <a:buNone/>
            </a:pPr>
            <a:r>
              <a:rPr lang="en-IN" dirty="0"/>
              <a:t>-2  -2  -2</a:t>
            </a:r>
          </a:p>
          <a:p>
            <a:pPr marL="0" indent="0">
              <a:buNone/>
            </a:pPr>
            <a:endParaRPr lang="en-IN" dirty="0"/>
          </a:p>
        </p:txBody>
      </p:sp>
    </p:spTree>
    <p:extLst>
      <p:ext uri="{BB962C8B-B14F-4D97-AF65-F5344CB8AC3E}">
        <p14:creationId xmlns:p14="http://schemas.microsoft.com/office/powerpoint/2010/main" val="2640304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47500" lnSpcReduction="20000"/>
          </a:bodyPr>
          <a:lstStyle/>
          <a:p>
            <a:r>
              <a:rPr lang="en-IN" dirty="0"/>
              <a:t>Example 2 - Handling exception in other class -</a:t>
            </a:r>
          </a:p>
          <a:p>
            <a:pPr marL="0" indent="0">
              <a:buNone/>
            </a:pPr>
            <a:r>
              <a:rPr lang="en-IN" dirty="0"/>
              <a:t>class Demo</a:t>
            </a:r>
          </a:p>
          <a:p>
            <a:pPr marL="0" indent="0">
              <a:buNone/>
            </a:pPr>
            <a:r>
              <a:rPr lang="en-IN" dirty="0"/>
              <a:t>{</a:t>
            </a:r>
          </a:p>
          <a:p>
            <a:pPr marL="0" indent="0">
              <a:buNone/>
            </a:pPr>
            <a:r>
              <a:rPr lang="en-IN" dirty="0"/>
              <a:t>    </a:t>
            </a:r>
            <a:r>
              <a:rPr lang="en-IN" dirty="0" err="1"/>
              <a:t>int</a:t>
            </a:r>
            <a:r>
              <a:rPr lang="en-IN" dirty="0"/>
              <a:t> a, b, c;</a:t>
            </a:r>
          </a:p>
          <a:p>
            <a:pPr marL="0" indent="0">
              <a:buNone/>
            </a:pPr>
            <a:r>
              <a:rPr lang="en-IN" dirty="0"/>
              <a:t>    public void input()</a:t>
            </a:r>
          </a:p>
          <a:p>
            <a:pPr marL="0" indent="0">
              <a:buNone/>
            </a:pPr>
            <a:r>
              <a:rPr lang="en-IN" dirty="0"/>
              <a:t>    {</a:t>
            </a:r>
          </a:p>
          <a:p>
            <a:pPr marL="0" indent="0">
              <a:buNone/>
            </a:pPr>
            <a:r>
              <a:rPr lang="en-IN" dirty="0"/>
              <a:t>       </a:t>
            </a:r>
          </a:p>
          <a:p>
            <a:pPr marL="0" indent="0">
              <a:buNone/>
            </a:pPr>
            <a:r>
              <a:rPr lang="en-IN" dirty="0"/>
              <a:t>      a= </a:t>
            </a:r>
            <a:r>
              <a:rPr lang="en-IN" dirty="0" err="1"/>
              <a:t>Integer.parseInt</a:t>
            </a:r>
            <a:r>
              <a:rPr lang="en-IN" dirty="0"/>
              <a:t>(</a:t>
            </a:r>
            <a:r>
              <a:rPr lang="en-IN" dirty="0" err="1"/>
              <a:t>System.console</a:t>
            </a:r>
            <a:r>
              <a:rPr lang="en-IN" dirty="0"/>
              <a:t>().</a:t>
            </a:r>
            <a:r>
              <a:rPr lang="en-IN" dirty="0" err="1"/>
              <a:t>readLine</a:t>
            </a:r>
            <a:r>
              <a:rPr lang="en-IN" dirty="0"/>
              <a:t>("Enter a"));</a:t>
            </a:r>
          </a:p>
          <a:p>
            <a:pPr marL="0" indent="0">
              <a:buNone/>
            </a:pPr>
            <a:r>
              <a:rPr lang="en-IN" dirty="0"/>
              <a:t>      b= </a:t>
            </a:r>
            <a:r>
              <a:rPr lang="en-IN" dirty="0" err="1"/>
              <a:t>Integer.parseInt</a:t>
            </a:r>
            <a:r>
              <a:rPr lang="en-IN" dirty="0"/>
              <a:t>(</a:t>
            </a:r>
            <a:r>
              <a:rPr lang="en-IN" dirty="0" err="1"/>
              <a:t>System.console</a:t>
            </a:r>
            <a:r>
              <a:rPr lang="en-IN" dirty="0"/>
              <a:t>().</a:t>
            </a:r>
            <a:r>
              <a:rPr lang="en-IN" dirty="0" err="1"/>
              <a:t>readLine</a:t>
            </a:r>
            <a:r>
              <a:rPr lang="en-IN" dirty="0"/>
              <a:t>("Enter b"));</a:t>
            </a:r>
          </a:p>
          <a:p>
            <a:pPr marL="0" indent="0">
              <a:buNone/>
            </a:pPr>
            <a:r>
              <a:rPr lang="en-IN" dirty="0"/>
              <a:t>      c= a/b;</a:t>
            </a:r>
          </a:p>
          <a:p>
            <a:pPr marL="0" indent="0">
              <a:buNone/>
            </a:pPr>
            <a:r>
              <a:rPr lang="en-IN" dirty="0"/>
              <a:t>    }</a:t>
            </a:r>
          </a:p>
          <a:p>
            <a:pPr marL="0" indent="0">
              <a:buNone/>
            </a:pPr>
            <a:r>
              <a:rPr lang="en-IN" dirty="0"/>
              <a:t>    </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(a+"  "+b+"  "+c);</a:t>
            </a:r>
          </a:p>
          <a:p>
            <a:pPr marL="0" indent="0">
              <a:buNone/>
            </a:pPr>
            <a:r>
              <a:rPr lang="en-IN" dirty="0"/>
              <a:t>    }</a:t>
            </a:r>
          </a:p>
          <a:p>
            <a:pPr marL="0" indent="0">
              <a:buNone/>
            </a:pPr>
            <a:r>
              <a:rPr lang="en-IN" dirty="0"/>
              <a:t>    </a:t>
            </a:r>
          </a:p>
          <a:p>
            <a:pPr marL="0" indent="0">
              <a:buNone/>
            </a:pPr>
            <a:r>
              <a:rPr lang="en-IN" dirty="0"/>
              <a:t>    public void </a:t>
            </a:r>
            <a:r>
              <a:rPr lang="en-IN" dirty="0" err="1"/>
              <a:t>setVal</a:t>
            </a:r>
            <a:r>
              <a:rPr lang="en-IN" dirty="0"/>
              <a:t>(</a:t>
            </a:r>
            <a:r>
              <a:rPr lang="en-IN" dirty="0" err="1"/>
              <a:t>int</a:t>
            </a:r>
            <a:r>
              <a:rPr lang="en-IN" dirty="0"/>
              <a:t> x, </a:t>
            </a:r>
            <a:r>
              <a:rPr lang="en-IN" dirty="0" err="1"/>
              <a:t>int</a:t>
            </a:r>
            <a:r>
              <a:rPr lang="en-IN" dirty="0"/>
              <a:t> y, </a:t>
            </a:r>
            <a:r>
              <a:rPr lang="en-IN" dirty="0" err="1"/>
              <a:t>int</a:t>
            </a:r>
            <a:r>
              <a:rPr lang="en-IN" dirty="0"/>
              <a:t> z)</a:t>
            </a:r>
          </a:p>
          <a:p>
            <a:pPr marL="0" indent="0">
              <a:buNone/>
            </a:pPr>
            <a:r>
              <a:rPr lang="en-IN" dirty="0"/>
              <a:t>    {</a:t>
            </a:r>
          </a:p>
          <a:p>
            <a:pPr marL="0" indent="0">
              <a:buNone/>
            </a:pPr>
            <a:r>
              <a:rPr lang="en-IN" dirty="0"/>
              <a:t>        a = x;</a:t>
            </a:r>
          </a:p>
          <a:p>
            <a:pPr marL="0" indent="0">
              <a:buNone/>
            </a:pPr>
            <a:r>
              <a:rPr lang="en-IN" dirty="0"/>
              <a:t>        b = y;</a:t>
            </a:r>
          </a:p>
          <a:p>
            <a:pPr marL="0" indent="0">
              <a:buNone/>
            </a:pPr>
            <a:r>
              <a:rPr lang="en-IN" dirty="0"/>
              <a:t>        c = z;</a:t>
            </a:r>
          </a:p>
          <a:p>
            <a:pPr marL="0" indent="0">
              <a:buNone/>
            </a:pPr>
            <a:r>
              <a:rPr lang="en-IN" dirty="0"/>
              <a:t>    }</a:t>
            </a:r>
          </a:p>
          <a:p>
            <a:pPr marL="0" indent="0">
              <a:buNone/>
            </a:pPr>
            <a:r>
              <a:rPr lang="en-IN" dirty="0"/>
              <a:t>}</a:t>
            </a:r>
          </a:p>
          <a:p>
            <a:endParaRPr lang="en-IN" dirty="0"/>
          </a:p>
          <a:p>
            <a:endParaRPr lang="en-IN" dirty="0"/>
          </a:p>
        </p:txBody>
      </p:sp>
    </p:spTree>
    <p:extLst>
      <p:ext uri="{BB962C8B-B14F-4D97-AF65-F5344CB8AC3E}">
        <p14:creationId xmlns:p14="http://schemas.microsoft.com/office/powerpoint/2010/main" val="2640304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32500" lnSpcReduction="20000"/>
          </a:bodyPr>
          <a:lstStyle/>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Demo d1 = new Demo();</a:t>
            </a:r>
          </a:p>
          <a:p>
            <a:pPr marL="0" indent="0">
              <a:buNone/>
            </a:pPr>
            <a:r>
              <a:rPr lang="en-IN" dirty="0"/>
              <a:t>        try</a:t>
            </a:r>
          </a:p>
          <a:p>
            <a:pPr marL="0" indent="0">
              <a:buNone/>
            </a:pPr>
            <a:r>
              <a:rPr lang="en-IN" dirty="0"/>
              <a:t>        {</a:t>
            </a:r>
          </a:p>
          <a:p>
            <a:pPr marL="0" indent="0">
              <a:buNone/>
            </a:pPr>
            <a:r>
              <a:rPr lang="en-IN" dirty="0"/>
              <a:t>        d1.input();</a:t>
            </a:r>
          </a:p>
          <a:p>
            <a:pPr marL="0" indent="0">
              <a:buNone/>
            </a:pPr>
            <a:r>
              <a:rPr lang="en-IN" dirty="0"/>
              <a:t>        }</a:t>
            </a:r>
          </a:p>
          <a:p>
            <a:pPr marL="0" indent="0">
              <a:buNone/>
            </a:pPr>
            <a:r>
              <a:rPr lang="en-IN" dirty="0"/>
              <a:t>        catch(</a:t>
            </a:r>
            <a:r>
              <a:rPr lang="en-IN" dirty="0" err="1"/>
              <a:t>ArithmeticException</a:t>
            </a:r>
            <a:r>
              <a:rPr lang="en-IN" dirty="0"/>
              <a:t>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d1.setVal(-1, -1, -1);</a:t>
            </a:r>
          </a:p>
          <a:p>
            <a:pPr marL="0" indent="0">
              <a:buNone/>
            </a:pPr>
            <a:r>
              <a:rPr lang="en-IN" dirty="0"/>
              <a:t>        }</a:t>
            </a:r>
          </a:p>
          <a:p>
            <a:pPr marL="0" indent="0">
              <a:buNone/>
            </a:pPr>
            <a:r>
              <a:rPr lang="en-IN" dirty="0"/>
              <a:t>        catch(</a:t>
            </a:r>
            <a:r>
              <a:rPr lang="en-IN" dirty="0" err="1"/>
              <a:t>NumberFormatException</a:t>
            </a:r>
            <a:r>
              <a:rPr lang="en-IN" dirty="0"/>
              <a:t>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d1.setVal(-2, -2, -2);</a:t>
            </a:r>
          </a:p>
          <a:p>
            <a:pPr marL="0" indent="0">
              <a:buNone/>
            </a:pPr>
            <a:r>
              <a:rPr lang="en-IN" dirty="0"/>
              <a:t>        }</a:t>
            </a:r>
          </a:p>
          <a:p>
            <a:pPr marL="0" indent="0">
              <a:buNone/>
            </a:pPr>
            <a:r>
              <a:rPr lang="en-IN" dirty="0"/>
              <a:t>        catch(Exception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d1.setVal(-3, -3, -3);</a:t>
            </a:r>
          </a:p>
          <a:p>
            <a:pPr marL="0" indent="0">
              <a:buNone/>
            </a:pPr>
            <a:r>
              <a:rPr lang="en-IN" dirty="0"/>
              <a:t>        }</a:t>
            </a:r>
          </a:p>
          <a:p>
            <a:pPr marL="0" indent="0">
              <a:buNone/>
            </a:pPr>
            <a:r>
              <a:rPr lang="en-IN" dirty="0"/>
              <a:t>        </a:t>
            </a:r>
          </a:p>
          <a:p>
            <a:pPr marL="0" indent="0">
              <a:buNone/>
            </a:pPr>
            <a:r>
              <a:rPr lang="en-IN" dirty="0"/>
              <a:t>        d1.disp();</a:t>
            </a:r>
          </a:p>
          <a:p>
            <a:pPr marL="0" indent="0">
              <a:buNone/>
            </a:pPr>
            <a:r>
              <a:rPr lang="en-IN" dirty="0"/>
              <a:t>    }</a:t>
            </a:r>
          </a:p>
          <a:p>
            <a:pPr marL="0" indent="0">
              <a:buNone/>
            </a:pPr>
            <a:r>
              <a:rPr lang="en-IN" dirty="0"/>
              <a:t>}</a:t>
            </a:r>
          </a:p>
          <a:p>
            <a:pPr marL="0" indent="0">
              <a:buNone/>
            </a:pPr>
            <a:r>
              <a:rPr lang="en-IN" dirty="0"/>
              <a:t> </a:t>
            </a:r>
          </a:p>
          <a:p>
            <a:pPr marL="0" indent="0">
              <a:buNone/>
            </a:pPr>
            <a:r>
              <a:rPr lang="en-IN" dirty="0"/>
              <a:t>Output -</a:t>
            </a:r>
          </a:p>
          <a:p>
            <a:pPr marL="0" indent="0">
              <a:buNone/>
            </a:pPr>
            <a:r>
              <a:rPr lang="en-IN" dirty="0"/>
              <a:t>Enter a</a:t>
            </a:r>
          </a:p>
          <a:p>
            <a:pPr marL="0" indent="0">
              <a:buNone/>
            </a:pPr>
            <a:r>
              <a:rPr lang="en-IN" dirty="0"/>
              <a:t>10</a:t>
            </a:r>
          </a:p>
          <a:p>
            <a:pPr marL="0" indent="0">
              <a:buNone/>
            </a:pPr>
            <a:r>
              <a:rPr lang="en-IN" dirty="0"/>
              <a:t>Enter b</a:t>
            </a:r>
          </a:p>
          <a:p>
            <a:pPr marL="0" indent="0">
              <a:buNone/>
            </a:pPr>
            <a:r>
              <a:rPr lang="en-IN" dirty="0"/>
              <a:t>hello</a:t>
            </a:r>
          </a:p>
          <a:p>
            <a:pPr marL="0" indent="0">
              <a:buNone/>
            </a:pPr>
            <a:r>
              <a:rPr lang="en-IN" dirty="0" err="1"/>
              <a:t>java.lang.NumberFormatException</a:t>
            </a:r>
            <a:r>
              <a:rPr lang="en-IN" dirty="0"/>
              <a:t>: For input string: "hello"</a:t>
            </a:r>
          </a:p>
          <a:p>
            <a:pPr marL="0" indent="0">
              <a:buNone/>
            </a:pPr>
            <a:r>
              <a:rPr lang="en-IN" dirty="0"/>
              <a:t>-2  -2  -2</a:t>
            </a:r>
          </a:p>
          <a:p>
            <a:pPr marL="0" indent="0">
              <a:buNone/>
            </a:pPr>
            <a:endParaRPr lang="en-IN" dirty="0"/>
          </a:p>
        </p:txBody>
      </p:sp>
    </p:spTree>
    <p:extLst>
      <p:ext uri="{BB962C8B-B14F-4D97-AF65-F5344CB8AC3E}">
        <p14:creationId xmlns:p14="http://schemas.microsoft.com/office/powerpoint/2010/main" val="2640304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32500" lnSpcReduction="20000"/>
          </a:bodyPr>
          <a:lstStyle/>
          <a:p>
            <a:r>
              <a:rPr lang="en-IN" sz="6400" b="1" dirty="0"/>
              <a:t>Throwing our own Exceptions </a:t>
            </a:r>
            <a:r>
              <a:rPr lang="en-IN" sz="6400" b="1" dirty="0" smtClean="0"/>
              <a:t>–</a:t>
            </a:r>
          </a:p>
          <a:p>
            <a:endParaRPr lang="en-IN" sz="6400" b="1" dirty="0"/>
          </a:p>
          <a:p>
            <a:r>
              <a:rPr lang="en-IN" dirty="0"/>
              <a:t>You can throw exceptions explicitly by using the throw keyword. It has the following syntax -</a:t>
            </a:r>
          </a:p>
          <a:p>
            <a:r>
              <a:rPr lang="en-IN" dirty="0"/>
              <a:t>Throw </a:t>
            </a:r>
            <a:r>
              <a:rPr lang="en-IN" dirty="0" err="1"/>
              <a:t>ThrowableObject</a:t>
            </a:r>
            <a:r>
              <a:rPr lang="en-IN" dirty="0"/>
              <a:t>;</a:t>
            </a:r>
          </a:p>
          <a:p>
            <a:r>
              <a:rPr lang="en-IN" dirty="0"/>
              <a:t>Where </a:t>
            </a:r>
            <a:r>
              <a:rPr lang="en-IN" dirty="0" err="1"/>
              <a:t>ThrowableObject</a:t>
            </a:r>
            <a:r>
              <a:rPr lang="en-IN" dirty="0"/>
              <a:t> is an object of class </a:t>
            </a:r>
            <a:r>
              <a:rPr lang="en-IN" dirty="0" err="1"/>
              <a:t>Throwable</a:t>
            </a:r>
            <a:r>
              <a:rPr lang="en-IN" dirty="0"/>
              <a:t> or any of its subclass.</a:t>
            </a:r>
          </a:p>
          <a:p>
            <a:r>
              <a:rPr lang="en-IN" dirty="0"/>
              <a:t>Example -</a:t>
            </a:r>
          </a:p>
          <a:p>
            <a:pPr marL="0" indent="0">
              <a:buNone/>
            </a:pPr>
            <a:r>
              <a:rPr lang="en-IN" dirty="0"/>
              <a:t>class Demo</a:t>
            </a:r>
          </a:p>
          <a:p>
            <a:pPr marL="0" indent="0">
              <a:buNone/>
            </a:pPr>
            <a:r>
              <a:rPr lang="en-IN" dirty="0"/>
              <a:t>{</a:t>
            </a:r>
          </a:p>
          <a:p>
            <a:pPr marL="0" indent="0">
              <a:buNone/>
            </a:pPr>
            <a:r>
              <a:rPr lang="en-IN" dirty="0"/>
              <a:t>    </a:t>
            </a:r>
            <a:r>
              <a:rPr lang="en-IN" dirty="0" err="1"/>
              <a:t>int</a:t>
            </a:r>
            <a:r>
              <a:rPr lang="en-IN" dirty="0"/>
              <a:t> a, b, c;</a:t>
            </a:r>
          </a:p>
          <a:p>
            <a:pPr marL="0" indent="0">
              <a:buNone/>
            </a:pPr>
            <a:r>
              <a:rPr lang="en-IN" dirty="0"/>
              <a:t>    public void input()</a:t>
            </a:r>
          </a:p>
          <a:p>
            <a:pPr marL="0" indent="0">
              <a:buNone/>
            </a:pPr>
            <a:r>
              <a:rPr lang="en-IN" dirty="0"/>
              <a:t>    {</a:t>
            </a:r>
          </a:p>
          <a:p>
            <a:pPr marL="0" indent="0">
              <a:buNone/>
            </a:pPr>
            <a:r>
              <a:rPr lang="en-IN" dirty="0"/>
              <a:t>       </a:t>
            </a:r>
          </a:p>
          <a:p>
            <a:pPr marL="0" indent="0">
              <a:buNone/>
            </a:pPr>
            <a:r>
              <a:rPr lang="en-IN" dirty="0"/>
              <a:t>      a= </a:t>
            </a:r>
            <a:r>
              <a:rPr lang="en-IN" dirty="0" err="1"/>
              <a:t>Integer.parseInt</a:t>
            </a:r>
            <a:r>
              <a:rPr lang="en-IN" dirty="0"/>
              <a:t>(</a:t>
            </a:r>
            <a:r>
              <a:rPr lang="en-IN" dirty="0" err="1"/>
              <a:t>System.console</a:t>
            </a:r>
            <a:r>
              <a:rPr lang="en-IN" dirty="0"/>
              <a:t>().</a:t>
            </a:r>
            <a:r>
              <a:rPr lang="en-IN" dirty="0" err="1"/>
              <a:t>readLine</a:t>
            </a:r>
            <a:r>
              <a:rPr lang="en-IN" dirty="0"/>
              <a:t>("Enter a"));</a:t>
            </a:r>
          </a:p>
          <a:p>
            <a:pPr marL="0" indent="0">
              <a:buNone/>
            </a:pPr>
            <a:r>
              <a:rPr lang="en-IN" dirty="0"/>
              <a:t>      if(a &lt; 0)</a:t>
            </a:r>
          </a:p>
          <a:p>
            <a:pPr marL="0" indent="0">
              <a:buNone/>
            </a:pPr>
            <a:r>
              <a:rPr lang="en-IN" dirty="0"/>
              <a:t>      {</a:t>
            </a:r>
          </a:p>
          <a:p>
            <a:pPr marL="0" indent="0">
              <a:buNone/>
            </a:pPr>
            <a:r>
              <a:rPr lang="en-IN" dirty="0"/>
              <a:t>          throw new </a:t>
            </a:r>
            <a:r>
              <a:rPr lang="en-IN" dirty="0" err="1"/>
              <a:t>RuntimeException</a:t>
            </a:r>
            <a:r>
              <a:rPr lang="en-IN" dirty="0"/>
              <a:t>("a is wrong");</a:t>
            </a:r>
          </a:p>
          <a:p>
            <a:pPr marL="0" indent="0">
              <a:buNone/>
            </a:pPr>
            <a:r>
              <a:rPr lang="en-IN" dirty="0"/>
              <a:t>      }</a:t>
            </a:r>
          </a:p>
          <a:p>
            <a:pPr marL="0" indent="0">
              <a:buNone/>
            </a:pPr>
            <a:r>
              <a:rPr lang="en-IN" dirty="0"/>
              <a:t>      b= </a:t>
            </a:r>
            <a:r>
              <a:rPr lang="en-IN" dirty="0" err="1"/>
              <a:t>Integer.parseInt</a:t>
            </a:r>
            <a:r>
              <a:rPr lang="en-IN" dirty="0"/>
              <a:t>(</a:t>
            </a:r>
            <a:r>
              <a:rPr lang="en-IN" dirty="0" err="1"/>
              <a:t>System.console</a:t>
            </a:r>
            <a:r>
              <a:rPr lang="en-IN" dirty="0"/>
              <a:t>().</a:t>
            </a:r>
            <a:r>
              <a:rPr lang="en-IN" dirty="0" err="1"/>
              <a:t>readLine</a:t>
            </a:r>
            <a:r>
              <a:rPr lang="en-IN" dirty="0"/>
              <a:t>("Enter b"));</a:t>
            </a:r>
          </a:p>
          <a:p>
            <a:pPr marL="0" indent="0">
              <a:buNone/>
            </a:pPr>
            <a:r>
              <a:rPr lang="en-IN" dirty="0"/>
              <a:t>      if(b &lt; 0)</a:t>
            </a:r>
          </a:p>
          <a:p>
            <a:pPr marL="0" indent="0">
              <a:buNone/>
            </a:pPr>
            <a:r>
              <a:rPr lang="en-IN" dirty="0"/>
              <a:t>      {</a:t>
            </a:r>
          </a:p>
          <a:p>
            <a:pPr marL="0" indent="0">
              <a:buNone/>
            </a:pPr>
            <a:r>
              <a:rPr lang="en-IN" dirty="0"/>
              <a:t>          throw new </a:t>
            </a:r>
            <a:r>
              <a:rPr lang="en-IN" dirty="0" err="1"/>
              <a:t>RuntimeException</a:t>
            </a:r>
            <a:r>
              <a:rPr lang="en-IN" dirty="0"/>
              <a:t>("b is wrong");</a:t>
            </a:r>
          </a:p>
          <a:p>
            <a:pPr marL="0" indent="0">
              <a:buNone/>
            </a:pPr>
            <a:r>
              <a:rPr lang="en-IN" dirty="0"/>
              <a:t>      }</a:t>
            </a:r>
          </a:p>
          <a:p>
            <a:pPr marL="0" indent="0">
              <a:buNone/>
            </a:pPr>
            <a:r>
              <a:rPr lang="en-IN" dirty="0"/>
              <a:t>    </a:t>
            </a:r>
          </a:p>
          <a:p>
            <a:pPr marL="0" indent="0">
              <a:buNone/>
            </a:pPr>
            <a:r>
              <a:rPr lang="en-IN" dirty="0"/>
              <a:t>      c= a/b;</a:t>
            </a:r>
          </a:p>
          <a:p>
            <a:pPr marL="0" indent="0">
              <a:buNone/>
            </a:pPr>
            <a:r>
              <a:rPr lang="en-IN" dirty="0"/>
              <a:t>    }</a:t>
            </a:r>
          </a:p>
          <a:p>
            <a:pPr marL="0" indent="0">
              <a:buNone/>
            </a:pPr>
            <a:r>
              <a:rPr lang="en-IN" dirty="0"/>
              <a:t>        </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(a+"  "+b+"  "+c);</a:t>
            </a:r>
          </a:p>
          <a:p>
            <a:pPr marL="0" indent="0">
              <a:buNone/>
            </a:pPr>
            <a:r>
              <a:rPr lang="en-IN" dirty="0"/>
              <a:t>    }</a:t>
            </a:r>
          </a:p>
          <a:p>
            <a:pPr marL="0" indent="0">
              <a:buNone/>
            </a:pPr>
            <a:r>
              <a:rPr lang="en-IN" dirty="0"/>
              <a:t>    </a:t>
            </a:r>
          </a:p>
          <a:p>
            <a:pPr marL="0" indent="0">
              <a:buNone/>
            </a:pPr>
            <a:r>
              <a:rPr lang="en-IN" dirty="0"/>
              <a:t>    public void </a:t>
            </a:r>
            <a:r>
              <a:rPr lang="en-IN" dirty="0" err="1"/>
              <a:t>setVal</a:t>
            </a:r>
            <a:r>
              <a:rPr lang="en-IN" dirty="0"/>
              <a:t>(</a:t>
            </a:r>
            <a:r>
              <a:rPr lang="en-IN" dirty="0" err="1"/>
              <a:t>int</a:t>
            </a:r>
            <a:r>
              <a:rPr lang="en-IN" dirty="0"/>
              <a:t> x, </a:t>
            </a:r>
            <a:r>
              <a:rPr lang="en-IN" dirty="0" err="1"/>
              <a:t>int</a:t>
            </a:r>
            <a:r>
              <a:rPr lang="en-IN" dirty="0"/>
              <a:t> y, </a:t>
            </a:r>
            <a:r>
              <a:rPr lang="en-IN" dirty="0" err="1"/>
              <a:t>int</a:t>
            </a:r>
            <a:r>
              <a:rPr lang="en-IN" dirty="0"/>
              <a:t> z)</a:t>
            </a:r>
          </a:p>
          <a:p>
            <a:pPr marL="0" indent="0">
              <a:buNone/>
            </a:pPr>
            <a:r>
              <a:rPr lang="en-IN" dirty="0"/>
              <a:t>    {</a:t>
            </a:r>
          </a:p>
          <a:p>
            <a:pPr marL="0" indent="0">
              <a:buNone/>
            </a:pPr>
            <a:r>
              <a:rPr lang="en-IN" dirty="0"/>
              <a:t>        a = x;</a:t>
            </a:r>
          </a:p>
          <a:p>
            <a:pPr marL="0" indent="0">
              <a:buNone/>
            </a:pPr>
            <a:r>
              <a:rPr lang="en-IN" dirty="0"/>
              <a:t>        b = y;</a:t>
            </a:r>
          </a:p>
          <a:p>
            <a:pPr marL="0" indent="0">
              <a:buNone/>
            </a:pPr>
            <a:r>
              <a:rPr lang="en-IN" dirty="0"/>
              <a:t>        c = z;</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2640304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32500" lnSpcReduction="20000"/>
          </a:bodyPr>
          <a:lstStyle/>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Demo d1 = new Demo();</a:t>
            </a:r>
          </a:p>
          <a:p>
            <a:pPr marL="0" indent="0">
              <a:buNone/>
            </a:pPr>
            <a:r>
              <a:rPr lang="en-IN" dirty="0"/>
              <a:t>        try</a:t>
            </a:r>
          </a:p>
          <a:p>
            <a:pPr marL="0" indent="0">
              <a:buNone/>
            </a:pPr>
            <a:r>
              <a:rPr lang="en-IN" dirty="0"/>
              <a:t>        {</a:t>
            </a:r>
          </a:p>
          <a:p>
            <a:pPr marL="0" indent="0">
              <a:buNone/>
            </a:pPr>
            <a:r>
              <a:rPr lang="en-IN" dirty="0"/>
              <a:t>        d1.input();</a:t>
            </a:r>
          </a:p>
          <a:p>
            <a:pPr marL="0" indent="0">
              <a:buNone/>
            </a:pPr>
            <a:r>
              <a:rPr lang="en-IN" dirty="0"/>
              <a:t>        }</a:t>
            </a:r>
          </a:p>
          <a:p>
            <a:pPr marL="0" indent="0">
              <a:buNone/>
            </a:pPr>
            <a:r>
              <a:rPr lang="en-IN" dirty="0"/>
              <a:t>        catch(</a:t>
            </a:r>
            <a:r>
              <a:rPr lang="en-IN" dirty="0" err="1"/>
              <a:t>ArithmeticException</a:t>
            </a:r>
            <a:r>
              <a:rPr lang="en-IN" dirty="0"/>
              <a:t>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d1.setVal(-1, -1, -1);</a:t>
            </a:r>
          </a:p>
          <a:p>
            <a:pPr marL="0" indent="0">
              <a:buNone/>
            </a:pPr>
            <a:r>
              <a:rPr lang="en-IN" dirty="0"/>
              <a:t>        }</a:t>
            </a:r>
          </a:p>
          <a:p>
            <a:pPr marL="0" indent="0">
              <a:buNone/>
            </a:pPr>
            <a:r>
              <a:rPr lang="en-IN" dirty="0"/>
              <a:t>        catch(</a:t>
            </a:r>
            <a:r>
              <a:rPr lang="en-IN" dirty="0" err="1"/>
              <a:t>NumberFormatException</a:t>
            </a:r>
            <a:r>
              <a:rPr lang="en-IN" dirty="0"/>
              <a:t>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d1.setVal(-2, -2, -2);</a:t>
            </a:r>
          </a:p>
          <a:p>
            <a:pPr marL="0" indent="0">
              <a:buNone/>
            </a:pPr>
            <a:r>
              <a:rPr lang="en-IN" dirty="0"/>
              <a:t>        }</a:t>
            </a:r>
          </a:p>
          <a:p>
            <a:pPr marL="0" indent="0">
              <a:buNone/>
            </a:pPr>
            <a:r>
              <a:rPr lang="en-IN" dirty="0"/>
              <a:t>        catch(</a:t>
            </a:r>
            <a:r>
              <a:rPr lang="en-IN" dirty="0" err="1"/>
              <a:t>RuntimeException</a:t>
            </a:r>
            <a:r>
              <a:rPr lang="en-IN" dirty="0"/>
              <a:t>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d1.setVal(-3, -3, -3);</a:t>
            </a:r>
          </a:p>
          <a:p>
            <a:pPr marL="0" indent="0">
              <a:buNone/>
            </a:pPr>
            <a:r>
              <a:rPr lang="en-IN" dirty="0"/>
              <a:t>        }</a:t>
            </a:r>
          </a:p>
          <a:p>
            <a:pPr marL="0" indent="0">
              <a:buNone/>
            </a:pPr>
            <a:r>
              <a:rPr lang="en-IN" dirty="0"/>
              <a:t>        catch(Exception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d1.setVal(-4, -4, -4);</a:t>
            </a:r>
          </a:p>
          <a:p>
            <a:pPr marL="0" indent="0">
              <a:buNone/>
            </a:pPr>
            <a:r>
              <a:rPr lang="en-IN" dirty="0"/>
              <a:t>        }</a:t>
            </a:r>
          </a:p>
          <a:p>
            <a:pPr marL="0" indent="0">
              <a:buNone/>
            </a:pPr>
            <a:r>
              <a:rPr lang="en-IN" dirty="0"/>
              <a:t>        </a:t>
            </a:r>
          </a:p>
          <a:p>
            <a:pPr marL="0" indent="0">
              <a:buNone/>
            </a:pPr>
            <a:r>
              <a:rPr lang="en-IN" dirty="0"/>
              <a:t>        d1.disp();</a:t>
            </a:r>
          </a:p>
          <a:p>
            <a:pPr marL="0" indent="0">
              <a:buNone/>
            </a:pPr>
            <a:r>
              <a:rPr lang="en-IN" dirty="0"/>
              <a:t>    }</a:t>
            </a:r>
          </a:p>
          <a:p>
            <a:pPr marL="0" indent="0">
              <a:buNone/>
            </a:pPr>
            <a:r>
              <a:rPr lang="en-IN" dirty="0"/>
              <a:t>} </a:t>
            </a:r>
          </a:p>
          <a:p>
            <a:pPr marL="0" indent="0">
              <a:buNone/>
            </a:pPr>
            <a:endParaRPr lang="en-IN" dirty="0"/>
          </a:p>
          <a:p>
            <a:pPr marL="0" indent="0">
              <a:buNone/>
            </a:pPr>
            <a:r>
              <a:rPr lang="en-IN" dirty="0"/>
              <a:t>     </a:t>
            </a:r>
          </a:p>
        </p:txBody>
      </p:sp>
    </p:spTree>
    <p:extLst>
      <p:ext uri="{BB962C8B-B14F-4D97-AF65-F5344CB8AC3E}">
        <p14:creationId xmlns:p14="http://schemas.microsoft.com/office/powerpoint/2010/main" val="11516173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a:bodyPr>
          <a:lstStyle/>
          <a:p>
            <a:r>
              <a:rPr lang="en-US" sz="2000" b="1" dirty="0"/>
              <a:t>2- Checked Exceptions -</a:t>
            </a:r>
          </a:p>
          <a:p>
            <a:r>
              <a:rPr lang="en-US" sz="2000" dirty="0"/>
              <a:t>All the classes that extends the Exception or its subclasses except the </a:t>
            </a:r>
            <a:r>
              <a:rPr lang="en-US" sz="2000" dirty="0" err="1"/>
              <a:t>RuntimeException</a:t>
            </a:r>
            <a:r>
              <a:rPr lang="en-US" sz="2000" dirty="0"/>
              <a:t> comes under the category of Checked Exception.</a:t>
            </a:r>
          </a:p>
          <a:p>
            <a:r>
              <a:rPr lang="en-US" sz="2000" dirty="0"/>
              <a:t>In case of checked exceptions, the compiler will check whether you've handled the exception in a method where the exception may be thrown or </a:t>
            </a:r>
            <a:r>
              <a:rPr lang="en-US" sz="2000" dirty="0" err="1"/>
              <a:t>you?ve</a:t>
            </a:r>
            <a:r>
              <a:rPr lang="en-US" sz="2000" dirty="0"/>
              <a:t> indicated that the method can throw such an exception.</a:t>
            </a:r>
          </a:p>
          <a:p>
            <a:r>
              <a:rPr lang="en-US" sz="2000" dirty="0"/>
              <a:t>If you do neither, your code won't even compile.</a:t>
            </a:r>
          </a:p>
          <a:p>
            <a:r>
              <a:rPr lang="en-US" sz="2000" dirty="0"/>
              <a:t>Some common Checked Exceptions are as follows -</a:t>
            </a:r>
          </a:p>
          <a:p>
            <a:endParaRPr lang="en-IN" sz="20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581400"/>
            <a:ext cx="8534400" cy="153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9406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32500" lnSpcReduction="20000"/>
          </a:bodyPr>
          <a:lstStyle/>
          <a:p>
            <a:r>
              <a:rPr lang="en-IN" dirty="0"/>
              <a:t>Example -</a:t>
            </a:r>
          </a:p>
          <a:p>
            <a:pPr marL="0" indent="0">
              <a:buNone/>
            </a:pPr>
            <a:r>
              <a:rPr lang="en-IN" dirty="0"/>
              <a:t>import </a:t>
            </a:r>
            <a:r>
              <a:rPr lang="en-IN" dirty="0" err="1"/>
              <a:t>java.io.IOException</a:t>
            </a:r>
            <a:r>
              <a:rPr lang="en-IN" dirty="0"/>
              <a:t>;   </a:t>
            </a:r>
          </a:p>
          <a:p>
            <a:pPr marL="0" indent="0">
              <a:buNone/>
            </a:pPr>
            <a:r>
              <a:rPr lang="en-IN" dirty="0"/>
              <a:t>class Demo</a:t>
            </a:r>
          </a:p>
          <a:p>
            <a:pPr marL="0" indent="0">
              <a:buNone/>
            </a:pPr>
            <a:r>
              <a:rPr lang="en-IN" dirty="0"/>
              <a:t>{</a:t>
            </a:r>
          </a:p>
          <a:p>
            <a:pPr marL="0" indent="0">
              <a:buNone/>
            </a:pPr>
            <a:r>
              <a:rPr lang="en-IN" dirty="0"/>
              <a:t>    private </a:t>
            </a:r>
            <a:r>
              <a:rPr lang="en-IN" dirty="0" err="1"/>
              <a:t>int</a:t>
            </a:r>
            <a:r>
              <a:rPr lang="en-IN" dirty="0"/>
              <a:t> roll;</a:t>
            </a:r>
          </a:p>
          <a:p>
            <a:pPr marL="0" indent="0">
              <a:buNone/>
            </a:pPr>
            <a:r>
              <a:rPr lang="en-IN" dirty="0"/>
              <a:t>    private </a:t>
            </a:r>
            <a:r>
              <a:rPr lang="en-IN" dirty="0" err="1"/>
              <a:t>int</a:t>
            </a:r>
            <a:r>
              <a:rPr lang="en-IN" dirty="0"/>
              <a:t> marks;</a:t>
            </a:r>
          </a:p>
          <a:p>
            <a:pPr marL="0" indent="0">
              <a:buNone/>
            </a:pPr>
            <a:r>
              <a:rPr lang="en-IN" dirty="0"/>
              <a:t>    </a:t>
            </a:r>
          </a:p>
          <a:p>
            <a:pPr marL="0" indent="0">
              <a:buNone/>
            </a:pPr>
            <a:r>
              <a:rPr lang="en-IN" dirty="0"/>
              <a:t>     public void </a:t>
            </a:r>
            <a:r>
              <a:rPr lang="en-IN" dirty="0" err="1"/>
              <a:t>setRoll</a:t>
            </a:r>
            <a:r>
              <a:rPr lang="en-IN" dirty="0"/>
              <a:t>(</a:t>
            </a:r>
            <a:r>
              <a:rPr lang="en-IN" dirty="0" err="1"/>
              <a:t>int</a:t>
            </a:r>
            <a:r>
              <a:rPr lang="en-IN" dirty="0"/>
              <a:t> r) throws </a:t>
            </a:r>
            <a:r>
              <a:rPr lang="en-IN" dirty="0" err="1"/>
              <a:t>IOException</a:t>
            </a:r>
            <a:endParaRPr lang="en-IN" dirty="0"/>
          </a:p>
          <a:p>
            <a:pPr marL="0" indent="0">
              <a:buNone/>
            </a:pPr>
            <a:r>
              <a:rPr lang="en-IN" dirty="0"/>
              <a:t>     {</a:t>
            </a:r>
          </a:p>
          <a:p>
            <a:pPr marL="0" indent="0">
              <a:buNone/>
            </a:pPr>
            <a:r>
              <a:rPr lang="en-IN" dirty="0"/>
              <a:t>        if(r &lt; 0)</a:t>
            </a:r>
          </a:p>
          <a:p>
            <a:pPr marL="0" indent="0">
              <a:buNone/>
            </a:pPr>
            <a:r>
              <a:rPr lang="en-IN" dirty="0"/>
              <a:t>        {</a:t>
            </a:r>
          </a:p>
          <a:p>
            <a:pPr marL="0" indent="0">
              <a:buNone/>
            </a:pPr>
            <a:r>
              <a:rPr lang="en-IN" dirty="0"/>
              <a:t>            throw new </a:t>
            </a:r>
            <a:r>
              <a:rPr lang="en-IN" dirty="0" err="1"/>
              <a:t>IOException</a:t>
            </a:r>
            <a:r>
              <a:rPr lang="en-IN" dirty="0"/>
              <a:t>("Roll is wrong");  // checked exception</a:t>
            </a:r>
          </a:p>
          <a:p>
            <a:pPr marL="0" indent="0">
              <a:buNone/>
            </a:pPr>
            <a:r>
              <a:rPr lang="en-IN" dirty="0"/>
              <a:t>        }</a:t>
            </a:r>
          </a:p>
          <a:p>
            <a:pPr marL="0" indent="0">
              <a:buNone/>
            </a:pPr>
            <a:r>
              <a:rPr lang="en-IN" dirty="0"/>
              <a:t>        else</a:t>
            </a:r>
          </a:p>
          <a:p>
            <a:pPr marL="0" indent="0">
              <a:buNone/>
            </a:pPr>
            <a:r>
              <a:rPr lang="en-IN" dirty="0"/>
              <a:t>        {</a:t>
            </a:r>
          </a:p>
          <a:p>
            <a:pPr marL="0" indent="0">
              <a:buNone/>
            </a:pPr>
            <a:r>
              <a:rPr lang="en-IN" dirty="0"/>
              <a:t>            roll = r;</a:t>
            </a:r>
          </a:p>
          <a:p>
            <a:pPr marL="0" indent="0">
              <a:buNone/>
            </a:pPr>
            <a:r>
              <a:rPr lang="en-IN" dirty="0"/>
              <a:t>        }</a:t>
            </a:r>
          </a:p>
          <a:p>
            <a:pPr marL="0" indent="0">
              <a:buNone/>
            </a:pPr>
            <a:r>
              <a:rPr lang="en-IN" dirty="0"/>
              <a:t>    }</a:t>
            </a:r>
          </a:p>
          <a:p>
            <a:pPr marL="0" indent="0">
              <a:buNone/>
            </a:pPr>
            <a:endParaRPr lang="en-IN" dirty="0"/>
          </a:p>
          <a:p>
            <a:pPr marL="0" indent="0">
              <a:buNone/>
            </a:pPr>
            <a:r>
              <a:rPr lang="en-IN" dirty="0"/>
              <a:t>    public </a:t>
            </a:r>
            <a:r>
              <a:rPr lang="en-IN" dirty="0" err="1"/>
              <a:t>int</a:t>
            </a:r>
            <a:r>
              <a:rPr lang="en-IN" dirty="0"/>
              <a:t> </a:t>
            </a:r>
            <a:r>
              <a:rPr lang="en-IN" dirty="0" err="1"/>
              <a:t>getRoll</a:t>
            </a:r>
            <a:r>
              <a:rPr lang="en-IN" dirty="0"/>
              <a:t>() </a:t>
            </a:r>
          </a:p>
          <a:p>
            <a:pPr marL="0" indent="0">
              <a:buNone/>
            </a:pPr>
            <a:r>
              <a:rPr lang="en-IN" dirty="0"/>
              <a:t>    {</a:t>
            </a:r>
          </a:p>
          <a:p>
            <a:pPr marL="0" indent="0">
              <a:buNone/>
            </a:pPr>
            <a:r>
              <a:rPr lang="en-IN" dirty="0"/>
              <a:t>        return roll;</a:t>
            </a:r>
          </a:p>
          <a:p>
            <a:pPr marL="0" indent="0">
              <a:buNone/>
            </a:pPr>
            <a:r>
              <a:rPr lang="en-IN" dirty="0"/>
              <a:t>    }</a:t>
            </a:r>
          </a:p>
          <a:p>
            <a:pPr marL="0" indent="0">
              <a:buNone/>
            </a:pPr>
            <a:r>
              <a:rPr lang="en-IN" dirty="0"/>
              <a:t>    </a:t>
            </a:r>
          </a:p>
          <a:p>
            <a:pPr marL="0" indent="0">
              <a:buNone/>
            </a:pPr>
            <a:r>
              <a:rPr lang="en-IN" dirty="0"/>
              <a:t>    public void </a:t>
            </a:r>
            <a:r>
              <a:rPr lang="en-IN" dirty="0" err="1"/>
              <a:t>setMarks</a:t>
            </a:r>
            <a:r>
              <a:rPr lang="en-IN" dirty="0"/>
              <a:t>(</a:t>
            </a:r>
            <a:r>
              <a:rPr lang="en-IN" dirty="0" err="1"/>
              <a:t>int</a:t>
            </a:r>
            <a:r>
              <a:rPr lang="en-IN" dirty="0"/>
              <a:t> m) </a:t>
            </a:r>
          </a:p>
          <a:p>
            <a:pPr marL="0" indent="0">
              <a:buNone/>
            </a:pPr>
            <a:r>
              <a:rPr lang="en-IN" dirty="0"/>
              <a:t>    {</a:t>
            </a:r>
          </a:p>
          <a:p>
            <a:pPr marL="0" indent="0">
              <a:buNone/>
            </a:pPr>
            <a:r>
              <a:rPr lang="en-IN" dirty="0"/>
              <a:t>        if(marks &lt;0 &amp;&amp; marks &gt;100)</a:t>
            </a:r>
          </a:p>
          <a:p>
            <a:pPr marL="0" indent="0">
              <a:buNone/>
            </a:pPr>
            <a:r>
              <a:rPr lang="en-IN" dirty="0"/>
              <a:t>        {</a:t>
            </a:r>
          </a:p>
          <a:p>
            <a:pPr marL="0" indent="0">
              <a:buNone/>
            </a:pPr>
            <a:r>
              <a:rPr lang="en-IN" dirty="0"/>
              <a:t>            throw new </a:t>
            </a:r>
            <a:r>
              <a:rPr lang="en-IN" dirty="0" err="1"/>
              <a:t>RuntimeException</a:t>
            </a:r>
            <a:r>
              <a:rPr lang="en-IN" dirty="0"/>
              <a:t>("marks is wrong");</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    public </a:t>
            </a:r>
            <a:r>
              <a:rPr lang="en-IN" dirty="0" err="1"/>
              <a:t>int</a:t>
            </a:r>
            <a:r>
              <a:rPr lang="en-IN" dirty="0"/>
              <a:t> </a:t>
            </a:r>
            <a:r>
              <a:rPr lang="en-IN" dirty="0" err="1"/>
              <a:t>getMarks</a:t>
            </a:r>
            <a:r>
              <a:rPr lang="en-IN" dirty="0"/>
              <a:t>() </a:t>
            </a:r>
          </a:p>
          <a:p>
            <a:pPr marL="0" indent="0">
              <a:buNone/>
            </a:pPr>
            <a:r>
              <a:rPr lang="en-IN" dirty="0"/>
              <a:t>    {</a:t>
            </a:r>
          </a:p>
          <a:p>
            <a:pPr marL="0" indent="0">
              <a:buNone/>
            </a:pPr>
            <a:r>
              <a:rPr lang="en-IN" dirty="0"/>
              <a:t>        return marks;</a:t>
            </a:r>
          </a:p>
          <a:p>
            <a:pPr marL="0" indent="0">
              <a:buNone/>
            </a:pPr>
            <a:r>
              <a:rPr lang="en-IN" dirty="0"/>
              <a:t>    } </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909406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40000" lnSpcReduction="20000"/>
          </a:bodyPr>
          <a:lstStyle/>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Demo d1 = new Demo();</a:t>
            </a:r>
          </a:p>
          <a:p>
            <a:pPr marL="0" indent="0">
              <a:buNone/>
            </a:pPr>
            <a:r>
              <a:rPr lang="en-IN" dirty="0"/>
              <a:t>        try</a:t>
            </a:r>
          </a:p>
          <a:p>
            <a:pPr marL="0" indent="0">
              <a:buNone/>
            </a:pPr>
            <a:r>
              <a:rPr lang="en-IN" dirty="0"/>
              <a:t>        {</a:t>
            </a:r>
          </a:p>
          <a:p>
            <a:pPr marL="0" indent="0">
              <a:buNone/>
            </a:pPr>
            <a:r>
              <a:rPr lang="en-IN" dirty="0"/>
              <a:t>            d1.setRoll(-2);</a:t>
            </a:r>
          </a:p>
          <a:p>
            <a:pPr marL="0" indent="0">
              <a:buNone/>
            </a:pPr>
            <a:r>
              <a:rPr lang="en-IN" dirty="0"/>
              <a:t>            d1.setMarks(80);</a:t>
            </a:r>
          </a:p>
          <a:p>
            <a:pPr marL="0" indent="0">
              <a:buNone/>
            </a:pPr>
            <a:r>
              <a:rPr lang="en-IN" dirty="0"/>
              <a:t>            </a:t>
            </a:r>
            <a:r>
              <a:rPr lang="en-IN" dirty="0" err="1"/>
              <a:t>System.out.println</a:t>
            </a:r>
            <a:r>
              <a:rPr lang="en-IN" dirty="0"/>
              <a:t>(d1.getRoll());</a:t>
            </a:r>
          </a:p>
          <a:p>
            <a:pPr marL="0" indent="0">
              <a:buNone/>
            </a:pPr>
            <a:r>
              <a:rPr lang="en-IN" dirty="0"/>
              <a:t>            </a:t>
            </a:r>
            <a:r>
              <a:rPr lang="en-IN" dirty="0" err="1"/>
              <a:t>System.out.println</a:t>
            </a:r>
            <a:r>
              <a:rPr lang="en-IN" dirty="0"/>
              <a:t>(d1.getMarks());</a:t>
            </a:r>
          </a:p>
          <a:p>
            <a:pPr marL="0" indent="0">
              <a:buNone/>
            </a:pPr>
            <a:r>
              <a:rPr lang="en-IN" dirty="0"/>
              <a:t>        }</a:t>
            </a:r>
          </a:p>
          <a:p>
            <a:pPr marL="0" indent="0">
              <a:buNone/>
            </a:pPr>
            <a:r>
              <a:rPr lang="en-IN" dirty="0"/>
              <a:t>        catch(</a:t>
            </a:r>
            <a:r>
              <a:rPr lang="en-IN" dirty="0" err="1"/>
              <a:t>IOException</a:t>
            </a:r>
            <a:r>
              <a:rPr lang="en-IN" dirty="0"/>
              <a:t> ex)</a:t>
            </a:r>
          </a:p>
          <a:p>
            <a:pPr marL="0" indent="0">
              <a:buNone/>
            </a:pPr>
            <a:r>
              <a:rPr lang="en-IN" dirty="0"/>
              <a:t>        {</a:t>
            </a:r>
          </a:p>
          <a:p>
            <a:pPr marL="0" indent="0">
              <a:buNone/>
            </a:pPr>
            <a:r>
              <a:rPr lang="en-IN" dirty="0"/>
              <a:t>            </a:t>
            </a:r>
            <a:r>
              <a:rPr lang="en-IN" dirty="0" err="1"/>
              <a:t>System.err.println</a:t>
            </a:r>
            <a:r>
              <a:rPr lang="en-IN" dirty="0"/>
              <a:t>(ex);</a:t>
            </a:r>
          </a:p>
          <a:p>
            <a:pPr marL="0" indent="0">
              <a:buNone/>
            </a:pPr>
            <a:r>
              <a:rPr lang="en-IN" dirty="0"/>
              <a:t>        }</a:t>
            </a:r>
          </a:p>
          <a:p>
            <a:pPr marL="0" indent="0">
              <a:buNone/>
            </a:pPr>
            <a:r>
              <a:rPr lang="en-IN" dirty="0"/>
              <a:t>        catch(</a:t>
            </a:r>
            <a:r>
              <a:rPr lang="en-IN" dirty="0" err="1"/>
              <a:t>RuntimeException</a:t>
            </a:r>
            <a:r>
              <a:rPr lang="en-IN" dirty="0"/>
              <a:t>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a:t>
            </a:r>
          </a:p>
          <a:p>
            <a:pPr marL="0" indent="0">
              <a:buNone/>
            </a:pPr>
            <a:r>
              <a:rPr lang="en-IN" dirty="0"/>
              <a:t>        catch(Exception ex)</a:t>
            </a:r>
          </a:p>
          <a:p>
            <a:pPr marL="0" indent="0">
              <a:buNone/>
            </a:pPr>
            <a:r>
              <a:rPr lang="en-IN" dirty="0"/>
              <a:t>        {</a:t>
            </a:r>
          </a:p>
          <a:p>
            <a:pPr marL="0" indent="0">
              <a:buNone/>
            </a:pPr>
            <a:r>
              <a:rPr lang="en-IN" dirty="0"/>
              <a:t>            </a:t>
            </a:r>
            <a:r>
              <a:rPr lang="en-IN" dirty="0" err="1"/>
              <a:t>System.out.println</a:t>
            </a:r>
            <a:r>
              <a:rPr lang="en-IN" dirty="0"/>
              <a:t>(ex);</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909406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47500" lnSpcReduction="20000"/>
          </a:bodyPr>
          <a:lstStyle/>
          <a:p>
            <a:r>
              <a:rPr lang="en-US" b="1" dirty="0"/>
              <a:t>Throws keyword -</a:t>
            </a:r>
          </a:p>
          <a:p>
            <a:r>
              <a:rPr lang="en-US" dirty="0"/>
              <a:t>Throws clause is used with method declaration. It is used to throw an object of exception that a method can generate.</a:t>
            </a:r>
          </a:p>
          <a:p>
            <a:r>
              <a:rPr lang="en-US" dirty="0"/>
              <a:t>We generally use it when a method can generate exception but does not handle that exception, in that case we can inform the caller of method using throws keyword that this method can generate some type of exception and caller can handled the exception.</a:t>
            </a:r>
          </a:p>
          <a:p>
            <a:r>
              <a:rPr lang="en-US" dirty="0"/>
              <a:t>Note -</a:t>
            </a:r>
          </a:p>
          <a:p>
            <a:r>
              <a:rPr lang="en-US" dirty="0"/>
              <a:t>If your method can generate some checked exception, and you do not handle that exception using try/catch block, then it is compulsory to throw that exception using throws clause otherwise your code will not even compile.</a:t>
            </a:r>
          </a:p>
          <a:p>
            <a:r>
              <a:rPr lang="en-US" dirty="0"/>
              <a:t>However for unchecked exception it's optional.</a:t>
            </a:r>
          </a:p>
          <a:p>
            <a:endParaRPr lang="en-US" dirty="0"/>
          </a:p>
          <a:p>
            <a:r>
              <a:rPr lang="en-US" dirty="0"/>
              <a:t>Throws has the following syntax </a:t>
            </a:r>
            <a:r>
              <a:rPr lang="en-US" dirty="0" smtClean="0"/>
              <a:t>–</a:t>
            </a:r>
          </a:p>
          <a:p>
            <a:endParaRPr lang="en-US" dirty="0"/>
          </a:p>
          <a:p>
            <a:pPr marL="0" indent="0">
              <a:buNone/>
            </a:pPr>
            <a:r>
              <a:rPr lang="en-US" dirty="0" err="1"/>
              <a:t>return_type</a:t>
            </a:r>
            <a:r>
              <a:rPr lang="en-US" dirty="0"/>
              <a:t>   </a:t>
            </a:r>
            <a:r>
              <a:rPr lang="en-US" dirty="0" err="1"/>
              <a:t>method_Name</a:t>
            </a:r>
            <a:r>
              <a:rPr lang="en-US" dirty="0"/>
              <a:t>(parameter list) throws exception1, exception2,... exception n</a:t>
            </a:r>
          </a:p>
          <a:p>
            <a:pPr marL="0" indent="0">
              <a:buNone/>
            </a:pPr>
            <a:r>
              <a:rPr lang="en-US" dirty="0"/>
              <a:t>{</a:t>
            </a:r>
          </a:p>
          <a:p>
            <a:pPr marL="0" indent="0">
              <a:buNone/>
            </a:pPr>
            <a:r>
              <a:rPr lang="en-US" dirty="0"/>
              <a:t> // body of method;</a:t>
            </a:r>
          </a:p>
          <a:p>
            <a:pPr marL="0" indent="0">
              <a:buNone/>
            </a:pPr>
            <a:r>
              <a:rPr lang="en-US" dirty="0"/>
              <a:t>}</a:t>
            </a:r>
          </a:p>
          <a:p>
            <a:endParaRPr lang="en-US" dirty="0"/>
          </a:p>
          <a:p>
            <a:r>
              <a:rPr lang="en-US" dirty="0"/>
              <a:t>        </a:t>
            </a:r>
          </a:p>
          <a:p>
            <a:r>
              <a:rPr lang="en-US" dirty="0"/>
              <a:t>Note that if a method may generate more than one exception then we can throws them all by comma separated list of exceptions in method declaration.</a:t>
            </a:r>
            <a:endParaRPr lang="en-IN" dirty="0"/>
          </a:p>
        </p:txBody>
      </p:sp>
    </p:spTree>
    <p:extLst>
      <p:ext uri="{BB962C8B-B14F-4D97-AF65-F5344CB8AC3E}">
        <p14:creationId xmlns:p14="http://schemas.microsoft.com/office/powerpoint/2010/main" val="9094065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47500" lnSpcReduction="20000"/>
          </a:bodyPr>
          <a:lstStyle/>
          <a:p>
            <a:pPr marL="0" indent="0">
              <a:buNone/>
            </a:pPr>
            <a:r>
              <a:rPr lang="en-IN" dirty="0"/>
              <a:t>import </a:t>
            </a:r>
            <a:r>
              <a:rPr lang="en-IN" dirty="0" err="1"/>
              <a:t>java.io.IOException</a:t>
            </a:r>
            <a:r>
              <a:rPr lang="en-IN" dirty="0"/>
              <a:t>;</a:t>
            </a:r>
          </a:p>
          <a:p>
            <a:pPr marL="0" indent="0">
              <a:buNone/>
            </a:pPr>
            <a:r>
              <a:rPr lang="en-IN" dirty="0"/>
              <a:t>import </a:t>
            </a:r>
            <a:r>
              <a:rPr lang="en-IN" dirty="0" err="1"/>
              <a:t>java.sql.SQLException</a:t>
            </a:r>
            <a:r>
              <a:rPr lang="en-IN" dirty="0"/>
              <a:t>;</a:t>
            </a:r>
          </a:p>
          <a:p>
            <a:pPr marL="0" indent="0">
              <a:buNone/>
            </a:pPr>
            <a:endParaRPr lang="en-IN" dirty="0"/>
          </a:p>
          <a:p>
            <a:pPr marL="0" indent="0">
              <a:buNone/>
            </a:pPr>
            <a:r>
              <a:rPr lang="en-IN" dirty="0"/>
              <a:t>class Demo {</a:t>
            </a:r>
          </a:p>
          <a:p>
            <a:pPr marL="0" indent="0">
              <a:buNone/>
            </a:pPr>
            <a:r>
              <a:rPr lang="en-IN" dirty="0"/>
              <a:t>    private </a:t>
            </a:r>
            <a:r>
              <a:rPr lang="en-IN" dirty="0" err="1"/>
              <a:t>int</a:t>
            </a:r>
            <a:r>
              <a:rPr lang="en-IN" dirty="0"/>
              <a:t> roll;</a:t>
            </a:r>
          </a:p>
          <a:p>
            <a:pPr marL="0" indent="0">
              <a:buNone/>
            </a:pPr>
            <a:endParaRPr lang="en-IN" dirty="0"/>
          </a:p>
          <a:p>
            <a:pPr marL="0" indent="0">
              <a:buNone/>
            </a:pPr>
            <a:r>
              <a:rPr lang="en-IN" dirty="0"/>
              <a:t>    // This method may throw </a:t>
            </a:r>
            <a:r>
              <a:rPr lang="en-IN" dirty="0" err="1"/>
              <a:t>IOException</a:t>
            </a:r>
            <a:r>
              <a:rPr lang="en-IN" dirty="0"/>
              <a:t> or </a:t>
            </a:r>
            <a:r>
              <a:rPr lang="en-IN" dirty="0" err="1"/>
              <a:t>SQLException</a:t>
            </a:r>
            <a:endParaRPr lang="en-IN" dirty="0"/>
          </a:p>
          <a:p>
            <a:pPr marL="0" indent="0">
              <a:buNone/>
            </a:pPr>
            <a:r>
              <a:rPr lang="en-IN" dirty="0"/>
              <a:t>    public void </a:t>
            </a:r>
            <a:r>
              <a:rPr lang="en-IN" dirty="0" err="1"/>
              <a:t>setRoll</a:t>
            </a:r>
            <a:r>
              <a:rPr lang="en-IN" dirty="0"/>
              <a:t>(</a:t>
            </a:r>
            <a:r>
              <a:rPr lang="en-IN" dirty="0" err="1"/>
              <a:t>int</a:t>
            </a:r>
            <a:r>
              <a:rPr lang="en-IN" dirty="0"/>
              <a:t> r) throws </a:t>
            </a:r>
            <a:r>
              <a:rPr lang="en-IN" dirty="0" err="1"/>
              <a:t>IOException</a:t>
            </a:r>
            <a:r>
              <a:rPr lang="en-IN" dirty="0"/>
              <a:t>, </a:t>
            </a:r>
            <a:r>
              <a:rPr lang="en-IN" dirty="0" err="1"/>
              <a:t>SQLException</a:t>
            </a:r>
            <a:r>
              <a:rPr lang="en-IN" dirty="0"/>
              <a:t> {</a:t>
            </a:r>
          </a:p>
          <a:p>
            <a:pPr marL="0" indent="0">
              <a:buNone/>
            </a:pPr>
            <a:r>
              <a:rPr lang="en-IN" dirty="0"/>
              <a:t>        if (r &lt; 0) {</a:t>
            </a:r>
          </a:p>
          <a:p>
            <a:pPr marL="0" indent="0">
              <a:buNone/>
            </a:pPr>
            <a:r>
              <a:rPr lang="en-IN" dirty="0"/>
              <a:t>            throw new </a:t>
            </a:r>
            <a:r>
              <a:rPr lang="en-IN" dirty="0" err="1"/>
              <a:t>IOException</a:t>
            </a:r>
            <a:r>
              <a:rPr lang="en-IN" dirty="0"/>
              <a:t>("Roll number cannot be negative"); // Checked Exception</a:t>
            </a:r>
          </a:p>
          <a:p>
            <a:pPr marL="0" indent="0">
              <a:buNone/>
            </a:pPr>
            <a:r>
              <a:rPr lang="en-IN" dirty="0"/>
              <a:t>        } else if (r == 0) {</a:t>
            </a:r>
          </a:p>
          <a:p>
            <a:pPr marL="0" indent="0">
              <a:buNone/>
            </a:pPr>
            <a:r>
              <a:rPr lang="en-IN" dirty="0"/>
              <a:t>            throw new </a:t>
            </a:r>
            <a:r>
              <a:rPr lang="en-IN" dirty="0" err="1"/>
              <a:t>SQLException</a:t>
            </a:r>
            <a:r>
              <a:rPr lang="en-IN" dirty="0"/>
              <a:t>("Roll number cannot be zero"); // Checked Exception</a:t>
            </a:r>
          </a:p>
          <a:p>
            <a:pPr marL="0" indent="0">
              <a:buNone/>
            </a:pPr>
            <a:r>
              <a:rPr lang="en-IN" dirty="0"/>
              <a:t>        } else {</a:t>
            </a:r>
          </a:p>
          <a:p>
            <a:pPr marL="0" indent="0">
              <a:buNone/>
            </a:pPr>
            <a:r>
              <a:rPr lang="en-IN" dirty="0"/>
              <a:t>            roll = r;</a:t>
            </a:r>
          </a:p>
          <a:p>
            <a:pPr marL="0" indent="0">
              <a:buNone/>
            </a:pPr>
            <a:r>
              <a:rPr lang="en-IN" dirty="0"/>
              <a:t>        }</a:t>
            </a:r>
          </a:p>
          <a:p>
            <a:pPr marL="0" indent="0">
              <a:buNone/>
            </a:pPr>
            <a:r>
              <a:rPr lang="en-IN" dirty="0"/>
              <a:t>    }</a:t>
            </a:r>
          </a:p>
          <a:p>
            <a:pPr marL="0" indent="0">
              <a:buNone/>
            </a:pPr>
            <a:endParaRPr lang="en-IN" dirty="0"/>
          </a:p>
          <a:p>
            <a:pPr marL="0" indent="0">
              <a:buNone/>
            </a:pPr>
            <a:r>
              <a:rPr lang="en-IN" dirty="0"/>
              <a:t>    public </a:t>
            </a:r>
            <a:r>
              <a:rPr lang="en-IN" dirty="0" err="1"/>
              <a:t>int</a:t>
            </a:r>
            <a:r>
              <a:rPr lang="en-IN" dirty="0"/>
              <a:t> </a:t>
            </a:r>
            <a:r>
              <a:rPr lang="en-IN" dirty="0" err="1"/>
              <a:t>getRoll</a:t>
            </a:r>
            <a:r>
              <a:rPr lang="en-IN" dirty="0"/>
              <a:t>() {</a:t>
            </a:r>
          </a:p>
          <a:p>
            <a:pPr marL="0" indent="0">
              <a:buNone/>
            </a:pPr>
            <a:r>
              <a:rPr lang="en-IN" dirty="0"/>
              <a:t>        return roll;</a:t>
            </a:r>
          </a:p>
          <a:p>
            <a:pPr marL="0" indent="0">
              <a:buNone/>
            </a:pPr>
            <a:r>
              <a:rPr lang="en-IN" dirty="0"/>
              <a:t>    }</a:t>
            </a:r>
          </a:p>
          <a:p>
            <a:pPr marL="0" indent="0">
              <a:buNone/>
            </a:pP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909406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62500" lnSpcReduction="20000"/>
          </a:bodyPr>
          <a:lstStyle/>
          <a:p>
            <a:pPr marL="0" indent="0">
              <a:buNone/>
            </a:pPr>
            <a:r>
              <a:rPr lang="en-IN" dirty="0"/>
              <a:t>public class Call {</a:t>
            </a:r>
          </a:p>
          <a:p>
            <a:pPr marL="0" indent="0">
              <a:buNone/>
            </a:pPr>
            <a:r>
              <a:rPr lang="en-IN" dirty="0"/>
              <a:t>    public static void main(String[] </a:t>
            </a:r>
            <a:r>
              <a:rPr lang="en-IN" dirty="0" err="1"/>
              <a:t>args</a:t>
            </a:r>
            <a:r>
              <a:rPr lang="en-IN" dirty="0"/>
              <a:t>) {</a:t>
            </a:r>
          </a:p>
          <a:p>
            <a:pPr marL="0" indent="0">
              <a:buNone/>
            </a:pPr>
            <a:r>
              <a:rPr lang="en-IN" dirty="0"/>
              <a:t>        Demo d1 = new Demo();</a:t>
            </a:r>
          </a:p>
          <a:p>
            <a:pPr marL="0" indent="0">
              <a:buNone/>
            </a:pPr>
            <a:r>
              <a:rPr lang="en-IN" dirty="0"/>
              <a:t>        </a:t>
            </a:r>
          </a:p>
          <a:p>
            <a:pPr marL="0" indent="0">
              <a:buNone/>
            </a:pPr>
            <a:r>
              <a:rPr lang="en-IN" dirty="0"/>
              <a:t>        try {</a:t>
            </a:r>
          </a:p>
          <a:p>
            <a:pPr marL="0" indent="0">
              <a:buNone/>
            </a:pPr>
            <a:r>
              <a:rPr lang="en-IN" dirty="0"/>
              <a:t>            d1.setRoll(-2); // Will throw </a:t>
            </a:r>
            <a:r>
              <a:rPr lang="en-IN" dirty="0" err="1"/>
              <a:t>IOException</a:t>
            </a:r>
            <a:endParaRPr lang="en-IN" dirty="0"/>
          </a:p>
          <a:p>
            <a:pPr marL="0" indent="0">
              <a:buNone/>
            </a:pPr>
            <a:r>
              <a:rPr lang="en-IN" dirty="0"/>
              <a:t>            </a:t>
            </a:r>
            <a:r>
              <a:rPr lang="en-IN" dirty="0" err="1"/>
              <a:t>System.out.println</a:t>
            </a:r>
            <a:r>
              <a:rPr lang="en-IN" dirty="0"/>
              <a:t>("Roll Number: " + d1.getRoll());</a:t>
            </a:r>
          </a:p>
          <a:p>
            <a:pPr marL="0" indent="0">
              <a:buNone/>
            </a:pPr>
            <a:r>
              <a:rPr lang="en-IN" dirty="0"/>
              <a:t>        } </a:t>
            </a:r>
          </a:p>
          <a:p>
            <a:pPr marL="0" indent="0">
              <a:buNone/>
            </a:pPr>
            <a:r>
              <a:rPr lang="en-IN" dirty="0"/>
              <a:t>        catch (</a:t>
            </a:r>
            <a:r>
              <a:rPr lang="en-IN" dirty="0" err="1"/>
              <a:t>IOException</a:t>
            </a:r>
            <a:r>
              <a:rPr lang="en-IN" dirty="0"/>
              <a:t> ex) {</a:t>
            </a:r>
          </a:p>
          <a:p>
            <a:pPr marL="0" indent="0">
              <a:buNone/>
            </a:pPr>
            <a:r>
              <a:rPr lang="en-IN" dirty="0"/>
              <a:t>            </a:t>
            </a:r>
            <a:r>
              <a:rPr lang="en-IN" dirty="0" err="1"/>
              <a:t>System.err.println</a:t>
            </a:r>
            <a:r>
              <a:rPr lang="en-IN" dirty="0"/>
              <a:t>("Caught </a:t>
            </a:r>
            <a:r>
              <a:rPr lang="en-IN" dirty="0" err="1"/>
              <a:t>IOException</a:t>
            </a:r>
            <a:r>
              <a:rPr lang="en-IN" dirty="0"/>
              <a:t>: " + </a:t>
            </a:r>
            <a:r>
              <a:rPr lang="en-IN" dirty="0" err="1"/>
              <a:t>ex.getMessage</a:t>
            </a:r>
            <a:r>
              <a:rPr lang="en-IN" dirty="0"/>
              <a:t>());</a:t>
            </a:r>
          </a:p>
          <a:p>
            <a:pPr marL="0" indent="0">
              <a:buNone/>
            </a:pPr>
            <a:r>
              <a:rPr lang="en-IN" dirty="0"/>
              <a:t>        } </a:t>
            </a:r>
          </a:p>
          <a:p>
            <a:pPr marL="0" indent="0">
              <a:buNone/>
            </a:pPr>
            <a:r>
              <a:rPr lang="en-IN" dirty="0"/>
              <a:t>        catch (</a:t>
            </a:r>
            <a:r>
              <a:rPr lang="en-IN" dirty="0" err="1"/>
              <a:t>SQLException</a:t>
            </a:r>
            <a:r>
              <a:rPr lang="en-IN" dirty="0"/>
              <a:t> ex) {</a:t>
            </a:r>
          </a:p>
          <a:p>
            <a:pPr marL="0" indent="0">
              <a:buNone/>
            </a:pPr>
            <a:r>
              <a:rPr lang="en-IN" dirty="0"/>
              <a:t>            </a:t>
            </a:r>
            <a:r>
              <a:rPr lang="en-IN" dirty="0" err="1"/>
              <a:t>System.err.println</a:t>
            </a:r>
            <a:r>
              <a:rPr lang="en-IN" dirty="0"/>
              <a:t>("Caught </a:t>
            </a:r>
            <a:r>
              <a:rPr lang="en-IN" dirty="0" err="1"/>
              <a:t>SQLException</a:t>
            </a:r>
            <a:r>
              <a:rPr lang="en-IN" dirty="0"/>
              <a:t>: " + </a:t>
            </a:r>
            <a:r>
              <a:rPr lang="en-IN" dirty="0" err="1"/>
              <a:t>ex.getMessage</a:t>
            </a:r>
            <a:r>
              <a:rPr lang="en-IN" dirty="0"/>
              <a:t>());</a:t>
            </a:r>
          </a:p>
          <a:p>
            <a:pPr marL="0" indent="0">
              <a:buNone/>
            </a:pPr>
            <a:r>
              <a:rPr lang="en-IN" dirty="0"/>
              <a:t>        }</a:t>
            </a:r>
          </a:p>
          <a:p>
            <a:pPr marL="0" indent="0">
              <a:buNone/>
            </a:pPr>
            <a:r>
              <a:rPr lang="en-IN" dirty="0"/>
              <a:t>        catch (Exception ex) {</a:t>
            </a:r>
          </a:p>
          <a:p>
            <a:pPr marL="0" indent="0">
              <a:buNone/>
            </a:pPr>
            <a:r>
              <a:rPr lang="en-IN" dirty="0"/>
              <a:t>            </a:t>
            </a:r>
            <a:r>
              <a:rPr lang="en-IN" dirty="0" err="1"/>
              <a:t>System.err.println</a:t>
            </a:r>
            <a:r>
              <a:rPr lang="en-IN" dirty="0"/>
              <a:t>("Caught General Exception: " + </a:t>
            </a:r>
            <a:r>
              <a:rPr lang="en-IN" dirty="0" err="1"/>
              <a:t>ex.getMessage</a:t>
            </a:r>
            <a:r>
              <a:rPr lang="en-IN" dirty="0"/>
              <a:t>());</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909406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lstStyle/>
          <a:p>
            <a:r>
              <a:rPr lang="en-IN" b="1" dirty="0"/>
              <a:t>Nested </a:t>
            </a:r>
            <a:r>
              <a:rPr lang="en-IN" b="1" dirty="0" smtClean="0"/>
              <a:t>try – </a:t>
            </a:r>
          </a:p>
          <a:p>
            <a:r>
              <a:rPr lang="en-US" dirty="0"/>
              <a:t>A </a:t>
            </a:r>
            <a:r>
              <a:rPr lang="en-US" b="1" dirty="0"/>
              <a:t>nested try block</a:t>
            </a:r>
            <a:r>
              <a:rPr lang="en-US" dirty="0"/>
              <a:t> in Java refers to a try block that is placed inside another try block. This is useful when handling multiple exceptions at different levels of execution. The inner try-catch block handles exceptions specific to its scope, while the outer try-catch block can handle broader exceptions.</a:t>
            </a:r>
            <a:endParaRPr lang="en-IN" b="1" dirty="0"/>
          </a:p>
        </p:txBody>
      </p:sp>
    </p:spTree>
    <p:extLst>
      <p:ext uri="{BB962C8B-B14F-4D97-AF65-F5344CB8AC3E}">
        <p14:creationId xmlns:p14="http://schemas.microsoft.com/office/powerpoint/2010/main" val="9094065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fontScale="32500" lnSpcReduction="20000"/>
          </a:bodyPr>
          <a:lstStyle/>
          <a:p>
            <a:r>
              <a:rPr lang="en-IN" dirty="0" smtClean="0"/>
              <a:t>Example – </a:t>
            </a:r>
          </a:p>
          <a:p>
            <a:pPr marL="0" indent="0">
              <a:buNone/>
            </a:pPr>
            <a:r>
              <a:rPr lang="en-IN" dirty="0"/>
              <a:t>public class </a:t>
            </a:r>
            <a:r>
              <a:rPr lang="en-IN" dirty="0" err="1"/>
              <a:t>NestedTryExample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try {</a:t>
            </a:r>
          </a:p>
          <a:p>
            <a:pPr marL="0" indent="0">
              <a:buNone/>
            </a:pPr>
            <a:r>
              <a:rPr lang="en-IN" dirty="0"/>
              <a:t>            // Outer try block</a:t>
            </a:r>
          </a:p>
          <a:p>
            <a:pPr marL="0" indent="0">
              <a:buNone/>
            </a:pPr>
            <a:r>
              <a:rPr lang="en-IN" dirty="0"/>
              <a:t>            </a:t>
            </a:r>
            <a:r>
              <a:rPr lang="en-IN" dirty="0" err="1"/>
              <a:t>System.out.println</a:t>
            </a:r>
            <a:r>
              <a:rPr lang="en-IN" dirty="0"/>
              <a:t>("Outer try block begins");</a:t>
            </a:r>
          </a:p>
          <a:p>
            <a:pPr marL="0" indent="0">
              <a:buNone/>
            </a:pPr>
            <a:endParaRPr lang="en-IN" dirty="0"/>
          </a:p>
          <a:p>
            <a:pPr marL="0" indent="0">
              <a:buNone/>
            </a:pPr>
            <a:r>
              <a:rPr lang="en-IN" dirty="0"/>
              <a:t>            try {</a:t>
            </a:r>
          </a:p>
          <a:p>
            <a:pPr marL="0" indent="0">
              <a:buNone/>
            </a:pPr>
            <a:r>
              <a:rPr lang="en-IN" dirty="0"/>
              <a:t>                // Inner try block</a:t>
            </a:r>
          </a:p>
          <a:p>
            <a:pPr marL="0" indent="0">
              <a:buNone/>
            </a:pPr>
            <a:r>
              <a:rPr lang="en-IN" dirty="0"/>
              <a:t>                </a:t>
            </a:r>
            <a:r>
              <a:rPr lang="en-IN" dirty="0" err="1"/>
              <a:t>int</a:t>
            </a:r>
            <a:r>
              <a:rPr lang="en-IN" dirty="0"/>
              <a:t>[] </a:t>
            </a:r>
            <a:r>
              <a:rPr lang="en-IN" dirty="0" err="1"/>
              <a:t>arr</a:t>
            </a:r>
            <a:r>
              <a:rPr lang="en-IN" dirty="0"/>
              <a:t> = {10, 20, 30};</a:t>
            </a:r>
          </a:p>
          <a:p>
            <a:pPr marL="0" indent="0">
              <a:buNone/>
            </a:pPr>
            <a:r>
              <a:rPr lang="en-IN" dirty="0"/>
              <a:t>                </a:t>
            </a:r>
            <a:r>
              <a:rPr lang="en-IN" dirty="0" err="1"/>
              <a:t>System.out.println</a:t>
            </a:r>
            <a:r>
              <a:rPr lang="en-IN" dirty="0"/>
              <a:t>(</a:t>
            </a:r>
            <a:r>
              <a:rPr lang="en-IN" dirty="0" err="1"/>
              <a:t>arr</a:t>
            </a:r>
            <a:r>
              <a:rPr lang="en-IN" dirty="0"/>
              <a:t>[5]); // This will cause </a:t>
            </a:r>
            <a:r>
              <a:rPr lang="en-IN" dirty="0" err="1"/>
              <a:t>ArrayIndexOutOfBoundsException</a:t>
            </a:r>
            <a:endParaRPr lang="en-IN" dirty="0"/>
          </a:p>
          <a:p>
            <a:pPr marL="0" indent="0">
              <a:buNone/>
            </a:pPr>
            <a:r>
              <a:rPr lang="en-IN" dirty="0"/>
              <a:t>            } catch (</a:t>
            </a:r>
            <a:r>
              <a:rPr lang="en-IN" dirty="0" err="1"/>
              <a:t>ArrayIndexOutOfBoundsException</a:t>
            </a:r>
            <a:r>
              <a:rPr lang="en-IN" dirty="0"/>
              <a:t> e) {</a:t>
            </a:r>
          </a:p>
          <a:p>
            <a:pPr marL="0" indent="0">
              <a:buNone/>
            </a:pPr>
            <a:r>
              <a:rPr lang="en-IN" dirty="0"/>
              <a:t>                </a:t>
            </a:r>
            <a:r>
              <a:rPr lang="en-IN" dirty="0" err="1"/>
              <a:t>System.out.println</a:t>
            </a:r>
            <a:r>
              <a:rPr lang="en-IN" dirty="0"/>
              <a:t>("Inner catch: Array index is out of bounds!");</a:t>
            </a:r>
          </a:p>
          <a:p>
            <a:pPr marL="0" indent="0">
              <a:buNone/>
            </a:pPr>
            <a:r>
              <a:rPr lang="en-IN" dirty="0"/>
              <a:t>            }</a:t>
            </a:r>
          </a:p>
          <a:p>
            <a:pPr marL="0" indent="0">
              <a:buNone/>
            </a:pPr>
            <a:endParaRPr lang="en-IN" dirty="0"/>
          </a:p>
          <a:p>
            <a:pPr marL="0" indent="0">
              <a:buNone/>
            </a:pPr>
            <a:r>
              <a:rPr lang="en-IN" dirty="0"/>
              <a:t>            try {</a:t>
            </a:r>
          </a:p>
          <a:p>
            <a:pPr marL="0" indent="0">
              <a:buNone/>
            </a:pPr>
            <a:r>
              <a:rPr lang="en-IN" dirty="0"/>
              <a:t>                // Another inner try block</a:t>
            </a:r>
          </a:p>
          <a:p>
            <a:pPr marL="0" indent="0">
              <a:buNone/>
            </a:pPr>
            <a:r>
              <a:rPr lang="en-IN" dirty="0"/>
              <a:t>                </a:t>
            </a:r>
            <a:r>
              <a:rPr lang="en-IN" dirty="0" err="1"/>
              <a:t>int</a:t>
            </a:r>
            <a:r>
              <a:rPr lang="en-IN" dirty="0"/>
              <a:t> result = 10 / 0; // This will cause </a:t>
            </a:r>
            <a:r>
              <a:rPr lang="en-IN" dirty="0" err="1"/>
              <a:t>ArithmeticException</a:t>
            </a:r>
            <a:endParaRPr lang="en-IN" dirty="0"/>
          </a:p>
          <a:p>
            <a:pPr marL="0" indent="0">
              <a:buNone/>
            </a:pPr>
            <a:r>
              <a:rPr lang="en-IN" dirty="0"/>
              <a:t>                </a:t>
            </a:r>
            <a:r>
              <a:rPr lang="en-IN" dirty="0" err="1"/>
              <a:t>System.out.println</a:t>
            </a:r>
            <a:r>
              <a:rPr lang="en-IN" dirty="0"/>
              <a:t>("Result: " + result);</a:t>
            </a:r>
          </a:p>
          <a:p>
            <a:pPr marL="0" indent="0">
              <a:buNone/>
            </a:pPr>
            <a:r>
              <a:rPr lang="en-IN" dirty="0"/>
              <a:t>            } catch (</a:t>
            </a:r>
            <a:r>
              <a:rPr lang="en-IN" dirty="0" err="1"/>
              <a:t>ArithmeticException</a:t>
            </a:r>
            <a:r>
              <a:rPr lang="en-IN" dirty="0"/>
              <a:t> e) {</a:t>
            </a:r>
          </a:p>
          <a:p>
            <a:pPr marL="0" indent="0">
              <a:buNone/>
            </a:pPr>
            <a:r>
              <a:rPr lang="en-IN" dirty="0"/>
              <a:t>                </a:t>
            </a:r>
            <a:r>
              <a:rPr lang="en-IN" dirty="0" err="1"/>
              <a:t>System.out.println</a:t>
            </a:r>
            <a:r>
              <a:rPr lang="en-IN" dirty="0"/>
              <a:t>("Inner catch: Division by zero!");</a:t>
            </a:r>
          </a:p>
          <a:p>
            <a:pPr marL="0" indent="0">
              <a:buNone/>
            </a:pPr>
            <a:r>
              <a:rPr lang="en-IN" dirty="0"/>
              <a:t>            }</a:t>
            </a:r>
          </a:p>
          <a:p>
            <a:pPr marL="0" indent="0">
              <a:buNone/>
            </a:pPr>
            <a:endParaRPr lang="en-IN" dirty="0"/>
          </a:p>
          <a:p>
            <a:pPr marL="0" indent="0">
              <a:buNone/>
            </a:pPr>
            <a:r>
              <a:rPr lang="en-IN" dirty="0"/>
              <a:t>            </a:t>
            </a:r>
            <a:r>
              <a:rPr lang="en-IN" dirty="0" err="1"/>
              <a:t>System.out.println</a:t>
            </a:r>
            <a:r>
              <a:rPr lang="en-IN" dirty="0"/>
              <a:t>("End of outer try block");</a:t>
            </a:r>
          </a:p>
          <a:p>
            <a:pPr marL="0" indent="0">
              <a:buNone/>
            </a:pPr>
            <a:endParaRPr lang="en-IN" dirty="0"/>
          </a:p>
          <a:p>
            <a:pPr marL="0" indent="0">
              <a:buNone/>
            </a:pPr>
            <a:r>
              <a:rPr lang="en-IN" dirty="0"/>
              <a:t>        } catch (Exception e) {</a:t>
            </a:r>
          </a:p>
          <a:p>
            <a:pPr marL="0" indent="0">
              <a:buNone/>
            </a:pPr>
            <a:r>
              <a:rPr lang="en-IN" dirty="0"/>
              <a:t>            // Outer catch block handles any unhandled exceptions from inner blocks</a:t>
            </a:r>
          </a:p>
          <a:p>
            <a:pPr marL="0" indent="0">
              <a:buNone/>
            </a:pPr>
            <a:r>
              <a:rPr lang="en-IN" dirty="0"/>
              <a:t>            </a:t>
            </a:r>
            <a:r>
              <a:rPr lang="en-IN" dirty="0" err="1"/>
              <a:t>System.out.println</a:t>
            </a:r>
            <a:r>
              <a:rPr lang="en-IN" dirty="0"/>
              <a:t>("Outer catch: An exception occurred - " + e);</a:t>
            </a:r>
          </a:p>
          <a:p>
            <a:pPr marL="0" indent="0">
              <a:buNone/>
            </a:pPr>
            <a:r>
              <a:rPr lang="en-IN" dirty="0"/>
              <a:t>        }</a:t>
            </a:r>
          </a:p>
          <a:p>
            <a:pPr marL="0" indent="0">
              <a:buNone/>
            </a:pPr>
            <a:endParaRPr lang="en-IN" dirty="0"/>
          </a:p>
          <a:p>
            <a:pPr marL="0" indent="0">
              <a:buNone/>
            </a:pPr>
            <a:r>
              <a:rPr lang="en-IN" dirty="0"/>
              <a:t>        </a:t>
            </a:r>
            <a:r>
              <a:rPr lang="en-IN" dirty="0" err="1"/>
              <a:t>System.out.println</a:t>
            </a:r>
            <a:r>
              <a:rPr lang="en-IN" dirty="0"/>
              <a:t>("Program continues...");</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909406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lstStyle/>
          <a:p>
            <a:r>
              <a:rPr lang="en-US" dirty="0"/>
              <a:t>You can have multiple nested try blocks inside a single try</a:t>
            </a:r>
            <a:r>
              <a:rPr lang="en-US" dirty="0" smtClean="0"/>
              <a:t>.</a:t>
            </a:r>
          </a:p>
          <a:p>
            <a:r>
              <a:rPr lang="en-US" dirty="0" smtClean="0"/>
              <a:t>The </a:t>
            </a:r>
            <a:r>
              <a:rPr lang="en-US" dirty="0"/>
              <a:t>inner try-catch blocks handle specific exceptions</a:t>
            </a:r>
            <a:r>
              <a:rPr lang="en-US" dirty="0" smtClean="0"/>
              <a:t>.</a:t>
            </a:r>
          </a:p>
          <a:p>
            <a:r>
              <a:rPr lang="en-US" dirty="0" smtClean="0"/>
              <a:t>The </a:t>
            </a:r>
            <a:r>
              <a:rPr lang="en-US" dirty="0"/>
              <a:t>outer try-catch block acts as a fallback for exceptions not caught inside</a:t>
            </a:r>
            <a:r>
              <a:rPr lang="en-US" dirty="0" smtClean="0"/>
              <a:t>.</a:t>
            </a:r>
          </a:p>
          <a:p>
            <a:r>
              <a:rPr lang="en-US" dirty="0" smtClean="0"/>
              <a:t>Helps </a:t>
            </a:r>
            <a:r>
              <a:rPr lang="en-US" dirty="0"/>
              <a:t>in structured error handling, improving program reliability.</a:t>
            </a:r>
            <a:endParaRPr lang="en-IN" dirty="0"/>
          </a:p>
        </p:txBody>
      </p:sp>
    </p:spTree>
    <p:extLst>
      <p:ext uri="{BB962C8B-B14F-4D97-AF65-F5344CB8AC3E}">
        <p14:creationId xmlns:p14="http://schemas.microsoft.com/office/powerpoint/2010/main" val="909406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lstStyle/>
          <a:p>
            <a:r>
              <a:rPr lang="en-IN" b="1" dirty="0"/>
              <a:t>Custom Exceptions </a:t>
            </a:r>
            <a:r>
              <a:rPr lang="en-IN" b="1" dirty="0" smtClean="0"/>
              <a:t> - </a:t>
            </a:r>
          </a:p>
          <a:p>
            <a:r>
              <a:rPr lang="en-US" dirty="0"/>
              <a:t>A </a:t>
            </a:r>
            <a:r>
              <a:rPr lang="en-US" b="1" dirty="0"/>
              <a:t>custom exception</a:t>
            </a:r>
            <a:r>
              <a:rPr lang="en-US" dirty="0"/>
              <a:t> (also called a </a:t>
            </a:r>
            <a:r>
              <a:rPr lang="en-US" b="1" dirty="0"/>
              <a:t>user-defined exception</a:t>
            </a:r>
            <a:r>
              <a:rPr lang="en-US" dirty="0"/>
              <a:t>) in Java is an exception that is created by extending the Exception or </a:t>
            </a:r>
            <a:r>
              <a:rPr lang="en-US" dirty="0" err="1"/>
              <a:t>RuntimeException</a:t>
            </a:r>
            <a:r>
              <a:rPr lang="en-US" dirty="0"/>
              <a:t> class. It allows developers to define their own error types with meaningful messages and additional functionalities.</a:t>
            </a:r>
            <a:endParaRPr lang="en-IN" b="1" dirty="0"/>
          </a:p>
        </p:txBody>
      </p:sp>
    </p:spTree>
    <p:extLst>
      <p:ext uri="{BB962C8B-B14F-4D97-AF65-F5344CB8AC3E}">
        <p14:creationId xmlns:p14="http://schemas.microsoft.com/office/powerpoint/2010/main" val="373605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32500" lnSpcReduction="20000"/>
          </a:bodyPr>
          <a:lstStyle/>
          <a:p>
            <a:r>
              <a:rPr lang="en-US" b="1" dirty="0"/>
              <a:t>Creating a Custom Checked Exception</a:t>
            </a:r>
          </a:p>
          <a:p>
            <a:r>
              <a:rPr lang="en-US" dirty="0"/>
              <a:t>To create a </a:t>
            </a:r>
            <a:r>
              <a:rPr lang="en-US" b="1" dirty="0"/>
              <a:t>checked exception</a:t>
            </a:r>
            <a:r>
              <a:rPr lang="en-US" dirty="0"/>
              <a:t>, extend the Exception class</a:t>
            </a:r>
            <a:r>
              <a:rPr lang="en-US" dirty="0" smtClean="0"/>
              <a:t>.</a:t>
            </a:r>
          </a:p>
          <a:p>
            <a:endParaRPr lang="en-US" dirty="0"/>
          </a:p>
          <a:p>
            <a:pPr marL="0" indent="0">
              <a:buNone/>
            </a:pPr>
            <a:r>
              <a:rPr lang="en-IN" dirty="0"/>
              <a:t>// Custom checked exception</a:t>
            </a:r>
          </a:p>
          <a:p>
            <a:pPr marL="0" indent="0">
              <a:buNone/>
            </a:pPr>
            <a:r>
              <a:rPr lang="en-IN" dirty="0"/>
              <a:t>class </a:t>
            </a:r>
            <a:r>
              <a:rPr lang="en-IN" dirty="0" err="1"/>
              <a:t>InvalidAgeException</a:t>
            </a:r>
            <a:r>
              <a:rPr lang="en-IN" dirty="0"/>
              <a:t> extends Exception {</a:t>
            </a:r>
          </a:p>
          <a:p>
            <a:pPr marL="0" indent="0">
              <a:buNone/>
            </a:pPr>
            <a:r>
              <a:rPr lang="en-IN" dirty="0"/>
              <a:t>    // Constructor to initialize the exception message</a:t>
            </a:r>
          </a:p>
          <a:p>
            <a:pPr marL="0" indent="0">
              <a:buNone/>
            </a:pPr>
            <a:r>
              <a:rPr lang="en-IN" dirty="0"/>
              <a:t>    public </a:t>
            </a:r>
            <a:r>
              <a:rPr lang="en-IN" dirty="0" err="1"/>
              <a:t>InvalidAgeException</a:t>
            </a:r>
            <a:r>
              <a:rPr lang="en-IN" dirty="0"/>
              <a:t>(String message) {</a:t>
            </a:r>
          </a:p>
          <a:p>
            <a:pPr marL="0" indent="0">
              <a:buNone/>
            </a:pPr>
            <a:r>
              <a:rPr lang="en-IN" dirty="0"/>
              <a:t>        super(message);</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CustomExceptionExample</a:t>
            </a:r>
            <a:r>
              <a:rPr lang="en-IN" dirty="0"/>
              <a:t> {</a:t>
            </a:r>
          </a:p>
          <a:p>
            <a:pPr marL="0" indent="0">
              <a:buNone/>
            </a:pPr>
            <a:r>
              <a:rPr lang="en-IN" dirty="0"/>
              <a:t>    // Method that throws the custom exception</a:t>
            </a:r>
          </a:p>
          <a:p>
            <a:pPr marL="0" indent="0">
              <a:buNone/>
            </a:pPr>
            <a:r>
              <a:rPr lang="en-IN" dirty="0"/>
              <a:t>    static void </a:t>
            </a:r>
            <a:r>
              <a:rPr lang="en-IN" dirty="0" err="1"/>
              <a:t>validateAge</a:t>
            </a:r>
            <a:r>
              <a:rPr lang="en-IN" dirty="0"/>
              <a:t>(</a:t>
            </a:r>
            <a:r>
              <a:rPr lang="en-IN" dirty="0" err="1"/>
              <a:t>int</a:t>
            </a:r>
            <a:r>
              <a:rPr lang="en-IN" dirty="0"/>
              <a:t> age) throws </a:t>
            </a:r>
            <a:r>
              <a:rPr lang="en-IN" dirty="0" err="1"/>
              <a:t>InvalidAgeException</a:t>
            </a:r>
            <a:r>
              <a:rPr lang="en-IN" dirty="0"/>
              <a:t> {</a:t>
            </a:r>
          </a:p>
          <a:p>
            <a:pPr marL="0" indent="0">
              <a:buNone/>
            </a:pPr>
            <a:r>
              <a:rPr lang="en-IN" dirty="0"/>
              <a:t>        if (age &lt; 18) {</a:t>
            </a:r>
          </a:p>
          <a:p>
            <a:pPr marL="0" indent="0">
              <a:buNone/>
            </a:pPr>
            <a:r>
              <a:rPr lang="en-IN" dirty="0"/>
              <a:t>            throw new </a:t>
            </a:r>
            <a:r>
              <a:rPr lang="en-IN" dirty="0" err="1"/>
              <a:t>InvalidAgeException</a:t>
            </a:r>
            <a:r>
              <a:rPr lang="en-IN" dirty="0"/>
              <a:t>("Age must be 18 or above.");</a:t>
            </a:r>
          </a:p>
          <a:p>
            <a:pPr marL="0" indent="0">
              <a:buNone/>
            </a:pPr>
            <a:r>
              <a:rPr lang="en-IN" dirty="0"/>
              <a:t>        }</a:t>
            </a:r>
          </a:p>
          <a:p>
            <a:pPr marL="0" indent="0">
              <a:buNone/>
            </a:pPr>
            <a:r>
              <a:rPr lang="en-IN" dirty="0"/>
              <a:t>        </a:t>
            </a:r>
            <a:r>
              <a:rPr lang="en-IN" dirty="0" err="1"/>
              <a:t>System.out.println</a:t>
            </a:r>
            <a:r>
              <a:rPr lang="en-IN" dirty="0"/>
              <a:t>("Valid age! Access granted.");</a:t>
            </a:r>
          </a:p>
          <a:p>
            <a:pPr marL="0" indent="0">
              <a:buNone/>
            </a:pPr>
            <a:r>
              <a:rPr lang="en-IN" dirty="0"/>
              <a:t>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try {</a:t>
            </a:r>
          </a:p>
          <a:p>
            <a:pPr marL="0" indent="0">
              <a:buNone/>
            </a:pPr>
            <a:r>
              <a:rPr lang="en-IN" dirty="0"/>
              <a:t>            </a:t>
            </a:r>
            <a:r>
              <a:rPr lang="en-IN" dirty="0" err="1"/>
              <a:t>validateAge</a:t>
            </a:r>
            <a:r>
              <a:rPr lang="en-IN" dirty="0"/>
              <a:t>(16); // This will throw an exception</a:t>
            </a:r>
          </a:p>
          <a:p>
            <a:pPr marL="0" indent="0">
              <a:buNone/>
            </a:pPr>
            <a:r>
              <a:rPr lang="en-IN" dirty="0"/>
              <a:t>        } catch (</a:t>
            </a:r>
            <a:r>
              <a:rPr lang="en-IN" dirty="0" err="1"/>
              <a:t>InvalidAgeException</a:t>
            </a:r>
            <a:r>
              <a:rPr lang="en-IN" dirty="0"/>
              <a:t> e) {</a:t>
            </a:r>
          </a:p>
          <a:p>
            <a:pPr marL="0" indent="0">
              <a:buNone/>
            </a:pPr>
            <a:r>
              <a:rPr lang="en-IN" dirty="0"/>
              <a:t>            </a:t>
            </a:r>
            <a:r>
              <a:rPr lang="en-IN" dirty="0" err="1"/>
              <a:t>System.out.println</a:t>
            </a:r>
            <a:r>
              <a:rPr lang="en-IN" dirty="0"/>
              <a:t>("Exception caught: " + </a:t>
            </a:r>
            <a:r>
              <a:rPr lang="en-IN" dirty="0" err="1"/>
              <a:t>e.getMessage</a:t>
            </a:r>
            <a:r>
              <a:rPr lang="en-IN" dirty="0"/>
              <a:t>());</a:t>
            </a:r>
          </a:p>
          <a:p>
            <a:pPr marL="0" indent="0">
              <a:buNone/>
            </a:pPr>
            <a:r>
              <a:rPr lang="en-IN" dirty="0"/>
              <a:t>        }</a:t>
            </a:r>
          </a:p>
          <a:p>
            <a:pPr marL="0" indent="0">
              <a:buNone/>
            </a:pPr>
            <a:endParaRPr lang="en-IN" dirty="0"/>
          </a:p>
          <a:p>
            <a:pPr marL="0" indent="0">
              <a:buNone/>
            </a:pPr>
            <a:r>
              <a:rPr lang="en-IN" dirty="0"/>
              <a:t>        </a:t>
            </a:r>
            <a:r>
              <a:rPr lang="en-IN" dirty="0" err="1"/>
              <a:t>System.out.println</a:t>
            </a:r>
            <a:r>
              <a:rPr lang="en-IN" dirty="0"/>
              <a:t>("Program continues...");</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736054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32500" lnSpcReduction="20000"/>
          </a:bodyPr>
          <a:lstStyle/>
          <a:p>
            <a:r>
              <a:rPr lang="en-US" b="1" dirty="0"/>
              <a:t>Creating a Custom Unchecked Exception</a:t>
            </a:r>
          </a:p>
          <a:p>
            <a:r>
              <a:rPr lang="en-US" dirty="0"/>
              <a:t>To create an </a:t>
            </a:r>
            <a:r>
              <a:rPr lang="en-US" b="1" dirty="0"/>
              <a:t>unchecked exception</a:t>
            </a:r>
            <a:r>
              <a:rPr lang="en-US" dirty="0"/>
              <a:t>, extend the </a:t>
            </a:r>
            <a:r>
              <a:rPr lang="en-US" dirty="0" err="1"/>
              <a:t>RuntimeException</a:t>
            </a:r>
            <a:r>
              <a:rPr lang="en-US" dirty="0"/>
              <a:t> class.</a:t>
            </a:r>
          </a:p>
          <a:p>
            <a:pPr marL="0" indent="0">
              <a:buNone/>
            </a:pPr>
            <a:r>
              <a:rPr lang="en-IN" dirty="0"/>
              <a:t>// Custom unchecked exception</a:t>
            </a:r>
          </a:p>
          <a:p>
            <a:pPr marL="0" indent="0">
              <a:buNone/>
            </a:pPr>
            <a:r>
              <a:rPr lang="en-IN" dirty="0"/>
              <a:t>class </a:t>
            </a:r>
            <a:r>
              <a:rPr lang="en-IN" dirty="0" err="1"/>
              <a:t>InsufficientBalanceException</a:t>
            </a:r>
            <a:r>
              <a:rPr lang="en-IN" dirty="0"/>
              <a:t> extends </a:t>
            </a:r>
            <a:r>
              <a:rPr lang="en-IN" dirty="0" err="1"/>
              <a:t>RuntimeException</a:t>
            </a:r>
            <a:r>
              <a:rPr lang="en-IN" dirty="0"/>
              <a:t> {</a:t>
            </a:r>
          </a:p>
          <a:p>
            <a:pPr marL="0" indent="0">
              <a:buNone/>
            </a:pPr>
            <a:r>
              <a:rPr lang="en-IN" dirty="0"/>
              <a:t>    public </a:t>
            </a:r>
            <a:r>
              <a:rPr lang="en-IN" dirty="0" err="1"/>
              <a:t>InsufficientBalanceException</a:t>
            </a:r>
            <a:r>
              <a:rPr lang="en-IN" dirty="0"/>
              <a:t>(String message) {</a:t>
            </a:r>
          </a:p>
          <a:p>
            <a:pPr marL="0" indent="0">
              <a:buNone/>
            </a:pPr>
            <a:r>
              <a:rPr lang="en-IN" dirty="0"/>
              <a:t>        super(message);</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CustomRuntimeExceptionExample</a:t>
            </a:r>
            <a:r>
              <a:rPr lang="en-IN" dirty="0"/>
              <a:t> {</a:t>
            </a:r>
          </a:p>
          <a:p>
            <a:pPr marL="0" indent="0">
              <a:buNone/>
            </a:pPr>
            <a:r>
              <a:rPr lang="en-IN" dirty="0"/>
              <a:t>    // Method to withdraw money</a:t>
            </a:r>
          </a:p>
          <a:p>
            <a:pPr marL="0" indent="0">
              <a:buNone/>
            </a:pPr>
            <a:r>
              <a:rPr lang="en-IN" dirty="0"/>
              <a:t>    static void withdraw(double balance, double amount) {</a:t>
            </a:r>
          </a:p>
          <a:p>
            <a:pPr marL="0" indent="0">
              <a:buNone/>
            </a:pPr>
            <a:r>
              <a:rPr lang="en-IN" dirty="0"/>
              <a:t>        if (amount &gt; balance) {</a:t>
            </a:r>
          </a:p>
          <a:p>
            <a:pPr marL="0" indent="0">
              <a:buNone/>
            </a:pPr>
            <a:r>
              <a:rPr lang="en-IN" dirty="0"/>
              <a:t>            throw new </a:t>
            </a:r>
            <a:r>
              <a:rPr lang="en-IN" dirty="0" err="1"/>
              <a:t>InsufficientBalanceException</a:t>
            </a:r>
            <a:r>
              <a:rPr lang="en-IN" dirty="0"/>
              <a:t>("Insufficient balance!");</a:t>
            </a:r>
          </a:p>
          <a:p>
            <a:pPr marL="0" indent="0">
              <a:buNone/>
            </a:pPr>
            <a:r>
              <a:rPr lang="en-IN" dirty="0"/>
              <a:t>        }</a:t>
            </a:r>
          </a:p>
          <a:p>
            <a:pPr marL="0" indent="0">
              <a:buNone/>
            </a:pPr>
            <a:r>
              <a:rPr lang="en-IN" dirty="0"/>
              <a:t>        </a:t>
            </a:r>
            <a:r>
              <a:rPr lang="en-IN" dirty="0" err="1"/>
              <a:t>System.out.println</a:t>
            </a:r>
            <a:r>
              <a:rPr lang="en-IN" dirty="0"/>
              <a:t>("Withdrawal successful. Remaining balance: " + (balance - amount));</a:t>
            </a:r>
          </a:p>
          <a:p>
            <a:pPr marL="0" indent="0">
              <a:buNone/>
            </a:pPr>
            <a:r>
              <a:rPr lang="en-IN" dirty="0"/>
              <a:t>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double balance = 5000;</a:t>
            </a:r>
          </a:p>
          <a:p>
            <a:pPr marL="0" indent="0">
              <a:buNone/>
            </a:pPr>
            <a:r>
              <a:rPr lang="en-IN" dirty="0"/>
              <a:t>        double </a:t>
            </a:r>
            <a:r>
              <a:rPr lang="en-IN" dirty="0" err="1"/>
              <a:t>withdrawAmount</a:t>
            </a:r>
            <a:r>
              <a:rPr lang="en-IN" dirty="0"/>
              <a:t> = 6000;</a:t>
            </a:r>
          </a:p>
          <a:p>
            <a:pPr marL="0" indent="0">
              <a:buNone/>
            </a:pPr>
            <a:endParaRPr lang="en-IN" dirty="0"/>
          </a:p>
          <a:p>
            <a:pPr marL="0" indent="0">
              <a:buNone/>
            </a:pPr>
            <a:r>
              <a:rPr lang="en-IN" dirty="0"/>
              <a:t>        try {</a:t>
            </a:r>
          </a:p>
          <a:p>
            <a:pPr marL="0" indent="0">
              <a:buNone/>
            </a:pPr>
            <a:r>
              <a:rPr lang="en-IN" dirty="0"/>
              <a:t>            withdraw(balance, </a:t>
            </a:r>
            <a:r>
              <a:rPr lang="en-IN" dirty="0" err="1"/>
              <a:t>withdrawAmount</a:t>
            </a:r>
            <a:r>
              <a:rPr lang="en-IN" dirty="0"/>
              <a:t>); // This will throw an exception</a:t>
            </a:r>
          </a:p>
          <a:p>
            <a:pPr marL="0" indent="0">
              <a:buNone/>
            </a:pPr>
            <a:r>
              <a:rPr lang="en-IN" dirty="0"/>
              <a:t>        } catch (</a:t>
            </a:r>
            <a:r>
              <a:rPr lang="en-IN" dirty="0" err="1"/>
              <a:t>InsufficientBalanceException</a:t>
            </a:r>
            <a:r>
              <a:rPr lang="en-IN" dirty="0"/>
              <a:t> e) {</a:t>
            </a:r>
          </a:p>
          <a:p>
            <a:pPr marL="0" indent="0">
              <a:buNone/>
            </a:pPr>
            <a:r>
              <a:rPr lang="en-IN" dirty="0"/>
              <a:t>            </a:t>
            </a:r>
            <a:r>
              <a:rPr lang="en-IN" dirty="0" err="1"/>
              <a:t>System.out.println</a:t>
            </a:r>
            <a:r>
              <a:rPr lang="en-IN" dirty="0"/>
              <a:t>("Exception caught: " + </a:t>
            </a:r>
            <a:r>
              <a:rPr lang="en-IN" dirty="0" err="1"/>
              <a:t>e.getMessage</a:t>
            </a:r>
            <a:r>
              <a:rPr lang="en-IN" dirty="0"/>
              <a:t>());</a:t>
            </a:r>
          </a:p>
          <a:p>
            <a:pPr marL="0" indent="0">
              <a:buNone/>
            </a:pPr>
            <a:r>
              <a:rPr lang="en-IN" dirty="0"/>
              <a:t>        }</a:t>
            </a:r>
          </a:p>
          <a:p>
            <a:pPr marL="0" indent="0">
              <a:buNone/>
            </a:pPr>
            <a:endParaRPr lang="en-IN" dirty="0"/>
          </a:p>
          <a:p>
            <a:pPr marL="0" indent="0">
              <a:buNone/>
            </a:pPr>
            <a:r>
              <a:rPr lang="en-IN" dirty="0"/>
              <a:t>        </a:t>
            </a:r>
            <a:r>
              <a:rPr lang="en-IN" dirty="0" err="1"/>
              <a:t>System.out.println</a:t>
            </a:r>
            <a:r>
              <a:rPr lang="en-IN" dirty="0"/>
              <a:t>("Transaction process completed.");</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73605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32500" lnSpcReduction="20000"/>
          </a:bodyPr>
          <a:lstStyle/>
          <a:p>
            <a:pPr marL="0" indent="0">
              <a:buNone/>
            </a:pPr>
            <a:r>
              <a:rPr lang="en-US" b="1" dirty="0"/>
              <a:t>Custom Exception with Custom </a:t>
            </a:r>
            <a:r>
              <a:rPr lang="en-US" b="1" dirty="0" smtClean="0"/>
              <a:t>Methods - </a:t>
            </a:r>
            <a:endParaRPr lang="en-IN" b="1" dirty="0" smtClean="0"/>
          </a:p>
          <a:p>
            <a:pPr marL="0" indent="0">
              <a:buNone/>
            </a:pPr>
            <a:r>
              <a:rPr lang="en-IN" dirty="0" smtClean="0"/>
              <a:t>class </a:t>
            </a:r>
            <a:r>
              <a:rPr lang="en-IN" dirty="0" err="1"/>
              <a:t>BankException</a:t>
            </a:r>
            <a:r>
              <a:rPr lang="en-IN" dirty="0"/>
              <a:t> extends Exception {</a:t>
            </a:r>
          </a:p>
          <a:p>
            <a:pPr marL="0" indent="0">
              <a:buNone/>
            </a:pPr>
            <a:r>
              <a:rPr lang="en-IN" dirty="0"/>
              <a:t>    private double balance;</a:t>
            </a:r>
          </a:p>
          <a:p>
            <a:pPr marL="0" indent="0">
              <a:buNone/>
            </a:pPr>
            <a:endParaRPr lang="en-IN" dirty="0"/>
          </a:p>
          <a:p>
            <a:pPr marL="0" indent="0">
              <a:buNone/>
            </a:pPr>
            <a:r>
              <a:rPr lang="en-IN" dirty="0"/>
              <a:t>    public </a:t>
            </a:r>
            <a:r>
              <a:rPr lang="en-IN" dirty="0" err="1"/>
              <a:t>BankException</a:t>
            </a:r>
            <a:r>
              <a:rPr lang="en-IN" dirty="0"/>
              <a:t>(String message, double balance) {</a:t>
            </a:r>
          </a:p>
          <a:p>
            <a:pPr marL="0" indent="0">
              <a:buNone/>
            </a:pPr>
            <a:r>
              <a:rPr lang="en-IN" dirty="0"/>
              <a:t>        super(message);</a:t>
            </a:r>
          </a:p>
          <a:p>
            <a:pPr marL="0" indent="0">
              <a:buNone/>
            </a:pPr>
            <a:r>
              <a:rPr lang="en-IN" dirty="0"/>
              <a:t>        </a:t>
            </a:r>
            <a:r>
              <a:rPr lang="en-IN" dirty="0" err="1"/>
              <a:t>this.balance</a:t>
            </a:r>
            <a:r>
              <a:rPr lang="en-IN" dirty="0"/>
              <a:t> = balance;</a:t>
            </a:r>
          </a:p>
          <a:p>
            <a:pPr marL="0" indent="0">
              <a:buNone/>
            </a:pPr>
            <a:r>
              <a:rPr lang="en-IN" dirty="0"/>
              <a:t>    }</a:t>
            </a:r>
          </a:p>
          <a:p>
            <a:pPr marL="0" indent="0">
              <a:buNone/>
            </a:pPr>
            <a:endParaRPr lang="en-IN" dirty="0"/>
          </a:p>
          <a:p>
            <a:pPr marL="0" indent="0">
              <a:buNone/>
            </a:pPr>
            <a:r>
              <a:rPr lang="en-IN" dirty="0"/>
              <a:t>    public void </a:t>
            </a:r>
            <a:r>
              <a:rPr lang="en-IN" dirty="0" err="1"/>
              <a:t>suggestSolution</a:t>
            </a:r>
            <a:r>
              <a:rPr lang="en-IN" dirty="0"/>
              <a:t>() {</a:t>
            </a:r>
          </a:p>
          <a:p>
            <a:pPr marL="0" indent="0">
              <a:buNone/>
            </a:pPr>
            <a:r>
              <a:rPr lang="en-IN" dirty="0"/>
              <a:t>        </a:t>
            </a:r>
            <a:r>
              <a:rPr lang="en-IN" dirty="0" err="1"/>
              <a:t>System.out.println</a:t>
            </a:r>
            <a:r>
              <a:rPr lang="en-IN" dirty="0"/>
              <a:t>("Tip: Please deposit at least $" + (1000 - balance) + " to meet the minimum balance.");</a:t>
            </a:r>
          </a:p>
          <a:p>
            <a:pPr marL="0" indent="0">
              <a:buNone/>
            </a:pPr>
            <a:r>
              <a:rPr lang="en-IN" dirty="0"/>
              <a:t>    }</a:t>
            </a:r>
          </a:p>
          <a:p>
            <a:pPr marL="0" indent="0">
              <a:buNone/>
            </a:pPr>
            <a:r>
              <a:rPr lang="en-IN" dirty="0"/>
              <a:t>}</a:t>
            </a:r>
          </a:p>
          <a:p>
            <a:pPr marL="0" indent="0">
              <a:buNone/>
            </a:pPr>
            <a:endParaRPr lang="en-IN" dirty="0"/>
          </a:p>
          <a:p>
            <a:pPr marL="0" indent="0">
              <a:buNone/>
            </a:pPr>
            <a:r>
              <a:rPr lang="en-IN" dirty="0"/>
              <a:t>class </a:t>
            </a:r>
            <a:r>
              <a:rPr lang="en-IN" dirty="0" err="1"/>
              <a:t>BankAccount</a:t>
            </a:r>
            <a:r>
              <a:rPr lang="en-IN" dirty="0"/>
              <a:t> {</a:t>
            </a:r>
          </a:p>
          <a:p>
            <a:pPr marL="0" indent="0">
              <a:buNone/>
            </a:pPr>
            <a:r>
              <a:rPr lang="en-IN" dirty="0"/>
              <a:t>    private double balance = 500;</a:t>
            </a:r>
          </a:p>
          <a:p>
            <a:pPr marL="0" indent="0">
              <a:buNone/>
            </a:pPr>
            <a:endParaRPr lang="en-IN" dirty="0"/>
          </a:p>
          <a:p>
            <a:pPr marL="0" indent="0">
              <a:buNone/>
            </a:pPr>
            <a:r>
              <a:rPr lang="en-IN" dirty="0"/>
              <a:t>    public void withdraw(double amount) throws </a:t>
            </a:r>
            <a:r>
              <a:rPr lang="en-IN" dirty="0" err="1"/>
              <a:t>BankException</a:t>
            </a:r>
            <a:r>
              <a:rPr lang="en-IN" dirty="0"/>
              <a:t> {</a:t>
            </a:r>
          </a:p>
          <a:p>
            <a:pPr marL="0" indent="0">
              <a:buNone/>
            </a:pPr>
            <a:r>
              <a:rPr lang="en-IN" dirty="0"/>
              <a:t>        if (balance - amount &lt; 1000) {</a:t>
            </a:r>
          </a:p>
          <a:p>
            <a:pPr marL="0" indent="0">
              <a:buNone/>
            </a:pPr>
            <a:r>
              <a:rPr lang="en-IN" dirty="0"/>
              <a:t>            throw new </a:t>
            </a:r>
            <a:r>
              <a:rPr lang="en-IN" dirty="0" err="1"/>
              <a:t>BankException</a:t>
            </a:r>
            <a:r>
              <a:rPr lang="en-IN" dirty="0"/>
              <a:t>("Insufficient funds for withdrawal!", balance);</a:t>
            </a:r>
          </a:p>
          <a:p>
            <a:pPr marL="0" indent="0">
              <a:buNone/>
            </a:pPr>
            <a:r>
              <a:rPr lang="en-IN" dirty="0"/>
              <a:t>        }</a:t>
            </a:r>
          </a:p>
          <a:p>
            <a:pPr marL="0" indent="0">
              <a:buNone/>
            </a:pPr>
            <a:r>
              <a:rPr lang="en-IN" dirty="0"/>
              <a:t>        balance -= amount;</a:t>
            </a:r>
          </a:p>
          <a:p>
            <a:pPr marL="0" indent="0">
              <a:buNone/>
            </a:pPr>
            <a:r>
              <a:rPr lang="en-IN" dirty="0"/>
              <a:t>        </a:t>
            </a:r>
            <a:r>
              <a:rPr lang="en-IN" dirty="0" err="1"/>
              <a:t>System.out.println</a:t>
            </a:r>
            <a:r>
              <a:rPr lang="en-IN" dirty="0"/>
              <a:t>("Withdrawal successful! New balance: $" + balance);</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BankApp</a:t>
            </a: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BankAccount</a:t>
            </a:r>
            <a:r>
              <a:rPr lang="en-IN" dirty="0"/>
              <a:t> account = new </a:t>
            </a:r>
            <a:r>
              <a:rPr lang="en-IN" dirty="0" err="1"/>
              <a:t>BankAccount</a:t>
            </a:r>
            <a:r>
              <a:rPr lang="en-IN" dirty="0"/>
              <a:t>();</a:t>
            </a:r>
          </a:p>
          <a:p>
            <a:pPr marL="0" indent="0">
              <a:buNone/>
            </a:pPr>
            <a:r>
              <a:rPr lang="en-IN" dirty="0"/>
              <a:t>        try {</a:t>
            </a:r>
          </a:p>
          <a:p>
            <a:pPr marL="0" indent="0">
              <a:buNone/>
            </a:pPr>
            <a:r>
              <a:rPr lang="en-IN" dirty="0"/>
              <a:t>            </a:t>
            </a:r>
            <a:r>
              <a:rPr lang="en-IN" dirty="0" err="1"/>
              <a:t>account.withdraw</a:t>
            </a:r>
            <a:r>
              <a:rPr lang="en-IN" dirty="0"/>
              <a:t>(600); // Will cause an exception</a:t>
            </a:r>
          </a:p>
          <a:p>
            <a:pPr marL="0" indent="0">
              <a:buNone/>
            </a:pPr>
            <a:r>
              <a:rPr lang="en-IN" dirty="0"/>
              <a:t>        } catch (</a:t>
            </a:r>
            <a:r>
              <a:rPr lang="en-IN" dirty="0" err="1"/>
              <a:t>BankException</a:t>
            </a:r>
            <a:r>
              <a:rPr lang="en-IN" dirty="0"/>
              <a:t> e) {</a:t>
            </a:r>
          </a:p>
          <a:p>
            <a:pPr marL="0" indent="0">
              <a:buNone/>
            </a:pPr>
            <a:r>
              <a:rPr lang="en-IN" dirty="0"/>
              <a:t>            </a:t>
            </a:r>
            <a:r>
              <a:rPr lang="en-IN" dirty="0" err="1"/>
              <a:t>System.out.println</a:t>
            </a:r>
            <a:r>
              <a:rPr lang="en-IN" dirty="0"/>
              <a:t>("Exception: " + </a:t>
            </a:r>
            <a:r>
              <a:rPr lang="en-IN" dirty="0" err="1"/>
              <a:t>e.getMessage</a:t>
            </a:r>
            <a:r>
              <a:rPr lang="en-IN" dirty="0"/>
              <a:t>());</a:t>
            </a:r>
          </a:p>
          <a:p>
            <a:pPr marL="0" indent="0">
              <a:buNone/>
            </a:pPr>
            <a:r>
              <a:rPr lang="en-IN" dirty="0"/>
              <a:t>            </a:t>
            </a:r>
            <a:r>
              <a:rPr lang="en-IN" dirty="0" err="1"/>
              <a:t>e.suggestSolution</a:t>
            </a:r>
            <a:r>
              <a:rPr lang="en-IN" dirty="0"/>
              <a:t>();</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736054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47500" lnSpcReduction="20000"/>
          </a:bodyPr>
          <a:lstStyle/>
          <a:p>
            <a:r>
              <a:rPr lang="en-IN" b="1" dirty="0" smtClean="0"/>
              <a:t>Practice problems – </a:t>
            </a:r>
          </a:p>
          <a:p>
            <a:r>
              <a:rPr lang="en-US" b="1" dirty="0"/>
              <a:t>1. Basic Exception Handling</a:t>
            </a:r>
          </a:p>
          <a:p>
            <a:r>
              <a:rPr lang="en-US" dirty="0"/>
              <a:t>Write a Java program that takes two integers as input and divides the first number by the second.</a:t>
            </a:r>
          </a:p>
          <a:p>
            <a:r>
              <a:rPr lang="en-US" dirty="0"/>
              <a:t>Handle </a:t>
            </a:r>
            <a:r>
              <a:rPr lang="en-US" b="1" dirty="0" err="1"/>
              <a:t>ArithmeticException</a:t>
            </a:r>
            <a:r>
              <a:rPr lang="en-US" dirty="0"/>
              <a:t> (if the denominator is 0).</a:t>
            </a:r>
          </a:p>
          <a:p>
            <a:r>
              <a:rPr lang="en-US" dirty="0"/>
              <a:t>Handle </a:t>
            </a:r>
            <a:r>
              <a:rPr lang="en-US" b="1" dirty="0" err="1"/>
              <a:t>InputMismatchException</a:t>
            </a:r>
            <a:r>
              <a:rPr lang="en-US" dirty="0"/>
              <a:t> (if the input is not an integer).</a:t>
            </a:r>
          </a:p>
          <a:p>
            <a:r>
              <a:rPr lang="en-US" dirty="0"/>
              <a:t>🔹 </a:t>
            </a:r>
            <a:r>
              <a:rPr lang="en-US" b="1" dirty="0"/>
              <a:t>Hint:</a:t>
            </a:r>
            <a:r>
              <a:rPr lang="en-US" dirty="0"/>
              <a:t> Use Scanner for input and try-catch for exception handling</a:t>
            </a:r>
            <a:r>
              <a:rPr lang="en-US" dirty="0" smtClean="0"/>
              <a:t>.</a:t>
            </a:r>
          </a:p>
          <a:p>
            <a:endParaRPr lang="en-US" dirty="0"/>
          </a:p>
          <a:p>
            <a:r>
              <a:rPr lang="en-US" b="1" dirty="0"/>
              <a:t>2. Handling Multiple Exceptions</a:t>
            </a:r>
          </a:p>
          <a:p>
            <a:r>
              <a:rPr lang="en-US" dirty="0"/>
              <a:t>Write a Java program that:</a:t>
            </a:r>
          </a:p>
          <a:p>
            <a:r>
              <a:rPr lang="en-US" dirty="0"/>
              <a:t>Takes a string as input and converts it into an integer using </a:t>
            </a:r>
            <a:r>
              <a:rPr lang="en-US" dirty="0" err="1"/>
              <a:t>Integer.parseInt</a:t>
            </a:r>
            <a:r>
              <a:rPr lang="en-US" dirty="0"/>
              <a:t>().</a:t>
            </a:r>
          </a:p>
          <a:p>
            <a:r>
              <a:rPr lang="en-US" dirty="0"/>
              <a:t>Store some numbers in an array and try to access an invalid index.</a:t>
            </a:r>
          </a:p>
          <a:p>
            <a:r>
              <a:rPr lang="en-US" dirty="0"/>
              <a:t>Handle </a:t>
            </a:r>
            <a:r>
              <a:rPr lang="en-US" b="1" dirty="0" err="1"/>
              <a:t>NumberFormatException</a:t>
            </a:r>
            <a:r>
              <a:rPr lang="en-US" dirty="0"/>
              <a:t> and </a:t>
            </a:r>
            <a:r>
              <a:rPr lang="en-US" b="1" dirty="0" err="1"/>
              <a:t>ArrayIndexOutOfBoundsException</a:t>
            </a:r>
            <a:r>
              <a:rPr lang="en-US" dirty="0"/>
              <a:t> in separate catch blocks.</a:t>
            </a:r>
          </a:p>
          <a:p>
            <a:r>
              <a:rPr lang="en-US" dirty="0"/>
              <a:t>🔹 </a:t>
            </a:r>
            <a:r>
              <a:rPr lang="en-US" b="1" dirty="0"/>
              <a:t>Hint:</a:t>
            </a:r>
            <a:r>
              <a:rPr lang="en-US" dirty="0"/>
              <a:t> Use multiple catch blocks for different exceptions</a:t>
            </a:r>
            <a:r>
              <a:rPr lang="en-US" dirty="0" smtClean="0"/>
              <a:t>.</a:t>
            </a:r>
          </a:p>
          <a:p>
            <a:endParaRPr lang="en-US" dirty="0"/>
          </a:p>
          <a:p>
            <a:r>
              <a:rPr lang="en-US" b="1" dirty="0"/>
              <a:t>3. Using Finally Block</a:t>
            </a:r>
          </a:p>
          <a:p>
            <a:r>
              <a:rPr lang="en-US" dirty="0"/>
              <a:t>Modify Problem 1:</a:t>
            </a:r>
          </a:p>
          <a:p>
            <a:r>
              <a:rPr lang="en-US" dirty="0"/>
              <a:t>Add a finally block that prints "Execution completed." whether an exception occurs or not.</a:t>
            </a:r>
          </a:p>
          <a:p>
            <a:r>
              <a:rPr lang="en-US" dirty="0"/>
              <a:t>🔹 </a:t>
            </a:r>
            <a:r>
              <a:rPr lang="en-US" b="1" dirty="0"/>
              <a:t>Hint:</a:t>
            </a:r>
            <a:r>
              <a:rPr lang="en-US" dirty="0"/>
              <a:t> finally block always executes</a:t>
            </a:r>
            <a:r>
              <a:rPr lang="en-US" dirty="0" smtClean="0"/>
              <a:t>.</a:t>
            </a:r>
          </a:p>
          <a:p>
            <a:endParaRPr lang="en-US" dirty="0"/>
          </a:p>
          <a:p>
            <a:r>
              <a:rPr lang="en-US" b="1" dirty="0"/>
              <a:t>4. Nested Try Blocks</a:t>
            </a:r>
          </a:p>
          <a:p>
            <a:r>
              <a:rPr lang="en-US" dirty="0"/>
              <a:t>Write a Java program that:</a:t>
            </a:r>
          </a:p>
          <a:p>
            <a:r>
              <a:rPr lang="en-US" dirty="0"/>
              <a:t>Takes two integers as input and performs division.</a:t>
            </a:r>
          </a:p>
          <a:p>
            <a:r>
              <a:rPr lang="en-US" dirty="0"/>
              <a:t>Inside the first try block, use another try block to access an array element.</a:t>
            </a:r>
          </a:p>
          <a:p>
            <a:r>
              <a:rPr lang="en-US" dirty="0"/>
              <a:t>Handle both </a:t>
            </a:r>
            <a:r>
              <a:rPr lang="en-US" b="1" dirty="0" err="1"/>
              <a:t>ArithmeticException</a:t>
            </a:r>
            <a:r>
              <a:rPr lang="en-US" dirty="0"/>
              <a:t> and </a:t>
            </a:r>
            <a:r>
              <a:rPr lang="en-US" b="1" dirty="0" err="1"/>
              <a:t>ArrayIndexOutOfBoundsException</a:t>
            </a:r>
            <a:r>
              <a:rPr lang="en-US" dirty="0"/>
              <a:t> separately.</a:t>
            </a:r>
          </a:p>
          <a:p>
            <a:r>
              <a:rPr lang="en-US" dirty="0"/>
              <a:t>🔹 </a:t>
            </a:r>
            <a:r>
              <a:rPr lang="en-US" b="1" dirty="0"/>
              <a:t>Hint:</a:t>
            </a:r>
            <a:r>
              <a:rPr lang="en-US" dirty="0"/>
              <a:t> A try block inside another try block is a </a:t>
            </a:r>
            <a:r>
              <a:rPr lang="en-US" b="1" dirty="0"/>
              <a:t>nested try</a:t>
            </a:r>
            <a:r>
              <a:rPr lang="en-US" dirty="0"/>
              <a:t>.</a:t>
            </a:r>
          </a:p>
          <a:p>
            <a:endParaRPr lang="en-IN" dirty="0" smtClean="0"/>
          </a:p>
          <a:p>
            <a:endParaRPr lang="en-IN" dirty="0"/>
          </a:p>
        </p:txBody>
      </p:sp>
    </p:spTree>
    <p:extLst>
      <p:ext uri="{BB962C8B-B14F-4D97-AF65-F5344CB8AC3E}">
        <p14:creationId xmlns:p14="http://schemas.microsoft.com/office/powerpoint/2010/main" val="3736054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fontScale="62500" lnSpcReduction="20000"/>
          </a:bodyPr>
          <a:lstStyle/>
          <a:p>
            <a:r>
              <a:rPr lang="en-US" b="1" dirty="0"/>
              <a:t>5. Using throw to Raise an Exception</a:t>
            </a:r>
          </a:p>
          <a:p>
            <a:r>
              <a:rPr lang="en-US" dirty="0"/>
              <a:t>Write a program that:</a:t>
            </a:r>
          </a:p>
          <a:p>
            <a:r>
              <a:rPr lang="en-US" dirty="0"/>
              <a:t>Asks the user for their age.</a:t>
            </a:r>
          </a:p>
          <a:p>
            <a:r>
              <a:rPr lang="en-US" dirty="0"/>
              <a:t>If the age is below 18, throw an </a:t>
            </a:r>
            <a:r>
              <a:rPr lang="en-US" b="1" dirty="0" err="1"/>
              <a:t>IllegalArgumentException</a:t>
            </a:r>
            <a:r>
              <a:rPr lang="en-US" dirty="0"/>
              <a:t> with the message "Age must be 18 or above to vote."</a:t>
            </a:r>
          </a:p>
          <a:p>
            <a:r>
              <a:rPr lang="en-US" dirty="0"/>
              <a:t>🔹 </a:t>
            </a:r>
            <a:r>
              <a:rPr lang="en-US" b="1" dirty="0"/>
              <a:t>Hint:</a:t>
            </a:r>
            <a:r>
              <a:rPr lang="en-US" dirty="0"/>
              <a:t> Use throw new </a:t>
            </a:r>
            <a:r>
              <a:rPr lang="en-US" dirty="0" err="1"/>
              <a:t>IllegalArgumentException</a:t>
            </a:r>
            <a:r>
              <a:rPr lang="en-US" dirty="0"/>
              <a:t>("message</a:t>
            </a:r>
            <a:r>
              <a:rPr lang="en-US" dirty="0" smtClean="0"/>
              <a:t>").</a:t>
            </a:r>
          </a:p>
          <a:p>
            <a:endParaRPr lang="en-US" dirty="0"/>
          </a:p>
          <a:p>
            <a:r>
              <a:rPr lang="en-US" b="1" dirty="0"/>
              <a:t>6. Using throws for Exception Propagation</a:t>
            </a:r>
          </a:p>
          <a:p>
            <a:r>
              <a:rPr lang="en-US" dirty="0"/>
              <a:t>Write a program with a method </a:t>
            </a:r>
            <a:r>
              <a:rPr lang="en-US" dirty="0" err="1"/>
              <a:t>readFile</a:t>
            </a:r>
            <a:r>
              <a:rPr lang="en-US" dirty="0"/>
              <a:t>() that:</a:t>
            </a:r>
          </a:p>
          <a:p>
            <a:r>
              <a:rPr lang="en-US" dirty="0"/>
              <a:t>Reads content from a file "data.txt".</a:t>
            </a:r>
          </a:p>
          <a:p>
            <a:r>
              <a:rPr lang="en-US" dirty="0"/>
              <a:t>If the file is not found, handle the </a:t>
            </a:r>
            <a:r>
              <a:rPr lang="en-US" dirty="0" err="1"/>
              <a:t>FileNotFoundException</a:t>
            </a:r>
            <a:r>
              <a:rPr lang="en-US" dirty="0"/>
              <a:t> using throws.</a:t>
            </a:r>
          </a:p>
          <a:p>
            <a:r>
              <a:rPr lang="en-US" dirty="0"/>
              <a:t>🔹 </a:t>
            </a:r>
            <a:r>
              <a:rPr lang="en-US" b="1" dirty="0"/>
              <a:t>Hint:</a:t>
            </a:r>
            <a:r>
              <a:rPr lang="en-US" dirty="0"/>
              <a:t> throws </a:t>
            </a:r>
            <a:r>
              <a:rPr lang="en-US" dirty="0" err="1"/>
              <a:t>IOException</a:t>
            </a:r>
            <a:r>
              <a:rPr lang="en-US" dirty="0"/>
              <a:t> in the method signature</a:t>
            </a:r>
            <a:r>
              <a:rPr lang="en-US" dirty="0" smtClean="0"/>
              <a:t>.</a:t>
            </a:r>
          </a:p>
          <a:p>
            <a:endParaRPr lang="en-US" dirty="0"/>
          </a:p>
          <a:p>
            <a:r>
              <a:rPr lang="en-US" b="1" dirty="0"/>
              <a:t>7. Creating a Custom Checked Exception</a:t>
            </a:r>
          </a:p>
          <a:p>
            <a:r>
              <a:rPr lang="en-US" dirty="0"/>
              <a:t>Create a class </a:t>
            </a:r>
            <a:r>
              <a:rPr lang="en-US" b="1" dirty="0" err="1"/>
              <a:t>InsufficientFundsException</a:t>
            </a:r>
            <a:r>
              <a:rPr lang="en-US" dirty="0"/>
              <a:t> that extends Exception.</a:t>
            </a:r>
          </a:p>
          <a:p>
            <a:r>
              <a:rPr lang="en-US" dirty="0"/>
              <a:t>Define a method withdraw(double amount).</a:t>
            </a:r>
          </a:p>
          <a:p>
            <a:r>
              <a:rPr lang="en-US" dirty="0"/>
              <a:t>If the balance is less than the amount, throw </a:t>
            </a:r>
            <a:r>
              <a:rPr lang="en-US" dirty="0" err="1"/>
              <a:t>InsufficientFundsException</a:t>
            </a:r>
            <a:r>
              <a:rPr lang="en-US" dirty="0"/>
              <a:t>.</a:t>
            </a:r>
          </a:p>
          <a:p>
            <a:r>
              <a:rPr lang="en-US" dirty="0"/>
              <a:t>Handle the exception in main().</a:t>
            </a:r>
          </a:p>
          <a:p>
            <a:r>
              <a:rPr lang="en-US" dirty="0"/>
              <a:t>🔹 </a:t>
            </a:r>
            <a:r>
              <a:rPr lang="en-US" b="1" dirty="0"/>
              <a:t>Hint:</a:t>
            </a:r>
            <a:r>
              <a:rPr lang="en-US" dirty="0"/>
              <a:t> Use super(message) in the custom exception</a:t>
            </a:r>
            <a:r>
              <a:rPr lang="en-US" dirty="0" smtClean="0"/>
              <a:t>.</a:t>
            </a:r>
          </a:p>
          <a:p>
            <a:endParaRPr lang="en-US" dirty="0"/>
          </a:p>
          <a:p>
            <a:endParaRPr lang="en-IN" dirty="0"/>
          </a:p>
        </p:txBody>
      </p:sp>
    </p:spTree>
    <p:extLst>
      <p:ext uri="{BB962C8B-B14F-4D97-AF65-F5344CB8AC3E}">
        <p14:creationId xmlns:p14="http://schemas.microsoft.com/office/powerpoint/2010/main" val="7377796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fontScale="62500" lnSpcReduction="20000"/>
          </a:bodyPr>
          <a:lstStyle/>
          <a:p>
            <a:r>
              <a:rPr lang="en-US" b="1" dirty="0"/>
              <a:t>8. Creating a Custom Unchecked Exception</a:t>
            </a:r>
          </a:p>
          <a:p>
            <a:r>
              <a:rPr lang="en-US" dirty="0"/>
              <a:t>Create a class </a:t>
            </a:r>
            <a:r>
              <a:rPr lang="en-US" b="1" dirty="0" err="1"/>
              <a:t>InvalidProductException</a:t>
            </a:r>
            <a:r>
              <a:rPr lang="en-US" dirty="0"/>
              <a:t> that extends </a:t>
            </a:r>
            <a:r>
              <a:rPr lang="en-US" dirty="0" err="1"/>
              <a:t>RuntimeException</a:t>
            </a:r>
            <a:r>
              <a:rPr lang="en-US" dirty="0"/>
              <a:t>.</a:t>
            </a:r>
          </a:p>
          <a:p>
            <a:r>
              <a:rPr lang="en-US" dirty="0"/>
              <a:t>Check if a product price is negative.</a:t>
            </a:r>
          </a:p>
          <a:p>
            <a:r>
              <a:rPr lang="en-US" dirty="0"/>
              <a:t>If negative, throw </a:t>
            </a:r>
            <a:r>
              <a:rPr lang="en-US" dirty="0" err="1"/>
              <a:t>InvalidProductException</a:t>
            </a:r>
            <a:r>
              <a:rPr lang="en-US" dirty="0"/>
              <a:t> in the constructor.</a:t>
            </a:r>
          </a:p>
          <a:p>
            <a:r>
              <a:rPr lang="en-US" dirty="0"/>
              <a:t>🔹 </a:t>
            </a:r>
            <a:r>
              <a:rPr lang="en-US" b="1" dirty="0"/>
              <a:t>Hint:</a:t>
            </a:r>
            <a:r>
              <a:rPr lang="en-US" dirty="0"/>
              <a:t> Unchecked exceptions extend </a:t>
            </a:r>
            <a:r>
              <a:rPr lang="en-US" dirty="0" err="1"/>
              <a:t>RuntimeException</a:t>
            </a:r>
            <a:r>
              <a:rPr lang="en-US" dirty="0"/>
              <a:t>.</a:t>
            </a:r>
          </a:p>
          <a:p>
            <a:endParaRPr lang="en-US" dirty="0"/>
          </a:p>
          <a:p>
            <a:r>
              <a:rPr lang="en-US" b="1" dirty="0"/>
              <a:t>9. Exception Handling in a User Registration System</a:t>
            </a:r>
          </a:p>
          <a:p>
            <a:r>
              <a:rPr lang="en-US" dirty="0"/>
              <a:t>Ask the user to enter a </a:t>
            </a:r>
            <a:r>
              <a:rPr lang="en-US" b="1" dirty="0"/>
              <a:t>username</a:t>
            </a:r>
            <a:r>
              <a:rPr lang="en-US" dirty="0"/>
              <a:t> and </a:t>
            </a:r>
            <a:r>
              <a:rPr lang="en-US" b="1" dirty="0"/>
              <a:t>password</a:t>
            </a:r>
            <a:r>
              <a:rPr lang="en-US" dirty="0"/>
              <a:t>.</a:t>
            </a:r>
          </a:p>
          <a:p>
            <a:r>
              <a:rPr lang="en-US" dirty="0"/>
              <a:t>If the password is less than 8 characters, throw a custom </a:t>
            </a:r>
            <a:r>
              <a:rPr lang="en-US" dirty="0" err="1"/>
              <a:t>WeakPasswordException</a:t>
            </a:r>
            <a:r>
              <a:rPr lang="en-US" dirty="0"/>
              <a:t>.</a:t>
            </a:r>
          </a:p>
          <a:p>
            <a:r>
              <a:rPr lang="en-US" dirty="0"/>
              <a:t>Handle the exception and prompt the user again.</a:t>
            </a:r>
          </a:p>
          <a:p>
            <a:r>
              <a:rPr lang="en-US" dirty="0"/>
              <a:t>🔹 </a:t>
            </a:r>
            <a:r>
              <a:rPr lang="en-US" b="1" dirty="0"/>
              <a:t>Hint:</a:t>
            </a:r>
            <a:r>
              <a:rPr lang="en-US" dirty="0"/>
              <a:t> Use a loop and custom exception.</a:t>
            </a:r>
          </a:p>
          <a:p>
            <a:endParaRPr lang="en-US" dirty="0"/>
          </a:p>
          <a:p>
            <a:r>
              <a:rPr lang="en-US" b="1" dirty="0"/>
              <a:t>10. Using Multiple Exception Types</a:t>
            </a:r>
          </a:p>
          <a:p>
            <a:r>
              <a:rPr lang="en-US" dirty="0"/>
              <a:t>Modify Problem 1 to:</a:t>
            </a:r>
          </a:p>
          <a:p>
            <a:r>
              <a:rPr lang="en-US" dirty="0"/>
              <a:t>Handle </a:t>
            </a:r>
            <a:r>
              <a:rPr lang="en-US" dirty="0" err="1"/>
              <a:t>ArithmeticException</a:t>
            </a:r>
            <a:r>
              <a:rPr lang="en-US" dirty="0"/>
              <a:t> (division by zero).</a:t>
            </a:r>
          </a:p>
          <a:p>
            <a:r>
              <a:rPr lang="en-US" dirty="0"/>
              <a:t>Handle </a:t>
            </a:r>
            <a:r>
              <a:rPr lang="en-US" dirty="0" err="1"/>
              <a:t>InputMismatchException</a:t>
            </a:r>
            <a:r>
              <a:rPr lang="en-US" dirty="0"/>
              <a:t> (invalid input type).</a:t>
            </a:r>
          </a:p>
          <a:p>
            <a:r>
              <a:rPr lang="en-US" dirty="0"/>
              <a:t>Handle </a:t>
            </a:r>
            <a:r>
              <a:rPr lang="en-US" dirty="0" err="1"/>
              <a:t>NullPointerException</a:t>
            </a:r>
            <a:r>
              <a:rPr lang="en-US" dirty="0"/>
              <a:t> (if the user inputs null).</a:t>
            </a:r>
          </a:p>
          <a:p>
            <a:r>
              <a:rPr lang="en-US" dirty="0"/>
              <a:t>🔹 </a:t>
            </a:r>
            <a:r>
              <a:rPr lang="en-US" b="1" dirty="0"/>
              <a:t>Hint:</a:t>
            </a:r>
            <a:r>
              <a:rPr lang="en-US" dirty="0"/>
              <a:t> Use try-catch with multiple catch blocks.</a:t>
            </a:r>
          </a:p>
          <a:p>
            <a:endParaRPr lang="en-IN" dirty="0"/>
          </a:p>
        </p:txBody>
      </p:sp>
    </p:spTree>
    <p:extLst>
      <p:ext uri="{BB962C8B-B14F-4D97-AF65-F5344CB8AC3E}">
        <p14:creationId xmlns:p14="http://schemas.microsoft.com/office/powerpoint/2010/main" val="4011596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4249</Words>
  <Application>Microsoft Office PowerPoint</Application>
  <PresentationFormat>On-screen Show (4:3)</PresentationFormat>
  <Paragraphs>738</Paragraphs>
  <Slides>37</Slides>
  <Notes>5</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Exception Handling:</vt:lpstr>
      <vt:lpstr>Exception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Handling:</dc:title>
  <dc:creator/>
  <cp:lastModifiedBy>Rohit Kamboj</cp:lastModifiedBy>
  <cp:revision>68</cp:revision>
  <dcterms:created xsi:type="dcterms:W3CDTF">2006-08-16T00:00:00Z</dcterms:created>
  <dcterms:modified xsi:type="dcterms:W3CDTF">2025-02-10T05:25:49Z</dcterms:modified>
</cp:coreProperties>
</file>