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044" autoAdjust="0"/>
  </p:normalViewPr>
  <p:slideViewPr>
    <p:cSldViewPr>
      <p:cViewPr varScale="1">
        <p:scale>
          <a:sx n="80" d="100"/>
          <a:sy n="80" d="100"/>
        </p:scale>
        <p:origin x="-1522"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013499-3AFF-44D1-AEAD-2543818AAC5E}" type="datetimeFigureOut">
              <a:rPr lang="en-IN" smtClean="0"/>
              <a:t>16-12-2024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C36AE30-2ACE-4C0F-AE8C-DB45FCF1DC2F}" type="slidenum">
              <a:rPr lang="en-IN" smtClean="0"/>
              <a:t>‹#›</a:t>
            </a:fld>
            <a:endParaRPr lang="en-IN"/>
          </a:p>
        </p:txBody>
      </p:sp>
    </p:spTree>
    <p:extLst>
      <p:ext uri="{BB962C8B-B14F-4D97-AF65-F5344CB8AC3E}">
        <p14:creationId xmlns:p14="http://schemas.microsoft.com/office/powerpoint/2010/main" val="1859938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Heap memory</a:t>
            </a:r>
            <a:r>
              <a:rPr lang="en-US" dirty="0" smtClean="0"/>
              <a:t> is used for </a:t>
            </a:r>
            <a:r>
              <a:rPr lang="en-US" b="1" dirty="0" smtClean="0"/>
              <a:t>dynamic memory </a:t>
            </a:r>
            <a:r>
              <a:rPr lang="en-US" b="1" dirty="0" err="1" smtClean="0"/>
              <a:t>allocation</a:t>
            </a:r>
            <a:r>
              <a:rPr lang="en-US" dirty="0" err="1" smtClean="0"/>
              <a:t>.It</a:t>
            </a:r>
            <a:r>
              <a:rPr lang="en-US" dirty="0" smtClean="0"/>
              <a:t> is the part of memory where objects, class instances, and arrays are </a:t>
            </a:r>
            <a:r>
              <a:rPr lang="en-US" dirty="0" err="1" smtClean="0"/>
              <a:t>stored.Objects</a:t>
            </a:r>
            <a:r>
              <a:rPr lang="en-US" dirty="0" smtClean="0"/>
              <a:t> created using the new keyword are stored in the heap </a:t>
            </a:r>
            <a:r>
              <a:rPr lang="en-US" dirty="0" err="1" smtClean="0"/>
              <a:t>memory.The</a:t>
            </a:r>
            <a:r>
              <a:rPr lang="en-US" dirty="0" smtClean="0"/>
              <a:t> </a:t>
            </a:r>
            <a:r>
              <a:rPr lang="en-US" b="1" dirty="0" smtClean="0"/>
              <a:t>Garbage Collector (GC)</a:t>
            </a:r>
            <a:r>
              <a:rPr lang="en-US" dirty="0" smtClean="0"/>
              <a:t> automatically manages the heap, cleaning up unused objects to free memory.</a:t>
            </a:r>
          </a:p>
          <a:p>
            <a:r>
              <a:rPr lang="en-US" b="1" dirty="0" smtClean="0"/>
              <a:t>What is Stack Memory?</a:t>
            </a:r>
          </a:p>
          <a:p>
            <a:r>
              <a:rPr lang="en-US" b="1" dirty="0" smtClean="0"/>
              <a:t>Stack memory</a:t>
            </a:r>
            <a:r>
              <a:rPr lang="en-US" dirty="0" smtClean="0"/>
              <a:t> is used for </a:t>
            </a:r>
            <a:r>
              <a:rPr lang="en-US" b="1" dirty="0" smtClean="0"/>
              <a:t>method execution</a:t>
            </a:r>
            <a:r>
              <a:rPr lang="en-US" dirty="0" smtClean="0"/>
              <a:t> and </a:t>
            </a:r>
            <a:r>
              <a:rPr lang="en-US" b="1" dirty="0" smtClean="0"/>
              <a:t>local variable storage</a:t>
            </a:r>
            <a:r>
              <a:rPr lang="en-US" dirty="0" smtClean="0"/>
              <a:t>.</a:t>
            </a:r>
          </a:p>
          <a:p>
            <a:r>
              <a:rPr lang="en-US" dirty="0" smtClean="0"/>
              <a:t>It follows the </a:t>
            </a:r>
            <a:r>
              <a:rPr lang="en-US" b="1" dirty="0" smtClean="0"/>
              <a:t>Last In, First Out (LIFO)</a:t>
            </a:r>
            <a:r>
              <a:rPr lang="en-US" dirty="0" smtClean="0"/>
              <a:t> principle.</a:t>
            </a:r>
          </a:p>
          <a:p>
            <a:r>
              <a:rPr lang="en-US" b="1" dirty="0" smtClean="0"/>
              <a:t>Characteristics:</a:t>
            </a:r>
          </a:p>
          <a:p>
            <a:r>
              <a:rPr lang="en-US" b="1" dirty="0" smtClean="0"/>
              <a:t>Local Access</a:t>
            </a:r>
            <a:r>
              <a:rPr lang="en-US" dirty="0" smtClean="0"/>
              <a:t>: Stack memory is limited to the method where variables are defined.</a:t>
            </a:r>
          </a:p>
          <a:p>
            <a:r>
              <a:rPr lang="en-US" b="1" dirty="0" smtClean="0"/>
              <a:t>Fast Access</a:t>
            </a:r>
            <a:r>
              <a:rPr lang="en-US" dirty="0" smtClean="0"/>
              <a:t>: Access to stack memory is very fast compared to heap.</a:t>
            </a:r>
          </a:p>
          <a:p>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10</a:t>
            </a:fld>
            <a:endParaRPr lang="en-IN"/>
          </a:p>
        </p:txBody>
      </p:sp>
    </p:spTree>
    <p:extLst>
      <p:ext uri="{BB962C8B-B14F-4D97-AF65-F5344CB8AC3E}">
        <p14:creationId xmlns:p14="http://schemas.microsoft.com/office/powerpoint/2010/main" val="128533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s1.equals(s2) = true s1.equals(s3) = false s1.equalsIgnoreCase(s3) = true s1.equals("Hello") = false</a:t>
            </a: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13</a:t>
            </a:fld>
            <a:endParaRPr lang="en-IN"/>
          </a:p>
        </p:txBody>
      </p:sp>
    </p:spTree>
    <p:extLst>
      <p:ext uri="{BB962C8B-B14F-4D97-AF65-F5344CB8AC3E}">
        <p14:creationId xmlns:p14="http://schemas.microsoft.com/office/powerpoint/2010/main" val="1993484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s1.startsWith("</a:t>
            </a:r>
            <a:r>
              <a:rPr lang="en-US" dirty="0" err="1" smtClean="0"/>
              <a:t>Roh</a:t>
            </a:r>
            <a:r>
              <a:rPr lang="en-US" dirty="0" smtClean="0"/>
              <a:t>") = true s1.startsWith("</a:t>
            </a:r>
            <a:r>
              <a:rPr lang="en-US" dirty="0" err="1" smtClean="0"/>
              <a:t>roh</a:t>
            </a:r>
            <a:r>
              <a:rPr lang="en-US" dirty="0" smtClean="0"/>
              <a:t>") = true s1.endsWith("</a:t>
            </a:r>
            <a:r>
              <a:rPr lang="en-US" dirty="0" err="1" smtClean="0"/>
              <a:t>amboj</a:t>
            </a:r>
            <a:r>
              <a:rPr lang="en-US" dirty="0" smtClean="0"/>
              <a:t>") = true </a:t>
            </a:r>
            <a:br>
              <a:rPr lang="en-US" dirty="0" smtClean="0"/>
            </a:b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15</a:t>
            </a:fld>
            <a:endParaRPr lang="en-IN"/>
          </a:p>
        </p:txBody>
      </p:sp>
    </p:spTree>
    <p:extLst>
      <p:ext uri="{BB962C8B-B14F-4D97-AF65-F5344CB8AC3E}">
        <p14:creationId xmlns:p14="http://schemas.microsoft.com/office/powerpoint/2010/main" val="16341821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kern="1200" dirty="0" smtClean="0">
                <a:solidFill>
                  <a:schemeClr val="tx1"/>
                </a:solidFill>
                <a:effectLst/>
                <a:latin typeface="+mn-lt"/>
                <a:ea typeface="+mn-ea"/>
                <a:cs typeface="+mn-cs"/>
              </a:rPr>
              <a:t>Output -</a:t>
            </a:r>
          </a:p>
          <a:p>
            <a:r>
              <a:rPr lang="en-IN" dirty="0" smtClean="0"/>
              <a:t>s1.charAt(2) = l Java</a:t>
            </a: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20</a:t>
            </a:fld>
            <a:endParaRPr lang="en-IN"/>
          </a:p>
        </p:txBody>
      </p:sp>
    </p:spTree>
    <p:extLst>
      <p:ext uri="{BB962C8B-B14F-4D97-AF65-F5344CB8AC3E}">
        <p14:creationId xmlns:p14="http://schemas.microsoft.com/office/powerpoint/2010/main" val="2782037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65 66 67 68 </a:t>
            </a: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21</a:t>
            </a:fld>
            <a:endParaRPr lang="en-IN"/>
          </a:p>
        </p:txBody>
      </p:sp>
    </p:spTree>
    <p:extLst>
      <p:ext uri="{BB962C8B-B14F-4D97-AF65-F5344CB8AC3E}">
        <p14:creationId xmlns:p14="http://schemas.microsoft.com/office/powerpoint/2010/main" val="37792964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pt-BR" sz="1200" b="0" i="0" kern="1200" dirty="0" smtClean="0">
                <a:solidFill>
                  <a:schemeClr val="tx1"/>
                </a:solidFill>
                <a:effectLst/>
                <a:latin typeface="+mn-lt"/>
                <a:ea typeface="+mn-ea"/>
                <a:cs typeface="+mn-cs"/>
              </a:rPr>
              <a:t>Output -</a:t>
            </a:r>
          </a:p>
          <a:p>
            <a:r>
              <a:rPr lang="pt-BR" dirty="0" smtClean="0"/>
              <a:t>W E L C O M E</a:t>
            </a: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22</a:t>
            </a:fld>
            <a:endParaRPr lang="en-IN"/>
          </a:p>
        </p:txBody>
      </p:sp>
    </p:spTree>
    <p:extLst>
      <p:ext uri="{BB962C8B-B14F-4D97-AF65-F5344CB8AC3E}">
        <p14:creationId xmlns:p14="http://schemas.microsoft.com/office/powerpoint/2010/main" val="941792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sz="1200" b="0" i="0" kern="1200" dirty="0" smtClean="0">
                <a:solidFill>
                  <a:schemeClr val="tx1"/>
                </a:solidFill>
                <a:effectLst/>
                <a:latin typeface="+mn-lt"/>
                <a:ea typeface="+mn-ea"/>
                <a:cs typeface="+mn-cs"/>
              </a:rPr>
              <a:t>Output -</a:t>
            </a:r>
          </a:p>
          <a:p>
            <a:r>
              <a:rPr lang="sv-SE" dirty="0" smtClean="0"/>
              <a:t>i = 3 j = 2 k = 6 l = 5</a:t>
            </a: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24</a:t>
            </a:fld>
            <a:endParaRPr lang="en-IN"/>
          </a:p>
        </p:txBody>
      </p:sp>
    </p:spTree>
    <p:extLst>
      <p:ext uri="{BB962C8B-B14F-4D97-AF65-F5344CB8AC3E}">
        <p14:creationId xmlns:p14="http://schemas.microsoft.com/office/powerpoint/2010/main" val="21360729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sv-SE" sz="1200" b="0" i="0" kern="1200" dirty="0" smtClean="0">
                <a:solidFill>
                  <a:schemeClr val="tx1"/>
                </a:solidFill>
                <a:effectLst/>
                <a:latin typeface="+mn-lt"/>
                <a:ea typeface="+mn-ea"/>
                <a:cs typeface="+mn-cs"/>
              </a:rPr>
              <a:t>Output -</a:t>
            </a:r>
          </a:p>
          <a:p>
            <a:r>
              <a:rPr lang="sv-SE" dirty="0" smtClean="0"/>
              <a:t>i = 10 j = 5 k = 3 l = 2</a:t>
            </a: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25</a:t>
            </a:fld>
            <a:endParaRPr lang="en-IN"/>
          </a:p>
        </p:txBody>
      </p:sp>
    </p:spTree>
    <p:extLst>
      <p:ext uri="{BB962C8B-B14F-4D97-AF65-F5344CB8AC3E}">
        <p14:creationId xmlns:p14="http://schemas.microsoft.com/office/powerpoint/2010/main" val="1767658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smtClean="0"/>
              <a:t>str1 = just a demo str2 = just a d</a:t>
            </a: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27</a:t>
            </a:fld>
            <a:endParaRPr lang="en-IN"/>
          </a:p>
        </p:txBody>
      </p:sp>
    </p:spTree>
    <p:extLst>
      <p:ext uri="{BB962C8B-B14F-4D97-AF65-F5344CB8AC3E}">
        <p14:creationId xmlns:p14="http://schemas.microsoft.com/office/powerpoint/2010/main" val="42379942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err="1" smtClean="0"/>
              <a:t>s.replace</a:t>
            </a:r>
            <a:r>
              <a:rPr lang="en-US" dirty="0" smtClean="0"/>
              <a:t>(s, z) = </a:t>
            </a:r>
            <a:r>
              <a:rPr lang="en-US" dirty="0" err="1" smtClean="0"/>
              <a:t>Thiz</a:t>
            </a:r>
            <a:r>
              <a:rPr lang="en-US" dirty="0" smtClean="0"/>
              <a:t> </a:t>
            </a:r>
            <a:r>
              <a:rPr lang="en-US" dirty="0" err="1" smtClean="0"/>
              <a:t>iz</a:t>
            </a:r>
            <a:r>
              <a:rPr lang="en-US" dirty="0" smtClean="0"/>
              <a:t> </a:t>
            </a:r>
            <a:r>
              <a:rPr lang="en-US" dirty="0" err="1" smtClean="0"/>
              <a:t>juzt</a:t>
            </a:r>
            <a:r>
              <a:rPr lang="en-US" dirty="0" smtClean="0"/>
              <a:t> a demo </a:t>
            </a:r>
            <a:r>
              <a:rPr lang="en-US" dirty="0" err="1" smtClean="0"/>
              <a:t>s.replace</a:t>
            </a:r>
            <a:r>
              <a:rPr lang="en-US" dirty="0" smtClean="0"/>
              <a:t>(is, was) = </a:t>
            </a:r>
            <a:r>
              <a:rPr lang="en-US" dirty="0" err="1" smtClean="0"/>
              <a:t>Thwas</a:t>
            </a:r>
            <a:r>
              <a:rPr lang="en-US" dirty="0" smtClean="0"/>
              <a:t> was just a demo </a:t>
            </a:r>
            <a:br>
              <a:rPr lang="en-US" dirty="0" smtClean="0"/>
            </a:b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29</a:t>
            </a:fld>
            <a:endParaRPr lang="en-IN"/>
          </a:p>
        </p:txBody>
      </p:sp>
    </p:spTree>
    <p:extLst>
      <p:ext uri="{BB962C8B-B14F-4D97-AF65-F5344CB8AC3E}">
        <p14:creationId xmlns:p14="http://schemas.microsoft.com/office/powerpoint/2010/main" val="1607100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Output -</a:t>
            </a:r>
          </a:p>
          <a:p>
            <a:r>
              <a:rPr lang="en-US" dirty="0" err="1" smtClean="0"/>
              <a:t>s.toUpperCase</a:t>
            </a:r>
            <a:r>
              <a:rPr lang="en-US" dirty="0" smtClean="0"/>
              <a:t>() = THIS IS JUST A DEMO </a:t>
            </a:r>
            <a:r>
              <a:rPr lang="en-US" dirty="0" err="1" smtClean="0"/>
              <a:t>s.toLowerCase</a:t>
            </a:r>
            <a:r>
              <a:rPr lang="en-US" dirty="0" smtClean="0"/>
              <a:t>() = this is just a demo</a:t>
            </a:r>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31</a:t>
            </a:fld>
            <a:endParaRPr lang="en-IN"/>
          </a:p>
        </p:txBody>
      </p:sp>
    </p:spTree>
    <p:extLst>
      <p:ext uri="{BB962C8B-B14F-4D97-AF65-F5344CB8AC3E}">
        <p14:creationId xmlns:p14="http://schemas.microsoft.com/office/powerpoint/2010/main" val="8187782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Explanation:</a:t>
            </a:r>
          </a:p>
          <a:p>
            <a:r>
              <a:rPr lang="en-US" dirty="0" smtClean="0"/>
              <a:t>Initially, str1 points to the string "Hello".</a:t>
            </a:r>
          </a:p>
          <a:p>
            <a:r>
              <a:rPr lang="en-US" dirty="0" smtClean="0"/>
              <a:t>When we assign str2 = str1, both str1 and str2 point to the same string object ("Hello").</a:t>
            </a:r>
          </a:p>
          <a:p>
            <a:r>
              <a:rPr lang="en-US" dirty="0" smtClean="0"/>
              <a:t>When we modify str1 by appending " World", a </a:t>
            </a:r>
            <a:r>
              <a:rPr lang="en-US" b="1" dirty="0" smtClean="0"/>
              <a:t>new string</a:t>
            </a:r>
            <a:r>
              <a:rPr lang="en-US" dirty="0" smtClean="0"/>
              <a:t> object is created with the value "Hello World", and str1 is updated to reference this new object.</a:t>
            </a:r>
          </a:p>
          <a:p>
            <a:r>
              <a:rPr lang="en-US" dirty="0" smtClean="0"/>
              <a:t>str2 still points to the original string "Hello", proving that the string objects are immutable.</a:t>
            </a:r>
          </a:p>
          <a:p>
            <a:endParaRPr lang="en-IN" dirty="0"/>
          </a:p>
        </p:txBody>
      </p:sp>
      <p:sp>
        <p:nvSpPr>
          <p:cNvPr id="4" name="Slide Number Placeholder 3"/>
          <p:cNvSpPr>
            <a:spLocks noGrp="1"/>
          </p:cNvSpPr>
          <p:nvPr>
            <p:ph type="sldNum" sz="quarter" idx="10"/>
          </p:nvPr>
        </p:nvSpPr>
        <p:spPr/>
        <p:txBody>
          <a:bodyPr/>
          <a:lstStyle/>
          <a:p>
            <a:fld id="{FC36AE30-2ACE-4C0F-AE8C-DB45FCF1DC2F}" type="slidenum">
              <a:rPr lang="en-IN" smtClean="0"/>
              <a:t>33</a:t>
            </a:fld>
            <a:endParaRPr lang="en-IN"/>
          </a:p>
        </p:txBody>
      </p:sp>
    </p:spTree>
    <p:extLst>
      <p:ext uri="{BB962C8B-B14F-4D97-AF65-F5344CB8AC3E}">
        <p14:creationId xmlns:p14="http://schemas.microsoft.com/office/powerpoint/2010/main" val="69891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String Handling</a:t>
            </a:r>
            <a:br>
              <a:rPr lang="en-IN" dirty="0"/>
            </a:b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8487472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String</a:t>
            </a:r>
          </a:p>
        </p:txBody>
      </p:sp>
      <p:sp>
        <p:nvSpPr>
          <p:cNvPr id="3" name="Content Placeholder 2"/>
          <p:cNvSpPr>
            <a:spLocks noGrp="1"/>
          </p:cNvSpPr>
          <p:nvPr>
            <p:ph idx="1"/>
          </p:nvPr>
        </p:nvSpPr>
        <p:spPr/>
        <p:txBody>
          <a:bodyPr>
            <a:normAutofit fontScale="70000" lnSpcReduction="20000"/>
          </a:bodyPr>
          <a:lstStyle/>
          <a:p>
            <a:r>
              <a:rPr lang="en-US" dirty="0"/>
              <a:t>String is a collection of characters.</a:t>
            </a:r>
          </a:p>
          <a:p>
            <a:r>
              <a:rPr lang="en-US" dirty="0"/>
              <a:t>In java string is implemented as objects of String class contained in </a:t>
            </a:r>
            <a:r>
              <a:rPr lang="en-US" dirty="0" err="1"/>
              <a:t>java.lang</a:t>
            </a:r>
            <a:r>
              <a:rPr lang="en-US" dirty="0"/>
              <a:t> package.</a:t>
            </a:r>
          </a:p>
          <a:p>
            <a:r>
              <a:rPr lang="en-US" dirty="0"/>
              <a:t>String class objects are immutable i.e. once you have defined a String object representing a certain string after that you cannot change its contents.</a:t>
            </a:r>
          </a:p>
          <a:p>
            <a:r>
              <a:rPr lang="en-US" dirty="0"/>
              <a:t>But this does not mean that you cannot perform any operations on </a:t>
            </a:r>
            <a:r>
              <a:rPr lang="en-US" dirty="0" smtClean="0"/>
              <a:t>strings</a:t>
            </a:r>
            <a:r>
              <a:rPr lang="en-US" dirty="0"/>
              <a:t>. Any time you make changes to a string, a new object representing that modified string will be created.</a:t>
            </a:r>
          </a:p>
          <a:p>
            <a:r>
              <a:rPr lang="en-US" dirty="0"/>
              <a:t>Java also supports two more classes </a:t>
            </a:r>
            <a:r>
              <a:rPr lang="en-US" b="1" dirty="0" err="1"/>
              <a:t>StringBuilder</a:t>
            </a:r>
            <a:r>
              <a:rPr lang="en-US" dirty="0"/>
              <a:t> and </a:t>
            </a:r>
            <a:r>
              <a:rPr lang="en-US" b="1" dirty="0" err="1"/>
              <a:t>StringBuffer</a:t>
            </a:r>
            <a:r>
              <a:rPr lang="en-US" dirty="0"/>
              <a:t> contained in </a:t>
            </a:r>
            <a:r>
              <a:rPr lang="en-US" dirty="0" err="1"/>
              <a:t>java.lang</a:t>
            </a:r>
            <a:r>
              <a:rPr lang="en-US" dirty="0"/>
              <a:t> package to create strings. Strings created by these two classes are mutable i.e. you are free to change contents of these strings.</a:t>
            </a:r>
          </a:p>
          <a:p>
            <a:endParaRPr lang="en-IN" dirty="0"/>
          </a:p>
        </p:txBody>
      </p:sp>
    </p:spTree>
    <p:extLst>
      <p:ext uri="{BB962C8B-B14F-4D97-AF65-F5344CB8AC3E}">
        <p14:creationId xmlns:p14="http://schemas.microsoft.com/office/powerpoint/2010/main" val="5581245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b="1" dirty="0"/>
              <a:t>Creating String -</a:t>
            </a:r>
          </a:p>
          <a:p>
            <a:r>
              <a:rPr lang="en-US" dirty="0"/>
              <a:t>Java provides the various ways to create strings. String class have several constructors to create </a:t>
            </a:r>
            <a:r>
              <a:rPr lang="en-US" dirty="0" smtClean="0"/>
              <a:t>string.</a:t>
            </a:r>
          </a:p>
          <a:p>
            <a:endParaRPr lang="en-US" dirty="0" smtClean="0"/>
          </a:p>
          <a:p>
            <a:r>
              <a:rPr lang="en-US" dirty="0" smtClean="0"/>
              <a:t>1- </a:t>
            </a:r>
            <a:r>
              <a:rPr lang="en-US" dirty="0"/>
              <a:t>To create an empty string you can call its default constructor </a:t>
            </a:r>
            <a:r>
              <a:rPr lang="en-US" dirty="0" smtClean="0"/>
              <a:t> </a:t>
            </a:r>
            <a:r>
              <a:rPr lang="en-US" dirty="0"/>
              <a:t>-</a:t>
            </a:r>
          </a:p>
          <a:p>
            <a:r>
              <a:rPr lang="en-US" dirty="0"/>
              <a:t>String s1 = new String();</a:t>
            </a:r>
          </a:p>
          <a:p>
            <a:r>
              <a:rPr lang="en-US" dirty="0"/>
              <a:t>It will create an object of string containing no characters i.e. an empty string</a:t>
            </a:r>
            <a:r>
              <a:rPr lang="en-US" dirty="0" smtClean="0"/>
              <a:t>.</a:t>
            </a:r>
          </a:p>
          <a:p>
            <a:endParaRPr lang="en-US" dirty="0"/>
          </a:p>
          <a:p>
            <a:r>
              <a:rPr lang="en-US" dirty="0"/>
              <a:t>2- To create string from character array String class support the following constructor -</a:t>
            </a:r>
          </a:p>
          <a:p>
            <a:r>
              <a:rPr lang="en-US" dirty="0"/>
              <a:t>String(char </a:t>
            </a:r>
            <a:r>
              <a:rPr lang="en-US" dirty="0" err="1"/>
              <a:t>CharArray</a:t>
            </a:r>
            <a:r>
              <a:rPr lang="en-US" dirty="0"/>
              <a:t>[]);      </a:t>
            </a:r>
            <a:r>
              <a:rPr lang="en-US" dirty="0" smtClean="0"/>
              <a:t>      </a:t>
            </a:r>
            <a:endParaRPr lang="en-US" dirty="0"/>
          </a:p>
          <a:p>
            <a:r>
              <a:rPr lang="en-US" dirty="0"/>
              <a:t>For example -</a:t>
            </a:r>
          </a:p>
          <a:p>
            <a:r>
              <a:rPr lang="en-US" dirty="0"/>
              <a:t>c</a:t>
            </a:r>
            <a:r>
              <a:rPr lang="en-US" dirty="0" smtClean="0"/>
              <a:t>har  </a:t>
            </a:r>
            <a:r>
              <a:rPr lang="en-US" dirty="0" err="1"/>
              <a:t>ch</a:t>
            </a:r>
            <a:r>
              <a:rPr lang="en-US" dirty="0"/>
              <a:t>[] = {'W' ,'E'', 'L', 'C', 'O', 'M', 'E'};  </a:t>
            </a:r>
          </a:p>
          <a:p>
            <a:r>
              <a:rPr lang="en-US" dirty="0"/>
              <a:t>String s1 = new String(</a:t>
            </a:r>
            <a:r>
              <a:rPr lang="en-US" dirty="0" err="1"/>
              <a:t>ch</a:t>
            </a:r>
            <a:r>
              <a:rPr lang="en-US" dirty="0"/>
              <a:t>);</a:t>
            </a:r>
          </a:p>
          <a:p>
            <a:r>
              <a:rPr lang="en-US" dirty="0"/>
              <a:t>        </a:t>
            </a:r>
          </a:p>
          <a:p>
            <a:r>
              <a:rPr lang="en-US" dirty="0"/>
              <a:t>Here s1 will represent a string - "WELCOME".</a:t>
            </a:r>
            <a:endParaRPr lang="en-IN" dirty="0"/>
          </a:p>
        </p:txBody>
      </p:sp>
    </p:spTree>
    <p:extLst>
      <p:ext uri="{BB962C8B-B14F-4D97-AF65-F5344CB8AC3E}">
        <p14:creationId xmlns:p14="http://schemas.microsoft.com/office/powerpoint/2010/main" val="2966015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r>
              <a:rPr lang="en-US" dirty="0"/>
              <a:t>3- We can also create a string containing only defined </a:t>
            </a:r>
            <a:r>
              <a:rPr lang="en-US" dirty="0" smtClean="0"/>
              <a:t>sub-range </a:t>
            </a:r>
            <a:r>
              <a:rPr lang="en-US" dirty="0"/>
              <a:t>of array elements using the following constructor -</a:t>
            </a:r>
          </a:p>
          <a:p>
            <a:r>
              <a:rPr lang="en-US" dirty="0"/>
              <a:t>String(char </a:t>
            </a:r>
            <a:r>
              <a:rPr lang="en-US" dirty="0" err="1"/>
              <a:t>CharArray</a:t>
            </a:r>
            <a:r>
              <a:rPr lang="en-US" dirty="0"/>
              <a:t>[], </a:t>
            </a:r>
            <a:r>
              <a:rPr lang="en-US" dirty="0" err="1"/>
              <a:t>int</a:t>
            </a:r>
            <a:r>
              <a:rPr lang="en-US" dirty="0"/>
              <a:t> </a:t>
            </a:r>
            <a:r>
              <a:rPr lang="en-US" dirty="0" err="1"/>
              <a:t>StartIndex</a:t>
            </a:r>
            <a:r>
              <a:rPr lang="en-US" dirty="0"/>
              <a:t>, </a:t>
            </a:r>
            <a:r>
              <a:rPr lang="en-US" dirty="0" err="1"/>
              <a:t>int</a:t>
            </a:r>
            <a:r>
              <a:rPr lang="en-US" dirty="0"/>
              <a:t> </a:t>
            </a:r>
            <a:r>
              <a:rPr lang="en-US" dirty="0" err="1"/>
              <a:t>NumOfChars</a:t>
            </a:r>
            <a:r>
              <a:rPr lang="en-US" dirty="0"/>
              <a:t>);</a:t>
            </a:r>
          </a:p>
          <a:p>
            <a:r>
              <a:rPr lang="en-US" dirty="0"/>
              <a:t>Here </a:t>
            </a:r>
            <a:r>
              <a:rPr lang="en-US" dirty="0" err="1"/>
              <a:t>StartIndex</a:t>
            </a:r>
            <a:r>
              <a:rPr lang="en-US" dirty="0"/>
              <a:t> refers to index of array at which </a:t>
            </a:r>
            <a:r>
              <a:rPr lang="en-US" dirty="0" err="1"/>
              <a:t>subrange</a:t>
            </a:r>
            <a:r>
              <a:rPr lang="en-US" dirty="0"/>
              <a:t> starts and </a:t>
            </a:r>
            <a:r>
              <a:rPr lang="en-US" dirty="0" err="1"/>
              <a:t>NumOfChars</a:t>
            </a:r>
            <a:r>
              <a:rPr lang="en-US" dirty="0"/>
              <a:t> refers to number of characters you want to include in string.</a:t>
            </a:r>
          </a:p>
          <a:p>
            <a:r>
              <a:rPr lang="en-US" dirty="0"/>
              <a:t>For example -</a:t>
            </a:r>
          </a:p>
          <a:p>
            <a:r>
              <a:rPr lang="en-US" dirty="0"/>
              <a:t>char  </a:t>
            </a:r>
            <a:r>
              <a:rPr lang="en-US" dirty="0" err="1"/>
              <a:t>ch</a:t>
            </a:r>
            <a:r>
              <a:rPr lang="en-US" dirty="0"/>
              <a:t>[] = {'W' ,'E', 'L', 'C', 'O', 'M', 'E'};  </a:t>
            </a:r>
          </a:p>
          <a:p>
            <a:r>
              <a:rPr lang="en-US" dirty="0"/>
              <a:t>String s1 = new String(</a:t>
            </a:r>
            <a:r>
              <a:rPr lang="en-US" dirty="0" err="1"/>
              <a:t>ch</a:t>
            </a:r>
            <a:r>
              <a:rPr lang="en-US" dirty="0"/>
              <a:t>, 3, 4);</a:t>
            </a:r>
          </a:p>
          <a:p>
            <a:r>
              <a:rPr lang="en-US" dirty="0"/>
              <a:t>Here s1 will represent a string - "COME".</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55000" lnSpcReduction="20000"/>
          </a:bodyPr>
          <a:lstStyle/>
          <a:p>
            <a:pPr marL="0" indent="0">
              <a:buNone/>
            </a:pPr>
            <a:r>
              <a:rPr lang="en-IN" dirty="0"/>
              <a:t>Example -</a:t>
            </a:r>
          </a:p>
          <a:p>
            <a:pPr marL="0" indent="0">
              <a:buNone/>
            </a:pPr>
            <a:r>
              <a:rPr lang="en-IN" dirty="0"/>
              <a:t>public class Test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String s1 = new String(); </a:t>
            </a:r>
          </a:p>
          <a:p>
            <a:pPr marL="0" indent="0">
              <a:buNone/>
            </a:pPr>
            <a:r>
              <a:rPr lang="en-IN" dirty="0"/>
              <a:t>        char </a:t>
            </a:r>
            <a:r>
              <a:rPr lang="en-IN" dirty="0" err="1"/>
              <a:t>ch</a:t>
            </a:r>
            <a:r>
              <a:rPr lang="en-IN" dirty="0"/>
              <a:t>[] = {'W','E','L','C','O','M','E'};</a:t>
            </a:r>
          </a:p>
          <a:p>
            <a:pPr marL="0" indent="0">
              <a:buNone/>
            </a:pPr>
            <a:r>
              <a:rPr lang="en-IN" dirty="0"/>
              <a:t>        String s2 = new String(</a:t>
            </a:r>
            <a:r>
              <a:rPr lang="en-IN" dirty="0" err="1"/>
              <a:t>ch</a:t>
            </a:r>
            <a:r>
              <a:rPr lang="en-IN" dirty="0"/>
              <a:t>);</a:t>
            </a:r>
          </a:p>
          <a:p>
            <a:pPr marL="0" indent="0">
              <a:buNone/>
            </a:pPr>
            <a:r>
              <a:rPr lang="en-IN" dirty="0"/>
              <a:t>        String s3 = new String(</a:t>
            </a:r>
            <a:r>
              <a:rPr lang="en-IN" dirty="0" err="1"/>
              <a:t>ch</a:t>
            </a:r>
            <a:r>
              <a:rPr lang="en-IN" dirty="0"/>
              <a:t>, 3, 4);</a:t>
            </a:r>
          </a:p>
          <a:p>
            <a:pPr marL="0" indent="0">
              <a:buNone/>
            </a:pPr>
            <a:r>
              <a:rPr lang="en-IN" dirty="0"/>
              <a:t>        </a:t>
            </a:r>
            <a:r>
              <a:rPr lang="en-IN" dirty="0" err="1"/>
              <a:t>System.out.println</a:t>
            </a:r>
            <a:r>
              <a:rPr lang="en-IN" dirty="0"/>
              <a:t>("s1 = "+s1);</a:t>
            </a:r>
          </a:p>
          <a:p>
            <a:pPr marL="0" indent="0">
              <a:buNone/>
            </a:pPr>
            <a:r>
              <a:rPr lang="en-IN" dirty="0"/>
              <a:t>        </a:t>
            </a:r>
            <a:r>
              <a:rPr lang="en-IN" dirty="0" err="1"/>
              <a:t>System.out.println</a:t>
            </a:r>
            <a:r>
              <a:rPr lang="en-IN" dirty="0"/>
              <a:t>("s2 = "+s2);</a:t>
            </a:r>
          </a:p>
          <a:p>
            <a:pPr marL="0" indent="0">
              <a:buNone/>
            </a:pPr>
            <a:r>
              <a:rPr lang="en-IN" dirty="0"/>
              <a:t>        </a:t>
            </a:r>
            <a:r>
              <a:rPr lang="en-IN" dirty="0" err="1"/>
              <a:t>System.out.println</a:t>
            </a:r>
            <a:r>
              <a:rPr lang="en-IN" dirty="0"/>
              <a:t>("s3 = "+s3);       </a:t>
            </a:r>
          </a:p>
          <a:p>
            <a:pPr marL="0" indent="0">
              <a:buNone/>
            </a:pPr>
            <a:r>
              <a:rPr lang="en-IN" dirty="0"/>
              <a:t>    }</a:t>
            </a:r>
          </a:p>
          <a:p>
            <a:pPr marL="0" indent="0">
              <a:buNone/>
            </a:pPr>
            <a:r>
              <a:rPr lang="en-IN" dirty="0"/>
              <a:t>}    </a:t>
            </a:r>
          </a:p>
          <a:p>
            <a:pPr marL="0" indent="0">
              <a:buNone/>
            </a:pPr>
            <a:r>
              <a:rPr lang="en-IN" dirty="0"/>
              <a:t>        </a:t>
            </a:r>
          </a:p>
          <a:p>
            <a:pPr marL="0" indent="0">
              <a:buNone/>
            </a:pPr>
            <a:r>
              <a:rPr lang="en-IN" dirty="0"/>
              <a:t>Output -</a:t>
            </a:r>
          </a:p>
          <a:p>
            <a:pPr marL="0" indent="0">
              <a:buNone/>
            </a:pPr>
            <a:r>
              <a:rPr lang="en-IN" dirty="0"/>
              <a:t>s1 = </a:t>
            </a:r>
          </a:p>
          <a:p>
            <a:pPr marL="0" indent="0">
              <a:buNone/>
            </a:pPr>
            <a:r>
              <a:rPr lang="en-IN" dirty="0"/>
              <a:t>s2 = WELCOME</a:t>
            </a:r>
          </a:p>
          <a:p>
            <a:pPr marL="0" indent="0">
              <a:buNone/>
            </a:pPr>
            <a:r>
              <a:rPr lang="en-IN" dirty="0"/>
              <a:t>s3 = COME</a:t>
            </a:r>
          </a:p>
        </p:txBody>
      </p:sp>
    </p:spTree>
    <p:extLst>
      <p:ext uri="{BB962C8B-B14F-4D97-AF65-F5344CB8AC3E}">
        <p14:creationId xmlns:p14="http://schemas.microsoft.com/office/powerpoint/2010/main" val="4117241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r>
              <a:rPr lang="en-US" dirty="0"/>
              <a:t>4- We can also create string from a byte array containing ASCII values of characters using the following constructors -</a:t>
            </a:r>
          </a:p>
          <a:p>
            <a:r>
              <a:rPr lang="en-US" dirty="0"/>
              <a:t>String(byte </a:t>
            </a:r>
            <a:r>
              <a:rPr lang="en-US" dirty="0" err="1"/>
              <a:t>ASCIIChars</a:t>
            </a:r>
            <a:r>
              <a:rPr lang="en-US" dirty="0"/>
              <a:t>[]);</a:t>
            </a:r>
          </a:p>
          <a:p>
            <a:r>
              <a:rPr lang="en-US" dirty="0"/>
              <a:t>String(byte </a:t>
            </a:r>
            <a:r>
              <a:rPr lang="en-US" dirty="0" err="1"/>
              <a:t>ASCIIChars</a:t>
            </a:r>
            <a:r>
              <a:rPr lang="en-US" dirty="0"/>
              <a:t>[], </a:t>
            </a:r>
            <a:r>
              <a:rPr lang="en-US" dirty="0" err="1"/>
              <a:t>int</a:t>
            </a:r>
            <a:r>
              <a:rPr lang="en-US" dirty="0"/>
              <a:t> </a:t>
            </a:r>
            <a:r>
              <a:rPr lang="en-US" dirty="0" err="1"/>
              <a:t>StartIndex</a:t>
            </a:r>
            <a:r>
              <a:rPr lang="en-US" dirty="0"/>
              <a:t> , </a:t>
            </a:r>
            <a:r>
              <a:rPr lang="en-US" dirty="0" err="1"/>
              <a:t>int</a:t>
            </a:r>
            <a:r>
              <a:rPr lang="en-US" dirty="0"/>
              <a:t> </a:t>
            </a:r>
            <a:r>
              <a:rPr lang="en-US" dirty="0" err="1"/>
              <a:t>NumOfChars</a:t>
            </a:r>
            <a:r>
              <a:rPr lang="en-US" dirty="0"/>
              <a:t>);</a:t>
            </a:r>
          </a:p>
          <a:p>
            <a:r>
              <a:rPr lang="en-US" dirty="0"/>
              <a:t>For example -</a:t>
            </a:r>
          </a:p>
          <a:p>
            <a:r>
              <a:rPr lang="en-US" dirty="0"/>
              <a:t>byte b[] = {65, 66 , 67, 68, 69, 70};</a:t>
            </a:r>
          </a:p>
          <a:p>
            <a:r>
              <a:rPr lang="en-US" dirty="0"/>
              <a:t>String s1 = new String(b);</a:t>
            </a:r>
          </a:p>
          <a:p>
            <a:r>
              <a:rPr lang="en-US" dirty="0"/>
              <a:t>String s2 = new String(b, 3,2);</a:t>
            </a:r>
          </a:p>
          <a:p>
            <a:r>
              <a:rPr lang="en-US" dirty="0"/>
              <a:t>Here s1 will represent the string - "ABCDEF"</a:t>
            </a:r>
          </a:p>
          <a:p>
            <a:r>
              <a:rPr lang="en-US" dirty="0"/>
              <a:t>And s2 will represent the string - "DE"</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dirty="0"/>
              <a:t>5- We can also create a string from a previously existing string by using the following constructor -</a:t>
            </a:r>
          </a:p>
          <a:p>
            <a:r>
              <a:rPr lang="en-US" dirty="0"/>
              <a:t>String(String </a:t>
            </a:r>
            <a:r>
              <a:rPr lang="en-US" dirty="0" err="1"/>
              <a:t>obj</a:t>
            </a:r>
            <a:r>
              <a:rPr lang="en-US" dirty="0"/>
              <a:t>);</a:t>
            </a:r>
          </a:p>
          <a:p>
            <a:r>
              <a:rPr lang="en-US" dirty="0"/>
              <a:t>For example -</a:t>
            </a:r>
          </a:p>
          <a:p>
            <a:r>
              <a:rPr lang="en-US" dirty="0"/>
              <a:t>char </a:t>
            </a:r>
            <a:r>
              <a:rPr lang="en-US" dirty="0" err="1"/>
              <a:t>ch</a:t>
            </a:r>
            <a:r>
              <a:rPr lang="en-US" dirty="0"/>
              <a:t>[] = "WELCOME";</a:t>
            </a:r>
          </a:p>
          <a:p>
            <a:r>
              <a:rPr lang="en-US" dirty="0"/>
              <a:t>String s1 = new String(</a:t>
            </a:r>
            <a:r>
              <a:rPr lang="en-US" dirty="0" err="1"/>
              <a:t>ch</a:t>
            </a:r>
            <a:r>
              <a:rPr lang="en-US" dirty="0"/>
              <a:t>);</a:t>
            </a:r>
          </a:p>
          <a:p>
            <a:r>
              <a:rPr lang="en-US" dirty="0"/>
              <a:t>String s2 = new String(s1);</a:t>
            </a:r>
          </a:p>
          <a:p>
            <a:r>
              <a:rPr lang="en-US" dirty="0"/>
              <a:t>String s3  = new String("Hello");	// We can also pass String literals.</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47500" lnSpcReduction="20000"/>
          </a:bodyPr>
          <a:lstStyle/>
          <a:p>
            <a:r>
              <a:rPr lang="en-IN" dirty="0"/>
              <a:t>Example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byte b[] = {65,66,67,68,69,70};</a:t>
            </a:r>
          </a:p>
          <a:p>
            <a:pPr marL="0" indent="0">
              <a:buNone/>
            </a:pPr>
            <a:r>
              <a:rPr lang="en-IN" dirty="0"/>
              <a:t>        String s1 = new String(b);</a:t>
            </a:r>
          </a:p>
          <a:p>
            <a:pPr marL="0" indent="0">
              <a:buNone/>
            </a:pPr>
            <a:r>
              <a:rPr lang="en-IN" dirty="0"/>
              <a:t>        String s2 = new String(b, 3, 2);</a:t>
            </a:r>
          </a:p>
          <a:p>
            <a:pPr marL="0" indent="0">
              <a:buNone/>
            </a:pPr>
            <a:r>
              <a:rPr lang="en-IN" dirty="0"/>
              <a:t>        String s3 = new String(s1);</a:t>
            </a:r>
          </a:p>
          <a:p>
            <a:pPr marL="0" indent="0">
              <a:buNone/>
            </a:pPr>
            <a:r>
              <a:rPr lang="en-IN" dirty="0"/>
              <a:t>        String s4 = new String("Hello");</a:t>
            </a:r>
          </a:p>
          <a:p>
            <a:pPr marL="0" indent="0">
              <a:buNone/>
            </a:pPr>
            <a:r>
              <a:rPr lang="en-IN" dirty="0"/>
              <a:t>        </a:t>
            </a:r>
            <a:r>
              <a:rPr lang="en-IN" dirty="0" err="1"/>
              <a:t>System.out.println</a:t>
            </a:r>
            <a:r>
              <a:rPr lang="en-IN" dirty="0"/>
              <a:t>("s1 = "+s1);</a:t>
            </a:r>
          </a:p>
          <a:p>
            <a:pPr marL="0" indent="0">
              <a:buNone/>
            </a:pPr>
            <a:r>
              <a:rPr lang="en-IN" dirty="0"/>
              <a:t>        </a:t>
            </a:r>
            <a:r>
              <a:rPr lang="en-IN" dirty="0" err="1"/>
              <a:t>System.out.println</a:t>
            </a:r>
            <a:r>
              <a:rPr lang="en-IN" dirty="0"/>
              <a:t>("s2 = "+s2);</a:t>
            </a:r>
          </a:p>
          <a:p>
            <a:pPr marL="0" indent="0">
              <a:buNone/>
            </a:pPr>
            <a:r>
              <a:rPr lang="en-IN" dirty="0"/>
              <a:t>        </a:t>
            </a:r>
            <a:r>
              <a:rPr lang="en-IN" dirty="0" err="1"/>
              <a:t>System.out.println</a:t>
            </a:r>
            <a:r>
              <a:rPr lang="en-IN" dirty="0"/>
              <a:t>("s3 = "+s3);</a:t>
            </a:r>
          </a:p>
          <a:p>
            <a:pPr marL="0" indent="0">
              <a:buNone/>
            </a:pPr>
            <a:r>
              <a:rPr lang="en-IN" dirty="0"/>
              <a:t>        </a:t>
            </a:r>
            <a:r>
              <a:rPr lang="en-IN" dirty="0" err="1"/>
              <a:t>System.out.println</a:t>
            </a:r>
            <a:r>
              <a:rPr lang="en-IN" dirty="0"/>
              <a:t>("s4 = "+s4);</a:t>
            </a:r>
          </a:p>
          <a:p>
            <a:pPr marL="0" indent="0">
              <a:buNone/>
            </a:pPr>
            <a:r>
              <a:rPr lang="en-IN" dirty="0"/>
              <a:t>        </a:t>
            </a:r>
          </a:p>
          <a:p>
            <a:pPr marL="0" indent="0">
              <a:buNone/>
            </a:pPr>
            <a:r>
              <a:rPr lang="en-IN" dirty="0"/>
              <a:t>    }</a:t>
            </a:r>
          </a:p>
          <a:p>
            <a:pPr marL="0" indent="0">
              <a:buNone/>
            </a:pPr>
            <a:r>
              <a:rPr lang="en-IN" dirty="0"/>
              <a:t>}</a:t>
            </a:r>
          </a:p>
          <a:p>
            <a:endParaRPr lang="en-IN" dirty="0"/>
          </a:p>
          <a:p>
            <a:r>
              <a:rPr lang="en-IN" dirty="0"/>
              <a:t>        </a:t>
            </a:r>
          </a:p>
          <a:p>
            <a:r>
              <a:rPr lang="en-IN" dirty="0"/>
              <a:t>Output -</a:t>
            </a:r>
          </a:p>
          <a:p>
            <a:pPr marL="0" indent="0">
              <a:buNone/>
            </a:pPr>
            <a:r>
              <a:rPr lang="en-IN" dirty="0"/>
              <a:t>s1 = ABCDEF</a:t>
            </a:r>
          </a:p>
          <a:p>
            <a:pPr marL="0" indent="0">
              <a:buNone/>
            </a:pPr>
            <a:r>
              <a:rPr lang="en-IN" dirty="0"/>
              <a:t>s2 = DE</a:t>
            </a:r>
          </a:p>
          <a:p>
            <a:pPr marL="0" indent="0">
              <a:buNone/>
            </a:pPr>
            <a:r>
              <a:rPr lang="en-IN" dirty="0"/>
              <a:t>s3 = ABCDEF</a:t>
            </a:r>
          </a:p>
          <a:p>
            <a:pPr marL="0" indent="0">
              <a:buNone/>
            </a:pPr>
            <a:r>
              <a:rPr lang="en-IN" dirty="0"/>
              <a:t>s4 = Hello</a:t>
            </a:r>
          </a:p>
          <a:p>
            <a:endParaRPr lang="en-IN" dirty="0"/>
          </a:p>
        </p:txBody>
      </p:sp>
    </p:spTree>
    <p:extLst>
      <p:ext uri="{BB962C8B-B14F-4D97-AF65-F5344CB8AC3E}">
        <p14:creationId xmlns:p14="http://schemas.microsoft.com/office/powerpoint/2010/main" val="4117241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r>
              <a:rPr lang="en-US" b="1" dirty="0"/>
              <a:t>String Literals -</a:t>
            </a:r>
          </a:p>
          <a:p>
            <a:r>
              <a:rPr lang="en-US" sz="1800" dirty="0"/>
              <a:t>For each string literals you define in your program, Java automatically </a:t>
            </a:r>
            <a:r>
              <a:rPr lang="en-US" sz="1800" dirty="0" err="1" smtClean="0"/>
              <a:t>creats</a:t>
            </a:r>
            <a:r>
              <a:rPr lang="en-US" sz="1800" dirty="0" smtClean="0"/>
              <a:t> </a:t>
            </a:r>
            <a:r>
              <a:rPr lang="en-US" sz="1800" dirty="0"/>
              <a:t>a String object for them. So we can initialize a string object by any string literal. For example -</a:t>
            </a:r>
          </a:p>
          <a:p>
            <a:r>
              <a:rPr lang="en-US" sz="1800" dirty="0"/>
              <a:t>String s1 = "WELCOME";</a:t>
            </a:r>
          </a:p>
          <a:p>
            <a:r>
              <a:rPr lang="en-US" sz="1800" dirty="0"/>
              <a:t>is a valid string declaration.</a:t>
            </a:r>
          </a:p>
          <a:p>
            <a:r>
              <a:rPr lang="en-US" sz="1800" dirty="0"/>
              <a:t>But there is a minor difference between this declaration and other declaration of strings that we define by using constructors. Consider the following code -</a:t>
            </a:r>
          </a:p>
          <a:p>
            <a:r>
              <a:rPr lang="en-US" sz="1800" dirty="0"/>
              <a:t> </a:t>
            </a:r>
          </a:p>
          <a:p>
            <a:r>
              <a:rPr lang="en-US" sz="1800" dirty="0"/>
              <a:t>String s1 = "Hello";</a:t>
            </a:r>
          </a:p>
          <a:p>
            <a:r>
              <a:rPr lang="en-US" sz="1800" dirty="0"/>
              <a:t>String s2 = "Hello";</a:t>
            </a:r>
          </a:p>
          <a:p>
            <a:r>
              <a:rPr lang="en-US" sz="1800" dirty="0"/>
              <a:t>String s3 = new String("Hello");</a:t>
            </a:r>
          </a:p>
          <a:p>
            <a:r>
              <a:rPr lang="en-US" sz="1800" dirty="0"/>
              <a:t>    </a:t>
            </a:r>
          </a:p>
          <a:p>
            <a:r>
              <a:rPr lang="en-US" sz="1800" dirty="0"/>
              <a:t>It can be represented as follows-</a:t>
            </a:r>
            <a:endParaRPr lang="en-IN" sz="1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200" y="5105400"/>
            <a:ext cx="6196013"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17241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62500" lnSpcReduction="20000"/>
          </a:bodyPr>
          <a:lstStyle/>
          <a:p>
            <a:r>
              <a:rPr lang="en-US" b="1" dirty="0"/>
              <a:t>1. String s1 = "Hello";</a:t>
            </a:r>
          </a:p>
          <a:p>
            <a:r>
              <a:rPr lang="en-US" dirty="0"/>
              <a:t>Here, "Hello" is a </a:t>
            </a:r>
            <a:r>
              <a:rPr lang="en-US" b="1" dirty="0"/>
              <a:t>string literal</a:t>
            </a:r>
            <a:r>
              <a:rPr lang="en-US" dirty="0"/>
              <a:t>.</a:t>
            </a:r>
          </a:p>
          <a:p>
            <a:r>
              <a:rPr lang="en-US" dirty="0"/>
              <a:t>It is stored in the </a:t>
            </a:r>
            <a:r>
              <a:rPr lang="en-US" b="1" dirty="0"/>
              <a:t>String Pool</a:t>
            </a:r>
            <a:r>
              <a:rPr lang="en-US" dirty="0"/>
              <a:t>, which is part of the heap memory.</a:t>
            </a:r>
          </a:p>
          <a:p>
            <a:r>
              <a:rPr lang="en-US" dirty="0"/>
              <a:t>If the string "Hello" already exists in the pool, s1 will reference the existing string instead of creating a new one.</a:t>
            </a:r>
          </a:p>
          <a:p>
            <a:r>
              <a:rPr lang="en-US" b="1" dirty="0"/>
              <a:t>2. String s2 = "Hello";</a:t>
            </a:r>
          </a:p>
          <a:p>
            <a:r>
              <a:rPr lang="en-US" dirty="0"/>
              <a:t>Since "Hello" already exists in the </a:t>
            </a:r>
            <a:r>
              <a:rPr lang="en-US" b="1" dirty="0"/>
              <a:t>String Pool</a:t>
            </a:r>
            <a:r>
              <a:rPr lang="en-US" dirty="0"/>
              <a:t> (from s1), s2 will reference the </a:t>
            </a:r>
            <a:r>
              <a:rPr lang="en-US" b="1" dirty="0"/>
              <a:t>same object</a:t>
            </a:r>
            <a:r>
              <a:rPr lang="en-US" dirty="0"/>
              <a:t> in the pool as s1.</a:t>
            </a:r>
          </a:p>
          <a:p>
            <a:r>
              <a:rPr lang="en-US" dirty="0"/>
              <a:t>As a result:</a:t>
            </a:r>
          </a:p>
          <a:p>
            <a:r>
              <a:rPr lang="en-US" b="1" dirty="0" err="1"/>
              <a:t>System.out.println</a:t>
            </a:r>
            <a:r>
              <a:rPr lang="en-US" b="1" dirty="0"/>
              <a:t>(s1 == s2); // true (same reference)</a:t>
            </a:r>
          </a:p>
          <a:p>
            <a:r>
              <a:rPr lang="en-US" b="1" dirty="0"/>
              <a:t>String s3 = new String("Hello");</a:t>
            </a:r>
          </a:p>
          <a:p>
            <a:r>
              <a:rPr lang="en-US" dirty="0"/>
              <a:t>This statement explicitly uses the new keyword to create a new String object.</a:t>
            </a:r>
          </a:p>
          <a:p>
            <a:r>
              <a:rPr lang="en-US" dirty="0"/>
              <a:t>Even though the "Hello" literal exists in the </a:t>
            </a:r>
            <a:r>
              <a:rPr lang="en-US" b="1" dirty="0"/>
              <a:t>String Pool</a:t>
            </a:r>
            <a:r>
              <a:rPr lang="en-US" dirty="0"/>
              <a:t>, this creates a </a:t>
            </a:r>
            <a:r>
              <a:rPr lang="en-US" b="1" dirty="0"/>
              <a:t>new object</a:t>
            </a:r>
            <a:r>
              <a:rPr lang="en-US" dirty="0"/>
              <a:t> in the heap memory.</a:t>
            </a:r>
          </a:p>
          <a:p>
            <a:r>
              <a:rPr lang="en-US" dirty="0"/>
              <a:t>s3 will not reference the object in the String Pool, but a separate one.</a:t>
            </a:r>
          </a:p>
          <a:p>
            <a:r>
              <a:rPr lang="en-US" dirty="0"/>
              <a:t>As a result:</a:t>
            </a:r>
          </a:p>
          <a:p>
            <a:r>
              <a:rPr lang="en-US" b="1" dirty="0" err="1"/>
              <a:t>System.out.println</a:t>
            </a:r>
            <a:r>
              <a:rPr lang="en-US" b="1" dirty="0"/>
              <a:t>(s1 == s3); // false (different references)</a:t>
            </a:r>
          </a:p>
          <a:p>
            <a:endParaRPr lang="en-IN" b="1" dirty="0"/>
          </a:p>
        </p:txBody>
      </p:sp>
    </p:spTree>
    <p:extLst>
      <p:ext uri="{BB962C8B-B14F-4D97-AF65-F5344CB8AC3E}">
        <p14:creationId xmlns:p14="http://schemas.microsoft.com/office/powerpoint/2010/main" val="41172412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lstStyle/>
          <a:p>
            <a:r>
              <a:rPr lang="en-US" b="1" dirty="0"/>
              <a:t>Length of String -</a:t>
            </a:r>
          </a:p>
          <a:p>
            <a:r>
              <a:rPr lang="en-US" dirty="0"/>
              <a:t>Java provides us a method named length() to calculate the length of any string.</a:t>
            </a:r>
          </a:p>
          <a:p>
            <a:r>
              <a:rPr lang="en-US" dirty="0"/>
              <a:t>Note - Do not confuse with length property of arrays.</a:t>
            </a:r>
          </a:p>
          <a:p>
            <a:r>
              <a:rPr lang="en-US" dirty="0"/>
              <a:t>For example -</a:t>
            </a:r>
          </a:p>
          <a:p>
            <a:r>
              <a:rPr lang="en-US" dirty="0"/>
              <a:t>String s1 = "WELCOME";</a:t>
            </a:r>
          </a:p>
          <a:p>
            <a:r>
              <a:rPr lang="en-US" dirty="0" err="1"/>
              <a:t>int</a:t>
            </a:r>
            <a:r>
              <a:rPr lang="en-US" dirty="0"/>
              <a:t> length = s1.length();    // the output will be 7.</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b="1" dirty="0"/>
              <a:t>String Methods -</a:t>
            </a:r>
          </a:p>
          <a:p>
            <a:r>
              <a:rPr lang="en-US" dirty="0"/>
              <a:t>String class provides a number of string manipulation methods. We will cover here commonly used methods </a:t>
            </a:r>
            <a:r>
              <a:rPr lang="en-US" dirty="0" smtClean="0"/>
              <a:t>–</a:t>
            </a:r>
          </a:p>
          <a:p>
            <a:endParaRPr lang="en-US" dirty="0" smtClean="0"/>
          </a:p>
          <a:p>
            <a:r>
              <a:rPr lang="en-US" b="1" dirty="0"/>
              <a:t>String Comparison Methods -</a:t>
            </a:r>
          </a:p>
          <a:p>
            <a:r>
              <a:rPr lang="en-US" dirty="0"/>
              <a:t>String class provides the following methods to compare two strings or substring within string.</a:t>
            </a:r>
          </a:p>
          <a:p>
            <a:r>
              <a:rPr lang="en-US" b="1" dirty="0"/>
              <a:t>1- equals() and </a:t>
            </a:r>
            <a:r>
              <a:rPr lang="en-US" b="1" dirty="0" err="1"/>
              <a:t>equalsIgnoreCase</a:t>
            </a:r>
            <a:r>
              <a:rPr lang="en-US" b="1" dirty="0"/>
              <a:t>()</a:t>
            </a:r>
          </a:p>
          <a:p>
            <a:r>
              <a:rPr lang="en-US" dirty="0"/>
              <a:t>equals() method is used to check whether two strings are equal or not. It has the following syntax-</a:t>
            </a:r>
          </a:p>
          <a:p>
            <a:r>
              <a:rPr lang="en-US" dirty="0" err="1"/>
              <a:t>boolean</a:t>
            </a:r>
            <a:r>
              <a:rPr lang="en-US" dirty="0"/>
              <a:t> equals(Object </a:t>
            </a:r>
            <a:r>
              <a:rPr lang="en-US" dirty="0" err="1"/>
              <a:t>str</a:t>
            </a:r>
            <a:r>
              <a:rPr lang="en-US" dirty="0"/>
              <a:t>)</a:t>
            </a:r>
          </a:p>
          <a:p>
            <a:r>
              <a:rPr lang="en-US" dirty="0"/>
              <a:t>It performs the case sensitive comparison of two strings and return true if both the strings are identical and false otherwise.</a:t>
            </a:r>
          </a:p>
          <a:p>
            <a:r>
              <a:rPr lang="en-US" dirty="0" err="1"/>
              <a:t>equalsIgnoreCase</a:t>
            </a:r>
            <a:r>
              <a:rPr lang="en-US" dirty="0"/>
              <a:t>() method as the name indicates perform the case insensitive comparison and return true if both are same and false otherwise. Case insensitive means it consider A-Z to be the same as a-z. It has the following syntax -</a:t>
            </a:r>
          </a:p>
          <a:p>
            <a:r>
              <a:rPr lang="en-US" dirty="0" err="1"/>
              <a:t>boolean</a:t>
            </a:r>
            <a:r>
              <a:rPr lang="en-US" dirty="0"/>
              <a:t> </a:t>
            </a:r>
            <a:r>
              <a:rPr lang="en-US" dirty="0" err="1"/>
              <a:t>equalsIgnoreCase</a:t>
            </a:r>
            <a:r>
              <a:rPr lang="en-US" dirty="0"/>
              <a:t>(Object </a:t>
            </a:r>
            <a:r>
              <a:rPr lang="en-US" dirty="0" err="1"/>
              <a:t>str</a:t>
            </a:r>
            <a:r>
              <a:rPr lang="en-US" dirty="0"/>
              <a: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pPr marL="0" indent="0">
              <a:buNone/>
            </a:pPr>
            <a:r>
              <a:rPr lang="en-US" dirty="0"/>
              <a:t>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s1 = "Welcome";</a:t>
            </a:r>
          </a:p>
          <a:p>
            <a:pPr marL="0" indent="0">
              <a:buNone/>
            </a:pPr>
            <a:r>
              <a:rPr lang="en-US" dirty="0"/>
              <a:t>       String s2 = "Welcome";</a:t>
            </a:r>
          </a:p>
          <a:p>
            <a:pPr marL="0" indent="0">
              <a:buNone/>
            </a:pPr>
            <a:r>
              <a:rPr lang="en-US" dirty="0"/>
              <a:t>       String s3 = "</a:t>
            </a:r>
            <a:r>
              <a:rPr lang="en-US" dirty="0" err="1"/>
              <a:t>WELcomE</a:t>
            </a:r>
            <a:r>
              <a:rPr lang="en-US" dirty="0"/>
              <a:t>";</a:t>
            </a:r>
          </a:p>
          <a:p>
            <a:pPr marL="0" indent="0">
              <a:buNone/>
            </a:pPr>
            <a:r>
              <a:rPr lang="en-US" dirty="0"/>
              <a:t>       </a:t>
            </a:r>
            <a:r>
              <a:rPr lang="en-US" dirty="0" err="1"/>
              <a:t>boolean</a:t>
            </a:r>
            <a:r>
              <a:rPr lang="en-US" dirty="0"/>
              <a:t> b1 = s1.equals(s2);</a:t>
            </a:r>
          </a:p>
          <a:p>
            <a:pPr marL="0" indent="0">
              <a:buNone/>
            </a:pPr>
            <a:r>
              <a:rPr lang="en-US" dirty="0"/>
              <a:t>       </a:t>
            </a:r>
            <a:r>
              <a:rPr lang="en-US" dirty="0" err="1"/>
              <a:t>boolean</a:t>
            </a:r>
            <a:r>
              <a:rPr lang="en-US" dirty="0"/>
              <a:t> b2 = s1.equals(s3);</a:t>
            </a:r>
          </a:p>
          <a:p>
            <a:pPr marL="0" indent="0">
              <a:buNone/>
            </a:pPr>
            <a:r>
              <a:rPr lang="en-US" dirty="0"/>
              <a:t>       </a:t>
            </a:r>
            <a:r>
              <a:rPr lang="en-US" dirty="0" err="1"/>
              <a:t>boolean</a:t>
            </a:r>
            <a:r>
              <a:rPr lang="en-US" dirty="0"/>
              <a:t> b3 = s1.equalsIgnoreCase(s3);</a:t>
            </a:r>
          </a:p>
          <a:p>
            <a:pPr marL="0" indent="0">
              <a:buNone/>
            </a:pPr>
            <a:r>
              <a:rPr lang="en-US" dirty="0"/>
              <a:t>       </a:t>
            </a:r>
            <a:r>
              <a:rPr lang="en-US" dirty="0" err="1"/>
              <a:t>boolean</a:t>
            </a:r>
            <a:r>
              <a:rPr lang="en-US" dirty="0"/>
              <a:t> b4  = s1.equals("Hello");</a:t>
            </a:r>
          </a:p>
          <a:p>
            <a:pPr marL="0" indent="0">
              <a:buNone/>
            </a:pPr>
            <a:r>
              <a:rPr lang="en-US" dirty="0"/>
              <a:t>       </a:t>
            </a:r>
            <a:r>
              <a:rPr lang="en-US" dirty="0" err="1"/>
              <a:t>System.out.println</a:t>
            </a:r>
            <a:r>
              <a:rPr lang="en-US" dirty="0"/>
              <a:t>("s1.equals(s2) = "+b1+"\n s1.equals(s3) = "+b2+"\n s1.equalsIgnoreCase(s3) = "+b3+"\n s1.equals("Hello") = "+b4);</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10000"/>
          </a:bodyPr>
          <a:lstStyle/>
          <a:p>
            <a:r>
              <a:rPr lang="en-US" dirty="0"/>
              <a:t>2- </a:t>
            </a:r>
            <a:r>
              <a:rPr lang="en-US" dirty="0" err="1"/>
              <a:t>startsWith</a:t>
            </a:r>
            <a:r>
              <a:rPr lang="en-US" dirty="0"/>
              <a:t>() and </a:t>
            </a:r>
            <a:r>
              <a:rPr lang="en-US" dirty="0" err="1"/>
              <a:t>endsWith</a:t>
            </a:r>
            <a:r>
              <a:rPr lang="en-US" dirty="0"/>
              <a:t>()</a:t>
            </a:r>
          </a:p>
          <a:p>
            <a:r>
              <a:rPr lang="en-US" dirty="0" err="1"/>
              <a:t>startsWith</a:t>
            </a:r>
            <a:r>
              <a:rPr lang="en-US" dirty="0"/>
              <a:t>() method as the name indicates checks whether a string is starts with some specified string or not. It return true if it starts with specified string and false otherwise. It has the following syntax -</a:t>
            </a:r>
          </a:p>
          <a:p>
            <a:r>
              <a:rPr lang="en-US" b="1" dirty="0" err="1"/>
              <a:t>boolean</a:t>
            </a:r>
            <a:r>
              <a:rPr lang="en-US" b="1" dirty="0"/>
              <a:t> </a:t>
            </a:r>
            <a:r>
              <a:rPr lang="en-US" b="1" dirty="0" err="1"/>
              <a:t>startsWith</a:t>
            </a:r>
            <a:r>
              <a:rPr lang="en-US" b="1" dirty="0"/>
              <a:t>(String </a:t>
            </a:r>
            <a:r>
              <a:rPr lang="en-US" b="1" dirty="0" err="1"/>
              <a:t>str</a:t>
            </a:r>
            <a:r>
              <a:rPr lang="en-US" b="1" dirty="0"/>
              <a:t>)</a:t>
            </a:r>
          </a:p>
          <a:p>
            <a:r>
              <a:rPr lang="en-US" dirty="0"/>
              <a:t>Similarly </a:t>
            </a:r>
            <a:r>
              <a:rPr lang="en-US" dirty="0" err="1"/>
              <a:t>endsWith</a:t>
            </a:r>
            <a:r>
              <a:rPr lang="en-US" dirty="0"/>
              <a:t>() method checks whether a string is ends with some specified string or not. And it too return true if string ends with that specified string and false otherwise. It has the following syntax -</a:t>
            </a:r>
          </a:p>
          <a:p>
            <a:r>
              <a:rPr lang="en-US" b="1" dirty="0" err="1"/>
              <a:t>boolean</a:t>
            </a:r>
            <a:r>
              <a:rPr lang="en-US" b="1" dirty="0"/>
              <a:t> </a:t>
            </a:r>
            <a:r>
              <a:rPr lang="en-US" b="1" dirty="0" err="1"/>
              <a:t>endsWith</a:t>
            </a:r>
            <a:r>
              <a:rPr lang="en-US" b="1" dirty="0"/>
              <a:t>(String </a:t>
            </a:r>
            <a:r>
              <a:rPr lang="en-US" b="1" dirty="0" err="1"/>
              <a:t>str</a:t>
            </a:r>
            <a:r>
              <a:rPr lang="en-US" b="1" dirty="0"/>
              <a:t>)</a:t>
            </a:r>
            <a:endParaRPr lang="en-IN" b="1" dirty="0"/>
          </a:p>
        </p:txBody>
      </p:sp>
    </p:spTree>
    <p:extLst>
      <p:ext uri="{BB962C8B-B14F-4D97-AF65-F5344CB8AC3E}">
        <p14:creationId xmlns:p14="http://schemas.microsoft.com/office/powerpoint/2010/main" val="4117241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r>
              <a:rPr lang="en-IN" dirty="0"/>
              <a:t>Example -</a:t>
            </a:r>
          </a:p>
          <a:p>
            <a:pPr marL="0" indent="0">
              <a:buNone/>
            </a:pPr>
            <a:r>
              <a:rPr lang="en-IN" sz="2000" dirty="0"/>
              <a:t>public class Call {</a:t>
            </a:r>
          </a:p>
          <a:p>
            <a:pPr marL="0" indent="0">
              <a:buNone/>
            </a:pPr>
            <a:endParaRPr lang="en-IN" sz="2000" dirty="0"/>
          </a:p>
          <a:p>
            <a:pPr marL="0" indent="0">
              <a:buNone/>
            </a:pPr>
            <a:r>
              <a:rPr lang="en-IN" sz="2000" dirty="0"/>
              <a:t>    public static void main(String[] </a:t>
            </a:r>
            <a:r>
              <a:rPr lang="en-IN" sz="2000" dirty="0" err="1"/>
              <a:t>args</a:t>
            </a:r>
            <a:r>
              <a:rPr lang="en-IN" sz="2000" dirty="0"/>
              <a:t>) {</a:t>
            </a:r>
          </a:p>
          <a:p>
            <a:pPr marL="0" indent="0">
              <a:buNone/>
            </a:pPr>
            <a:endParaRPr lang="en-IN" sz="2000" dirty="0"/>
          </a:p>
          <a:p>
            <a:pPr marL="0" indent="0">
              <a:buNone/>
            </a:pPr>
            <a:r>
              <a:rPr lang="en-IN" sz="2000" dirty="0"/>
              <a:t>       String s1 = "Rohit Kamboj";</a:t>
            </a:r>
          </a:p>
          <a:p>
            <a:pPr marL="0" indent="0">
              <a:buNone/>
            </a:pPr>
            <a:r>
              <a:rPr lang="en-IN" sz="2000" dirty="0"/>
              <a:t>        </a:t>
            </a:r>
            <a:r>
              <a:rPr lang="en-IN" sz="2000" dirty="0" err="1"/>
              <a:t>System.out.println</a:t>
            </a:r>
            <a:r>
              <a:rPr lang="en-IN" sz="2000" dirty="0"/>
              <a:t>("s1.startsWith("</a:t>
            </a:r>
            <a:r>
              <a:rPr lang="en-IN" sz="2000" dirty="0" err="1"/>
              <a:t>Roh</a:t>
            </a:r>
            <a:r>
              <a:rPr lang="en-IN" sz="2000" dirty="0"/>
              <a:t>") = "+ s1.startsWith("</a:t>
            </a:r>
            <a:r>
              <a:rPr lang="en-IN" sz="2000" dirty="0" err="1"/>
              <a:t>Roh</a:t>
            </a:r>
            <a:r>
              <a:rPr lang="en-IN" sz="2000" dirty="0"/>
              <a:t>"));</a:t>
            </a:r>
          </a:p>
          <a:p>
            <a:pPr marL="0" indent="0">
              <a:buNone/>
            </a:pPr>
            <a:r>
              <a:rPr lang="en-IN" sz="2000" dirty="0"/>
              <a:t>        </a:t>
            </a:r>
            <a:r>
              <a:rPr lang="en-IN" sz="2000" dirty="0" err="1"/>
              <a:t>System.out.println</a:t>
            </a:r>
            <a:r>
              <a:rPr lang="en-IN" sz="2000" dirty="0"/>
              <a:t>("s1.startsWith("</a:t>
            </a:r>
            <a:r>
              <a:rPr lang="en-IN" sz="2000" dirty="0" err="1"/>
              <a:t>roh</a:t>
            </a:r>
            <a:r>
              <a:rPr lang="en-IN" sz="2000" dirty="0"/>
              <a:t>") = "+ s1.startsWith("</a:t>
            </a:r>
            <a:r>
              <a:rPr lang="en-IN" sz="2000" dirty="0" err="1"/>
              <a:t>Roh</a:t>
            </a:r>
            <a:r>
              <a:rPr lang="en-IN" sz="2000" dirty="0"/>
              <a:t>"));</a:t>
            </a:r>
          </a:p>
          <a:p>
            <a:pPr marL="0" indent="0">
              <a:buNone/>
            </a:pPr>
            <a:r>
              <a:rPr lang="en-IN" sz="2000" dirty="0"/>
              <a:t>        </a:t>
            </a:r>
            <a:r>
              <a:rPr lang="en-IN" sz="2000" dirty="0" err="1"/>
              <a:t>System.out.println</a:t>
            </a:r>
            <a:r>
              <a:rPr lang="en-IN" sz="2000" dirty="0"/>
              <a:t>("s1.endsWith("</a:t>
            </a:r>
            <a:r>
              <a:rPr lang="en-IN" sz="2000" dirty="0" err="1"/>
              <a:t>amboj</a:t>
            </a:r>
            <a:r>
              <a:rPr lang="en-IN" sz="2000" dirty="0"/>
              <a:t>") = "+ s1.endsWith("</a:t>
            </a:r>
            <a:r>
              <a:rPr lang="en-IN" sz="2000" dirty="0" err="1"/>
              <a:t>amboj</a:t>
            </a:r>
            <a:r>
              <a:rPr lang="en-IN" sz="2000" dirty="0"/>
              <a:t>"));   </a:t>
            </a:r>
          </a:p>
          <a:p>
            <a:pPr marL="0" indent="0">
              <a:buNone/>
            </a:pPr>
            <a:r>
              <a:rPr lang="en-IN" sz="2000" dirty="0"/>
              <a:t>    }</a:t>
            </a:r>
          </a:p>
          <a:p>
            <a:pPr marL="0" indent="0">
              <a:buNone/>
            </a:pPr>
            <a:r>
              <a:rPr lang="en-IN" sz="2000" dirty="0"/>
              <a:t>}</a:t>
            </a:r>
          </a:p>
        </p:txBody>
      </p:sp>
    </p:spTree>
    <p:extLst>
      <p:ext uri="{BB962C8B-B14F-4D97-AF65-F5344CB8AC3E}">
        <p14:creationId xmlns:p14="http://schemas.microsoft.com/office/powerpoint/2010/main" val="4117241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dirty="0"/>
              <a:t>3- </a:t>
            </a:r>
            <a:r>
              <a:rPr lang="en-US" dirty="0" err="1"/>
              <a:t>compareTo</a:t>
            </a:r>
            <a:r>
              <a:rPr lang="en-US" dirty="0"/>
              <a:t>() and </a:t>
            </a:r>
            <a:r>
              <a:rPr lang="en-US" dirty="0" err="1"/>
              <a:t>compareToIgnoreCase</a:t>
            </a:r>
            <a:r>
              <a:rPr lang="en-US" dirty="0"/>
              <a:t>() -</a:t>
            </a:r>
          </a:p>
          <a:p>
            <a:r>
              <a:rPr lang="en-US" dirty="0"/>
              <a:t>This method is used for comparing two strings to check whether one string is equal to or greater than or less than the second string. It has the following syntax -</a:t>
            </a:r>
          </a:p>
          <a:p>
            <a:r>
              <a:rPr lang="en-US" dirty="0" err="1"/>
              <a:t>int</a:t>
            </a:r>
            <a:r>
              <a:rPr lang="en-US" dirty="0"/>
              <a:t> </a:t>
            </a:r>
            <a:r>
              <a:rPr lang="en-US" dirty="0" err="1"/>
              <a:t>compareTo</a:t>
            </a:r>
            <a:r>
              <a:rPr lang="en-US" dirty="0"/>
              <a:t>(String </a:t>
            </a:r>
            <a:r>
              <a:rPr lang="en-US" dirty="0" err="1"/>
              <a:t>str</a:t>
            </a:r>
            <a:r>
              <a:rPr lang="en-US" dirty="0"/>
              <a:t>) </a:t>
            </a:r>
            <a:endParaRPr lang="en-US" dirty="0" smtClean="0"/>
          </a:p>
          <a:p>
            <a:r>
              <a:rPr lang="en-US" dirty="0" smtClean="0"/>
              <a:t>The </a:t>
            </a:r>
            <a:r>
              <a:rPr lang="en-US" dirty="0" err="1"/>
              <a:t>compareTo</a:t>
            </a:r>
            <a:r>
              <a:rPr lang="en-US" dirty="0"/>
              <a:t>() method compares two strings character by character continuously until either corresponding character found to be different or last character in one or both of the string reached.</a:t>
            </a:r>
          </a:p>
          <a:p>
            <a:r>
              <a:rPr lang="en-US" dirty="0"/>
              <a:t>The value returned by </a:t>
            </a:r>
            <a:r>
              <a:rPr lang="en-US" dirty="0" err="1"/>
              <a:t>compareTo</a:t>
            </a:r>
            <a:r>
              <a:rPr lang="en-US" dirty="0"/>
              <a:t>() method is the difference between the ASCII values of first character that is different in both the string.</a:t>
            </a:r>
          </a:p>
          <a:p>
            <a:r>
              <a:rPr lang="en-US" dirty="0"/>
              <a:t>If it returns zero that means invoking string and string passed as argument are identical.</a:t>
            </a:r>
          </a:p>
          <a:p>
            <a:r>
              <a:rPr lang="en-US" dirty="0"/>
              <a:t>If it returns any positive value that means invoking string is greater than the string passes as arguments.</a:t>
            </a:r>
          </a:p>
          <a:p>
            <a:r>
              <a:rPr lang="en-US" dirty="0"/>
              <a:t>If it returns any negative value that means invoking string is less than the string passed as argument.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62500" lnSpcReduction="20000"/>
          </a:bodyPr>
          <a:lstStyle/>
          <a:p>
            <a:pPr marL="0" indent="0">
              <a:buNone/>
            </a:pPr>
            <a:r>
              <a:rPr lang="en-US" dirty="0"/>
              <a:t>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s1 = "Hello";</a:t>
            </a:r>
          </a:p>
          <a:p>
            <a:pPr marL="0" indent="0">
              <a:buNone/>
            </a:pPr>
            <a:r>
              <a:rPr lang="en-US" dirty="0"/>
              <a:t>        </a:t>
            </a:r>
            <a:r>
              <a:rPr lang="en-US" dirty="0" err="1"/>
              <a:t>int</a:t>
            </a:r>
            <a:r>
              <a:rPr lang="en-US" dirty="0"/>
              <a:t> i = s1.compareTo("Hello");</a:t>
            </a:r>
          </a:p>
          <a:p>
            <a:pPr marL="0" indent="0">
              <a:buNone/>
            </a:pPr>
            <a:r>
              <a:rPr lang="en-US" dirty="0"/>
              <a:t>        </a:t>
            </a:r>
            <a:r>
              <a:rPr lang="en-US" dirty="0" err="1"/>
              <a:t>int</a:t>
            </a:r>
            <a:r>
              <a:rPr lang="en-US" dirty="0"/>
              <a:t> j = s1.compareTo("</a:t>
            </a:r>
            <a:r>
              <a:rPr lang="en-US" dirty="0" err="1"/>
              <a:t>Helln</a:t>
            </a:r>
            <a:r>
              <a:rPr lang="en-US" dirty="0"/>
              <a:t>");</a:t>
            </a:r>
          </a:p>
          <a:p>
            <a:pPr marL="0" indent="0">
              <a:buNone/>
            </a:pPr>
            <a:r>
              <a:rPr lang="en-US" dirty="0"/>
              <a:t>        </a:t>
            </a:r>
            <a:r>
              <a:rPr lang="en-US" dirty="0" err="1"/>
              <a:t>int</a:t>
            </a:r>
            <a:r>
              <a:rPr lang="en-US" dirty="0"/>
              <a:t> k = s1.compareTo("</a:t>
            </a:r>
            <a:r>
              <a:rPr lang="en-US" dirty="0" err="1"/>
              <a:t>Iallo</a:t>
            </a:r>
            <a:r>
              <a:rPr lang="en-US" dirty="0"/>
              <a:t>");  </a:t>
            </a:r>
          </a:p>
          <a:p>
            <a:pPr marL="0" indent="0">
              <a:buNone/>
            </a:pPr>
            <a:r>
              <a:rPr lang="en-US" dirty="0"/>
              <a:t>        </a:t>
            </a:r>
            <a:r>
              <a:rPr lang="en-US" dirty="0" err="1"/>
              <a:t>System.out.println</a:t>
            </a:r>
            <a:r>
              <a:rPr lang="en-US" dirty="0"/>
              <a:t>("i = "+</a:t>
            </a:r>
            <a:r>
              <a:rPr lang="en-US" dirty="0" err="1"/>
              <a:t>i+"j</a:t>
            </a:r>
            <a:r>
              <a:rPr lang="en-US" dirty="0"/>
              <a:t> = "+</a:t>
            </a:r>
            <a:r>
              <a:rPr lang="en-US" dirty="0" err="1"/>
              <a:t>j+"k</a:t>
            </a:r>
            <a:r>
              <a:rPr lang="en-US" dirty="0"/>
              <a:t> = "+k);</a:t>
            </a:r>
          </a:p>
          <a:p>
            <a:pPr marL="0" indent="0">
              <a:buNone/>
            </a:pPr>
            <a:r>
              <a:rPr lang="en-US" dirty="0"/>
              <a:t>    }</a:t>
            </a:r>
          </a:p>
          <a:p>
            <a:pPr marL="0" indent="0">
              <a:buNone/>
            </a:pPr>
            <a:r>
              <a:rPr lang="en-US" dirty="0"/>
              <a:t>}</a:t>
            </a:r>
          </a:p>
          <a:p>
            <a:pPr marL="0" indent="0">
              <a:buNone/>
            </a:pPr>
            <a:endParaRPr lang="en-US" dirty="0"/>
          </a:p>
          <a:p>
            <a:pPr marL="0" indent="0">
              <a:buNone/>
            </a:pPr>
            <a:r>
              <a:rPr lang="en-US" dirty="0"/>
              <a:t>Output -</a:t>
            </a:r>
          </a:p>
          <a:p>
            <a:pPr marL="0" indent="0">
              <a:buNone/>
            </a:pPr>
            <a:r>
              <a:rPr lang="en-US" dirty="0"/>
              <a:t> i = 0  j = 1   k = -1</a:t>
            </a:r>
          </a:p>
          <a:p>
            <a:pPr marL="0" indent="0">
              <a:buNone/>
            </a:pPr>
            <a:r>
              <a:rPr lang="en-US" dirty="0"/>
              <a:t>The value of I is 0 because both the string are identical, in next line value of j is 1 , the ASCII code difference between </a:t>
            </a:r>
            <a:r>
              <a:rPr lang="en-US" dirty="0" smtClean="0"/>
              <a:t>o </a:t>
            </a:r>
            <a:r>
              <a:rPr lang="en-US" dirty="0"/>
              <a:t>and </a:t>
            </a:r>
            <a:r>
              <a:rPr lang="en-US" dirty="0" smtClean="0"/>
              <a:t>n.</a:t>
            </a:r>
            <a:endParaRPr lang="en-US" dirty="0"/>
          </a:p>
          <a:p>
            <a:pPr marL="0" indent="0">
              <a:buNone/>
            </a:pPr>
            <a:r>
              <a:rPr lang="en-US" dirty="0"/>
              <a:t>Note the value of k is -1 that is the ASCII code difference between 'H' and 'I'.</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55000" lnSpcReduction="20000"/>
          </a:bodyPr>
          <a:lstStyle/>
          <a:p>
            <a:pPr marL="0" indent="0">
              <a:buNone/>
            </a:pPr>
            <a:r>
              <a:rPr lang="en-US" dirty="0" err="1"/>
              <a:t>compareToIgnoreCase</a:t>
            </a:r>
            <a:r>
              <a:rPr lang="en-US" dirty="0"/>
              <a:t>() is the another method that performs the case free comparison of two strings. It is exactly similar to </a:t>
            </a:r>
            <a:r>
              <a:rPr lang="en-US" dirty="0" err="1"/>
              <a:t>compareTo</a:t>
            </a:r>
            <a:r>
              <a:rPr lang="en-US" dirty="0"/>
              <a:t>() method except that here case difference between invoking string and string passed as argument is ignored.</a:t>
            </a:r>
          </a:p>
          <a:p>
            <a:pPr marL="0" indent="0">
              <a:buNone/>
            </a:pPr>
            <a:r>
              <a:rPr lang="en-US" dirty="0"/>
              <a:t>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s1 = "Hello";</a:t>
            </a:r>
          </a:p>
          <a:p>
            <a:pPr marL="0" indent="0">
              <a:buNone/>
            </a:pPr>
            <a:r>
              <a:rPr lang="en-US" dirty="0"/>
              <a:t>        </a:t>
            </a:r>
            <a:r>
              <a:rPr lang="en-US" dirty="0" err="1"/>
              <a:t>int</a:t>
            </a:r>
            <a:r>
              <a:rPr lang="en-US" dirty="0"/>
              <a:t> i = s1.compareTo("hello");</a:t>
            </a:r>
          </a:p>
          <a:p>
            <a:pPr marL="0" indent="0">
              <a:buNone/>
            </a:pPr>
            <a:r>
              <a:rPr lang="en-US" dirty="0"/>
              <a:t>        </a:t>
            </a:r>
            <a:r>
              <a:rPr lang="en-US" dirty="0" err="1"/>
              <a:t>int</a:t>
            </a:r>
            <a:r>
              <a:rPr lang="en-US" dirty="0"/>
              <a:t> j = s1.compareToIgnoreCase("hello");</a:t>
            </a:r>
          </a:p>
          <a:p>
            <a:pPr marL="0" indent="0">
              <a:buNone/>
            </a:pPr>
            <a:r>
              <a:rPr lang="en-US" dirty="0"/>
              <a:t>        </a:t>
            </a:r>
            <a:r>
              <a:rPr lang="en-US" dirty="0" err="1"/>
              <a:t>System.out.println</a:t>
            </a:r>
            <a:r>
              <a:rPr lang="en-US" dirty="0"/>
              <a:t>("i = "+i+" j = "+j);</a:t>
            </a:r>
          </a:p>
          <a:p>
            <a:pPr marL="0" indent="0">
              <a:buNone/>
            </a:pPr>
            <a:r>
              <a:rPr lang="en-US" dirty="0"/>
              <a:t>    }</a:t>
            </a:r>
          </a:p>
          <a:p>
            <a:pPr marL="0" indent="0">
              <a:buNone/>
            </a:pPr>
            <a:r>
              <a:rPr lang="en-US" dirty="0"/>
              <a:t>}</a:t>
            </a:r>
          </a:p>
          <a:p>
            <a:pPr marL="0" indent="0">
              <a:buNone/>
            </a:pPr>
            <a:endParaRPr lang="en-US" dirty="0"/>
          </a:p>
          <a:p>
            <a:pPr marL="0" indent="0">
              <a:buNone/>
            </a:pPr>
            <a:r>
              <a:rPr lang="en-US" dirty="0"/>
              <a:t>    </a:t>
            </a:r>
          </a:p>
          <a:p>
            <a:pPr marL="0" indent="0">
              <a:buNone/>
            </a:pPr>
            <a:r>
              <a:rPr lang="en-US" dirty="0"/>
              <a:t>Output -</a:t>
            </a:r>
          </a:p>
          <a:p>
            <a:pPr marL="0" indent="0">
              <a:buNone/>
            </a:pPr>
            <a:r>
              <a:rPr lang="en-US" dirty="0"/>
              <a:t>i = -32  j = 0</a:t>
            </a:r>
          </a:p>
          <a:p>
            <a:pPr marL="0" indent="0">
              <a:buNone/>
            </a:pPr>
            <a:r>
              <a:rPr lang="en-US" dirty="0"/>
              <a:t>value of i is -32 that is the ASCII code difference between the values of ?H? and ?h?. Whereas value of j is zero because here case will be ignored, so ?H? and ?h? will be considered identical.</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b="1" dirty="0"/>
              <a:t>Extracting String Characters -</a:t>
            </a:r>
          </a:p>
          <a:p>
            <a:r>
              <a:rPr lang="en-US" dirty="0"/>
              <a:t>String class provides a number of methods for accessing characters from </a:t>
            </a:r>
            <a:r>
              <a:rPr lang="en-US" dirty="0" smtClean="0"/>
              <a:t>strings.</a:t>
            </a:r>
          </a:p>
          <a:p>
            <a:endParaRPr lang="en-US" dirty="0" smtClean="0"/>
          </a:p>
          <a:p>
            <a:r>
              <a:rPr lang="en-US" dirty="0" smtClean="0"/>
              <a:t>1- </a:t>
            </a:r>
            <a:r>
              <a:rPr lang="en-US" dirty="0" err="1"/>
              <a:t>charAt</a:t>
            </a:r>
            <a:r>
              <a:rPr lang="en-US" dirty="0"/>
              <a:t>() -</a:t>
            </a:r>
          </a:p>
          <a:p>
            <a:r>
              <a:rPr lang="en-US" dirty="0"/>
              <a:t>It is used to extract a character from a string. It has the following syntax -</a:t>
            </a:r>
            <a:br>
              <a:rPr lang="en-US" dirty="0"/>
            </a:br>
            <a:r>
              <a:rPr lang="en-US" b="1" dirty="0"/>
              <a:t>char </a:t>
            </a:r>
            <a:r>
              <a:rPr lang="en-US" b="1" dirty="0" err="1"/>
              <a:t>charAt</a:t>
            </a:r>
            <a:r>
              <a:rPr lang="en-US" b="1" dirty="0"/>
              <a:t>(</a:t>
            </a:r>
            <a:r>
              <a:rPr lang="en-US" b="1" dirty="0" err="1"/>
              <a:t>int</a:t>
            </a:r>
            <a:r>
              <a:rPr lang="en-US" b="1" dirty="0"/>
              <a:t> position)</a:t>
            </a:r>
            <a:r>
              <a:rPr lang="en-US" dirty="0"/>
              <a:t/>
            </a:r>
            <a:br>
              <a:rPr lang="en-US" dirty="0"/>
            </a:br>
            <a:r>
              <a:rPr lang="en-US" dirty="0"/>
              <a:t>Here position will be the index of the character that you want to access. Index should not be less than zero or greater than the length of the string, in that case </a:t>
            </a:r>
            <a:r>
              <a:rPr lang="en-US" dirty="0" err="1"/>
              <a:t>StringIndexOutOfBoundsException</a:t>
            </a:r>
            <a:r>
              <a:rPr lang="en-US" dirty="0"/>
              <a:t> will be thrown and programs terminate.</a:t>
            </a:r>
            <a:br>
              <a:rPr lang="en-US" dirty="0"/>
            </a:br>
            <a:r>
              <a:rPr lang="en-US" dirty="0"/>
              <a:t>Example -</a:t>
            </a:r>
          </a:p>
          <a:p>
            <a:r>
              <a:rPr lang="en-US" dirty="0"/>
              <a:t>String s1 = </a:t>
            </a:r>
            <a:r>
              <a:rPr lang="en-US" dirty="0" smtClean="0"/>
              <a:t>“WELCOME”; </a:t>
            </a:r>
          </a:p>
          <a:p>
            <a:r>
              <a:rPr lang="en-US" dirty="0" smtClean="0"/>
              <a:t>char </a:t>
            </a:r>
            <a:r>
              <a:rPr lang="en-US" dirty="0" err="1"/>
              <a:t>ch</a:t>
            </a:r>
            <a:r>
              <a:rPr lang="en-US" dirty="0"/>
              <a:t> = s1.charAt(2); </a:t>
            </a:r>
            <a:endParaRPr lang="en-US" dirty="0" smtClean="0"/>
          </a:p>
          <a:p>
            <a:r>
              <a:rPr lang="en-US" dirty="0" smtClean="0"/>
              <a:t>Here </a:t>
            </a:r>
            <a:r>
              <a:rPr lang="en-US" dirty="0"/>
              <a:t>the value of </a:t>
            </a:r>
            <a:r>
              <a:rPr lang="en-US" dirty="0" err="1"/>
              <a:t>ch</a:t>
            </a:r>
            <a:r>
              <a:rPr lang="en-US" dirty="0"/>
              <a:t> will be </a:t>
            </a:r>
            <a:r>
              <a:rPr lang="en-US" dirty="0" smtClean="0"/>
              <a:t>‘L’(character </a:t>
            </a:r>
            <a:r>
              <a:rPr lang="en-US" dirty="0"/>
              <a:t>at 2nd index</a:t>
            </a:r>
            <a:r>
              <a:rPr lang="en-US" dirty="0" smtClean="0"/>
              <a:t>)</a:t>
            </a:r>
          </a:p>
          <a:p>
            <a:r>
              <a:rPr lang="en-US" dirty="0" smtClean="0"/>
              <a:t>Note </a:t>
            </a:r>
            <a:r>
              <a:rPr lang="en-US" dirty="0"/>
              <a:t>that index starts from 0.</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47500" lnSpcReduction="20000"/>
          </a:bodyPr>
          <a:lstStyle/>
          <a:p>
            <a:r>
              <a:rPr lang="en-US" dirty="0"/>
              <a:t>2- </a:t>
            </a:r>
            <a:r>
              <a:rPr lang="en-US" dirty="0" err="1"/>
              <a:t>getChars</a:t>
            </a:r>
            <a:r>
              <a:rPr lang="en-US" dirty="0"/>
              <a:t>() -</a:t>
            </a:r>
          </a:p>
          <a:p>
            <a:r>
              <a:rPr lang="en-US" dirty="0"/>
              <a:t>It is used to access a substring as array of characters from the </a:t>
            </a:r>
            <a:r>
              <a:rPr lang="en-US" dirty="0" smtClean="0"/>
              <a:t>source </a:t>
            </a:r>
            <a:r>
              <a:rPr lang="en-US" dirty="0"/>
              <a:t>string. It has the following syntax -</a:t>
            </a:r>
          </a:p>
          <a:p>
            <a:r>
              <a:rPr lang="en-US" dirty="0"/>
              <a:t>void </a:t>
            </a:r>
            <a:r>
              <a:rPr lang="en-US" dirty="0" err="1"/>
              <a:t>getChars</a:t>
            </a:r>
            <a:r>
              <a:rPr lang="en-US" dirty="0"/>
              <a:t>(</a:t>
            </a:r>
            <a:r>
              <a:rPr lang="en-US" dirty="0" err="1"/>
              <a:t>int</a:t>
            </a:r>
            <a:r>
              <a:rPr lang="en-US" dirty="0"/>
              <a:t> </a:t>
            </a:r>
            <a:r>
              <a:rPr lang="en-US" dirty="0" err="1"/>
              <a:t>SourceStart</a:t>
            </a:r>
            <a:r>
              <a:rPr lang="en-US" dirty="0"/>
              <a:t>, </a:t>
            </a:r>
            <a:r>
              <a:rPr lang="en-US" dirty="0" err="1"/>
              <a:t>int</a:t>
            </a:r>
            <a:r>
              <a:rPr lang="en-US" dirty="0"/>
              <a:t> </a:t>
            </a:r>
            <a:r>
              <a:rPr lang="en-US" dirty="0" err="1"/>
              <a:t>SourceEnd</a:t>
            </a:r>
            <a:r>
              <a:rPr lang="en-US" dirty="0"/>
              <a:t>, char Target[], </a:t>
            </a:r>
            <a:r>
              <a:rPr lang="en-US" dirty="0" err="1"/>
              <a:t>int</a:t>
            </a:r>
            <a:r>
              <a:rPr lang="en-US" dirty="0"/>
              <a:t> </a:t>
            </a:r>
            <a:r>
              <a:rPr lang="en-US" dirty="0" err="1"/>
              <a:t>TargetStart</a:t>
            </a:r>
            <a:r>
              <a:rPr lang="en-US" dirty="0"/>
              <a:t>)</a:t>
            </a:r>
          </a:p>
          <a:p>
            <a:r>
              <a:rPr lang="en-US" dirty="0"/>
              <a:t>Here </a:t>
            </a:r>
            <a:r>
              <a:rPr lang="en-US" dirty="0" err="1"/>
              <a:t>SourceStart</a:t>
            </a:r>
            <a:r>
              <a:rPr lang="en-US" dirty="0"/>
              <a:t> refers to the starting index position of substring from source string and </a:t>
            </a:r>
            <a:r>
              <a:rPr lang="en-US" dirty="0" err="1"/>
              <a:t>SourceEnd</a:t>
            </a:r>
            <a:r>
              <a:rPr lang="en-US" dirty="0"/>
              <a:t> refers to the one past ending index of substring from source string. SO substring will have the characters from </a:t>
            </a:r>
            <a:r>
              <a:rPr lang="en-US" dirty="0" err="1"/>
              <a:t>SourceStart</a:t>
            </a:r>
            <a:r>
              <a:rPr lang="en-US" dirty="0"/>
              <a:t> to </a:t>
            </a:r>
            <a:r>
              <a:rPr lang="en-US" dirty="0" err="1"/>
              <a:t>SourceEnd</a:t>
            </a:r>
            <a:r>
              <a:rPr lang="en-US" dirty="0"/>
              <a:t> - 1.</a:t>
            </a:r>
          </a:p>
          <a:p>
            <a:r>
              <a:rPr lang="en-US" dirty="0"/>
              <a:t>Target[] is the array in which you want to receive the substring and </a:t>
            </a:r>
            <a:r>
              <a:rPr lang="en-US" dirty="0" err="1"/>
              <a:t>TargetStart</a:t>
            </a:r>
            <a:r>
              <a:rPr lang="en-US" dirty="0"/>
              <a:t> will be the index from where you want to copy the substring in Target array.</a:t>
            </a:r>
          </a:p>
          <a:p>
            <a:r>
              <a:rPr lang="en-US" dirty="0"/>
              <a:t>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s1 = "welcome to java";</a:t>
            </a:r>
          </a:p>
          <a:p>
            <a:pPr marL="0" indent="0">
              <a:buNone/>
            </a:pPr>
            <a:r>
              <a:rPr lang="en-US" dirty="0"/>
              <a:t>        char c1 = s1.charAt(2);</a:t>
            </a:r>
          </a:p>
          <a:p>
            <a:pPr marL="0" indent="0">
              <a:buNone/>
            </a:pPr>
            <a:r>
              <a:rPr lang="en-US" dirty="0"/>
              <a:t>        char </a:t>
            </a:r>
            <a:r>
              <a:rPr lang="en-US" dirty="0" err="1"/>
              <a:t>ch</a:t>
            </a:r>
            <a:r>
              <a:rPr lang="en-US" dirty="0"/>
              <a:t>[] = new char[10]; // Array should be large enough to hold the substring</a:t>
            </a:r>
          </a:p>
          <a:p>
            <a:pPr marL="0" indent="0">
              <a:buNone/>
            </a:pPr>
            <a:r>
              <a:rPr lang="en-US" dirty="0"/>
              <a:t>        s1.getChars(11,15,ch,0);</a:t>
            </a:r>
          </a:p>
          <a:p>
            <a:pPr marL="0" indent="0">
              <a:buNone/>
            </a:pPr>
            <a:r>
              <a:rPr lang="en-US" dirty="0"/>
              <a:t>       </a:t>
            </a:r>
            <a:r>
              <a:rPr lang="en-US" dirty="0" err="1"/>
              <a:t>System.out.println</a:t>
            </a:r>
            <a:r>
              <a:rPr lang="en-US" dirty="0"/>
              <a:t>("s1.charAt(2) = "+c1);</a:t>
            </a:r>
          </a:p>
          <a:p>
            <a:pPr marL="0" indent="0">
              <a:buNone/>
            </a:pPr>
            <a:r>
              <a:rPr lang="en-US" dirty="0"/>
              <a:t>        </a:t>
            </a:r>
            <a:r>
              <a:rPr lang="en-US" dirty="0" err="1"/>
              <a:t>System.out.println</a:t>
            </a:r>
            <a:r>
              <a:rPr lang="en-US" dirty="0"/>
              <a:t>(</a:t>
            </a:r>
            <a:r>
              <a:rPr lang="en-US" dirty="0" err="1"/>
              <a:t>ch</a:t>
            </a:r>
            <a:r>
              <a:rPr lang="en-US" dirty="0"/>
              <a:t>);</a:t>
            </a:r>
          </a:p>
          <a:p>
            <a:pPr marL="0" indent="0">
              <a:buNone/>
            </a:pPr>
            <a:r>
              <a:rPr lang="en-US" dirty="0"/>
              <a:t>        </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62500" lnSpcReduction="20000"/>
          </a:bodyPr>
          <a:lstStyle/>
          <a:p>
            <a:r>
              <a:rPr lang="en-US" dirty="0"/>
              <a:t>3- </a:t>
            </a:r>
            <a:r>
              <a:rPr lang="en-US" dirty="0" err="1"/>
              <a:t>getBytes</a:t>
            </a:r>
            <a:r>
              <a:rPr lang="en-US" dirty="0"/>
              <a:t>() -</a:t>
            </a:r>
          </a:p>
          <a:p>
            <a:r>
              <a:rPr lang="en-US" dirty="0"/>
              <a:t>It is used to extract all characters of a string into a byte array. It converts all characters of string into their corresponding ASCII code and that is stored in byte array. It has the following syntax -</a:t>
            </a:r>
          </a:p>
          <a:p>
            <a:r>
              <a:rPr lang="en-US" dirty="0"/>
              <a:t>byte[ ] </a:t>
            </a:r>
            <a:r>
              <a:rPr lang="en-US" dirty="0" err="1"/>
              <a:t>getBytes</a:t>
            </a:r>
            <a:r>
              <a:rPr lang="en-US" dirty="0"/>
              <a:t>()</a:t>
            </a:r>
          </a:p>
          <a:p>
            <a:r>
              <a:rPr lang="en-US" dirty="0"/>
              <a:t>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s1 = "ABCD";</a:t>
            </a:r>
          </a:p>
          <a:p>
            <a:pPr marL="0" indent="0">
              <a:buNone/>
            </a:pPr>
            <a:r>
              <a:rPr lang="en-US" dirty="0"/>
              <a:t>        byte[] b = s1.getBytes();</a:t>
            </a:r>
          </a:p>
          <a:p>
            <a:pPr marL="0" indent="0">
              <a:buNone/>
            </a:pPr>
            <a:r>
              <a:rPr lang="en-US" dirty="0"/>
              <a:t>        for(byte i:b)</a:t>
            </a:r>
          </a:p>
          <a:p>
            <a:pPr marL="0" indent="0">
              <a:buNone/>
            </a:pPr>
            <a:r>
              <a:rPr lang="en-US" dirty="0"/>
              <a:t>        {</a:t>
            </a:r>
          </a:p>
          <a:p>
            <a:pPr marL="0" indent="0">
              <a:buNone/>
            </a:pPr>
            <a:r>
              <a:rPr lang="en-US" dirty="0"/>
              <a:t>        </a:t>
            </a:r>
            <a:r>
              <a:rPr lang="en-US" dirty="0" err="1"/>
              <a:t>System.out.print</a:t>
            </a:r>
            <a:r>
              <a:rPr lang="en-US" dirty="0"/>
              <a:t>(i+"\t");</a:t>
            </a:r>
          </a:p>
          <a:p>
            <a:pPr marL="0" indent="0">
              <a:buNone/>
            </a:pPr>
            <a:r>
              <a:rPr lang="en-US" dirty="0"/>
              <a:t>        }</a:t>
            </a:r>
          </a:p>
          <a:p>
            <a:pPr marL="0" indent="0">
              <a:buNone/>
            </a:pPr>
            <a:r>
              <a:rPr lang="en-US" dirty="0"/>
              <a:t>    }</a:t>
            </a:r>
          </a:p>
          <a:p>
            <a:pPr marL="0" indent="0">
              <a:buNone/>
            </a:pPr>
            <a:r>
              <a:rPr lang="en-US" dirty="0"/>
              <a:t>}</a:t>
            </a:r>
          </a:p>
          <a:p>
            <a:endParaRPr lang="en-IN" dirty="0"/>
          </a:p>
        </p:txBody>
      </p:sp>
    </p:spTree>
    <p:extLst>
      <p:ext uri="{BB962C8B-B14F-4D97-AF65-F5344CB8AC3E}">
        <p14:creationId xmlns:p14="http://schemas.microsoft.com/office/powerpoint/2010/main" val="41172412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dirty="0"/>
              <a:t>4- </a:t>
            </a:r>
            <a:r>
              <a:rPr lang="en-US" dirty="0" err="1"/>
              <a:t>toCharArray</a:t>
            </a:r>
            <a:r>
              <a:rPr lang="en-US" dirty="0"/>
              <a:t>() -</a:t>
            </a:r>
          </a:p>
          <a:p>
            <a:r>
              <a:rPr lang="en-US" dirty="0"/>
              <a:t>It is used to convert all characters of string into a character array. It has the following syntax -</a:t>
            </a:r>
          </a:p>
          <a:p>
            <a:r>
              <a:rPr lang="en-US" dirty="0"/>
              <a:t>char[] </a:t>
            </a:r>
            <a:r>
              <a:rPr lang="en-US" dirty="0" err="1"/>
              <a:t>toCharArray</a:t>
            </a:r>
            <a:r>
              <a:rPr lang="en-US" dirty="0"/>
              <a:t>()</a:t>
            </a:r>
          </a:p>
          <a:p>
            <a:r>
              <a:rPr lang="en-US" dirty="0"/>
              <a:t>Example -</a:t>
            </a:r>
          </a:p>
          <a:p>
            <a:r>
              <a:rPr lang="en-US" dirty="0"/>
              <a:t>public class Call {</a:t>
            </a:r>
          </a:p>
          <a:p>
            <a:endParaRPr lang="en-US" dirty="0"/>
          </a:p>
          <a:p>
            <a:r>
              <a:rPr lang="en-US" dirty="0"/>
              <a:t>    public static void main(String[] </a:t>
            </a:r>
            <a:r>
              <a:rPr lang="en-US" dirty="0" err="1"/>
              <a:t>args</a:t>
            </a:r>
            <a:r>
              <a:rPr lang="en-US" dirty="0"/>
              <a:t>) {</a:t>
            </a:r>
          </a:p>
          <a:p>
            <a:endParaRPr lang="en-US" dirty="0"/>
          </a:p>
          <a:p>
            <a:r>
              <a:rPr lang="en-US" dirty="0"/>
              <a:t>        String s1 = "WELCOME";</a:t>
            </a:r>
          </a:p>
          <a:p>
            <a:r>
              <a:rPr lang="en-US" dirty="0"/>
              <a:t>        char[] </a:t>
            </a:r>
            <a:r>
              <a:rPr lang="en-US" dirty="0" err="1"/>
              <a:t>ch</a:t>
            </a:r>
            <a:r>
              <a:rPr lang="en-US" dirty="0"/>
              <a:t> = s1.toCharArray();</a:t>
            </a:r>
          </a:p>
          <a:p>
            <a:r>
              <a:rPr lang="en-US" dirty="0"/>
              <a:t>        for(char c:ch)</a:t>
            </a:r>
          </a:p>
          <a:p>
            <a:r>
              <a:rPr lang="en-US" dirty="0"/>
              <a:t>        {</a:t>
            </a:r>
          </a:p>
          <a:p>
            <a:r>
              <a:rPr lang="en-US" dirty="0"/>
              <a:t>        </a:t>
            </a:r>
            <a:r>
              <a:rPr lang="en-US" dirty="0" err="1"/>
              <a:t>System.out.print</a:t>
            </a:r>
            <a:r>
              <a:rPr lang="en-US" dirty="0"/>
              <a:t>(c+"\t");</a:t>
            </a:r>
          </a:p>
          <a:p>
            <a:r>
              <a:rPr lang="en-US" dirty="0"/>
              <a:t>        }</a:t>
            </a:r>
          </a:p>
          <a:p>
            <a:r>
              <a:rPr lang="en-US" dirty="0"/>
              <a:t>    }</a:t>
            </a:r>
          </a:p>
          <a:p>
            <a:r>
              <a:rPr lang="en-US" dirty="0"/>
              <a: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b="1" dirty="0"/>
              <a:t>Searching a character or substring in a string -</a:t>
            </a:r>
          </a:p>
          <a:p>
            <a:r>
              <a:rPr lang="en-US" dirty="0"/>
              <a:t>Java provides two methods for searching a character or any substring within a string -1- </a:t>
            </a:r>
            <a:r>
              <a:rPr lang="en-US" dirty="0" err="1"/>
              <a:t>indexOf</a:t>
            </a:r>
            <a:r>
              <a:rPr lang="en-US" dirty="0"/>
              <a:t>()</a:t>
            </a:r>
          </a:p>
          <a:p>
            <a:r>
              <a:rPr lang="en-US" dirty="0"/>
              <a:t>This method search for the occurrence of a character or substring within the string. </a:t>
            </a:r>
            <a:r>
              <a:rPr lang="en-US" dirty="0" err="1"/>
              <a:t>indexOf</a:t>
            </a:r>
            <a:r>
              <a:rPr lang="en-US" dirty="0"/>
              <a:t>() is available in 4 different overloaded versions -</a:t>
            </a:r>
            <a:br>
              <a:rPr lang="en-US" dirty="0"/>
            </a:br>
            <a:r>
              <a:rPr lang="en-US" b="1" dirty="0" err="1"/>
              <a:t>int</a:t>
            </a:r>
            <a:r>
              <a:rPr lang="en-US" b="1" dirty="0"/>
              <a:t> </a:t>
            </a:r>
            <a:r>
              <a:rPr lang="en-US" b="1" dirty="0" err="1" smtClean="0"/>
              <a:t>indexOf</a:t>
            </a:r>
            <a:r>
              <a:rPr lang="en-US" b="1" dirty="0" smtClean="0"/>
              <a:t>(char </a:t>
            </a:r>
            <a:r>
              <a:rPr lang="en-US" b="1" dirty="0" err="1"/>
              <a:t>ch</a:t>
            </a:r>
            <a:r>
              <a:rPr lang="en-US" b="1" dirty="0"/>
              <a:t>)</a:t>
            </a:r>
            <a:r>
              <a:rPr lang="en-US" dirty="0"/>
              <a:t/>
            </a:r>
            <a:br>
              <a:rPr lang="en-US" dirty="0"/>
            </a:br>
            <a:r>
              <a:rPr lang="en-US" dirty="0"/>
              <a:t>This will search for the first occurrence of character </a:t>
            </a:r>
            <a:r>
              <a:rPr lang="en-US" dirty="0" err="1"/>
              <a:t>ch</a:t>
            </a:r>
            <a:r>
              <a:rPr lang="en-US" dirty="0"/>
              <a:t> in the invoking string in forward direction and returns the index position of the first occurrence of character </a:t>
            </a:r>
            <a:r>
              <a:rPr lang="en-US" dirty="0" err="1"/>
              <a:t>ch.</a:t>
            </a:r>
            <a:r>
              <a:rPr lang="en-US" dirty="0"/>
              <a:t/>
            </a:r>
            <a:br>
              <a:rPr lang="en-US" dirty="0"/>
            </a:br>
            <a:r>
              <a:rPr lang="en-US" b="1" dirty="0" err="1"/>
              <a:t>int</a:t>
            </a:r>
            <a:r>
              <a:rPr lang="en-US" b="1" dirty="0"/>
              <a:t> </a:t>
            </a:r>
            <a:r>
              <a:rPr lang="en-US" b="1" dirty="0" err="1"/>
              <a:t>indexOf</a:t>
            </a:r>
            <a:r>
              <a:rPr lang="en-US" b="1" dirty="0"/>
              <a:t>(String </a:t>
            </a:r>
            <a:r>
              <a:rPr lang="en-US" b="1" dirty="0" err="1"/>
              <a:t>str</a:t>
            </a:r>
            <a:r>
              <a:rPr lang="en-US" b="1" dirty="0"/>
              <a:t>)</a:t>
            </a:r>
            <a:r>
              <a:rPr lang="en-US" dirty="0"/>
              <a:t/>
            </a:r>
            <a:br>
              <a:rPr lang="en-US" dirty="0"/>
            </a:br>
            <a:r>
              <a:rPr lang="en-US" dirty="0"/>
              <a:t>This will search for the first occurrence of the substring </a:t>
            </a:r>
            <a:r>
              <a:rPr lang="en-US" dirty="0" err="1"/>
              <a:t>str</a:t>
            </a:r>
            <a:r>
              <a:rPr lang="en-US" dirty="0"/>
              <a:t> in invoking string in forward direction and return the index position of first character in the matched substring in invoking string.</a:t>
            </a:r>
            <a:br>
              <a:rPr lang="en-US" dirty="0"/>
            </a:br>
            <a:r>
              <a:rPr lang="en-US" b="1" dirty="0" err="1"/>
              <a:t>int</a:t>
            </a:r>
            <a:r>
              <a:rPr lang="en-US" b="1" dirty="0"/>
              <a:t> </a:t>
            </a:r>
            <a:r>
              <a:rPr lang="en-US" b="1" dirty="0" err="1" smtClean="0"/>
              <a:t>indexOf</a:t>
            </a:r>
            <a:r>
              <a:rPr lang="en-US" b="1" dirty="0" smtClean="0"/>
              <a:t>(char </a:t>
            </a:r>
            <a:r>
              <a:rPr lang="en-US" b="1" dirty="0" err="1" smtClean="0"/>
              <a:t>ch</a:t>
            </a:r>
            <a:r>
              <a:rPr lang="en-US" b="1" dirty="0"/>
              <a:t>, </a:t>
            </a:r>
            <a:r>
              <a:rPr lang="en-US" b="1" dirty="0" err="1"/>
              <a:t>int</a:t>
            </a:r>
            <a:r>
              <a:rPr lang="en-US" b="1" dirty="0"/>
              <a:t> </a:t>
            </a:r>
            <a:r>
              <a:rPr lang="en-US" b="1" dirty="0" err="1"/>
              <a:t>StartingIndex</a:t>
            </a:r>
            <a:r>
              <a:rPr lang="en-US" b="1" dirty="0"/>
              <a:t>)</a:t>
            </a:r>
            <a:r>
              <a:rPr lang="en-US" dirty="0"/>
              <a:t/>
            </a:r>
            <a:br>
              <a:rPr lang="en-US" dirty="0"/>
            </a:br>
            <a:r>
              <a:rPr lang="en-US" dirty="0"/>
              <a:t>This is similar to the first version but here search for the character </a:t>
            </a:r>
            <a:r>
              <a:rPr lang="en-US" dirty="0" err="1"/>
              <a:t>ch</a:t>
            </a:r>
            <a:r>
              <a:rPr lang="en-US" dirty="0"/>
              <a:t> in invoking string starts from the specified </a:t>
            </a:r>
            <a:r>
              <a:rPr lang="en-US" dirty="0" err="1"/>
              <a:t>StartingIndex</a:t>
            </a:r>
            <a:r>
              <a:rPr lang="en-US" dirty="0"/>
              <a:t>.</a:t>
            </a:r>
            <a:br>
              <a:rPr lang="en-US" dirty="0"/>
            </a:br>
            <a:r>
              <a:rPr lang="en-US" b="1" dirty="0" err="1"/>
              <a:t>int</a:t>
            </a:r>
            <a:r>
              <a:rPr lang="en-US" b="1" dirty="0"/>
              <a:t> </a:t>
            </a:r>
            <a:r>
              <a:rPr lang="en-US" b="1" dirty="0" err="1" smtClean="0"/>
              <a:t>indexOf</a:t>
            </a:r>
            <a:r>
              <a:rPr lang="en-US" b="1" dirty="0" smtClean="0"/>
              <a:t>(String </a:t>
            </a:r>
            <a:r>
              <a:rPr lang="en-US" b="1" dirty="0" err="1" smtClean="0"/>
              <a:t>str</a:t>
            </a:r>
            <a:r>
              <a:rPr lang="en-US" b="1" dirty="0"/>
              <a:t>, </a:t>
            </a:r>
            <a:r>
              <a:rPr lang="en-US" b="1" dirty="0" err="1"/>
              <a:t>int</a:t>
            </a:r>
            <a:r>
              <a:rPr lang="en-US" b="1" dirty="0"/>
              <a:t> </a:t>
            </a:r>
            <a:r>
              <a:rPr lang="en-US" b="1" dirty="0" err="1"/>
              <a:t>StartingIndex</a:t>
            </a:r>
            <a:r>
              <a:rPr lang="en-US" b="1" dirty="0"/>
              <a:t>)</a:t>
            </a:r>
            <a:r>
              <a:rPr lang="en-US" dirty="0"/>
              <a:t/>
            </a:r>
            <a:br>
              <a:rPr lang="en-US" dirty="0"/>
            </a:br>
            <a:r>
              <a:rPr lang="en-US" dirty="0"/>
              <a:t>This is similar to second version but here search for the substring </a:t>
            </a:r>
            <a:r>
              <a:rPr lang="en-US" dirty="0" err="1"/>
              <a:t>str</a:t>
            </a:r>
            <a:r>
              <a:rPr lang="en-US" dirty="0"/>
              <a:t> starts from the specified </a:t>
            </a:r>
            <a:r>
              <a:rPr lang="en-US" dirty="0" err="1"/>
              <a:t>StartingIndex</a:t>
            </a:r>
            <a:r>
              <a:rPr lang="en-US" dirty="0"/>
              <a: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62500" lnSpcReduction="20000"/>
          </a:bodyPr>
          <a:lstStyle/>
          <a:p>
            <a:pPr marL="0" indent="0">
              <a:buNone/>
            </a:pPr>
            <a:r>
              <a:rPr lang="en-US" dirty="0"/>
              <a:t>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 = "This is just a demo";</a:t>
            </a:r>
          </a:p>
          <a:p>
            <a:pPr marL="0" indent="0">
              <a:buNone/>
            </a:pPr>
            <a:r>
              <a:rPr lang="en-US" dirty="0"/>
              <a:t>    </a:t>
            </a:r>
            <a:r>
              <a:rPr lang="en-US" dirty="0" err="1"/>
              <a:t>int</a:t>
            </a:r>
            <a:r>
              <a:rPr lang="en-US" dirty="0"/>
              <a:t> i = </a:t>
            </a:r>
            <a:r>
              <a:rPr lang="en-US" dirty="0" err="1"/>
              <a:t>s.indexOf</a:t>
            </a:r>
            <a:r>
              <a:rPr lang="en-US" dirty="0"/>
              <a:t>('s'); /*Search for index of first occurrence of 's' from 0                                                                                     </a:t>
            </a:r>
          </a:p>
          <a:p>
            <a:pPr marL="0" indent="0">
              <a:buNone/>
            </a:pPr>
            <a:r>
              <a:rPr lang="en-US" dirty="0"/>
              <a:t>                                            index */</a:t>
            </a:r>
          </a:p>
          <a:p>
            <a:pPr marL="0" indent="0">
              <a:buNone/>
            </a:pPr>
            <a:r>
              <a:rPr lang="en-US" dirty="0"/>
              <a:t>     </a:t>
            </a:r>
            <a:r>
              <a:rPr lang="en-US" dirty="0" err="1"/>
              <a:t>int</a:t>
            </a:r>
            <a:r>
              <a:rPr lang="en-US" dirty="0"/>
              <a:t> j = </a:t>
            </a:r>
            <a:r>
              <a:rPr lang="en-US" dirty="0" err="1"/>
              <a:t>s.indexOf</a:t>
            </a:r>
            <a:r>
              <a:rPr lang="en-US" dirty="0"/>
              <a:t>("is");  /*Search for  index of first occurrence of "is" from 0 </a:t>
            </a:r>
          </a:p>
          <a:p>
            <a:pPr marL="0" indent="0">
              <a:buNone/>
            </a:pPr>
            <a:r>
              <a:rPr lang="en-US" dirty="0"/>
              <a:t>                                                  index */</a:t>
            </a:r>
          </a:p>
          <a:p>
            <a:pPr marL="0" indent="0">
              <a:buNone/>
            </a:pPr>
            <a:r>
              <a:rPr lang="en-US" dirty="0"/>
              <a:t>     </a:t>
            </a:r>
            <a:r>
              <a:rPr lang="en-US" dirty="0" err="1"/>
              <a:t>int</a:t>
            </a:r>
            <a:r>
              <a:rPr lang="en-US" dirty="0"/>
              <a:t> k = </a:t>
            </a:r>
            <a:r>
              <a:rPr lang="en-US" dirty="0" err="1"/>
              <a:t>s.indexOf</a:t>
            </a:r>
            <a:r>
              <a:rPr lang="en-US" dirty="0"/>
              <a:t>('s',4);  /*Search for index of first occurrence of 's' from </a:t>
            </a:r>
          </a:p>
          <a:p>
            <a:pPr marL="0" indent="0">
              <a:buNone/>
            </a:pPr>
            <a:r>
              <a:rPr lang="en-US" dirty="0"/>
              <a:t>                                                   index position 4 */</a:t>
            </a:r>
          </a:p>
          <a:p>
            <a:pPr marL="0" indent="0">
              <a:buNone/>
            </a:pPr>
            <a:r>
              <a:rPr lang="en-US" dirty="0"/>
              <a:t>     </a:t>
            </a:r>
            <a:r>
              <a:rPr lang="en-US" dirty="0" err="1"/>
              <a:t>int</a:t>
            </a:r>
            <a:r>
              <a:rPr lang="en-US" dirty="0"/>
              <a:t> l = </a:t>
            </a:r>
            <a:r>
              <a:rPr lang="en-US" dirty="0" err="1"/>
              <a:t>s.indexOf</a:t>
            </a:r>
            <a:r>
              <a:rPr lang="en-US" dirty="0"/>
              <a:t>("is",4);  /* Search for index of first occurrence of "is" from                    </a:t>
            </a:r>
          </a:p>
          <a:p>
            <a:pPr marL="0" indent="0">
              <a:buNone/>
            </a:pPr>
            <a:r>
              <a:rPr lang="en-US" dirty="0"/>
              <a:t>                                                      index position 4 */</a:t>
            </a:r>
          </a:p>
          <a:p>
            <a:pPr marL="0" indent="0">
              <a:buNone/>
            </a:pPr>
            <a:r>
              <a:rPr lang="en-US" dirty="0"/>
              <a:t>     </a:t>
            </a:r>
            <a:r>
              <a:rPr lang="en-US" dirty="0" err="1"/>
              <a:t>System.out.println</a:t>
            </a:r>
            <a:r>
              <a:rPr lang="en-US" dirty="0"/>
              <a:t>("i = "+i+" j = "+j+" k = "+k+" l = "+l);</a:t>
            </a:r>
          </a:p>
          <a:p>
            <a:pPr marL="0" indent="0">
              <a:buNone/>
            </a:pPr>
            <a:r>
              <a:rPr lang="en-US" dirty="0"/>
              <a:t>        </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47500" lnSpcReduction="20000"/>
          </a:bodyPr>
          <a:lstStyle/>
          <a:p>
            <a:pPr marL="0" indent="0">
              <a:buNone/>
            </a:pPr>
            <a:r>
              <a:rPr lang="en-US" dirty="0"/>
              <a:t>2- </a:t>
            </a:r>
            <a:r>
              <a:rPr lang="en-US" dirty="0" err="1"/>
              <a:t>lastIndexOf</a:t>
            </a:r>
            <a:r>
              <a:rPr lang="en-US" dirty="0"/>
              <a:t>()-</a:t>
            </a:r>
          </a:p>
          <a:p>
            <a:pPr marL="0" indent="0">
              <a:buNone/>
            </a:pPr>
            <a:r>
              <a:rPr lang="en-US" dirty="0"/>
              <a:t>This method is similar to the </a:t>
            </a:r>
            <a:r>
              <a:rPr lang="en-US" dirty="0" err="1"/>
              <a:t>indexOf</a:t>
            </a:r>
            <a:r>
              <a:rPr lang="en-US" dirty="0"/>
              <a:t>() except that it search for the substring or character in the backward direction starting from the last character of the invoking string. It also has 4 overloaded versions -</a:t>
            </a:r>
          </a:p>
          <a:p>
            <a:pPr marL="0" indent="0">
              <a:buNone/>
            </a:pPr>
            <a:r>
              <a:rPr lang="en-US" dirty="0" err="1"/>
              <a:t>int</a:t>
            </a:r>
            <a:r>
              <a:rPr lang="en-US" dirty="0"/>
              <a:t> </a:t>
            </a:r>
            <a:r>
              <a:rPr lang="en-US" dirty="0" err="1"/>
              <a:t>lastIndexOf</a:t>
            </a:r>
            <a:r>
              <a:rPr lang="en-US" dirty="0"/>
              <a:t>(</a:t>
            </a:r>
            <a:r>
              <a:rPr lang="en-US" dirty="0" err="1"/>
              <a:t>int</a:t>
            </a:r>
            <a:r>
              <a:rPr lang="en-US" dirty="0"/>
              <a:t> </a:t>
            </a:r>
            <a:r>
              <a:rPr lang="en-US" dirty="0" err="1"/>
              <a:t>ch</a:t>
            </a:r>
            <a:r>
              <a:rPr lang="en-US" dirty="0"/>
              <a:t>)</a:t>
            </a:r>
          </a:p>
          <a:p>
            <a:pPr marL="0" indent="0">
              <a:buNone/>
            </a:pPr>
            <a:r>
              <a:rPr lang="en-US" dirty="0" err="1"/>
              <a:t>int</a:t>
            </a:r>
            <a:r>
              <a:rPr lang="en-US" dirty="0"/>
              <a:t> </a:t>
            </a:r>
            <a:r>
              <a:rPr lang="en-US" dirty="0" err="1"/>
              <a:t>lastIndexOf</a:t>
            </a:r>
            <a:r>
              <a:rPr lang="en-US" dirty="0"/>
              <a:t>(String </a:t>
            </a:r>
            <a:r>
              <a:rPr lang="en-US" dirty="0" err="1"/>
              <a:t>str</a:t>
            </a:r>
            <a:r>
              <a:rPr lang="en-US" dirty="0"/>
              <a:t>)</a:t>
            </a:r>
          </a:p>
          <a:p>
            <a:pPr marL="0" indent="0">
              <a:buNone/>
            </a:pPr>
            <a:r>
              <a:rPr lang="en-US" dirty="0" err="1"/>
              <a:t>int</a:t>
            </a:r>
            <a:r>
              <a:rPr lang="en-US" dirty="0"/>
              <a:t> </a:t>
            </a:r>
            <a:r>
              <a:rPr lang="en-US" dirty="0" err="1"/>
              <a:t>lastIndexOf</a:t>
            </a:r>
            <a:r>
              <a:rPr lang="en-US" dirty="0"/>
              <a:t>(</a:t>
            </a:r>
            <a:r>
              <a:rPr lang="en-US" dirty="0" err="1"/>
              <a:t>int</a:t>
            </a:r>
            <a:r>
              <a:rPr lang="en-US" dirty="0"/>
              <a:t> </a:t>
            </a:r>
            <a:r>
              <a:rPr lang="en-US" dirty="0" err="1"/>
              <a:t>ch</a:t>
            </a:r>
            <a:r>
              <a:rPr lang="en-US" dirty="0"/>
              <a:t>, </a:t>
            </a:r>
            <a:r>
              <a:rPr lang="en-US" dirty="0" err="1"/>
              <a:t>int</a:t>
            </a:r>
            <a:r>
              <a:rPr lang="en-US" dirty="0"/>
              <a:t> </a:t>
            </a:r>
            <a:r>
              <a:rPr lang="en-US" dirty="0" err="1"/>
              <a:t>StartingIndex</a:t>
            </a:r>
            <a:r>
              <a:rPr lang="en-US" dirty="0"/>
              <a:t>)</a:t>
            </a:r>
          </a:p>
          <a:p>
            <a:pPr marL="0" indent="0">
              <a:buNone/>
            </a:pPr>
            <a:r>
              <a:rPr lang="en-US" dirty="0" err="1"/>
              <a:t>int</a:t>
            </a:r>
            <a:r>
              <a:rPr lang="en-US" dirty="0"/>
              <a:t> </a:t>
            </a:r>
            <a:r>
              <a:rPr lang="en-US" dirty="0" err="1"/>
              <a:t>lastIndexOf</a:t>
            </a:r>
            <a:r>
              <a:rPr lang="en-US" dirty="0"/>
              <a:t>(String </a:t>
            </a:r>
            <a:r>
              <a:rPr lang="en-US" dirty="0" err="1"/>
              <a:t>str</a:t>
            </a:r>
            <a:r>
              <a:rPr lang="en-US" dirty="0"/>
              <a:t>, </a:t>
            </a:r>
            <a:r>
              <a:rPr lang="en-US" dirty="0" err="1"/>
              <a:t>int</a:t>
            </a:r>
            <a:r>
              <a:rPr lang="en-US" dirty="0"/>
              <a:t> </a:t>
            </a:r>
            <a:r>
              <a:rPr lang="en-US" dirty="0" err="1"/>
              <a:t>StartingIndex</a:t>
            </a:r>
            <a:r>
              <a:rPr lang="en-US" dirty="0"/>
              <a:t>)</a:t>
            </a:r>
          </a:p>
          <a:p>
            <a:pPr marL="0" indent="0">
              <a:buNone/>
            </a:pPr>
            <a:r>
              <a:rPr lang="en-US" dirty="0"/>
              <a:t>Example-</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 = "This is just a demo";</a:t>
            </a:r>
          </a:p>
          <a:p>
            <a:pPr marL="0" indent="0">
              <a:buNone/>
            </a:pPr>
            <a:r>
              <a:rPr lang="en-US" dirty="0"/>
              <a:t>        </a:t>
            </a:r>
            <a:r>
              <a:rPr lang="en-US" dirty="0" err="1"/>
              <a:t>int</a:t>
            </a:r>
            <a:r>
              <a:rPr lang="en-US" dirty="0"/>
              <a:t> i = </a:t>
            </a:r>
            <a:r>
              <a:rPr lang="en-US" dirty="0" err="1"/>
              <a:t>s.lastIndexOf</a:t>
            </a:r>
            <a:r>
              <a:rPr lang="en-US" dirty="0"/>
              <a:t>('s'); /*Search for 1st occurrence of 's' from last  </a:t>
            </a:r>
          </a:p>
          <a:p>
            <a:pPr marL="0" indent="0">
              <a:buNone/>
            </a:pPr>
            <a:r>
              <a:rPr lang="en-US" dirty="0"/>
              <a:t>                                                        index position */</a:t>
            </a:r>
          </a:p>
          <a:p>
            <a:pPr marL="0" indent="0">
              <a:buNone/>
            </a:pPr>
            <a:r>
              <a:rPr lang="en-US" dirty="0"/>
              <a:t>        </a:t>
            </a:r>
            <a:r>
              <a:rPr lang="en-US" dirty="0" err="1"/>
              <a:t>int</a:t>
            </a:r>
            <a:r>
              <a:rPr lang="en-US" dirty="0"/>
              <a:t> j = </a:t>
            </a:r>
            <a:r>
              <a:rPr lang="en-US" dirty="0" err="1"/>
              <a:t>s.lastIndexOf</a:t>
            </a:r>
            <a:r>
              <a:rPr lang="en-US" dirty="0"/>
              <a:t>("is");  /*Search for 1st occurrence of "is" from last </a:t>
            </a:r>
          </a:p>
          <a:p>
            <a:pPr marL="0" indent="0">
              <a:buNone/>
            </a:pPr>
            <a:r>
              <a:rPr lang="en-US" dirty="0"/>
              <a:t>                                                           index position */</a:t>
            </a:r>
          </a:p>
          <a:p>
            <a:pPr marL="0" indent="0">
              <a:buNone/>
            </a:pPr>
            <a:r>
              <a:rPr lang="en-US" dirty="0"/>
              <a:t>        </a:t>
            </a:r>
            <a:r>
              <a:rPr lang="en-US" dirty="0" err="1"/>
              <a:t>int</a:t>
            </a:r>
            <a:r>
              <a:rPr lang="en-US" dirty="0"/>
              <a:t> k = </a:t>
            </a:r>
            <a:r>
              <a:rPr lang="en-US" dirty="0" err="1"/>
              <a:t>s.lastIndexOf</a:t>
            </a:r>
            <a:r>
              <a:rPr lang="en-US" dirty="0"/>
              <a:t>('s',4);  /*Search for 1st occurrence of 's' from 4th </a:t>
            </a:r>
          </a:p>
          <a:p>
            <a:pPr marL="0" indent="0">
              <a:buNone/>
            </a:pPr>
            <a:r>
              <a:rPr lang="en-US" dirty="0"/>
              <a:t>                                                           index position in backward direction */</a:t>
            </a:r>
          </a:p>
          <a:p>
            <a:pPr marL="0" indent="0">
              <a:buNone/>
            </a:pPr>
            <a:r>
              <a:rPr lang="en-US" dirty="0"/>
              <a:t>        </a:t>
            </a:r>
            <a:r>
              <a:rPr lang="en-US" dirty="0" err="1"/>
              <a:t>int</a:t>
            </a:r>
            <a:r>
              <a:rPr lang="en-US" dirty="0"/>
              <a:t> l = </a:t>
            </a:r>
            <a:r>
              <a:rPr lang="en-US" dirty="0" err="1"/>
              <a:t>s.lastIndexOf</a:t>
            </a:r>
            <a:r>
              <a:rPr lang="en-US" dirty="0"/>
              <a:t>("is",4);  /*Search for 1st occurrence of "is" from </a:t>
            </a:r>
          </a:p>
          <a:p>
            <a:pPr marL="0" indent="0">
              <a:buNone/>
            </a:pPr>
            <a:r>
              <a:rPr lang="en-US" dirty="0"/>
              <a:t>                                                         4th index position in backward direction */</a:t>
            </a:r>
          </a:p>
          <a:p>
            <a:pPr marL="0" indent="0">
              <a:buNone/>
            </a:pPr>
            <a:r>
              <a:rPr lang="en-US" dirty="0"/>
              <a:t>        </a:t>
            </a:r>
            <a:r>
              <a:rPr lang="en-US" dirty="0" err="1"/>
              <a:t>System.out.println</a:t>
            </a:r>
            <a:r>
              <a:rPr lang="en-US" dirty="0"/>
              <a:t>("i = "+i+" j = "+j+" k = "+k+" l = "+l);</a:t>
            </a:r>
          </a:p>
          <a:p>
            <a:pPr marL="0" indent="0">
              <a:buNone/>
            </a:pPr>
            <a:r>
              <a:rPr lang="en-US" dirty="0"/>
              <a:t>    }</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4117241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US" b="1" dirty="0"/>
              <a:t>Modifying a String -</a:t>
            </a:r>
          </a:p>
          <a:p>
            <a:r>
              <a:rPr lang="en-US" dirty="0"/>
              <a:t>As we already know string objects are immutable i.e. we cannot modify any existing string. Every time when you try to modify any string a new object is created and this new object contain your modifications</a:t>
            </a:r>
            <a:r>
              <a:rPr lang="en-US" dirty="0" smtClean="0"/>
              <a:t>.</a:t>
            </a:r>
          </a:p>
          <a:p>
            <a:endParaRPr lang="en-US" dirty="0"/>
          </a:p>
          <a:p>
            <a:r>
              <a:rPr lang="en-US" dirty="0" smtClean="0"/>
              <a:t>1- </a:t>
            </a:r>
            <a:r>
              <a:rPr lang="en-US" dirty="0"/>
              <a:t>substring() -</a:t>
            </a:r>
          </a:p>
          <a:p>
            <a:r>
              <a:rPr lang="en-US" dirty="0"/>
              <a:t>This method is used to extract a substring from a given string. It has the two form -</a:t>
            </a:r>
            <a:br>
              <a:rPr lang="en-US" dirty="0"/>
            </a:br>
            <a:r>
              <a:rPr lang="en-US" b="1" dirty="0"/>
              <a:t>String substring(</a:t>
            </a:r>
            <a:r>
              <a:rPr lang="en-US" b="1" dirty="0" err="1"/>
              <a:t>int</a:t>
            </a:r>
            <a:r>
              <a:rPr lang="en-US" b="1" dirty="0"/>
              <a:t> </a:t>
            </a:r>
            <a:r>
              <a:rPr lang="en-US" b="1" dirty="0" err="1"/>
              <a:t>BeginIndex</a:t>
            </a:r>
            <a:r>
              <a:rPr lang="en-US" b="1" dirty="0"/>
              <a:t>)</a:t>
            </a:r>
            <a:r>
              <a:rPr lang="en-US" dirty="0"/>
              <a:t/>
            </a:r>
            <a:br>
              <a:rPr lang="en-US" dirty="0"/>
            </a:br>
            <a:r>
              <a:rPr lang="en-US" dirty="0"/>
              <a:t>This will return a substring containing all the character of invoking string from </a:t>
            </a:r>
            <a:r>
              <a:rPr lang="en-US" dirty="0" err="1"/>
              <a:t>BeginIndex</a:t>
            </a:r>
            <a:r>
              <a:rPr lang="en-US" dirty="0"/>
              <a:t> position up to the end of the string.</a:t>
            </a:r>
            <a:br>
              <a:rPr lang="en-US" dirty="0"/>
            </a:br>
            <a:r>
              <a:rPr lang="en-US" b="1" dirty="0"/>
              <a:t>String substring(</a:t>
            </a:r>
            <a:r>
              <a:rPr lang="en-US" b="1" dirty="0" err="1"/>
              <a:t>int</a:t>
            </a:r>
            <a:r>
              <a:rPr lang="en-US" b="1" dirty="0"/>
              <a:t> </a:t>
            </a:r>
            <a:r>
              <a:rPr lang="en-US" b="1" dirty="0" err="1"/>
              <a:t>BeginIndex</a:t>
            </a:r>
            <a:r>
              <a:rPr lang="en-US" b="1" dirty="0"/>
              <a:t>, </a:t>
            </a:r>
            <a:r>
              <a:rPr lang="en-US" b="1" dirty="0" err="1"/>
              <a:t>int</a:t>
            </a:r>
            <a:r>
              <a:rPr lang="en-US" b="1" dirty="0"/>
              <a:t> </a:t>
            </a:r>
            <a:r>
              <a:rPr lang="en-US" b="1" dirty="0" err="1"/>
              <a:t>EndIndex</a:t>
            </a:r>
            <a:r>
              <a:rPr lang="en-US" b="1" dirty="0"/>
              <a:t>)</a:t>
            </a:r>
            <a:r>
              <a:rPr lang="en-US" dirty="0"/>
              <a:t/>
            </a:r>
            <a:br>
              <a:rPr lang="en-US" dirty="0"/>
            </a:br>
            <a:r>
              <a:rPr lang="en-US" dirty="0"/>
              <a:t>This will return a substring containing all the character of invoking string from </a:t>
            </a:r>
            <a:r>
              <a:rPr lang="en-US" dirty="0" err="1"/>
              <a:t>BeginIndex</a:t>
            </a:r>
            <a:r>
              <a:rPr lang="en-US" dirty="0"/>
              <a:t> position up to the </a:t>
            </a:r>
            <a:r>
              <a:rPr lang="en-US" dirty="0" err="1"/>
              <a:t>EndIndex</a:t>
            </a:r>
            <a:r>
              <a:rPr lang="en-US" dirty="0"/>
              <a:t> -1 position. That is </a:t>
            </a:r>
            <a:r>
              <a:rPr lang="en-US" dirty="0" err="1"/>
              <a:t>EndIndex</a:t>
            </a:r>
            <a:r>
              <a:rPr lang="en-US" dirty="0"/>
              <a:t> is not included in the substring.</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marL="0" indent="0">
              <a:buNone/>
            </a:pPr>
            <a:r>
              <a:rPr lang="en-IN" dirty="0"/>
              <a:t>Example -</a:t>
            </a:r>
          </a:p>
          <a:p>
            <a:pPr marL="0" indent="0">
              <a:buNone/>
            </a:pPr>
            <a:r>
              <a:rPr lang="en-IN" dirty="0"/>
              <a:t>public class Call {</a:t>
            </a:r>
          </a:p>
          <a:p>
            <a:pPr marL="0" indent="0">
              <a:buNone/>
            </a:pPr>
            <a:endParaRPr lang="en-IN" dirty="0"/>
          </a:p>
          <a:p>
            <a:pPr marL="0" indent="0">
              <a:buNone/>
            </a:pPr>
            <a:r>
              <a:rPr lang="en-IN" dirty="0"/>
              <a:t>    public static void main(String[] </a:t>
            </a:r>
            <a:r>
              <a:rPr lang="en-IN" dirty="0" err="1"/>
              <a:t>args</a:t>
            </a:r>
            <a:r>
              <a:rPr lang="en-IN" dirty="0"/>
              <a:t>) {</a:t>
            </a:r>
          </a:p>
          <a:p>
            <a:pPr marL="0" indent="0">
              <a:buNone/>
            </a:pPr>
            <a:endParaRPr lang="en-IN" dirty="0"/>
          </a:p>
          <a:p>
            <a:pPr marL="0" indent="0">
              <a:buNone/>
            </a:pPr>
            <a:r>
              <a:rPr lang="en-IN" dirty="0"/>
              <a:t>        String s = "This is just a demo";</a:t>
            </a:r>
          </a:p>
          <a:p>
            <a:pPr marL="0" indent="0">
              <a:buNone/>
            </a:pPr>
            <a:r>
              <a:rPr lang="en-IN" dirty="0"/>
              <a:t>        String str1 = </a:t>
            </a:r>
            <a:r>
              <a:rPr lang="en-IN" dirty="0" err="1"/>
              <a:t>s.substring</a:t>
            </a:r>
            <a:r>
              <a:rPr lang="en-IN" dirty="0"/>
              <a:t>(7);</a:t>
            </a:r>
          </a:p>
          <a:p>
            <a:pPr marL="0" indent="0">
              <a:buNone/>
            </a:pPr>
            <a:r>
              <a:rPr lang="en-IN" dirty="0"/>
              <a:t>        String str2 = </a:t>
            </a:r>
            <a:r>
              <a:rPr lang="en-IN" dirty="0" err="1"/>
              <a:t>s.substring</a:t>
            </a:r>
            <a:r>
              <a:rPr lang="en-IN" dirty="0"/>
              <a:t>(8,16);</a:t>
            </a:r>
          </a:p>
          <a:p>
            <a:pPr marL="0" indent="0">
              <a:buNone/>
            </a:pPr>
            <a:r>
              <a:rPr lang="en-IN" dirty="0"/>
              <a:t>        </a:t>
            </a:r>
            <a:r>
              <a:rPr lang="en-IN" dirty="0" err="1"/>
              <a:t>System.out.println</a:t>
            </a:r>
            <a:r>
              <a:rPr lang="en-IN" dirty="0"/>
              <a:t>("str1 = "+str1+" str2 = "+str2);</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4117241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a:bodyPr>
          <a:lstStyle/>
          <a:p>
            <a:r>
              <a:rPr lang="en-US" dirty="0"/>
              <a:t>2- </a:t>
            </a:r>
            <a:r>
              <a:rPr lang="en-US" dirty="0" err="1"/>
              <a:t>concat</a:t>
            </a:r>
            <a:r>
              <a:rPr lang="en-US" dirty="0"/>
              <a:t>() -</a:t>
            </a:r>
          </a:p>
          <a:p>
            <a:r>
              <a:rPr lang="en-US" dirty="0"/>
              <a:t>This is used to merge or concatenate two strings. We can also perform the same operation using + operator also. It has the following syntax -</a:t>
            </a:r>
          </a:p>
          <a:p>
            <a:r>
              <a:rPr lang="en-US" dirty="0"/>
              <a:t>String </a:t>
            </a:r>
            <a:r>
              <a:rPr lang="en-US" dirty="0" err="1"/>
              <a:t>concat</a:t>
            </a:r>
            <a:r>
              <a:rPr lang="en-US" dirty="0"/>
              <a:t>(String </a:t>
            </a:r>
            <a:r>
              <a:rPr lang="en-US" dirty="0" err="1"/>
              <a:t>str</a:t>
            </a:r>
            <a:r>
              <a:rPr lang="en-US" dirty="0"/>
              <a:t>)</a:t>
            </a:r>
          </a:p>
          <a:p>
            <a:r>
              <a:rPr lang="en-US" dirty="0"/>
              <a:t>Example -</a:t>
            </a:r>
          </a:p>
          <a:p>
            <a:r>
              <a:rPr lang="en-US" dirty="0"/>
              <a:t>                 String s1 = "Hello";</a:t>
            </a:r>
          </a:p>
          <a:p>
            <a:r>
              <a:rPr lang="en-US" dirty="0"/>
              <a:t>                 String s2 = "Welcome";</a:t>
            </a:r>
          </a:p>
          <a:p>
            <a:r>
              <a:rPr lang="en-US" dirty="0"/>
              <a:t>                String s3 =  s1.concat(s2);</a:t>
            </a:r>
          </a:p>
          <a:p>
            <a:r>
              <a:rPr lang="en-US" dirty="0"/>
              <a:t>Here the value of string s3 will be "</a:t>
            </a:r>
            <a:r>
              <a:rPr lang="en-US" dirty="0" err="1"/>
              <a:t>HelloWelcome</a:t>
            </a:r>
            <a:r>
              <a:rPr lang="en-US" dirty="0"/>
              <a: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62500" lnSpcReduction="20000"/>
          </a:bodyPr>
          <a:lstStyle/>
          <a:p>
            <a:pPr marL="0" indent="0">
              <a:buNone/>
            </a:pPr>
            <a:r>
              <a:rPr lang="en-US" dirty="0"/>
              <a:t>3- replace() -</a:t>
            </a:r>
          </a:p>
          <a:p>
            <a:pPr marL="0" indent="0">
              <a:buNone/>
            </a:pPr>
            <a:r>
              <a:rPr lang="en-US" dirty="0"/>
              <a:t>It is used to replace all occurrences of any specific character within a string with some other specified character. It has the following syntax -</a:t>
            </a:r>
          </a:p>
          <a:p>
            <a:pPr marL="0" indent="0">
              <a:buNone/>
            </a:pPr>
            <a:r>
              <a:rPr lang="en-US" dirty="0"/>
              <a:t>String replace(char </a:t>
            </a:r>
            <a:r>
              <a:rPr lang="en-US" dirty="0" err="1"/>
              <a:t>OldChar</a:t>
            </a:r>
            <a:r>
              <a:rPr lang="en-US" dirty="0"/>
              <a:t>, char </a:t>
            </a:r>
            <a:r>
              <a:rPr lang="en-US" dirty="0" err="1"/>
              <a:t>NewChar</a:t>
            </a:r>
            <a:r>
              <a:rPr lang="en-US" dirty="0"/>
              <a:t>)</a:t>
            </a:r>
          </a:p>
          <a:p>
            <a:pPr marL="0" indent="0">
              <a:buNone/>
            </a:pPr>
            <a:r>
              <a:rPr lang="en-US" dirty="0"/>
              <a:t>With jdk5 a new version of replace() is included which is used to replace all occurrences of any specific character sequence within a string with some other character sequence.</a:t>
            </a:r>
          </a:p>
          <a:p>
            <a:pPr marL="0" indent="0">
              <a:buNone/>
            </a:pPr>
            <a:r>
              <a:rPr lang="en-US" dirty="0"/>
              <a:t>String replace(</a:t>
            </a:r>
            <a:r>
              <a:rPr lang="en-US" dirty="0" err="1"/>
              <a:t>CharSequence</a:t>
            </a:r>
            <a:r>
              <a:rPr lang="en-US" dirty="0"/>
              <a:t> Target, </a:t>
            </a:r>
            <a:r>
              <a:rPr lang="en-US" dirty="0" err="1"/>
              <a:t>CharSequence</a:t>
            </a:r>
            <a:r>
              <a:rPr lang="en-US" dirty="0"/>
              <a:t> Replacement)</a:t>
            </a:r>
          </a:p>
          <a:p>
            <a:pPr marL="0" indent="0">
              <a:buNone/>
            </a:pPr>
            <a:r>
              <a:rPr lang="en-US" dirty="0"/>
              <a:t>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 = "This is just a demo";</a:t>
            </a:r>
          </a:p>
          <a:p>
            <a:pPr marL="0" indent="0">
              <a:buNone/>
            </a:pPr>
            <a:r>
              <a:rPr lang="en-US" dirty="0"/>
              <a:t>        </a:t>
            </a:r>
            <a:r>
              <a:rPr lang="en-US" dirty="0" err="1"/>
              <a:t>System.out.println</a:t>
            </a:r>
            <a:r>
              <a:rPr lang="en-US" dirty="0"/>
              <a:t>("</a:t>
            </a:r>
            <a:r>
              <a:rPr lang="en-US" dirty="0" err="1"/>
              <a:t>s.replace</a:t>
            </a:r>
            <a:r>
              <a:rPr lang="en-US" dirty="0"/>
              <a:t>(s, z)"+ </a:t>
            </a:r>
            <a:r>
              <a:rPr lang="en-US" dirty="0" err="1"/>
              <a:t>s.replace</a:t>
            </a:r>
            <a:r>
              <a:rPr lang="en-US" dirty="0"/>
              <a:t>('s', 'z'));</a:t>
            </a:r>
          </a:p>
          <a:p>
            <a:pPr marL="0" indent="0">
              <a:buNone/>
            </a:pPr>
            <a:r>
              <a:rPr lang="en-US" dirty="0"/>
              <a:t>        </a:t>
            </a:r>
            <a:r>
              <a:rPr lang="en-US" dirty="0" err="1"/>
              <a:t>System.out.println</a:t>
            </a:r>
            <a:r>
              <a:rPr lang="en-US" dirty="0"/>
              <a:t>("</a:t>
            </a:r>
            <a:r>
              <a:rPr lang="en-US" dirty="0" err="1"/>
              <a:t>s.replace</a:t>
            </a:r>
            <a:r>
              <a:rPr lang="en-US" dirty="0"/>
              <a:t>(is, was) = "+ </a:t>
            </a:r>
            <a:r>
              <a:rPr lang="en-US" dirty="0" err="1"/>
              <a:t>s.replace</a:t>
            </a:r>
            <a:r>
              <a:rPr lang="en-US" dirty="0"/>
              <a:t>("is", "was"));</a:t>
            </a:r>
          </a:p>
          <a:p>
            <a:pPr marL="0" indent="0">
              <a:buNone/>
            </a:pPr>
            <a:r>
              <a:rPr lang="en-US" dirty="0"/>
              <a:t>      </a:t>
            </a:r>
          </a:p>
          <a:p>
            <a:pPr marL="0" indent="0">
              <a:buNone/>
            </a:pPr>
            <a:r>
              <a:rPr lang="en-US" dirty="0"/>
              <a:t>    }</a:t>
            </a:r>
          </a:p>
          <a:p>
            <a:pPr marL="0" indent="0">
              <a:buNone/>
            </a:pPr>
            <a:r>
              <a:rPr lang="en-US" dirty="0"/>
              <a:t>}</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92500" lnSpcReduction="20000"/>
          </a:bodyPr>
          <a:lstStyle/>
          <a:p>
            <a:pPr marL="0" indent="0">
              <a:buNone/>
            </a:pPr>
            <a:r>
              <a:rPr lang="en-US" dirty="0"/>
              <a:t>4- trim() -</a:t>
            </a:r>
          </a:p>
          <a:p>
            <a:pPr marL="0" indent="0">
              <a:buNone/>
            </a:pPr>
            <a:r>
              <a:rPr lang="en-US" dirty="0"/>
              <a:t>It is used to remove any whitespaces from the beginning and end of the given string. It has the following syntax -</a:t>
            </a:r>
          </a:p>
          <a:p>
            <a:pPr marL="0" indent="0">
              <a:buNone/>
            </a:pPr>
            <a:r>
              <a:rPr lang="en-US" dirty="0"/>
              <a:t>String trim()</a:t>
            </a:r>
          </a:p>
          <a:p>
            <a:pPr marL="0" indent="0">
              <a:buNone/>
            </a:pPr>
            <a:r>
              <a:rPr lang="en-US" dirty="0"/>
              <a:t>Example -</a:t>
            </a:r>
          </a:p>
          <a:p>
            <a:pPr marL="0" indent="0">
              <a:buNone/>
            </a:pPr>
            <a:r>
              <a:rPr lang="en-US" dirty="0"/>
              <a:t>String s1 = "   This is just a demo        ";</a:t>
            </a:r>
          </a:p>
          <a:p>
            <a:pPr marL="0" indent="0">
              <a:buNone/>
            </a:pPr>
            <a:r>
              <a:rPr lang="en-US" dirty="0"/>
              <a:t>String s2 = s1.trim();</a:t>
            </a:r>
          </a:p>
          <a:p>
            <a:pPr marL="0" indent="0">
              <a:buNone/>
            </a:pPr>
            <a:r>
              <a:rPr lang="en-US" dirty="0"/>
              <a:t>It will produce the output - "This is just a demo"</a:t>
            </a:r>
          </a:p>
          <a:p>
            <a:pPr marL="0" indent="0">
              <a:buNone/>
            </a:pPr>
            <a:endParaRPr lang="en-US" dirty="0"/>
          </a:p>
          <a:p>
            <a:pPr marL="0" indent="0">
              <a:buNone/>
            </a:pPr>
            <a:r>
              <a:rPr lang="en-US" dirty="0"/>
              <a:t>All spaces before and after the string will be trimmed. Note that it does not trim the spaces between strings words or characters.</a:t>
            </a:r>
            <a:endParaRPr lang="en-IN" dirty="0"/>
          </a:p>
        </p:txBody>
      </p:sp>
    </p:spTree>
    <p:extLst>
      <p:ext uri="{BB962C8B-B14F-4D97-AF65-F5344CB8AC3E}">
        <p14:creationId xmlns:p14="http://schemas.microsoft.com/office/powerpoint/2010/main" val="41172412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pPr marL="0" indent="0">
              <a:buNone/>
            </a:pPr>
            <a:r>
              <a:rPr lang="en-US" dirty="0"/>
              <a:t>5- </a:t>
            </a:r>
            <a:r>
              <a:rPr lang="en-US" dirty="0" err="1"/>
              <a:t>toUpperCase</a:t>
            </a:r>
            <a:r>
              <a:rPr lang="en-US" dirty="0"/>
              <a:t>() and </a:t>
            </a:r>
            <a:r>
              <a:rPr lang="en-US" dirty="0" err="1"/>
              <a:t>toLowerCase</a:t>
            </a:r>
            <a:r>
              <a:rPr lang="en-US" dirty="0"/>
              <a:t>() -</a:t>
            </a:r>
          </a:p>
          <a:p>
            <a:pPr marL="0" indent="0">
              <a:buNone/>
            </a:pPr>
            <a:r>
              <a:rPr lang="en-US" dirty="0" err="1"/>
              <a:t>toUpperCase</a:t>
            </a:r>
            <a:r>
              <a:rPr lang="en-US" dirty="0"/>
              <a:t>() method converts all characters of a given string into uppercase and </a:t>
            </a:r>
            <a:r>
              <a:rPr lang="en-US" dirty="0" err="1"/>
              <a:t>toLowerCase</a:t>
            </a:r>
            <a:r>
              <a:rPr lang="en-US" dirty="0"/>
              <a:t>() converts all characters of a given string in lowercase. Note that all </a:t>
            </a:r>
            <a:r>
              <a:rPr lang="en-US" dirty="0" err="1"/>
              <a:t>nonalphabetical</a:t>
            </a:r>
            <a:r>
              <a:rPr lang="en-US" dirty="0"/>
              <a:t> characters such as digits and special symbol remain unaffected.</a:t>
            </a:r>
          </a:p>
          <a:p>
            <a:pPr marL="0" indent="0">
              <a:buNone/>
            </a:pPr>
            <a:r>
              <a:rPr lang="en-US" dirty="0"/>
              <a:t>Example -</a:t>
            </a:r>
          </a:p>
          <a:p>
            <a:pPr marL="0" indent="0">
              <a:buNone/>
            </a:pPr>
            <a:r>
              <a:rPr lang="en-US" dirty="0"/>
              <a:t>public class Call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endParaRPr lang="en-US" dirty="0"/>
          </a:p>
          <a:p>
            <a:pPr marL="0" indent="0">
              <a:buNone/>
            </a:pPr>
            <a:r>
              <a:rPr lang="en-US" dirty="0"/>
              <a:t>        String s = "This Is Just A Demo";</a:t>
            </a:r>
          </a:p>
          <a:p>
            <a:pPr marL="0" indent="0">
              <a:buNone/>
            </a:pPr>
            <a:r>
              <a:rPr lang="en-US" dirty="0"/>
              <a:t>        </a:t>
            </a:r>
            <a:r>
              <a:rPr lang="en-US" dirty="0" err="1"/>
              <a:t>System.out.println</a:t>
            </a:r>
            <a:r>
              <a:rPr lang="en-US" dirty="0"/>
              <a:t>("</a:t>
            </a:r>
            <a:r>
              <a:rPr lang="en-US" dirty="0" err="1"/>
              <a:t>s.toUpperCase</a:t>
            </a:r>
            <a:r>
              <a:rPr lang="en-US" dirty="0"/>
              <a:t>() = "+ </a:t>
            </a:r>
            <a:r>
              <a:rPr lang="en-US" dirty="0" err="1"/>
              <a:t>s.toUpperCase</a:t>
            </a:r>
            <a:r>
              <a:rPr lang="en-US" dirty="0"/>
              <a:t>());</a:t>
            </a:r>
          </a:p>
          <a:p>
            <a:pPr marL="0" indent="0">
              <a:buNone/>
            </a:pPr>
            <a:r>
              <a:rPr lang="en-US" dirty="0"/>
              <a:t>        </a:t>
            </a:r>
            <a:r>
              <a:rPr lang="en-US" dirty="0" err="1"/>
              <a:t>System.out.println</a:t>
            </a:r>
            <a:r>
              <a:rPr lang="en-US" dirty="0"/>
              <a:t>("</a:t>
            </a:r>
            <a:r>
              <a:rPr lang="en-US" dirty="0" err="1"/>
              <a:t>s.toLowerCase</a:t>
            </a:r>
            <a:r>
              <a:rPr lang="en-US" dirty="0"/>
              <a:t>() = "+ </a:t>
            </a:r>
            <a:r>
              <a:rPr lang="en-US" dirty="0" err="1"/>
              <a:t>s.toLowerCase</a:t>
            </a:r>
            <a:r>
              <a:rPr lang="en-US" dirty="0"/>
              <a:t>());</a:t>
            </a:r>
          </a:p>
          <a:p>
            <a:pPr marL="0" indent="0">
              <a:buNone/>
            </a:pPr>
            <a:r>
              <a:rPr lang="en-US" dirty="0"/>
              <a:t>      </a:t>
            </a:r>
          </a:p>
          <a:p>
            <a:pPr marL="0" indent="0">
              <a:buNone/>
            </a:pPr>
            <a:r>
              <a:rPr lang="en-US" dirty="0"/>
              <a:t>    }</a:t>
            </a:r>
          </a:p>
          <a:p>
            <a:pPr marL="0" indent="0">
              <a:buNone/>
            </a:pPr>
            <a:r>
              <a:rPr lang="en-US" dirty="0"/>
              <a:t>}</a:t>
            </a:r>
          </a:p>
          <a:p>
            <a:pPr marL="0" indent="0">
              <a:buNone/>
            </a:pPr>
            <a:endParaRPr lang="en-IN" dirty="0"/>
          </a:p>
        </p:txBody>
      </p:sp>
    </p:spTree>
    <p:extLst>
      <p:ext uri="{BB962C8B-B14F-4D97-AF65-F5344CB8AC3E}">
        <p14:creationId xmlns:p14="http://schemas.microsoft.com/office/powerpoint/2010/main" val="41172412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0000" lnSpcReduction="20000"/>
          </a:bodyPr>
          <a:lstStyle/>
          <a:p>
            <a:r>
              <a:rPr lang="en-IN" b="1" dirty="0" smtClean="0"/>
              <a:t>String class is immutable – </a:t>
            </a:r>
          </a:p>
          <a:p>
            <a:r>
              <a:rPr lang="en-US" dirty="0"/>
              <a:t>In Java, strings are </a:t>
            </a:r>
            <a:r>
              <a:rPr lang="en-US" b="1" dirty="0"/>
              <a:t>immutable</a:t>
            </a:r>
            <a:r>
              <a:rPr lang="en-US" dirty="0"/>
              <a:t>, meaning once a String object is created, its value cannot be changed. Any operation that seems to modify a string will actually create a new String object, leaving the original string unchanged. </a:t>
            </a:r>
            <a:endParaRPr lang="en-US" dirty="0" smtClean="0"/>
          </a:p>
          <a:p>
            <a:r>
              <a:rPr lang="en-US" b="1" dirty="0"/>
              <a:t>Why is String Immutable?</a:t>
            </a:r>
          </a:p>
          <a:p>
            <a:r>
              <a:rPr lang="en-US" b="1" dirty="0"/>
              <a:t>Security</a:t>
            </a:r>
            <a:r>
              <a:rPr lang="en-US" dirty="0"/>
              <a:t>: String objects are widely used for storing sensitive data like database credentials, file paths, URLs, etc. If strings were mutable, the content of a string could change unexpectedly, which could lead to security vulnerabilities.</a:t>
            </a:r>
          </a:p>
          <a:p>
            <a:r>
              <a:rPr lang="en-US" b="1" dirty="0"/>
              <a:t>Caching</a:t>
            </a:r>
            <a:r>
              <a:rPr lang="en-US" dirty="0"/>
              <a:t>: String immutability allows the JVM to optimize memory usage by reusing string literals. If two strings with the same value exist, the JVM can point both variables to the same object, rather than creating two separate copies of the same string.</a:t>
            </a:r>
          </a:p>
          <a:p>
            <a:r>
              <a:rPr lang="en-US" b="1" dirty="0"/>
              <a:t>Thread-safety</a:t>
            </a:r>
            <a:r>
              <a:rPr lang="en-US" dirty="0"/>
              <a:t>: Since strings are immutable, they are inherently thread-safe. Multiple threads can access and use the same string object without worrying about synchronization.</a:t>
            </a:r>
          </a:p>
          <a:p>
            <a:endParaRPr lang="en-IN" b="1" dirty="0"/>
          </a:p>
        </p:txBody>
      </p:sp>
    </p:spTree>
    <p:extLst>
      <p:ext uri="{BB962C8B-B14F-4D97-AF65-F5344CB8AC3E}">
        <p14:creationId xmlns:p14="http://schemas.microsoft.com/office/powerpoint/2010/main" val="41172412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85000" lnSpcReduction="20000"/>
          </a:bodyPr>
          <a:lstStyle/>
          <a:p>
            <a:pPr marL="0" indent="0">
              <a:buNone/>
            </a:pPr>
            <a:r>
              <a:rPr lang="en-IN" dirty="0"/>
              <a:t>public class </a:t>
            </a:r>
            <a:r>
              <a:rPr lang="en-IN" dirty="0" err="1"/>
              <a:t>StringImmutableExample</a:t>
            </a:r>
            <a:r>
              <a:rPr lang="en-IN" dirty="0"/>
              <a:t> {</a:t>
            </a:r>
          </a:p>
          <a:p>
            <a:pPr marL="0" indent="0">
              <a:buNone/>
            </a:pPr>
            <a:r>
              <a:rPr lang="en-IN" dirty="0"/>
              <a:t>    public static void main(String[] </a:t>
            </a:r>
            <a:r>
              <a:rPr lang="en-IN" dirty="0" err="1"/>
              <a:t>args</a:t>
            </a:r>
            <a:r>
              <a:rPr lang="en-IN" dirty="0"/>
              <a:t>) {</a:t>
            </a:r>
          </a:p>
          <a:p>
            <a:pPr marL="0" indent="0">
              <a:buNone/>
            </a:pPr>
            <a:r>
              <a:rPr lang="en-IN" dirty="0"/>
              <a:t>        String str1 = "Hello";</a:t>
            </a:r>
          </a:p>
          <a:p>
            <a:pPr marL="0" indent="0">
              <a:buNone/>
            </a:pPr>
            <a:r>
              <a:rPr lang="en-IN" dirty="0"/>
              <a:t>        String str2 = str1;</a:t>
            </a:r>
          </a:p>
          <a:p>
            <a:pPr marL="0" indent="0">
              <a:buNone/>
            </a:pPr>
            <a:r>
              <a:rPr lang="en-IN" dirty="0"/>
              <a:t>        </a:t>
            </a:r>
          </a:p>
          <a:p>
            <a:pPr marL="0" indent="0">
              <a:buNone/>
            </a:pPr>
            <a:r>
              <a:rPr lang="en-IN" dirty="0"/>
              <a:t>        // Modify the string by concatenation</a:t>
            </a:r>
          </a:p>
          <a:p>
            <a:pPr marL="0" indent="0">
              <a:buNone/>
            </a:pPr>
            <a:r>
              <a:rPr lang="en-IN" dirty="0"/>
              <a:t>        str1 = str1 + " World";  // A new string object is created</a:t>
            </a:r>
          </a:p>
          <a:p>
            <a:pPr marL="0" indent="0">
              <a:buNone/>
            </a:pPr>
            <a:r>
              <a:rPr lang="en-IN" dirty="0"/>
              <a:t>        </a:t>
            </a:r>
          </a:p>
          <a:p>
            <a:pPr marL="0" indent="0">
              <a:buNone/>
            </a:pPr>
            <a:r>
              <a:rPr lang="en-IN" dirty="0"/>
              <a:t>        </a:t>
            </a:r>
            <a:r>
              <a:rPr lang="en-IN" dirty="0" err="1"/>
              <a:t>System.out.println</a:t>
            </a:r>
            <a:r>
              <a:rPr lang="en-IN" dirty="0"/>
              <a:t>("str1: " + str1);  // Output: Hello World</a:t>
            </a:r>
          </a:p>
          <a:p>
            <a:pPr marL="0" indent="0">
              <a:buNone/>
            </a:pPr>
            <a:r>
              <a:rPr lang="en-IN" dirty="0"/>
              <a:t>        </a:t>
            </a:r>
            <a:r>
              <a:rPr lang="en-IN" dirty="0" err="1"/>
              <a:t>System.out.println</a:t>
            </a:r>
            <a:r>
              <a:rPr lang="en-IN" dirty="0"/>
              <a:t>("str2: " + str2);  // Output: Hello</a:t>
            </a:r>
          </a:p>
          <a:p>
            <a:pPr marL="0" indent="0">
              <a:buNone/>
            </a:pPr>
            <a:r>
              <a:rPr lang="en-IN" dirty="0"/>
              <a:t>    }</a:t>
            </a:r>
          </a:p>
          <a:p>
            <a:pPr marL="0" indent="0">
              <a:buNone/>
            </a:pPr>
            <a:r>
              <a:rPr lang="en-IN" dirty="0"/>
              <a:t>}</a:t>
            </a:r>
          </a:p>
          <a:p>
            <a:pPr marL="0" indent="0">
              <a:buNone/>
            </a:pPr>
            <a:endParaRPr lang="en-IN" dirty="0"/>
          </a:p>
        </p:txBody>
      </p:sp>
    </p:spTree>
    <p:extLst>
      <p:ext uri="{BB962C8B-B14F-4D97-AF65-F5344CB8AC3E}">
        <p14:creationId xmlns:p14="http://schemas.microsoft.com/office/powerpoint/2010/main" val="41172412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77500" lnSpcReduction="20000"/>
          </a:bodyPr>
          <a:lstStyle/>
          <a:p>
            <a:r>
              <a:rPr lang="en-US" dirty="0"/>
              <a:t>Difference between Character Array and String in </a:t>
            </a:r>
            <a:r>
              <a:rPr lang="en-US" dirty="0" smtClean="0"/>
              <a:t>Java – </a:t>
            </a:r>
          </a:p>
          <a:p>
            <a:r>
              <a:rPr lang="en-US" b="1" dirty="0"/>
              <a:t>1. Mutability:</a:t>
            </a:r>
          </a:p>
          <a:p>
            <a:r>
              <a:rPr lang="en-US" b="1" dirty="0"/>
              <a:t>Character Array</a:t>
            </a:r>
            <a:r>
              <a:rPr lang="en-US" dirty="0"/>
              <a:t>:</a:t>
            </a:r>
          </a:p>
          <a:p>
            <a:pPr lvl="1"/>
            <a:r>
              <a:rPr lang="en-US" dirty="0"/>
              <a:t>Mutable: The elements of a character array (char[]) can be changed individually after initialization. You can modify, add, or delete characters within the array.</a:t>
            </a:r>
          </a:p>
          <a:p>
            <a:r>
              <a:rPr lang="en-US" dirty="0" smtClean="0"/>
              <a:t>char</a:t>
            </a:r>
            <a:r>
              <a:rPr lang="en-US" dirty="0"/>
              <a:t>[] </a:t>
            </a:r>
            <a:r>
              <a:rPr lang="en-US" dirty="0" err="1"/>
              <a:t>charArray</a:t>
            </a:r>
            <a:r>
              <a:rPr lang="en-US" dirty="0"/>
              <a:t> = {'H', 'e', 'l', 'l', 'o'}; </a:t>
            </a:r>
            <a:endParaRPr lang="en-US" dirty="0" smtClean="0"/>
          </a:p>
          <a:p>
            <a:r>
              <a:rPr lang="en-US" dirty="0" err="1" smtClean="0"/>
              <a:t>charArray</a:t>
            </a:r>
            <a:r>
              <a:rPr lang="en-US" dirty="0" smtClean="0"/>
              <a:t>[0</a:t>
            </a:r>
            <a:r>
              <a:rPr lang="en-US" dirty="0"/>
              <a:t>] = 'J'; // The array now becomes {'J', 'e', 'l', 'l', 'o'} </a:t>
            </a:r>
          </a:p>
          <a:p>
            <a:r>
              <a:rPr lang="en-US" b="1" dirty="0"/>
              <a:t>String</a:t>
            </a:r>
            <a:r>
              <a:rPr lang="en-US" dirty="0"/>
              <a:t>:</a:t>
            </a:r>
          </a:p>
          <a:p>
            <a:pPr lvl="1"/>
            <a:r>
              <a:rPr lang="en-US" dirty="0"/>
              <a:t>Immutable: Strings in Java are immutable. Once a String object is created, its value cannot be changed. Any operation that modifies a String results in the creation of a new String object.</a:t>
            </a:r>
          </a:p>
          <a:p>
            <a:r>
              <a:rPr lang="en-US" dirty="0" smtClean="0"/>
              <a:t>String </a:t>
            </a:r>
            <a:r>
              <a:rPr lang="en-US" dirty="0" err="1"/>
              <a:t>str</a:t>
            </a:r>
            <a:r>
              <a:rPr lang="en-US" dirty="0"/>
              <a:t> = "Hello"; </a:t>
            </a:r>
            <a:endParaRPr lang="en-US" dirty="0" smtClean="0"/>
          </a:p>
          <a:p>
            <a:r>
              <a:rPr lang="en-US" dirty="0" err="1" smtClean="0"/>
              <a:t>str</a:t>
            </a:r>
            <a:r>
              <a:rPr lang="en-US" dirty="0" smtClean="0"/>
              <a:t> </a:t>
            </a:r>
            <a:r>
              <a:rPr lang="en-US" dirty="0"/>
              <a:t>= "World"; // A new String object is created with "World"</a:t>
            </a:r>
          </a:p>
          <a:p>
            <a:endParaRPr lang="en-IN" dirty="0"/>
          </a:p>
        </p:txBody>
      </p:sp>
    </p:spTree>
    <p:extLst>
      <p:ext uri="{BB962C8B-B14F-4D97-AF65-F5344CB8AC3E}">
        <p14:creationId xmlns:p14="http://schemas.microsoft.com/office/powerpoint/2010/main" val="4117241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fontScale="62500" lnSpcReduction="20000"/>
          </a:bodyPr>
          <a:lstStyle/>
          <a:p>
            <a:r>
              <a:rPr lang="en-US" b="1" dirty="0"/>
              <a:t>2. Memory Allocation:</a:t>
            </a:r>
          </a:p>
          <a:p>
            <a:r>
              <a:rPr lang="en-US" b="1" dirty="0"/>
              <a:t>Character Array</a:t>
            </a:r>
            <a:r>
              <a:rPr lang="en-US" dirty="0"/>
              <a:t>:</a:t>
            </a:r>
          </a:p>
          <a:p>
            <a:pPr lvl="1"/>
            <a:r>
              <a:rPr lang="en-US" dirty="0"/>
              <a:t>A char[] array is a low-level data structure that stores characters directly in an array. It is more memory-efficient and flexible as it doesn't incur the overhead of additional methods or internal structures like String does.</a:t>
            </a:r>
          </a:p>
          <a:p>
            <a:r>
              <a:rPr lang="en-US" b="1" dirty="0"/>
              <a:t>String</a:t>
            </a:r>
            <a:r>
              <a:rPr lang="en-US" dirty="0"/>
              <a:t>:</a:t>
            </a:r>
          </a:p>
          <a:p>
            <a:r>
              <a:rPr lang="en-US" dirty="0"/>
              <a:t>A String is an object in Java and is backed by a char[] array internally. Strings in Java are managed by the Java String Pool (for optimization purposes) and are immutable, meaning they may involve extra overhead for memory management and garbage collection</a:t>
            </a:r>
            <a:r>
              <a:rPr lang="en-US" dirty="0" smtClean="0"/>
              <a:t>.</a:t>
            </a:r>
            <a:r>
              <a:rPr lang="en-US" b="1" dirty="0"/>
              <a:t> </a:t>
            </a:r>
            <a:endParaRPr lang="en-US" b="1" dirty="0" smtClean="0"/>
          </a:p>
          <a:p>
            <a:endParaRPr lang="en-US" b="1" dirty="0"/>
          </a:p>
          <a:p>
            <a:r>
              <a:rPr lang="en-US" b="1" dirty="0" smtClean="0"/>
              <a:t>3</a:t>
            </a:r>
            <a:r>
              <a:rPr lang="en-US" b="1" dirty="0"/>
              <a:t>. Performance:</a:t>
            </a:r>
          </a:p>
          <a:p>
            <a:r>
              <a:rPr lang="en-US" b="1" dirty="0"/>
              <a:t>Character Array</a:t>
            </a:r>
            <a:r>
              <a:rPr lang="en-US" dirty="0"/>
              <a:t>:</a:t>
            </a:r>
          </a:p>
          <a:p>
            <a:pPr lvl="1"/>
            <a:r>
              <a:rPr lang="en-US" dirty="0"/>
              <a:t>Generally, character arrays can be more efficient for certain tasks (like modifying the content) because of their mutability. You don't need to create new objects when modifying the array's content.</a:t>
            </a:r>
          </a:p>
          <a:p>
            <a:r>
              <a:rPr lang="en-US" b="1" dirty="0"/>
              <a:t>String</a:t>
            </a:r>
            <a:r>
              <a:rPr lang="en-US" dirty="0"/>
              <a:t>:</a:t>
            </a:r>
          </a:p>
          <a:p>
            <a:pPr lvl="1"/>
            <a:r>
              <a:rPr lang="en-US" dirty="0"/>
              <a:t>Strings are less efficient in scenarios where frequent modification is required. Since Strings are immutable, each modification creates a new object, which can lead to higher memory usage and processing overhead, especially in loops or intensive string operations.</a:t>
            </a:r>
          </a:p>
          <a:p>
            <a:pPr lvl="1"/>
            <a:endParaRPr lang="en-US" dirty="0"/>
          </a:p>
          <a:p>
            <a:pPr marL="0" indent="0">
              <a:buNone/>
            </a:pPr>
            <a:endParaRPr lang="en-IN" dirty="0"/>
          </a:p>
        </p:txBody>
      </p:sp>
    </p:spTree>
    <p:extLst>
      <p:ext uri="{BB962C8B-B14F-4D97-AF65-F5344CB8AC3E}">
        <p14:creationId xmlns:p14="http://schemas.microsoft.com/office/powerpoint/2010/main" val="42318497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229600" cy="5821363"/>
          </a:xfrm>
        </p:spPr>
        <p:txBody>
          <a:bodyPr>
            <a:normAutofit/>
          </a:bodyPr>
          <a:lstStyle/>
          <a:p>
            <a:endParaRPr lang="en-IN" dirty="0"/>
          </a:p>
        </p:txBody>
      </p:sp>
    </p:spTree>
    <p:extLst>
      <p:ext uri="{BB962C8B-B14F-4D97-AF65-F5344CB8AC3E}">
        <p14:creationId xmlns:p14="http://schemas.microsoft.com/office/powerpoint/2010/main" val="42318497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83</TotalTime>
  <Words>4041</Words>
  <Application>Microsoft Office PowerPoint</Application>
  <PresentationFormat>On-screen Show (4:3)</PresentationFormat>
  <Paragraphs>451</Paragraphs>
  <Slides>36</Slides>
  <Notes>12</Notes>
  <HiddenSlides>0</HiddenSlides>
  <MMClips>0</MMClips>
  <ScaleCrop>false</ScaleCrop>
  <HeadingPairs>
    <vt:vector size="4" baseType="variant">
      <vt:variant>
        <vt:lpstr>Theme</vt:lpstr>
      </vt:variant>
      <vt:variant>
        <vt:i4>1</vt:i4>
      </vt:variant>
      <vt:variant>
        <vt:lpstr>Slide Titles</vt:lpstr>
      </vt:variant>
      <vt:variant>
        <vt:i4>36</vt:i4>
      </vt:variant>
    </vt:vector>
  </HeadingPairs>
  <TitlesOfParts>
    <vt:vector size="37" baseType="lpstr">
      <vt:lpstr>Office Theme</vt:lpstr>
      <vt:lpstr>String Handling </vt:lpstr>
      <vt:lpstr>String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String Handling </dc:title>
  <dc:creator/>
  <cp:lastModifiedBy>Rohit Kamboj</cp:lastModifiedBy>
  <cp:revision>114</cp:revision>
  <dcterms:created xsi:type="dcterms:W3CDTF">2006-08-16T00:00:00Z</dcterms:created>
  <dcterms:modified xsi:type="dcterms:W3CDTF">2024-12-16T04:47:14Z</dcterms:modified>
</cp:coreProperties>
</file>