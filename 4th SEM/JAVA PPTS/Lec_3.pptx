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84" autoAdjust="0"/>
  </p:normalViewPr>
  <p:slideViewPr>
    <p:cSldViewPr>
      <p:cViewPr varScale="1">
        <p:scale>
          <a:sx n="77" d="100"/>
          <a:sy n="77" d="100"/>
        </p:scale>
        <p:origin x="-1618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33869-A6F9-4D26-A5E7-3B767731D6B7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1BEE0-4FFB-44ED-B46E-65F8A185D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4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Example-  </a:t>
            </a:r>
          </a:p>
          <a:p>
            <a:r>
              <a:rPr lang="en-IN" dirty="0" smtClean="0"/>
              <a:t>class Main {</a:t>
            </a:r>
          </a:p>
          <a:p>
            <a:r>
              <a:rPr lang="en-IN" dirty="0" smtClean="0"/>
              <a:t>  public static void main(String[] </a:t>
            </a:r>
            <a:r>
              <a:rPr lang="en-IN" dirty="0" err="1" smtClean="0"/>
              <a:t>args</a:t>
            </a:r>
            <a:r>
              <a:rPr lang="en-IN" dirty="0" smtClean="0"/>
              <a:t>) {</a:t>
            </a:r>
          </a:p>
          <a:p>
            <a:endParaRPr lang="en-IN" dirty="0" smtClean="0"/>
          </a:p>
          <a:p>
            <a:r>
              <a:rPr lang="en-IN" dirty="0" smtClean="0"/>
              <a:t>    </a:t>
            </a:r>
            <a:r>
              <a:rPr lang="en-IN" dirty="0" err="1" smtClean="0"/>
              <a:t>int</a:t>
            </a:r>
            <a:r>
              <a:rPr lang="en-IN" dirty="0" smtClean="0"/>
              <a:t> number1 = 12, number2 = 25, result;</a:t>
            </a:r>
          </a:p>
          <a:p>
            <a:endParaRPr lang="en-IN" dirty="0" smtClean="0"/>
          </a:p>
          <a:p>
            <a:r>
              <a:rPr lang="en-IN" dirty="0" smtClean="0"/>
              <a:t>    // bitwise OR between 12 and 25</a:t>
            </a:r>
          </a:p>
          <a:p>
            <a:r>
              <a:rPr lang="en-IN" dirty="0" smtClean="0"/>
              <a:t>    result = number1 | number2;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System.out.println</a:t>
            </a:r>
            <a:r>
              <a:rPr lang="en-IN" dirty="0" smtClean="0"/>
              <a:t>(result);    // prints 29</a:t>
            </a:r>
          </a:p>
          <a:p>
            <a:r>
              <a:rPr lang="en-IN" dirty="0" smtClean="0"/>
              <a:t>  }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1BEE0-4FFB-44ED-B46E-65F8A185D56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759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class Main {</a:t>
            </a:r>
          </a:p>
          <a:p>
            <a:r>
              <a:rPr lang="en-US" dirty="0" smtClean="0"/>
              <a:t>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number1 = 12, number2 = 25, result;</a:t>
            </a:r>
          </a:p>
          <a:p>
            <a:endParaRPr lang="en-US" dirty="0" smtClean="0"/>
          </a:p>
          <a:p>
            <a:r>
              <a:rPr lang="en-US" dirty="0" smtClean="0"/>
              <a:t>    // bitwise AND between 12 and 25</a:t>
            </a:r>
          </a:p>
          <a:p>
            <a:r>
              <a:rPr lang="en-US" dirty="0" smtClean="0"/>
              <a:t>    result = number1 &amp; number2;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System.out.println</a:t>
            </a:r>
            <a:r>
              <a:rPr lang="en-US" dirty="0" smtClean="0"/>
              <a:t>(result);    // prints 8</a:t>
            </a:r>
          </a:p>
          <a:p>
            <a:r>
              <a:rPr lang="en-US" dirty="0" smtClean="0"/>
              <a:t>  }</a:t>
            </a:r>
          </a:p>
          <a:p>
            <a:r>
              <a:rPr lang="en-US" dirty="0" smtClean="0"/>
              <a:t>}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1BEE0-4FFB-44ED-B46E-65F8A185D56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945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class Main {</a:t>
            </a:r>
          </a:p>
          <a:p>
            <a:r>
              <a:rPr lang="en-IN" dirty="0" smtClean="0"/>
              <a:t>  public static void main(String[] </a:t>
            </a:r>
            <a:r>
              <a:rPr lang="en-IN" dirty="0" err="1" smtClean="0"/>
              <a:t>args</a:t>
            </a:r>
            <a:r>
              <a:rPr lang="en-IN" dirty="0" smtClean="0"/>
              <a:t>) {</a:t>
            </a:r>
          </a:p>
          <a:p>
            <a:endParaRPr lang="en-IN" dirty="0" smtClean="0"/>
          </a:p>
          <a:p>
            <a:r>
              <a:rPr lang="en-IN" dirty="0" smtClean="0"/>
              <a:t>    </a:t>
            </a:r>
            <a:r>
              <a:rPr lang="en-IN" dirty="0" err="1" smtClean="0"/>
              <a:t>int</a:t>
            </a:r>
            <a:r>
              <a:rPr lang="en-IN" dirty="0" smtClean="0"/>
              <a:t> number1 = 12, number2 = 25, result;</a:t>
            </a:r>
          </a:p>
          <a:p>
            <a:endParaRPr lang="en-IN" dirty="0" smtClean="0"/>
          </a:p>
          <a:p>
            <a:r>
              <a:rPr lang="en-IN" dirty="0" smtClean="0"/>
              <a:t>    // bitwise XOR between 12 and 25</a:t>
            </a:r>
          </a:p>
          <a:p>
            <a:r>
              <a:rPr lang="en-IN" dirty="0" smtClean="0"/>
              <a:t>    result = number1 ^ number2;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System.out.println</a:t>
            </a:r>
            <a:r>
              <a:rPr lang="en-IN" dirty="0" smtClean="0"/>
              <a:t>(result);    // prints 21</a:t>
            </a:r>
          </a:p>
          <a:p>
            <a:r>
              <a:rPr lang="en-IN" dirty="0" smtClean="0"/>
              <a:t>  }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1BEE0-4FFB-44ED-B46E-65F8A185D56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552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binary systems, negative numbers are often stored using 2's complement. In 2's complement, the bitwise complement of a positive number (e.g., 35 → 00100011) results in a negative number when represented in binary, not a positive number. That’s why 11011100 is interpreted as -36 instead of a positive 220.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1BEE0-4FFB-44ED-B46E-65F8A185D56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5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Invert the bits of 1110:</a:t>
            </a:r>
            <a:br>
              <a:rPr lang="en-US" dirty="0" smtClean="0"/>
            </a:br>
            <a:r>
              <a:rPr lang="en-US" dirty="0" smtClean="0"/>
              <a:t>1110 → 0001</a:t>
            </a:r>
          </a:p>
          <a:p>
            <a:r>
              <a:rPr lang="en-US" dirty="0" smtClean="0"/>
              <a:t>Add 1 to the inverted bits:</a:t>
            </a:r>
            <a:br>
              <a:rPr lang="en-US" dirty="0" smtClean="0"/>
            </a:br>
            <a:r>
              <a:rPr lang="en-US" dirty="0" smtClean="0"/>
              <a:t>0001 + 1 = 0010</a:t>
            </a:r>
          </a:p>
          <a:p>
            <a:r>
              <a:rPr lang="en-US" b="1" dirty="0" smtClean="0"/>
              <a:t>Interpret the result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The binary 0010 is 2 in decimal. Since we started with a negative number (the leftmost bit was 1), the result is </a:t>
            </a:r>
            <a:r>
              <a:rPr lang="en-US" b="1" dirty="0" smtClean="0"/>
              <a:t>-2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1BEE0-4FFB-44ED-B46E-65F8A185D56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405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Java Operators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dirty="0"/>
              <a:t>Java operators are symbols or keywords that perform operations on variables and values. They are broadly categorized into the following types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 smtClean="0"/>
              <a:t>1 - </a:t>
            </a:r>
            <a:r>
              <a:rPr lang="en-IN" sz="2400" dirty="0"/>
              <a:t>Arithmetic </a:t>
            </a:r>
            <a:r>
              <a:rPr lang="en-IN" sz="2400" dirty="0" smtClean="0"/>
              <a:t>Operators</a:t>
            </a:r>
          </a:p>
          <a:p>
            <a:r>
              <a:rPr lang="en-IN" sz="2400" dirty="0"/>
              <a:t>2 - Relational (Comparison) </a:t>
            </a:r>
            <a:r>
              <a:rPr lang="en-IN" sz="2400" dirty="0" smtClean="0"/>
              <a:t>Operators</a:t>
            </a:r>
          </a:p>
          <a:p>
            <a:r>
              <a:rPr lang="en-IN" sz="2400" dirty="0"/>
              <a:t>3 - Logical </a:t>
            </a:r>
            <a:r>
              <a:rPr lang="en-IN" sz="2400" dirty="0" smtClean="0"/>
              <a:t>Operators</a:t>
            </a:r>
          </a:p>
          <a:p>
            <a:r>
              <a:rPr lang="en-IN" sz="2400" dirty="0"/>
              <a:t>4 - Assignment </a:t>
            </a:r>
            <a:r>
              <a:rPr lang="en-IN" sz="2400" dirty="0" smtClean="0"/>
              <a:t>Operators</a:t>
            </a:r>
          </a:p>
          <a:p>
            <a:r>
              <a:rPr lang="en-IN" sz="2400" dirty="0"/>
              <a:t>5 - Unary </a:t>
            </a:r>
            <a:r>
              <a:rPr lang="en-IN" sz="2400" dirty="0" smtClean="0"/>
              <a:t>Operators</a:t>
            </a:r>
          </a:p>
          <a:p>
            <a:r>
              <a:rPr lang="en-IN" sz="2400" dirty="0"/>
              <a:t>6 - Bitwise </a:t>
            </a:r>
            <a:r>
              <a:rPr lang="en-IN" sz="2400" dirty="0" smtClean="0"/>
              <a:t>Operators</a:t>
            </a:r>
          </a:p>
          <a:p>
            <a:r>
              <a:rPr lang="en-IN" sz="2400" dirty="0"/>
              <a:t>7 - Ternary </a:t>
            </a:r>
            <a:r>
              <a:rPr lang="en-IN" sz="2400" dirty="0" smtClean="0"/>
              <a:t>Operator</a:t>
            </a:r>
          </a:p>
          <a:p>
            <a:r>
              <a:rPr lang="en-IN" sz="2400" dirty="0" smtClean="0"/>
              <a:t>8 </a:t>
            </a:r>
            <a:r>
              <a:rPr lang="en-IN" sz="2400" dirty="0"/>
              <a:t>-  </a:t>
            </a:r>
            <a:r>
              <a:rPr lang="en-IN" sz="2400" dirty="0" err="1"/>
              <a:t>Instanceof</a:t>
            </a:r>
            <a:r>
              <a:rPr lang="en-IN" sz="2400" dirty="0"/>
              <a:t> </a:t>
            </a:r>
            <a:r>
              <a:rPr lang="en-IN" sz="2400" dirty="0" smtClean="0"/>
              <a:t>Operator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4428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1. Arithmetic Operators</a:t>
            </a:r>
          </a:p>
          <a:p>
            <a:r>
              <a:rPr lang="en-US" sz="2400" dirty="0"/>
              <a:t>Used to perform basic mathematical operations.</a:t>
            </a:r>
          </a:p>
          <a:p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6767513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7261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Example- </a:t>
            </a:r>
          </a:p>
          <a:p>
            <a:pPr marL="0" indent="0"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ArithmeticExample</a:t>
            </a:r>
            <a:r>
              <a:rPr lang="en-IN" sz="2400" dirty="0"/>
              <a:t> {</a:t>
            </a:r>
          </a:p>
          <a:p>
            <a:pPr marL="0" indent="0"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int</a:t>
            </a:r>
            <a:r>
              <a:rPr lang="en-IN" sz="2400" dirty="0"/>
              <a:t> a = 10, b = 5;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("Addition: " + (a + b));    // 15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("Subtraction: " + (a - b)); // 5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("Multiplication: " + (a * b)); // 50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("Division: " + (a / b));   // 2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("Modulus: " + (a % b));    // 0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2. Relational (Comparison) Operators</a:t>
            </a:r>
          </a:p>
          <a:p>
            <a:r>
              <a:rPr lang="en-US" sz="2400" dirty="0"/>
              <a:t>Used to compare two values.</a:t>
            </a:r>
          </a:p>
          <a:p>
            <a:endParaRPr lang="en-IN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3914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Example-  </a:t>
            </a:r>
          </a:p>
          <a:p>
            <a:pPr marL="0" indent="0">
              <a:buNone/>
            </a:pPr>
            <a:r>
              <a:rPr lang="en-IN" sz="2000" dirty="0"/>
              <a:t>public class </a:t>
            </a:r>
            <a:r>
              <a:rPr lang="en-IN" sz="2000" dirty="0" err="1"/>
              <a:t>RelationalExample</a:t>
            </a:r>
            <a:r>
              <a:rPr lang="en-IN" sz="2000" dirty="0"/>
              <a:t> {</a:t>
            </a:r>
          </a:p>
          <a:p>
            <a:pPr marL="0" indent="0">
              <a:buNone/>
            </a:pPr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int</a:t>
            </a:r>
            <a:r>
              <a:rPr lang="en-IN" sz="2000" dirty="0"/>
              <a:t> a = 10, b = 5;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("Equal to: " + (a == b));  // false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("Not equal to: " + (a != b)); // true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("Greater than: " + (a &gt; b));  // true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("Less than: " + (a &lt; b));     // false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("Greater than or equal to: " + (a &gt;= b)); // true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("Less than or equal to: " + (a &lt;= b));    // false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3. Logical Operators</a:t>
            </a:r>
          </a:p>
          <a:p>
            <a:r>
              <a:rPr lang="en-US" sz="2400" dirty="0"/>
              <a:t>Used for logical operations.</a:t>
            </a:r>
          </a:p>
          <a:p>
            <a:endParaRPr lang="en-IN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96" y="1905000"/>
            <a:ext cx="8245475" cy="202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 smtClean="0"/>
              <a:t>Example-  </a:t>
            </a:r>
          </a:p>
          <a:p>
            <a:pPr marL="0" indent="0">
              <a:buNone/>
            </a:pPr>
            <a:r>
              <a:rPr lang="en-US" sz="2400" dirty="0"/>
              <a:t>public class </a:t>
            </a:r>
            <a:r>
              <a:rPr lang="en-US" sz="2400" dirty="0" err="1"/>
              <a:t>LogicalExample</a:t>
            </a:r>
            <a:r>
              <a:rPr lang="en-US" sz="2400" dirty="0"/>
              <a:t> {</a:t>
            </a:r>
          </a:p>
          <a:p>
            <a:pPr marL="0" indent="0">
              <a:buNone/>
            </a:pPr>
            <a:r>
              <a:rPr lang="en-US" sz="2400" dirty="0"/>
              <a:t>    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 {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int</a:t>
            </a:r>
            <a:r>
              <a:rPr lang="en-US" sz="2400" dirty="0"/>
              <a:t> a = 10, b = 5, c = 15;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// Logical AND: true if both conditions are true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("Logical AND: " + ((a &gt; b) &amp;&amp; (c &gt; a))); // true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// Logical OR: true if at least one condition is true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("Logical OR: " + ((a &lt; b) || (c &gt; a)));  // true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// Logical NOT: reverses the truth value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("Logical NOT: " + !(a &gt; b));             // false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4. Assignment Operators</a:t>
            </a:r>
          </a:p>
          <a:p>
            <a:r>
              <a:rPr lang="en-US" sz="2400" dirty="0"/>
              <a:t>Used to assign values to variables.</a:t>
            </a:r>
          </a:p>
          <a:p>
            <a:endParaRPr lang="en-IN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6805613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IN" sz="2400" dirty="0" smtClean="0"/>
              <a:t>Example – </a:t>
            </a:r>
          </a:p>
          <a:p>
            <a:pPr marL="0" indent="0"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AssignmentExample</a:t>
            </a:r>
            <a:r>
              <a:rPr lang="en-IN" sz="2400" dirty="0"/>
              <a:t> {</a:t>
            </a:r>
          </a:p>
          <a:p>
            <a:pPr marL="0" indent="0"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int</a:t>
            </a:r>
            <a:r>
              <a:rPr lang="en-IN" sz="2400" dirty="0"/>
              <a:t> a = 10;</a:t>
            </a:r>
          </a:p>
          <a:p>
            <a:pPr marL="0" indent="0">
              <a:buNone/>
            </a:pPr>
            <a:r>
              <a:rPr lang="en-IN" sz="2400" dirty="0"/>
              <a:t>        a += 5;  // a = a + 5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("a after +=: " + a); // 15</a:t>
            </a:r>
          </a:p>
          <a:p>
            <a:pPr marL="0" indent="0">
              <a:buNone/>
            </a:pPr>
            <a:r>
              <a:rPr lang="en-IN" sz="2400" dirty="0"/>
              <a:t>        a -= 2;  // a = a - 2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("a after -=: " + a); // 13</a:t>
            </a:r>
          </a:p>
          <a:p>
            <a:pPr marL="0" indent="0">
              <a:buNone/>
            </a:pPr>
            <a:r>
              <a:rPr lang="en-IN" sz="2400" dirty="0"/>
              <a:t>        a *= 2;  // a = a * 2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("a after *=: " + a); // 26</a:t>
            </a:r>
          </a:p>
          <a:p>
            <a:pPr marL="0" indent="0">
              <a:buNone/>
            </a:pPr>
            <a:r>
              <a:rPr lang="en-IN" sz="2400" dirty="0"/>
              <a:t>        a /= 2;  // a = a / 2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("a after /=: " + a); // 13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5. Unary Operators</a:t>
            </a:r>
          </a:p>
          <a:p>
            <a:r>
              <a:rPr lang="en-US" sz="2400" dirty="0"/>
              <a:t>Operate on a single operand.</a:t>
            </a:r>
          </a:p>
          <a:p>
            <a:endParaRPr lang="en-IN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2640013"/>
            <a:ext cx="6797675" cy="157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 – </a:t>
            </a:r>
          </a:p>
          <a:p>
            <a:pPr marL="0" indent="0"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UnaryExample</a:t>
            </a:r>
            <a:r>
              <a:rPr lang="en-IN" sz="1800" dirty="0"/>
              <a:t> {</a:t>
            </a:r>
          </a:p>
          <a:p>
            <a:pPr marL="0" indent="0"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int</a:t>
            </a:r>
            <a:r>
              <a:rPr lang="en-IN" sz="1800" dirty="0"/>
              <a:t> a = 10;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("Post-increment: " + a++); // 10 (prints, then increments)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("After Post-increment: " + a); // 11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("Pre-increment: " + ++a);  // 12 (increments, then prints)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("Unary minus: " + (-a));  // -12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/>
              <a:t>6. </a:t>
            </a:r>
            <a:r>
              <a:rPr lang="en-IN" sz="2400" b="1" dirty="0"/>
              <a:t>Bitwise </a:t>
            </a:r>
            <a:r>
              <a:rPr lang="en-IN" sz="2400" b="1" dirty="0" smtClean="0"/>
              <a:t>Operators</a:t>
            </a:r>
          </a:p>
          <a:p>
            <a:r>
              <a:rPr lang="en-US" sz="2400" dirty="0"/>
              <a:t>Bitwise operators are used to performing the manipulation of individual bits of a </a:t>
            </a:r>
            <a:r>
              <a:rPr lang="en-US" sz="2400" dirty="0" smtClean="0"/>
              <a:t>number.</a:t>
            </a:r>
          </a:p>
          <a:p>
            <a:endParaRPr lang="en-IN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81200"/>
            <a:ext cx="7216775" cy="375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Bitwise OR Operator</a:t>
            </a:r>
          </a:p>
          <a:p>
            <a:r>
              <a:rPr lang="en-US" sz="2400" dirty="0"/>
              <a:t>The bitwise OR | operator returns 1 if at least one of the operands is 1. Otherwise, it returns 0.</a:t>
            </a:r>
          </a:p>
          <a:p>
            <a:r>
              <a:rPr lang="en-US" sz="2400" dirty="0"/>
              <a:t>Let's look at the bitwise OR operation of two integers 12 and 25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IN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438400"/>
            <a:ext cx="5053013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Bitwise AND Operator</a:t>
            </a:r>
          </a:p>
          <a:p>
            <a:r>
              <a:rPr lang="en-US" sz="2400" dirty="0"/>
              <a:t>The bitwise AND &amp; operator returns 1 if and only if both the operands are 1. Otherwise, it returns 0.</a:t>
            </a:r>
          </a:p>
          <a:p>
            <a:endParaRPr lang="en-IN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362200"/>
            <a:ext cx="5235575" cy="181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Bitwise XOR Operator</a:t>
            </a:r>
          </a:p>
          <a:p>
            <a:r>
              <a:rPr lang="en-US" sz="2400" dirty="0"/>
              <a:t>The bitwise XOR ^ operator returns 1 if and only if one of the operands is 1. However, if both the operands are 0 or if both are 1, then the result is 0.</a:t>
            </a:r>
          </a:p>
          <a:p>
            <a:endParaRPr lang="en-IN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013" y="2506663"/>
            <a:ext cx="4625975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Bitwise Complement Operator</a:t>
            </a:r>
          </a:p>
          <a:p>
            <a:r>
              <a:rPr lang="en-US" sz="2000" dirty="0"/>
              <a:t>The bitwise complement operator is a unary operator (works with only one operand). It is denoted by ~.</a:t>
            </a:r>
          </a:p>
          <a:p>
            <a:r>
              <a:rPr lang="en-US" sz="2000" dirty="0"/>
              <a:t>It changes binary digits </a:t>
            </a:r>
            <a:r>
              <a:rPr lang="en-US" sz="2000" b="1" dirty="0"/>
              <a:t>1</a:t>
            </a:r>
            <a:r>
              <a:rPr lang="en-US" sz="2000" dirty="0"/>
              <a:t> to </a:t>
            </a:r>
            <a:r>
              <a:rPr lang="en-US" sz="2000" b="1" dirty="0"/>
              <a:t>0</a:t>
            </a:r>
            <a:r>
              <a:rPr lang="en-US" sz="2000" dirty="0"/>
              <a:t> and </a:t>
            </a:r>
            <a:r>
              <a:rPr lang="en-US" sz="2000" b="1" dirty="0"/>
              <a:t>0</a:t>
            </a:r>
            <a:r>
              <a:rPr lang="en-US" sz="2000" dirty="0"/>
              <a:t> to </a:t>
            </a:r>
            <a:r>
              <a:rPr lang="en-US" sz="2000" b="1" dirty="0"/>
              <a:t>1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It is important to note that the bitwise complement of any integer </a:t>
            </a:r>
            <a:r>
              <a:rPr lang="en-US" sz="2000" b="1" dirty="0"/>
              <a:t>N</a:t>
            </a:r>
            <a:r>
              <a:rPr lang="en-US" sz="2000" dirty="0"/>
              <a:t> is equal to </a:t>
            </a:r>
            <a:r>
              <a:rPr lang="en-US" sz="2000" b="1" dirty="0"/>
              <a:t>- (N + 1)</a:t>
            </a:r>
            <a:r>
              <a:rPr lang="en-US" sz="2000" dirty="0"/>
              <a:t>. For example,</a:t>
            </a:r>
          </a:p>
          <a:p>
            <a:r>
              <a:rPr lang="en-US" sz="2000" dirty="0"/>
              <a:t>Consider an integer </a:t>
            </a:r>
            <a:r>
              <a:rPr lang="en-US" sz="2000" b="1" dirty="0"/>
              <a:t>35</a:t>
            </a:r>
            <a:r>
              <a:rPr lang="en-US" sz="2000" dirty="0"/>
              <a:t>. As per the rule, the bitwise complement of </a:t>
            </a:r>
            <a:r>
              <a:rPr lang="en-US" sz="2000" b="1" dirty="0"/>
              <a:t>35</a:t>
            </a:r>
            <a:r>
              <a:rPr lang="en-US" sz="2000" dirty="0"/>
              <a:t> should be </a:t>
            </a:r>
            <a:r>
              <a:rPr lang="en-US" sz="2000" b="1" dirty="0"/>
              <a:t>-(35 + 1)</a:t>
            </a:r>
            <a:r>
              <a:rPr lang="en-US" sz="2000" dirty="0"/>
              <a:t> = </a:t>
            </a:r>
            <a:r>
              <a:rPr lang="en-US" sz="2000" b="1" dirty="0"/>
              <a:t>-36</a:t>
            </a:r>
            <a:r>
              <a:rPr lang="en-US" sz="2000" dirty="0"/>
              <a:t>. Now let's see if we get the correct answer or not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In the above example, we get that the bitwise complement of </a:t>
            </a:r>
            <a:r>
              <a:rPr lang="en-US" sz="2000" b="1" dirty="0"/>
              <a:t>00100011</a:t>
            </a:r>
            <a:r>
              <a:rPr lang="en-US" sz="2000" dirty="0"/>
              <a:t> (</a:t>
            </a:r>
            <a:r>
              <a:rPr lang="en-US" sz="2000" b="1" dirty="0"/>
              <a:t>35</a:t>
            </a:r>
            <a:r>
              <a:rPr lang="en-US" sz="2000" dirty="0"/>
              <a:t>) is </a:t>
            </a:r>
            <a:r>
              <a:rPr lang="en-US" sz="2000" b="1" dirty="0"/>
              <a:t>11011100</a:t>
            </a:r>
            <a:r>
              <a:rPr lang="en-US" sz="2000" dirty="0"/>
              <a:t>. Here, if we convert the result into decimal we get </a:t>
            </a:r>
            <a:r>
              <a:rPr lang="en-US" sz="2000" b="1" dirty="0"/>
              <a:t>220</a:t>
            </a:r>
            <a:r>
              <a:rPr lang="en-US" sz="2000" dirty="0"/>
              <a:t>.</a:t>
            </a:r>
          </a:p>
          <a:p>
            <a:endParaRPr lang="en-IN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39" y="3124200"/>
            <a:ext cx="474027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However, it is important to note that we cannot directly convert the result into decimal and get the desired output. This is because the binary result </a:t>
            </a:r>
            <a:r>
              <a:rPr lang="en-US" sz="2400" b="1" dirty="0"/>
              <a:t>11011100</a:t>
            </a:r>
            <a:r>
              <a:rPr lang="en-US" sz="2400" dirty="0"/>
              <a:t> is also equivalent to </a:t>
            </a:r>
            <a:r>
              <a:rPr lang="en-US" sz="2400" b="1" dirty="0"/>
              <a:t>-36</a:t>
            </a:r>
            <a:r>
              <a:rPr lang="en-US" sz="2400" dirty="0" smtClean="0"/>
              <a:t>. Let's understand it - </a:t>
            </a:r>
          </a:p>
          <a:p>
            <a:r>
              <a:rPr lang="en-US" sz="2400" b="1" dirty="0"/>
              <a:t>The result 11011100 is a signed 8-bit binary number</a:t>
            </a:r>
            <a:r>
              <a:rPr lang="en-US" sz="2400" dirty="0"/>
              <a:t>. The leftmost bit (1) indicates that it's a negative number (in the case of an 8-bit signed integer, the leftmost bit determines whether the number is positive or negative).</a:t>
            </a:r>
          </a:p>
          <a:p>
            <a:r>
              <a:rPr lang="en-US" sz="2400" dirty="0"/>
              <a:t>To find out what negative number 11011100 represents, you need to convert it to its </a:t>
            </a:r>
            <a:r>
              <a:rPr lang="en-US" sz="2400" b="1" dirty="0"/>
              <a:t>positive equivalent</a:t>
            </a:r>
            <a:r>
              <a:rPr lang="en-US" sz="2400" dirty="0"/>
              <a:t> by following the 2's complement process:</a:t>
            </a:r>
          </a:p>
          <a:p>
            <a:r>
              <a:rPr lang="en-US" sz="2400" dirty="0"/>
              <a:t>Invert the bits of 11011100: 00100011</a:t>
            </a:r>
          </a:p>
          <a:p>
            <a:r>
              <a:rPr lang="en-US" sz="2400" dirty="0"/>
              <a:t>Add 1: 00100011 + 1 = 00100100 (which is 36 in decimal).</a:t>
            </a:r>
          </a:p>
          <a:p>
            <a:r>
              <a:rPr lang="en-US" sz="2400" dirty="0"/>
              <a:t>Since the original leftmost bit indicated that it's negative, the number is </a:t>
            </a:r>
            <a:r>
              <a:rPr lang="en-US" sz="2400" b="1" dirty="0"/>
              <a:t>-36</a:t>
            </a:r>
            <a:r>
              <a:rPr lang="en-US" sz="2400" dirty="0"/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 – </a:t>
            </a:r>
          </a:p>
          <a:p>
            <a:pPr marL="0" indent="0">
              <a:buNone/>
            </a:pPr>
            <a:r>
              <a:rPr lang="en-IN" sz="2400" dirty="0"/>
              <a:t>class Main {</a:t>
            </a:r>
          </a:p>
          <a:p>
            <a:pPr marL="0" indent="0">
              <a:buNone/>
            </a:pPr>
            <a:r>
              <a:rPr lang="en-IN" sz="2400" dirty="0"/>
              <a:t>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number = 35, result;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// bitwise complement of 35</a:t>
            </a:r>
          </a:p>
          <a:p>
            <a:pPr marL="0" indent="0">
              <a:buNone/>
            </a:pPr>
            <a:r>
              <a:rPr lang="en-IN" sz="2400" dirty="0"/>
              <a:t>    result = ~number;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System.out.println</a:t>
            </a:r>
            <a:r>
              <a:rPr lang="en-IN" sz="2400" dirty="0"/>
              <a:t>(result);    // prints -36</a:t>
            </a:r>
          </a:p>
          <a:p>
            <a:pPr marL="0" indent="0">
              <a:buNone/>
            </a:pPr>
            <a:r>
              <a:rPr lang="en-IN" sz="2400" dirty="0"/>
              <a:t>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Left Shift Operator</a:t>
            </a:r>
          </a:p>
          <a:p>
            <a:r>
              <a:rPr lang="en-US" sz="2400" dirty="0"/>
              <a:t>The left shift operator shifts all bits towards the left by a certain number of specified bits. It is denoted by </a:t>
            </a:r>
            <a:r>
              <a:rPr lang="en-US" sz="2400" dirty="0" smtClean="0"/>
              <a:t>&lt;&lt;.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/>
              <a:t>As we can see from the image above, we have a 4-digit number. When we perform a 1 bit left shift operation on it, each individual bit is shifted to the left by </a:t>
            </a:r>
            <a:r>
              <a:rPr lang="en-US" sz="2400" b="1" dirty="0"/>
              <a:t>1</a:t>
            </a:r>
            <a:r>
              <a:rPr lang="en-US" sz="2400" dirty="0"/>
              <a:t> bit.</a:t>
            </a:r>
          </a:p>
          <a:p>
            <a:r>
              <a:rPr lang="en-US" sz="2400" dirty="0"/>
              <a:t>As a result, the left-most bit (most-significant) is discarded and the right-most position(least-significant) remains vacant. This vacancy is filled with </a:t>
            </a:r>
            <a:r>
              <a:rPr lang="en-US" sz="2400" b="1" dirty="0"/>
              <a:t>0s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IN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9" y="1676400"/>
            <a:ext cx="4557713" cy="208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548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 – </a:t>
            </a:r>
          </a:p>
          <a:p>
            <a:pPr marL="0" indent="0">
              <a:buNone/>
            </a:pPr>
            <a:r>
              <a:rPr lang="en-IN" sz="2400" dirty="0"/>
              <a:t>class Main {</a:t>
            </a:r>
          </a:p>
          <a:p>
            <a:pPr marL="0" indent="0">
              <a:buNone/>
            </a:pPr>
            <a:r>
              <a:rPr lang="en-IN" sz="2400" dirty="0"/>
              <a:t>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number = 2;</a:t>
            </a:r>
          </a:p>
          <a:p>
            <a:pPr marL="0" indent="0">
              <a:buNone/>
            </a:pPr>
            <a:r>
              <a:rPr lang="en-IN" sz="2400" dirty="0"/>
              <a:t>   </a:t>
            </a:r>
          </a:p>
          <a:p>
            <a:pPr marL="0" indent="0">
              <a:buNone/>
            </a:pPr>
            <a:r>
              <a:rPr lang="en-IN" sz="2400" dirty="0"/>
              <a:t>    // 2 bit left shift operation 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result = number &lt;&lt; 2;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System.out.println</a:t>
            </a:r>
            <a:r>
              <a:rPr lang="en-IN" sz="2400" dirty="0"/>
              <a:t>(result);    // prints 8</a:t>
            </a:r>
          </a:p>
          <a:p>
            <a:pPr marL="0" indent="0">
              <a:buNone/>
            </a:pPr>
            <a:r>
              <a:rPr lang="en-IN" sz="2400" dirty="0"/>
              <a:t>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Signed Right Shift Operator</a:t>
            </a:r>
          </a:p>
          <a:p>
            <a:r>
              <a:rPr lang="en-US" sz="2400" dirty="0"/>
              <a:t>The signed right shift operator shifts all bits towards the right by a certain number of specified bits. It is denoted by &gt;&gt;.</a:t>
            </a:r>
          </a:p>
          <a:p>
            <a:r>
              <a:rPr lang="en-US" sz="2400" dirty="0"/>
              <a:t>When we shift any number to the right, the least significant bits (rightmost) are discarded and the most significant position (leftmost) is filled with the sign bit. For example</a:t>
            </a:r>
            <a:r>
              <a:rPr lang="en-US" sz="2400" dirty="0" smtClean="0"/>
              <a:t>,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Here, we are performing the right shift of </a:t>
            </a:r>
            <a:r>
              <a:rPr lang="en-US" sz="2400" b="1" dirty="0"/>
              <a:t>8</a:t>
            </a:r>
            <a:r>
              <a:rPr lang="en-US" sz="2400" dirty="0"/>
              <a:t> (i.e. sign is positive). Hence, there no sign bit. So the leftmost bits are filled with </a:t>
            </a:r>
            <a:r>
              <a:rPr lang="en-US" sz="2400" b="1" dirty="0"/>
              <a:t>0</a:t>
            </a:r>
            <a:r>
              <a:rPr lang="en-US" sz="2400" dirty="0"/>
              <a:t> (represents positive sign).</a:t>
            </a:r>
          </a:p>
          <a:p>
            <a:endParaRPr lang="en-IN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686" y="2590800"/>
            <a:ext cx="4237037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endParaRPr lang="en-IN" sz="2400" dirty="0"/>
          </a:p>
          <a:p>
            <a:r>
              <a:rPr lang="en-US" sz="2400" dirty="0"/>
              <a:t>Here, we have used the signed bit </a:t>
            </a:r>
            <a:r>
              <a:rPr lang="en-US" sz="2400" b="1" dirty="0"/>
              <a:t>1</a:t>
            </a:r>
            <a:r>
              <a:rPr lang="en-US" sz="2400" dirty="0"/>
              <a:t> to fill the leftmost bits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result will be -2 (by 2’s complement of 1110)</a:t>
            </a:r>
            <a:endParaRPr lang="en-IN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85800"/>
            <a:ext cx="708660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 – </a:t>
            </a:r>
          </a:p>
          <a:p>
            <a:pPr marL="0" indent="0">
              <a:buNone/>
            </a:pPr>
            <a:r>
              <a:rPr lang="en-IN" sz="2400" dirty="0"/>
              <a:t>class Main {</a:t>
            </a:r>
          </a:p>
          <a:p>
            <a:pPr marL="0" indent="0">
              <a:buNone/>
            </a:pPr>
            <a:r>
              <a:rPr lang="en-IN" sz="2400" dirty="0"/>
              <a:t>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number1 = 8;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number2 = -8;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// 2 bit signed right shift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System.out.println</a:t>
            </a:r>
            <a:r>
              <a:rPr lang="en-IN" sz="2400" dirty="0"/>
              <a:t>(number1 &gt;&gt; 2);    // prints 2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System.out.println</a:t>
            </a:r>
            <a:r>
              <a:rPr lang="en-IN" sz="2400" dirty="0"/>
              <a:t>(number2 &gt;&gt; 2);    // prints -2</a:t>
            </a:r>
          </a:p>
          <a:p>
            <a:pPr marL="0" indent="0">
              <a:buNone/>
            </a:pPr>
            <a:r>
              <a:rPr lang="en-IN" sz="2400" dirty="0"/>
              <a:t>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Unsigned Right Shift Operator</a:t>
            </a:r>
          </a:p>
          <a:p>
            <a:r>
              <a:rPr lang="en-US" sz="2400" dirty="0"/>
              <a:t>Java also provides an unsigned right shift. It is denoted by &gt;&gt;&gt;.</a:t>
            </a:r>
          </a:p>
          <a:p>
            <a:r>
              <a:rPr lang="en-US" sz="2400" dirty="0"/>
              <a:t>Here, the vacant leftmost position is filled with </a:t>
            </a:r>
            <a:r>
              <a:rPr lang="en-US" sz="2400" b="1" dirty="0"/>
              <a:t>0</a:t>
            </a:r>
            <a:r>
              <a:rPr lang="en-US" sz="2400" dirty="0"/>
              <a:t> instead of the sign bit. For example</a:t>
            </a:r>
            <a:r>
              <a:rPr lang="en-US" sz="2400" dirty="0" smtClean="0"/>
              <a:t>,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363" y="2430463"/>
            <a:ext cx="4359275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 – </a:t>
            </a:r>
          </a:p>
          <a:p>
            <a:pPr marL="0" indent="0">
              <a:buNone/>
            </a:pPr>
            <a:r>
              <a:rPr lang="en-IN" sz="2400" dirty="0"/>
              <a:t>class Main {</a:t>
            </a:r>
          </a:p>
          <a:p>
            <a:pPr marL="0" indent="0">
              <a:buNone/>
            </a:pPr>
            <a:r>
              <a:rPr lang="en-IN" sz="2400" dirty="0"/>
              <a:t>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number1 = 8;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number2 = -8;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// 2 bit signed right shift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System.out.println</a:t>
            </a:r>
            <a:r>
              <a:rPr lang="en-IN" sz="2400" dirty="0"/>
              <a:t>(number1 &gt;&gt;&gt; 2);    // prints 2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System.out.println</a:t>
            </a:r>
            <a:r>
              <a:rPr lang="en-IN" sz="2400" dirty="0"/>
              <a:t>(number2 &gt;&gt;&gt; 2);    // prints 1073741822</a:t>
            </a:r>
          </a:p>
          <a:p>
            <a:pPr marL="0" indent="0">
              <a:buNone/>
            </a:pPr>
            <a:r>
              <a:rPr lang="en-IN" sz="2400" dirty="0"/>
              <a:t>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/>
              <a:t>7. Ternary Operator</a:t>
            </a:r>
          </a:p>
          <a:p>
            <a:r>
              <a:rPr lang="en-US" sz="2400" dirty="0"/>
              <a:t>Shorthand for an if-else statement.</a:t>
            </a:r>
          </a:p>
          <a:p>
            <a:endParaRPr lang="en-IN" sz="2400" dirty="0" smtClean="0"/>
          </a:p>
          <a:p>
            <a:endParaRPr lang="en-IN" sz="2400" dirty="0"/>
          </a:p>
          <a:p>
            <a:endParaRPr lang="en-IN" sz="2400" dirty="0" smtClean="0"/>
          </a:p>
          <a:p>
            <a:r>
              <a:rPr lang="en-IN" sz="2400" dirty="0" smtClean="0"/>
              <a:t>Example –</a:t>
            </a:r>
          </a:p>
          <a:p>
            <a:pPr marL="0" indent="0"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TernaryExample</a:t>
            </a:r>
            <a:r>
              <a:rPr lang="en-IN" sz="2400" dirty="0"/>
              <a:t> {</a:t>
            </a:r>
          </a:p>
          <a:p>
            <a:pPr marL="0" indent="0"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int</a:t>
            </a:r>
            <a:r>
              <a:rPr lang="en-IN" sz="2400" dirty="0"/>
              <a:t> a = 10, b = 20;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int</a:t>
            </a:r>
            <a:r>
              <a:rPr lang="en-IN" sz="2400" dirty="0"/>
              <a:t> max = (a &gt; b) ? a : b;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("Maximum: " + max); // 20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675163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8 - </a:t>
            </a:r>
            <a:r>
              <a:rPr lang="en-US" sz="2400" b="1" dirty="0" err="1" smtClean="0"/>
              <a:t>Instanceof</a:t>
            </a:r>
            <a:r>
              <a:rPr lang="en-US" sz="2400" b="1" dirty="0" smtClean="0"/>
              <a:t> </a:t>
            </a:r>
            <a:r>
              <a:rPr lang="en-US" sz="2400" b="1" dirty="0"/>
              <a:t>Operator</a:t>
            </a:r>
          </a:p>
          <a:p>
            <a:r>
              <a:rPr lang="en-US" sz="2400" dirty="0"/>
              <a:t>Used to check if an object is an instance of a particular class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Example – </a:t>
            </a:r>
          </a:p>
          <a:p>
            <a:pPr marL="0" indent="0">
              <a:buNone/>
            </a:pPr>
            <a:r>
              <a:rPr lang="en-US" sz="2400" dirty="0"/>
              <a:t>String </a:t>
            </a:r>
            <a:r>
              <a:rPr lang="en-US" sz="2400" dirty="0" err="1"/>
              <a:t>str</a:t>
            </a:r>
            <a:r>
              <a:rPr lang="en-US" sz="2400" dirty="0"/>
              <a:t> = "Hello";</a:t>
            </a:r>
          </a:p>
          <a:p>
            <a:pPr marL="0" indent="0">
              <a:buNone/>
            </a:pP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str</a:t>
            </a:r>
            <a:r>
              <a:rPr lang="en-US" sz="2400" dirty="0"/>
              <a:t> </a:t>
            </a:r>
            <a:r>
              <a:rPr lang="en-US" sz="2400" dirty="0" err="1"/>
              <a:t>instanceof</a:t>
            </a:r>
            <a:r>
              <a:rPr lang="en-US" sz="2400" dirty="0"/>
              <a:t> String); // true</a:t>
            </a:r>
          </a:p>
          <a:p>
            <a:pPr marL="0" indent="0">
              <a:buNone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4001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1333</Words>
  <Application>Microsoft Office PowerPoint</Application>
  <PresentationFormat>On-screen Show (4:3)</PresentationFormat>
  <Paragraphs>258</Paragraphs>
  <Slides>29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Java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dc:creator/>
  <cp:lastModifiedBy>Rohit Kamboj</cp:lastModifiedBy>
  <cp:revision>70</cp:revision>
  <dcterms:created xsi:type="dcterms:W3CDTF">2006-08-16T00:00:00Z</dcterms:created>
  <dcterms:modified xsi:type="dcterms:W3CDTF">2024-12-05T07:12:27Z</dcterms:modified>
</cp:coreProperties>
</file>