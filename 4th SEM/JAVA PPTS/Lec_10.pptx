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781" autoAdjust="0"/>
  </p:normalViewPr>
  <p:slideViewPr>
    <p:cSldViewPr>
      <p:cViewPr varScale="1">
        <p:scale>
          <a:sx n="75" d="100"/>
          <a:sy n="75" d="100"/>
        </p:scale>
        <p:origin x="-1666" y="-8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40589D8-D86B-416D-839F-1E6DE16B7C6A}" type="datetimeFigureOut">
              <a:rPr lang="en-IN" smtClean="0"/>
              <a:t>21-01-2025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C6EE63B-BF8F-4FB1-A5B8-2EFEF170E41B}" type="slidenum">
              <a:rPr lang="en-IN" smtClean="0"/>
              <a:t>‹#›</a:t>
            </a:fld>
            <a:endParaRPr lang="en-IN"/>
          </a:p>
        </p:txBody>
      </p:sp>
    </p:spTree>
    <p:extLst>
      <p:ext uri="{BB962C8B-B14F-4D97-AF65-F5344CB8AC3E}">
        <p14:creationId xmlns:p14="http://schemas.microsoft.com/office/powerpoint/2010/main" val="14455430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1" i="0" kern="1200" dirty="0" smtClean="0">
                <a:solidFill>
                  <a:schemeClr val="tx1"/>
                </a:solidFill>
                <a:effectLst/>
                <a:latin typeface="+mn-lt"/>
                <a:ea typeface="+mn-ea"/>
                <a:cs typeface="+mn-cs"/>
              </a:rPr>
              <a:t>Output:</a:t>
            </a:r>
            <a:endParaRPr lang="en-IN" sz="1200" b="0" i="0" kern="1200" dirty="0" smtClean="0">
              <a:solidFill>
                <a:schemeClr val="tx1"/>
              </a:solidFill>
              <a:effectLst/>
              <a:latin typeface="+mn-lt"/>
              <a:ea typeface="+mn-ea"/>
              <a:cs typeface="+mn-cs"/>
            </a:endParaRPr>
          </a:p>
          <a:p>
            <a:r>
              <a:rPr lang="en-IN" sz="1200" b="0" i="0" kern="1200" dirty="0" smtClean="0">
                <a:solidFill>
                  <a:schemeClr val="tx1"/>
                </a:solidFill>
                <a:effectLst/>
                <a:latin typeface="+mn-lt"/>
                <a:ea typeface="+mn-ea"/>
                <a:cs typeface="+mn-cs"/>
              </a:rPr>
              <a:t>barking... </a:t>
            </a:r>
          </a:p>
          <a:p>
            <a:r>
              <a:rPr lang="en-IN" sz="1200" b="0" i="0" kern="1200" dirty="0" smtClean="0">
                <a:solidFill>
                  <a:schemeClr val="tx1"/>
                </a:solidFill>
                <a:effectLst/>
                <a:latin typeface="+mn-lt"/>
                <a:ea typeface="+mn-ea"/>
                <a:cs typeface="+mn-cs"/>
              </a:rPr>
              <a:t>eating...</a:t>
            </a:r>
          </a:p>
          <a:p>
            <a:endParaRPr lang="en-IN" dirty="0"/>
          </a:p>
        </p:txBody>
      </p:sp>
      <p:sp>
        <p:nvSpPr>
          <p:cNvPr id="4" name="Slide Number Placeholder 3"/>
          <p:cNvSpPr>
            <a:spLocks noGrp="1"/>
          </p:cNvSpPr>
          <p:nvPr>
            <p:ph type="sldNum" sz="quarter" idx="10"/>
          </p:nvPr>
        </p:nvSpPr>
        <p:spPr/>
        <p:txBody>
          <a:bodyPr/>
          <a:lstStyle/>
          <a:p>
            <a:fld id="{EC6EE63B-BF8F-4FB1-A5B8-2EFEF170E41B}" type="slidenum">
              <a:rPr lang="en-IN" smtClean="0"/>
              <a:t>6</a:t>
            </a:fld>
            <a:endParaRPr lang="en-IN"/>
          </a:p>
        </p:txBody>
      </p:sp>
    </p:spTree>
    <p:extLst>
      <p:ext uri="{BB962C8B-B14F-4D97-AF65-F5344CB8AC3E}">
        <p14:creationId xmlns:p14="http://schemas.microsoft.com/office/powerpoint/2010/main" val="16594180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Output -</a:t>
            </a:r>
          </a:p>
          <a:p>
            <a:r>
              <a:rPr lang="en-US" dirty="0" smtClean="0"/>
              <a:t>Marks Default </a:t>
            </a:r>
          </a:p>
          <a:p>
            <a:r>
              <a:rPr lang="en-US" dirty="0" smtClean="0"/>
              <a:t>Student Default </a:t>
            </a:r>
            <a:br>
              <a:rPr lang="en-US" dirty="0" smtClean="0"/>
            </a:br>
            <a:endParaRPr lang="en-IN" dirty="0"/>
          </a:p>
        </p:txBody>
      </p:sp>
      <p:sp>
        <p:nvSpPr>
          <p:cNvPr id="4" name="Slide Number Placeholder 3"/>
          <p:cNvSpPr>
            <a:spLocks noGrp="1"/>
          </p:cNvSpPr>
          <p:nvPr>
            <p:ph type="sldNum" sz="quarter" idx="10"/>
          </p:nvPr>
        </p:nvSpPr>
        <p:spPr/>
        <p:txBody>
          <a:bodyPr/>
          <a:lstStyle/>
          <a:p>
            <a:fld id="{EC6EE63B-BF8F-4FB1-A5B8-2EFEF170E41B}" type="slidenum">
              <a:rPr lang="en-IN" smtClean="0"/>
              <a:t>8</a:t>
            </a:fld>
            <a:endParaRPr lang="en-IN"/>
          </a:p>
        </p:txBody>
      </p:sp>
    </p:spTree>
    <p:extLst>
      <p:ext uri="{BB962C8B-B14F-4D97-AF65-F5344CB8AC3E}">
        <p14:creationId xmlns:p14="http://schemas.microsoft.com/office/powerpoint/2010/main" val="21919871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Output -</a:t>
            </a:r>
          </a:p>
          <a:p>
            <a:r>
              <a:rPr lang="en-US" dirty="0" smtClean="0"/>
              <a:t>1 John </a:t>
            </a:r>
          </a:p>
          <a:p>
            <a:r>
              <a:rPr lang="en-US" dirty="0" smtClean="0"/>
              <a:t>80 90</a:t>
            </a:r>
            <a:endParaRPr lang="en-IN" dirty="0"/>
          </a:p>
        </p:txBody>
      </p:sp>
      <p:sp>
        <p:nvSpPr>
          <p:cNvPr id="4" name="Slide Number Placeholder 3"/>
          <p:cNvSpPr>
            <a:spLocks noGrp="1"/>
          </p:cNvSpPr>
          <p:nvPr>
            <p:ph type="sldNum" sz="quarter" idx="10"/>
          </p:nvPr>
        </p:nvSpPr>
        <p:spPr/>
        <p:txBody>
          <a:bodyPr/>
          <a:lstStyle/>
          <a:p>
            <a:fld id="{EC6EE63B-BF8F-4FB1-A5B8-2EFEF170E41B}" type="slidenum">
              <a:rPr lang="en-IN" smtClean="0"/>
              <a:t>11</a:t>
            </a:fld>
            <a:endParaRPr lang="en-IN"/>
          </a:p>
        </p:txBody>
      </p:sp>
    </p:spTree>
    <p:extLst>
      <p:ext uri="{BB962C8B-B14F-4D97-AF65-F5344CB8AC3E}">
        <p14:creationId xmlns:p14="http://schemas.microsoft.com/office/powerpoint/2010/main" val="39828630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Output</a:t>
            </a:r>
          </a:p>
          <a:p>
            <a:r>
              <a:rPr lang="en-US" dirty="0" smtClean="0"/>
              <a:t>1 John </a:t>
            </a:r>
          </a:p>
          <a:p>
            <a:r>
              <a:rPr lang="en-US" dirty="0" smtClean="0"/>
              <a:t>80 90 </a:t>
            </a:r>
          </a:p>
          <a:p>
            <a:r>
              <a:rPr lang="en-US" dirty="0" smtClean="0"/>
              <a:t>Good</a:t>
            </a:r>
            <a:endParaRPr lang="en-IN" dirty="0"/>
          </a:p>
        </p:txBody>
      </p:sp>
      <p:sp>
        <p:nvSpPr>
          <p:cNvPr id="4" name="Slide Number Placeholder 3"/>
          <p:cNvSpPr>
            <a:spLocks noGrp="1"/>
          </p:cNvSpPr>
          <p:nvPr>
            <p:ph type="sldNum" sz="quarter" idx="10"/>
          </p:nvPr>
        </p:nvSpPr>
        <p:spPr/>
        <p:txBody>
          <a:bodyPr/>
          <a:lstStyle/>
          <a:p>
            <a:fld id="{EC6EE63B-BF8F-4FB1-A5B8-2EFEF170E41B}" type="slidenum">
              <a:rPr lang="en-IN" smtClean="0"/>
              <a:t>17</a:t>
            </a:fld>
            <a:endParaRPr lang="en-IN"/>
          </a:p>
        </p:txBody>
      </p:sp>
    </p:spTree>
    <p:extLst>
      <p:ext uri="{BB962C8B-B14F-4D97-AF65-F5344CB8AC3E}">
        <p14:creationId xmlns:p14="http://schemas.microsoft.com/office/powerpoint/2010/main" val="41770302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Output -</a:t>
            </a:r>
          </a:p>
          <a:p>
            <a:r>
              <a:rPr lang="en-US" dirty="0" smtClean="0"/>
              <a:t>1 John </a:t>
            </a:r>
          </a:p>
          <a:p>
            <a:r>
              <a:rPr lang="en-US" dirty="0" smtClean="0"/>
              <a:t>80 90 </a:t>
            </a:r>
          </a:p>
          <a:p>
            <a:r>
              <a:rPr lang="en-US" dirty="0" smtClean="0"/>
              <a:t>100 70 </a:t>
            </a:r>
          </a:p>
          <a:p>
            <a:r>
              <a:rPr lang="en-US" dirty="0" smtClean="0"/>
              <a:t>Good</a:t>
            </a:r>
            <a:endParaRPr lang="en-IN" dirty="0"/>
          </a:p>
        </p:txBody>
      </p:sp>
      <p:sp>
        <p:nvSpPr>
          <p:cNvPr id="4" name="Slide Number Placeholder 3"/>
          <p:cNvSpPr>
            <a:spLocks noGrp="1"/>
          </p:cNvSpPr>
          <p:nvPr>
            <p:ph type="sldNum" sz="quarter" idx="10"/>
          </p:nvPr>
        </p:nvSpPr>
        <p:spPr/>
        <p:txBody>
          <a:bodyPr/>
          <a:lstStyle/>
          <a:p>
            <a:fld id="{EC6EE63B-BF8F-4FB1-A5B8-2EFEF170E41B}" type="slidenum">
              <a:rPr lang="en-IN" smtClean="0"/>
              <a:t>21</a:t>
            </a:fld>
            <a:endParaRPr lang="en-IN"/>
          </a:p>
        </p:txBody>
      </p:sp>
    </p:spTree>
    <p:extLst>
      <p:ext uri="{BB962C8B-B14F-4D97-AF65-F5344CB8AC3E}">
        <p14:creationId xmlns:p14="http://schemas.microsoft.com/office/powerpoint/2010/main" val="38556114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Output- </a:t>
            </a:r>
          </a:p>
          <a:p>
            <a:r>
              <a:rPr lang="en-IN" dirty="0" smtClean="0"/>
              <a:t>Display method in Subclass</a:t>
            </a:r>
          </a:p>
          <a:p>
            <a:endParaRPr lang="en-IN" dirty="0"/>
          </a:p>
        </p:txBody>
      </p:sp>
      <p:sp>
        <p:nvSpPr>
          <p:cNvPr id="4" name="Slide Number Placeholder 3"/>
          <p:cNvSpPr>
            <a:spLocks noGrp="1"/>
          </p:cNvSpPr>
          <p:nvPr>
            <p:ph type="sldNum" sz="quarter" idx="10"/>
          </p:nvPr>
        </p:nvSpPr>
        <p:spPr/>
        <p:txBody>
          <a:bodyPr/>
          <a:lstStyle/>
          <a:p>
            <a:fld id="{EC6EE63B-BF8F-4FB1-A5B8-2EFEF170E41B}" type="slidenum">
              <a:rPr lang="en-IN" smtClean="0"/>
              <a:t>29</a:t>
            </a:fld>
            <a:endParaRPr lang="en-IN"/>
          </a:p>
        </p:txBody>
      </p:sp>
    </p:spTree>
    <p:extLst>
      <p:ext uri="{BB962C8B-B14F-4D97-AF65-F5344CB8AC3E}">
        <p14:creationId xmlns:p14="http://schemas.microsoft.com/office/powerpoint/2010/main" val="15605639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Output – </a:t>
            </a:r>
          </a:p>
          <a:p>
            <a:r>
              <a:rPr lang="en-US" dirty="0" smtClean="0"/>
              <a:t>Animal makes a sound</a:t>
            </a:r>
          </a:p>
          <a:p>
            <a:r>
              <a:rPr lang="en-US" dirty="0" smtClean="0"/>
              <a:t>Dog barks</a:t>
            </a:r>
          </a:p>
          <a:p>
            <a:r>
              <a:rPr lang="en-US" dirty="0" smtClean="0"/>
              <a:t>Cat meows</a:t>
            </a:r>
          </a:p>
          <a:p>
            <a:endParaRPr lang="en-IN" dirty="0" smtClean="0"/>
          </a:p>
          <a:p>
            <a:r>
              <a:rPr lang="en-US" dirty="0" smtClean="0"/>
              <a:t>In this example, both Dog and Cat classes override the sound() method of the Animal </a:t>
            </a:r>
            <a:r>
              <a:rPr lang="en-US" dirty="0" err="1" smtClean="0"/>
              <a:t>class.The</a:t>
            </a:r>
            <a:r>
              <a:rPr lang="en-US" dirty="0" smtClean="0"/>
              <a:t> method sound() is called on different objects (</a:t>
            </a:r>
            <a:r>
              <a:rPr lang="en-US" dirty="0" err="1" smtClean="0"/>
              <a:t>myAnimal</a:t>
            </a:r>
            <a:r>
              <a:rPr lang="en-US" dirty="0" smtClean="0"/>
              <a:t>, </a:t>
            </a:r>
            <a:r>
              <a:rPr lang="en-US" dirty="0" err="1" smtClean="0"/>
              <a:t>myDog</a:t>
            </a:r>
            <a:r>
              <a:rPr lang="en-US" dirty="0" smtClean="0"/>
              <a:t>, </a:t>
            </a:r>
            <a:r>
              <a:rPr lang="en-US" dirty="0" err="1" smtClean="0"/>
              <a:t>myCat</a:t>
            </a:r>
            <a:r>
              <a:rPr lang="en-US" dirty="0" smtClean="0"/>
              <a:t>), and the version of the method that corresponds to the actual object type is called, not the reference type (demonstrating runtime polymorphism).</a:t>
            </a:r>
            <a:endParaRPr lang="en-IN" dirty="0"/>
          </a:p>
        </p:txBody>
      </p:sp>
      <p:sp>
        <p:nvSpPr>
          <p:cNvPr id="4" name="Slide Number Placeholder 3"/>
          <p:cNvSpPr>
            <a:spLocks noGrp="1"/>
          </p:cNvSpPr>
          <p:nvPr>
            <p:ph type="sldNum" sz="quarter" idx="10"/>
          </p:nvPr>
        </p:nvSpPr>
        <p:spPr/>
        <p:txBody>
          <a:bodyPr/>
          <a:lstStyle/>
          <a:p>
            <a:fld id="{EC6EE63B-BF8F-4FB1-A5B8-2EFEF170E41B}" type="slidenum">
              <a:rPr lang="en-IN" smtClean="0"/>
              <a:t>31</a:t>
            </a:fld>
            <a:endParaRPr lang="en-IN"/>
          </a:p>
        </p:txBody>
      </p:sp>
    </p:spTree>
    <p:extLst>
      <p:ext uri="{BB962C8B-B14F-4D97-AF65-F5344CB8AC3E}">
        <p14:creationId xmlns:p14="http://schemas.microsoft.com/office/powerpoint/2010/main" val="16849671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Inheritance</a:t>
            </a: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4620366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Inheritance</a:t>
            </a:r>
            <a:endParaRPr lang="en-IN" dirty="0"/>
          </a:p>
        </p:txBody>
      </p:sp>
      <p:sp>
        <p:nvSpPr>
          <p:cNvPr id="3" name="Content Placeholder 2"/>
          <p:cNvSpPr>
            <a:spLocks noGrp="1"/>
          </p:cNvSpPr>
          <p:nvPr>
            <p:ph idx="1"/>
          </p:nvPr>
        </p:nvSpPr>
        <p:spPr/>
        <p:txBody>
          <a:bodyPr>
            <a:normAutofit/>
          </a:bodyPr>
          <a:lstStyle/>
          <a:p>
            <a:r>
              <a:rPr lang="en-US" dirty="0"/>
              <a:t>Inheritance in Java is a mechanism in object-oriented programming where a class (called the </a:t>
            </a:r>
            <a:r>
              <a:rPr lang="en-US" b="1" dirty="0"/>
              <a:t>child class</a:t>
            </a:r>
            <a:r>
              <a:rPr lang="en-US" dirty="0"/>
              <a:t> or </a:t>
            </a:r>
            <a:r>
              <a:rPr lang="en-US" b="1" dirty="0"/>
              <a:t>subclass</a:t>
            </a:r>
            <a:r>
              <a:rPr lang="en-US" dirty="0"/>
              <a:t>) derives the properties and behaviors of another class (called the </a:t>
            </a:r>
            <a:r>
              <a:rPr lang="en-US" b="1" dirty="0"/>
              <a:t>parent class</a:t>
            </a:r>
            <a:r>
              <a:rPr lang="en-US" dirty="0"/>
              <a:t> or </a:t>
            </a:r>
            <a:r>
              <a:rPr lang="en-US" b="1" dirty="0"/>
              <a:t>superclass</a:t>
            </a:r>
            <a:r>
              <a:rPr lang="en-US" dirty="0" smtClean="0"/>
              <a:t>).</a:t>
            </a:r>
          </a:p>
          <a:p>
            <a:r>
              <a:rPr lang="en-US" dirty="0" smtClean="0"/>
              <a:t> </a:t>
            </a:r>
            <a:r>
              <a:rPr lang="en-US" dirty="0"/>
              <a:t>It allows the child class to reuse, modify, or enhance the functionality of the parent class, promoting </a:t>
            </a:r>
            <a:r>
              <a:rPr lang="en-US" b="1" dirty="0"/>
              <a:t>code </a:t>
            </a:r>
            <a:r>
              <a:rPr lang="en-US" b="1" dirty="0" smtClean="0"/>
              <a:t>reusability</a:t>
            </a:r>
            <a:r>
              <a:rPr lang="en-US" dirty="0" smtClean="0"/>
              <a:t>.</a:t>
            </a:r>
            <a:endParaRPr lang="en-IN" dirty="0"/>
          </a:p>
        </p:txBody>
      </p:sp>
    </p:spTree>
    <p:extLst>
      <p:ext uri="{BB962C8B-B14F-4D97-AF65-F5344CB8AC3E}">
        <p14:creationId xmlns:p14="http://schemas.microsoft.com/office/powerpoint/2010/main" val="23489198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943600"/>
          </a:xfrm>
        </p:spPr>
        <p:txBody>
          <a:bodyPr>
            <a:normAutofit fontScale="70000" lnSpcReduction="20000"/>
          </a:bodyPr>
          <a:lstStyle/>
          <a:p>
            <a:r>
              <a:rPr lang="en-IN" b="1" dirty="0"/>
              <a:t>extends Keyword in Java</a:t>
            </a:r>
            <a:r>
              <a:rPr lang="en-IN" b="1" dirty="0" smtClean="0"/>
              <a:t>:</a:t>
            </a:r>
          </a:p>
          <a:p>
            <a:r>
              <a:rPr lang="en-US" dirty="0"/>
              <a:t>A subclass can inherit the properties and methods of a superclass by using the keyword extends. This allows the subclass to reuse and enhance the functionality of the superclass.</a:t>
            </a:r>
          </a:p>
          <a:p>
            <a:r>
              <a:rPr lang="en-US" b="1" dirty="0"/>
              <a:t>Syntax:</a:t>
            </a:r>
          </a:p>
          <a:p>
            <a:pPr marL="0" indent="0">
              <a:buNone/>
            </a:pPr>
            <a:r>
              <a:rPr lang="en-US" dirty="0"/>
              <a:t>class Subclass extends Superclass {</a:t>
            </a:r>
          </a:p>
          <a:p>
            <a:pPr marL="0" indent="0">
              <a:buNone/>
            </a:pPr>
            <a:r>
              <a:rPr lang="en-US" dirty="0"/>
              <a:t>    // Additional variables and methods declarations</a:t>
            </a:r>
          </a:p>
          <a:p>
            <a:pPr marL="0" indent="0">
              <a:buNone/>
            </a:pPr>
            <a:r>
              <a:rPr lang="en-US" dirty="0"/>
              <a:t>}</a:t>
            </a:r>
          </a:p>
          <a:p>
            <a:r>
              <a:rPr lang="en-US" b="1" dirty="0"/>
              <a:t>Key Points:</a:t>
            </a:r>
          </a:p>
          <a:p>
            <a:r>
              <a:rPr lang="en-US" dirty="0"/>
              <a:t>The subclass will have:</a:t>
            </a:r>
          </a:p>
          <a:p>
            <a:pPr lvl="1"/>
            <a:r>
              <a:rPr lang="en-US" dirty="0"/>
              <a:t>Its own variables and methods.</a:t>
            </a:r>
          </a:p>
          <a:p>
            <a:pPr lvl="1"/>
            <a:r>
              <a:rPr lang="en-US" dirty="0"/>
              <a:t>Access to the non-private variables and methods of the superclass (i.e., public and protected members).</a:t>
            </a:r>
          </a:p>
          <a:p>
            <a:r>
              <a:rPr lang="en-US" b="1" dirty="0"/>
              <a:t>Private Members:</a:t>
            </a:r>
            <a:r>
              <a:rPr lang="en-US" dirty="0"/>
              <a:t> Private members of the superclass are not directly inherited by the subclass. However, they can be accessed indirectly through public or protected getter and setter methods defined in the superclass.</a:t>
            </a:r>
          </a:p>
          <a:p>
            <a:pPr marL="0" indent="0">
              <a:buNone/>
            </a:pPr>
            <a:endParaRPr lang="en-IN" dirty="0" smtClean="0"/>
          </a:p>
          <a:p>
            <a:endParaRPr lang="en-IN" dirty="0"/>
          </a:p>
        </p:txBody>
      </p:sp>
    </p:spTree>
    <p:extLst>
      <p:ext uri="{BB962C8B-B14F-4D97-AF65-F5344CB8AC3E}">
        <p14:creationId xmlns:p14="http://schemas.microsoft.com/office/powerpoint/2010/main" val="22980013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943600"/>
          </a:xfrm>
        </p:spPr>
        <p:txBody>
          <a:bodyPr/>
          <a:lstStyle/>
          <a:p>
            <a:r>
              <a:rPr lang="en-US" b="1" dirty="0"/>
              <a:t>Types of Inheritance -</a:t>
            </a:r>
          </a:p>
          <a:p>
            <a:r>
              <a:rPr lang="en-US" dirty="0"/>
              <a:t>Java supports the following types of inheritance -</a:t>
            </a:r>
            <a:br>
              <a:rPr lang="en-US" dirty="0"/>
            </a:br>
            <a:r>
              <a:rPr lang="en-US" dirty="0"/>
              <a:t>1- Single level inheritance</a:t>
            </a:r>
            <a:br>
              <a:rPr lang="en-US" dirty="0"/>
            </a:br>
            <a:r>
              <a:rPr lang="en-US" dirty="0"/>
              <a:t>2- Multi level inheritance</a:t>
            </a:r>
            <a:br>
              <a:rPr lang="en-US" dirty="0"/>
            </a:br>
            <a:r>
              <a:rPr lang="en-US" dirty="0"/>
              <a:t>3- Hierarchical inheritance</a:t>
            </a:r>
            <a:br>
              <a:rPr lang="en-US" dirty="0"/>
            </a:br>
            <a:r>
              <a:rPr lang="en-US" dirty="0"/>
              <a:t>4- Multiple Inheritance (using interface)</a:t>
            </a:r>
            <a:br>
              <a:rPr lang="en-US" dirty="0"/>
            </a:br>
            <a:r>
              <a:rPr lang="en-US" dirty="0"/>
              <a:t>5- Hybrid Inheritance</a:t>
            </a:r>
            <a:endParaRPr lang="en-IN" dirty="0"/>
          </a:p>
        </p:txBody>
      </p:sp>
    </p:spTree>
    <p:extLst>
      <p:ext uri="{BB962C8B-B14F-4D97-AF65-F5344CB8AC3E}">
        <p14:creationId xmlns:p14="http://schemas.microsoft.com/office/powerpoint/2010/main" val="21647885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943600"/>
          </a:xfrm>
        </p:spPr>
        <p:txBody>
          <a:bodyPr/>
          <a:lstStyle/>
          <a:p>
            <a:r>
              <a:rPr lang="en-US" b="1" dirty="0"/>
              <a:t>1. Single level inheritance -</a:t>
            </a:r>
          </a:p>
          <a:p>
            <a:r>
              <a:rPr lang="en-US" dirty="0"/>
              <a:t>In single level inheritance there is one subclass inheriting the properties of one super class. i.e. there is single level of inheritance.</a:t>
            </a:r>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2819400"/>
            <a:ext cx="1646237" cy="1928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647885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943600"/>
          </a:xfrm>
        </p:spPr>
        <p:txBody>
          <a:bodyPr>
            <a:normAutofit fontScale="92500" lnSpcReduction="20000"/>
          </a:bodyPr>
          <a:lstStyle/>
          <a:p>
            <a:r>
              <a:rPr lang="en-IN" dirty="0" smtClean="0"/>
              <a:t>Example 1 –</a:t>
            </a:r>
          </a:p>
          <a:p>
            <a:pPr marL="0" indent="0">
              <a:buNone/>
            </a:pPr>
            <a:r>
              <a:rPr lang="en-IN" dirty="0"/>
              <a:t>class Animal{  </a:t>
            </a:r>
          </a:p>
          <a:p>
            <a:pPr marL="0" indent="0">
              <a:buNone/>
            </a:pPr>
            <a:r>
              <a:rPr lang="en-IN" dirty="0"/>
              <a:t>void eat(){</a:t>
            </a:r>
            <a:r>
              <a:rPr lang="en-IN" dirty="0" err="1"/>
              <a:t>System.out.println</a:t>
            </a:r>
            <a:r>
              <a:rPr lang="en-IN" dirty="0"/>
              <a:t>("eating...");}  </a:t>
            </a:r>
          </a:p>
          <a:p>
            <a:pPr marL="0" indent="0">
              <a:buNone/>
            </a:pPr>
            <a:r>
              <a:rPr lang="en-IN" dirty="0"/>
              <a:t>}  </a:t>
            </a:r>
          </a:p>
          <a:p>
            <a:pPr marL="0" indent="0">
              <a:buNone/>
            </a:pPr>
            <a:r>
              <a:rPr lang="en-IN" dirty="0"/>
              <a:t>class Dog extends Animal{  </a:t>
            </a:r>
          </a:p>
          <a:p>
            <a:pPr marL="0" indent="0">
              <a:buNone/>
            </a:pPr>
            <a:r>
              <a:rPr lang="en-IN" dirty="0"/>
              <a:t>void bark(){</a:t>
            </a:r>
            <a:r>
              <a:rPr lang="en-IN" dirty="0" err="1"/>
              <a:t>System.out.println</a:t>
            </a:r>
            <a:r>
              <a:rPr lang="en-IN" dirty="0"/>
              <a:t>("barking...");}  </a:t>
            </a:r>
          </a:p>
          <a:p>
            <a:pPr marL="0" indent="0">
              <a:buNone/>
            </a:pPr>
            <a:r>
              <a:rPr lang="en-IN" dirty="0"/>
              <a:t>}  </a:t>
            </a:r>
          </a:p>
          <a:p>
            <a:pPr marL="0" indent="0">
              <a:buNone/>
            </a:pPr>
            <a:r>
              <a:rPr lang="en-IN" dirty="0"/>
              <a:t>class </a:t>
            </a:r>
            <a:r>
              <a:rPr lang="en-IN" dirty="0" err="1"/>
              <a:t>TestInheritance</a:t>
            </a:r>
            <a:r>
              <a:rPr lang="en-IN" dirty="0"/>
              <a:t>{  </a:t>
            </a:r>
          </a:p>
          <a:p>
            <a:pPr marL="0" indent="0">
              <a:buNone/>
            </a:pPr>
            <a:r>
              <a:rPr lang="en-IN" dirty="0"/>
              <a:t>public static void main(String </a:t>
            </a:r>
            <a:r>
              <a:rPr lang="en-IN" dirty="0" err="1"/>
              <a:t>args</a:t>
            </a:r>
            <a:r>
              <a:rPr lang="en-IN" dirty="0"/>
              <a:t>[]){  </a:t>
            </a:r>
          </a:p>
          <a:p>
            <a:pPr marL="0" indent="0">
              <a:buNone/>
            </a:pPr>
            <a:r>
              <a:rPr lang="en-IN" dirty="0"/>
              <a:t>Dog d=new Dog();  </a:t>
            </a:r>
          </a:p>
          <a:p>
            <a:pPr marL="0" indent="0">
              <a:buNone/>
            </a:pPr>
            <a:r>
              <a:rPr lang="en-IN" dirty="0" err="1"/>
              <a:t>d.bark</a:t>
            </a:r>
            <a:r>
              <a:rPr lang="en-IN" dirty="0"/>
              <a:t>();  </a:t>
            </a:r>
          </a:p>
          <a:p>
            <a:pPr marL="0" indent="0">
              <a:buNone/>
            </a:pPr>
            <a:r>
              <a:rPr lang="en-IN" dirty="0" err="1"/>
              <a:t>d.eat</a:t>
            </a:r>
            <a:r>
              <a:rPr lang="en-IN" dirty="0"/>
              <a:t>();  </a:t>
            </a:r>
          </a:p>
          <a:p>
            <a:pPr marL="0" indent="0">
              <a:buNone/>
            </a:pPr>
            <a:r>
              <a:rPr lang="en-IN" dirty="0"/>
              <a:t>}} </a:t>
            </a:r>
          </a:p>
        </p:txBody>
      </p:sp>
    </p:spTree>
    <p:extLst>
      <p:ext uri="{BB962C8B-B14F-4D97-AF65-F5344CB8AC3E}">
        <p14:creationId xmlns:p14="http://schemas.microsoft.com/office/powerpoint/2010/main" val="21647885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943600"/>
          </a:xfrm>
        </p:spPr>
        <p:txBody>
          <a:bodyPr>
            <a:normAutofit fontScale="40000" lnSpcReduction="20000"/>
          </a:bodyPr>
          <a:lstStyle/>
          <a:p>
            <a:r>
              <a:rPr lang="en-IN" dirty="0" smtClean="0"/>
              <a:t>Example 2 – </a:t>
            </a:r>
          </a:p>
          <a:p>
            <a:pPr marL="0" indent="0">
              <a:buNone/>
            </a:pPr>
            <a:r>
              <a:rPr lang="en-IN" dirty="0"/>
              <a:t>class Marks</a:t>
            </a:r>
          </a:p>
          <a:p>
            <a:pPr marL="0" indent="0">
              <a:buNone/>
            </a:pPr>
            <a:r>
              <a:rPr lang="en-IN" dirty="0"/>
              <a:t>{</a:t>
            </a:r>
          </a:p>
          <a:p>
            <a:pPr marL="0" indent="0">
              <a:buNone/>
            </a:pPr>
            <a:r>
              <a:rPr lang="en-IN" dirty="0"/>
              <a:t>    private </a:t>
            </a:r>
            <a:r>
              <a:rPr lang="en-IN" dirty="0" err="1"/>
              <a:t>int</a:t>
            </a:r>
            <a:r>
              <a:rPr lang="en-IN" dirty="0"/>
              <a:t> </a:t>
            </a:r>
            <a:r>
              <a:rPr lang="en-IN" dirty="0" err="1"/>
              <a:t>phy</a:t>
            </a:r>
            <a:r>
              <a:rPr lang="en-IN" dirty="0"/>
              <a:t>, </a:t>
            </a:r>
            <a:r>
              <a:rPr lang="en-IN" dirty="0" err="1"/>
              <a:t>chem</a:t>
            </a:r>
            <a:r>
              <a:rPr lang="en-IN" dirty="0"/>
              <a:t>;</a:t>
            </a:r>
          </a:p>
          <a:p>
            <a:pPr marL="0" indent="0">
              <a:buNone/>
            </a:pPr>
            <a:r>
              <a:rPr lang="en-IN" dirty="0"/>
              <a:t>    </a:t>
            </a:r>
          </a:p>
          <a:p>
            <a:pPr marL="0" indent="0">
              <a:buNone/>
            </a:pPr>
            <a:r>
              <a:rPr lang="en-IN" dirty="0"/>
              <a:t>    public void </a:t>
            </a:r>
            <a:r>
              <a:rPr lang="en-IN" dirty="0" err="1"/>
              <a:t>inputM</a:t>
            </a:r>
            <a:r>
              <a:rPr lang="en-IN" dirty="0"/>
              <a:t>()</a:t>
            </a:r>
          </a:p>
          <a:p>
            <a:pPr marL="0" indent="0">
              <a:buNone/>
            </a:pPr>
            <a:r>
              <a:rPr lang="en-IN" dirty="0"/>
              <a:t>    {</a:t>
            </a:r>
          </a:p>
          <a:p>
            <a:pPr marL="0" indent="0">
              <a:buNone/>
            </a:pPr>
            <a:r>
              <a:rPr lang="en-IN" dirty="0"/>
              <a:t>        </a:t>
            </a:r>
            <a:r>
              <a:rPr lang="en-IN" dirty="0" err="1"/>
              <a:t>phy</a:t>
            </a:r>
            <a:r>
              <a:rPr lang="en-IN" dirty="0"/>
              <a:t>  = </a:t>
            </a:r>
            <a:r>
              <a:rPr lang="en-IN" dirty="0" err="1"/>
              <a:t>Integer.parseInt</a:t>
            </a:r>
            <a:r>
              <a:rPr lang="en-IN" dirty="0"/>
              <a:t>(</a:t>
            </a:r>
            <a:r>
              <a:rPr lang="en-IN" dirty="0" err="1"/>
              <a:t>System.console</a:t>
            </a:r>
            <a:r>
              <a:rPr lang="en-IN" dirty="0"/>
              <a:t>().</a:t>
            </a:r>
            <a:r>
              <a:rPr lang="en-IN" dirty="0" err="1"/>
              <a:t>readLine</a:t>
            </a:r>
            <a:r>
              <a:rPr lang="en-IN" dirty="0"/>
              <a:t>("Enter physics marks"));</a:t>
            </a:r>
          </a:p>
          <a:p>
            <a:pPr marL="0" indent="0">
              <a:buNone/>
            </a:pPr>
            <a:r>
              <a:rPr lang="en-IN" dirty="0"/>
              <a:t>        </a:t>
            </a:r>
            <a:r>
              <a:rPr lang="en-IN" dirty="0" err="1"/>
              <a:t>chem</a:t>
            </a:r>
            <a:r>
              <a:rPr lang="en-IN" dirty="0"/>
              <a:t>  = </a:t>
            </a:r>
            <a:r>
              <a:rPr lang="en-IN" dirty="0" err="1"/>
              <a:t>Integer.parseInt</a:t>
            </a:r>
            <a:r>
              <a:rPr lang="en-IN" dirty="0"/>
              <a:t>(</a:t>
            </a:r>
            <a:r>
              <a:rPr lang="en-IN" dirty="0" err="1"/>
              <a:t>System.console</a:t>
            </a:r>
            <a:r>
              <a:rPr lang="en-IN" dirty="0"/>
              <a:t>().</a:t>
            </a:r>
            <a:r>
              <a:rPr lang="en-IN" dirty="0" err="1"/>
              <a:t>readLine</a:t>
            </a:r>
            <a:r>
              <a:rPr lang="en-IN" dirty="0"/>
              <a:t>("Enter chemistry marks"));</a:t>
            </a:r>
          </a:p>
          <a:p>
            <a:pPr marL="0" indent="0">
              <a:buNone/>
            </a:pPr>
            <a:r>
              <a:rPr lang="en-IN" dirty="0"/>
              <a:t>    }</a:t>
            </a:r>
          </a:p>
          <a:p>
            <a:pPr marL="0" indent="0">
              <a:buNone/>
            </a:pPr>
            <a:r>
              <a:rPr lang="en-IN" dirty="0"/>
              <a:t>    public void </a:t>
            </a:r>
            <a:r>
              <a:rPr lang="en-IN" dirty="0" err="1"/>
              <a:t>dispM</a:t>
            </a:r>
            <a:r>
              <a:rPr lang="en-IN" dirty="0"/>
              <a:t>()</a:t>
            </a:r>
          </a:p>
          <a:p>
            <a:pPr marL="0" indent="0">
              <a:buNone/>
            </a:pPr>
            <a:r>
              <a:rPr lang="en-IN" dirty="0"/>
              <a:t>    {</a:t>
            </a:r>
          </a:p>
          <a:p>
            <a:pPr marL="0" indent="0">
              <a:buNone/>
            </a:pPr>
            <a:r>
              <a:rPr lang="en-IN" dirty="0"/>
              <a:t>        </a:t>
            </a:r>
            <a:r>
              <a:rPr lang="en-IN" dirty="0" err="1"/>
              <a:t>System.out.println</a:t>
            </a:r>
            <a:r>
              <a:rPr lang="en-IN" dirty="0"/>
              <a:t>(</a:t>
            </a:r>
            <a:r>
              <a:rPr lang="en-IN" dirty="0" err="1"/>
              <a:t>phy</a:t>
            </a:r>
            <a:r>
              <a:rPr lang="en-IN" dirty="0"/>
              <a:t>+"  "+</a:t>
            </a:r>
            <a:r>
              <a:rPr lang="en-IN" dirty="0" err="1"/>
              <a:t>chem</a:t>
            </a:r>
            <a:r>
              <a:rPr lang="en-IN" dirty="0"/>
              <a:t>);</a:t>
            </a:r>
          </a:p>
          <a:p>
            <a:pPr marL="0" indent="0">
              <a:buNone/>
            </a:pPr>
            <a:r>
              <a:rPr lang="en-IN" dirty="0"/>
              <a:t>    }</a:t>
            </a:r>
          </a:p>
          <a:p>
            <a:pPr marL="0" indent="0">
              <a:buNone/>
            </a:pPr>
            <a:r>
              <a:rPr lang="en-IN" dirty="0"/>
              <a:t>    public Marks()</a:t>
            </a:r>
          </a:p>
          <a:p>
            <a:pPr marL="0" indent="0">
              <a:buNone/>
            </a:pPr>
            <a:r>
              <a:rPr lang="en-IN" dirty="0"/>
              <a:t>    {</a:t>
            </a:r>
          </a:p>
          <a:p>
            <a:pPr marL="0" indent="0">
              <a:buNone/>
            </a:pPr>
            <a:r>
              <a:rPr lang="en-IN" dirty="0"/>
              <a:t>        </a:t>
            </a:r>
            <a:r>
              <a:rPr lang="en-IN" dirty="0" err="1"/>
              <a:t>System.out.println</a:t>
            </a:r>
            <a:r>
              <a:rPr lang="en-IN" dirty="0"/>
              <a:t>("Marks Default");</a:t>
            </a:r>
          </a:p>
          <a:p>
            <a:pPr marL="0" indent="0">
              <a:buNone/>
            </a:pPr>
            <a:r>
              <a:rPr lang="en-IN" dirty="0"/>
              <a:t>    }</a:t>
            </a:r>
          </a:p>
          <a:p>
            <a:pPr marL="0" indent="0">
              <a:buNone/>
            </a:pPr>
            <a:r>
              <a:rPr lang="en-IN" dirty="0"/>
              <a:t>    public Marks(</a:t>
            </a:r>
            <a:r>
              <a:rPr lang="en-IN" dirty="0" err="1"/>
              <a:t>int</a:t>
            </a:r>
            <a:r>
              <a:rPr lang="en-IN" dirty="0"/>
              <a:t> p)</a:t>
            </a:r>
          </a:p>
          <a:p>
            <a:pPr marL="0" indent="0">
              <a:buNone/>
            </a:pPr>
            <a:r>
              <a:rPr lang="en-IN" dirty="0"/>
              <a:t>    {</a:t>
            </a:r>
          </a:p>
          <a:p>
            <a:pPr marL="0" indent="0">
              <a:buNone/>
            </a:pPr>
            <a:r>
              <a:rPr lang="en-IN" dirty="0"/>
              <a:t>        </a:t>
            </a:r>
            <a:r>
              <a:rPr lang="en-IN" dirty="0" err="1"/>
              <a:t>phy</a:t>
            </a:r>
            <a:r>
              <a:rPr lang="en-IN" dirty="0"/>
              <a:t> = p;</a:t>
            </a:r>
          </a:p>
          <a:p>
            <a:pPr marL="0" indent="0">
              <a:buNone/>
            </a:pPr>
            <a:r>
              <a:rPr lang="en-IN" dirty="0"/>
              <a:t>    }</a:t>
            </a:r>
          </a:p>
          <a:p>
            <a:pPr marL="0" indent="0">
              <a:buNone/>
            </a:pPr>
            <a:r>
              <a:rPr lang="en-IN" dirty="0"/>
              <a:t>    public Marks(</a:t>
            </a:r>
            <a:r>
              <a:rPr lang="en-IN" dirty="0" err="1"/>
              <a:t>int</a:t>
            </a:r>
            <a:r>
              <a:rPr lang="en-IN" dirty="0"/>
              <a:t> p, </a:t>
            </a:r>
            <a:r>
              <a:rPr lang="en-IN" dirty="0" err="1"/>
              <a:t>int</a:t>
            </a:r>
            <a:r>
              <a:rPr lang="en-IN" dirty="0"/>
              <a:t> c)</a:t>
            </a:r>
          </a:p>
          <a:p>
            <a:pPr marL="0" indent="0">
              <a:buNone/>
            </a:pPr>
            <a:r>
              <a:rPr lang="en-IN" dirty="0"/>
              <a:t>    {</a:t>
            </a:r>
          </a:p>
          <a:p>
            <a:pPr marL="0" indent="0">
              <a:buNone/>
            </a:pPr>
            <a:r>
              <a:rPr lang="en-IN" dirty="0"/>
              <a:t>        </a:t>
            </a:r>
            <a:r>
              <a:rPr lang="en-IN" dirty="0" err="1"/>
              <a:t>phy</a:t>
            </a:r>
            <a:r>
              <a:rPr lang="en-IN" dirty="0"/>
              <a:t> = p;</a:t>
            </a:r>
          </a:p>
          <a:p>
            <a:pPr marL="0" indent="0">
              <a:buNone/>
            </a:pPr>
            <a:r>
              <a:rPr lang="en-IN" dirty="0"/>
              <a:t>        </a:t>
            </a:r>
            <a:r>
              <a:rPr lang="en-IN" dirty="0" err="1"/>
              <a:t>chem</a:t>
            </a:r>
            <a:r>
              <a:rPr lang="en-IN" dirty="0"/>
              <a:t> = c;</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21647885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943600"/>
          </a:xfrm>
        </p:spPr>
        <p:txBody>
          <a:bodyPr>
            <a:normAutofit fontScale="25000" lnSpcReduction="20000"/>
          </a:bodyPr>
          <a:lstStyle/>
          <a:p>
            <a:pPr marL="0" indent="0">
              <a:buNone/>
            </a:pPr>
            <a:r>
              <a:rPr lang="en-IN" dirty="0"/>
              <a:t>class Student extends Marks</a:t>
            </a:r>
          </a:p>
          <a:p>
            <a:pPr marL="0" indent="0">
              <a:buNone/>
            </a:pPr>
            <a:r>
              <a:rPr lang="en-IN" dirty="0"/>
              <a:t>{</a:t>
            </a:r>
          </a:p>
          <a:p>
            <a:pPr marL="0" indent="0">
              <a:buNone/>
            </a:pPr>
            <a:r>
              <a:rPr lang="en-IN" dirty="0"/>
              <a:t>    private </a:t>
            </a:r>
            <a:r>
              <a:rPr lang="en-IN" dirty="0" err="1"/>
              <a:t>int</a:t>
            </a:r>
            <a:r>
              <a:rPr lang="en-IN" dirty="0"/>
              <a:t> roll;</a:t>
            </a:r>
          </a:p>
          <a:p>
            <a:pPr marL="0" indent="0">
              <a:buNone/>
            </a:pPr>
            <a:r>
              <a:rPr lang="en-IN" dirty="0"/>
              <a:t>    private String name;</a:t>
            </a:r>
          </a:p>
          <a:p>
            <a:pPr marL="0" indent="0">
              <a:buNone/>
            </a:pPr>
            <a:r>
              <a:rPr lang="en-IN" dirty="0"/>
              <a:t>    </a:t>
            </a:r>
          </a:p>
          <a:p>
            <a:pPr marL="0" indent="0">
              <a:buNone/>
            </a:pPr>
            <a:r>
              <a:rPr lang="en-IN" dirty="0"/>
              <a:t>    public void </a:t>
            </a:r>
            <a:r>
              <a:rPr lang="en-IN" dirty="0" err="1"/>
              <a:t>inputS</a:t>
            </a:r>
            <a:r>
              <a:rPr lang="en-IN" dirty="0"/>
              <a:t>()</a:t>
            </a:r>
          </a:p>
          <a:p>
            <a:pPr marL="0" indent="0">
              <a:buNone/>
            </a:pPr>
            <a:r>
              <a:rPr lang="en-IN" dirty="0"/>
              <a:t>    {</a:t>
            </a:r>
          </a:p>
          <a:p>
            <a:pPr marL="0" indent="0">
              <a:buNone/>
            </a:pPr>
            <a:r>
              <a:rPr lang="en-IN" dirty="0"/>
              <a:t>        roll = </a:t>
            </a:r>
            <a:r>
              <a:rPr lang="en-IN" dirty="0" err="1"/>
              <a:t>Integer.parseInt</a:t>
            </a:r>
            <a:r>
              <a:rPr lang="en-IN" dirty="0"/>
              <a:t>(</a:t>
            </a:r>
            <a:r>
              <a:rPr lang="en-IN" dirty="0" err="1"/>
              <a:t>System.console</a:t>
            </a:r>
            <a:r>
              <a:rPr lang="en-IN" dirty="0"/>
              <a:t>().</a:t>
            </a:r>
            <a:r>
              <a:rPr lang="en-IN" dirty="0" err="1"/>
              <a:t>readLine</a:t>
            </a:r>
            <a:r>
              <a:rPr lang="en-IN" dirty="0"/>
              <a:t>("Enter roll"));</a:t>
            </a:r>
          </a:p>
          <a:p>
            <a:pPr marL="0" indent="0">
              <a:buNone/>
            </a:pPr>
            <a:r>
              <a:rPr lang="en-IN" dirty="0"/>
              <a:t>        name = </a:t>
            </a:r>
            <a:r>
              <a:rPr lang="en-IN" dirty="0" err="1"/>
              <a:t>System.console</a:t>
            </a:r>
            <a:r>
              <a:rPr lang="en-IN" dirty="0"/>
              <a:t>().</a:t>
            </a:r>
            <a:r>
              <a:rPr lang="en-IN" dirty="0" err="1"/>
              <a:t>readLine</a:t>
            </a:r>
            <a:r>
              <a:rPr lang="en-IN" dirty="0"/>
              <a:t>();</a:t>
            </a:r>
          </a:p>
          <a:p>
            <a:pPr marL="0" indent="0">
              <a:buNone/>
            </a:pPr>
            <a:r>
              <a:rPr lang="en-IN" dirty="0"/>
              <a:t>        </a:t>
            </a:r>
            <a:r>
              <a:rPr lang="en-IN" dirty="0" err="1"/>
              <a:t>super.inputM</a:t>
            </a:r>
            <a:r>
              <a:rPr lang="en-IN" dirty="0"/>
              <a:t>();</a:t>
            </a:r>
          </a:p>
          <a:p>
            <a:pPr marL="0" indent="0">
              <a:buNone/>
            </a:pPr>
            <a:r>
              <a:rPr lang="en-IN" dirty="0"/>
              <a:t>    }</a:t>
            </a:r>
          </a:p>
          <a:p>
            <a:pPr marL="0" indent="0">
              <a:buNone/>
            </a:pPr>
            <a:r>
              <a:rPr lang="en-IN" dirty="0"/>
              <a:t>    public void </a:t>
            </a:r>
            <a:r>
              <a:rPr lang="en-IN" dirty="0" err="1"/>
              <a:t>dispS</a:t>
            </a:r>
            <a:r>
              <a:rPr lang="en-IN" dirty="0"/>
              <a:t>()</a:t>
            </a:r>
          </a:p>
          <a:p>
            <a:pPr marL="0" indent="0">
              <a:buNone/>
            </a:pPr>
            <a:r>
              <a:rPr lang="en-IN" dirty="0"/>
              <a:t>    {</a:t>
            </a:r>
          </a:p>
          <a:p>
            <a:pPr marL="0" indent="0">
              <a:buNone/>
            </a:pPr>
            <a:r>
              <a:rPr lang="en-IN" dirty="0"/>
              <a:t>        </a:t>
            </a:r>
            <a:r>
              <a:rPr lang="en-IN" dirty="0" err="1"/>
              <a:t>System.out.println</a:t>
            </a:r>
            <a:r>
              <a:rPr lang="en-IN" dirty="0"/>
              <a:t>(roll+ "  "+ name);</a:t>
            </a:r>
          </a:p>
          <a:p>
            <a:pPr marL="0" indent="0">
              <a:buNone/>
            </a:pPr>
            <a:r>
              <a:rPr lang="en-IN" dirty="0"/>
              <a:t>        </a:t>
            </a:r>
            <a:r>
              <a:rPr lang="en-IN" dirty="0" err="1"/>
              <a:t>super.dispM</a:t>
            </a:r>
            <a:r>
              <a:rPr lang="en-IN" dirty="0"/>
              <a:t>();</a:t>
            </a:r>
          </a:p>
          <a:p>
            <a:pPr marL="0" indent="0">
              <a:buNone/>
            </a:pPr>
            <a:r>
              <a:rPr lang="en-IN" dirty="0"/>
              <a:t>    }</a:t>
            </a:r>
          </a:p>
          <a:p>
            <a:pPr marL="0" indent="0">
              <a:buNone/>
            </a:pPr>
            <a:r>
              <a:rPr lang="en-IN" dirty="0"/>
              <a:t>    public Student()</a:t>
            </a:r>
          </a:p>
          <a:p>
            <a:pPr marL="0" indent="0">
              <a:buNone/>
            </a:pPr>
            <a:r>
              <a:rPr lang="en-IN" dirty="0"/>
              <a:t>    {</a:t>
            </a:r>
          </a:p>
          <a:p>
            <a:pPr marL="0" indent="0">
              <a:buNone/>
            </a:pPr>
            <a:r>
              <a:rPr lang="en-IN" dirty="0"/>
              <a:t>        </a:t>
            </a:r>
            <a:r>
              <a:rPr lang="en-IN" dirty="0" err="1"/>
              <a:t>System.out.println</a:t>
            </a:r>
            <a:r>
              <a:rPr lang="en-IN" dirty="0"/>
              <a:t>("Student Default");</a:t>
            </a:r>
          </a:p>
          <a:p>
            <a:pPr marL="0" indent="0">
              <a:buNone/>
            </a:pPr>
            <a:r>
              <a:rPr lang="en-IN" dirty="0"/>
              <a:t>    }</a:t>
            </a:r>
          </a:p>
          <a:p>
            <a:pPr marL="0" indent="0">
              <a:buNone/>
            </a:pPr>
            <a:r>
              <a:rPr lang="en-IN" dirty="0"/>
              <a:t>    public Student(</a:t>
            </a:r>
            <a:r>
              <a:rPr lang="en-IN" dirty="0" err="1"/>
              <a:t>int</a:t>
            </a:r>
            <a:r>
              <a:rPr lang="en-IN" dirty="0"/>
              <a:t> r)</a:t>
            </a:r>
          </a:p>
          <a:p>
            <a:pPr marL="0" indent="0">
              <a:buNone/>
            </a:pPr>
            <a:r>
              <a:rPr lang="en-IN" dirty="0"/>
              <a:t>    {</a:t>
            </a:r>
          </a:p>
          <a:p>
            <a:pPr marL="0" indent="0">
              <a:buNone/>
            </a:pPr>
            <a:r>
              <a:rPr lang="en-IN" dirty="0"/>
              <a:t>        roll = r;</a:t>
            </a:r>
          </a:p>
          <a:p>
            <a:pPr marL="0" indent="0">
              <a:buNone/>
            </a:pPr>
            <a:r>
              <a:rPr lang="en-IN" dirty="0"/>
              <a:t>    }</a:t>
            </a:r>
          </a:p>
          <a:p>
            <a:pPr marL="0" indent="0">
              <a:buNone/>
            </a:pPr>
            <a:r>
              <a:rPr lang="en-IN" dirty="0"/>
              <a:t>    public Student(</a:t>
            </a:r>
            <a:r>
              <a:rPr lang="en-IN" dirty="0" err="1"/>
              <a:t>int</a:t>
            </a:r>
            <a:r>
              <a:rPr lang="en-IN" dirty="0"/>
              <a:t> r, String n)</a:t>
            </a:r>
          </a:p>
          <a:p>
            <a:pPr marL="0" indent="0">
              <a:buNone/>
            </a:pPr>
            <a:r>
              <a:rPr lang="en-IN" dirty="0"/>
              <a:t>    {</a:t>
            </a:r>
          </a:p>
          <a:p>
            <a:pPr marL="0" indent="0">
              <a:buNone/>
            </a:pPr>
            <a:r>
              <a:rPr lang="en-IN" dirty="0"/>
              <a:t>        roll = r;</a:t>
            </a:r>
          </a:p>
          <a:p>
            <a:pPr marL="0" indent="0">
              <a:buNone/>
            </a:pPr>
            <a:r>
              <a:rPr lang="en-IN" dirty="0"/>
              <a:t>        name = n;</a:t>
            </a:r>
          </a:p>
          <a:p>
            <a:pPr marL="0" indent="0">
              <a:buNone/>
            </a:pPr>
            <a:r>
              <a:rPr lang="en-IN" dirty="0"/>
              <a:t>    }</a:t>
            </a:r>
          </a:p>
          <a:p>
            <a:pPr marL="0" indent="0">
              <a:buNone/>
            </a:pPr>
            <a:r>
              <a:rPr lang="en-IN" dirty="0"/>
              <a:t>    public Student(</a:t>
            </a:r>
            <a:r>
              <a:rPr lang="en-IN" dirty="0" err="1"/>
              <a:t>int</a:t>
            </a:r>
            <a:r>
              <a:rPr lang="en-IN" dirty="0"/>
              <a:t> r, String n, </a:t>
            </a:r>
            <a:r>
              <a:rPr lang="en-IN" dirty="0" err="1"/>
              <a:t>int</a:t>
            </a:r>
            <a:r>
              <a:rPr lang="en-IN" dirty="0"/>
              <a:t> p, </a:t>
            </a:r>
            <a:r>
              <a:rPr lang="en-IN" dirty="0" err="1"/>
              <a:t>int</a:t>
            </a:r>
            <a:r>
              <a:rPr lang="en-IN" dirty="0"/>
              <a:t> c)</a:t>
            </a:r>
          </a:p>
          <a:p>
            <a:pPr marL="0" indent="0">
              <a:buNone/>
            </a:pPr>
            <a:r>
              <a:rPr lang="en-IN" dirty="0"/>
              <a:t>    {</a:t>
            </a:r>
          </a:p>
          <a:p>
            <a:pPr marL="0" indent="0">
              <a:buNone/>
            </a:pPr>
            <a:r>
              <a:rPr lang="en-IN" dirty="0"/>
              <a:t>        super(p, c);</a:t>
            </a:r>
          </a:p>
          <a:p>
            <a:pPr marL="0" indent="0">
              <a:buNone/>
            </a:pPr>
            <a:r>
              <a:rPr lang="en-IN" dirty="0"/>
              <a:t>        roll = r;</a:t>
            </a:r>
          </a:p>
          <a:p>
            <a:pPr marL="0" indent="0">
              <a:buNone/>
            </a:pPr>
            <a:r>
              <a:rPr lang="en-IN" dirty="0"/>
              <a:t>        name = n;</a:t>
            </a:r>
          </a:p>
          <a:p>
            <a:pPr marL="0" indent="0">
              <a:buNone/>
            </a:pPr>
            <a:r>
              <a:rPr lang="en-IN" dirty="0"/>
              <a:t>    }</a:t>
            </a:r>
          </a:p>
          <a:p>
            <a:pPr marL="0" indent="0">
              <a:buNone/>
            </a:pPr>
            <a:r>
              <a:rPr lang="en-IN" dirty="0"/>
              <a:t>    </a:t>
            </a:r>
          </a:p>
          <a:p>
            <a:pPr marL="0" indent="0">
              <a:buNone/>
            </a:pPr>
            <a:r>
              <a:rPr lang="en-IN" dirty="0"/>
              <a:t>}</a:t>
            </a:r>
          </a:p>
          <a:p>
            <a:pPr marL="0" indent="0">
              <a:buNone/>
            </a:pPr>
            <a:endParaRPr lang="en-IN" dirty="0"/>
          </a:p>
          <a:p>
            <a:pPr marL="0" indent="0">
              <a:buNone/>
            </a:pPr>
            <a:r>
              <a:rPr lang="en-IN" dirty="0"/>
              <a:t>public class Demo</a:t>
            </a:r>
          </a:p>
          <a:p>
            <a:pPr marL="0" indent="0">
              <a:buNone/>
            </a:pPr>
            <a:r>
              <a:rPr lang="en-IN" dirty="0"/>
              <a:t>{</a:t>
            </a:r>
          </a:p>
          <a:p>
            <a:pPr marL="0" indent="0">
              <a:buNone/>
            </a:pPr>
            <a:r>
              <a:rPr lang="en-IN" dirty="0"/>
              <a:t>    public static void main(String[] </a:t>
            </a:r>
            <a:r>
              <a:rPr lang="en-IN" dirty="0" err="1"/>
              <a:t>args</a:t>
            </a:r>
            <a:r>
              <a:rPr lang="en-IN" dirty="0"/>
              <a:t>) </a:t>
            </a:r>
          </a:p>
          <a:p>
            <a:pPr marL="0" indent="0">
              <a:buNone/>
            </a:pPr>
            <a:r>
              <a:rPr lang="en-IN" dirty="0"/>
              <a:t>    {</a:t>
            </a:r>
          </a:p>
          <a:p>
            <a:pPr marL="0" indent="0">
              <a:buNone/>
            </a:pPr>
            <a:r>
              <a:rPr lang="en-IN" dirty="0"/>
              <a:t>        Student s1 = new Student();</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21647885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943600"/>
          </a:xfrm>
        </p:spPr>
        <p:txBody>
          <a:bodyPr>
            <a:normAutofit fontScale="92500" lnSpcReduction="10000"/>
          </a:bodyPr>
          <a:lstStyle/>
          <a:p>
            <a:r>
              <a:rPr lang="en-US" dirty="0"/>
              <a:t>Program </a:t>
            </a:r>
            <a:r>
              <a:rPr lang="en-US" dirty="0" err="1"/>
              <a:t>Desciption</a:t>
            </a:r>
            <a:r>
              <a:rPr lang="en-US" dirty="0"/>
              <a:t> -</a:t>
            </a:r>
          </a:p>
          <a:p>
            <a:r>
              <a:rPr lang="en-US" dirty="0"/>
              <a:t>Program defines a super class named </a:t>
            </a:r>
            <a:r>
              <a:rPr lang="en-US" b="1" dirty="0"/>
              <a:t>Marks</a:t>
            </a:r>
            <a:r>
              <a:rPr lang="en-US" dirty="0"/>
              <a:t> that is inheriting by sub class named </a:t>
            </a:r>
            <a:r>
              <a:rPr lang="en-US" b="1" dirty="0"/>
              <a:t>Student</a:t>
            </a:r>
            <a:r>
              <a:rPr lang="en-US" dirty="0"/>
              <a:t>. So </a:t>
            </a:r>
            <a:r>
              <a:rPr lang="en-US" b="1" dirty="0"/>
              <a:t>Student class</a:t>
            </a:r>
            <a:r>
              <a:rPr lang="en-US" dirty="0"/>
              <a:t>, in addition to its own variables and methods, also has </a:t>
            </a:r>
            <a:r>
              <a:rPr lang="en-US" b="1" dirty="0"/>
              <a:t>Marks class</a:t>
            </a:r>
            <a:r>
              <a:rPr lang="en-US" dirty="0"/>
              <a:t> variables and methods (which are not private, as we already know private members cannot be inherited).</a:t>
            </a:r>
            <a:br>
              <a:rPr lang="en-US" dirty="0"/>
            </a:br>
            <a:r>
              <a:rPr lang="en-US" dirty="0"/>
              <a:t>In fact in our example </a:t>
            </a:r>
            <a:r>
              <a:rPr lang="en-US" b="1" dirty="0"/>
              <a:t>Student class</a:t>
            </a:r>
            <a:r>
              <a:rPr lang="en-US" dirty="0"/>
              <a:t> will not have any variable of Marks class because all variables of Marks class are private. Only methods of Marks class will be available there.</a:t>
            </a:r>
            <a:br>
              <a:rPr lang="en-US" dirty="0"/>
            </a:br>
            <a:r>
              <a:rPr lang="en-US" dirty="0"/>
              <a:t>Note the use of </a:t>
            </a:r>
            <a:r>
              <a:rPr lang="en-US" b="1" dirty="0"/>
              <a:t>super keyword</a:t>
            </a:r>
            <a:r>
              <a:rPr lang="en-US" dirty="0"/>
              <a:t> within methods of Student class.</a:t>
            </a:r>
            <a:endParaRPr lang="en-IN" dirty="0"/>
          </a:p>
        </p:txBody>
      </p:sp>
    </p:spTree>
    <p:extLst>
      <p:ext uri="{BB962C8B-B14F-4D97-AF65-F5344CB8AC3E}">
        <p14:creationId xmlns:p14="http://schemas.microsoft.com/office/powerpoint/2010/main" val="21647885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943600"/>
          </a:xfrm>
        </p:spPr>
        <p:txBody>
          <a:bodyPr>
            <a:normAutofit fontScale="70000" lnSpcReduction="20000"/>
          </a:bodyPr>
          <a:lstStyle/>
          <a:p>
            <a:r>
              <a:rPr lang="en-US" b="1" dirty="0"/>
              <a:t>super keyword -</a:t>
            </a:r>
          </a:p>
          <a:p>
            <a:r>
              <a:rPr lang="en-US" dirty="0"/>
              <a:t>super is used to call the super class methods and constructors within subclass.</a:t>
            </a:r>
          </a:p>
          <a:p>
            <a:r>
              <a:rPr lang="en-US" dirty="0"/>
              <a:t>Always remember that constructors do not inherit. We can only call them in sub class constructors using super keyword. You should remember the following points while calling parent class constructor -</a:t>
            </a:r>
          </a:p>
          <a:p>
            <a:r>
              <a:rPr lang="en-US" dirty="0"/>
              <a:t>1- super() should be the first statement within constructor. Where as </a:t>
            </a:r>
            <a:r>
              <a:rPr lang="en-US" dirty="0" smtClean="0"/>
              <a:t>within </a:t>
            </a:r>
            <a:r>
              <a:rPr lang="en-US" dirty="0"/>
              <a:t>methods this is not the compulsion, super can be anywhere.</a:t>
            </a:r>
          </a:p>
          <a:p>
            <a:r>
              <a:rPr lang="en-US" dirty="0"/>
              <a:t>2- super() should match the order and type of variables passed in the constructor that we want to call. Now consider output of the program. When the statement</a:t>
            </a:r>
          </a:p>
          <a:p>
            <a:r>
              <a:rPr lang="en-US" dirty="0"/>
              <a:t>Student s1 = new Student();</a:t>
            </a:r>
          </a:p>
          <a:p>
            <a:r>
              <a:rPr lang="en-US" dirty="0"/>
              <a:t>gets executed , we already know it is going to call default constructor of Student class. And always remember that if we have not defined any super() within any constructor in case of subclass, then there will be a hidden super() that make call to parent class default constructor. i.e.</a:t>
            </a:r>
            <a:endParaRPr lang="en-IN" dirty="0"/>
          </a:p>
        </p:txBody>
      </p:sp>
    </p:spTree>
    <p:extLst>
      <p:ext uri="{BB962C8B-B14F-4D97-AF65-F5344CB8AC3E}">
        <p14:creationId xmlns:p14="http://schemas.microsoft.com/office/powerpoint/2010/main" val="2164788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943600"/>
          </a:xfrm>
        </p:spPr>
        <p:txBody>
          <a:bodyPr>
            <a:normAutofit fontScale="62500" lnSpcReduction="20000"/>
          </a:bodyPr>
          <a:lstStyle/>
          <a:p>
            <a:pPr marL="0" indent="0">
              <a:buNone/>
            </a:pPr>
            <a:r>
              <a:rPr lang="en-US" dirty="0"/>
              <a:t>public Student()</a:t>
            </a:r>
          </a:p>
          <a:p>
            <a:pPr marL="0" indent="0">
              <a:buNone/>
            </a:pPr>
            <a:r>
              <a:rPr lang="en-US" dirty="0"/>
              <a:t> {</a:t>
            </a:r>
          </a:p>
          <a:p>
            <a:pPr marL="0" indent="0">
              <a:buNone/>
            </a:pPr>
            <a:r>
              <a:rPr lang="en-US" dirty="0"/>
              <a:t>   super();     // this statement will be hidden</a:t>
            </a:r>
          </a:p>
          <a:p>
            <a:pPr marL="0" indent="0">
              <a:buNone/>
            </a:pPr>
            <a:r>
              <a:rPr lang="en-US" dirty="0"/>
              <a:t>   </a:t>
            </a:r>
            <a:r>
              <a:rPr lang="en-US" dirty="0" err="1"/>
              <a:t>System.out.println</a:t>
            </a:r>
            <a:r>
              <a:rPr lang="en-US" dirty="0"/>
              <a:t>("Student Default");</a:t>
            </a:r>
          </a:p>
          <a:p>
            <a:pPr marL="0" indent="0">
              <a:buNone/>
            </a:pPr>
            <a:r>
              <a:rPr lang="en-US" dirty="0"/>
              <a:t> } </a:t>
            </a:r>
            <a:endParaRPr lang="en-US" dirty="0" smtClean="0"/>
          </a:p>
          <a:p>
            <a:r>
              <a:rPr lang="en-US" dirty="0"/>
              <a:t>When super() will get executed, compiler will look for a constructor that is not having any parameters (i.e. default constructor) and that constructor gets executed first and print 'Marks Default' on output screen, then it comes back and print 'Student Default'.</a:t>
            </a:r>
          </a:p>
          <a:p>
            <a:r>
              <a:rPr lang="en-US" dirty="0"/>
              <a:t>Now consider the second variation of above program, we are going to change only main class (Demo) as follows -</a:t>
            </a:r>
          </a:p>
          <a:p>
            <a:pPr marL="0" indent="0">
              <a:buNone/>
            </a:pPr>
            <a:r>
              <a:rPr lang="en-US" dirty="0"/>
              <a:t>public class Demo</a:t>
            </a:r>
          </a:p>
          <a:p>
            <a:pPr marL="0" indent="0">
              <a:buNone/>
            </a:pPr>
            <a:r>
              <a:rPr lang="en-US" dirty="0"/>
              <a:t>{</a:t>
            </a:r>
          </a:p>
          <a:p>
            <a:pPr marL="0" indent="0">
              <a:buNone/>
            </a:pPr>
            <a:r>
              <a:rPr lang="en-US" dirty="0"/>
              <a:t>    public static void main(String[] </a:t>
            </a:r>
            <a:r>
              <a:rPr lang="en-US" dirty="0" err="1"/>
              <a:t>args</a:t>
            </a:r>
            <a:r>
              <a:rPr lang="en-US" dirty="0"/>
              <a:t>) </a:t>
            </a:r>
          </a:p>
          <a:p>
            <a:pPr marL="0" indent="0">
              <a:buNone/>
            </a:pPr>
            <a:r>
              <a:rPr lang="en-US" dirty="0"/>
              <a:t>    {</a:t>
            </a:r>
          </a:p>
          <a:p>
            <a:pPr marL="0" indent="0">
              <a:buNone/>
            </a:pPr>
            <a:r>
              <a:rPr lang="en-US" dirty="0"/>
              <a:t>        Student s1 = new Student(1, "John", 80, 90);</a:t>
            </a:r>
          </a:p>
          <a:p>
            <a:pPr marL="0" indent="0">
              <a:buNone/>
            </a:pPr>
            <a:r>
              <a:rPr lang="en-US" dirty="0"/>
              <a:t>         s1.dispS();</a:t>
            </a:r>
          </a:p>
          <a:p>
            <a:pPr marL="0" indent="0">
              <a:buNone/>
            </a:pPr>
            <a:r>
              <a:rPr lang="en-US" dirty="0"/>
              <a:t>    }</a:t>
            </a:r>
          </a:p>
          <a:p>
            <a:pPr marL="0" indent="0">
              <a:buNone/>
            </a:pPr>
            <a:r>
              <a:rPr lang="en-US" dirty="0"/>
              <a:t>}         </a:t>
            </a:r>
          </a:p>
          <a:p>
            <a:pPr marL="0" indent="0">
              <a:buNone/>
            </a:pPr>
            <a:r>
              <a:rPr lang="en-US" dirty="0"/>
              <a:t> </a:t>
            </a:r>
            <a:endParaRPr lang="en-IN" dirty="0"/>
          </a:p>
        </p:txBody>
      </p:sp>
    </p:spTree>
    <p:extLst>
      <p:ext uri="{BB962C8B-B14F-4D97-AF65-F5344CB8AC3E}">
        <p14:creationId xmlns:p14="http://schemas.microsoft.com/office/powerpoint/2010/main" val="39347686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943600"/>
          </a:xfrm>
        </p:spPr>
        <p:txBody>
          <a:bodyPr>
            <a:normAutofit fontScale="77500" lnSpcReduction="20000"/>
          </a:bodyPr>
          <a:lstStyle/>
          <a:p>
            <a:r>
              <a:rPr lang="en-US" dirty="0"/>
              <a:t>In this case when the statement</a:t>
            </a:r>
          </a:p>
          <a:p>
            <a:r>
              <a:rPr lang="en-US" dirty="0"/>
              <a:t>Student s1 = new Student(1, "John", 80, 90);</a:t>
            </a:r>
          </a:p>
          <a:p>
            <a:r>
              <a:rPr lang="en-US" dirty="0"/>
              <a:t>gets executed, compiler will look for a constructor in Student class that is having 4 parameters, first one of integer type, second one of String type, third and fourth are of integer types. It finds it there and executes it.</a:t>
            </a:r>
          </a:p>
          <a:p>
            <a:r>
              <a:rPr lang="en-US" dirty="0"/>
              <a:t>The first statement in constructor is super(p, c); it causes the compiler to look for a constructor in super class (Marks) for a constructor that is having two </a:t>
            </a:r>
            <a:r>
              <a:rPr lang="en-US" dirty="0" err="1"/>
              <a:t>int</a:t>
            </a:r>
            <a:r>
              <a:rPr lang="en-US" dirty="0"/>
              <a:t> type parameters and execute that constructor. This constructor will set the value of </a:t>
            </a:r>
            <a:r>
              <a:rPr lang="en-US" dirty="0" err="1"/>
              <a:t>phy</a:t>
            </a:r>
            <a:r>
              <a:rPr lang="en-US" dirty="0"/>
              <a:t> and </a:t>
            </a:r>
            <a:r>
              <a:rPr lang="en-US" dirty="0" err="1"/>
              <a:t>chem</a:t>
            </a:r>
            <a:r>
              <a:rPr lang="en-US" dirty="0"/>
              <a:t> variables at 80 and 90. Then it comes back to Student constructor and set the values of roll and name to 1 and John respectively.</a:t>
            </a:r>
          </a:p>
          <a:p>
            <a:r>
              <a:rPr lang="en-US" dirty="0"/>
              <a:t>The statement s1.disp(); gets executed and causes the </a:t>
            </a:r>
            <a:r>
              <a:rPr lang="en-US" dirty="0" err="1"/>
              <a:t>dispS</a:t>
            </a:r>
            <a:r>
              <a:rPr lang="en-US" dirty="0"/>
              <a:t>() method of Student class to call. This will first print the value of roll and name and then call </a:t>
            </a:r>
            <a:r>
              <a:rPr lang="en-US" dirty="0" err="1"/>
              <a:t>dispM</a:t>
            </a:r>
            <a:r>
              <a:rPr lang="en-US" dirty="0"/>
              <a:t>() method of Marks class and that will print the value of </a:t>
            </a:r>
            <a:r>
              <a:rPr lang="en-US" dirty="0" err="1"/>
              <a:t>phy</a:t>
            </a:r>
            <a:r>
              <a:rPr lang="en-US" dirty="0"/>
              <a:t> and chem.</a:t>
            </a:r>
            <a:endParaRPr lang="en-IN" dirty="0"/>
          </a:p>
        </p:txBody>
      </p:sp>
    </p:spTree>
    <p:extLst>
      <p:ext uri="{BB962C8B-B14F-4D97-AF65-F5344CB8AC3E}">
        <p14:creationId xmlns:p14="http://schemas.microsoft.com/office/powerpoint/2010/main" val="39347686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943600"/>
          </a:xfrm>
        </p:spPr>
        <p:txBody>
          <a:bodyPr>
            <a:normAutofit/>
          </a:bodyPr>
          <a:lstStyle/>
          <a:p>
            <a:r>
              <a:rPr lang="en-US" sz="2800" b="1" dirty="0"/>
              <a:t>Multilevel Inheritance</a:t>
            </a:r>
          </a:p>
          <a:p>
            <a:r>
              <a:rPr lang="en-US" sz="2800" dirty="0"/>
              <a:t>Multilevel inheritance involve more than two classes. In multilevel inheritance a sub class will be inheriting the properties of its super class and that super class will be inheriting the properties of its super class and so on.</a:t>
            </a:r>
            <a:endParaRPr lang="en-IN" sz="28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1400" y="2590800"/>
            <a:ext cx="1692275" cy="3148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347686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943600"/>
          </a:xfrm>
        </p:spPr>
        <p:txBody>
          <a:bodyPr>
            <a:normAutofit fontScale="40000" lnSpcReduction="20000"/>
          </a:bodyPr>
          <a:lstStyle/>
          <a:p>
            <a:r>
              <a:rPr lang="en-US" dirty="0"/>
              <a:t>Example -</a:t>
            </a:r>
          </a:p>
          <a:p>
            <a:r>
              <a:rPr lang="en-US" dirty="0"/>
              <a:t>In the below example class A will be Marks class, class B will be Student class and class C will be Comment class</a:t>
            </a:r>
            <a:r>
              <a:rPr lang="en-US" dirty="0" smtClean="0"/>
              <a:t>.</a:t>
            </a:r>
          </a:p>
          <a:p>
            <a:pPr marL="0" indent="0">
              <a:buNone/>
            </a:pPr>
            <a:r>
              <a:rPr lang="en-IN" dirty="0"/>
              <a:t>class Marks</a:t>
            </a:r>
          </a:p>
          <a:p>
            <a:pPr marL="0" indent="0">
              <a:buNone/>
            </a:pPr>
            <a:r>
              <a:rPr lang="en-IN" dirty="0"/>
              <a:t>{</a:t>
            </a:r>
          </a:p>
          <a:p>
            <a:pPr marL="0" indent="0">
              <a:buNone/>
            </a:pPr>
            <a:r>
              <a:rPr lang="en-IN" dirty="0"/>
              <a:t>    private </a:t>
            </a:r>
            <a:r>
              <a:rPr lang="en-IN" dirty="0" err="1"/>
              <a:t>int</a:t>
            </a:r>
            <a:r>
              <a:rPr lang="en-IN" dirty="0"/>
              <a:t> </a:t>
            </a:r>
            <a:r>
              <a:rPr lang="en-IN" dirty="0" err="1"/>
              <a:t>phy</a:t>
            </a:r>
            <a:r>
              <a:rPr lang="en-IN" dirty="0"/>
              <a:t>, </a:t>
            </a:r>
            <a:r>
              <a:rPr lang="en-IN" dirty="0" err="1"/>
              <a:t>chem</a:t>
            </a:r>
            <a:r>
              <a:rPr lang="en-IN" dirty="0"/>
              <a:t>;</a:t>
            </a:r>
          </a:p>
          <a:p>
            <a:pPr marL="0" indent="0">
              <a:buNone/>
            </a:pPr>
            <a:r>
              <a:rPr lang="en-IN" dirty="0"/>
              <a:t>    </a:t>
            </a:r>
          </a:p>
          <a:p>
            <a:pPr marL="0" indent="0">
              <a:buNone/>
            </a:pPr>
            <a:r>
              <a:rPr lang="en-IN" dirty="0"/>
              <a:t>    public void </a:t>
            </a:r>
            <a:r>
              <a:rPr lang="en-IN" dirty="0" err="1"/>
              <a:t>inputM</a:t>
            </a:r>
            <a:r>
              <a:rPr lang="en-IN" dirty="0"/>
              <a:t>()</a:t>
            </a:r>
          </a:p>
          <a:p>
            <a:pPr marL="0" indent="0">
              <a:buNone/>
            </a:pPr>
            <a:r>
              <a:rPr lang="en-IN" dirty="0"/>
              <a:t>    {</a:t>
            </a:r>
          </a:p>
          <a:p>
            <a:pPr marL="0" indent="0">
              <a:buNone/>
            </a:pPr>
            <a:r>
              <a:rPr lang="en-IN" dirty="0"/>
              <a:t>        </a:t>
            </a:r>
            <a:r>
              <a:rPr lang="en-IN" dirty="0" err="1"/>
              <a:t>phy</a:t>
            </a:r>
            <a:r>
              <a:rPr lang="en-IN" dirty="0"/>
              <a:t>  = </a:t>
            </a:r>
            <a:r>
              <a:rPr lang="en-IN" dirty="0" err="1"/>
              <a:t>Integer.parseInt</a:t>
            </a:r>
            <a:r>
              <a:rPr lang="en-IN" dirty="0"/>
              <a:t>(</a:t>
            </a:r>
            <a:r>
              <a:rPr lang="en-IN" dirty="0" err="1"/>
              <a:t>System.console</a:t>
            </a:r>
            <a:r>
              <a:rPr lang="en-IN" dirty="0"/>
              <a:t>().</a:t>
            </a:r>
            <a:r>
              <a:rPr lang="en-IN" dirty="0" err="1"/>
              <a:t>readLine</a:t>
            </a:r>
            <a:r>
              <a:rPr lang="en-IN" dirty="0"/>
              <a:t>("Enter physics marks"));</a:t>
            </a:r>
          </a:p>
          <a:p>
            <a:pPr marL="0" indent="0">
              <a:buNone/>
            </a:pPr>
            <a:r>
              <a:rPr lang="en-IN" dirty="0"/>
              <a:t>        </a:t>
            </a:r>
            <a:r>
              <a:rPr lang="en-IN" dirty="0" err="1"/>
              <a:t>chem</a:t>
            </a:r>
            <a:r>
              <a:rPr lang="en-IN" dirty="0"/>
              <a:t>  = </a:t>
            </a:r>
            <a:r>
              <a:rPr lang="en-IN" dirty="0" err="1"/>
              <a:t>Integer.parseInt</a:t>
            </a:r>
            <a:r>
              <a:rPr lang="en-IN" dirty="0"/>
              <a:t>(</a:t>
            </a:r>
            <a:r>
              <a:rPr lang="en-IN" dirty="0" err="1"/>
              <a:t>System.console</a:t>
            </a:r>
            <a:r>
              <a:rPr lang="en-IN" dirty="0"/>
              <a:t>().</a:t>
            </a:r>
            <a:r>
              <a:rPr lang="en-IN" dirty="0" err="1"/>
              <a:t>readLine</a:t>
            </a:r>
            <a:r>
              <a:rPr lang="en-IN" dirty="0"/>
              <a:t>("Enter chemistry marks"));</a:t>
            </a:r>
          </a:p>
          <a:p>
            <a:pPr marL="0" indent="0">
              <a:buNone/>
            </a:pPr>
            <a:r>
              <a:rPr lang="en-IN" dirty="0"/>
              <a:t>    }</a:t>
            </a:r>
          </a:p>
          <a:p>
            <a:pPr marL="0" indent="0">
              <a:buNone/>
            </a:pPr>
            <a:r>
              <a:rPr lang="en-IN" dirty="0"/>
              <a:t>    public void </a:t>
            </a:r>
            <a:r>
              <a:rPr lang="en-IN" dirty="0" err="1"/>
              <a:t>dispM</a:t>
            </a:r>
            <a:r>
              <a:rPr lang="en-IN" dirty="0"/>
              <a:t>()</a:t>
            </a:r>
          </a:p>
          <a:p>
            <a:pPr marL="0" indent="0">
              <a:buNone/>
            </a:pPr>
            <a:r>
              <a:rPr lang="en-IN" dirty="0"/>
              <a:t>    {</a:t>
            </a:r>
          </a:p>
          <a:p>
            <a:pPr marL="0" indent="0">
              <a:buNone/>
            </a:pPr>
            <a:r>
              <a:rPr lang="en-IN" dirty="0"/>
              <a:t>        </a:t>
            </a:r>
            <a:r>
              <a:rPr lang="en-IN" dirty="0" err="1"/>
              <a:t>System.out.println</a:t>
            </a:r>
            <a:r>
              <a:rPr lang="en-IN" dirty="0"/>
              <a:t>(</a:t>
            </a:r>
            <a:r>
              <a:rPr lang="en-IN" dirty="0" err="1"/>
              <a:t>phy</a:t>
            </a:r>
            <a:r>
              <a:rPr lang="en-IN" dirty="0"/>
              <a:t>+"  "+</a:t>
            </a:r>
            <a:r>
              <a:rPr lang="en-IN" dirty="0" err="1"/>
              <a:t>chem</a:t>
            </a:r>
            <a:r>
              <a:rPr lang="en-IN" dirty="0"/>
              <a:t>);</a:t>
            </a:r>
          </a:p>
          <a:p>
            <a:pPr marL="0" indent="0">
              <a:buNone/>
            </a:pPr>
            <a:r>
              <a:rPr lang="en-IN" dirty="0"/>
              <a:t>    }</a:t>
            </a:r>
          </a:p>
          <a:p>
            <a:pPr marL="0" indent="0">
              <a:buNone/>
            </a:pPr>
            <a:r>
              <a:rPr lang="en-IN" dirty="0"/>
              <a:t>    public Marks()</a:t>
            </a:r>
          </a:p>
          <a:p>
            <a:pPr marL="0" indent="0">
              <a:buNone/>
            </a:pPr>
            <a:r>
              <a:rPr lang="en-IN" dirty="0"/>
              <a:t>    {</a:t>
            </a:r>
          </a:p>
          <a:p>
            <a:pPr marL="0" indent="0">
              <a:buNone/>
            </a:pPr>
            <a:r>
              <a:rPr lang="en-IN" dirty="0"/>
              <a:t>        </a:t>
            </a:r>
            <a:r>
              <a:rPr lang="en-IN" dirty="0" err="1"/>
              <a:t>System.out.println</a:t>
            </a:r>
            <a:r>
              <a:rPr lang="en-IN" dirty="0"/>
              <a:t>("Marks Default");</a:t>
            </a:r>
          </a:p>
          <a:p>
            <a:pPr marL="0" indent="0">
              <a:buNone/>
            </a:pPr>
            <a:r>
              <a:rPr lang="en-IN" dirty="0"/>
              <a:t>    }</a:t>
            </a:r>
          </a:p>
          <a:p>
            <a:pPr marL="0" indent="0">
              <a:buNone/>
            </a:pPr>
            <a:r>
              <a:rPr lang="en-IN" dirty="0"/>
              <a:t>    public Marks(</a:t>
            </a:r>
            <a:r>
              <a:rPr lang="en-IN" dirty="0" err="1"/>
              <a:t>int</a:t>
            </a:r>
            <a:r>
              <a:rPr lang="en-IN" dirty="0"/>
              <a:t> p)</a:t>
            </a:r>
          </a:p>
          <a:p>
            <a:pPr marL="0" indent="0">
              <a:buNone/>
            </a:pPr>
            <a:r>
              <a:rPr lang="en-IN" dirty="0"/>
              <a:t>    {</a:t>
            </a:r>
          </a:p>
          <a:p>
            <a:pPr marL="0" indent="0">
              <a:buNone/>
            </a:pPr>
            <a:r>
              <a:rPr lang="en-IN" dirty="0"/>
              <a:t>        </a:t>
            </a:r>
            <a:r>
              <a:rPr lang="en-IN" dirty="0" err="1"/>
              <a:t>phy</a:t>
            </a:r>
            <a:r>
              <a:rPr lang="en-IN" dirty="0"/>
              <a:t> = p;</a:t>
            </a:r>
          </a:p>
          <a:p>
            <a:pPr marL="0" indent="0">
              <a:buNone/>
            </a:pPr>
            <a:r>
              <a:rPr lang="en-IN" dirty="0"/>
              <a:t>    }</a:t>
            </a:r>
          </a:p>
          <a:p>
            <a:pPr marL="0" indent="0">
              <a:buNone/>
            </a:pPr>
            <a:r>
              <a:rPr lang="en-IN" dirty="0"/>
              <a:t>    public Marks(</a:t>
            </a:r>
            <a:r>
              <a:rPr lang="en-IN" dirty="0" err="1"/>
              <a:t>int</a:t>
            </a:r>
            <a:r>
              <a:rPr lang="en-IN" dirty="0"/>
              <a:t> p, </a:t>
            </a:r>
            <a:r>
              <a:rPr lang="en-IN" dirty="0" err="1"/>
              <a:t>int</a:t>
            </a:r>
            <a:r>
              <a:rPr lang="en-IN" dirty="0"/>
              <a:t> c)</a:t>
            </a:r>
          </a:p>
          <a:p>
            <a:pPr marL="0" indent="0">
              <a:buNone/>
            </a:pPr>
            <a:r>
              <a:rPr lang="en-IN" dirty="0"/>
              <a:t>    {</a:t>
            </a:r>
          </a:p>
          <a:p>
            <a:pPr marL="0" indent="0">
              <a:buNone/>
            </a:pPr>
            <a:r>
              <a:rPr lang="en-IN" dirty="0"/>
              <a:t>        </a:t>
            </a:r>
            <a:r>
              <a:rPr lang="en-IN" dirty="0" err="1"/>
              <a:t>phy</a:t>
            </a:r>
            <a:r>
              <a:rPr lang="en-IN" dirty="0"/>
              <a:t> = p;</a:t>
            </a:r>
          </a:p>
          <a:p>
            <a:pPr marL="0" indent="0">
              <a:buNone/>
            </a:pPr>
            <a:r>
              <a:rPr lang="en-IN" dirty="0"/>
              <a:t>        </a:t>
            </a:r>
            <a:r>
              <a:rPr lang="en-IN" dirty="0" err="1"/>
              <a:t>chem</a:t>
            </a:r>
            <a:r>
              <a:rPr lang="en-IN" dirty="0"/>
              <a:t> = c;</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39347686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943600"/>
          </a:xfrm>
        </p:spPr>
        <p:txBody>
          <a:bodyPr>
            <a:normAutofit fontScale="32500" lnSpcReduction="20000"/>
          </a:bodyPr>
          <a:lstStyle/>
          <a:p>
            <a:pPr marL="0" indent="0">
              <a:buNone/>
            </a:pPr>
            <a:r>
              <a:rPr lang="en-IN" dirty="0"/>
              <a:t>class Student extends Marks</a:t>
            </a:r>
          </a:p>
          <a:p>
            <a:pPr marL="0" indent="0">
              <a:buNone/>
            </a:pPr>
            <a:r>
              <a:rPr lang="en-IN" dirty="0"/>
              <a:t>{</a:t>
            </a:r>
          </a:p>
          <a:p>
            <a:pPr marL="0" indent="0">
              <a:buNone/>
            </a:pPr>
            <a:r>
              <a:rPr lang="en-IN" dirty="0"/>
              <a:t>    private </a:t>
            </a:r>
            <a:r>
              <a:rPr lang="en-IN" dirty="0" err="1"/>
              <a:t>int</a:t>
            </a:r>
            <a:r>
              <a:rPr lang="en-IN" dirty="0"/>
              <a:t> roll;</a:t>
            </a:r>
          </a:p>
          <a:p>
            <a:pPr marL="0" indent="0">
              <a:buNone/>
            </a:pPr>
            <a:r>
              <a:rPr lang="en-IN" dirty="0"/>
              <a:t>    private String name;</a:t>
            </a:r>
          </a:p>
          <a:p>
            <a:pPr marL="0" indent="0">
              <a:buNone/>
            </a:pPr>
            <a:r>
              <a:rPr lang="en-IN" dirty="0"/>
              <a:t>    </a:t>
            </a:r>
          </a:p>
          <a:p>
            <a:pPr marL="0" indent="0">
              <a:buNone/>
            </a:pPr>
            <a:r>
              <a:rPr lang="en-IN" dirty="0"/>
              <a:t>    public void </a:t>
            </a:r>
            <a:r>
              <a:rPr lang="en-IN" dirty="0" err="1"/>
              <a:t>inputS</a:t>
            </a:r>
            <a:r>
              <a:rPr lang="en-IN" dirty="0"/>
              <a:t>()</a:t>
            </a:r>
          </a:p>
          <a:p>
            <a:pPr marL="0" indent="0">
              <a:buNone/>
            </a:pPr>
            <a:r>
              <a:rPr lang="en-IN" dirty="0"/>
              <a:t>    {</a:t>
            </a:r>
          </a:p>
          <a:p>
            <a:pPr marL="0" indent="0">
              <a:buNone/>
            </a:pPr>
            <a:r>
              <a:rPr lang="en-IN" dirty="0"/>
              <a:t>        roll = </a:t>
            </a:r>
            <a:r>
              <a:rPr lang="en-IN" dirty="0" err="1"/>
              <a:t>Integer.parseInt</a:t>
            </a:r>
            <a:r>
              <a:rPr lang="en-IN" dirty="0"/>
              <a:t>(</a:t>
            </a:r>
            <a:r>
              <a:rPr lang="en-IN" dirty="0" err="1"/>
              <a:t>System.console</a:t>
            </a:r>
            <a:r>
              <a:rPr lang="en-IN" dirty="0"/>
              <a:t>().</a:t>
            </a:r>
            <a:r>
              <a:rPr lang="en-IN" dirty="0" err="1"/>
              <a:t>readLine</a:t>
            </a:r>
            <a:r>
              <a:rPr lang="en-IN" dirty="0"/>
              <a:t>("Enter roll"));</a:t>
            </a:r>
          </a:p>
          <a:p>
            <a:pPr marL="0" indent="0">
              <a:buNone/>
            </a:pPr>
            <a:r>
              <a:rPr lang="en-IN" dirty="0"/>
              <a:t>        name = </a:t>
            </a:r>
            <a:r>
              <a:rPr lang="en-IN" dirty="0" err="1"/>
              <a:t>System.console</a:t>
            </a:r>
            <a:r>
              <a:rPr lang="en-IN" dirty="0"/>
              <a:t>().</a:t>
            </a:r>
            <a:r>
              <a:rPr lang="en-IN" dirty="0" err="1"/>
              <a:t>readLine</a:t>
            </a:r>
            <a:r>
              <a:rPr lang="en-IN" dirty="0"/>
              <a:t>();</a:t>
            </a:r>
          </a:p>
          <a:p>
            <a:pPr marL="0" indent="0">
              <a:buNone/>
            </a:pPr>
            <a:r>
              <a:rPr lang="en-IN" dirty="0"/>
              <a:t>        </a:t>
            </a:r>
            <a:r>
              <a:rPr lang="en-IN" dirty="0" err="1"/>
              <a:t>super.inputM</a:t>
            </a:r>
            <a:r>
              <a:rPr lang="en-IN" dirty="0"/>
              <a:t>();</a:t>
            </a:r>
          </a:p>
          <a:p>
            <a:pPr marL="0" indent="0">
              <a:buNone/>
            </a:pPr>
            <a:r>
              <a:rPr lang="en-IN" dirty="0"/>
              <a:t>    }</a:t>
            </a:r>
          </a:p>
          <a:p>
            <a:pPr marL="0" indent="0">
              <a:buNone/>
            </a:pPr>
            <a:r>
              <a:rPr lang="en-IN" dirty="0"/>
              <a:t>    public void </a:t>
            </a:r>
            <a:r>
              <a:rPr lang="en-IN" dirty="0" err="1"/>
              <a:t>dispS</a:t>
            </a:r>
            <a:r>
              <a:rPr lang="en-IN" dirty="0"/>
              <a:t>()</a:t>
            </a:r>
          </a:p>
          <a:p>
            <a:pPr marL="0" indent="0">
              <a:buNone/>
            </a:pPr>
            <a:r>
              <a:rPr lang="en-IN" dirty="0"/>
              <a:t>    {</a:t>
            </a:r>
          </a:p>
          <a:p>
            <a:pPr marL="0" indent="0">
              <a:buNone/>
            </a:pPr>
            <a:r>
              <a:rPr lang="en-IN" dirty="0"/>
              <a:t>        </a:t>
            </a:r>
            <a:r>
              <a:rPr lang="en-IN" dirty="0" err="1"/>
              <a:t>System.out.println</a:t>
            </a:r>
            <a:r>
              <a:rPr lang="en-IN" dirty="0"/>
              <a:t>(roll+ "  "+ name);</a:t>
            </a:r>
          </a:p>
          <a:p>
            <a:pPr marL="0" indent="0">
              <a:buNone/>
            </a:pPr>
            <a:r>
              <a:rPr lang="en-IN" dirty="0"/>
              <a:t>        </a:t>
            </a:r>
            <a:r>
              <a:rPr lang="en-IN" dirty="0" err="1"/>
              <a:t>super.dispM</a:t>
            </a:r>
            <a:r>
              <a:rPr lang="en-IN" dirty="0"/>
              <a:t>();</a:t>
            </a:r>
          </a:p>
          <a:p>
            <a:pPr marL="0" indent="0">
              <a:buNone/>
            </a:pPr>
            <a:r>
              <a:rPr lang="en-IN" dirty="0"/>
              <a:t>    }</a:t>
            </a:r>
          </a:p>
          <a:p>
            <a:pPr marL="0" indent="0">
              <a:buNone/>
            </a:pPr>
            <a:r>
              <a:rPr lang="en-IN" dirty="0"/>
              <a:t>    public Student()</a:t>
            </a:r>
          </a:p>
          <a:p>
            <a:pPr marL="0" indent="0">
              <a:buNone/>
            </a:pPr>
            <a:r>
              <a:rPr lang="en-IN" dirty="0"/>
              <a:t>    {</a:t>
            </a:r>
          </a:p>
          <a:p>
            <a:pPr marL="0" indent="0">
              <a:buNone/>
            </a:pPr>
            <a:r>
              <a:rPr lang="en-IN" dirty="0"/>
              <a:t>        </a:t>
            </a:r>
            <a:r>
              <a:rPr lang="en-IN" dirty="0" err="1"/>
              <a:t>System.out.println</a:t>
            </a:r>
            <a:r>
              <a:rPr lang="en-IN" dirty="0"/>
              <a:t>("Student Default");</a:t>
            </a:r>
          </a:p>
          <a:p>
            <a:pPr marL="0" indent="0">
              <a:buNone/>
            </a:pPr>
            <a:r>
              <a:rPr lang="en-IN" dirty="0"/>
              <a:t>    }</a:t>
            </a:r>
          </a:p>
          <a:p>
            <a:pPr marL="0" indent="0">
              <a:buNone/>
            </a:pPr>
            <a:r>
              <a:rPr lang="en-IN" dirty="0"/>
              <a:t>    public Student(</a:t>
            </a:r>
            <a:r>
              <a:rPr lang="en-IN" dirty="0" err="1"/>
              <a:t>int</a:t>
            </a:r>
            <a:r>
              <a:rPr lang="en-IN" dirty="0"/>
              <a:t> r)</a:t>
            </a:r>
          </a:p>
          <a:p>
            <a:pPr marL="0" indent="0">
              <a:buNone/>
            </a:pPr>
            <a:r>
              <a:rPr lang="en-IN" dirty="0"/>
              <a:t>    {</a:t>
            </a:r>
          </a:p>
          <a:p>
            <a:pPr marL="0" indent="0">
              <a:buNone/>
            </a:pPr>
            <a:r>
              <a:rPr lang="en-IN" dirty="0"/>
              <a:t>        roll = r;</a:t>
            </a:r>
          </a:p>
          <a:p>
            <a:pPr marL="0" indent="0">
              <a:buNone/>
            </a:pPr>
            <a:r>
              <a:rPr lang="en-IN" dirty="0"/>
              <a:t>    }</a:t>
            </a:r>
          </a:p>
          <a:p>
            <a:pPr marL="0" indent="0">
              <a:buNone/>
            </a:pPr>
            <a:r>
              <a:rPr lang="en-IN" dirty="0"/>
              <a:t>    public Student(</a:t>
            </a:r>
            <a:r>
              <a:rPr lang="en-IN" dirty="0" err="1"/>
              <a:t>int</a:t>
            </a:r>
            <a:r>
              <a:rPr lang="en-IN" dirty="0"/>
              <a:t> r, String n)</a:t>
            </a:r>
          </a:p>
          <a:p>
            <a:pPr marL="0" indent="0">
              <a:buNone/>
            </a:pPr>
            <a:r>
              <a:rPr lang="en-IN" dirty="0"/>
              <a:t>    {</a:t>
            </a:r>
          </a:p>
          <a:p>
            <a:pPr marL="0" indent="0">
              <a:buNone/>
            </a:pPr>
            <a:r>
              <a:rPr lang="en-IN" dirty="0"/>
              <a:t>        roll = r;</a:t>
            </a:r>
          </a:p>
          <a:p>
            <a:pPr marL="0" indent="0">
              <a:buNone/>
            </a:pPr>
            <a:r>
              <a:rPr lang="en-IN" dirty="0"/>
              <a:t>        name = n;</a:t>
            </a:r>
          </a:p>
          <a:p>
            <a:pPr marL="0" indent="0">
              <a:buNone/>
            </a:pPr>
            <a:r>
              <a:rPr lang="en-IN" dirty="0"/>
              <a:t>    }</a:t>
            </a:r>
          </a:p>
          <a:p>
            <a:pPr marL="0" indent="0">
              <a:buNone/>
            </a:pPr>
            <a:r>
              <a:rPr lang="en-IN" dirty="0"/>
              <a:t>    public Student(</a:t>
            </a:r>
            <a:r>
              <a:rPr lang="en-IN" dirty="0" err="1"/>
              <a:t>int</a:t>
            </a:r>
            <a:r>
              <a:rPr lang="en-IN" dirty="0"/>
              <a:t> r, String n, </a:t>
            </a:r>
            <a:r>
              <a:rPr lang="en-IN" dirty="0" err="1"/>
              <a:t>int</a:t>
            </a:r>
            <a:r>
              <a:rPr lang="en-IN" dirty="0"/>
              <a:t> p, </a:t>
            </a:r>
            <a:r>
              <a:rPr lang="en-IN" dirty="0" err="1"/>
              <a:t>int</a:t>
            </a:r>
            <a:r>
              <a:rPr lang="en-IN" dirty="0"/>
              <a:t> c)</a:t>
            </a:r>
          </a:p>
          <a:p>
            <a:pPr marL="0" indent="0">
              <a:buNone/>
            </a:pPr>
            <a:r>
              <a:rPr lang="en-IN" dirty="0"/>
              <a:t>    {</a:t>
            </a:r>
          </a:p>
          <a:p>
            <a:pPr marL="0" indent="0">
              <a:buNone/>
            </a:pPr>
            <a:r>
              <a:rPr lang="en-IN" dirty="0"/>
              <a:t>        super(p, c);</a:t>
            </a:r>
          </a:p>
          <a:p>
            <a:pPr marL="0" indent="0">
              <a:buNone/>
            </a:pPr>
            <a:r>
              <a:rPr lang="en-IN" dirty="0"/>
              <a:t>        roll = r;</a:t>
            </a:r>
          </a:p>
          <a:p>
            <a:pPr marL="0" indent="0">
              <a:buNone/>
            </a:pPr>
            <a:r>
              <a:rPr lang="en-IN" dirty="0"/>
              <a:t>        name = n;</a:t>
            </a:r>
          </a:p>
          <a:p>
            <a:pPr marL="0" indent="0">
              <a:buNone/>
            </a:pPr>
            <a:r>
              <a:rPr lang="en-IN" dirty="0"/>
              <a:t>    }</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39347686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943600"/>
          </a:xfrm>
        </p:spPr>
        <p:txBody>
          <a:bodyPr>
            <a:normAutofit fontScale="47500" lnSpcReduction="20000"/>
          </a:bodyPr>
          <a:lstStyle/>
          <a:p>
            <a:pPr marL="0" indent="0">
              <a:buNone/>
            </a:pPr>
            <a:r>
              <a:rPr lang="en-IN" dirty="0"/>
              <a:t>class Comment extends Student</a:t>
            </a:r>
          </a:p>
          <a:p>
            <a:pPr marL="0" indent="0">
              <a:buNone/>
            </a:pPr>
            <a:r>
              <a:rPr lang="en-IN" dirty="0"/>
              <a:t>{</a:t>
            </a:r>
          </a:p>
          <a:p>
            <a:pPr marL="0" indent="0">
              <a:buNone/>
            </a:pPr>
            <a:r>
              <a:rPr lang="en-IN" dirty="0"/>
              <a:t>    String comment;</a:t>
            </a:r>
          </a:p>
          <a:p>
            <a:pPr marL="0" indent="0">
              <a:buNone/>
            </a:pPr>
            <a:r>
              <a:rPr lang="en-IN" dirty="0"/>
              <a:t>    public void </a:t>
            </a:r>
            <a:r>
              <a:rPr lang="en-IN" dirty="0" err="1"/>
              <a:t>inputC</a:t>
            </a:r>
            <a:r>
              <a:rPr lang="en-IN" dirty="0"/>
              <a:t>()</a:t>
            </a:r>
          </a:p>
          <a:p>
            <a:pPr marL="0" indent="0">
              <a:buNone/>
            </a:pPr>
            <a:r>
              <a:rPr lang="en-IN" dirty="0"/>
              <a:t>    {</a:t>
            </a:r>
          </a:p>
          <a:p>
            <a:pPr marL="0" indent="0">
              <a:buNone/>
            </a:pPr>
            <a:r>
              <a:rPr lang="en-IN" dirty="0"/>
              <a:t>        </a:t>
            </a:r>
            <a:r>
              <a:rPr lang="en-IN" dirty="0" err="1"/>
              <a:t>super.inputS</a:t>
            </a:r>
            <a:r>
              <a:rPr lang="en-IN" dirty="0"/>
              <a:t>();</a:t>
            </a:r>
          </a:p>
          <a:p>
            <a:pPr marL="0" indent="0">
              <a:buNone/>
            </a:pPr>
            <a:r>
              <a:rPr lang="en-IN" dirty="0"/>
              <a:t>        comment = </a:t>
            </a:r>
            <a:r>
              <a:rPr lang="en-IN" dirty="0" err="1"/>
              <a:t>System.console</a:t>
            </a:r>
            <a:r>
              <a:rPr lang="en-IN" dirty="0"/>
              <a:t>().</a:t>
            </a:r>
            <a:r>
              <a:rPr lang="en-IN" dirty="0" err="1"/>
              <a:t>readLine</a:t>
            </a:r>
            <a:r>
              <a:rPr lang="en-IN" dirty="0"/>
              <a:t>("Enter Comments");</a:t>
            </a:r>
          </a:p>
          <a:p>
            <a:pPr marL="0" indent="0">
              <a:buNone/>
            </a:pPr>
            <a:r>
              <a:rPr lang="en-IN" dirty="0"/>
              <a:t>    }</a:t>
            </a:r>
          </a:p>
          <a:p>
            <a:pPr marL="0" indent="0">
              <a:buNone/>
            </a:pPr>
            <a:r>
              <a:rPr lang="en-IN" dirty="0"/>
              <a:t>    public void </a:t>
            </a:r>
            <a:r>
              <a:rPr lang="en-IN" dirty="0" err="1"/>
              <a:t>dispC</a:t>
            </a:r>
            <a:r>
              <a:rPr lang="en-IN" dirty="0"/>
              <a:t>()</a:t>
            </a:r>
          </a:p>
          <a:p>
            <a:pPr marL="0" indent="0">
              <a:buNone/>
            </a:pPr>
            <a:r>
              <a:rPr lang="en-IN" dirty="0"/>
              <a:t>    {</a:t>
            </a:r>
          </a:p>
          <a:p>
            <a:pPr marL="0" indent="0">
              <a:buNone/>
            </a:pPr>
            <a:r>
              <a:rPr lang="en-IN" dirty="0"/>
              <a:t>        </a:t>
            </a:r>
            <a:r>
              <a:rPr lang="en-IN" dirty="0" err="1"/>
              <a:t>super.dispS</a:t>
            </a:r>
            <a:r>
              <a:rPr lang="en-IN" dirty="0"/>
              <a:t>();</a:t>
            </a:r>
          </a:p>
          <a:p>
            <a:pPr marL="0" indent="0">
              <a:buNone/>
            </a:pPr>
            <a:r>
              <a:rPr lang="en-IN" dirty="0"/>
              <a:t>        </a:t>
            </a:r>
            <a:r>
              <a:rPr lang="en-IN" dirty="0" err="1"/>
              <a:t>System.out.println</a:t>
            </a:r>
            <a:r>
              <a:rPr lang="en-IN" dirty="0"/>
              <a:t>(comment);</a:t>
            </a:r>
          </a:p>
          <a:p>
            <a:pPr marL="0" indent="0">
              <a:buNone/>
            </a:pPr>
            <a:r>
              <a:rPr lang="en-IN" dirty="0"/>
              <a:t>    }</a:t>
            </a:r>
          </a:p>
          <a:p>
            <a:pPr marL="0" indent="0">
              <a:buNone/>
            </a:pPr>
            <a:r>
              <a:rPr lang="en-IN" dirty="0"/>
              <a:t>    </a:t>
            </a:r>
          </a:p>
          <a:p>
            <a:pPr marL="0" indent="0">
              <a:buNone/>
            </a:pPr>
            <a:r>
              <a:rPr lang="en-IN" dirty="0"/>
              <a:t>    public Comment()</a:t>
            </a:r>
          </a:p>
          <a:p>
            <a:pPr marL="0" indent="0">
              <a:buNone/>
            </a:pPr>
            <a:r>
              <a:rPr lang="en-IN" dirty="0"/>
              <a:t>    {</a:t>
            </a:r>
          </a:p>
          <a:p>
            <a:pPr marL="0" indent="0">
              <a:buNone/>
            </a:pPr>
            <a:r>
              <a:rPr lang="en-IN" dirty="0"/>
              <a:t>        </a:t>
            </a:r>
            <a:r>
              <a:rPr lang="en-IN" dirty="0" err="1"/>
              <a:t>System.out.println</a:t>
            </a:r>
            <a:r>
              <a:rPr lang="en-IN" dirty="0"/>
              <a:t>("Comment Default");</a:t>
            </a:r>
          </a:p>
          <a:p>
            <a:pPr marL="0" indent="0">
              <a:buNone/>
            </a:pPr>
            <a:r>
              <a:rPr lang="en-IN" dirty="0"/>
              <a:t>    }</a:t>
            </a:r>
          </a:p>
          <a:p>
            <a:pPr marL="0" indent="0">
              <a:buNone/>
            </a:pPr>
            <a:r>
              <a:rPr lang="en-IN" dirty="0"/>
              <a:t>    public Comment(</a:t>
            </a:r>
            <a:r>
              <a:rPr lang="en-IN" dirty="0" err="1"/>
              <a:t>int</a:t>
            </a:r>
            <a:r>
              <a:rPr lang="en-IN" dirty="0"/>
              <a:t> r, String n, </a:t>
            </a:r>
            <a:r>
              <a:rPr lang="en-IN" dirty="0" err="1"/>
              <a:t>int</a:t>
            </a:r>
            <a:r>
              <a:rPr lang="en-IN" dirty="0"/>
              <a:t> p, </a:t>
            </a:r>
            <a:r>
              <a:rPr lang="en-IN" dirty="0" err="1"/>
              <a:t>int</a:t>
            </a:r>
            <a:r>
              <a:rPr lang="en-IN" dirty="0"/>
              <a:t> c, String com)</a:t>
            </a:r>
          </a:p>
          <a:p>
            <a:pPr marL="0" indent="0">
              <a:buNone/>
            </a:pPr>
            <a:r>
              <a:rPr lang="en-IN" dirty="0"/>
              <a:t>    {</a:t>
            </a:r>
          </a:p>
          <a:p>
            <a:pPr marL="0" indent="0">
              <a:buNone/>
            </a:pPr>
            <a:r>
              <a:rPr lang="en-IN" dirty="0"/>
              <a:t>        super(r, n, p, c);</a:t>
            </a:r>
          </a:p>
          <a:p>
            <a:pPr marL="0" indent="0">
              <a:buNone/>
            </a:pPr>
            <a:r>
              <a:rPr lang="en-IN" dirty="0"/>
              <a:t>        comment = com;</a:t>
            </a:r>
          </a:p>
          <a:p>
            <a:pPr marL="0" indent="0">
              <a:buNone/>
            </a:pPr>
            <a:r>
              <a:rPr lang="en-IN" dirty="0"/>
              <a:t>    }</a:t>
            </a:r>
          </a:p>
          <a:p>
            <a:pPr marL="0" indent="0">
              <a:buNone/>
            </a:pPr>
            <a:r>
              <a:rPr lang="en-IN" dirty="0"/>
              <a:t>    </a:t>
            </a:r>
          </a:p>
          <a:p>
            <a:pPr marL="0" indent="0">
              <a:buNone/>
            </a:pPr>
            <a:r>
              <a:rPr lang="en-IN" dirty="0"/>
              <a:t>}</a:t>
            </a:r>
          </a:p>
        </p:txBody>
      </p:sp>
    </p:spTree>
    <p:extLst>
      <p:ext uri="{BB962C8B-B14F-4D97-AF65-F5344CB8AC3E}">
        <p14:creationId xmlns:p14="http://schemas.microsoft.com/office/powerpoint/2010/main" val="39347686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943600"/>
          </a:xfrm>
        </p:spPr>
        <p:txBody>
          <a:bodyPr>
            <a:normAutofit/>
          </a:bodyPr>
          <a:lstStyle/>
          <a:p>
            <a:pPr marL="0" indent="0">
              <a:buNone/>
            </a:pPr>
            <a:r>
              <a:rPr lang="en-US" sz="2400" dirty="0"/>
              <a:t>public class Demo</a:t>
            </a:r>
          </a:p>
          <a:p>
            <a:pPr marL="0" indent="0">
              <a:buNone/>
            </a:pPr>
            <a:r>
              <a:rPr lang="en-US" sz="2400" dirty="0"/>
              <a:t>{</a:t>
            </a:r>
          </a:p>
          <a:p>
            <a:pPr marL="0" indent="0">
              <a:buNone/>
            </a:pPr>
            <a:r>
              <a:rPr lang="en-US" sz="2400" dirty="0"/>
              <a:t>    public static void main(String[] </a:t>
            </a:r>
            <a:r>
              <a:rPr lang="en-US" sz="2400" dirty="0" err="1"/>
              <a:t>args</a:t>
            </a:r>
            <a:r>
              <a:rPr lang="en-US" sz="2400" dirty="0"/>
              <a:t>) </a:t>
            </a:r>
          </a:p>
          <a:p>
            <a:pPr marL="0" indent="0">
              <a:buNone/>
            </a:pPr>
            <a:r>
              <a:rPr lang="en-US" sz="2400" dirty="0"/>
              <a:t>    {</a:t>
            </a:r>
          </a:p>
          <a:p>
            <a:pPr marL="0" indent="0">
              <a:buNone/>
            </a:pPr>
            <a:r>
              <a:rPr lang="en-US" sz="2400" dirty="0"/>
              <a:t>        Comment c1 = new Comment(1, "John", 80, 90, "Good");</a:t>
            </a:r>
          </a:p>
          <a:p>
            <a:pPr marL="0" indent="0">
              <a:buNone/>
            </a:pPr>
            <a:r>
              <a:rPr lang="en-US" sz="2400" dirty="0"/>
              <a:t>        c1.dispC();</a:t>
            </a:r>
          </a:p>
          <a:p>
            <a:pPr marL="0" indent="0">
              <a:buNone/>
            </a:pPr>
            <a:r>
              <a:rPr lang="en-US" sz="2400" dirty="0"/>
              <a:t>    }  </a:t>
            </a:r>
          </a:p>
          <a:p>
            <a:pPr marL="0" indent="0">
              <a:buNone/>
            </a:pPr>
            <a:r>
              <a:rPr lang="en-US" sz="2400" dirty="0"/>
              <a:t>}</a:t>
            </a:r>
            <a:endParaRPr lang="en-IN" sz="2400" dirty="0"/>
          </a:p>
        </p:txBody>
      </p:sp>
    </p:spTree>
    <p:extLst>
      <p:ext uri="{BB962C8B-B14F-4D97-AF65-F5344CB8AC3E}">
        <p14:creationId xmlns:p14="http://schemas.microsoft.com/office/powerpoint/2010/main" val="39347686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943600"/>
          </a:xfrm>
        </p:spPr>
        <p:txBody>
          <a:bodyPr/>
          <a:lstStyle/>
          <a:p>
            <a:r>
              <a:rPr lang="en-US" b="1" dirty="0"/>
              <a:t>Hierarchical Inheritance -</a:t>
            </a:r>
          </a:p>
          <a:p>
            <a:r>
              <a:rPr lang="en-US" dirty="0"/>
              <a:t>In hierarchical inheritance there is single parent class that is inheriting by multiple subclasses. It is somewhat similar to tree based structure.</a:t>
            </a:r>
            <a:endParaRPr lang="en-IN"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3048000"/>
            <a:ext cx="3429000"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347686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943600"/>
          </a:xfrm>
        </p:spPr>
        <p:txBody>
          <a:bodyPr>
            <a:normAutofit fontScale="40000" lnSpcReduction="20000"/>
          </a:bodyPr>
          <a:lstStyle/>
          <a:p>
            <a:r>
              <a:rPr lang="en-US" dirty="0"/>
              <a:t>Example -</a:t>
            </a:r>
          </a:p>
          <a:p>
            <a:r>
              <a:rPr lang="en-US" dirty="0"/>
              <a:t>In the below example class A will be Marks class, class B will be Student class and class C will be Comment class</a:t>
            </a:r>
            <a:r>
              <a:rPr lang="en-US" dirty="0" smtClean="0"/>
              <a:t>.</a:t>
            </a:r>
          </a:p>
          <a:p>
            <a:pPr marL="0" indent="0">
              <a:buNone/>
            </a:pPr>
            <a:r>
              <a:rPr lang="en-IN" dirty="0"/>
              <a:t>class Marks</a:t>
            </a:r>
          </a:p>
          <a:p>
            <a:pPr marL="0" indent="0">
              <a:buNone/>
            </a:pPr>
            <a:r>
              <a:rPr lang="en-IN" dirty="0"/>
              <a:t>{</a:t>
            </a:r>
          </a:p>
          <a:p>
            <a:pPr marL="0" indent="0">
              <a:buNone/>
            </a:pPr>
            <a:r>
              <a:rPr lang="en-IN" dirty="0"/>
              <a:t>    private </a:t>
            </a:r>
            <a:r>
              <a:rPr lang="en-IN" dirty="0" err="1"/>
              <a:t>int</a:t>
            </a:r>
            <a:r>
              <a:rPr lang="en-IN" dirty="0"/>
              <a:t> </a:t>
            </a:r>
            <a:r>
              <a:rPr lang="en-IN" dirty="0" err="1"/>
              <a:t>phy</a:t>
            </a:r>
            <a:r>
              <a:rPr lang="en-IN" dirty="0"/>
              <a:t>, </a:t>
            </a:r>
            <a:r>
              <a:rPr lang="en-IN" dirty="0" err="1"/>
              <a:t>chem</a:t>
            </a:r>
            <a:r>
              <a:rPr lang="en-IN" dirty="0"/>
              <a:t>;</a:t>
            </a:r>
          </a:p>
          <a:p>
            <a:pPr marL="0" indent="0">
              <a:buNone/>
            </a:pPr>
            <a:r>
              <a:rPr lang="en-IN" dirty="0"/>
              <a:t>    </a:t>
            </a:r>
          </a:p>
          <a:p>
            <a:pPr marL="0" indent="0">
              <a:buNone/>
            </a:pPr>
            <a:r>
              <a:rPr lang="en-IN" dirty="0"/>
              <a:t>    public void </a:t>
            </a:r>
            <a:r>
              <a:rPr lang="en-IN" dirty="0" err="1"/>
              <a:t>inputM</a:t>
            </a:r>
            <a:r>
              <a:rPr lang="en-IN" dirty="0"/>
              <a:t>()</a:t>
            </a:r>
          </a:p>
          <a:p>
            <a:pPr marL="0" indent="0">
              <a:buNone/>
            </a:pPr>
            <a:r>
              <a:rPr lang="en-IN" dirty="0"/>
              <a:t>    {</a:t>
            </a:r>
          </a:p>
          <a:p>
            <a:pPr marL="0" indent="0">
              <a:buNone/>
            </a:pPr>
            <a:r>
              <a:rPr lang="en-IN" dirty="0"/>
              <a:t>        </a:t>
            </a:r>
            <a:r>
              <a:rPr lang="en-IN" dirty="0" err="1"/>
              <a:t>phy</a:t>
            </a:r>
            <a:r>
              <a:rPr lang="en-IN" dirty="0"/>
              <a:t>  = </a:t>
            </a:r>
            <a:r>
              <a:rPr lang="en-IN" dirty="0" err="1"/>
              <a:t>Integer.parseInt</a:t>
            </a:r>
            <a:r>
              <a:rPr lang="en-IN" dirty="0"/>
              <a:t>(</a:t>
            </a:r>
            <a:r>
              <a:rPr lang="en-IN" dirty="0" err="1"/>
              <a:t>System.console</a:t>
            </a:r>
            <a:r>
              <a:rPr lang="en-IN" dirty="0"/>
              <a:t>().</a:t>
            </a:r>
            <a:r>
              <a:rPr lang="en-IN" dirty="0" err="1"/>
              <a:t>readLine</a:t>
            </a:r>
            <a:r>
              <a:rPr lang="en-IN" dirty="0"/>
              <a:t>("Enter physics marks"));</a:t>
            </a:r>
          </a:p>
          <a:p>
            <a:pPr marL="0" indent="0">
              <a:buNone/>
            </a:pPr>
            <a:r>
              <a:rPr lang="en-IN" dirty="0"/>
              <a:t>        </a:t>
            </a:r>
            <a:r>
              <a:rPr lang="en-IN" dirty="0" err="1"/>
              <a:t>chem</a:t>
            </a:r>
            <a:r>
              <a:rPr lang="en-IN" dirty="0"/>
              <a:t>  = </a:t>
            </a:r>
            <a:r>
              <a:rPr lang="en-IN" dirty="0" err="1"/>
              <a:t>Integer.parseInt</a:t>
            </a:r>
            <a:r>
              <a:rPr lang="en-IN" dirty="0"/>
              <a:t>(</a:t>
            </a:r>
            <a:r>
              <a:rPr lang="en-IN" dirty="0" err="1"/>
              <a:t>System.console</a:t>
            </a:r>
            <a:r>
              <a:rPr lang="en-IN" dirty="0"/>
              <a:t>().</a:t>
            </a:r>
            <a:r>
              <a:rPr lang="en-IN" dirty="0" err="1"/>
              <a:t>readLine</a:t>
            </a:r>
            <a:r>
              <a:rPr lang="en-IN" dirty="0"/>
              <a:t>("Enter chemistry marks"));</a:t>
            </a:r>
          </a:p>
          <a:p>
            <a:pPr marL="0" indent="0">
              <a:buNone/>
            </a:pPr>
            <a:r>
              <a:rPr lang="en-IN" dirty="0"/>
              <a:t>    }</a:t>
            </a:r>
          </a:p>
          <a:p>
            <a:pPr marL="0" indent="0">
              <a:buNone/>
            </a:pPr>
            <a:r>
              <a:rPr lang="en-IN" dirty="0"/>
              <a:t>    public void </a:t>
            </a:r>
            <a:r>
              <a:rPr lang="en-IN" dirty="0" err="1"/>
              <a:t>dispM</a:t>
            </a:r>
            <a:r>
              <a:rPr lang="en-IN" dirty="0"/>
              <a:t>()</a:t>
            </a:r>
          </a:p>
          <a:p>
            <a:pPr marL="0" indent="0">
              <a:buNone/>
            </a:pPr>
            <a:r>
              <a:rPr lang="en-IN" dirty="0"/>
              <a:t>    {</a:t>
            </a:r>
          </a:p>
          <a:p>
            <a:pPr marL="0" indent="0">
              <a:buNone/>
            </a:pPr>
            <a:r>
              <a:rPr lang="en-IN" dirty="0"/>
              <a:t>        </a:t>
            </a:r>
            <a:r>
              <a:rPr lang="en-IN" dirty="0" err="1"/>
              <a:t>System.out.println</a:t>
            </a:r>
            <a:r>
              <a:rPr lang="en-IN" dirty="0"/>
              <a:t>(</a:t>
            </a:r>
            <a:r>
              <a:rPr lang="en-IN" dirty="0" err="1"/>
              <a:t>phy</a:t>
            </a:r>
            <a:r>
              <a:rPr lang="en-IN" dirty="0"/>
              <a:t>+"  "+</a:t>
            </a:r>
            <a:r>
              <a:rPr lang="en-IN" dirty="0" err="1"/>
              <a:t>chem</a:t>
            </a:r>
            <a:r>
              <a:rPr lang="en-IN" dirty="0"/>
              <a:t>);</a:t>
            </a:r>
          </a:p>
          <a:p>
            <a:pPr marL="0" indent="0">
              <a:buNone/>
            </a:pPr>
            <a:r>
              <a:rPr lang="en-IN" dirty="0"/>
              <a:t>    }</a:t>
            </a:r>
          </a:p>
          <a:p>
            <a:pPr marL="0" indent="0">
              <a:buNone/>
            </a:pPr>
            <a:r>
              <a:rPr lang="en-IN" dirty="0"/>
              <a:t>    public Marks()</a:t>
            </a:r>
          </a:p>
          <a:p>
            <a:pPr marL="0" indent="0">
              <a:buNone/>
            </a:pPr>
            <a:r>
              <a:rPr lang="en-IN" dirty="0"/>
              <a:t>    {</a:t>
            </a:r>
          </a:p>
          <a:p>
            <a:pPr marL="0" indent="0">
              <a:buNone/>
            </a:pPr>
            <a:r>
              <a:rPr lang="en-IN" dirty="0"/>
              <a:t>        </a:t>
            </a:r>
            <a:r>
              <a:rPr lang="en-IN" dirty="0" err="1"/>
              <a:t>System.out.println</a:t>
            </a:r>
            <a:r>
              <a:rPr lang="en-IN" dirty="0"/>
              <a:t>("Marks Default");</a:t>
            </a:r>
          </a:p>
          <a:p>
            <a:pPr marL="0" indent="0">
              <a:buNone/>
            </a:pPr>
            <a:r>
              <a:rPr lang="en-IN" dirty="0"/>
              <a:t>    }</a:t>
            </a:r>
          </a:p>
          <a:p>
            <a:pPr marL="0" indent="0">
              <a:buNone/>
            </a:pPr>
            <a:r>
              <a:rPr lang="en-IN" dirty="0"/>
              <a:t>    public Marks(</a:t>
            </a:r>
            <a:r>
              <a:rPr lang="en-IN" dirty="0" err="1"/>
              <a:t>int</a:t>
            </a:r>
            <a:r>
              <a:rPr lang="en-IN" dirty="0"/>
              <a:t> p)</a:t>
            </a:r>
          </a:p>
          <a:p>
            <a:pPr marL="0" indent="0">
              <a:buNone/>
            </a:pPr>
            <a:r>
              <a:rPr lang="en-IN" dirty="0"/>
              <a:t>    {</a:t>
            </a:r>
          </a:p>
          <a:p>
            <a:pPr marL="0" indent="0">
              <a:buNone/>
            </a:pPr>
            <a:r>
              <a:rPr lang="en-IN" dirty="0"/>
              <a:t>        </a:t>
            </a:r>
            <a:r>
              <a:rPr lang="en-IN" dirty="0" err="1"/>
              <a:t>phy</a:t>
            </a:r>
            <a:r>
              <a:rPr lang="en-IN" dirty="0"/>
              <a:t> = p;</a:t>
            </a:r>
          </a:p>
          <a:p>
            <a:pPr marL="0" indent="0">
              <a:buNone/>
            </a:pPr>
            <a:r>
              <a:rPr lang="en-IN" dirty="0"/>
              <a:t>    }</a:t>
            </a:r>
          </a:p>
          <a:p>
            <a:pPr marL="0" indent="0">
              <a:buNone/>
            </a:pPr>
            <a:r>
              <a:rPr lang="en-IN" dirty="0"/>
              <a:t>    public Marks(</a:t>
            </a:r>
            <a:r>
              <a:rPr lang="en-IN" dirty="0" err="1"/>
              <a:t>int</a:t>
            </a:r>
            <a:r>
              <a:rPr lang="en-IN" dirty="0"/>
              <a:t> p, </a:t>
            </a:r>
            <a:r>
              <a:rPr lang="en-IN" dirty="0" err="1"/>
              <a:t>int</a:t>
            </a:r>
            <a:r>
              <a:rPr lang="en-IN" dirty="0"/>
              <a:t> c)</a:t>
            </a:r>
          </a:p>
          <a:p>
            <a:pPr marL="0" indent="0">
              <a:buNone/>
            </a:pPr>
            <a:r>
              <a:rPr lang="en-IN" dirty="0"/>
              <a:t>    {</a:t>
            </a:r>
          </a:p>
          <a:p>
            <a:pPr marL="0" indent="0">
              <a:buNone/>
            </a:pPr>
            <a:r>
              <a:rPr lang="en-IN" dirty="0"/>
              <a:t>        </a:t>
            </a:r>
            <a:r>
              <a:rPr lang="en-IN" dirty="0" err="1"/>
              <a:t>phy</a:t>
            </a:r>
            <a:r>
              <a:rPr lang="en-IN" dirty="0"/>
              <a:t> = p;</a:t>
            </a:r>
          </a:p>
          <a:p>
            <a:pPr marL="0" indent="0">
              <a:buNone/>
            </a:pPr>
            <a:r>
              <a:rPr lang="en-IN" dirty="0"/>
              <a:t>        </a:t>
            </a:r>
            <a:r>
              <a:rPr lang="en-IN" dirty="0" err="1"/>
              <a:t>chem</a:t>
            </a:r>
            <a:r>
              <a:rPr lang="en-IN" dirty="0"/>
              <a:t> = c;</a:t>
            </a:r>
          </a:p>
          <a:p>
            <a:pPr marL="0" indent="0">
              <a:buNone/>
            </a:pPr>
            <a:r>
              <a:rPr lang="en-IN" dirty="0"/>
              <a:t>    }</a:t>
            </a:r>
          </a:p>
          <a:p>
            <a:pPr marL="0" indent="0">
              <a:buNone/>
            </a:pPr>
            <a:r>
              <a:rPr lang="en-IN" dirty="0"/>
              <a:t>}</a:t>
            </a:r>
          </a:p>
        </p:txBody>
      </p:sp>
    </p:spTree>
    <p:extLst>
      <p:ext uri="{BB962C8B-B14F-4D97-AF65-F5344CB8AC3E}">
        <p14:creationId xmlns:p14="http://schemas.microsoft.com/office/powerpoint/2010/main" val="39347686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943600"/>
          </a:xfrm>
        </p:spPr>
        <p:txBody>
          <a:bodyPr>
            <a:normAutofit fontScale="32500" lnSpcReduction="20000"/>
          </a:bodyPr>
          <a:lstStyle/>
          <a:p>
            <a:pPr marL="0" indent="0">
              <a:buNone/>
            </a:pPr>
            <a:r>
              <a:rPr lang="en-IN" dirty="0"/>
              <a:t>class Student extends Marks</a:t>
            </a:r>
          </a:p>
          <a:p>
            <a:pPr marL="0" indent="0">
              <a:buNone/>
            </a:pPr>
            <a:r>
              <a:rPr lang="en-IN" dirty="0"/>
              <a:t>{</a:t>
            </a:r>
          </a:p>
          <a:p>
            <a:pPr marL="0" indent="0">
              <a:buNone/>
            </a:pPr>
            <a:r>
              <a:rPr lang="en-IN" dirty="0"/>
              <a:t>    private </a:t>
            </a:r>
            <a:r>
              <a:rPr lang="en-IN" dirty="0" err="1"/>
              <a:t>int</a:t>
            </a:r>
            <a:r>
              <a:rPr lang="en-IN" dirty="0"/>
              <a:t> roll;</a:t>
            </a:r>
          </a:p>
          <a:p>
            <a:pPr marL="0" indent="0">
              <a:buNone/>
            </a:pPr>
            <a:r>
              <a:rPr lang="en-IN" dirty="0"/>
              <a:t>    private String name;</a:t>
            </a:r>
          </a:p>
          <a:p>
            <a:pPr marL="0" indent="0">
              <a:buNone/>
            </a:pPr>
            <a:r>
              <a:rPr lang="en-IN" dirty="0"/>
              <a:t>    </a:t>
            </a:r>
          </a:p>
          <a:p>
            <a:pPr marL="0" indent="0">
              <a:buNone/>
            </a:pPr>
            <a:r>
              <a:rPr lang="en-IN" dirty="0"/>
              <a:t>    public void </a:t>
            </a:r>
            <a:r>
              <a:rPr lang="en-IN" dirty="0" err="1"/>
              <a:t>inputS</a:t>
            </a:r>
            <a:r>
              <a:rPr lang="en-IN" dirty="0"/>
              <a:t>()</a:t>
            </a:r>
          </a:p>
          <a:p>
            <a:pPr marL="0" indent="0">
              <a:buNone/>
            </a:pPr>
            <a:r>
              <a:rPr lang="en-IN" dirty="0"/>
              <a:t>    {</a:t>
            </a:r>
          </a:p>
          <a:p>
            <a:pPr marL="0" indent="0">
              <a:buNone/>
            </a:pPr>
            <a:r>
              <a:rPr lang="en-IN" dirty="0"/>
              <a:t>        roll = </a:t>
            </a:r>
            <a:r>
              <a:rPr lang="en-IN" dirty="0" err="1"/>
              <a:t>Integer.parseInt</a:t>
            </a:r>
            <a:r>
              <a:rPr lang="en-IN" dirty="0"/>
              <a:t>(</a:t>
            </a:r>
            <a:r>
              <a:rPr lang="en-IN" dirty="0" err="1"/>
              <a:t>System.console</a:t>
            </a:r>
            <a:r>
              <a:rPr lang="en-IN" dirty="0"/>
              <a:t>().</a:t>
            </a:r>
            <a:r>
              <a:rPr lang="en-IN" dirty="0" err="1"/>
              <a:t>readLine</a:t>
            </a:r>
            <a:r>
              <a:rPr lang="en-IN" dirty="0"/>
              <a:t>("Enter roll"));</a:t>
            </a:r>
          </a:p>
          <a:p>
            <a:pPr marL="0" indent="0">
              <a:buNone/>
            </a:pPr>
            <a:r>
              <a:rPr lang="en-IN" dirty="0"/>
              <a:t>        name = </a:t>
            </a:r>
            <a:r>
              <a:rPr lang="en-IN" dirty="0" err="1"/>
              <a:t>System.console</a:t>
            </a:r>
            <a:r>
              <a:rPr lang="en-IN" dirty="0"/>
              <a:t>().</a:t>
            </a:r>
            <a:r>
              <a:rPr lang="en-IN" dirty="0" err="1"/>
              <a:t>readLine</a:t>
            </a:r>
            <a:r>
              <a:rPr lang="en-IN" dirty="0"/>
              <a:t>();</a:t>
            </a:r>
          </a:p>
          <a:p>
            <a:pPr marL="0" indent="0">
              <a:buNone/>
            </a:pPr>
            <a:r>
              <a:rPr lang="en-IN" dirty="0"/>
              <a:t>        </a:t>
            </a:r>
            <a:r>
              <a:rPr lang="en-IN" dirty="0" err="1"/>
              <a:t>super.inputM</a:t>
            </a:r>
            <a:r>
              <a:rPr lang="en-IN" dirty="0"/>
              <a:t>();</a:t>
            </a:r>
          </a:p>
          <a:p>
            <a:pPr marL="0" indent="0">
              <a:buNone/>
            </a:pPr>
            <a:r>
              <a:rPr lang="en-IN" dirty="0"/>
              <a:t>    }</a:t>
            </a:r>
          </a:p>
          <a:p>
            <a:pPr marL="0" indent="0">
              <a:buNone/>
            </a:pPr>
            <a:r>
              <a:rPr lang="en-IN" dirty="0"/>
              <a:t>    public void </a:t>
            </a:r>
            <a:r>
              <a:rPr lang="en-IN" dirty="0" err="1"/>
              <a:t>dispS</a:t>
            </a:r>
            <a:r>
              <a:rPr lang="en-IN" dirty="0"/>
              <a:t>()</a:t>
            </a:r>
          </a:p>
          <a:p>
            <a:pPr marL="0" indent="0">
              <a:buNone/>
            </a:pPr>
            <a:r>
              <a:rPr lang="en-IN" dirty="0"/>
              <a:t>    {</a:t>
            </a:r>
          </a:p>
          <a:p>
            <a:pPr marL="0" indent="0">
              <a:buNone/>
            </a:pPr>
            <a:r>
              <a:rPr lang="en-IN" dirty="0"/>
              <a:t>        </a:t>
            </a:r>
            <a:r>
              <a:rPr lang="en-IN" dirty="0" err="1"/>
              <a:t>System.out.println</a:t>
            </a:r>
            <a:r>
              <a:rPr lang="en-IN" dirty="0"/>
              <a:t>(roll+ "  "+ name);</a:t>
            </a:r>
          </a:p>
          <a:p>
            <a:pPr marL="0" indent="0">
              <a:buNone/>
            </a:pPr>
            <a:r>
              <a:rPr lang="en-IN" dirty="0"/>
              <a:t>        </a:t>
            </a:r>
            <a:r>
              <a:rPr lang="en-IN" dirty="0" err="1"/>
              <a:t>super.dispM</a:t>
            </a:r>
            <a:r>
              <a:rPr lang="en-IN" dirty="0"/>
              <a:t>();</a:t>
            </a:r>
          </a:p>
          <a:p>
            <a:pPr marL="0" indent="0">
              <a:buNone/>
            </a:pPr>
            <a:r>
              <a:rPr lang="en-IN" dirty="0"/>
              <a:t>    }</a:t>
            </a:r>
          </a:p>
          <a:p>
            <a:pPr marL="0" indent="0">
              <a:buNone/>
            </a:pPr>
            <a:r>
              <a:rPr lang="en-IN" dirty="0"/>
              <a:t>    public Student()</a:t>
            </a:r>
          </a:p>
          <a:p>
            <a:pPr marL="0" indent="0">
              <a:buNone/>
            </a:pPr>
            <a:r>
              <a:rPr lang="en-IN" dirty="0"/>
              <a:t>    {</a:t>
            </a:r>
          </a:p>
          <a:p>
            <a:pPr marL="0" indent="0">
              <a:buNone/>
            </a:pPr>
            <a:r>
              <a:rPr lang="en-IN" dirty="0"/>
              <a:t>        </a:t>
            </a:r>
            <a:r>
              <a:rPr lang="en-IN" dirty="0" err="1"/>
              <a:t>System.out.println</a:t>
            </a:r>
            <a:r>
              <a:rPr lang="en-IN" dirty="0"/>
              <a:t>("Student Default");</a:t>
            </a:r>
          </a:p>
          <a:p>
            <a:pPr marL="0" indent="0">
              <a:buNone/>
            </a:pPr>
            <a:r>
              <a:rPr lang="en-IN" dirty="0"/>
              <a:t>    }</a:t>
            </a:r>
          </a:p>
          <a:p>
            <a:pPr marL="0" indent="0">
              <a:buNone/>
            </a:pPr>
            <a:r>
              <a:rPr lang="en-IN" dirty="0"/>
              <a:t>    public Student(</a:t>
            </a:r>
            <a:r>
              <a:rPr lang="en-IN" dirty="0" err="1"/>
              <a:t>int</a:t>
            </a:r>
            <a:r>
              <a:rPr lang="en-IN" dirty="0"/>
              <a:t> r)</a:t>
            </a:r>
          </a:p>
          <a:p>
            <a:pPr marL="0" indent="0">
              <a:buNone/>
            </a:pPr>
            <a:r>
              <a:rPr lang="en-IN" dirty="0"/>
              <a:t>    {</a:t>
            </a:r>
          </a:p>
          <a:p>
            <a:pPr marL="0" indent="0">
              <a:buNone/>
            </a:pPr>
            <a:r>
              <a:rPr lang="en-IN" dirty="0"/>
              <a:t>        roll = r;</a:t>
            </a:r>
          </a:p>
          <a:p>
            <a:pPr marL="0" indent="0">
              <a:buNone/>
            </a:pPr>
            <a:r>
              <a:rPr lang="en-IN" dirty="0"/>
              <a:t>    }</a:t>
            </a:r>
          </a:p>
          <a:p>
            <a:pPr marL="0" indent="0">
              <a:buNone/>
            </a:pPr>
            <a:r>
              <a:rPr lang="en-IN" dirty="0"/>
              <a:t>    public Student(</a:t>
            </a:r>
            <a:r>
              <a:rPr lang="en-IN" dirty="0" err="1"/>
              <a:t>int</a:t>
            </a:r>
            <a:r>
              <a:rPr lang="en-IN" dirty="0"/>
              <a:t> r, String n)</a:t>
            </a:r>
          </a:p>
          <a:p>
            <a:pPr marL="0" indent="0">
              <a:buNone/>
            </a:pPr>
            <a:r>
              <a:rPr lang="en-IN" dirty="0"/>
              <a:t>    {</a:t>
            </a:r>
          </a:p>
          <a:p>
            <a:pPr marL="0" indent="0">
              <a:buNone/>
            </a:pPr>
            <a:r>
              <a:rPr lang="en-IN" dirty="0"/>
              <a:t>        roll = r;</a:t>
            </a:r>
          </a:p>
          <a:p>
            <a:pPr marL="0" indent="0">
              <a:buNone/>
            </a:pPr>
            <a:r>
              <a:rPr lang="en-IN" dirty="0"/>
              <a:t>        name = n;</a:t>
            </a:r>
          </a:p>
          <a:p>
            <a:pPr marL="0" indent="0">
              <a:buNone/>
            </a:pPr>
            <a:r>
              <a:rPr lang="en-IN" dirty="0"/>
              <a:t>    }</a:t>
            </a:r>
          </a:p>
          <a:p>
            <a:pPr marL="0" indent="0">
              <a:buNone/>
            </a:pPr>
            <a:r>
              <a:rPr lang="en-IN" dirty="0"/>
              <a:t>    public Student(</a:t>
            </a:r>
            <a:r>
              <a:rPr lang="en-IN" dirty="0" err="1"/>
              <a:t>int</a:t>
            </a:r>
            <a:r>
              <a:rPr lang="en-IN" dirty="0"/>
              <a:t> r, String n, </a:t>
            </a:r>
            <a:r>
              <a:rPr lang="en-IN" dirty="0" err="1"/>
              <a:t>int</a:t>
            </a:r>
            <a:r>
              <a:rPr lang="en-IN" dirty="0"/>
              <a:t> p, </a:t>
            </a:r>
            <a:r>
              <a:rPr lang="en-IN" dirty="0" err="1"/>
              <a:t>int</a:t>
            </a:r>
            <a:r>
              <a:rPr lang="en-IN" dirty="0"/>
              <a:t> c)</a:t>
            </a:r>
          </a:p>
          <a:p>
            <a:pPr marL="0" indent="0">
              <a:buNone/>
            </a:pPr>
            <a:r>
              <a:rPr lang="en-IN" dirty="0"/>
              <a:t>    {</a:t>
            </a:r>
          </a:p>
          <a:p>
            <a:pPr marL="0" indent="0">
              <a:buNone/>
            </a:pPr>
            <a:r>
              <a:rPr lang="en-IN" dirty="0"/>
              <a:t>        super(p, c);</a:t>
            </a:r>
          </a:p>
          <a:p>
            <a:pPr marL="0" indent="0">
              <a:buNone/>
            </a:pPr>
            <a:r>
              <a:rPr lang="en-IN" dirty="0"/>
              <a:t>        roll = r;</a:t>
            </a:r>
          </a:p>
          <a:p>
            <a:pPr marL="0" indent="0">
              <a:buNone/>
            </a:pPr>
            <a:r>
              <a:rPr lang="en-IN" dirty="0"/>
              <a:t>        name = n;</a:t>
            </a:r>
          </a:p>
          <a:p>
            <a:pPr marL="0" indent="0">
              <a:buNone/>
            </a:pPr>
            <a:r>
              <a:rPr lang="en-IN" dirty="0"/>
              <a:t>    }</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39347686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943600"/>
          </a:xfrm>
        </p:spPr>
        <p:txBody>
          <a:bodyPr>
            <a:normAutofit fontScale="32500" lnSpcReduction="20000"/>
          </a:bodyPr>
          <a:lstStyle/>
          <a:p>
            <a:pPr marL="0" indent="0">
              <a:buNone/>
            </a:pPr>
            <a:r>
              <a:rPr lang="en-IN" dirty="0"/>
              <a:t>class Comment extends Marks</a:t>
            </a:r>
          </a:p>
          <a:p>
            <a:pPr marL="0" indent="0">
              <a:buNone/>
            </a:pPr>
            <a:r>
              <a:rPr lang="en-IN" dirty="0"/>
              <a:t>{</a:t>
            </a:r>
          </a:p>
          <a:p>
            <a:pPr marL="0" indent="0">
              <a:buNone/>
            </a:pPr>
            <a:r>
              <a:rPr lang="en-IN" dirty="0"/>
              <a:t>    String comment;</a:t>
            </a:r>
          </a:p>
          <a:p>
            <a:pPr marL="0" indent="0">
              <a:buNone/>
            </a:pPr>
            <a:r>
              <a:rPr lang="en-IN" dirty="0"/>
              <a:t>    public void </a:t>
            </a:r>
            <a:r>
              <a:rPr lang="en-IN" dirty="0" err="1"/>
              <a:t>inputC</a:t>
            </a:r>
            <a:r>
              <a:rPr lang="en-IN" dirty="0"/>
              <a:t>()</a:t>
            </a:r>
          </a:p>
          <a:p>
            <a:pPr marL="0" indent="0">
              <a:buNone/>
            </a:pPr>
            <a:r>
              <a:rPr lang="en-IN" dirty="0"/>
              <a:t>    {</a:t>
            </a:r>
          </a:p>
          <a:p>
            <a:pPr marL="0" indent="0">
              <a:buNone/>
            </a:pPr>
            <a:r>
              <a:rPr lang="en-IN" dirty="0"/>
              <a:t>        </a:t>
            </a:r>
            <a:r>
              <a:rPr lang="en-IN" dirty="0" err="1"/>
              <a:t>super.inputM</a:t>
            </a:r>
            <a:r>
              <a:rPr lang="en-IN" dirty="0"/>
              <a:t>();  // Here we can not call Student class Methods</a:t>
            </a:r>
          </a:p>
          <a:p>
            <a:pPr marL="0" indent="0">
              <a:buNone/>
            </a:pPr>
            <a:r>
              <a:rPr lang="en-IN" dirty="0"/>
              <a:t>        comment = </a:t>
            </a:r>
            <a:r>
              <a:rPr lang="en-IN" dirty="0" err="1"/>
              <a:t>System.console</a:t>
            </a:r>
            <a:r>
              <a:rPr lang="en-IN" dirty="0"/>
              <a:t>().</a:t>
            </a:r>
            <a:r>
              <a:rPr lang="en-IN" dirty="0" err="1"/>
              <a:t>readLine</a:t>
            </a:r>
            <a:r>
              <a:rPr lang="en-IN" dirty="0"/>
              <a:t>("Enter Comments");</a:t>
            </a:r>
          </a:p>
          <a:p>
            <a:pPr marL="0" indent="0">
              <a:buNone/>
            </a:pPr>
            <a:r>
              <a:rPr lang="en-IN" dirty="0"/>
              <a:t>    }</a:t>
            </a:r>
          </a:p>
          <a:p>
            <a:pPr marL="0" indent="0">
              <a:buNone/>
            </a:pPr>
            <a:r>
              <a:rPr lang="en-IN" dirty="0"/>
              <a:t>    public void </a:t>
            </a:r>
            <a:r>
              <a:rPr lang="en-IN" dirty="0" err="1"/>
              <a:t>dispC</a:t>
            </a:r>
            <a:r>
              <a:rPr lang="en-IN" dirty="0"/>
              <a:t>()</a:t>
            </a:r>
          </a:p>
          <a:p>
            <a:pPr marL="0" indent="0">
              <a:buNone/>
            </a:pPr>
            <a:r>
              <a:rPr lang="en-IN" dirty="0"/>
              <a:t>    {</a:t>
            </a:r>
          </a:p>
          <a:p>
            <a:pPr marL="0" indent="0">
              <a:buNone/>
            </a:pPr>
            <a:r>
              <a:rPr lang="en-IN" dirty="0"/>
              <a:t>        </a:t>
            </a:r>
            <a:r>
              <a:rPr lang="en-IN" dirty="0" err="1"/>
              <a:t>super.dispM</a:t>
            </a:r>
            <a:r>
              <a:rPr lang="en-IN" dirty="0"/>
              <a:t>();</a:t>
            </a:r>
          </a:p>
          <a:p>
            <a:pPr marL="0" indent="0">
              <a:buNone/>
            </a:pPr>
            <a:r>
              <a:rPr lang="en-IN" dirty="0"/>
              <a:t>        </a:t>
            </a:r>
            <a:r>
              <a:rPr lang="en-IN" dirty="0" err="1"/>
              <a:t>System.out.println</a:t>
            </a:r>
            <a:r>
              <a:rPr lang="en-IN" dirty="0"/>
              <a:t>(comment);</a:t>
            </a:r>
          </a:p>
          <a:p>
            <a:pPr marL="0" indent="0">
              <a:buNone/>
            </a:pPr>
            <a:r>
              <a:rPr lang="en-IN" dirty="0"/>
              <a:t>    }</a:t>
            </a:r>
          </a:p>
          <a:p>
            <a:pPr marL="0" indent="0">
              <a:buNone/>
            </a:pPr>
            <a:r>
              <a:rPr lang="en-IN" dirty="0"/>
              <a:t>    </a:t>
            </a:r>
          </a:p>
          <a:p>
            <a:pPr marL="0" indent="0">
              <a:buNone/>
            </a:pPr>
            <a:r>
              <a:rPr lang="en-IN" dirty="0"/>
              <a:t>    public Comment()</a:t>
            </a:r>
          </a:p>
          <a:p>
            <a:pPr marL="0" indent="0">
              <a:buNone/>
            </a:pPr>
            <a:r>
              <a:rPr lang="en-IN" dirty="0"/>
              <a:t>    {</a:t>
            </a:r>
          </a:p>
          <a:p>
            <a:pPr marL="0" indent="0">
              <a:buNone/>
            </a:pPr>
            <a:r>
              <a:rPr lang="en-IN" dirty="0"/>
              <a:t>        </a:t>
            </a:r>
            <a:r>
              <a:rPr lang="en-IN" dirty="0" err="1"/>
              <a:t>System.out.println</a:t>
            </a:r>
            <a:r>
              <a:rPr lang="en-IN" dirty="0"/>
              <a:t>("Comment Default");</a:t>
            </a:r>
          </a:p>
          <a:p>
            <a:pPr marL="0" indent="0">
              <a:buNone/>
            </a:pPr>
            <a:r>
              <a:rPr lang="en-IN" dirty="0"/>
              <a:t>    }</a:t>
            </a:r>
          </a:p>
          <a:p>
            <a:pPr marL="0" indent="0">
              <a:buNone/>
            </a:pPr>
            <a:r>
              <a:rPr lang="en-IN" dirty="0"/>
              <a:t>    public Comment(</a:t>
            </a:r>
            <a:r>
              <a:rPr lang="en-IN" dirty="0" err="1"/>
              <a:t>int</a:t>
            </a:r>
            <a:r>
              <a:rPr lang="en-IN" dirty="0"/>
              <a:t> p, </a:t>
            </a:r>
            <a:r>
              <a:rPr lang="en-IN" dirty="0" err="1"/>
              <a:t>int</a:t>
            </a:r>
            <a:r>
              <a:rPr lang="en-IN" dirty="0"/>
              <a:t> c, String com)</a:t>
            </a:r>
          </a:p>
          <a:p>
            <a:pPr marL="0" indent="0">
              <a:buNone/>
            </a:pPr>
            <a:r>
              <a:rPr lang="en-IN" dirty="0"/>
              <a:t>    {</a:t>
            </a:r>
          </a:p>
          <a:p>
            <a:pPr marL="0" indent="0">
              <a:buNone/>
            </a:pPr>
            <a:r>
              <a:rPr lang="en-IN" dirty="0"/>
              <a:t>        super(p, c);</a:t>
            </a:r>
          </a:p>
          <a:p>
            <a:pPr marL="0" indent="0">
              <a:buNone/>
            </a:pPr>
            <a:r>
              <a:rPr lang="en-IN" dirty="0"/>
              <a:t>        comment = com;</a:t>
            </a:r>
          </a:p>
          <a:p>
            <a:pPr marL="0" indent="0">
              <a:buNone/>
            </a:pPr>
            <a:r>
              <a:rPr lang="en-IN" dirty="0"/>
              <a:t>    }</a:t>
            </a:r>
          </a:p>
          <a:p>
            <a:pPr marL="0" indent="0">
              <a:buNone/>
            </a:pPr>
            <a:r>
              <a:rPr lang="en-IN" dirty="0"/>
              <a:t>    </a:t>
            </a:r>
          </a:p>
          <a:p>
            <a:pPr marL="0" indent="0">
              <a:buNone/>
            </a:pPr>
            <a:r>
              <a:rPr lang="en-IN" dirty="0"/>
              <a:t>}</a:t>
            </a:r>
          </a:p>
          <a:p>
            <a:pPr marL="0" indent="0">
              <a:buNone/>
            </a:pPr>
            <a:r>
              <a:rPr lang="en-IN" dirty="0"/>
              <a:t>public class Demo</a:t>
            </a:r>
          </a:p>
          <a:p>
            <a:pPr marL="0" indent="0">
              <a:buNone/>
            </a:pPr>
            <a:r>
              <a:rPr lang="en-IN" dirty="0"/>
              <a:t>{</a:t>
            </a:r>
          </a:p>
          <a:p>
            <a:pPr marL="0" indent="0">
              <a:buNone/>
            </a:pPr>
            <a:r>
              <a:rPr lang="en-IN" dirty="0"/>
              <a:t>    public static void main(String[] </a:t>
            </a:r>
            <a:r>
              <a:rPr lang="en-IN" dirty="0" err="1"/>
              <a:t>args</a:t>
            </a:r>
            <a:r>
              <a:rPr lang="en-IN" dirty="0"/>
              <a:t>) </a:t>
            </a:r>
          </a:p>
          <a:p>
            <a:pPr marL="0" indent="0">
              <a:buNone/>
            </a:pPr>
            <a:r>
              <a:rPr lang="en-IN" dirty="0"/>
              <a:t>    {</a:t>
            </a:r>
          </a:p>
          <a:p>
            <a:pPr marL="0" indent="0">
              <a:buNone/>
            </a:pPr>
            <a:r>
              <a:rPr lang="en-IN" dirty="0"/>
              <a:t>        Student s1  = new Student(1, "John", 80, 90);</a:t>
            </a:r>
          </a:p>
          <a:p>
            <a:pPr marL="0" indent="0">
              <a:buNone/>
            </a:pPr>
            <a:r>
              <a:rPr lang="en-IN" dirty="0"/>
              <a:t>        s1.dispS();</a:t>
            </a:r>
          </a:p>
          <a:p>
            <a:pPr marL="0" indent="0">
              <a:buNone/>
            </a:pPr>
            <a:r>
              <a:rPr lang="en-IN" dirty="0"/>
              <a:t>        Comment c1 = new Comment(100, 70, "Good");</a:t>
            </a:r>
          </a:p>
          <a:p>
            <a:pPr marL="0" indent="0">
              <a:buNone/>
            </a:pPr>
            <a:r>
              <a:rPr lang="en-IN" dirty="0"/>
              <a:t>        c1.dispC();</a:t>
            </a:r>
          </a:p>
          <a:p>
            <a:pPr marL="0" indent="0">
              <a:buNone/>
            </a:pPr>
            <a:r>
              <a:rPr lang="en-IN" dirty="0"/>
              <a:t>    }</a:t>
            </a:r>
          </a:p>
          <a:p>
            <a:pPr marL="0" indent="0">
              <a:buNone/>
            </a:pPr>
            <a:r>
              <a:rPr lang="en-IN" dirty="0"/>
              <a:t>}</a:t>
            </a:r>
          </a:p>
        </p:txBody>
      </p:sp>
    </p:spTree>
    <p:extLst>
      <p:ext uri="{BB962C8B-B14F-4D97-AF65-F5344CB8AC3E}">
        <p14:creationId xmlns:p14="http://schemas.microsoft.com/office/powerpoint/2010/main" val="23850713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943600"/>
          </a:xfrm>
        </p:spPr>
        <p:txBody>
          <a:bodyPr>
            <a:normAutofit/>
          </a:bodyPr>
          <a:lstStyle/>
          <a:p>
            <a:r>
              <a:rPr lang="en-US" dirty="0"/>
              <a:t>Here both Student and Comment classes are inheriting Marks class. So in Comment class we cannot call Student class constructor or methods using super because there is no relation between them. </a:t>
            </a:r>
            <a:r>
              <a:rPr lang="en-US" dirty="0" err="1"/>
              <a:t>That?s</a:t>
            </a:r>
            <a:r>
              <a:rPr lang="en-US" dirty="0"/>
              <a:t> why we make changes in Comment class constructors and methods.</a:t>
            </a:r>
            <a:endParaRPr lang="en-IN" dirty="0"/>
          </a:p>
        </p:txBody>
      </p:sp>
    </p:spTree>
    <p:extLst>
      <p:ext uri="{BB962C8B-B14F-4D97-AF65-F5344CB8AC3E}">
        <p14:creationId xmlns:p14="http://schemas.microsoft.com/office/powerpoint/2010/main" val="37957132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943600"/>
          </a:xfrm>
        </p:spPr>
        <p:txBody>
          <a:bodyPr>
            <a:normAutofit/>
          </a:bodyPr>
          <a:lstStyle/>
          <a:p>
            <a:r>
              <a:rPr lang="en-US" b="1" dirty="0"/>
              <a:t>Multiple and Hybrid Inheritance -</a:t>
            </a:r>
          </a:p>
          <a:p>
            <a:r>
              <a:rPr lang="en-US" b="1" dirty="0"/>
              <a:t>Multiple inheritance</a:t>
            </a:r>
            <a:r>
              <a:rPr lang="en-US" dirty="0"/>
              <a:t> is just reverse of Hierarchical inheritance. That is, there is one sub class inheriting the properties of multiple super classes.</a:t>
            </a:r>
            <a:endParaRPr lang="en-IN" dirty="0"/>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3200400"/>
            <a:ext cx="5608637" cy="2339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59417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943600"/>
          </a:xfrm>
        </p:spPr>
        <p:txBody>
          <a:bodyPr>
            <a:normAutofit/>
          </a:bodyPr>
          <a:lstStyle/>
          <a:p>
            <a:r>
              <a:rPr lang="en-US" sz="2800" b="1" dirty="0"/>
              <a:t>Hybrid inheritance</a:t>
            </a:r>
            <a:r>
              <a:rPr lang="en-US" sz="2800" dirty="0"/>
              <a:t> is a combination of two or more inheritance, for example combination of hierarchical inheritance and multiple inheritance</a:t>
            </a:r>
            <a:r>
              <a:rPr lang="en-US" sz="2800" dirty="0" smtClean="0"/>
              <a:t>.</a:t>
            </a:r>
          </a:p>
          <a:p>
            <a:endParaRPr lang="en-US" sz="2800" dirty="0"/>
          </a:p>
          <a:p>
            <a:endParaRPr lang="en-US" sz="2800" dirty="0" smtClean="0"/>
          </a:p>
          <a:p>
            <a:endParaRPr lang="en-US" sz="2800" dirty="0"/>
          </a:p>
          <a:p>
            <a:endParaRPr lang="en-US" sz="2800" dirty="0" smtClean="0"/>
          </a:p>
          <a:p>
            <a:endParaRPr lang="en-US" sz="2800" dirty="0" smtClean="0"/>
          </a:p>
          <a:p>
            <a:endParaRPr lang="en-US" sz="2800" dirty="0"/>
          </a:p>
          <a:p>
            <a:r>
              <a:rPr lang="en-US" sz="2800" b="1" dirty="0" smtClean="0"/>
              <a:t>Multiple </a:t>
            </a:r>
            <a:r>
              <a:rPr lang="en-US" sz="2800" b="1" dirty="0"/>
              <a:t>and Hybrid inheritance are not supported by java classes. Java supports them using the concept of interface.</a:t>
            </a:r>
            <a:endParaRPr lang="en-IN" sz="2800" b="1"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1752600"/>
            <a:ext cx="4648200" cy="2805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59417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943600"/>
          </a:xfrm>
        </p:spPr>
        <p:txBody>
          <a:bodyPr>
            <a:normAutofit/>
          </a:bodyPr>
          <a:lstStyle/>
          <a:p>
            <a:r>
              <a:rPr lang="en-US" b="1" dirty="0"/>
              <a:t>Why Multiple Inheritance is Not Supported in Java (Using Classes):</a:t>
            </a:r>
          </a:p>
          <a:p>
            <a:r>
              <a:rPr lang="en-US" dirty="0"/>
              <a:t>Java does not support multiple inheritance with classes to avoid ambiguity and maintain simplicity in the inheritance hierarchy. The key issue arises when two parent classes have methods with the same name and a child class inherits from both.</a:t>
            </a:r>
          </a:p>
          <a:p>
            <a:endParaRPr lang="en-IN" dirty="0"/>
          </a:p>
        </p:txBody>
      </p:sp>
    </p:spTree>
    <p:extLst>
      <p:ext uri="{BB962C8B-B14F-4D97-AF65-F5344CB8AC3E}">
        <p14:creationId xmlns:p14="http://schemas.microsoft.com/office/powerpoint/2010/main" val="2659417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943600"/>
          </a:xfrm>
        </p:spPr>
        <p:txBody>
          <a:bodyPr>
            <a:normAutofit fontScale="47500" lnSpcReduction="20000"/>
          </a:bodyPr>
          <a:lstStyle/>
          <a:p>
            <a:r>
              <a:rPr lang="en-IN" dirty="0" smtClean="0"/>
              <a:t>Example – </a:t>
            </a:r>
          </a:p>
          <a:p>
            <a:pPr marL="0" indent="0">
              <a:buNone/>
            </a:pPr>
            <a:r>
              <a:rPr lang="en-IN" dirty="0"/>
              <a:t>class Parent1 {</a:t>
            </a:r>
          </a:p>
          <a:p>
            <a:pPr marL="0" indent="0">
              <a:buNone/>
            </a:pPr>
            <a:r>
              <a:rPr lang="en-IN" dirty="0"/>
              <a:t>    void display() {</a:t>
            </a:r>
          </a:p>
          <a:p>
            <a:pPr marL="0" indent="0">
              <a:buNone/>
            </a:pPr>
            <a:r>
              <a:rPr lang="en-IN" dirty="0"/>
              <a:t>        </a:t>
            </a:r>
            <a:r>
              <a:rPr lang="en-IN" dirty="0" err="1"/>
              <a:t>System.out.println</a:t>
            </a:r>
            <a:r>
              <a:rPr lang="en-IN" dirty="0"/>
              <a:t>("Display from Parent1");</a:t>
            </a:r>
          </a:p>
          <a:p>
            <a:pPr marL="0" indent="0">
              <a:buNone/>
            </a:pPr>
            <a:r>
              <a:rPr lang="en-IN" dirty="0"/>
              <a:t>    }</a:t>
            </a:r>
          </a:p>
          <a:p>
            <a:pPr marL="0" indent="0">
              <a:buNone/>
            </a:pPr>
            <a:r>
              <a:rPr lang="en-IN" dirty="0"/>
              <a:t>}</a:t>
            </a:r>
          </a:p>
          <a:p>
            <a:pPr marL="0" indent="0">
              <a:buNone/>
            </a:pPr>
            <a:endParaRPr lang="en-IN" dirty="0"/>
          </a:p>
          <a:p>
            <a:pPr marL="0" indent="0">
              <a:buNone/>
            </a:pPr>
            <a:r>
              <a:rPr lang="en-IN" dirty="0"/>
              <a:t>class Parent2 {</a:t>
            </a:r>
          </a:p>
          <a:p>
            <a:pPr marL="0" indent="0">
              <a:buNone/>
            </a:pPr>
            <a:r>
              <a:rPr lang="en-IN" dirty="0"/>
              <a:t>    void display() {</a:t>
            </a:r>
          </a:p>
          <a:p>
            <a:pPr marL="0" indent="0">
              <a:buNone/>
            </a:pPr>
            <a:r>
              <a:rPr lang="en-IN" dirty="0"/>
              <a:t>        </a:t>
            </a:r>
            <a:r>
              <a:rPr lang="en-IN" dirty="0" err="1"/>
              <a:t>System.out.println</a:t>
            </a:r>
            <a:r>
              <a:rPr lang="en-IN" dirty="0"/>
              <a:t>("Display from Parent2");</a:t>
            </a:r>
          </a:p>
          <a:p>
            <a:pPr marL="0" indent="0">
              <a:buNone/>
            </a:pPr>
            <a:r>
              <a:rPr lang="en-IN" dirty="0"/>
              <a:t>    }</a:t>
            </a:r>
          </a:p>
          <a:p>
            <a:pPr marL="0" indent="0">
              <a:buNone/>
            </a:pPr>
            <a:r>
              <a:rPr lang="en-IN" dirty="0"/>
              <a:t>}</a:t>
            </a:r>
          </a:p>
          <a:p>
            <a:pPr marL="0" indent="0">
              <a:buNone/>
            </a:pPr>
            <a:endParaRPr lang="en-IN" dirty="0"/>
          </a:p>
          <a:p>
            <a:pPr marL="0" indent="0">
              <a:buNone/>
            </a:pPr>
            <a:r>
              <a:rPr lang="en-IN" dirty="0"/>
              <a:t>// Attempting multiple inheritance (not allowed in Java)</a:t>
            </a:r>
          </a:p>
          <a:p>
            <a:pPr marL="0" indent="0">
              <a:buNone/>
            </a:pPr>
            <a:r>
              <a:rPr lang="en-IN" dirty="0"/>
              <a:t>class Child extends Parent1, Parent2 { // Error: Java does not allow this</a:t>
            </a:r>
          </a:p>
          <a:p>
            <a:pPr marL="0" indent="0">
              <a:buNone/>
            </a:pPr>
            <a:r>
              <a:rPr lang="en-IN" dirty="0"/>
              <a:t>    // Ambiguity: Which 'display()' method to inherit?</a:t>
            </a:r>
          </a:p>
          <a:p>
            <a:pPr marL="0" indent="0">
              <a:buNone/>
            </a:pPr>
            <a:r>
              <a:rPr lang="en-IN" dirty="0"/>
              <a:t>}</a:t>
            </a:r>
          </a:p>
          <a:p>
            <a:pPr marL="0" indent="0">
              <a:buNone/>
            </a:pPr>
            <a:endParaRPr lang="en-IN" dirty="0"/>
          </a:p>
          <a:p>
            <a:pPr marL="0" indent="0">
              <a:buNone/>
            </a:pPr>
            <a:r>
              <a:rPr lang="en-IN" dirty="0"/>
              <a:t>public class Main {</a:t>
            </a:r>
          </a:p>
          <a:p>
            <a:pPr marL="0" indent="0">
              <a:buNone/>
            </a:pPr>
            <a:r>
              <a:rPr lang="en-IN" dirty="0"/>
              <a:t>    public static void main(String[] </a:t>
            </a:r>
            <a:r>
              <a:rPr lang="en-IN" dirty="0" err="1"/>
              <a:t>args</a:t>
            </a:r>
            <a:r>
              <a:rPr lang="en-IN" dirty="0"/>
              <a:t>) {</a:t>
            </a:r>
          </a:p>
          <a:p>
            <a:pPr marL="0" indent="0">
              <a:buNone/>
            </a:pPr>
            <a:r>
              <a:rPr lang="en-IN" dirty="0"/>
              <a:t>        // Cannot compile</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2659417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943600"/>
          </a:xfrm>
        </p:spPr>
        <p:txBody>
          <a:bodyPr>
            <a:normAutofit fontScale="92500" lnSpcReduction="20000"/>
          </a:bodyPr>
          <a:lstStyle/>
          <a:p>
            <a:r>
              <a:rPr lang="en-US" b="1" dirty="0"/>
              <a:t>Reason for Restriction:</a:t>
            </a:r>
          </a:p>
          <a:p>
            <a:r>
              <a:rPr lang="en-US" dirty="0"/>
              <a:t>If Child were to inherit from both Parent1 and Parent2, the compiler would not know which version of the display() method to call. This ambiguity is known as the </a:t>
            </a:r>
            <a:r>
              <a:rPr lang="en-US" b="1" dirty="0"/>
              <a:t>diamond problem</a:t>
            </a:r>
            <a:r>
              <a:rPr lang="en-US" b="1" dirty="0" smtClean="0"/>
              <a:t>.</a:t>
            </a:r>
          </a:p>
          <a:p>
            <a:endParaRPr lang="en-US" b="1" dirty="0"/>
          </a:p>
          <a:p>
            <a:endParaRPr lang="en-US" dirty="0"/>
          </a:p>
          <a:p>
            <a:r>
              <a:rPr lang="en-US" b="1" dirty="0"/>
              <a:t>How Java Resolves This:</a:t>
            </a:r>
          </a:p>
          <a:p>
            <a:r>
              <a:rPr lang="en-US" dirty="0"/>
              <a:t>Java avoids this problem by:</a:t>
            </a:r>
          </a:p>
          <a:p>
            <a:r>
              <a:rPr lang="en-US" b="1" dirty="0"/>
              <a:t>Restricting Multiple Inheritance with Classes:</a:t>
            </a:r>
            <a:r>
              <a:rPr lang="en-US" dirty="0"/>
              <a:t> A class can only inherit from one superclass.</a:t>
            </a:r>
          </a:p>
          <a:p>
            <a:r>
              <a:rPr lang="en-US" b="1" dirty="0"/>
              <a:t>Using Interfaces:</a:t>
            </a:r>
            <a:r>
              <a:rPr lang="en-US" dirty="0"/>
              <a:t> Multiple inheritance is achieved through interfaces, as they do not contain implementation, only method signatures.</a:t>
            </a:r>
          </a:p>
          <a:p>
            <a:pPr marL="0" indent="0">
              <a:buNone/>
            </a:pPr>
            <a:endParaRPr lang="en-IN" dirty="0"/>
          </a:p>
        </p:txBody>
      </p:sp>
    </p:spTree>
    <p:extLst>
      <p:ext uri="{BB962C8B-B14F-4D97-AF65-F5344CB8AC3E}">
        <p14:creationId xmlns:p14="http://schemas.microsoft.com/office/powerpoint/2010/main" val="2659417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943600"/>
          </a:xfrm>
        </p:spPr>
        <p:txBody>
          <a:bodyPr>
            <a:normAutofit fontScale="70000" lnSpcReduction="20000"/>
          </a:bodyPr>
          <a:lstStyle/>
          <a:p>
            <a:r>
              <a:rPr lang="en-US" b="1" dirty="0"/>
              <a:t>Method Overriding (Function Overriding </a:t>
            </a:r>
            <a:r>
              <a:rPr lang="en-US" b="1" dirty="0" smtClean="0"/>
              <a:t>)-</a:t>
            </a:r>
          </a:p>
          <a:p>
            <a:endParaRPr lang="en-US" b="1" dirty="0"/>
          </a:p>
          <a:p>
            <a:r>
              <a:rPr lang="en-US" dirty="0"/>
              <a:t>Method overriding is a feature in Java that allows a subclass to provide a specific implementation for a method that is already defined in its superclass. It is a key concept in achieving </a:t>
            </a:r>
            <a:r>
              <a:rPr lang="en-US" b="1" dirty="0"/>
              <a:t>runtime polymorphism</a:t>
            </a:r>
            <a:r>
              <a:rPr lang="en-US" dirty="0"/>
              <a:t>.</a:t>
            </a:r>
          </a:p>
          <a:p>
            <a:r>
              <a:rPr lang="en-US" dirty="0"/>
              <a:t>In method overriding, the method in the subclass should have the same name, return type, and parameter list as the method in the superclass.</a:t>
            </a:r>
          </a:p>
          <a:p>
            <a:r>
              <a:rPr lang="en-US" b="1" dirty="0"/>
              <a:t>Key Points:</a:t>
            </a:r>
          </a:p>
          <a:p>
            <a:r>
              <a:rPr lang="en-US" b="1" dirty="0"/>
              <a:t>Same method signature:</a:t>
            </a:r>
            <a:r>
              <a:rPr lang="en-US" dirty="0"/>
              <a:t> The method in the subclass should have the same name, return type, and parameter list as the method in the superclass.</a:t>
            </a:r>
          </a:p>
          <a:p>
            <a:r>
              <a:rPr lang="en-US" b="1" dirty="0"/>
              <a:t>@Override Annotation:</a:t>
            </a:r>
            <a:r>
              <a:rPr lang="en-US" dirty="0"/>
              <a:t> It is recommended (but optional) to use the @Override annotation to indicate that a method is overriding a method in the superclass.</a:t>
            </a:r>
          </a:p>
          <a:p>
            <a:r>
              <a:rPr lang="en-US" b="1" dirty="0"/>
              <a:t>Dynamic Method Dispatch:</a:t>
            </a:r>
            <a:r>
              <a:rPr lang="en-US" dirty="0"/>
              <a:t> At runtime, the JVM decides which version of the method to call (superclass or subclass), which is what enables polymorphism.</a:t>
            </a:r>
          </a:p>
        </p:txBody>
      </p:sp>
    </p:spTree>
    <p:extLst>
      <p:ext uri="{BB962C8B-B14F-4D97-AF65-F5344CB8AC3E}">
        <p14:creationId xmlns:p14="http://schemas.microsoft.com/office/powerpoint/2010/main" val="2659417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943600"/>
          </a:xfrm>
        </p:spPr>
        <p:txBody>
          <a:bodyPr>
            <a:normAutofit fontScale="55000" lnSpcReduction="20000"/>
          </a:bodyPr>
          <a:lstStyle/>
          <a:p>
            <a:r>
              <a:rPr lang="en-IN" dirty="0" smtClean="0"/>
              <a:t>Example – </a:t>
            </a:r>
          </a:p>
          <a:p>
            <a:pPr marL="0" indent="0">
              <a:buNone/>
            </a:pPr>
            <a:r>
              <a:rPr lang="en-IN" dirty="0"/>
              <a:t>class Superclass {</a:t>
            </a:r>
          </a:p>
          <a:p>
            <a:pPr marL="0" indent="0">
              <a:buNone/>
            </a:pPr>
            <a:r>
              <a:rPr lang="en-IN" dirty="0"/>
              <a:t>    void display() {</a:t>
            </a:r>
          </a:p>
          <a:p>
            <a:pPr marL="0" indent="0">
              <a:buNone/>
            </a:pPr>
            <a:r>
              <a:rPr lang="en-IN" dirty="0"/>
              <a:t>        </a:t>
            </a:r>
            <a:r>
              <a:rPr lang="en-IN" dirty="0" err="1"/>
              <a:t>System.out.println</a:t>
            </a:r>
            <a:r>
              <a:rPr lang="en-IN" dirty="0"/>
              <a:t>("Display method in Superclass");</a:t>
            </a:r>
          </a:p>
          <a:p>
            <a:pPr marL="0" indent="0">
              <a:buNone/>
            </a:pPr>
            <a:r>
              <a:rPr lang="en-IN" dirty="0"/>
              <a:t>    }</a:t>
            </a:r>
          </a:p>
          <a:p>
            <a:pPr marL="0" indent="0">
              <a:buNone/>
            </a:pPr>
            <a:r>
              <a:rPr lang="en-IN" dirty="0"/>
              <a:t>}</a:t>
            </a:r>
          </a:p>
          <a:p>
            <a:pPr marL="0" indent="0">
              <a:buNone/>
            </a:pPr>
            <a:endParaRPr lang="en-IN" dirty="0"/>
          </a:p>
          <a:p>
            <a:pPr marL="0" indent="0">
              <a:buNone/>
            </a:pPr>
            <a:r>
              <a:rPr lang="en-IN" dirty="0"/>
              <a:t>class Subclass extends Superclass {</a:t>
            </a:r>
          </a:p>
          <a:p>
            <a:pPr marL="0" indent="0">
              <a:buNone/>
            </a:pPr>
            <a:r>
              <a:rPr lang="en-IN" dirty="0"/>
              <a:t>    @Override</a:t>
            </a:r>
          </a:p>
          <a:p>
            <a:pPr marL="0" indent="0">
              <a:buNone/>
            </a:pPr>
            <a:r>
              <a:rPr lang="en-IN" dirty="0"/>
              <a:t>    void display() {</a:t>
            </a:r>
          </a:p>
          <a:p>
            <a:pPr marL="0" indent="0">
              <a:buNone/>
            </a:pPr>
            <a:r>
              <a:rPr lang="en-IN" dirty="0"/>
              <a:t>        </a:t>
            </a:r>
            <a:r>
              <a:rPr lang="en-IN" dirty="0" err="1"/>
              <a:t>System.out.println</a:t>
            </a:r>
            <a:r>
              <a:rPr lang="en-IN" dirty="0"/>
              <a:t>("Display method in Subclass");</a:t>
            </a:r>
          </a:p>
          <a:p>
            <a:pPr marL="0" indent="0">
              <a:buNone/>
            </a:pPr>
            <a:r>
              <a:rPr lang="en-IN" dirty="0"/>
              <a:t>    }</a:t>
            </a:r>
          </a:p>
          <a:p>
            <a:pPr marL="0" indent="0">
              <a:buNone/>
            </a:pPr>
            <a:r>
              <a:rPr lang="en-IN" dirty="0"/>
              <a:t>}</a:t>
            </a:r>
          </a:p>
          <a:p>
            <a:pPr marL="0" indent="0">
              <a:buNone/>
            </a:pPr>
            <a:endParaRPr lang="en-IN" dirty="0"/>
          </a:p>
          <a:p>
            <a:pPr marL="0" indent="0">
              <a:buNone/>
            </a:pPr>
            <a:r>
              <a:rPr lang="en-IN" dirty="0"/>
              <a:t>public class Main {</a:t>
            </a:r>
          </a:p>
          <a:p>
            <a:pPr marL="0" indent="0">
              <a:buNone/>
            </a:pPr>
            <a:r>
              <a:rPr lang="en-IN" dirty="0"/>
              <a:t>    public static void main(String[] </a:t>
            </a:r>
            <a:r>
              <a:rPr lang="en-IN" dirty="0" err="1"/>
              <a:t>args</a:t>
            </a:r>
            <a:r>
              <a:rPr lang="en-IN" dirty="0"/>
              <a:t>) {</a:t>
            </a:r>
          </a:p>
          <a:p>
            <a:pPr marL="0" indent="0">
              <a:buNone/>
            </a:pPr>
            <a:r>
              <a:rPr lang="en-IN" dirty="0"/>
              <a:t>        Superclass </a:t>
            </a:r>
            <a:r>
              <a:rPr lang="en-IN" dirty="0" err="1"/>
              <a:t>obj</a:t>
            </a:r>
            <a:r>
              <a:rPr lang="en-IN" dirty="0"/>
              <a:t> = new Subclass();</a:t>
            </a:r>
          </a:p>
          <a:p>
            <a:pPr marL="0" indent="0">
              <a:buNone/>
            </a:pPr>
            <a:r>
              <a:rPr lang="en-IN" dirty="0"/>
              <a:t>        </a:t>
            </a:r>
            <a:r>
              <a:rPr lang="en-IN" dirty="0" err="1"/>
              <a:t>obj.display</a:t>
            </a:r>
            <a:r>
              <a:rPr lang="en-IN" dirty="0"/>
              <a:t>(); // Calls the overridden method in Subclass</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2659417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943600"/>
          </a:xfrm>
        </p:spPr>
        <p:txBody>
          <a:bodyPr>
            <a:normAutofit/>
          </a:bodyPr>
          <a:lstStyle/>
          <a:p>
            <a:r>
              <a:rPr lang="en-US" b="1" dirty="0"/>
              <a:t>Why Use Method Overriding?</a:t>
            </a:r>
          </a:p>
          <a:p>
            <a:r>
              <a:rPr lang="en-US" b="1" dirty="0"/>
              <a:t>Polymorphism:</a:t>
            </a:r>
            <a:r>
              <a:rPr lang="en-US" dirty="0"/>
              <a:t> It allows the same method name to have different implementations depending on the object type.</a:t>
            </a:r>
          </a:p>
          <a:p>
            <a:r>
              <a:rPr lang="en-US" b="1" dirty="0"/>
              <a:t>Runtime Flexibility:</a:t>
            </a:r>
            <a:r>
              <a:rPr lang="en-US" dirty="0"/>
              <a:t> The subclass can change or extend the behavior of the superclass without modifying the superclass's code.</a:t>
            </a:r>
          </a:p>
          <a:p>
            <a:endParaRPr lang="en-IN" dirty="0"/>
          </a:p>
        </p:txBody>
      </p:sp>
    </p:spTree>
    <p:extLst>
      <p:ext uri="{BB962C8B-B14F-4D97-AF65-F5344CB8AC3E}">
        <p14:creationId xmlns:p14="http://schemas.microsoft.com/office/powerpoint/2010/main" val="2659417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943600"/>
          </a:xfrm>
        </p:spPr>
        <p:txBody>
          <a:bodyPr>
            <a:normAutofit fontScale="32500" lnSpcReduction="20000"/>
          </a:bodyPr>
          <a:lstStyle/>
          <a:p>
            <a:r>
              <a:rPr lang="en-IN" dirty="0" smtClean="0"/>
              <a:t>Example 2 – </a:t>
            </a:r>
          </a:p>
          <a:p>
            <a:pPr marL="0" indent="0">
              <a:buNone/>
            </a:pPr>
            <a:r>
              <a:rPr lang="en-IN" dirty="0"/>
              <a:t>class Animal {</a:t>
            </a:r>
          </a:p>
          <a:p>
            <a:pPr marL="0" indent="0">
              <a:buNone/>
            </a:pPr>
            <a:r>
              <a:rPr lang="en-IN" dirty="0"/>
              <a:t>    void sound() {</a:t>
            </a:r>
          </a:p>
          <a:p>
            <a:pPr marL="0" indent="0">
              <a:buNone/>
            </a:pPr>
            <a:r>
              <a:rPr lang="en-IN" dirty="0"/>
              <a:t>        </a:t>
            </a:r>
            <a:r>
              <a:rPr lang="en-IN" dirty="0" err="1"/>
              <a:t>System.out.println</a:t>
            </a:r>
            <a:r>
              <a:rPr lang="en-IN" dirty="0"/>
              <a:t>("Animal makes a sound");</a:t>
            </a:r>
          </a:p>
          <a:p>
            <a:pPr marL="0" indent="0">
              <a:buNone/>
            </a:pPr>
            <a:r>
              <a:rPr lang="en-IN" dirty="0"/>
              <a:t>    }</a:t>
            </a:r>
          </a:p>
          <a:p>
            <a:pPr marL="0" indent="0">
              <a:buNone/>
            </a:pPr>
            <a:r>
              <a:rPr lang="en-IN" dirty="0"/>
              <a:t>}</a:t>
            </a:r>
          </a:p>
          <a:p>
            <a:pPr marL="0" indent="0">
              <a:buNone/>
            </a:pPr>
            <a:endParaRPr lang="en-IN" dirty="0"/>
          </a:p>
          <a:p>
            <a:pPr marL="0" indent="0">
              <a:buNone/>
            </a:pPr>
            <a:r>
              <a:rPr lang="en-IN" dirty="0"/>
              <a:t>class Dog extends Animal {</a:t>
            </a:r>
          </a:p>
          <a:p>
            <a:pPr marL="0" indent="0">
              <a:buNone/>
            </a:pPr>
            <a:r>
              <a:rPr lang="en-IN" dirty="0"/>
              <a:t>    @Override</a:t>
            </a:r>
          </a:p>
          <a:p>
            <a:pPr marL="0" indent="0">
              <a:buNone/>
            </a:pPr>
            <a:r>
              <a:rPr lang="en-IN" dirty="0"/>
              <a:t>    void sound() {</a:t>
            </a:r>
          </a:p>
          <a:p>
            <a:pPr marL="0" indent="0">
              <a:buNone/>
            </a:pPr>
            <a:r>
              <a:rPr lang="en-IN" dirty="0"/>
              <a:t>        </a:t>
            </a:r>
            <a:r>
              <a:rPr lang="en-IN" dirty="0" err="1"/>
              <a:t>System.out.println</a:t>
            </a:r>
            <a:r>
              <a:rPr lang="en-IN" dirty="0"/>
              <a:t>("Dog barks");</a:t>
            </a:r>
          </a:p>
          <a:p>
            <a:pPr marL="0" indent="0">
              <a:buNone/>
            </a:pPr>
            <a:r>
              <a:rPr lang="en-IN" dirty="0"/>
              <a:t>    }</a:t>
            </a:r>
          </a:p>
          <a:p>
            <a:pPr marL="0" indent="0">
              <a:buNone/>
            </a:pPr>
            <a:r>
              <a:rPr lang="en-IN" dirty="0"/>
              <a:t>}</a:t>
            </a:r>
          </a:p>
          <a:p>
            <a:pPr marL="0" indent="0">
              <a:buNone/>
            </a:pPr>
            <a:endParaRPr lang="en-IN" dirty="0"/>
          </a:p>
          <a:p>
            <a:pPr marL="0" indent="0">
              <a:buNone/>
            </a:pPr>
            <a:r>
              <a:rPr lang="en-IN" dirty="0"/>
              <a:t>class Cat extends Animal {</a:t>
            </a:r>
          </a:p>
          <a:p>
            <a:pPr marL="0" indent="0">
              <a:buNone/>
            </a:pPr>
            <a:r>
              <a:rPr lang="en-IN" dirty="0"/>
              <a:t>    @Override</a:t>
            </a:r>
          </a:p>
          <a:p>
            <a:pPr marL="0" indent="0">
              <a:buNone/>
            </a:pPr>
            <a:r>
              <a:rPr lang="en-IN" dirty="0"/>
              <a:t>    void sound() {</a:t>
            </a:r>
          </a:p>
          <a:p>
            <a:pPr marL="0" indent="0">
              <a:buNone/>
            </a:pPr>
            <a:r>
              <a:rPr lang="en-IN" dirty="0"/>
              <a:t>        </a:t>
            </a:r>
            <a:r>
              <a:rPr lang="en-IN" dirty="0" err="1"/>
              <a:t>System.out.println</a:t>
            </a:r>
            <a:r>
              <a:rPr lang="en-IN" dirty="0"/>
              <a:t>("Cat meows");</a:t>
            </a:r>
          </a:p>
          <a:p>
            <a:pPr marL="0" indent="0">
              <a:buNone/>
            </a:pPr>
            <a:r>
              <a:rPr lang="en-IN" dirty="0"/>
              <a:t>    }</a:t>
            </a:r>
          </a:p>
          <a:p>
            <a:pPr marL="0" indent="0">
              <a:buNone/>
            </a:pPr>
            <a:r>
              <a:rPr lang="en-IN" dirty="0"/>
              <a:t>}</a:t>
            </a:r>
          </a:p>
          <a:p>
            <a:pPr marL="0" indent="0">
              <a:buNone/>
            </a:pPr>
            <a:endParaRPr lang="en-IN" dirty="0"/>
          </a:p>
          <a:p>
            <a:pPr marL="0" indent="0">
              <a:buNone/>
            </a:pPr>
            <a:r>
              <a:rPr lang="en-IN" dirty="0"/>
              <a:t>public class Main {</a:t>
            </a:r>
          </a:p>
          <a:p>
            <a:pPr marL="0" indent="0">
              <a:buNone/>
            </a:pPr>
            <a:r>
              <a:rPr lang="en-IN" dirty="0"/>
              <a:t>    public static void main(String[] </a:t>
            </a:r>
            <a:r>
              <a:rPr lang="en-IN" dirty="0" err="1"/>
              <a:t>args</a:t>
            </a:r>
            <a:r>
              <a:rPr lang="en-IN" dirty="0"/>
              <a:t>) {</a:t>
            </a:r>
          </a:p>
          <a:p>
            <a:pPr marL="0" indent="0">
              <a:buNone/>
            </a:pPr>
            <a:r>
              <a:rPr lang="en-IN" dirty="0"/>
              <a:t>        Animal </a:t>
            </a:r>
            <a:r>
              <a:rPr lang="en-IN" dirty="0" err="1"/>
              <a:t>myAnimal</a:t>
            </a:r>
            <a:r>
              <a:rPr lang="en-IN" dirty="0"/>
              <a:t> = new Animal();</a:t>
            </a:r>
          </a:p>
          <a:p>
            <a:pPr marL="0" indent="0">
              <a:buNone/>
            </a:pPr>
            <a:r>
              <a:rPr lang="en-IN" dirty="0"/>
              <a:t>        Animal </a:t>
            </a:r>
            <a:r>
              <a:rPr lang="en-IN" dirty="0" err="1"/>
              <a:t>myDog</a:t>
            </a:r>
            <a:r>
              <a:rPr lang="en-IN" dirty="0"/>
              <a:t> = new Dog();</a:t>
            </a:r>
          </a:p>
          <a:p>
            <a:pPr marL="0" indent="0">
              <a:buNone/>
            </a:pPr>
            <a:r>
              <a:rPr lang="en-IN" dirty="0"/>
              <a:t>        Animal </a:t>
            </a:r>
            <a:r>
              <a:rPr lang="en-IN" dirty="0" err="1"/>
              <a:t>myCat</a:t>
            </a:r>
            <a:r>
              <a:rPr lang="en-IN" dirty="0"/>
              <a:t> = new Cat();</a:t>
            </a:r>
          </a:p>
          <a:p>
            <a:pPr marL="0" indent="0">
              <a:buNone/>
            </a:pPr>
            <a:endParaRPr lang="en-IN" dirty="0"/>
          </a:p>
          <a:p>
            <a:pPr marL="0" indent="0">
              <a:buNone/>
            </a:pPr>
            <a:r>
              <a:rPr lang="en-IN" dirty="0"/>
              <a:t>        </a:t>
            </a:r>
            <a:r>
              <a:rPr lang="en-IN" dirty="0" err="1"/>
              <a:t>myAnimal.sound</a:t>
            </a:r>
            <a:r>
              <a:rPr lang="en-IN" dirty="0"/>
              <a:t>(); // Calls Animal's sound()</a:t>
            </a:r>
          </a:p>
          <a:p>
            <a:pPr marL="0" indent="0">
              <a:buNone/>
            </a:pPr>
            <a:r>
              <a:rPr lang="en-IN" dirty="0"/>
              <a:t>        </a:t>
            </a:r>
            <a:r>
              <a:rPr lang="en-IN" dirty="0" err="1"/>
              <a:t>myDog.sound</a:t>
            </a:r>
            <a:r>
              <a:rPr lang="en-IN" dirty="0"/>
              <a:t>();    // Calls Dog's sound()</a:t>
            </a:r>
          </a:p>
          <a:p>
            <a:pPr marL="0" indent="0">
              <a:buNone/>
            </a:pPr>
            <a:r>
              <a:rPr lang="en-IN" dirty="0"/>
              <a:t>        </a:t>
            </a:r>
            <a:r>
              <a:rPr lang="en-IN" dirty="0" err="1"/>
              <a:t>myCat.sound</a:t>
            </a:r>
            <a:r>
              <a:rPr lang="en-IN" dirty="0"/>
              <a:t>();    // Calls Cat's sound()</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35536901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943600"/>
          </a:xfrm>
        </p:spPr>
        <p:txBody>
          <a:bodyPr>
            <a:normAutofit lnSpcReduction="10000"/>
          </a:bodyPr>
          <a:lstStyle/>
          <a:p>
            <a:r>
              <a:rPr lang="en-IN" b="1" dirty="0"/>
              <a:t>Covariant Return </a:t>
            </a:r>
            <a:r>
              <a:rPr lang="en-IN" b="1" dirty="0" smtClean="0"/>
              <a:t>Type – </a:t>
            </a:r>
          </a:p>
          <a:p>
            <a:r>
              <a:rPr lang="en-US" dirty="0"/>
              <a:t>Covariant return type is a feature in Java where a subclass method can return a type that is a subclass of the type returned by the superclass method. This allows the return type to be more specific in the subclass method while maintaining the general return type in the superclass method.</a:t>
            </a:r>
          </a:p>
          <a:p>
            <a:r>
              <a:rPr lang="en-US" dirty="0"/>
              <a:t>This is useful for returning more specific objects or collections in the subclass while still adhering to the method signature from the superclass.</a:t>
            </a:r>
          </a:p>
          <a:p>
            <a:endParaRPr lang="en-IN" b="1" dirty="0"/>
          </a:p>
        </p:txBody>
      </p:sp>
    </p:spTree>
    <p:extLst>
      <p:ext uri="{BB962C8B-B14F-4D97-AF65-F5344CB8AC3E}">
        <p14:creationId xmlns:p14="http://schemas.microsoft.com/office/powerpoint/2010/main" val="9080799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943600"/>
          </a:xfrm>
        </p:spPr>
        <p:txBody>
          <a:bodyPr>
            <a:normAutofit fontScale="40000" lnSpcReduction="20000"/>
          </a:bodyPr>
          <a:lstStyle/>
          <a:p>
            <a:r>
              <a:rPr lang="en-IN" dirty="0" smtClean="0"/>
              <a:t>Example – </a:t>
            </a:r>
          </a:p>
          <a:p>
            <a:pPr marL="0" indent="0">
              <a:buNone/>
            </a:pPr>
            <a:r>
              <a:rPr lang="en-IN" dirty="0"/>
              <a:t>class Animal {</a:t>
            </a:r>
          </a:p>
          <a:p>
            <a:pPr marL="0" indent="0">
              <a:buNone/>
            </a:pPr>
            <a:r>
              <a:rPr lang="en-IN" dirty="0"/>
              <a:t>    // Method in the superclass with return type Animal</a:t>
            </a:r>
          </a:p>
          <a:p>
            <a:pPr marL="0" indent="0">
              <a:buNone/>
            </a:pPr>
            <a:r>
              <a:rPr lang="en-IN" dirty="0"/>
              <a:t>    Animal </a:t>
            </a:r>
            <a:r>
              <a:rPr lang="en-IN" dirty="0" err="1"/>
              <a:t>makeSound</a:t>
            </a:r>
            <a:r>
              <a:rPr lang="en-IN" dirty="0"/>
              <a:t>() {</a:t>
            </a:r>
          </a:p>
          <a:p>
            <a:pPr marL="0" indent="0">
              <a:buNone/>
            </a:pPr>
            <a:r>
              <a:rPr lang="en-IN" dirty="0"/>
              <a:t>        </a:t>
            </a:r>
            <a:r>
              <a:rPr lang="en-IN" dirty="0" err="1"/>
              <a:t>System.out.println</a:t>
            </a:r>
            <a:r>
              <a:rPr lang="en-IN" dirty="0"/>
              <a:t>("Animal makes a sound");</a:t>
            </a:r>
          </a:p>
          <a:p>
            <a:pPr marL="0" indent="0">
              <a:buNone/>
            </a:pPr>
            <a:r>
              <a:rPr lang="en-IN" dirty="0"/>
              <a:t>        return new Animal();</a:t>
            </a:r>
          </a:p>
          <a:p>
            <a:pPr marL="0" indent="0">
              <a:buNone/>
            </a:pPr>
            <a:r>
              <a:rPr lang="en-IN" dirty="0"/>
              <a:t>    }</a:t>
            </a:r>
          </a:p>
          <a:p>
            <a:pPr marL="0" indent="0">
              <a:buNone/>
            </a:pPr>
            <a:r>
              <a:rPr lang="en-IN" dirty="0"/>
              <a:t>}</a:t>
            </a:r>
          </a:p>
          <a:p>
            <a:pPr marL="0" indent="0">
              <a:buNone/>
            </a:pPr>
            <a:endParaRPr lang="en-IN" dirty="0"/>
          </a:p>
          <a:p>
            <a:pPr marL="0" indent="0">
              <a:buNone/>
            </a:pPr>
            <a:r>
              <a:rPr lang="en-IN" dirty="0"/>
              <a:t>class Dog extends Animal {</a:t>
            </a:r>
          </a:p>
          <a:p>
            <a:pPr marL="0" indent="0">
              <a:buNone/>
            </a:pPr>
            <a:r>
              <a:rPr lang="en-IN" dirty="0"/>
              <a:t>    // Overriding method in the subclass with a more specific return type (Dog)</a:t>
            </a:r>
          </a:p>
          <a:p>
            <a:pPr marL="0" indent="0">
              <a:buNone/>
            </a:pPr>
            <a:r>
              <a:rPr lang="en-IN" dirty="0"/>
              <a:t>    @Override</a:t>
            </a:r>
          </a:p>
          <a:p>
            <a:pPr marL="0" indent="0">
              <a:buNone/>
            </a:pPr>
            <a:r>
              <a:rPr lang="en-IN" dirty="0"/>
              <a:t>    Dog </a:t>
            </a:r>
            <a:r>
              <a:rPr lang="en-IN" dirty="0" err="1"/>
              <a:t>makeSound</a:t>
            </a:r>
            <a:r>
              <a:rPr lang="en-IN" dirty="0"/>
              <a:t>() {</a:t>
            </a:r>
          </a:p>
          <a:p>
            <a:pPr marL="0" indent="0">
              <a:buNone/>
            </a:pPr>
            <a:r>
              <a:rPr lang="en-IN" dirty="0"/>
              <a:t>        </a:t>
            </a:r>
            <a:r>
              <a:rPr lang="en-IN" dirty="0" err="1"/>
              <a:t>System.out.println</a:t>
            </a:r>
            <a:r>
              <a:rPr lang="en-IN" dirty="0"/>
              <a:t>("Dog barks");</a:t>
            </a:r>
          </a:p>
          <a:p>
            <a:pPr marL="0" indent="0">
              <a:buNone/>
            </a:pPr>
            <a:r>
              <a:rPr lang="en-IN" dirty="0"/>
              <a:t>        return new Dog();  // Returning a more specific type (Dog)</a:t>
            </a:r>
          </a:p>
          <a:p>
            <a:pPr marL="0" indent="0">
              <a:buNone/>
            </a:pPr>
            <a:r>
              <a:rPr lang="en-IN" dirty="0"/>
              <a:t>    }</a:t>
            </a:r>
          </a:p>
          <a:p>
            <a:pPr marL="0" indent="0">
              <a:buNone/>
            </a:pPr>
            <a:r>
              <a:rPr lang="en-IN" dirty="0"/>
              <a:t>}</a:t>
            </a:r>
          </a:p>
          <a:p>
            <a:pPr marL="0" indent="0">
              <a:buNone/>
            </a:pPr>
            <a:endParaRPr lang="en-IN" dirty="0"/>
          </a:p>
          <a:p>
            <a:pPr marL="0" indent="0">
              <a:buNone/>
            </a:pPr>
            <a:r>
              <a:rPr lang="en-IN" dirty="0"/>
              <a:t>public class Main {</a:t>
            </a:r>
          </a:p>
          <a:p>
            <a:pPr marL="0" indent="0">
              <a:buNone/>
            </a:pPr>
            <a:r>
              <a:rPr lang="en-IN" dirty="0"/>
              <a:t>    public static void main(String[] </a:t>
            </a:r>
            <a:r>
              <a:rPr lang="en-IN" dirty="0" err="1"/>
              <a:t>args</a:t>
            </a:r>
            <a:r>
              <a:rPr lang="en-IN" dirty="0"/>
              <a:t>) {</a:t>
            </a:r>
          </a:p>
          <a:p>
            <a:pPr marL="0" indent="0">
              <a:buNone/>
            </a:pPr>
            <a:r>
              <a:rPr lang="en-IN" dirty="0"/>
              <a:t>        Animal </a:t>
            </a:r>
            <a:r>
              <a:rPr lang="en-IN" dirty="0" err="1"/>
              <a:t>myAnimal</a:t>
            </a:r>
            <a:r>
              <a:rPr lang="en-IN" dirty="0"/>
              <a:t> = new Animal();</a:t>
            </a:r>
          </a:p>
          <a:p>
            <a:pPr marL="0" indent="0">
              <a:buNone/>
            </a:pPr>
            <a:r>
              <a:rPr lang="en-IN" dirty="0"/>
              <a:t>        Animal </a:t>
            </a:r>
            <a:r>
              <a:rPr lang="en-IN" dirty="0" err="1"/>
              <a:t>myDog</a:t>
            </a:r>
            <a:r>
              <a:rPr lang="en-IN" dirty="0"/>
              <a:t> = new Dog();</a:t>
            </a:r>
          </a:p>
          <a:p>
            <a:pPr marL="0" indent="0">
              <a:buNone/>
            </a:pPr>
            <a:r>
              <a:rPr lang="en-IN" dirty="0"/>
              <a:t>        </a:t>
            </a:r>
          </a:p>
          <a:p>
            <a:pPr marL="0" indent="0">
              <a:buNone/>
            </a:pPr>
            <a:r>
              <a:rPr lang="en-IN" dirty="0"/>
              <a:t>        </a:t>
            </a:r>
            <a:r>
              <a:rPr lang="en-IN" dirty="0" err="1"/>
              <a:t>myAnimal</a:t>
            </a:r>
            <a:r>
              <a:rPr lang="en-IN" dirty="0"/>
              <a:t> = </a:t>
            </a:r>
            <a:r>
              <a:rPr lang="en-IN" dirty="0" err="1"/>
              <a:t>myAnimal.makeSound</a:t>
            </a:r>
            <a:r>
              <a:rPr lang="en-IN" dirty="0"/>
              <a:t>();  // Calls Animal's </a:t>
            </a:r>
            <a:r>
              <a:rPr lang="en-IN" dirty="0" err="1"/>
              <a:t>makeSound</a:t>
            </a:r>
            <a:r>
              <a:rPr lang="en-IN" dirty="0"/>
              <a:t>()</a:t>
            </a:r>
          </a:p>
          <a:p>
            <a:pPr marL="0" indent="0">
              <a:buNone/>
            </a:pPr>
            <a:r>
              <a:rPr lang="en-IN" dirty="0"/>
              <a:t>        </a:t>
            </a:r>
            <a:r>
              <a:rPr lang="en-IN" dirty="0" err="1"/>
              <a:t>myDog</a:t>
            </a:r>
            <a:r>
              <a:rPr lang="en-IN" dirty="0"/>
              <a:t> = </a:t>
            </a:r>
            <a:r>
              <a:rPr lang="en-IN" dirty="0" err="1"/>
              <a:t>myDog.makeSound</a:t>
            </a:r>
            <a:r>
              <a:rPr lang="en-IN" dirty="0"/>
              <a:t>();        // Calls Dog's </a:t>
            </a:r>
            <a:r>
              <a:rPr lang="en-IN" dirty="0" err="1"/>
              <a:t>makeSound</a:t>
            </a:r>
            <a:r>
              <a:rPr lang="en-IN" dirty="0"/>
              <a:t>()</a:t>
            </a:r>
          </a:p>
          <a:p>
            <a:pPr marL="0" indent="0">
              <a:buNone/>
            </a:pPr>
            <a:r>
              <a:rPr lang="en-IN" dirty="0"/>
              <a:t>    }</a:t>
            </a:r>
          </a:p>
          <a:p>
            <a:pPr marL="0" indent="0">
              <a:buNone/>
            </a:pPr>
            <a:r>
              <a:rPr lang="en-IN"/>
              <a:t>}</a:t>
            </a:r>
          </a:p>
          <a:p>
            <a:pPr marL="0" indent="0">
              <a:buNone/>
            </a:pPr>
            <a:endParaRPr lang="en-IN" dirty="0"/>
          </a:p>
        </p:txBody>
      </p:sp>
    </p:spTree>
    <p:extLst>
      <p:ext uri="{BB962C8B-B14F-4D97-AF65-F5344CB8AC3E}">
        <p14:creationId xmlns:p14="http://schemas.microsoft.com/office/powerpoint/2010/main" val="38103169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943600"/>
          </a:xfrm>
        </p:spPr>
        <p:txBody>
          <a:bodyPr>
            <a:normAutofit/>
          </a:bodyPr>
          <a:lstStyle/>
          <a:p>
            <a:endParaRPr lang="en-IN" dirty="0"/>
          </a:p>
        </p:txBody>
      </p:sp>
    </p:spTree>
    <p:extLst>
      <p:ext uri="{BB962C8B-B14F-4D97-AF65-F5344CB8AC3E}">
        <p14:creationId xmlns:p14="http://schemas.microsoft.com/office/powerpoint/2010/main" val="38103169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1546</TotalTime>
  <Words>2997</Words>
  <Application>Microsoft Office PowerPoint</Application>
  <PresentationFormat>On-screen Show (4:3)</PresentationFormat>
  <Paragraphs>509</Paragraphs>
  <Slides>34</Slides>
  <Notes>7</Notes>
  <HiddenSlides>0</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Office Theme</vt:lpstr>
      <vt:lpstr>Inheritance</vt:lpstr>
      <vt:lpstr>Inheritance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Inheritance</dc:title>
  <dc:creator/>
  <cp:lastModifiedBy>Rohit Kamboj</cp:lastModifiedBy>
  <cp:revision>70</cp:revision>
  <dcterms:created xsi:type="dcterms:W3CDTF">2006-08-16T00:00:00Z</dcterms:created>
  <dcterms:modified xsi:type="dcterms:W3CDTF">2025-01-21T07:05:12Z</dcterms:modified>
</cp:coreProperties>
</file>