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05" autoAdjust="0"/>
  </p:normalViewPr>
  <p:slideViewPr>
    <p:cSldViewPr>
      <p:cViewPr varScale="1">
        <p:scale>
          <a:sx n="76" d="100"/>
          <a:sy n="76" d="100"/>
        </p:scale>
        <p:origin x="-1642"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AE4218-796B-4D32-9513-BD15998ED7D7}" type="datetimeFigureOut">
              <a:rPr lang="en-IN" smtClean="0"/>
              <a:t>10-04-2025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17F84F-9FB9-4A27-B9E7-E805E9D33F44}" type="slidenum">
              <a:rPr lang="en-IN" smtClean="0"/>
              <a:t>‹#›</a:t>
            </a:fld>
            <a:endParaRPr lang="en-IN"/>
          </a:p>
        </p:txBody>
      </p:sp>
    </p:spTree>
    <p:extLst>
      <p:ext uri="{BB962C8B-B14F-4D97-AF65-F5344CB8AC3E}">
        <p14:creationId xmlns:p14="http://schemas.microsoft.com/office/powerpoint/2010/main" val="400056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Different RDBMS makes use of different URLs -</a:t>
            </a:r>
            <a:r>
              <a:rPr lang="en-US" dirty="0" smtClean="0"/>
              <a:t/>
            </a:r>
            <a:br>
              <a:rPr lang="en-US" dirty="0" smtClean="0"/>
            </a:br>
            <a:r>
              <a:rPr lang="en-US" sz="1200" b="1" i="0" kern="1200" dirty="0" smtClean="0">
                <a:solidFill>
                  <a:schemeClr val="tx1"/>
                </a:solidFill>
                <a:effectLst/>
                <a:latin typeface="+mn-lt"/>
                <a:ea typeface="+mn-ea"/>
                <a:cs typeface="+mn-cs"/>
              </a:rPr>
              <a:t>1- for </a:t>
            </a:r>
            <a:r>
              <a:rPr lang="en-US" sz="1200" b="1" i="0" kern="1200" dirty="0" err="1" smtClean="0">
                <a:solidFill>
                  <a:schemeClr val="tx1"/>
                </a:solidFill>
                <a:effectLst/>
                <a:latin typeface="+mn-lt"/>
                <a:ea typeface="+mn-ea"/>
                <a:cs typeface="+mn-cs"/>
              </a:rPr>
              <a:t>MySql</a:t>
            </a:r>
            <a:r>
              <a:rPr lang="en-US" sz="1200" b="1" i="0" kern="1200" dirty="0" smtClean="0">
                <a:solidFill>
                  <a:schemeClr val="tx1"/>
                </a:solidFill>
                <a:effectLst/>
                <a:latin typeface="+mn-lt"/>
                <a:ea typeface="+mn-ea"/>
                <a:cs typeface="+mn-cs"/>
              </a:rPr>
              <a:t> -</a:t>
            </a:r>
            <a:r>
              <a:rPr lang="en-US" b="1" dirty="0" err="1" smtClean="0">
                <a:effectLst/>
              </a:rPr>
              <a:t>jdbc:mysql</a:t>
            </a:r>
            <a:r>
              <a:rPr lang="en-US" b="1" dirty="0" smtClean="0">
                <a:effectLst/>
              </a:rPr>
              <a:t>://localhost:3306/</a:t>
            </a:r>
            <a:r>
              <a:rPr lang="en-US" b="1" dirty="0" err="1" smtClean="0">
                <a:effectLst/>
              </a:rPr>
              <a:t>databaseName</a:t>
            </a:r>
            <a:r>
              <a:rPr lang="en-US" dirty="0" smtClean="0"/>
              <a:t> Here </a:t>
            </a:r>
            <a:r>
              <a:rPr lang="en-US" dirty="0" err="1" smtClean="0"/>
              <a:t>localhost</a:t>
            </a:r>
            <a:r>
              <a:rPr lang="en-US" dirty="0" smtClean="0"/>
              <a:t> is the host name, 3306 is the port number on which </a:t>
            </a:r>
            <a:r>
              <a:rPr lang="en-US" dirty="0" err="1" smtClean="0"/>
              <a:t>MySql</a:t>
            </a:r>
            <a:r>
              <a:rPr lang="en-US" dirty="0" smtClean="0"/>
              <a:t> RDBM run and </a:t>
            </a:r>
            <a:r>
              <a:rPr lang="en-US" dirty="0" err="1" smtClean="0"/>
              <a:t>databaseName</a:t>
            </a:r>
            <a:r>
              <a:rPr lang="en-US" dirty="0" smtClean="0"/>
              <a:t> is the name of database, you created. </a:t>
            </a:r>
          </a:p>
          <a:p>
            <a:r>
              <a:rPr lang="en-US" sz="1200" b="1" i="0" kern="1200" dirty="0" smtClean="0">
                <a:solidFill>
                  <a:schemeClr val="tx1"/>
                </a:solidFill>
                <a:effectLst/>
                <a:latin typeface="+mn-lt"/>
                <a:ea typeface="+mn-ea"/>
                <a:cs typeface="+mn-cs"/>
              </a:rPr>
              <a:t>2- for Oracle -</a:t>
            </a:r>
            <a:r>
              <a:rPr lang="en-US" b="1" dirty="0" err="1" smtClean="0">
                <a:effectLst/>
              </a:rPr>
              <a:t>jdbc:oracle:thin</a:t>
            </a:r>
            <a:r>
              <a:rPr lang="en-US" b="1" dirty="0" smtClean="0">
                <a:effectLst/>
              </a:rPr>
              <a:t>:@localhost:1521:databaseName</a:t>
            </a:r>
            <a:r>
              <a:rPr lang="en-US" dirty="0" smtClean="0"/>
              <a:t> Here </a:t>
            </a:r>
            <a:r>
              <a:rPr lang="en-US" dirty="0" err="1" smtClean="0"/>
              <a:t>localhost</a:t>
            </a:r>
            <a:r>
              <a:rPr lang="en-US" dirty="0" smtClean="0"/>
              <a:t> is the host name, 1521 is the port number on which Oracle RDBM run and </a:t>
            </a:r>
            <a:r>
              <a:rPr lang="en-US" dirty="0" err="1" smtClean="0"/>
              <a:t>databaseName</a:t>
            </a:r>
            <a:r>
              <a:rPr lang="en-US" dirty="0" smtClean="0"/>
              <a:t> is the name of database, you created.</a:t>
            </a:r>
            <a:endParaRPr lang="en-IN" dirty="0"/>
          </a:p>
        </p:txBody>
      </p:sp>
      <p:sp>
        <p:nvSpPr>
          <p:cNvPr id="4" name="Slide Number Placeholder 3"/>
          <p:cNvSpPr>
            <a:spLocks noGrp="1"/>
          </p:cNvSpPr>
          <p:nvPr>
            <p:ph type="sldNum" sz="quarter" idx="10"/>
          </p:nvPr>
        </p:nvSpPr>
        <p:spPr/>
        <p:txBody>
          <a:bodyPr/>
          <a:lstStyle/>
          <a:p>
            <a:fld id="{5217F84F-9FB9-4A27-B9E7-E805E9D33F44}" type="slidenum">
              <a:rPr lang="en-IN" smtClean="0"/>
              <a:t>5</a:t>
            </a:fld>
            <a:endParaRPr lang="en-IN"/>
          </a:p>
        </p:txBody>
      </p:sp>
    </p:spTree>
    <p:extLst>
      <p:ext uri="{BB962C8B-B14F-4D97-AF65-F5344CB8AC3E}">
        <p14:creationId xmlns:p14="http://schemas.microsoft.com/office/powerpoint/2010/main" val="1794149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Click the </a:t>
            </a:r>
            <a:r>
              <a:rPr lang="en-US" b="1" dirty="0" smtClean="0"/>
              <a:t>“ZIP Archive”</a:t>
            </a:r>
            <a:r>
              <a:rPr lang="en-US" dirty="0" smtClean="0"/>
              <a:t> option under the </a:t>
            </a:r>
            <a:r>
              <a:rPr lang="en-US" b="1" dirty="0" smtClean="0"/>
              <a:t>Platform Independent</a:t>
            </a:r>
            <a:r>
              <a:rPr lang="en-US" dirty="0" smtClean="0"/>
              <a:t> section and download it.</a:t>
            </a:r>
            <a:endParaRPr lang="en-IN" dirty="0"/>
          </a:p>
        </p:txBody>
      </p:sp>
      <p:sp>
        <p:nvSpPr>
          <p:cNvPr id="4" name="Slide Number Placeholder 3"/>
          <p:cNvSpPr>
            <a:spLocks noGrp="1"/>
          </p:cNvSpPr>
          <p:nvPr>
            <p:ph type="sldNum" sz="quarter" idx="10"/>
          </p:nvPr>
        </p:nvSpPr>
        <p:spPr/>
        <p:txBody>
          <a:bodyPr/>
          <a:lstStyle/>
          <a:p>
            <a:fld id="{5217F84F-9FB9-4A27-B9E7-E805E9D33F44}" type="slidenum">
              <a:rPr lang="en-IN" smtClean="0"/>
              <a:t>6</a:t>
            </a:fld>
            <a:endParaRPr lang="en-IN"/>
          </a:p>
        </p:txBody>
      </p:sp>
    </p:spTree>
    <p:extLst>
      <p:ext uri="{BB962C8B-B14F-4D97-AF65-F5344CB8AC3E}">
        <p14:creationId xmlns:p14="http://schemas.microsoft.com/office/powerpoint/2010/main" val="714765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a:t>
            </a:r>
          </a:p>
          <a:p>
            <a:r>
              <a:rPr lang="en-US" sz="1200" b="0"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java.sql.ResultSet</a:t>
            </a:r>
            <a:r>
              <a:rPr lang="en-US" sz="1200" b="0" i="0" kern="1200" dirty="0" smtClean="0">
                <a:solidFill>
                  <a:schemeClr val="tx1"/>
                </a:solidFill>
                <a:effectLst/>
                <a:latin typeface="+mn-lt"/>
                <a:ea typeface="+mn-ea"/>
                <a:cs typeface="+mn-cs"/>
              </a:rPr>
              <a:t> is an interface that provides a way to access the data produced by executing SQL Select statement.</a:t>
            </a:r>
            <a:r>
              <a:rPr lang="en-US" dirty="0" smtClean="0"/>
              <a:t/>
            </a:r>
            <a:br>
              <a:rPr lang="en-US" dirty="0" smtClean="0"/>
            </a:br>
            <a:r>
              <a:rPr lang="en-US" sz="1200" b="0" i="0" kern="1200" dirty="0" smtClean="0">
                <a:solidFill>
                  <a:schemeClr val="tx1"/>
                </a:solidFill>
                <a:effectLst/>
                <a:latin typeface="+mn-lt"/>
                <a:ea typeface="+mn-ea"/>
                <a:cs typeface="+mn-cs"/>
              </a:rPr>
              <a:t>» It maintains a cursor to current row of data , Initially the cursor will be just before the first row.</a:t>
            </a:r>
            <a:r>
              <a:rPr lang="en-US" dirty="0" smtClean="0"/>
              <a:t/>
            </a:r>
            <a:br>
              <a:rPr lang="en-US" dirty="0" smtClean="0"/>
            </a:br>
            <a:r>
              <a:rPr lang="en-US" sz="1200" b="0" i="0" kern="1200" dirty="0" smtClean="0">
                <a:solidFill>
                  <a:schemeClr val="tx1"/>
                </a:solidFill>
                <a:effectLst/>
                <a:latin typeface="+mn-lt"/>
                <a:ea typeface="+mn-ea"/>
                <a:cs typeface="+mn-cs"/>
              </a:rPr>
              <a:t>» It accesses the rows of table in sequential order, however within rows columns can be accessed in any order.</a:t>
            </a:r>
            <a:r>
              <a:rPr lang="en-US" dirty="0" smtClean="0"/>
              <a:t/>
            </a:r>
            <a:br>
              <a:rPr lang="en-US" dirty="0" smtClean="0"/>
            </a:br>
            <a:r>
              <a:rPr lang="en-US" dirty="0" smtClean="0"/>
              <a:t/>
            </a:r>
            <a:br>
              <a:rPr lang="en-US" dirty="0" smtClean="0"/>
            </a:br>
            <a:r>
              <a:rPr lang="en-US" sz="1200" b="1"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provides the following useful methods to access and manipulate table data -</a:t>
            </a:r>
            <a:r>
              <a:rPr lang="en-US" dirty="0" smtClean="0"/>
              <a:t/>
            </a:r>
            <a:br>
              <a:rPr lang="en-US" dirty="0" smtClean="0"/>
            </a:br>
            <a:r>
              <a:rPr lang="en-US" sz="1200" b="1" i="0" kern="1200" dirty="0" smtClean="0">
                <a:solidFill>
                  <a:schemeClr val="tx1"/>
                </a:solidFill>
                <a:effectLst/>
                <a:latin typeface="+mn-lt"/>
                <a:ea typeface="+mn-ea"/>
                <a:cs typeface="+mn-cs"/>
              </a:rPr>
              <a:t>1-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next()- </a:t>
            </a:r>
            <a:r>
              <a:rPr lang="en-US" sz="1200" b="0" i="0" kern="1200" dirty="0" smtClean="0">
                <a:solidFill>
                  <a:schemeClr val="tx1"/>
                </a:solidFill>
                <a:effectLst/>
                <a:latin typeface="+mn-lt"/>
                <a:ea typeface="+mn-ea"/>
                <a:cs typeface="+mn-cs"/>
              </a:rPr>
              <a:t>It places the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to the next row. As we know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is initially positioned just before the first row, so first call to next() will move the cursor at first row, second call at second row and so on. It has the following syntax -</a:t>
            </a:r>
            <a:r>
              <a:rPr lang="en-US" b="1" dirty="0" err="1" smtClean="0">
                <a:effectLst/>
              </a:rPr>
              <a:t>boolean</a:t>
            </a:r>
            <a:r>
              <a:rPr lang="en-US" b="1" dirty="0" smtClean="0">
                <a:effectLst/>
              </a:rPr>
              <a:t> next() throws </a:t>
            </a:r>
            <a:r>
              <a:rPr lang="en-US" b="1" dirty="0" err="1" smtClean="0">
                <a:effectLst/>
              </a:rPr>
              <a:t>SQLException</a:t>
            </a:r>
            <a:r>
              <a:rPr lang="en-US" dirty="0" smtClean="0"/>
              <a:t> It returns true if the new current row is valid, false otherwise. </a:t>
            </a:r>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previous()- </a:t>
            </a:r>
            <a:r>
              <a:rPr lang="en-US" sz="1200" b="0" i="0" kern="1200" dirty="0" smtClean="0">
                <a:solidFill>
                  <a:schemeClr val="tx1"/>
                </a:solidFill>
                <a:effectLst/>
                <a:latin typeface="+mn-lt"/>
                <a:ea typeface="+mn-ea"/>
                <a:cs typeface="+mn-cs"/>
              </a:rPr>
              <a:t>It places the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to the previous row. It has the following syntax -</a:t>
            </a:r>
            <a:r>
              <a:rPr lang="en-US" dirty="0" smtClean="0"/>
              <a:t> </a:t>
            </a:r>
            <a:r>
              <a:rPr lang="en-US" b="1" dirty="0" err="1" smtClean="0">
                <a:effectLst/>
              </a:rPr>
              <a:t>boolean</a:t>
            </a:r>
            <a:r>
              <a:rPr lang="en-US" b="1" dirty="0" smtClean="0">
                <a:effectLst/>
              </a:rPr>
              <a:t> previous() throws </a:t>
            </a:r>
            <a:r>
              <a:rPr lang="en-US" b="1" dirty="0" err="1" smtClean="0">
                <a:effectLst/>
              </a:rPr>
              <a:t>SQLException</a:t>
            </a:r>
            <a:r>
              <a:rPr lang="en-US" dirty="0" smtClean="0"/>
              <a:t> It returns true if cursor is now positioned at a valid row, false otherwise. If it returns false then cursor will be placed just before the first row. </a:t>
            </a:r>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first()- </a:t>
            </a:r>
            <a:r>
              <a:rPr lang="en-US" sz="1200" b="0" i="0" kern="1200" dirty="0" smtClean="0">
                <a:solidFill>
                  <a:schemeClr val="tx1"/>
                </a:solidFill>
                <a:effectLst/>
                <a:latin typeface="+mn-lt"/>
                <a:ea typeface="+mn-ea"/>
                <a:cs typeface="+mn-cs"/>
              </a:rPr>
              <a:t>It moves the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to the first row. It has the following syntax -</a:t>
            </a:r>
            <a:r>
              <a:rPr lang="en-US" b="1" dirty="0" err="1" smtClean="0">
                <a:effectLst/>
              </a:rPr>
              <a:t>boolean</a:t>
            </a:r>
            <a:r>
              <a:rPr lang="en-US" b="1" dirty="0" smtClean="0">
                <a:effectLst/>
              </a:rPr>
              <a:t> first() throws </a:t>
            </a:r>
            <a:r>
              <a:rPr lang="en-US" b="1" dirty="0" err="1" smtClean="0">
                <a:effectLst/>
              </a:rPr>
              <a:t>SQLException</a:t>
            </a:r>
            <a:r>
              <a:rPr lang="en-US" dirty="0" smtClean="0"/>
              <a:t> It returns true if the new current row is valid, false if there is no row in </a:t>
            </a:r>
            <a:r>
              <a:rPr lang="en-US" dirty="0" err="1" smtClean="0"/>
              <a:t>ResultSet</a:t>
            </a:r>
            <a:r>
              <a:rPr lang="en-US" dirty="0" smtClean="0"/>
              <a:t>. </a:t>
            </a:r>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last()- </a:t>
            </a:r>
            <a:r>
              <a:rPr lang="en-US" sz="1200" b="0" i="0" kern="1200" dirty="0" smtClean="0">
                <a:solidFill>
                  <a:schemeClr val="tx1"/>
                </a:solidFill>
                <a:effectLst/>
                <a:latin typeface="+mn-lt"/>
                <a:ea typeface="+mn-ea"/>
                <a:cs typeface="+mn-cs"/>
              </a:rPr>
              <a:t>It moves the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to the last row. It has the following syntax -</a:t>
            </a:r>
            <a:r>
              <a:rPr lang="en-US" b="1" dirty="0" err="1" smtClean="0">
                <a:effectLst/>
              </a:rPr>
              <a:t>boolean</a:t>
            </a:r>
            <a:r>
              <a:rPr lang="en-US" b="1" dirty="0" smtClean="0">
                <a:effectLst/>
              </a:rPr>
              <a:t> last() throws </a:t>
            </a:r>
            <a:r>
              <a:rPr lang="en-US" b="1" dirty="0" err="1" smtClean="0">
                <a:effectLst/>
              </a:rPr>
              <a:t>SQLException</a:t>
            </a:r>
            <a:r>
              <a:rPr lang="en-US" dirty="0" smtClean="0"/>
              <a:t> It returns true if the new current row is valid, false if there is no row in </a:t>
            </a:r>
            <a:r>
              <a:rPr lang="en-US" dirty="0" err="1" smtClean="0"/>
              <a:t>ResultSet</a:t>
            </a:r>
            <a:r>
              <a:rPr lang="en-US" dirty="0" smtClean="0"/>
              <a:t>. </a:t>
            </a:r>
            <a:r>
              <a:rPr lang="en-US" sz="1200" b="1" i="0" kern="1200" dirty="0" smtClean="0">
                <a:solidFill>
                  <a:schemeClr val="tx1"/>
                </a:solidFill>
                <a:effectLst/>
                <a:latin typeface="+mn-lt"/>
                <a:ea typeface="+mn-ea"/>
                <a:cs typeface="+mn-cs"/>
              </a:rPr>
              <a:t>5-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isBeforeFirst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is used to check whether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is before the first row or not. It has the following syntax -</a:t>
            </a:r>
            <a:r>
              <a:rPr lang="en-US" b="1" dirty="0" err="1" smtClean="0">
                <a:effectLst/>
              </a:rPr>
              <a:t>boolean</a:t>
            </a:r>
            <a:r>
              <a:rPr lang="en-US" b="1" dirty="0" smtClean="0">
                <a:effectLst/>
              </a:rPr>
              <a:t> </a:t>
            </a:r>
            <a:r>
              <a:rPr lang="en-US" b="1" dirty="0" err="1" smtClean="0">
                <a:effectLst/>
              </a:rPr>
              <a:t>isBeforeFirst</a:t>
            </a:r>
            <a:r>
              <a:rPr lang="en-US" b="1" dirty="0" smtClean="0">
                <a:effectLst/>
              </a:rPr>
              <a:t>() throws </a:t>
            </a:r>
            <a:r>
              <a:rPr lang="en-US" b="1" dirty="0" err="1" smtClean="0">
                <a:effectLst/>
              </a:rPr>
              <a:t>SQLException</a:t>
            </a:r>
            <a:r>
              <a:rPr lang="en-US" dirty="0" smtClean="0"/>
              <a:t> It returns true if cursor is before the first row, false otherwise. </a:t>
            </a:r>
            <a:r>
              <a:rPr lang="en-US" sz="1200" b="1" i="0" kern="1200" dirty="0" smtClean="0">
                <a:solidFill>
                  <a:schemeClr val="tx1"/>
                </a:solidFill>
                <a:effectLst/>
                <a:latin typeface="+mn-lt"/>
                <a:ea typeface="+mn-ea"/>
                <a:cs typeface="+mn-cs"/>
              </a:rPr>
              <a:t>6-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isAfterLast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is used to check whether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is after the last row or not. It has the following syntax -</a:t>
            </a:r>
            <a:r>
              <a:rPr lang="en-US" b="1" dirty="0" err="1" smtClean="0">
                <a:effectLst/>
              </a:rPr>
              <a:t>boolean</a:t>
            </a:r>
            <a:r>
              <a:rPr lang="en-US" b="1" dirty="0" smtClean="0">
                <a:effectLst/>
              </a:rPr>
              <a:t> </a:t>
            </a:r>
            <a:r>
              <a:rPr lang="en-US" b="1" dirty="0" err="1" smtClean="0">
                <a:effectLst/>
              </a:rPr>
              <a:t>isAfterLast</a:t>
            </a:r>
            <a:r>
              <a:rPr lang="en-US" b="1" dirty="0" smtClean="0">
                <a:effectLst/>
              </a:rPr>
              <a:t>() throws </a:t>
            </a:r>
            <a:r>
              <a:rPr lang="en-US" b="1" dirty="0" err="1" smtClean="0">
                <a:effectLst/>
              </a:rPr>
              <a:t>SQLException</a:t>
            </a:r>
            <a:r>
              <a:rPr lang="en-US" dirty="0" smtClean="0"/>
              <a:t> It returns true if cursor is after the last row, false otherwise. </a:t>
            </a:r>
            <a:r>
              <a:rPr lang="en-US" sz="1200" b="1" i="0" kern="1200" dirty="0" smtClean="0">
                <a:solidFill>
                  <a:schemeClr val="tx1"/>
                </a:solidFill>
                <a:effectLst/>
                <a:latin typeface="+mn-lt"/>
                <a:ea typeface="+mn-ea"/>
                <a:cs typeface="+mn-cs"/>
              </a:rPr>
              <a:t>7-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isFirst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is used to check whether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is at the first row or not. It has the following syntax -</a:t>
            </a:r>
            <a:r>
              <a:rPr lang="en-US" b="1" dirty="0" err="1" smtClean="0">
                <a:effectLst/>
              </a:rPr>
              <a:t>boolean</a:t>
            </a:r>
            <a:r>
              <a:rPr lang="en-US" b="1" dirty="0" smtClean="0">
                <a:effectLst/>
              </a:rPr>
              <a:t> </a:t>
            </a:r>
            <a:r>
              <a:rPr lang="en-US" b="1" dirty="0" err="1" smtClean="0">
                <a:effectLst/>
              </a:rPr>
              <a:t>isFirst</a:t>
            </a:r>
            <a:r>
              <a:rPr lang="en-US" b="1" dirty="0" smtClean="0">
                <a:effectLst/>
              </a:rPr>
              <a:t>() throws </a:t>
            </a:r>
            <a:r>
              <a:rPr lang="en-US" b="1" dirty="0" err="1" smtClean="0">
                <a:effectLst/>
              </a:rPr>
              <a:t>SQLException</a:t>
            </a:r>
            <a:r>
              <a:rPr lang="en-US" dirty="0" smtClean="0"/>
              <a:t> It returns true if cursor is at the first row, false otherwise. </a:t>
            </a:r>
            <a:r>
              <a:rPr lang="en-US" sz="1200" b="1" i="0" kern="1200" dirty="0" smtClean="0">
                <a:solidFill>
                  <a:schemeClr val="tx1"/>
                </a:solidFill>
                <a:effectLst/>
                <a:latin typeface="+mn-lt"/>
                <a:ea typeface="+mn-ea"/>
                <a:cs typeface="+mn-cs"/>
              </a:rPr>
              <a:t>8- </a:t>
            </a:r>
            <a:r>
              <a:rPr lang="en-US" sz="1200" b="1" i="0" kern="1200" dirty="0" err="1" smtClean="0">
                <a:solidFill>
                  <a:schemeClr val="tx1"/>
                </a:solidFill>
                <a:effectLst/>
                <a:latin typeface="+mn-lt"/>
                <a:ea typeface="+mn-ea"/>
                <a:cs typeface="+mn-cs"/>
              </a:rPr>
              <a:t>boolean</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isLast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is used to check whether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 cursor is at the last row or not. It has the following syntax -</a:t>
            </a:r>
            <a:r>
              <a:rPr lang="en-US" b="1" dirty="0" err="1" smtClean="0">
                <a:effectLst/>
              </a:rPr>
              <a:t>boolean</a:t>
            </a:r>
            <a:r>
              <a:rPr lang="en-US" b="1" dirty="0" smtClean="0">
                <a:effectLst/>
              </a:rPr>
              <a:t> </a:t>
            </a:r>
            <a:r>
              <a:rPr lang="en-US" b="1" dirty="0" err="1" smtClean="0">
                <a:effectLst/>
              </a:rPr>
              <a:t>isLast</a:t>
            </a:r>
            <a:r>
              <a:rPr lang="en-US" b="1" dirty="0" smtClean="0">
                <a:effectLst/>
              </a:rPr>
              <a:t>() throws </a:t>
            </a:r>
            <a:r>
              <a:rPr lang="en-US" b="1" dirty="0" err="1" smtClean="0">
                <a:effectLst/>
              </a:rPr>
              <a:t>SQLException</a:t>
            </a:r>
            <a:r>
              <a:rPr lang="en-US" dirty="0" smtClean="0"/>
              <a:t> It returns true if cursor is at the last row, false otherwise. </a:t>
            </a:r>
            <a:r>
              <a:rPr lang="en-US" sz="1200" b="1" i="0" kern="1200" dirty="0" smtClean="0">
                <a:solidFill>
                  <a:schemeClr val="tx1"/>
                </a:solidFill>
                <a:effectLst/>
                <a:latin typeface="+mn-lt"/>
                <a:ea typeface="+mn-ea"/>
                <a:cs typeface="+mn-cs"/>
              </a:rPr>
              <a:t>9- </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getInt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returns the integer value stored at specified column index or column label in the current row of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a:t>
            </a:r>
            <a:r>
              <a:rPr lang="en-US" dirty="0" smtClean="0"/>
              <a:t/>
            </a:r>
            <a:br>
              <a:rPr lang="en-US" dirty="0" smtClean="0"/>
            </a:br>
            <a:r>
              <a:rPr lang="en-US" sz="1200" b="0" i="0" kern="1200" dirty="0" smtClean="0">
                <a:solidFill>
                  <a:schemeClr val="tx1"/>
                </a:solidFill>
                <a:effectLst/>
                <a:latin typeface="+mn-lt"/>
                <a:ea typeface="+mn-ea"/>
                <a:cs typeface="+mn-cs"/>
              </a:rPr>
              <a:t>There are 2 versions of </a:t>
            </a:r>
            <a:r>
              <a:rPr lang="en-US" sz="1200" b="0" i="0" kern="1200" dirty="0" err="1" smtClean="0">
                <a:solidFill>
                  <a:schemeClr val="tx1"/>
                </a:solidFill>
                <a:effectLst/>
                <a:latin typeface="+mn-lt"/>
                <a:ea typeface="+mn-ea"/>
                <a:cs typeface="+mn-cs"/>
              </a:rPr>
              <a:t>getInt</a:t>
            </a:r>
            <a:r>
              <a:rPr lang="en-US" sz="1200" b="0" i="0" kern="1200" dirty="0" smtClean="0">
                <a:solidFill>
                  <a:schemeClr val="tx1"/>
                </a:solidFill>
                <a:effectLst/>
                <a:latin typeface="+mn-lt"/>
                <a:ea typeface="+mn-ea"/>
                <a:cs typeface="+mn-cs"/>
              </a:rPr>
              <a:t>(), one take column index as parameter and anther take column label as parameter-</a:t>
            </a:r>
            <a:r>
              <a:rPr lang="en-US" dirty="0" smtClean="0"/>
              <a:t/>
            </a:r>
            <a:br>
              <a:rPr lang="en-US" dirty="0" smtClean="0"/>
            </a:br>
            <a:r>
              <a:rPr lang="en-US" b="1" dirty="0" err="1" smtClean="0">
                <a:effectLst/>
              </a:rPr>
              <a:t>int</a:t>
            </a:r>
            <a:r>
              <a:rPr lang="en-US" b="1" dirty="0" smtClean="0">
                <a:effectLst/>
              </a:rPr>
              <a:t> </a:t>
            </a:r>
            <a:r>
              <a:rPr lang="en-US" b="1" dirty="0" err="1" smtClean="0">
                <a:effectLst/>
              </a:rPr>
              <a:t>getInt</a:t>
            </a:r>
            <a:r>
              <a:rPr lang="en-US" b="1" dirty="0" smtClean="0">
                <a:effectLst/>
              </a:rPr>
              <a:t>(</a:t>
            </a:r>
            <a:r>
              <a:rPr lang="en-US" b="1" dirty="0" err="1" smtClean="0">
                <a:effectLst/>
              </a:rPr>
              <a:t>int</a:t>
            </a:r>
            <a:r>
              <a:rPr lang="en-US" b="1" dirty="0" smtClean="0">
                <a:effectLst/>
              </a:rPr>
              <a:t> </a:t>
            </a:r>
            <a:r>
              <a:rPr lang="en-US" b="1" dirty="0" err="1" smtClean="0">
                <a:effectLst/>
              </a:rPr>
              <a:t>Column_Index</a:t>
            </a:r>
            <a:r>
              <a:rPr lang="en-US" b="1" dirty="0" smtClean="0">
                <a:effectLst/>
              </a:rPr>
              <a:t>) throws </a:t>
            </a:r>
            <a:r>
              <a:rPr lang="en-US" b="1" dirty="0" err="1" smtClean="0">
                <a:effectLst/>
              </a:rPr>
              <a:t>SQLException</a:t>
            </a:r>
            <a:r>
              <a:rPr lang="en-US" dirty="0" smtClean="0"/>
              <a:t> It take column index as parameter and return the integer value stored at that index in the current row of </a:t>
            </a:r>
            <a:r>
              <a:rPr lang="en-US" dirty="0" err="1" smtClean="0"/>
              <a:t>ResultSet</a:t>
            </a:r>
            <a:r>
              <a:rPr lang="en-US" dirty="0" smtClean="0"/>
              <a:t>. </a:t>
            </a:r>
            <a:r>
              <a:rPr lang="en-US" sz="1200" b="1" i="0" kern="1200" dirty="0" smtClean="0">
                <a:solidFill>
                  <a:schemeClr val="tx1"/>
                </a:solidFill>
                <a:effectLst/>
                <a:latin typeface="+mn-lt"/>
                <a:ea typeface="+mn-ea"/>
                <a:cs typeface="+mn-cs"/>
              </a:rPr>
              <a:t>Note column index starts from 1.</a:t>
            </a:r>
            <a:r>
              <a:rPr lang="en-US" dirty="0" smtClean="0"/>
              <a:t/>
            </a:r>
            <a:br>
              <a:rPr lang="en-US" dirty="0" smtClean="0"/>
            </a:br>
            <a:r>
              <a:rPr lang="en-US" b="1" dirty="0" err="1" smtClean="0">
                <a:effectLst/>
              </a:rPr>
              <a:t>int</a:t>
            </a:r>
            <a:r>
              <a:rPr lang="en-US" b="1" dirty="0" smtClean="0">
                <a:effectLst/>
              </a:rPr>
              <a:t> </a:t>
            </a:r>
            <a:r>
              <a:rPr lang="en-US" b="1" dirty="0" err="1" smtClean="0">
                <a:effectLst/>
              </a:rPr>
              <a:t>getInt</a:t>
            </a:r>
            <a:r>
              <a:rPr lang="en-US" b="1" dirty="0" smtClean="0">
                <a:effectLst/>
              </a:rPr>
              <a:t>(</a:t>
            </a:r>
            <a:r>
              <a:rPr lang="en-US" b="1" dirty="0" err="1" smtClean="0">
                <a:effectLst/>
              </a:rPr>
              <a:t>int</a:t>
            </a:r>
            <a:r>
              <a:rPr lang="en-US" b="1" dirty="0" smtClean="0">
                <a:effectLst/>
              </a:rPr>
              <a:t> </a:t>
            </a:r>
            <a:r>
              <a:rPr lang="en-US" b="1" dirty="0" err="1" smtClean="0">
                <a:effectLst/>
              </a:rPr>
              <a:t>Column_Label</a:t>
            </a:r>
            <a:r>
              <a:rPr lang="en-US" b="1" dirty="0" smtClean="0">
                <a:effectLst/>
              </a:rPr>
              <a:t>) throws </a:t>
            </a:r>
            <a:r>
              <a:rPr lang="en-US" b="1" dirty="0" err="1" smtClean="0">
                <a:effectLst/>
              </a:rPr>
              <a:t>SQLException</a:t>
            </a:r>
            <a:r>
              <a:rPr lang="en-US" dirty="0" smtClean="0"/>
              <a:t> It take column label as parameter and return the integer value stored at that index in the current row of </a:t>
            </a:r>
            <a:r>
              <a:rPr lang="en-US" dirty="0" err="1" smtClean="0"/>
              <a:t>ResultSet</a:t>
            </a:r>
            <a:r>
              <a:rPr lang="en-US" dirty="0" smtClean="0"/>
              <a:t>. </a:t>
            </a:r>
            <a:br>
              <a:rPr lang="en-US" dirty="0" smtClean="0"/>
            </a:br>
            <a:r>
              <a:rPr lang="en-US" sz="1200" b="1" i="0" kern="1200" dirty="0" smtClean="0">
                <a:solidFill>
                  <a:schemeClr val="tx1"/>
                </a:solidFill>
                <a:effectLst/>
                <a:latin typeface="+mn-lt"/>
                <a:ea typeface="+mn-ea"/>
                <a:cs typeface="+mn-cs"/>
              </a:rPr>
              <a:t>10- String </a:t>
            </a:r>
            <a:r>
              <a:rPr lang="en-US" sz="1200" b="1" i="0" kern="1200" dirty="0" err="1" smtClean="0">
                <a:solidFill>
                  <a:schemeClr val="tx1"/>
                </a:solidFill>
                <a:effectLst/>
                <a:latin typeface="+mn-lt"/>
                <a:ea typeface="+mn-ea"/>
                <a:cs typeface="+mn-cs"/>
              </a:rPr>
              <a:t>getString</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It returns the String value stored at specified column index or column label in the current row of </a:t>
            </a:r>
            <a:r>
              <a:rPr lang="en-US" sz="1200" b="0" i="0" kern="1200" dirty="0" err="1" smtClean="0">
                <a:solidFill>
                  <a:schemeClr val="tx1"/>
                </a:solidFill>
                <a:effectLst/>
                <a:latin typeface="+mn-lt"/>
                <a:ea typeface="+mn-ea"/>
                <a:cs typeface="+mn-cs"/>
              </a:rPr>
              <a:t>ResultSet</a:t>
            </a:r>
            <a:r>
              <a:rPr lang="en-US" sz="1200" b="0" i="0" kern="1200" dirty="0" smtClean="0">
                <a:solidFill>
                  <a:schemeClr val="tx1"/>
                </a:solidFill>
                <a:effectLst/>
                <a:latin typeface="+mn-lt"/>
                <a:ea typeface="+mn-ea"/>
                <a:cs typeface="+mn-cs"/>
              </a:rPr>
              <a:t>.</a:t>
            </a:r>
            <a:r>
              <a:rPr lang="en-US" dirty="0" smtClean="0"/>
              <a:t/>
            </a:r>
            <a:br>
              <a:rPr lang="en-US" dirty="0" smtClean="0"/>
            </a:br>
            <a:r>
              <a:rPr lang="en-US" sz="1200" b="0" i="0" kern="1200" dirty="0" smtClean="0">
                <a:solidFill>
                  <a:schemeClr val="tx1"/>
                </a:solidFill>
                <a:effectLst/>
                <a:latin typeface="+mn-lt"/>
                <a:ea typeface="+mn-ea"/>
                <a:cs typeface="+mn-cs"/>
              </a:rPr>
              <a:t>There are 2 versions of </a:t>
            </a:r>
            <a:r>
              <a:rPr lang="en-US" sz="1200" b="0" i="0" kern="1200" dirty="0" err="1" smtClean="0">
                <a:solidFill>
                  <a:schemeClr val="tx1"/>
                </a:solidFill>
                <a:effectLst/>
                <a:latin typeface="+mn-lt"/>
                <a:ea typeface="+mn-ea"/>
                <a:cs typeface="+mn-cs"/>
              </a:rPr>
              <a:t>getString</a:t>
            </a:r>
            <a:r>
              <a:rPr lang="en-US" sz="1200" b="0" i="0" kern="1200" dirty="0" smtClean="0">
                <a:solidFill>
                  <a:schemeClr val="tx1"/>
                </a:solidFill>
                <a:effectLst/>
                <a:latin typeface="+mn-lt"/>
                <a:ea typeface="+mn-ea"/>
                <a:cs typeface="+mn-cs"/>
              </a:rPr>
              <a:t>(), one take column index as parameter and anther take column label as parameter.</a:t>
            </a:r>
            <a:r>
              <a:rPr lang="en-US" dirty="0" smtClean="0"/>
              <a:t/>
            </a:r>
            <a:br>
              <a:rPr lang="en-US" dirty="0" smtClean="0"/>
            </a:br>
            <a:r>
              <a:rPr lang="en-US" b="1" dirty="0" err="1" smtClean="0">
                <a:effectLst/>
              </a:rPr>
              <a:t>int</a:t>
            </a:r>
            <a:r>
              <a:rPr lang="en-US" b="1" dirty="0" smtClean="0">
                <a:effectLst/>
              </a:rPr>
              <a:t> </a:t>
            </a:r>
            <a:r>
              <a:rPr lang="en-US" b="1" dirty="0" err="1" smtClean="0">
                <a:effectLst/>
              </a:rPr>
              <a:t>getString</a:t>
            </a:r>
            <a:r>
              <a:rPr lang="en-US" b="1" dirty="0" smtClean="0">
                <a:effectLst/>
              </a:rPr>
              <a:t>(</a:t>
            </a:r>
            <a:r>
              <a:rPr lang="en-US" b="1" dirty="0" err="1" smtClean="0">
                <a:effectLst/>
              </a:rPr>
              <a:t>int</a:t>
            </a:r>
            <a:r>
              <a:rPr lang="en-US" b="1" dirty="0" smtClean="0">
                <a:effectLst/>
              </a:rPr>
              <a:t> </a:t>
            </a:r>
            <a:r>
              <a:rPr lang="en-US" b="1" dirty="0" err="1" smtClean="0">
                <a:effectLst/>
              </a:rPr>
              <a:t>Column_Index</a:t>
            </a:r>
            <a:r>
              <a:rPr lang="en-US" b="1" dirty="0" smtClean="0">
                <a:effectLst/>
              </a:rPr>
              <a:t>) throws </a:t>
            </a:r>
            <a:r>
              <a:rPr lang="en-US" b="1" dirty="0" err="1" smtClean="0">
                <a:effectLst/>
              </a:rPr>
              <a:t>SQLException</a:t>
            </a:r>
            <a:r>
              <a:rPr lang="en-US" dirty="0" smtClean="0"/>
              <a:t> It take column index as parameter and return the string value stored at that index in the current row of </a:t>
            </a:r>
            <a:r>
              <a:rPr lang="en-US" dirty="0" err="1" smtClean="0"/>
              <a:t>ResultSet</a:t>
            </a:r>
            <a:r>
              <a:rPr lang="en-US" dirty="0" smtClean="0"/>
              <a:t>. </a:t>
            </a:r>
            <a:r>
              <a:rPr lang="en-US" b="1" dirty="0" err="1" smtClean="0">
                <a:effectLst/>
              </a:rPr>
              <a:t>int</a:t>
            </a:r>
            <a:r>
              <a:rPr lang="en-US" b="1" dirty="0" smtClean="0">
                <a:effectLst/>
              </a:rPr>
              <a:t> </a:t>
            </a:r>
            <a:r>
              <a:rPr lang="en-US" b="1" dirty="0" err="1" smtClean="0">
                <a:effectLst/>
              </a:rPr>
              <a:t>getString</a:t>
            </a:r>
            <a:r>
              <a:rPr lang="en-US" b="1" dirty="0" smtClean="0">
                <a:effectLst/>
              </a:rPr>
              <a:t>(</a:t>
            </a:r>
            <a:r>
              <a:rPr lang="en-US" b="1" dirty="0" err="1" smtClean="0">
                <a:effectLst/>
              </a:rPr>
              <a:t>int</a:t>
            </a:r>
            <a:r>
              <a:rPr lang="en-US" b="1" dirty="0" smtClean="0">
                <a:effectLst/>
              </a:rPr>
              <a:t> </a:t>
            </a:r>
            <a:r>
              <a:rPr lang="en-US" b="1" dirty="0" err="1" smtClean="0">
                <a:effectLst/>
              </a:rPr>
              <a:t>Column_Label</a:t>
            </a:r>
            <a:r>
              <a:rPr lang="en-US" b="1" dirty="0" smtClean="0">
                <a:effectLst/>
              </a:rPr>
              <a:t>) throws </a:t>
            </a:r>
            <a:r>
              <a:rPr lang="en-US" b="1" dirty="0" err="1" smtClean="0">
                <a:effectLst/>
              </a:rPr>
              <a:t>SQLException</a:t>
            </a:r>
            <a:r>
              <a:rPr lang="en-US" dirty="0" smtClean="0"/>
              <a:t> It take column label as parameter and return the string value stored at that index in the current row of </a:t>
            </a:r>
            <a:r>
              <a:rPr lang="en-US" dirty="0" err="1" smtClean="0"/>
              <a:t>ResultSet</a:t>
            </a:r>
            <a:r>
              <a:rPr lang="en-US" dirty="0" smtClean="0"/>
              <a:t>. </a:t>
            </a:r>
            <a:r>
              <a:rPr lang="en-US" sz="1200" b="1" i="0" kern="1200" dirty="0" smtClean="0">
                <a:solidFill>
                  <a:schemeClr val="tx1"/>
                </a:solidFill>
                <a:effectLst/>
                <a:latin typeface="+mn-lt"/>
                <a:ea typeface="+mn-ea"/>
                <a:cs typeface="+mn-cs"/>
              </a:rPr>
              <a:t>Similar to </a:t>
            </a:r>
            <a:r>
              <a:rPr lang="en-US" sz="1200" b="1" i="0" kern="1200" dirty="0" err="1" smtClean="0">
                <a:solidFill>
                  <a:schemeClr val="tx1"/>
                </a:solidFill>
                <a:effectLst/>
                <a:latin typeface="+mn-lt"/>
                <a:ea typeface="+mn-ea"/>
                <a:cs typeface="+mn-cs"/>
              </a:rPr>
              <a:t>getInt</a:t>
            </a:r>
            <a:r>
              <a:rPr lang="en-US" sz="1200" b="1" i="0" kern="1200" dirty="0" smtClean="0">
                <a:solidFill>
                  <a:schemeClr val="tx1"/>
                </a:solidFill>
                <a:effectLst/>
                <a:latin typeface="+mn-lt"/>
                <a:ea typeface="+mn-ea"/>
                <a:cs typeface="+mn-cs"/>
              </a:rPr>
              <a:t>() and </a:t>
            </a:r>
            <a:r>
              <a:rPr lang="en-US" sz="1200" b="1" i="0" kern="1200" dirty="0" err="1" smtClean="0">
                <a:solidFill>
                  <a:schemeClr val="tx1"/>
                </a:solidFill>
                <a:effectLst/>
                <a:latin typeface="+mn-lt"/>
                <a:ea typeface="+mn-ea"/>
                <a:cs typeface="+mn-cs"/>
              </a:rPr>
              <a:t>getString</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ResultSet</a:t>
            </a:r>
            <a:r>
              <a:rPr lang="en-US" sz="1200" b="1" i="0" kern="1200" dirty="0" smtClean="0">
                <a:solidFill>
                  <a:schemeClr val="tx1"/>
                </a:solidFill>
                <a:effectLst/>
                <a:latin typeface="+mn-lt"/>
                <a:ea typeface="+mn-ea"/>
                <a:cs typeface="+mn-cs"/>
              </a:rPr>
              <a:t> also have the following methods that works exactly the same way as these two methods -</a:t>
            </a:r>
            <a:r>
              <a:rPr lang="en-US" dirty="0" smtClean="0"/>
              <a:t/>
            </a:r>
            <a:br>
              <a:rPr lang="en-US" dirty="0" smtClean="0"/>
            </a:br>
            <a:r>
              <a:rPr lang="en-US" sz="1200" b="1" i="0" kern="1200" dirty="0" smtClean="0">
                <a:solidFill>
                  <a:schemeClr val="tx1"/>
                </a:solidFill>
                <a:effectLst/>
                <a:latin typeface="+mn-lt"/>
                <a:ea typeface="+mn-ea"/>
                <a:cs typeface="+mn-cs"/>
              </a:rPr>
              <a:t>11- </a:t>
            </a:r>
            <a:r>
              <a:rPr lang="en-US" sz="1200" b="1" i="0" kern="1200" dirty="0" err="1" smtClean="0">
                <a:solidFill>
                  <a:schemeClr val="tx1"/>
                </a:solidFill>
                <a:effectLst/>
                <a:latin typeface="+mn-lt"/>
                <a:ea typeface="+mn-ea"/>
                <a:cs typeface="+mn-cs"/>
              </a:rPr>
              <a:t>getShort</a:t>
            </a:r>
            <a:r>
              <a:rPr lang="en-US" sz="1200" b="1" i="0" kern="1200" dirty="0" smtClean="0">
                <a:solidFill>
                  <a:schemeClr val="tx1"/>
                </a:solidFill>
                <a:effectLst/>
                <a:latin typeface="+mn-lt"/>
                <a:ea typeface="+mn-ea"/>
                <a:cs typeface="+mn-cs"/>
              </a:rPr>
              <a:t>(</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Column_Index</a:t>
            </a:r>
            <a:r>
              <a:rPr lang="en-US" sz="1200" b="1" i="0" kern="1200" dirty="0" smtClean="0">
                <a:solidFill>
                  <a:schemeClr val="tx1"/>
                </a:solidFill>
                <a:effectLst/>
                <a:latin typeface="+mn-lt"/>
                <a:ea typeface="+mn-ea"/>
                <a:cs typeface="+mn-cs"/>
              </a:rPr>
              <a:t>/String </a:t>
            </a:r>
            <a:r>
              <a:rPr lang="en-US" sz="1200" b="1" i="0" kern="1200" dirty="0" err="1" smtClean="0">
                <a:solidFill>
                  <a:schemeClr val="tx1"/>
                </a:solidFill>
                <a:effectLst/>
                <a:latin typeface="+mn-lt"/>
                <a:ea typeface="+mn-ea"/>
                <a:cs typeface="+mn-cs"/>
              </a:rPr>
              <a:t>Column_Label</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Returns the corresponding short value.</a:t>
            </a:r>
            <a:r>
              <a:rPr lang="en-US" dirty="0" smtClean="0"/>
              <a:t/>
            </a:r>
            <a:br>
              <a:rPr lang="en-US" dirty="0" smtClean="0"/>
            </a:br>
            <a:r>
              <a:rPr lang="en-US" sz="1200" b="1" i="0" kern="1200" dirty="0" smtClean="0">
                <a:solidFill>
                  <a:schemeClr val="tx1"/>
                </a:solidFill>
                <a:effectLst/>
                <a:latin typeface="+mn-lt"/>
                <a:ea typeface="+mn-ea"/>
                <a:cs typeface="+mn-cs"/>
              </a:rPr>
              <a:t>12- </a:t>
            </a:r>
            <a:r>
              <a:rPr lang="en-US" sz="1200" b="1" i="0" kern="1200" dirty="0" err="1" smtClean="0">
                <a:solidFill>
                  <a:schemeClr val="tx1"/>
                </a:solidFill>
                <a:effectLst/>
                <a:latin typeface="+mn-lt"/>
                <a:ea typeface="+mn-ea"/>
                <a:cs typeface="+mn-cs"/>
              </a:rPr>
              <a:t>getLong</a:t>
            </a:r>
            <a:r>
              <a:rPr lang="en-US" sz="1200" b="1" i="0" kern="1200" dirty="0" smtClean="0">
                <a:solidFill>
                  <a:schemeClr val="tx1"/>
                </a:solidFill>
                <a:effectLst/>
                <a:latin typeface="+mn-lt"/>
                <a:ea typeface="+mn-ea"/>
                <a:cs typeface="+mn-cs"/>
              </a:rPr>
              <a:t>(</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Column_Index</a:t>
            </a:r>
            <a:r>
              <a:rPr lang="en-US" sz="1200" b="1" i="0" kern="1200" dirty="0" smtClean="0">
                <a:solidFill>
                  <a:schemeClr val="tx1"/>
                </a:solidFill>
                <a:effectLst/>
                <a:latin typeface="+mn-lt"/>
                <a:ea typeface="+mn-ea"/>
                <a:cs typeface="+mn-cs"/>
              </a:rPr>
              <a:t>/String </a:t>
            </a:r>
            <a:r>
              <a:rPr lang="en-US" sz="1200" b="1" i="0" kern="1200" dirty="0" err="1" smtClean="0">
                <a:solidFill>
                  <a:schemeClr val="tx1"/>
                </a:solidFill>
                <a:effectLst/>
                <a:latin typeface="+mn-lt"/>
                <a:ea typeface="+mn-ea"/>
                <a:cs typeface="+mn-cs"/>
              </a:rPr>
              <a:t>Column_Label</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Returns the corresponding long value.</a:t>
            </a:r>
            <a:r>
              <a:rPr lang="en-US" dirty="0" smtClean="0"/>
              <a:t/>
            </a:r>
            <a:br>
              <a:rPr lang="en-US" dirty="0" smtClean="0"/>
            </a:br>
            <a:r>
              <a:rPr lang="en-US" sz="1200" b="1" i="0" kern="1200" dirty="0" smtClean="0">
                <a:solidFill>
                  <a:schemeClr val="tx1"/>
                </a:solidFill>
                <a:effectLst/>
                <a:latin typeface="+mn-lt"/>
                <a:ea typeface="+mn-ea"/>
                <a:cs typeface="+mn-cs"/>
              </a:rPr>
              <a:t>13- </a:t>
            </a:r>
            <a:r>
              <a:rPr lang="en-US" sz="1200" b="1" i="0" kern="1200" dirty="0" err="1" smtClean="0">
                <a:solidFill>
                  <a:schemeClr val="tx1"/>
                </a:solidFill>
                <a:effectLst/>
                <a:latin typeface="+mn-lt"/>
                <a:ea typeface="+mn-ea"/>
                <a:cs typeface="+mn-cs"/>
              </a:rPr>
              <a:t>getFloat</a:t>
            </a:r>
            <a:r>
              <a:rPr lang="en-US" sz="1200" b="1" i="0" kern="1200" dirty="0" smtClean="0">
                <a:solidFill>
                  <a:schemeClr val="tx1"/>
                </a:solidFill>
                <a:effectLst/>
                <a:latin typeface="+mn-lt"/>
                <a:ea typeface="+mn-ea"/>
                <a:cs typeface="+mn-cs"/>
              </a:rPr>
              <a:t>(</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Column_Index</a:t>
            </a:r>
            <a:r>
              <a:rPr lang="en-US" sz="1200" b="1" i="0" kern="1200" dirty="0" smtClean="0">
                <a:solidFill>
                  <a:schemeClr val="tx1"/>
                </a:solidFill>
                <a:effectLst/>
                <a:latin typeface="+mn-lt"/>
                <a:ea typeface="+mn-ea"/>
                <a:cs typeface="+mn-cs"/>
              </a:rPr>
              <a:t>/String </a:t>
            </a:r>
            <a:r>
              <a:rPr lang="en-US" sz="1200" b="1" i="0" kern="1200" dirty="0" err="1" smtClean="0">
                <a:solidFill>
                  <a:schemeClr val="tx1"/>
                </a:solidFill>
                <a:effectLst/>
                <a:latin typeface="+mn-lt"/>
                <a:ea typeface="+mn-ea"/>
                <a:cs typeface="+mn-cs"/>
              </a:rPr>
              <a:t>Column_Label</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Returns the corresponding float value.</a:t>
            </a:r>
            <a:r>
              <a:rPr lang="en-US" dirty="0" smtClean="0"/>
              <a:t/>
            </a:r>
            <a:br>
              <a:rPr lang="en-US" dirty="0" smtClean="0"/>
            </a:br>
            <a:r>
              <a:rPr lang="en-US" sz="1200" b="1" i="0" kern="1200" dirty="0" smtClean="0">
                <a:solidFill>
                  <a:schemeClr val="tx1"/>
                </a:solidFill>
                <a:effectLst/>
                <a:latin typeface="+mn-lt"/>
                <a:ea typeface="+mn-ea"/>
                <a:cs typeface="+mn-cs"/>
              </a:rPr>
              <a:t>14- </a:t>
            </a:r>
            <a:r>
              <a:rPr lang="en-US" sz="1200" b="1" i="0" kern="1200" dirty="0" err="1" smtClean="0">
                <a:solidFill>
                  <a:schemeClr val="tx1"/>
                </a:solidFill>
                <a:effectLst/>
                <a:latin typeface="+mn-lt"/>
                <a:ea typeface="+mn-ea"/>
                <a:cs typeface="+mn-cs"/>
              </a:rPr>
              <a:t>getDouble</a:t>
            </a:r>
            <a:r>
              <a:rPr lang="en-US" sz="1200" b="1" i="0" kern="1200" dirty="0" smtClean="0">
                <a:solidFill>
                  <a:schemeClr val="tx1"/>
                </a:solidFill>
                <a:effectLst/>
                <a:latin typeface="+mn-lt"/>
                <a:ea typeface="+mn-ea"/>
                <a:cs typeface="+mn-cs"/>
              </a:rPr>
              <a:t>(</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Column_Index</a:t>
            </a:r>
            <a:r>
              <a:rPr lang="en-US" sz="1200" b="1" i="0" kern="1200" dirty="0" smtClean="0">
                <a:solidFill>
                  <a:schemeClr val="tx1"/>
                </a:solidFill>
                <a:effectLst/>
                <a:latin typeface="+mn-lt"/>
                <a:ea typeface="+mn-ea"/>
                <a:cs typeface="+mn-cs"/>
              </a:rPr>
              <a:t>/String </a:t>
            </a:r>
            <a:r>
              <a:rPr lang="en-US" sz="1200" b="1" i="0" kern="1200" dirty="0" err="1" smtClean="0">
                <a:solidFill>
                  <a:schemeClr val="tx1"/>
                </a:solidFill>
                <a:effectLst/>
                <a:latin typeface="+mn-lt"/>
                <a:ea typeface="+mn-ea"/>
                <a:cs typeface="+mn-cs"/>
              </a:rPr>
              <a:t>Column_Label</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Returns the corresponding double value.</a:t>
            </a:r>
            <a:r>
              <a:rPr lang="en-US" dirty="0" smtClean="0"/>
              <a:t/>
            </a:r>
            <a:br>
              <a:rPr lang="en-US" dirty="0" smtClean="0"/>
            </a:br>
            <a:r>
              <a:rPr lang="en-US" sz="1200" b="1" i="0" kern="1200" dirty="0" smtClean="0">
                <a:solidFill>
                  <a:schemeClr val="tx1"/>
                </a:solidFill>
                <a:effectLst/>
                <a:latin typeface="+mn-lt"/>
                <a:ea typeface="+mn-ea"/>
                <a:cs typeface="+mn-cs"/>
              </a:rPr>
              <a:t>15- </a:t>
            </a:r>
            <a:r>
              <a:rPr lang="en-US" sz="1200" b="1" i="0" kern="1200" dirty="0" err="1" smtClean="0">
                <a:solidFill>
                  <a:schemeClr val="tx1"/>
                </a:solidFill>
                <a:effectLst/>
                <a:latin typeface="+mn-lt"/>
                <a:ea typeface="+mn-ea"/>
                <a:cs typeface="+mn-cs"/>
              </a:rPr>
              <a:t>getDate</a:t>
            </a:r>
            <a:r>
              <a:rPr lang="en-US" sz="1200" b="1" i="0" kern="1200" dirty="0" smtClean="0">
                <a:solidFill>
                  <a:schemeClr val="tx1"/>
                </a:solidFill>
                <a:effectLst/>
                <a:latin typeface="+mn-lt"/>
                <a:ea typeface="+mn-ea"/>
                <a:cs typeface="+mn-cs"/>
              </a:rPr>
              <a:t>(</a:t>
            </a:r>
            <a:r>
              <a:rPr lang="en-US" sz="1200" b="1" i="0" kern="1200" dirty="0" err="1" smtClean="0">
                <a:solidFill>
                  <a:schemeClr val="tx1"/>
                </a:solidFill>
                <a:effectLst/>
                <a:latin typeface="+mn-lt"/>
                <a:ea typeface="+mn-ea"/>
                <a:cs typeface="+mn-cs"/>
              </a:rPr>
              <a:t>int</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Column_Index</a:t>
            </a:r>
            <a:r>
              <a:rPr lang="en-US" sz="1200" b="1" i="0" kern="1200" dirty="0" smtClean="0">
                <a:solidFill>
                  <a:schemeClr val="tx1"/>
                </a:solidFill>
                <a:effectLst/>
                <a:latin typeface="+mn-lt"/>
                <a:ea typeface="+mn-ea"/>
                <a:cs typeface="+mn-cs"/>
              </a:rPr>
              <a:t>/String </a:t>
            </a:r>
            <a:r>
              <a:rPr lang="en-US" sz="1200" b="1" i="0" kern="1200" dirty="0" err="1" smtClean="0">
                <a:solidFill>
                  <a:schemeClr val="tx1"/>
                </a:solidFill>
                <a:effectLst/>
                <a:latin typeface="+mn-lt"/>
                <a:ea typeface="+mn-ea"/>
                <a:cs typeface="+mn-cs"/>
              </a:rPr>
              <a:t>Column_Label</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Returns the corresponding date value.</a:t>
            </a:r>
            <a:endParaRPr lang="en-IN" dirty="0"/>
          </a:p>
        </p:txBody>
      </p:sp>
      <p:sp>
        <p:nvSpPr>
          <p:cNvPr id="4" name="Slide Number Placeholder 3"/>
          <p:cNvSpPr>
            <a:spLocks noGrp="1"/>
          </p:cNvSpPr>
          <p:nvPr>
            <p:ph type="sldNum" sz="quarter" idx="10"/>
          </p:nvPr>
        </p:nvSpPr>
        <p:spPr/>
        <p:txBody>
          <a:bodyPr/>
          <a:lstStyle/>
          <a:p>
            <a:fld id="{5217F84F-9FB9-4A27-B9E7-E805E9D33F44}" type="slidenum">
              <a:rPr lang="en-IN" smtClean="0"/>
              <a:t>12</a:t>
            </a:fld>
            <a:endParaRPr lang="en-IN"/>
          </a:p>
        </p:txBody>
      </p:sp>
    </p:spTree>
    <p:extLst>
      <p:ext uri="{BB962C8B-B14F-4D97-AF65-F5344CB8AC3E}">
        <p14:creationId xmlns:p14="http://schemas.microsoft.com/office/powerpoint/2010/main" val="62941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BBEE8F1-20BF-46DB-818E-5F40F022FCE8}" type="datetimeFigureOut">
              <a:rPr lang="en-IN" smtClean="0"/>
              <a:t>10-04-2025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522602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BEE8F1-20BF-46DB-818E-5F40F022FCE8}" type="datetimeFigureOut">
              <a:rPr lang="en-IN" smtClean="0"/>
              <a:t>10-04-2025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091645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BEE8F1-20BF-46DB-818E-5F40F022FCE8}" type="datetimeFigureOut">
              <a:rPr lang="en-IN" smtClean="0"/>
              <a:t>10-04-2025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3953114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BBEE8F1-20BF-46DB-818E-5F40F022FCE8}" type="datetimeFigureOut">
              <a:rPr lang="en-IN" smtClean="0"/>
              <a:t>10-04-2025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53324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BBEE8F1-20BF-46DB-818E-5F40F022FCE8}" type="datetimeFigureOut">
              <a:rPr lang="en-IN" smtClean="0"/>
              <a:t>10-04-2025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921481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BBEE8F1-20BF-46DB-818E-5F40F022FCE8}" type="datetimeFigureOut">
              <a:rPr lang="en-IN" smtClean="0"/>
              <a:t>10-04-2025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3692826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BEE8F1-20BF-46DB-818E-5F40F022FCE8}" type="datetimeFigureOut">
              <a:rPr lang="en-IN" smtClean="0"/>
              <a:t>10-04-2025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76414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BEE8F1-20BF-46DB-818E-5F40F022FCE8}" type="datetimeFigureOut">
              <a:rPr lang="en-IN" smtClean="0"/>
              <a:t>10-04-2025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2800476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BEE8F1-20BF-46DB-818E-5F40F022FCE8}" type="datetimeFigureOut">
              <a:rPr lang="en-IN" smtClean="0"/>
              <a:t>10-04-2025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2613449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BEE8F1-20BF-46DB-818E-5F40F022FCE8}" type="datetimeFigureOut">
              <a:rPr lang="en-IN" smtClean="0"/>
              <a:t>10-04-2025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1330735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BEE8F1-20BF-46DB-818E-5F40F022FCE8}" type="datetimeFigureOut">
              <a:rPr lang="en-IN" smtClean="0"/>
              <a:t>10-04-2025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45BE88-AF48-404F-B220-D82AB5DCCCA2}" type="slidenum">
              <a:rPr lang="en-IN" smtClean="0"/>
              <a:t>‹#›</a:t>
            </a:fld>
            <a:endParaRPr lang="en-IN"/>
          </a:p>
        </p:txBody>
      </p:sp>
    </p:spTree>
    <p:extLst>
      <p:ext uri="{BB962C8B-B14F-4D97-AF65-F5344CB8AC3E}">
        <p14:creationId xmlns:p14="http://schemas.microsoft.com/office/powerpoint/2010/main" val="304951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BEE8F1-20BF-46DB-818E-5F40F022FCE8}" type="datetimeFigureOut">
              <a:rPr lang="en-IN" smtClean="0"/>
              <a:t>10-04-2025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45BE88-AF48-404F-B220-D82AB5DCCCA2}" type="slidenum">
              <a:rPr lang="en-IN" smtClean="0"/>
              <a:t>‹#›</a:t>
            </a:fld>
            <a:endParaRPr lang="en-IN"/>
          </a:p>
        </p:txBody>
      </p:sp>
    </p:spTree>
    <p:extLst>
      <p:ext uri="{BB962C8B-B14F-4D97-AF65-F5344CB8AC3E}">
        <p14:creationId xmlns:p14="http://schemas.microsoft.com/office/powerpoint/2010/main" val="60757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mysql.com/downloads/connector/j/"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JDBC</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2844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268760"/>
            <a:ext cx="8229600" cy="4857403"/>
          </a:xfrm>
        </p:spPr>
        <p:txBody>
          <a:bodyPr>
            <a:normAutofit fontScale="92500"/>
          </a:bodyPr>
          <a:lstStyle/>
          <a:p>
            <a:r>
              <a:rPr lang="en-US" sz="2400" dirty="0"/>
              <a:t>JDBC is an application programming interface (API) that provides connectivity with the database and executes queries. JDBC API makes use of JDBC drivers to connect with the database</a:t>
            </a:r>
            <a:r>
              <a:rPr lang="en-US" sz="2400" dirty="0" smtClean="0"/>
              <a:t>.</a:t>
            </a:r>
          </a:p>
          <a:p>
            <a:endParaRPr lang="en-US" sz="2400" dirty="0"/>
          </a:p>
          <a:p>
            <a:endParaRPr lang="en-US" sz="2400" dirty="0" smtClean="0"/>
          </a:p>
          <a:p>
            <a:endParaRPr lang="en-US" sz="2400" dirty="0"/>
          </a:p>
          <a:p>
            <a:endParaRPr lang="en-US" sz="2400" dirty="0" smtClean="0"/>
          </a:p>
          <a:p>
            <a:r>
              <a:rPr lang="en-US" sz="2400" dirty="0" smtClean="0"/>
              <a:t>With JDBC, you can:</a:t>
            </a:r>
          </a:p>
          <a:p>
            <a:r>
              <a:rPr lang="en-US" sz="2400" dirty="0" smtClean="0"/>
              <a:t>Connect to a database</a:t>
            </a:r>
          </a:p>
          <a:p>
            <a:r>
              <a:rPr lang="en-US" sz="2400" dirty="0" smtClean="0"/>
              <a:t>Send SQL queries (SELECT, INSERT, UPDATE, DELETE)</a:t>
            </a:r>
          </a:p>
          <a:p>
            <a:r>
              <a:rPr lang="en-US" sz="2400" dirty="0" smtClean="0"/>
              <a:t>Retrieve results</a:t>
            </a:r>
          </a:p>
          <a:p>
            <a:r>
              <a:rPr lang="en-US" sz="2400" dirty="0" smtClean="0"/>
              <a:t>Close connections</a:t>
            </a:r>
          </a:p>
          <a:p>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732" y="2420888"/>
            <a:ext cx="5997575"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8587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0000" lnSpcReduction="20000"/>
          </a:bodyPr>
          <a:lstStyle/>
          <a:p>
            <a:r>
              <a:rPr lang="en-US" b="1" dirty="0"/>
              <a:t>Steps for creating connection with the database -</a:t>
            </a:r>
          </a:p>
          <a:p>
            <a:r>
              <a:rPr lang="en-US" b="1" dirty="0"/>
              <a:t>Step 1- Load the Driver</a:t>
            </a:r>
          </a:p>
          <a:p>
            <a:r>
              <a:rPr lang="en-US" dirty="0"/>
              <a:t>The first step to create connection with database is to load the specific driver class in the application environment so that it will be available when we need it for opening the connection.</a:t>
            </a:r>
            <a:r>
              <a:rPr lang="en-US" dirty="0" smtClean="0"/>
              <a:t/>
            </a:r>
            <a:br>
              <a:rPr lang="en-US" dirty="0" smtClean="0"/>
            </a:br>
            <a:r>
              <a:rPr lang="en-US" dirty="0"/>
              <a:t>The easiest way to load the driver is to use static method </a:t>
            </a:r>
            <a:r>
              <a:rPr lang="en-US" b="1" dirty="0" err="1"/>
              <a:t>forName</a:t>
            </a:r>
            <a:r>
              <a:rPr lang="en-US" b="1" dirty="0"/>
              <a:t>()</a:t>
            </a:r>
            <a:r>
              <a:rPr lang="en-US" dirty="0"/>
              <a:t> provided by a class named </a:t>
            </a:r>
            <a:r>
              <a:rPr lang="en-US" b="1" dirty="0"/>
              <a:t>Class</a:t>
            </a:r>
            <a:r>
              <a:rPr lang="en-US" dirty="0"/>
              <a:t>. It has the following syntax -</a:t>
            </a:r>
            <a:r>
              <a:rPr lang="en-US" dirty="0" smtClean="0"/>
              <a:t/>
            </a:r>
            <a:br>
              <a:rPr lang="en-US" dirty="0" smtClean="0"/>
            </a:br>
            <a:r>
              <a:rPr lang="en-US" dirty="0" smtClean="0"/>
              <a:t/>
            </a:r>
            <a:br>
              <a:rPr lang="en-US" dirty="0" smtClean="0"/>
            </a:br>
            <a:r>
              <a:rPr lang="en-US" b="1" dirty="0" smtClean="0">
                <a:effectLst/>
              </a:rPr>
              <a:t>static Class &lt;?&gt; </a:t>
            </a:r>
            <a:r>
              <a:rPr lang="en-US" b="1" dirty="0" err="1" smtClean="0">
                <a:effectLst/>
              </a:rPr>
              <a:t>forName</a:t>
            </a:r>
            <a:r>
              <a:rPr lang="en-US" b="1" dirty="0" smtClean="0">
                <a:effectLst/>
              </a:rPr>
              <a:t>(String </a:t>
            </a:r>
            <a:r>
              <a:rPr lang="en-US" b="1" dirty="0" err="1" smtClean="0">
                <a:effectLst/>
              </a:rPr>
              <a:t>Driver_Class_Name</a:t>
            </a:r>
            <a:r>
              <a:rPr lang="en-US" b="1" dirty="0" smtClean="0">
                <a:effectLst/>
              </a:rPr>
              <a:t>) throws </a:t>
            </a:r>
            <a:r>
              <a:rPr lang="en-US" b="1" dirty="0" err="1" smtClean="0">
                <a:effectLst/>
              </a:rPr>
              <a:t>ClassNotFoundException</a:t>
            </a:r>
            <a:r>
              <a:rPr lang="en-US" dirty="0" smtClean="0"/>
              <a:t> </a:t>
            </a:r>
          </a:p>
          <a:p>
            <a:r>
              <a:rPr lang="en-US" dirty="0" smtClean="0"/>
              <a:t>Here </a:t>
            </a:r>
            <a:r>
              <a:rPr lang="en-US" dirty="0"/>
              <a:t>Class is a predefined class that contains a static method </a:t>
            </a:r>
            <a:r>
              <a:rPr lang="en-US" dirty="0" err="1"/>
              <a:t>forName</a:t>
            </a:r>
            <a:r>
              <a:rPr lang="en-US" dirty="0"/>
              <a:t>(). The method takes a string parameter that should be the driver class name for specific database that you want to use. This method can throw a </a:t>
            </a:r>
            <a:r>
              <a:rPr lang="en-US" dirty="0" err="1"/>
              <a:t>ClassNotFoundException</a:t>
            </a:r>
            <a:r>
              <a:rPr lang="en-US" dirty="0"/>
              <a:t>, if driver class not found in execution path.</a:t>
            </a:r>
            <a:endParaRPr lang="en-IN" dirty="0"/>
          </a:p>
        </p:txBody>
      </p:sp>
    </p:spTree>
    <p:extLst>
      <p:ext uri="{BB962C8B-B14F-4D97-AF65-F5344CB8AC3E}">
        <p14:creationId xmlns:p14="http://schemas.microsoft.com/office/powerpoint/2010/main" val="1511357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0000" lnSpcReduction="20000"/>
          </a:bodyPr>
          <a:lstStyle/>
          <a:p>
            <a:r>
              <a:rPr lang="en-IN" b="1" dirty="0" smtClean="0"/>
              <a:t>Example -</a:t>
            </a:r>
          </a:p>
          <a:p>
            <a:pPr marL="0" indent="0">
              <a:buNone/>
            </a:pPr>
            <a:r>
              <a:rPr lang="en-IN" dirty="0" smtClean="0"/>
              <a:t>try</a:t>
            </a:r>
          </a:p>
          <a:p>
            <a:pPr marL="0" indent="0">
              <a:buNone/>
            </a:pPr>
            <a:r>
              <a:rPr lang="en-IN" dirty="0" smtClean="0"/>
              <a:t>{ </a:t>
            </a:r>
          </a:p>
          <a:p>
            <a:pPr marL="0" indent="0">
              <a:buNone/>
            </a:pPr>
            <a:r>
              <a:rPr lang="en-IN" dirty="0" err="1" smtClean="0"/>
              <a:t>Class.forName</a:t>
            </a:r>
            <a:r>
              <a:rPr lang="en-IN" dirty="0" smtClean="0"/>
              <a:t>("</a:t>
            </a:r>
            <a:r>
              <a:rPr lang="en-IN" dirty="0" err="1" smtClean="0"/>
              <a:t>Driver_Class_Name</a:t>
            </a:r>
            <a:r>
              <a:rPr lang="en-IN" dirty="0" smtClean="0"/>
              <a:t>");</a:t>
            </a:r>
          </a:p>
          <a:p>
            <a:pPr marL="0" indent="0">
              <a:buNone/>
            </a:pPr>
            <a:r>
              <a:rPr lang="en-IN" dirty="0" smtClean="0"/>
              <a:t>}</a:t>
            </a:r>
          </a:p>
          <a:p>
            <a:pPr marL="0" indent="0">
              <a:buNone/>
            </a:pPr>
            <a:r>
              <a:rPr lang="en-IN" dirty="0" smtClean="0"/>
              <a:t>catch(</a:t>
            </a:r>
            <a:r>
              <a:rPr lang="en-IN" dirty="0" err="1" smtClean="0"/>
              <a:t>ClassNotFoundException</a:t>
            </a:r>
            <a:r>
              <a:rPr lang="en-IN" dirty="0" smtClean="0"/>
              <a:t> ex)</a:t>
            </a:r>
          </a:p>
          <a:p>
            <a:pPr marL="0" indent="0">
              <a:buNone/>
            </a:pPr>
            <a:r>
              <a:rPr lang="en-IN" dirty="0" smtClean="0"/>
              <a:t>{</a:t>
            </a:r>
          </a:p>
          <a:p>
            <a:pPr marL="0" indent="0">
              <a:buNone/>
            </a:pPr>
            <a:r>
              <a:rPr lang="en-IN" dirty="0" err="1" smtClean="0"/>
              <a:t>System.out.println</a:t>
            </a:r>
            <a:r>
              <a:rPr lang="en-IN" dirty="0" smtClean="0"/>
              <a:t>("Driver Class is not loaded");</a:t>
            </a:r>
          </a:p>
          <a:p>
            <a:pPr marL="0" indent="0">
              <a:buNone/>
            </a:pPr>
            <a:r>
              <a:rPr lang="en-IN" dirty="0" smtClean="0"/>
              <a:t>}</a:t>
            </a:r>
          </a:p>
          <a:p>
            <a:r>
              <a:rPr lang="en-IN" dirty="0" smtClean="0"/>
              <a:t>Different RDBMS makes use of different driver classes some of them are as follows -</a:t>
            </a:r>
          </a:p>
          <a:p>
            <a:r>
              <a:rPr lang="en-IN" b="1" dirty="0" smtClean="0"/>
              <a:t>1- for </a:t>
            </a:r>
            <a:r>
              <a:rPr lang="en-IN" b="1" dirty="0" err="1" smtClean="0"/>
              <a:t>MySql</a:t>
            </a:r>
            <a:r>
              <a:rPr lang="en-IN" b="1" dirty="0" smtClean="0"/>
              <a:t> -</a:t>
            </a:r>
          </a:p>
          <a:p>
            <a:r>
              <a:rPr lang="en-IN" dirty="0" err="1" smtClean="0"/>
              <a:t>Class.forName</a:t>
            </a:r>
            <a:r>
              <a:rPr lang="en-IN" dirty="0" smtClean="0"/>
              <a:t>("</a:t>
            </a:r>
            <a:r>
              <a:rPr lang="en-IN" dirty="0" err="1" smtClean="0"/>
              <a:t>com.mysql.jdbc.Driver</a:t>
            </a:r>
            <a:r>
              <a:rPr lang="en-IN" dirty="0" smtClean="0"/>
              <a:t>");</a:t>
            </a:r>
          </a:p>
          <a:p>
            <a:r>
              <a:rPr lang="en-IN" b="1" dirty="0" smtClean="0"/>
              <a:t>2- for Oracle -</a:t>
            </a:r>
          </a:p>
          <a:p>
            <a:r>
              <a:rPr lang="en-IN" dirty="0" err="1" smtClean="0"/>
              <a:t>Class.forName</a:t>
            </a:r>
            <a:r>
              <a:rPr lang="en-IN" dirty="0" smtClean="0"/>
              <a:t>("</a:t>
            </a:r>
            <a:r>
              <a:rPr lang="en-IN" dirty="0" err="1" smtClean="0"/>
              <a:t>oracle.jdbc.driver.OracleDriver</a:t>
            </a:r>
            <a:r>
              <a:rPr lang="en-IN"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62500" lnSpcReduction="20000"/>
          </a:bodyPr>
          <a:lstStyle/>
          <a:p>
            <a:r>
              <a:rPr lang="en-US" b="1" dirty="0" smtClean="0"/>
              <a:t>Step 2- Establish Connection</a:t>
            </a:r>
          </a:p>
          <a:p>
            <a:r>
              <a:rPr lang="en-US" dirty="0" smtClean="0"/>
              <a:t>The next step is to ask the </a:t>
            </a:r>
            <a:r>
              <a:rPr lang="en-US" dirty="0" err="1" smtClean="0"/>
              <a:t>DriverManager</a:t>
            </a:r>
            <a:r>
              <a:rPr lang="en-US" dirty="0" smtClean="0"/>
              <a:t> class to open a connection to a given database, where the database is specified by a specially formatted URL.</a:t>
            </a:r>
          </a:p>
          <a:p>
            <a:r>
              <a:rPr lang="en-US" dirty="0" err="1" smtClean="0"/>
              <a:t>DriverManager</a:t>
            </a:r>
            <a:r>
              <a:rPr lang="en-US" dirty="0" smtClean="0"/>
              <a:t> class provides the static method </a:t>
            </a:r>
            <a:r>
              <a:rPr lang="en-US" dirty="0" err="1" smtClean="0"/>
              <a:t>getConnection</a:t>
            </a:r>
            <a:r>
              <a:rPr lang="en-US" dirty="0" smtClean="0"/>
              <a:t>() to create connection. </a:t>
            </a:r>
          </a:p>
          <a:p>
            <a:r>
              <a:rPr lang="en-US" dirty="0" smtClean="0"/>
              <a:t>Connection </a:t>
            </a:r>
            <a:r>
              <a:rPr lang="en-US" dirty="0" err="1" smtClean="0"/>
              <a:t>getConnection</a:t>
            </a:r>
            <a:r>
              <a:rPr lang="en-US" dirty="0" smtClean="0"/>
              <a:t>(String URL, String </a:t>
            </a:r>
            <a:r>
              <a:rPr lang="en-US" dirty="0" err="1" smtClean="0"/>
              <a:t>User_Name</a:t>
            </a:r>
            <a:r>
              <a:rPr lang="en-US" dirty="0" smtClean="0"/>
              <a:t>, String Password) throws </a:t>
            </a:r>
            <a:r>
              <a:rPr lang="en-US" dirty="0" err="1" smtClean="0"/>
              <a:t>SQLException</a:t>
            </a:r>
            <a:endParaRPr lang="en-US" dirty="0" smtClean="0"/>
          </a:p>
          <a:p>
            <a:r>
              <a:rPr lang="en-US" dirty="0" smtClean="0"/>
              <a:t>Where - </a:t>
            </a:r>
          </a:p>
          <a:p>
            <a:r>
              <a:rPr lang="en-US" dirty="0" smtClean="0"/>
              <a:t>URL - is the </a:t>
            </a:r>
            <a:r>
              <a:rPr lang="en-US" dirty="0" err="1" smtClean="0"/>
              <a:t>url</a:t>
            </a:r>
            <a:r>
              <a:rPr lang="en-US" dirty="0" smtClean="0"/>
              <a:t> of  the RDBMS you are using.</a:t>
            </a:r>
          </a:p>
          <a:p>
            <a:r>
              <a:rPr lang="en-US" dirty="0" err="1" smtClean="0"/>
              <a:t>User_Name</a:t>
            </a:r>
            <a:r>
              <a:rPr lang="en-US" dirty="0" smtClean="0"/>
              <a:t> and Password - are the user name and password of RDBMS that you specified at the time of RDBMS installation.</a:t>
            </a:r>
          </a:p>
          <a:p>
            <a:r>
              <a:rPr lang="en-US" dirty="0" smtClean="0"/>
              <a:t>It returns a class that implements the </a:t>
            </a:r>
            <a:r>
              <a:rPr lang="en-US" dirty="0" err="1" smtClean="0"/>
              <a:t>java.sql.Connection</a:t>
            </a:r>
            <a:r>
              <a:rPr lang="en-US" dirty="0" smtClean="0"/>
              <a:t> interface.</a:t>
            </a:r>
          </a:p>
          <a:p>
            <a:r>
              <a:rPr lang="en-US" dirty="0" smtClean="0"/>
              <a:t>For Example -</a:t>
            </a:r>
          </a:p>
          <a:p>
            <a:pPr marL="0" indent="0">
              <a:buNone/>
            </a:pPr>
            <a:r>
              <a:rPr lang="en-US" dirty="0" smtClean="0"/>
              <a:t>Connection conn = </a:t>
            </a:r>
            <a:r>
              <a:rPr lang="en-US" dirty="0" err="1" smtClean="0"/>
              <a:t>DriverManager.getConnection</a:t>
            </a:r>
            <a:r>
              <a:rPr lang="en-US" dirty="0" smtClean="0"/>
              <a:t>("URL", "</a:t>
            </a:r>
            <a:r>
              <a:rPr lang="en-US" dirty="0" err="1" smtClean="0"/>
              <a:t>User_Name</a:t>
            </a:r>
            <a:r>
              <a:rPr lang="en-US" dirty="0" smtClean="0"/>
              <a:t>", "Password");</a:t>
            </a:r>
          </a:p>
          <a:p>
            <a:pPr marL="0" indent="0">
              <a:buNone/>
            </a:pPr>
            <a:r>
              <a:rPr lang="en-US" dirty="0" smtClean="0"/>
              <a:t>if (conn != null) {</a:t>
            </a:r>
          </a:p>
          <a:p>
            <a:pPr marL="0" indent="0">
              <a:buNone/>
            </a:pPr>
            <a:r>
              <a:rPr lang="en-US" dirty="0" smtClean="0"/>
              <a:t>    </a:t>
            </a:r>
            <a:r>
              <a:rPr lang="en-US" dirty="0" err="1" smtClean="0"/>
              <a:t>System.out.println</a:t>
            </a:r>
            <a:r>
              <a:rPr lang="en-US" dirty="0" smtClean="0"/>
              <a:t>("Connected");</a:t>
            </a:r>
          </a:p>
          <a:p>
            <a:pPr marL="0" indent="0">
              <a:buNone/>
            </a:pPr>
            <a:r>
              <a:rPr lang="en-US"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20000"/>
          </a:bodyPr>
          <a:lstStyle/>
          <a:p>
            <a:r>
              <a:rPr lang="en-US" b="1" dirty="0" smtClean="0"/>
              <a:t>How to Use JDBC with MySQL in </a:t>
            </a:r>
            <a:r>
              <a:rPr lang="en-US" b="1" dirty="0" err="1" smtClean="0"/>
              <a:t>IntelliJ</a:t>
            </a:r>
            <a:r>
              <a:rPr lang="en-US" b="1" dirty="0" smtClean="0"/>
              <a:t> – </a:t>
            </a:r>
          </a:p>
          <a:p>
            <a:r>
              <a:rPr lang="en-US" b="1" dirty="0" smtClean="0"/>
              <a:t>1. Install MySQL</a:t>
            </a:r>
          </a:p>
          <a:p>
            <a:r>
              <a:rPr lang="en-US" dirty="0" smtClean="0"/>
              <a:t>Make sure you have MySQL installed and running.</a:t>
            </a:r>
          </a:p>
          <a:p>
            <a:r>
              <a:rPr lang="en-US" dirty="0" smtClean="0"/>
              <a:t>Example:</a:t>
            </a:r>
          </a:p>
          <a:p>
            <a:r>
              <a:rPr lang="en-US" dirty="0" smtClean="0"/>
              <a:t>DB Name: </a:t>
            </a:r>
            <a:r>
              <a:rPr lang="en-US" dirty="0" err="1" smtClean="0"/>
              <a:t>testdb</a:t>
            </a:r>
            <a:endParaRPr lang="en-US" dirty="0" smtClean="0"/>
          </a:p>
          <a:p>
            <a:r>
              <a:rPr lang="en-US" dirty="0" smtClean="0"/>
              <a:t>Username: root</a:t>
            </a:r>
          </a:p>
          <a:p>
            <a:r>
              <a:rPr lang="en-US" dirty="0" smtClean="0"/>
              <a:t>Password: root</a:t>
            </a:r>
          </a:p>
          <a:p>
            <a:r>
              <a:rPr lang="en-IN" b="1" dirty="0" smtClean="0"/>
              <a:t>2. Download MySQL JDBC Driver (Connector/J)</a:t>
            </a:r>
          </a:p>
          <a:p>
            <a:r>
              <a:rPr lang="en-IN" dirty="0" smtClean="0"/>
              <a:t>Download from:</a:t>
            </a:r>
            <a:br>
              <a:rPr lang="en-IN" dirty="0" smtClean="0"/>
            </a:br>
            <a:r>
              <a:rPr lang="en-IN" dirty="0" smtClean="0">
                <a:hlinkClick r:id="rId3"/>
              </a:rPr>
              <a:t>https://dev.mysql.com/downloads/connector/j/</a:t>
            </a:r>
            <a:endParaRPr lang="en-IN" dirty="0" smtClean="0"/>
          </a:p>
          <a:p>
            <a:r>
              <a:rPr lang="en-IN" dirty="0" smtClean="0"/>
              <a:t>Unzip the download. You’ll get a .jar file like:</a:t>
            </a:r>
            <a:br>
              <a:rPr lang="en-IN" dirty="0" smtClean="0"/>
            </a:br>
            <a:r>
              <a:rPr lang="en-IN" dirty="0" smtClean="0"/>
              <a:t>mysql-connector-java-8.0.xx.jar</a:t>
            </a:r>
          </a:p>
          <a:p>
            <a:endParaRPr lang="en-IN" b="1" dirty="0"/>
          </a:p>
        </p:txBody>
      </p:sp>
    </p:spTree>
    <p:extLst>
      <p:ext uri="{BB962C8B-B14F-4D97-AF65-F5344CB8AC3E}">
        <p14:creationId xmlns:p14="http://schemas.microsoft.com/office/powerpoint/2010/main" val="1860875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r>
              <a:rPr lang="en-IN" b="1" dirty="0" smtClean="0"/>
              <a:t>3. Create a Java Project in </a:t>
            </a:r>
            <a:r>
              <a:rPr lang="en-IN" b="1" dirty="0" err="1" smtClean="0"/>
              <a:t>IntelliJ</a:t>
            </a:r>
            <a:r>
              <a:rPr lang="en-IN" b="1" dirty="0" smtClean="0"/>
              <a:t> CE</a:t>
            </a:r>
          </a:p>
          <a:p>
            <a:r>
              <a:rPr lang="en-IN" dirty="0" smtClean="0"/>
              <a:t>Go to File → New → Project → Select Java</a:t>
            </a:r>
          </a:p>
          <a:p>
            <a:r>
              <a:rPr lang="en-IN" b="1" dirty="0" smtClean="0"/>
              <a:t>4. Add JDBC Driver to Your Project</a:t>
            </a:r>
          </a:p>
          <a:p>
            <a:r>
              <a:rPr lang="en-IN" dirty="0" smtClean="0"/>
              <a:t>Right-click your project → Open Module Settings → Libraries</a:t>
            </a:r>
          </a:p>
          <a:p>
            <a:r>
              <a:rPr lang="en-IN" dirty="0" smtClean="0"/>
              <a:t>Click + → Java → Select the .jar file you downloaded</a:t>
            </a:r>
          </a:p>
          <a:p>
            <a:r>
              <a:rPr lang="en-IN" dirty="0" smtClean="0"/>
              <a:t>Apply and OK</a:t>
            </a:r>
          </a:p>
          <a:p>
            <a:endParaRPr lang="en-IN" dirty="0"/>
          </a:p>
        </p:txBody>
      </p:sp>
    </p:spTree>
    <p:extLst>
      <p:ext uri="{BB962C8B-B14F-4D97-AF65-F5344CB8AC3E}">
        <p14:creationId xmlns:p14="http://schemas.microsoft.com/office/powerpoint/2010/main" val="186087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47500" lnSpcReduction="20000"/>
          </a:bodyPr>
          <a:lstStyle/>
          <a:p>
            <a:r>
              <a:rPr lang="en-US" dirty="0"/>
              <a:t>Example -</a:t>
            </a:r>
          </a:p>
          <a:p>
            <a:r>
              <a:rPr lang="en-US" dirty="0"/>
              <a:t>This example creates a connection with the </a:t>
            </a:r>
            <a:r>
              <a:rPr lang="en-US" dirty="0" err="1"/>
              <a:t>MySql</a:t>
            </a:r>
            <a:r>
              <a:rPr lang="en-US" dirty="0"/>
              <a:t> RDBMS</a:t>
            </a:r>
            <a:r>
              <a:rPr lang="en-US" dirty="0" smtClean="0"/>
              <a:t>.</a:t>
            </a:r>
          </a:p>
          <a:p>
            <a:pPr marL="0" indent="0">
              <a:buNone/>
            </a:pPr>
            <a:r>
              <a:rPr lang="en-IN" b="1" dirty="0"/>
              <a:t>import </a:t>
            </a:r>
            <a:r>
              <a:rPr lang="en-IN" dirty="0" err="1" smtClean="0"/>
              <a:t>java.sql</a:t>
            </a:r>
            <a:r>
              <a:rPr lang="en-IN" dirty="0" smtClean="0"/>
              <a:t>.*;</a:t>
            </a:r>
            <a:br>
              <a:rPr lang="en-IN" dirty="0" smtClean="0"/>
            </a:br>
            <a:r>
              <a:rPr lang="en-IN" b="1" dirty="0"/>
              <a:t>public class </a:t>
            </a:r>
            <a:r>
              <a:rPr lang="en-IN" dirty="0" smtClean="0"/>
              <a:t>Main {</a:t>
            </a:r>
            <a:br>
              <a:rPr lang="en-IN" dirty="0" smtClean="0"/>
            </a:br>
            <a:r>
              <a:rPr lang="en-IN" dirty="0" smtClean="0"/>
              <a:t>    </a:t>
            </a:r>
            <a:r>
              <a:rPr lang="en-IN" b="1" dirty="0"/>
              <a:t>public static void </a:t>
            </a:r>
            <a:r>
              <a:rPr lang="en-IN" dirty="0" smtClean="0"/>
              <a:t>main(String[] </a:t>
            </a:r>
            <a:r>
              <a:rPr lang="en-IN" dirty="0" err="1" smtClean="0"/>
              <a:t>args</a:t>
            </a:r>
            <a:r>
              <a:rPr lang="en-IN" dirty="0" smtClean="0"/>
              <a:t>) {</a:t>
            </a:r>
            <a:br>
              <a:rPr lang="en-IN" dirty="0" smtClean="0"/>
            </a:br>
            <a:r>
              <a:rPr lang="en-IN" dirty="0" smtClean="0"/>
              <a:t>        Connection con;</a:t>
            </a:r>
            <a:br>
              <a:rPr lang="en-IN" dirty="0" smtClean="0"/>
            </a:br>
            <a:r>
              <a:rPr lang="en-IN" dirty="0" smtClean="0"/>
              <a:t>        </a:t>
            </a:r>
            <a:r>
              <a:rPr lang="en-IN" b="1" dirty="0"/>
              <a:t>try</a:t>
            </a:r>
            <a:br>
              <a:rPr lang="en-IN" b="1" dirty="0"/>
            </a:br>
            <a:r>
              <a:rPr lang="en-IN" b="1" dirty="0"/>
              <a:t>        </a:t>
            </a:r>
            <a:r>
              <a:rPr lang="en-IN" dirty="0" smtClean="0"/>
              <a:t>{</a:t>
            </a:r>
            <a:br>
              <a:rPr lang="en-IN" dirty="0" smtClean="0"/>
            </a:br>
            <a:r>
              <a:rPr lang="en-IN" dirty="0" smtClean="0"/>
              <a:t>            </a:t>
            </a:r>
            <a:r>
              <a:rPr lang="en-IN" i="1" dirty="0"/>
              <a:t>// Load the driver</a:t>
            </a:r>
            <a:br>
              <a:rPr lang="en-IN" i="1" dirty="0"/>
            </a:br>
            <a:r>
              <a:rPr lang="en-IN" i="1" dirty="0"/>
              <a:t>            </a:t>
            </a:r>
            <a:r>
              <a:rPr lang="en-IN" dirty="0" err="1" smtClean="0"/>
              <a:t>Class.</a:t>
            </a:r>
            <a:r>
              <a:rPr lang="en-IN" i="1" dirty="0" err="1" smtClean="0">
                <a:effectLst/>
              </a:rPr>
              <a:t>forName</a:t>
            </a:r>
            <a:r>
              <a:rPr lang="en-IN" dirty="0" smtClean="0"/>
              <a:t>(</a:t>
            </a:r>
            <a:r>
              <a:rPr lang="en-IN" b="1" dirty="0"/>
              <a:t>"</a:t>
            </a:r>
            <a:r>
              <a:rPr lang="en-IN" b="1" dirty="0" err="1"/>
              <a:t>com.mysql.jdbc.Driver</a:t>
            </a:r>
            <a:r>
              <a:rPr lang="en-IN" b="1" dirty="0"/>
              <a:t>"</a:t>
            </a:r>
            <a:r>
              <a:rPr lang="en-IN" dirty="0" smtClean="0"/>
              <a:t>);</a:t>
            </a:r>
            <a:br>
              <a:rPr lang="en-IN" dirty="0" smtClean="0"/>
            </a:br>
            <a:r>
              <a:rPr lang="en-IN" dirty="0" smtClean="0"/>
              <a:t/>
            </a:r>
            <a:br>
              <a:rPr lang="en-IN" dirty="0" smtClean="0"/>
            </a:br>
            <a:r>
              <a:rPr lang="en-IN" dirty="0" smtClean="0"/>
              <a:t>            </a:t>
            </a:r>
            <a:r>
              <a:rPr lang="en-IN" i="1" dirty="0"/>
              <a:t>// Create Connection</a:t>
            </a:r>
            <a:br>
              <a:rPr lang="en-IN" i="1" dirty="0"/>
            </a:br>
            <a:r>
              <a:rPr lang="en-IN" i="1" dirty="0"/>
              <a:t>            </a:t>
            </a:r>
            <a:r>
              <a:rPr lang="en-IN" dirty="0" smtClean="0"/>
              <a:t>con = </a:t>
            </a:r>
            <a:r>
              <a:rPr lang="en-IN" dirty="0" err="1" smtClean="0"/>
              <a:t>DriverManager.</a:t>
            </a:r>
            <a:r>
              <a:rPr lang="en-IN" i="1" dirty="0" err="1" smtClean="0">
                <a:effectLst/>
              </a:rPr>
              <a:t>getConnection</a:t>
            </a:r>
            <a:r>
              <a:rPr lang="en-IN" dirty="0" smtClean="0"/>
              <a:t>(</a:t>
            </a:r>
            <a:r>
              <a:rPr lang="en-IN" b="1" dirty="0"/>
              <a:t>"</a:t>
            </a:r>
            <a:r>
              <a:rPr lang="en-IN" b="1" dirty="0" err="1"/>
              <a:t>jdbc:mysql</a:t>
            </a:r>
            <a:r>
              <a:rPr lang="en-IN" b="1" dirty="0"/>
              <a:t>://localhost:3306/</a:t>
            </a:r>
            <a:r>
              <a:rPr lang="en-IN" b="1" dirty="0" err="1"/>
              <a:t>Company"</a:t>
            </a:r>
            <a:r>
              <a:rPr lang="en-IN" dirty="0" err="1" smtClean="0"/>
              <a:t>,</a:t>
            </a:r>
            <a:r>
              <a:rPr lang="en-IN" b="1" dirty="0" err="1"/>
              <a:t>"root"</a:t>
            </a:r>
            <a:r>
              <a:rPr lang="en-IN" dirty="0" err="1" smtClean="0"/>
              <a:t>,</a:t>
            </a:r>
            <a:r>
              <a:rPr lang="en-IN" b="1" dirty="0" err="1"/>
              <a:t>"root</a:t>
            </a:r>
            <a:r>
              <a:rPr lang="en-IN" b="1" dirty="0"/>
              <a:t>"</a:t>
            </a:r>
            <a:r>
              <a:rPr lang="en-IN" dirty="0" smtClean="0"/>
              <a:t>);</a:t>
            </a:r>
            <a:br>
              <a:rPr lang="en-IN" dirty="0" smtClean="0"/>
            </a:br>
            <a:r>
              <a:rPr lang="en-IN" dirty="0" smtClean="0"/>
              <a:t>            </a:t>
            </a:r>
            <a:r>
              <a:rPr lang="en-IN" b="1" dirty="0"/>
              <a:t>if</a:t>
            </a:r>
            <a:r>
              <a:rPr lang="en-IN" dirty="0" smtClean="0"/>
              <a:t>(con != </a:t>
            </a:r>
            <a:r>
              <a:rPr lang="en-IN" b="1" dirty="0"/>
              <a:t>null</a:t>
            </a:r>
            <a:r>
              <a:rPr lang="en-IN" dirty="0" smtClean="0"/>
              <a:t>)</a:t>
            </a:r>
            <a:br>
              <a:rPr lang="en-IN" dirty="0" smtClean="0"/>
            </a:br>
            <a:r>
              <a:rPr lang="en-IN" dirty="0" smtClean="0"/>
              <a:t>            {</a:t>
            </a:r>
            <a:br>
              <a:rPr lang="en-IN" dirty="0" smtClean="0"/>
            </a:br>
            <a:r>
              <a:rPr lang="en-IN" dirty="0" smtClean="0"/>
              <a:t>                </a:t>
            </a:r>
            <a:r>
              <a:rPr lang="en-IN" dirty="0" err="1" smtClean="0"/>
              <a:t>System.</a:t>
            </a:r>
            <a:r>
              <a:rPr lang="en-IN" b="1" i="1" dirty="0" err="1"/>
              <a:t>out</a:t>
            </a:r>
            <a:r>
              <a:rPr lang="en-IN" dirty="0" err="1" smtClean="0"/>
              <a:t>.println</a:t>
            </a:r>
            <a:r>
              <a:rPr lang="en-IN" dirty="0" smtClean="0"/>
              <a:t>(</a:t>
            </a:r>
            <a:r>
              <a:rPr lang="en-IN" b="1" dirty="0"/>
              <a:t>"Connection created successfully"</a:t>
            </a:r>
            <a:r>
              <a:rPr lang="en-IN" dirty="0" smtClean="0"/>
              <a:t>);</a:t>
            </a:r>
            <a:br>
              <a:rPr lang="en-IN" dirty="0" smtClean="0"/>
            </a:br>
            <a:r>
              <a:rPr lang="en-IN" dirty="0" smtClean="0"/>
              <a:t>            }</a:t>
            </a:r>
            <a:br>
              <a:rPr lang="en-IN" dirty="0" smtClean="0"/>
            </a:br>
            <a:r>
              <a:rPr lang="en-IN" dirty="0" smtClean="0"/>
              <a:t>            </a:t>
            </a:r>
            <a:r>
              <a:rPr lang="en-IN" b="1" dirty="0"/>
              <a:t>else</a:t>
            </a:r>
            <a:br>
              <a:rPr lang="en-IN" b="1" dirty="0"/>
            </a:br>
            <a:r>
              <a:rPr lang="en-IN" b="1" dirty="0"/>
              <a:t>            </a:t>
            </a:r>
            <a:r>
              <a:rPr lang="en-IN" dirty="0" smtClean="0"/>
              <a:t>{</a:t>
            </a:r>
            <a:br>
              <a:rPr lang="en-IN" dirty="0" smtClean="0"/>
            </a:br>
            <a:r>
              <a:rPr lang="en-IN" dirty="0" smtClean="0"/>
              <a:t>                </a:t>
            </a:r>
            <a:r>
              <a:rPr lang="en-IN" dirty="0" err="1" smtClean="0"/>
              <a:t>System.</a:t>
            </a:r>
            <a:r>
              <a:rPr lang="en-IN" b="1" i="1" dirty="0" err="1"/>
              <a:t>out</a:t>
            </a:r>
            <a:r>
              <a:rPr lang="en-IN" dirty="0" err="1" smtClean="0"/>
              <a:t>.println</a:t>
            </a:r>
            <a:r>
              <a:rPr lang="en-IN" dirty="0" smtClean="0"/>
              <a:t>(</a:t>
            </a:r>
            <a:r>
              <a:rPr lang="en-IN" b="1" dirty="0"/>
              <a:t>"Connection not created"</a:t>
            </a:r>
            <a:r>
              <a:rPr lang="en-IN" dirty="0" smtClean="0"/>
              <a:t>);</a:t>
            </a:r>
            <a:br>
              <a:rPr lang="en-IN" dirty="0" smtClean="0"/>
            </a:br>
            <a:r>
              <a:rPr lang="en-IN" dirty="0" smtClean="0"/>
              <a:t>            }</a:t>
            </a:r>
            <a:br>
              <a:rPr lang="en-IN" dirty="0" smtClean="0"/>
            </a:br>
            <a:r>
              <a:rPr lang="en-IN" dirty="0" smtClean="0"/>
              <a:t>        }</a:t>
            </a:r>
            <a:br>
              <a:rPr lang="en-IN" dirty="0" smtClean="0"/>
            </a:br>
            <a:r>
              <a:rPr lang="en-IN" dirty="0" smtClean="0"/>
              <a:t>        </a:t>
            </a:r>
            <a:r>
              <a:rPr lang="en-IN" b="1" dirty="0"/>
              <a:t>catch</a:t>
            </a:r>
            <a:r>
              <a:rPr lang="en-IN" dirty="0" smtClean="0"/>
              <a:t>(Exception ex)</a:t>
            </a:r>
            <a:br>
              <a:rPr lang="en-IN" dirty="0" smtClean="0"/>
            </a:br>
            <a:r>
              <a:rPr lang="en-IN" dirty="0" smtClean="0"/>
              <a:t>        {</a:t>
            </a:r>
            <a:br>
              <a:rPr lang="en-IN" dirty="0" smtClean="0"/>
            </a:br>
            <a:r>
              <a:rPr lang="en-IN" dirty="0" smtClean="0"/>
              <a:t>            </a:t>
            </a:r>
            <a:r>
              <a:rPr lang="en-IN" dirty="0" err="1" smtClean="0"/>
              <a:t>System.</a:t>
            </a:r>
            <a:r>
              <a:rPr lang="en-IN" b="1" i="1" dirty="0" err="1"/>
              <a:t>out</a:t>
            </a:r>
            <a:r>
              <a:rPr lang="en-IN" dirty="0" err="1" smtClean="0"/>
              <a:t>.println</a:t>
            </a:r>
            <a:r>
              <a:rPr lang="en-IN" dirty="0" smtClean="0"/>
              <a:t>(ex);</a:t>
            </a:r>
            <a:br>
              <a:rPr lang="en-IN" dirty="0" smtClean="0"/>
            </a:br>
            <a:r>
              <a:rPr lang="en-IN" dirty="0" smtClean="0"/>
              <a:t>        }</a:t>
            </a:r>
            <a:br>
              <a:rPr lang="en-IN" dirty="0" smtClean="0"/>
            </a:br>
            <a:r>
              <a:rPr lang="en-IN" dirty="0" smtClean="0"/>
              <a:t/>
            </a:r>
            <a:br>
              <a:rPr lang="en-IN" dirty="0" smtClean="0"/>
            </a:br>
            <a:r>
              <a:rPr lang="en-IN" dirty="0" smtClean="0"/>
              <a:t>    }</a:t>
            </a:r>
            <a:br>
              <a:rPr lang="en-IN" dirty="0" smtClean="0"/>
            </a:br>
            <a:r>
              <a:rPr lang="en-IN"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r>
              <a:rPr lang="en-US" sz="2800" dirty="0"/>
              <a:t>Step 3- Executing SQL Queries</a:t>
            </a:r>
          </a:p>
          <a:p>
            <a:r>
              <a:rPr lang="en-US" sz="2800" dirty="0"/>
              <a:t>To actually use the database there should be a way to execute queries.</a:t>
            </a:r>
            <a:r>
              <a:rPr lang="en-US" sz="2800" dirty="0" smtClean="0"/>
              <a:t/>
            </a:r>
            <a:br>
              <a:rPr lang="en-US" sz="2800" dirty="0" smtClean="0"/>
            </a:br>
            <a:r>
              <a:rPr lang="en-US" sz="2800" dirty="0"/>
              <a:t>JDBC provides </a:t>
            </a:r>
            <a:r>
              <a:rPr lang="en-US" sz="2800" b="1" dirty="0"/>
              <a:t>Statement, </a:t>
            </a:r>
            <a:r>
              <a:rPr lang="en-US" sz="2800" b="1" dirty="0" err="1"/>
              <a:t>PreparedStatement</a:t>
            </a:r>
            <a:r>
              <a:rPr lang="en-US" sz="2800" b="1" dirty="0"/>
              <a:t> and </a:t>
            </a:r>
            <a:r>
              <a:rPr lang="en-US" sz="2800" b="1" dirty="0" err="1"/>
              <a:t>CallableStatement</a:t>
            </a:r>
            <a:r>
              <a:rPr lang="en-US" sz="2800" b="1" dirty="0"/>
              <a:t> interfaces</a:t>
            </a:r>
            <a:r>
              <a:rPr lang="en-US" sz="2800" dirty="0"/>
              <a:t> that contain methods and properties we can use to send or receive data to/ from database.</a:t>
            </a:r>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005064"/>
            <a:ext cx="763587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087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0000" lnSpcReduction="20000"/>
          </a:bodyPr>
          <a:lstStyle/>
          <a:p>
            <a:r>
              <a:rPr lang="en-US" b="1" dirty="0" smtClean="0"/>
              <a:t>Statement Interface -</a:t>
            </a:r>
          </a:p>
          <a:p>
            <a:r>
              <a:rPr lang="en-US" dirty="0" smtClean="0"/>
              <a:t>It provides the simplest method for executing queries and work with static queries only.</a:t>
            </a:r>
          </a:p>
          <a:p>
            <a:r>
              <a:rPr lang="en-US" dirty="0" smtClean="0"/>
              <a:t>First of all you need to have an object of Statement. You can get a reference to Statement by calling the </a:t>
            </a:r>
            <a:r>
              <a:rPr lang="en-US" dirty="0" err="1" smtClean="0"/>
              <a:t>createStatement</a:t>
            </a:r>
            <a:r>
              <a:rPr lang="en-US" dirty="0" smtClean="0"/>
              <a:t>() method of Connection interface. It has the following syntax -</a:t>
            </a:r>
          </a:p>
          <a:p>
            <a:r>
              <a:rPr lang="en-US" dirty="0" smtClean="0"/>
              <a:t>Connection </a:t>
            </a:r>
            <a:r>
              <a:rPr lang="en-US" dirty="0" err="1" smtClean="0"/>
              <a:t>createStatement</a:t>
            </a:r>
            <a:r>
              <a:rPr lang="en-US" dirty="0" smtClean="0"/>
              <a:t>() throws </a:t>
            </a:r>
            <a:r>
              <a:rPr lang="en-US" dirty="0" err="1" smtClean="0"/>
              <a:t>SQLException</a:t>
            </a:r>
            <a:r>
              <a:rPr lang="en-US" dirty="0" smtClean="0"/>
              <a:t> </a:t>
            </a:r>
          </a:p>
          <a:p>
            <a:r>
              <a:rPr lang="en-US" b="1" dirty="0" smtClean="0"/>
              <a:t>Example -</a:t>
            </a:r>
          </a:p>
          <a:p>
            <a:r>
              <a:rPr lang="en-US" dirty="0" smtClean="0"/>
              <a:t>Statement </a:t>
            </a:r>
            <a:r>
              <a:rPr lang="en-US" dirty="0" err="1" smtClean="0"/>
              <a:t>st</a:t>
            </a:r>
            <a:r>
              <a:rPr lang="en-US" dirty="0" smtClean="0"/>
              <a:t> = </a:t>
            </a:r>
            <a:r>
              <a:rPr lang="en-US" dirty="0" err="1" smtClean="0"/>
              <a:t>con.createStatement</a:t>
            </a:r>
            <a:r>
              <a:rPr lang="en-US" dirty="0" smtClean="0"/>
              <a:t>();</a:t>
            </a:r>
          </a:p>
          <a:p>
            <a:r>
              <a:rPr lang="en-US" dirty="0" smtClean="0"/>
              <a:t>Where con is a reference to Connection class. </a:t>
            </a:r>
          </a:p>
          <a:p>
            <a:r>
              <a:rPr lang="en-US" dirty="0"/>
              <a:t>Once you have created Statement object you can execute SQL queries -</a:t>
            </a:r>
          </a:p>
          <a:p>
            <a:r>
              <a:rPr lang="en-US" b="1" dirty="0"/>
              <a:t>Executing SQL Select Statement - </a:t>
            </a:r>
            <a:r>
              <a:rPr lang="en-US" b="1" dirty="0" err="1"/>
              <a:t>executeQuery</a:t>
            </a:r>
            <a:r>
              <a:rPr lang="en-US" b="1" dirty="0"/>
              <a:t>(String </a:t>
            </a:r>
            <a:r>
              <a:rPr lang="en-US" b="1" dirty="0" err="1"/>
              <a:t>SQL_Query</a:t>
            </a:r>
            <a:r>
              <a:rPr lang="en-US" b="1" dirty="0"/>
              <a:t>)</a:t>
            </a:r>
            <a:r>
              <a:rPr lang="en-US" dirty="0"/>
              <a:t> method is used to execute SQL Select queries.</a:t>
            </a:r>
          </a:p>
          <a:p>
            <a:r>
              <a:rPr lang="en-US" b="1" dirty="0"/>
              <a:t>Executing SQL Insert, Update and Delete Statements - </a:t>
            </a:r>
            <a:r>
              <a:rPr lang="en-US" b="1" dirty="0" err="1"/>
              <a:t>executeUpdate</a:t>
            </a:r>
            <a:r>
              <a:rPr lang="en-US" b="1" dirty="0"/>
              <a:t>(String </a:t>
            </a:r>
            <a:r>
              <a:rPr lang="en-US" b="1" dirty="0" err="1"/>
              <a:t>SQL_Query</a:t>
            </a:r>
            <a:r>
              <a:rPr lang="en-US" b="1" dirty="0"/>
              <a:t>)</a:t>
            </a:r>
            <a:r>
              <a:rPr lang="en-US" dirty="0"/>
              <a:t> method is used to execute SQL </a:t>
            </a:r>
            <a:r>
              <a:rPr lang="en-US" dirty="0" err="1"/>
              <a:t>Insert,Update</a:t>
            </a:r>
            <a:r>
              <a:rPr lang="en-US" dirty="0"/>
              <a:t> and Delete queries.</a:t>
            </a:r>
          </a:p>
          <a:p>
            <a:endParaRPr lang="en-IN" dirty="0"/>
          </a:p>
        </p:txBody>
      </p:sp>
    </p:spTree>
    <p:extLst>
      <p:ext uri="{BB962C8B-B14F-4D97-AF65-F5344CB8AC3E}">
        <p14:creationId xmlns:p14="http://schemas.microsoft.com/office/powerpoint/2010/main" val="1860875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r>
              <a:rPr lang="en-US" dirty="0"/>
              <a:t>Example - (Using MySQL RDBMS)</a:t>
            </a:r>
          </a:p>
          <a:p>
            <a:r>
              <a:rPr lang="en-US" dirty="0"/>
              <a:t>In this example we select and print all the data of a table named "Employee" exists in database named "Company".</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2636" y="3645024"/>
            <a:ext cx="6645275" cy="131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087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32500" lnSpcReduction="20000"/>
          </a:bodyPr>
          <a:lstStyle/>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//1.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//2.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//3. Create Statement Object</a:t>
            </a:r>
          </a:p>
          <a:p>
            <a:pPr marL="0" indent="0">
              <a:buNone/>
            </a:pPr>
            <a:r>
              <a:rPr lang="en-IN" dirty="0" smtClean="0"/>
              <a:t>            Statement </a:t>
            </a:r>
            <a:r>
              <a:rPr lang="en-IN" dirty="0" err="1" smtClean="0"/>
              <a:t>st</a:t>
            </a:r>
            <a:r>
              <a:rPr lang="en-IN" dirty="0" smtClean="0"/>
              <a:t> = </a:t>
            </a:r>
            <a:r>
              <a:rPr lang="en-IN" dirty="0" err="1" smtClean="0"/>
              <a:t>con.createStatement</a:t>
            </a:r>
            <a:r>
              <a:rPr lang="en-IN" dirty="0" smtClean="0"/>
              <a:t>();</a:t>
            </a:r>
          </a:p>
          <a:p>
            <a:pPr marL="0" indent="0">
              <a:buNone/>
            </a:pPr>
            <a:r>
              <a:rPr lang="en-IN" dirty="0" smtClean="0"/>
              <a:t>            </a:t>
            </a:r>
          </a:p>
          <a:p>
            <a:pPr marL="0" indent="0">
              <a:buNone/>
            </a:pPr>
            <a:r>
              <a:rPr lang="en-IN" dirty="0" smtClean="0"/>
              <a:t>            //4. Execute query</a:t>
            </a:r>
          </a:p>
          <a:p>
            <a:pPr marL="0" indent="0">
              <a:buNone/>
            </a:pPr>
            <a:r>
              <a:rPr lang="en-IN" dirty="0" smtClean="0"/>
              <a:t>            </a:t>
            </a:r>
            <a:r>
              <a:rPr lang="en-IN" dirty="0" err="1" smtClean="0"/>
              <a:t>ResultSet</a:t>
            </a:r>
            <a:r>
              <a:rPr lang="en-IN" dirty="0" smtClean="0"/>
              <a:t> </a:t>
            </a:r>
            <a:r>
              <a:rPr lang="en-IN" dirty="0" err="1" smtClean="0"/>
              <a:t>rs</a:t>
            </a:r>
            <a:r>
              <a:rPr lang="en-IN" dirty="0" smtClean="0"/>
              <a:t> = </a:t>
            </a:r>
            <a:r>
              <a:rPr lang="en-IN" dirty="0" err="1" smtClean="0"/>
              <a:t>st.executeQuery</a:t>
            </a:r>
            <a:r>
              <a:rPr lang="en-IN" dirty="0" smtClean="0"/>
              <a:t>("select * from Employee");</a:t>
            </a:r>
          </a:p>
          <a:p>
            <a:pPr marL="0" indent="0">
              <a:buNone/>
            </a:pPr>
            <a:endParaRPr lang="en-IN" dirty="0" smtClean="0"/>
          </a:p>
          <a:p>
            <a:pPr marL="0" indent="0">
              <a:buNone/>
            </a:pPr>
            <a:r>
              <a:rPr lang="en-IN" dirty="0" smtClean="0"/>
              <a:t>           // to print values contained in table</a:t>
            </a:r>
          </a:p>
          <a:p>
            <a:pPr marL="0" indent="0">
              <a:buNone/>
            </a:pPr>
            <a:r>
              <a:rPr lang="en-IN" dirty="0" smtClean="0"/>
              <a:t>            while(</a:t>
            </a:r>
            <a:r>
              <a:rPr lang="en-IN" dirty="0" err="1" smtClean="0"/>
              <a:t>rs.next</a:t>
            </a:r>
            <a:r>
              <a:rPr lang="en-IN" dirty="0" smtClean="0"/>
              <a:t>())</a:t>
            </a:r>
          </a:p>
          <a:p>
            <a:pPr marL="0" indent="0">
              <a:buNone/>
            </a:pPr>
            <a:r>
              <a:rPr lang="en-IN" dirty="0" smtClean="0"/>
              <a:t>            {</a:t>
            </a:r>
          </a:p>
          <a:p>
            <a:pPr marL="0" indent="0">
              <a:buNone/>
            </a:pPr>
            <a:r>
              <a:rPr lang="en-IN" dirty="0" smtClean="0"/>
              <a:t>                </a:t>
            </a:r>
            <a:r>
              <a:rPr lang="en-IN" dirty="0" err="1" smtClean="0"/>
              <a:t>System.out.println</a:t>
            </a:r>
            <a:r>
              <a:rPr lang="en-IN" dirty="0" smtClean="0"/>
              <a:t>(</a:t>
            </a:r>
            <a:r>
              <a:rPr lang="en-IN" dirty="0" err="1" smtClean="0"/>
              <a:t>rs.getInt</a:t>
            </a:r>
            <a:r>
              <a:rPr lang="en-IN" dirty="0" smtClean="0"/>
              <a:t>(1)+"   "+</a:t>
            </a:r>
            <a:r>
              <a:rPr lang="en-IN" dirty="0" err="1" smtClean="0"/>
              <a:t>rs.getString</a:t>
            </a:r>
            <a:r>
              <a:rPr lang="en-IN" dirty="0" smtClean="0"/>
              <a:t>(2)+"   "+</a:t>
            </a:r>
            <a:r>
              <a:rPr lang="en-IN" dirty="0" err="1" smtClean="0"/>
              <a:t>rs.getInt</a:t>
            </a:r>
            <a:r>
              <a:rPr lang="en-IN" dirty="0" smtClean="0"/>
              <a:t>(3));</a:t>
            </a:r>
          </a:p>
          <a:p>
            <a:pPr marL="0" indent="0">
              <a:buNone/>
            </a:pPr>
            <a:r>
              <a:rPr lang="en-IN" dirty="0" smtClean="0"/>
              <a:t>            }</a:t>
            </a:r>
          </a:p>
          <a:p>
            <a:pPr marL="0" indent="0">
              <a:buNone/>
            </a:pPr>
            <a:r>
              <a:rPr lang="en-IN" dirty="0" smtClean="0"/>
              <a:t>            </a:t>
            </a:r>
          </a:p>
          <a:p>
            <a:pPr marL="0" indent="0">
              <a:buNone/>
            </a:pPr>
            <a:r>
              <a:rPr lang="en-IN" dirty="0" smtClean="0"/>
              <a:t>            //5.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 </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47500" lnSpcReduction="20000"/>
          </a:bodyPr>
          <a:lstStyle/>
          <a:p>
            <a:r>
              <a:rPr lang="en-IN" b="1" dirty="0" err="1" smtClean="0"/>
              <a:t>ResultSetMetaData</a:t>
            </a:r>
            <a:r>
              <a:rPr lang="en-IN" b="1" dirty="0" smtClean="0"/>
              <a:t> interface -</a:t>
            </a:r>
          </a:p>
          <a:p>
            <a:r>
              <a:rPr lang="en-IN" dirty="0" smtClean="0"/>
              <a:t>Metadata is data about data i.e. further information about data. </a:t>
            </a:r>
            <a:r>
              <a:rPr lang="en-IN" dirty="0" err="1" smtClean="0"/>
              <a:t>ResultSetMetaData</a:t>
            </a:r>
            <a:r>
              <a:rPr lang="en-IN" dirty="0" smtClean="0"/>
              <a:t> is used to get the Meta data of </a:t>
            </a:r>
            <a:r>
              <a:rPr lang="en-IN" dirty="0" err="1" smtClean="0"/>
              <a:t>ResultSet</a:t>
            </a:r>
            <a:r>
              <a:rPr lang="en-IN" dirty="0" smtClean="0"/>
              <a:t>. i.e. we can get deeper information about </a:t>
            </a:r>
            <a:r>
              <a:rPr lang="en-IN" dirty="0" err="1" smtClean="0"/>
              <a:t>ResultSet</a:t>
            </a:r>
            <a:r>
              <a:rPr lang="en-IN" dirty="0" smtClean="0"/>
              <a:t> like column names, column types, total number of columns.</a:t>
            </a:r>
          </a:p>
          <a:p>
            <a:r>
              <a:rPr lang="en-IN" dirty="0" smtClean="0"/>
              <a:t>We can get a reference of </a:t>
            </a:r>
            <a:r>
              <a:rPr lang="en-IN" dirty="0" err="1" smtClean="0"/>
              <a:t>ResultSetMetaData</a:t>
            </a:r>
            <a:r>
              <a:rPr lang="en-IN" dirty="0" smtClean="0"/>
              <a:t> by using </a:t>
            </a:r>
            <a:r>
              <a:rPr lang="en-IN" dirty="0" err="1" smtClean="0"/>
              <a:t>getMetaData</a:t>
            </a:r>
            <a:r>
              <a:rPr lang="en-IN" dirty="0" smtClean="0"/>
              <a:t>() method of </a:t>
            </a:r>
            <a:r>
              <a:rPr lang="en-IN" dirty="0" err="1" smtClean="0"/>
              <a:t>ResultSet</a:t>
            </a:r>
            <a:r>
              <a:rPr lang="en-IN" dirty="0" smtClean="0"/>
              <a:t> interface. It has the following syntax -</a:t>
            </a:r>
          </a:p>
          <a:p>
            <a:r>
              <a:rPr lang="en-IN" dirty="0" err="1" smtClean="0"/>
              <a:t>ResultSetMetaData</a:t>
            </a:r>
            <a:r>
              <a:rPr lang="en-IN" dirty="0" smtClean="0"/>
              <a:t> </a:t>
            </a:r>
            <a:r>
              <a:rPr lang="en-IN" dirty="0" err="1" smtClean="0"/>
              <a:t>getMetaData</a:t>
            </a:r>
            <a:r>
              <a:rPr lang="en-IN" dirty="0" smtClean="0"/>
              <a:t>()  throws </a:t>
            </a:r>
            <a:r>
              <a:rPr lang="en-IN" dirty="0" err="1" smtClean="0"/>
              <a:t>SQLException</a:t>
            </a:r>
            <a:endParaRPr lang="en-IN" dirty="0" smtClean="0"/>
          </a:p>
          <a:p>
            <a:r>
              <a:rPr lang="en-IN" dirty="0" smtClean="0"/>
              <a:t>For Example -</a:t>
            </a:r>
          </a:p>
          <a:p>
            <a:r>
              <a:rPr lang="en-IN" dirty="0" err="1" smtClean="0"/>
              <a:t>ResultSetMetaData</a:t>
            </a:r>
            <a:r>
              <a:rPr lang="en-IN" dirty="0" smtClean="0"/>
              <a:t> </a:t>
            </a:r>
            <a:r>
              <a:rPr lang="en-IN" dirty="0" err="1" smtClean="0"/>
              <a:t>rsmd</a:t>
            </a:r>
            <a:r>
              <a:rPr lang="en-IN" dirty="0" smtClean="0"/>
              <a:t> = </a:t>
            </a:r>
            <a:r>
              <a:rPr lang="en-IN" dirty="0" err="1" smtClean="0"/>
              <a:t>rs.getMetaData</a:t>
            </a:r>
            <a:r>
              <a:rPr lang="en-IN" dirty="0" smtClean="0"/>
              <a:t>();</a:t>
            </a:r>
          </a:p>
          <a:p>
            <a:r>
              <a:rPr lang="en-IN" dirty="0" smtClean="0"/>
              <a:t>Where </a:t>
            </a:r>
            <a:r>
              <a:rPr lang="en-IN" dirty="0" err="1" smtClean="0"/>
              <a:t>rs</a:t>
            </a:r>
            <a:r>
              <a:rPr lang="en-IN" dirty="0" smtClean="0"/>
              <a:t> is reference of </a:t>
            </a:r>
            <a:r>
              <a:rPr lang="en-IN" dirty="0" err="1" smtClean="0"/>
              <a:t>ResultSet</a:t>
            </a:r>
            <a:r>
              <a:rPr lang="en-IN" dirty="0" smtClean="0"/>
              <a:t> interface.</a:t>
            </a:r>
          </a:p>
          <a:p>
            <a:endParaRPr lang="en-IN" b="1" dirty="0" smtClean="0"/>
          </a:p>
          <a:p>
            <a:r>
              <a:rPr lang="en-IN" b="1" dirty="0" smtClean="0"/>
              <a:t>Methods of </a:t>
            </a:r>
            <a:r>
              <a:rPr lang="en-IN" b="1" dirty="0" err="1" smtClean="0"/>
              <a:t>ResultSetMetaData</a:t>
            </a:r>
            <a:r>
              <a:rPr lang="en-IN" b="1" dirty="0" smtClean="0"/>
              <a:t> -</a:t>
            </a:r>
          </a:p>
          <a:p>
            <a:r>
              <a:rPr lang="en-IN" dirty="0" smtClean="0"/>
              <a:t>Some most commonly used methods of </a:t>
            </a:r>
            <a:r>
              <a:rPr lang="en-IN" dirty="0" err="1" smtClean="0"/>
              <a:t>ResultSetMetaData</a:t>
            </a:r>
            <a:r>
              <a:rPr lang="en-IN" dirty="0" smtClean="0"/>
              <a:t> are as follows -</a:t>
            </a:r>
          </a:p>
          <a:p>
            <a:r>
              <a:rPr lang="en-IN" dirty="0" smtClean="0"/>
              <a:t>1- </a:t>
            </a:r>
            <a:r>
              <a:rPr lang="en-IN" dirty="0" err="1" smtClean="0"/>
              <a:t>int</a:t>
            </a:r>
            <a:r>
              <a:rPr lang="en-IN" dirty="0" smtClean="0"/>
              <a:t> </a:t>
            </a:r>
            <a:r>
              <a:rPr lang="en-IN" dirty="0" err="1" smtClean="0"/>
              <a:t>getColumnCount</a:t>
            </a:r>
            <a:r>
              <a:rPr lang="en-IN" dirty="0" smtClean="0"/>
              <a:t>() throws </a:t>
            </a:r>
            <a:r>
              <a:rPr lang="en-IN" dirty="0" err="1" smtClean="0"/>
              <a:t>SQLException</a:t>
            </a:r>
            <a:r>
              <a:rPr lang="en-IN" dirty="0" smtClean="0"/>
              <a:t> - the number of columns in this </a:t>
            </a:r>
            <a:r>
              <a:rPr lang="en-IN" dirty="0" err="1" smtClean="0"/>
              <a:t>ResultSet</a:t>
            </a:r>
            <a:r>
              <a:rPr lang="en-IN" dirty="0" smtClean="0"/>
              <a:t> object.</a:t>
            </a:r>
          </a:p>
          <a:p>
            <a:r>
              <a:rPr lang="en-IN" dirty="0" smtClean="0"/>
              <a:t>2- String </a:t>
            </a:r>
            <a:r>
              <a:rPr lang="en-IN" dirty="0" err="1" smtClean="0"/>
              <a:t>getColumnName</a:t>
            </a:r>
            <a:r>
              <a:rPr lang="en-IN" dirty="0" smtClean="0"/>
              <a:t>(</a:t>
            </a:r>
            <a:r>
              <a:rPr lang="en-IN" dirty="0" err="1" smtClean="0"/>
              <a:t>int</a:t>
            </a:r>
            <a:r>
              <a:rPr lang="en-IN" dirty="0" smtClean="0"/>
              <a:t> </a:t>
            </a:r>
            <a:r>
              <a:rPr lang="en-IN" dirty="0" err="1" smtClean="0"/>
              <a:t>column_Index</a:t>
            </a:r>
            <a:r>
              <a:rPr lang="en-IN" dirty="0" smtClean="0"/>
              <a:t>) throws </a:t>
            </a:r>
            <a:r>
              <a:rPr lang="en-IN" dirty="0" err="1" smtClean="0"/>
              <a:t>SQLException</a:t>
            </a:r>
            <a:r>
              <a:rPr lang="en-IN" dirty="0" smtClean="0"/>
              <a:t> - It returns the column name available at specified </a:t>
            </a:r>
            <a:r>
              <a:rPr lang="en-IN" dirty="0" err="1" smtClean="0"/>
              <a:t>column_Index</a:t>
            </a:r>
            <a:r>
              <a:rPr lang="en-IN" dirty="0" smtClean="0"/>
              <a:t>.</a:t>
            </a:r>
          </a:p>
          <a:p>
            <a:r>
              <a:rPr lang="en-IN" dirty="0" smtClean="0"/>
              <a:t>3- </a:t>
            </a:r>
            <a:r>
              <a:rPr lang="en-IN" dirty="0" err="1" smtClean="0"/>
              <a:t>int</a:t>
            </a:r>
            <a:r>
              <a:rPr lang="en-IN" dirty="0" smtClean="0"/>
              <a:t> </a:t>
            </a:r>
            <a:r>
              <a:rPr lang="en-IN" dirty="0" err="1" smtClean="0"/>
              <a:t>getColumnType</a:t>
            </a:r>
            <a:r>
              <a:rPr lang="en-IN" dirty="0" smtClean="0"/>
              <a:t>(</a:t>
            </a:r>
            <a:r>
              <a:rPr lang="en-IN" dirty="0" err="1" smtClean="0"/>
              <a:t>int</a:t>
            </a:r>
            <a:r>
              <a:rPr lang="en-IN" dirty="0" smtClean="0"/>
              <a:t> </a:t>
            </a:r>
            <a:r>
              <a:rPr lang="en-IN" dirty="0" err="1" smtClean="0"/>
              <a:t>column_Index</a:t>
            </a:r>
            <a:r>
              <a:rPr lang="en-IN" dirty="0" smtClean="0"/>
              <a:t>) throws </a:t>
            </a:r>
            <a:r>
              <a:rPr lang="en-IN" dirty="0" err="1" smtClean="0"/>
              <a:t>SQLException</a:t>
            </a:r>
            <a:r>
              <a:rPr lang="en-IN" dirty="0" smtClean="0"/>
              <a:t> - It returns the column SQL type </a:t>
            </a:r>
          </a:p>
          <a:p>
            <a:r>
              <a:rPr lang="en-US" dirty="0" smtClean="0"/>
              <a:t>4- String </a:t>
            </a:r>
            <a:r>
              <a:rPr lang="en-US" dirty="0" err="1" smtClean="0"/>
              <a:t>getColumnTypeName</a:t>
            </a:r>
            <a:r>
              <a:rPr lang="en-US" dirty="0" smtClean="0"/>
              <a:t>(</a:t>
            </a:r>
            <a:r>
              <a:rPr lang="en-US" dirty="0" err="1" smtClean="0"/>
              <a:t>int</a:t>
            </a:r>
            <a:r>
              <a:rPr lang="en-US" dirty="0" smtClean="0"/>
              <a:t> </a:t>
            </a:r>
            <a:r>
              <a:rPr lang="en-US" dirty="0" err="1" smtClean="0"/>
              <a:t>column_Index</a:t>
            </a:r>
            <a:r>
              <a:rPr lang="en-US" dirty="0" smtClean="0"/>
              <a:t>) throws </a:t>
            </a:r>
            <a:r>
              <a:rPr lang="en-US" dirty="0" err="1" smtClean="0"/>
              <a:t>SQLException</a:t>
            </a:r>
            <a:r>
              <a:rPr lang="en-US" dirty="0" smtClean="0"/>
              <a:t> - It returns the database specific type name of the column specified by </a:t>
            </a:r>
            <a:r>
              <a:rPr lang="en-US" dirty="0" err="1" smtClean="0"/>
              <a:t>column_Index</a:t>
            </a:r>
            <a:r>
              <a:rPr lang="en-US" dirty="0" smtClean="0"/>
              <a:t>.</a:t>
            </a:r>
          </a:p>
          <a:p>
            <a:r>
              <a:rPr lang="en-US" dirty="0" smtClean="0"/>
              <a:t>5- String </a:t>
            </a:r>
            <a:r>
              <a:rPr lang="en-US" dirty="0" err="1" smtClean="0"/>
              <a:t>getTableName</a:t>
            </a:r>
            <a:r>
              <a:rPr lang="en-US" dirty="0" smtClean="0"/>
              <a:t>(</a:t>
            </a:r>
            <a:r>
              <a:rPr lang="en-US" dirty="0" err="1" smtClean="0"/>
              <a:t>int</a:t>
            </a:r>
            <a:r>
              <a:rPr lang="en-US" dirty="0" smtClean="0"/>
              <a:t> </a:t>
            </a:r>
            <a:r>
              <a:rPr lang="en-US" dirty="0" err="1" smtClean="0"/>
              <a:t>column_Index</a:t>
            </a:r>
            <a:r>
              <a:rPr lang="en-US" dirty="0" smtClean="0"/>
              <a:t>) throws </a:t>
            </a:r>
            <a:r>
              <a:rPr lang="en-US" dirty="0" err="1" smtClean="0"/>
              <a:t>SQLException</a:t>
            </a:r>
            <a:r>
              <a:rPr lang="en-US" dirty="0" smtClean="0"/>
              <a:t> -</a:t>
            </a:r>
          </a:p>
          <a:p>
            <a:r>
              <a:rPr lang="en-US" dirty="0" smtClean="0"/>
              <a:t>It returns the columns table name.</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r>
              <a:rPr lang="en-US" dirty="0"/>
              <a:t>Example - (Using MySQL RDBMS)</a:t>
            </a:r>
          </a:p>
          <a:p>
            <a:r>
              <a:rPr lang="en-US" dirty="0"/>
              <a:t>In this example we select and print the data along with column names of a table named "Employee" exists in database named "Company".</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645024"/>
            <a:ext cx="6934200" cy="107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087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25000" lnSpcReduction="20000"/>
          </a:bodyPr>
          <a:lstStyle/>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Statement </a:t>
            </a:r>
            <a:r>
              <a:rPr lang="en-IN" dirty="0" err="1" smtClean="0"/>
              <a:t>st</a:t>
            </a:r>
            <a:r>
              <a:rPr lang="en-IN" dirty="0" smtClean="0"/>
              <a:t> = </a:t>
            </a:r>
            <a:r>
              <a:rPr lang="en-IN" dirty="0" err="1" smtClean="0"/>
              <a:t>con.createStatement</a:t>
            </a:r>
            <a:r>
              <a:rPr lang="en-IN" dirty="0" smtClean="0"/>
              <a:t>();</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ResultSet</a:t>
            </a:r>
            <a:r>
              <a:rPr lang="en-IN" dirty="0" smtClean="0"/>
              <a:t> </a:t>
            </a:r>
            <a:r>
              <a:rPr lang="en-IN" dirty="0" err="1" smtClean="0"/>
              <a:t>rs</a:t>
            </a:r>
            <a:r>
              <a:rPr lang="en-IN" dirty="0" smtClean="0"/>
              <a:t> = </a:t>
            </a:r>
            <a:r>
              <a:rPr lang="en-IN" dirty="0" err="1" smtClean="0"/>
              <a:t>st.executeQuery</a:t>
            </a:r>
            <a:r>
              <a:rPr lang="en-IN" dirty="0" smtClean="0"/>
              <a:t>("select * from Employee");</a:t>
            </a:r>
          </a:p>
          <a:p>
            <a:pPr marL="0" indent="0">
              <a:buNone/>
            </a:pPr>
            <a:r>
              <a:rPr lang="en-IN" dirty="0" smtClean="0"/>
              <a:t>            </a:t>
            </a:r>
            <a:r>
              <a:rPr lang="en-IN" dirty="0" err="1" smtClean="0"/>
              <a:t>ResultSetMetaData</a:t>
            </a:r>
            <a:r>
              <a:rPr lang="en-IN" dirty="0" smtClean="0"/>
              <a:t> </a:t>
            </a:r>
            <a:r>
              <a:rPr lang="en-IN" dirty="0" err="1" smtClean="0"/>
              <a:t>rsmd</a:t>
            </a:r>
            <a:r>
              <a:rPr lang="en-IN" dirty="0" smtClean="0"/>
              <a:t> = </a:t>
            </a:r>
            <a:r>
              <a:rPr lang="en-IN" dirty="0" err="1" smtClean="0"/>
              <a:t>rs.getMetaData</a:t>
            </a:r>
            <a:r>
              <a:rPr lang="en-IN" dirty="0" smtClean="0"/>
              <a:t>();</a:t>
            </a:r>
          </a:p>
          <a:p>
            <a:pPr marL="0" indent="0">
              <a:buNone/>
            </a:pPr>
            <a:r>
              <a:rPr lang="en-IN" dirty="0" smtClean="0"/>
              <a:t>            </a:t>
            </a:r>
          </a:p>
          <a:p>
            <a:pPr marL="0" indent="0">
              <a:buNone/>
            </a:pPr>
            <a:r>
              <a:rPr lang="en-IN" dirty="0" smtClean="0"/>
              <a:t>            // Get total number of columns</a:t>
            </a:r>
          </a:p>
          <a:p>
            <a:pPr marL="0" indent="0">
              <a:buNone/>
            </a:pPr>
            <a:r>
              <a:rPr lang="en-IN" dirty="0" smtClean="0"/>
              <a:t>            </a:t>
            </a:r>
            <a:r>
              <a:rPr lang="en-IN" dirty="0" err="1" smtClean="0"/>
              <a:t>int</a:t>
            </a:r>
            <a:r>
              <a:rPr lang="en-IN" dirty="0" smtClean="0"/>
              <a:t> cols = </a:t>
            </a:r>
            <a:r>
              <a:rPr lang="en-IN" dirty="0" err="1" smtClean="0"/>
              <a:t>rsmd.getColumnCount</a:t>
            </a:r>
            <a:r>
              <a:rPr lang="en-IN" dirty="0" smtClean="0"/>
              <a:t>();</a:t>
            </a:r>
          </a:p>
          <a:p>
            <a:pPr marL="0" indent="0">
              <a:buNone/>
            </a:pPr>
            <a:r>
              <a:rPr lang="en-IN" dirty="0" smtClean="0"/>
              <a:t>            </a:t>
            </a:r>
          </a:p>
          <a:p>
            <a:pPr marL="0" indent="0">
              <a:buNone/>
            </a:pPr>
            <a:r>
              <a:rPr lang="en-IN" dirty="0" smtClean="0"/>
              <a:t>            // To print columns names of table</a:t>
            </a:r>
          </a:p>
          <a:p>
            <a:pPr marL="0" indent="0">
              <a:buNone/>
            </a:pPr>
            <a:r>
              <a:rPr lang="en-IN" dirty="0" smtClean="0"/>
              <a:t>            for(</a:t>
            </a:r>
            <a:r>
              <a:rPr lang="en-IN" dirty="0" err="1" smtClean="0"/>
              <a:t>int</a:t>
            </a:r>
            <a:r>
              <a:rPr lang="en-IN" dirty="0" smtClean="0"/>
              <a:t> i =1; i&lt;=cols; i++)</a:t>
            </a:r>
          </a:p>
          <a:p>
            <a:pPr marL="0" indent="0">
              <a:buNone/>
            </a:pPr>
            <a:r>
              <a:rPr lang="en-IN" dirty="0" smtClean="0"/>
              <a:t>            {</a:t>
            </a:r>
          </a:p>
          <a:p>
            <a:pPr marL="0" indent="0">
              <a:buNone/>
            </a:pPr>
            <a:r>
              <a:rPr lang="en-IN" dirty="0" smtClean="0"/>
              <a:t>                </a:t>
            </a:r>
            <a:r>
              <a:rPr lang="en-IN" dirty="0" err="1" smtClean="0"/>
              <a:t>System.out.print</a:t>
            </a:r>
            <a:r>
              <a:rPr lang="en-IN" dirty="0" smtClean="0"/>
              <a:t>(</a:t>
            </a:r>
            <a:r>
              <a:rPr lang="en-IN" dirty="0" err="1" smtClean="0"/>
              <a:t>rsmd.getColumnName</a:t>
            </a:r>
            <a:r>
              <a:rPr lang="en-IN" dirty="0" smtClean="0"/>
              <a:t>(i)+"   ");</a:t>
            </a:r>
          </a:p>
          <a:p>
            <a:pPr marL="0" indent="0">
              <a:buNone/>
            </a:pPr>
            <a:r>
              <a:rPr lang="en-IN" dirty="0" smtClean="0"/>
              <a:t>            }</a:t>
            </a:r>
          </a:p>
          <a:p>
            <a:pPr marL="0" indent="0">
              <a:buNone/>
            </a:pPr>
            <a:r>
              <a:rPr lang="en-IN" dirty="0" smtClean="0"/>
              <a:t>            </a:t>
            </a:r>
          </a:p>
          <a:p>
            <a:pPr marL="0" indent="0">
              <a:buNone/>
            </a:pPr>
            <a:r>
              <a:rPr lang="en-IN" dirty="0" smtClean="0"/>
              <a:t>            // for next line</a:t>
            </a:r>
          </a:p>
          <a:p>
            <a:pPr marL="0" indent="0">
              <a:buNone/>
            </a:pPr>
            <a:r>
              <a:rPr lang="en-IN" dirty="0" smtClean="0"/>
              <a:t>            </a:t>
            </a:r>
            <a:r>
              <a:rPr lang="en-IN" dirty="0" err="1" smtClean="0"/>
              <a:t>System.out.println</a:t>
            </a:r>
            <a:r>
              <a:rPr lang="en-IN" dirty="0" smtClean="0"/>
              <a:t>();</a:t>
            </a:r>
          </a:p>
          <a:p>
            <a:pPr marL="0" indent="0">
              <a:buNone/>
            </a:pPr>
            <a:r>
              <a:rPr lang="en-IN" dirty="0" smtClean="0"/>
              <a:t>            </a:t>
            </a:r>
          </a:p>
          <a:p>
            <a:pPr marL="0" indent="0">
              <a:buNone/>
            </a:pPr>
            <a:r>
              <a:rPr lang="en-IN" dirty="0" smtClean="0"/>
              <a:t>            // to print values contained in table</a:t>
            </a:r>
          </a:p>
          <a:p>
            <a:pPr marL="0" indent="0">
              <a:buNone/>
            </a:pPr>
            <a:r>
              <a:rPr lang="en-IN" dirty="0" smtClean="0"/>
              <a:t>            while(</a:t>
            </a:r>
            <a:r>
              <a:rPr lang="en-IN" dirty="0" err="1" smtClean="0"/>
              <a:t>rs.next</a:t>
            </a:r>
            <a:r>
              <a:rPr lang="en-IN" dirty="0" smtClean="0"/>
              <a:t>())</a:t>
            </a:r>
          </a:p>
          <a:p>
            <a:pPr marL="0" indent="0">
              <a:buNone/>
            </a:pPr>
            <a:r>
              <a:rPr lang="en-IN" dirty="0" smtClean="0"/>
              <a:t>            {</a:t>
            </a:r>
          </a:p>
          <a:p>
            <a:pPr marL="0" indent="0">
              <a:buNone/>
            </a:pPr>
            <a:r>
              <a:rPr lang="en-IN" dirty="0" smtClean="0"/>
              <a:t>                </a:t>
            </a:r>
            <a:r>
              <a:rPr lang="en-IN" dirty="0" err="1" smtClean="0"/>
              <a:t>System.out.println</a:t>
            </a:r>
            <a:r>
              <a:rPr lang="en-IN" dirty="0" smtClean="0"/>
              <a:t>(</a:t>
            </a:r>
            <a:r>
              <a:rPr lang="en-IN" dirty="0" err="1" smtClean="0"/>
              <a:t>rs.getInt</a:t>
            </a:r>
            <a:r>
              <a:rPr lang="en-IN" dirty="0" smtClean="0"/>
              <a:t>(1)+"   "+</a:t>
            </a:r>
            <a:r>
              <a:rPr lang="en-IN" dirty="0" err="1" smtClean="0"/>
              <a:t>rs.getString</a:t>
            </a:r>
            <a:r>
              <a:rPr lang="en-IN" dirty="0" smtClean="0"/>
              <a:t>(2)+"   "+</a:t>
            </a:r>
            <a:r>
              <a:rPr lang="en-IN" dirty="0" err="1" smtClean="0"/>
              <a:t>rs.getInt</a:t>
            </a:r>
            <a:r>
              <a:rPr lang="en-IN" dirty="0" smtClean="0"/>
              <a:t>(3));</a:t>
            </a:r>
          </a:p>
          <a:p>
            <a:pPr marL="0" indent="0">
              <a:buNone/>
            </a:pPr>
            <a:r>
              <a:rPr lang="en-IN" dirty="0" smtClean="0"/>
              <a:t>            }</a:t>
            </a:r>
          </a:p>
          <a:p>
            <a:pPr marL="0" indent="0">
              <a:buNone/>
            </a:pPr>
            <a:r>
              <a:rPr lang="en-IN" dirty="0" smtClean="0"/>
              <a:t>            </a:t>
            </a:r>
          </a:p>
          <a:p>
            <a:pPr marL="0" indent="0">
              <a:buNone/>
            </a:pPr>
            <a:r>
              <a:rPr lang="en-IN" dirty="0" smtClean="0"/>
              <a:t>            //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20000"/>
          </a:bodyPr>
          <a:lstStyle/>
          <a:p>
            <a:r>
              <a:rPr lang="en-US" b="1" dirty="0" smtClean="0"/>
              <a:t>2- </a:t>
            </a:r>
            <a:r>
              <a:rPr lang="en-US" b="1" dirty="0" err="1" smtClean="0"/>
              <a:t>int</a:t>
            </a:r>
            <a:r>
              <a:rPr lang="en-US" b="1" dirty="0" smtClean="0"/>
              <a:t> </a:t>
            </a:r>
            <a:r>
              <a:rPr lang="en-US" b="1" dirty="0" err="1" smtClean="0"/>
              <a:t>executeUpdate</a:t>
            </a:r>
            <a:r>
              <a:rPr lang="en-US" b="1" dirty="0" smtClean="0"/>
              <a:t>(String </a:t>
            </a:r>
            <a:r>
              <a:rPr lang="en-US" b="1" dirty="0" err="1" smtClean="0"/>
              <a:t>SQL_Query</a:t>
            </a:r>
            <a:r>
              <a:rPr lang="en-US" b="1" dirty="0" smtClean="0"/>
              <a:t>) -</a:t>
            </a:r>
          </a:p>
          <a:p>
            <a:r>
              <a:rPr lang="en-US" dirty="0" smtClean="0"/>
              <a:t>This method is used to execute SQL Insert, Update, delete and other DDL statements that does not return anything. It has the following syntax -</a:t>
            </a:r>
          </a:p>
          <a:p>
            <a:r>
              <a:rPr lang="en-US" dirty="0" smtClean="0"/>
              <a:t>public abstract </a:t>
            </a:r>
            <a:r>
              <a:rPr lang="en-US" dirty="0" err="1" smtClean="0"/>
              <a:t>int</a:t>
            </a:r>
            <a:r>
              <a:rPr lang="en-US" dirty="0" smtClean="0"/>
              <a:t> </a:t>
            </a:r>
            <a:r>
              <a:rPr lang="en-US" dirty="0" err="1" smtClean="0"/>
              <a:t>executeUpdate</a:t>
            </a:r>
            <a:r>
              <a:rPr lang="en-US" dirty="0" smtClean="0"/>
              <a:t>(String </a:t>
            </a:r>
            <a:r>
              <a:rPr lang="en-US" dirty="0" err="1" smtClean="0"/>
              <a:t>SQL_Query</a:t>
            </a:r>
            <a:r>
              <a:rPr lang="en-US" dirty="0" smtClean="0"/>
              <a:t>) throws </a:t>
            </a:r>
            <a:r>
              <a:rPr lang="en-US" dirty="0" err="1" smtClean="0"/>
              <a:t>SQLException</a:t>
            </a:r>
            <a:endParaRPr lang="en-US" dirty="0" smtClean="0"/>
          </a:p>
          <a:p>
            <a:r>
              <a:rPr lang="en-US" dirty="0" smtClean="0"/>
              <a:t>It executes the specified </a:t>
            </a:r>
            <a:r>
              <a:rPr lang="en-US" dirty="0" err="1" smtClean="0"/>
              <a:t>SQL_Query</a:t>
            </a:r>
            <a:r>
              <a:rPr lang="en-US" dirty="0" smtClean="0"/>
              <a:t> and returns the number of rows affected by the operation.</a:t>
            </a:r>
          </a:p>
          <a:p>
            <a:r>
              <a:rPr lang="en-US" dirty="0" smtClean="0"/>
              <a:t>For example -</a:t>
            </a:r>
          </a:p>
          <a:p>
            <a:r>
              <a:rPr lang="en-US" dirty="0" smtClean="0"/>
              <a:t>To delete all data of table named </a:t>
            </a:r>
            <a:r>
              <a:rPr lang="en-US" dirty="0" err="1" smtClean="0"/>
              <a:t>emp</a:t>
            </a:r>
            <a:endParaRPr lang="en-US" dirty="0" smtClean="0"/>
          </a:p>
          <a:p>
            <a:r>
              <a:rPr lang="en-US" dirty="0" err="1" smtClean="0"/>
              <a:t>int</a:t>
            </a:r>
            <a:r>
              <a:rPr lang="en-US" dirty="0" smtClean="0"/>
              <a:t> </a:t>
            </a:r>
            <a:r>
              <a:rPr lang="en-US" dirty="0" err="1" smtClean="0"/>
              <a:t>rows_affected</a:t>
            </a:r>
            <a:r>
              <a:rPr lang="en-US" dirty="0" smtClean="0"/>
              <a:t> = </a:t>
            </a:r>
            <a:r>
              <a:rPr lang="en-US" dirty="0" err="1" smtClean="0"/>
              <a:t>st.executeUpdate</a:t>
            </a:r>
            <a:r>
              <a:rPr lang="en-US" dirty="0" smtClean="0"/>
              <a:t>("delete from </a:t>
            </a:r>
            <a:r>
              <a:rPr lang="en-US" dirty="0" err="1" smtClean="0"/>
              <a:t>emp</a:t>
            </a:r>
            <a:r>
              <a:rPr lang="en-US"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32500" lnSpcReduction="20000"/>
          </a:bodyPr>
          <a:lstStyle/>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Statement </a:t>
            </a:r>
            <a:r>
              <a:rPr lang="en-IN" dirty="0" err="1" smtClean="0"/>
              <a:t>st</a:t>
            </a:r>
            <a:r>
              <a:rPr lang="en-IN" dirty="0" smtClean="0"/>
              <a:t> = </a:t>
            </a:r>
            <a:r>
              <a:rPr lang="en-IN" dirty="0" err="1" smtClean="0"/>
              <a:t>con.createStatement</a:t>
            </a:r>
            <a:r>
              <a:rPr lang="en-IN" dirty="0" smtClean="0"/>
              <a:t>();</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int</a:t>
            </a:r>
            <a:r>
              <a:rPr lang="en-IN" dirty="0" smtClean="0"/>
              <a:t> </a:t>
            </a:r>
            <a:r>
              <a:rPr lang="en-IN" dirty="0" err="1" smtClean="0"/>
              <a:t>row_affected</a:t>
            </a:r>
            <a:r>
              <a:rPr lang="en-IN" dirty="0" smtClean="0"/>
              <a:t> = </a:t>
            </a:r>
            <a:r>
              <a:rPr lang="en-IN" dirty="0" err="1" smtClean="0"/>
              <a:t>st.executeUpdate</a:t>
            </a:r>
            <a:r>
              <a:rPr lang="en-IN" dirty="0" smtClean="0"/>
              <a:t>("insert into Employee values(3, 'Ajay', 1500000)");</a:t>
            </a:r>
          </a:p>
          <a:p>
            <a:pPr marL="0" indent="0">
              <a:buNone/>
            </a:pPr>
            <a:r>
              <a:rPr lang="en-IN" dirty="0" smtClean="0"/>
              <a:t>            </a:t>
            </a:r>
            <a:r>
              <a:rPr lang="en-IN" dirty="0" err="1" smtClean="0"/>
              <a:t>System.out.println</a:t>
            </a:r>
            <a:r>
              <a:rPr lang="en-IN" dirty="0" smtClean="0"/>
              <a:t>("Number of Rows affected by query = "+</a:t>
            </a:r>
            <a:r>
              <a:rPr lang="en-IN" dirty="0" err="1" smtClean="0"/>
              <a:t>row_affected</a:t>
            </a:r>
            <a:r>
              <a:rPr lang="en-IN" dirty="0" smtClean="0"/>
              <a:t>);</a:t>
            </a:r>
          </a:p>
          <a:p>
            <a:pPr marL="0" indent="0">
              <a:buNone/>
            </a:pPr>
            <a:r>
              <a:rPr lang="en-IN" dirty="0" smtClean="0"/>
              <a:t>            </a:t>
            </a:r>
          </a:p>
          <a:p>
            <a:pPr marL="0" indent="0">
              <a:buNone/>
            </a:pPr>
            <a:r>
              <a:rPr lang="en-IN" dirty="0" smtClean="0"/>
              <a:t>            //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r>
              <a:rPr lang="en-US" dirty="0" smtClean="0"/>
              <a:t>Output -</a:t>
            </a:r>
          </a:p>
          <a:p>
            <a:r>
              <a:rPr lang="en-US" dirty="0" smtClean="0"/>
              <a:t>Number of Rows affected by query = 1</a:t>
            </a:r>
          </a:p>
          <a:p>
            <a:r>
              <a:rPr lang="en-US" dirty="0" smtClean="0"/>
              <a:t>As the output is one that means our query is successfully executes. We can also see the result by executing the following query in </a:t>
            </a:r>
            <a:r>
              <a:rPr lang="en-US" dirty="0" err="1" smtClean="0"/>
              <a:t>MySql</a:t>
            </a:r>
            <a:r>
              <a:rPr lang="en-US" dirty="0" smtClean="0"/>
              <a:t> Command window -</a:t>
            </a:r>
          </a:p>
          <a:p>
            <a:r>
              <a:rPr lang="en-US" dirty="0" err="1" smtClean="0"/>
              <a:t>mysql</a:t>
            </a:r>
            <a:r>
              <a:rPr lang="en-US" dirty="0" smtClean="0"/>
              <a:t>&gt; select * from Employee;</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r>
              <a:rPr lang="en-US" dirty="0"/>
              <a:t>Example 2 - (Using MySQL RDBMS)</a:t>
            </a:r>
          </a:p>
          <a:p>
            <a:r>
              <a:rPr lang="en-US" dirty="0"/>
              <a:t>In this example we update the salary of employee named "Rohit" from 1000000 to 800000.</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32500" lnSpcReduction="20000"/>
          </a:bodyPr>
          <a:lstStyle/>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Statement </a:t>
            </a:r>
            <a:r>
              <a:rPr lang="en-IN" dirty="0" err="1" smtClean="0"/>
              <a:t>st</a:t>
            </a:r>
            <a:r>
              <a:rPr lang="en-IN" dirty="0" smtClean="0"/>
              <a:t> = </a:t>
            </a:r>
            <a:r>
              <a:rPr lang="en-IN" dirty="0" err="1" smtClean="0"/>
              <a:t>con.createStatement</a:t>
            </a:r>
            <a:r>
              <a:rPr lang="en-IN" dirty="0" smtClean="0"/>
              <a:t>();</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int</a:t>
            </a:r>
            <a:r>
              <a:rPr lang="en-IN" dirty="0" smtClean="0"/>
              <a:t> </a:t>
            </a:r>
            <a:r>
              <a:rPr lang="en-IN" dirty="0" err="1" smtClean="0"/>
              <a:t>row_affected</a:t>
            </a:r>
            <a:r>
              <a:rPr lang="en-IN" dirty="0" smtClean="0"/>
              <a:t> = </a:t>
            </a:r>
            <a:r>
              <a:rPr lang="en-IN" dirty="0" err="1" smtClean="0"/>
              <a:t>st.executeUpdate</a:t>
            </a:r>
            <a:r>
              <a:rPr lang="en-IN" dirty="0" smtClean="0"/>
              <a:t>("update Employee set salary = 800000 where </a:t>
            </a:r>
            <a:r>
              <a:rPr lang="en-IN" dirty="0" err="1" smtClean="0"/>
              <a:t>ename</a:t>
            </a:r>
            <a:r>
              <a:rPr lang="en-IN" dirty="0" smtClean="0"/>
              <a:t> = 'Rohit'");</a:t>
            </a:r>
          </a:p>
          <a:p>
            <a:pPr marL="0" indent="0">
              <a:buNone/>
            </a:pPr>
            <a:r>
              <a:rPr lang="en-IN" dirty="0" smtClean="0"/>
              <a:t>            </a:t>
            </a:r>
            <a:r>
              <a:rPr lang="en-IN" dirty="0" err="1" smtClean="0"/>
              <a:t>System.out.println</a:t>
            </a:r>
            <a:r>
              <a:rPr lang="en-IN" dirty="0" smtClean="0"/>
              <a:t>("Number of Rows affected by query = "+</a:t>
            </a:r>
            <a:r>
              <a:rPr lang="en-IN" dirty="0" err="1" smtClean="0"/>
              <a:t>row_affected</a:t>
            </a:r>
            <a:r>
              <a:rPr lang="en-IN" dirty="0" smtClean="0"/>
              <a:t>);</a:t>
            </a:r>
          </a:p>
          <a:p>
            <a:pPr marL="0" indent="0">
              <a:buNone/>
            </a:pPr>
            <a:r>
              <a:rPr lang="en-IN" dirty="0" smtClean="0"/>
              <a:t>            </a:t>
            </a:r>
          </a:p>
          <a:p>
            <a:pPr marL="0" indent="0">
              <a:buNone/>
            </a:pPr>
            <a:r>
              <a:rPr lang="en-IN" dirty="0" smtClean="0"/>
              <a:t>            //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a:t>
            </a:r>
            <a:endParaRPr lang="en-IN" dirty="0"/>
          </a:p>
        </p:txBody>
      </p:sp>
    </p:spTree>
    <p:extLst>
      <p:ext uri="{BB962C8B-B14F-4D97-AF65-F5344CB8AC3E}">
        <p14:creationId xmlns:p14="http://schemas.microsoft.com/office/powerpoint/2010/main" val="1860875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32500" lnSpcReduction="20000"/>
          </a:bodyPr>
          <a:lstStyle/>
          <a:p>
            <a:r>
              <a:rPr lang="en-US" dirty="0"/>
              <a:t>Example 3 - (Using MySQL RDBMS)</a:t>
            </a:r>
          </a:p>
          <a:p>
            <a:r>
              <a:rPr lang="en-US" dirty="0"/>
              <a:t>In this example we delete two rows from table where </a:t>
            </a:r>
            <a:r>
              <a:rPr lang="en-US" dirty="0" err="1"/>
              <a:t>eid</a:t>
            </a:r>
            <a:r>
              <a:rPr lang="en-US" dirty="0"/>
              <a:t> is 1 and 2</a:t>
            </a:r>
            <a:r>
              <a:rPr lang="en-US" dirty="0" smtClean="0"/>
              <a:t>.</a:t>
            </a:r>
          </a:p>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Statement </a:t>
            </a:r>
            <a:r>
              <a:rPr lang="en-IN" dirty="0" err="1" smtClean="0"/>
              <a:t>st</a:t>
            </a:r>
            <a:r>
              <a:rPr lang="en-IN" dirty="0" smtClean="0"/>
              <a:t> = </a:t>
            </a:r>
            <a:r>
              <a:rPr lang="en-IN" dirty="0" err="1" smtClean="0"/>
              <a:t>con.createStatement</a:t>
            </a:r>
            <a:r>
              <a:rPr lang="en-IN" dirty="0" smtClean="0"/>
              <a:t>();</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int</a:t>
            </a:r>
            <a:r>
              <a:rPr lang="en-IN" dirty="0" smtClean="0"/>
              <a:t> </a:t>
            </a:r>
            <a:r>
              <a:rPr lang="en-IN" dirty="0" err="1" smtClean="0"/>
              <a:t>row_affected</a:t>
            </a:r>
            <a:r>
              <a:rPr lang="en-IN" dirty="0" smtClean="0"/>
              <a:t> = </a:t>
            </a:r>
            <a:r>
              <a:rPr lang="en-IN" dirty="0" err="1" smtClean="0"/>
              <a:t>st.executeUpdate</a:t>
            </a:r>
            <a:r>
              <a:rPr lang="en-IN" dirty="0" smtClean="0"/>
              <a:t>("delete from Employee where </a:t>
            </a:r>
            <a:r>
              <a:rPr lang="en-IN" dirty="0" err="1" smtClean="0"/>
              <a:t>eid</a:t>
            </a:r>
            <a:r>
              <a:rPr lang="en-IN" dirty="0" smtClean="0"/>
              <a:t> in(1,2)");</a:t>
            </a:r>
          </a:p>
          <a:p>
            <a:pPr marL="0" indent="0">
              <a:buNone/>
            </a:pPr>
            <a:r>
              <a:rPr lang="en-IN" dirty="0" smtClean="0"/>
              <a:t>            </a:t>
            </a:r>
            <a:r>
              <a:rPr lang="en-IN" dirty="0" err="1" smtClean="0"/>
              <a:t>System.out.println</a:t>
            </a:r>
            <a:r>
              <a:rPr lang="en-IN" dirty="0" smtClean="0"/>
              <a:t>("Number of Rows affected by query = "+</a:t>
            </a:r>
            <a:r>
              <a:rPr lang="en-IN" dirty="0" err="1" smtClean="0"/>
              <a:t>row_affected</a:t>
            </a:r>
            <a:r>
              <a:rPr lang="en-IN" dirty="0" smtClean="0"/>
              <a:t>);</a:t>
            </a:r>
          </a:p>
          <a:p>
            <a:pPr marL="0" indent="0">
              <a:buNone/>
            </a:pPr>
            <a:r>
              <a:rPr lang="en-IN" dirty="0" smtClean="0"/>
              <a:t>            </a:t>
            </a:r>
          </a:p>
          <a:p>
            <a:pPr marL="0" indent="0">
              <a:buNone/>
            </a:pPr>
            <a:r>
              <a:rPr lang="en-IN" dirty="0" smtClean="0"/>
              <a:t>            //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a:t>
            </a:r>
            <a:endParaRPr lang="en-IN" dirty="0"/>
          </a:p>
        </p:txBody>
      </p:sp>
    </p:spTree>
    <p:extLst>
      <p:ext uri="{BB962C8B-B14F-4D97-AF65-F5344CB8AC3E}">
        <p14:creationId xmlns:p14="http://schemas.microsoft.com/office/powerpoint/2010/main" val="2650997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0000" lnSpcReduction="20000"/>
          </a:bodyPr>
          <a:lstStyle/>
          <a:p>
            <a:r>
              <a:rPr lang="en-US" b="1" dirty="0" err="1"/>
              <a:t>PreparedStatement</a:t>
            </a:r>
            <a:r>
              <a:rPr lang="en-US" b="1" dirty="0"/>
              <a:t> Interface -</a:t>
            </a:r>
          </a:p>
          <a:p>
            <a:r>
              <a:rPr lang="en-US" dirty="0" err="1"/>
              <a:t>PreparedStatement</a:t>
            </a:r>
            <a:r>
              <a:rPr lang="en-US" dirty="0"/>
              <a:t> interface inherits the Statement interface and provides a way to execute dynamic queries. Dynamic queries are queries that executes by taking input from user.</a:t>
            </a:r>
            <a:r>
              <a:rPr lang="en-US" dirty="0" smtClean="0"/>
              <a:t/>
            </a:r>
            <a:br>
              <a:rPr lang="en-US" dirty="0" smtClean="0"/>
            </a:br>
            <a:r>
              <a:rPr lang="en-US" dirty="0"/>
              <a:t>For example consider the following query -</a:t>
            </a:r>
            <a:r>
              <a:rPr lang="en-US" dirty="0" smtClean="0"/>
              <a:t/>
            </a:r>
            <a:br>
              <a:rPr lang="en-US" dirty="0" smtClean="0"/>
            </a:br>
            <a:r>
              <a:rPr lang="en-US" b="1" dirty="0" smtClean="0">
                <a:effectLst/>
              </a:rPr>
              <a:t>String </a:t>
            </a:r>
            <a:r>
              <a:rPr lang="en-US" b="1" dirty="0" err="1" smtClean="0">
                <a:effectLst/>
              </a:rPr>
              <a:t>Sql_Query</a:t>
            </a:r>
            <a:r>
              <a:rPr lang="en-US" b="1" dirty="0" smtClean="0">
                <a:effectLst/>
              </a:rPr>
              <a:t> = "select * from student where roll = ?";</a:t>
            </a:r>
          </a:p>
          <a:p>
            <a:r>
              <a:rPr lang="en-US" dirty="0" smtClean="0"/>
              <a:t>This </a:t>
            </a:r>
            <a:r>
              <a:rPr lang="en-US" dirty="0"/>
              <a:t>is a dynamic query where value of roll denoted by ? (question mark) parameter, will be input by the user.</a:t>
            </a:r>
            <a:r>
              <a:rPr lang="en-US" dirty="0" smtClean="0"/>
              <a:t/>
            </a:r>
            <a:br>
              <a:rPr lang="en-US" dirty="0" smtClean="0"/>
            </a:br>
            <a:endParaRPr lang="en-US" dirty="0" smtClean="0"/>
          </a:p>
          <a:p>
            <a:r>
              <a:rPr lang="en-US" dirty="0" err="1" smtClean="0"/>
              <a:t>PreparedStatement</a:t>
            </a:r>
            <a:r>
              <a:rPr lang="en-US" dirty="0" smtClean="0"/>
              <a:t> </a:t>
            </a:r>
            <a:r>
              <a:rPr lang="en-US" dirty="0"/>
              <a:t>provides several setter methods to provide such values at run time. These will be discussed next.</a:t>
            </a:r>
            <a:r>
              <a:rPr lang="en-US" dirty="0" smtClean="0"/>
              <a:t/>
            </a:r>
            <a:br>
              <a:rPr lang="en-US" dirty="0" smtClean="0"/>
            </a:br>
            <a:endParaRPr lang="en-US" dirty="0" smtClean="0"/>
          </a:p>
          <a:p>
            <a:r>
              <a:rPr lang="en-US" dirty="0" smtClean="0"/>
              <a:t>We </a:t>
            </a:r>
            <a:r>
              <a:rPr lang="en-US" dirty="0"/>
              <a:t>can get a reference to </a:t>
            </a:r>
            <a:r>
              <a:rPr lang="en-US" dirty="0" err="1"/>
              <a:t>PreparedStatement</a:t>
            </a:r>
            <a:r>
              <a:rPr lang="en-US" dirty="0"/>
              <a:t> by using </a:t>
            </a:r>
            <a:r>
              <a:rPr lang="en-US" b="1" dirty="0" err="1"/>
              <a:t>prepareStatement</a:t>
            </a:r>
            <a:r>
              <a:rPr lang="en-US" b="1" dirty="0"/>
              <a:t>()</a:t>
            </a:r>
            <a:r>
              <a:rPr lang="en-US" dirty="0"/>
              <a:t> method of </a:t>
            </a:r>
            <a:r>
              <a:rPr lang="en-US" b="1" dirty="0"/>
              <a:t>Connection</a:t>
            </a:r>
            <a:r>
              <a:rPr lang="en-US" dirty="0"/>
              <a:t> interface. There are several versions of </a:t>
            </a:r>
            <a:r>
              <a:rPr lang="en-US" b="1" dirty="0" err="1"/>
              <a:t>prepareStatement</a:t>
            </a:r>
            <a:r>
              <a:rPr lang="en-US" b="1" dirty="0"/>
              <a:t>()</a:t>
            </a:r>
            <a:r>
              <a:rPr lang="en-US" dirty="0"/>
              <a:t> available, the most commonly used version has the following syntax -</a:t>
            </a:r>
            <a:r>
              <a:rPr lang="en-US" dirty="0" smtClean="0"/>
              <a:t/>
            </a:r>
            <a:br>
              <a:rPr lang="en-US" dirty="0" smtClean="0"/>
            </a:br>
            <a:r>
              <a:rPr lang="en-US" b="1" dirty="0" err="1" smtClean="0">
                <a:effectLst/>
              </a:rPr>
              <a:t>PreparedStatement</a:t>
            </a:r>
            <a:r>
              <a:rPr lang="en-US" b="1" dirty="0" smtClean="0">
                <a:effectLst/>
              </a:rPr>
              <a:t> </a:t>
            </a:r>
            <a:r>
              <a:rPr lang="en-US" b="1" dirty="0" err="1" smtClean="0">
                <a:effectLst/>
              </a:rPr>
              <a:t>prepareStatement</a:t>
            </a:r>
            <a:r>
              <a:rPr lang="en-US" b="1" dirty="0" smtClean="0">
                <a:effectLst/>
              </a:rPr>
              <a:t>(String </a:t>
            </a:r>
            <a:r>
              <a:rPr lang="en-US" b="1" dirty="0" err="1" smtClean="0">
                <a:effectLst/>
              </a:rPr>
              <a:t>Sql_Query</a:t>
            </a:r>
            <a:r>
              <a:rPr lang="en-US" b="1" dirty="0" smtClean="0">
                <a:effectLst/>
              </a:rPr>
              <a:t>) throws </a:t>
            </a:r>
            <a:r>
              <a:rPr lang="en-US" b="1" dirty="0" err="1" smtClean="0">
                <a:effectLst/>
              </a:rPr>
              <a:t>SQLException</a:t>
            </a:r>
            <a:r>
              <a:rPr lang="en-US" dirty="0" smtClean="0"/>
              <a:t/>
            </a:r>
            <a:br>
              <a:rPr lang="en-US" dirty="0" smtClean="0"/>
            </a:br>
            <a:endParaRPr lang="en-IN" dirty="0"/>
          </a:p>
        </p:txBody>
      </p:sp>
    </p:spTree>
    <p:extLst>
      <p:ext uri="{BB962C8B-B14F-4D97-AF65-F5344CB8AC3E}">
        <p14:creationId xmlns:p14="http://schemas.microsoft.com/office/powerpoint/2010/main" val="130580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47500" lnSpcReduction="20000"/>
          </a:bodyPr>
          <a:lstStyle/>
          <a:p>
            <a:r>
              <a:rPr lang="en-US" b="1" dirty="0" smtClean="0"/>
              <a:t>For example -</a:t>
            </a:r>
          </a:p>
          <a:p>
            <a:r>
              <a:rPr lang="en-US" dirty="0" err="1" smtClean="0"/>
              <a:t>PreparedStatement</a:t>
            </a:r>
            <a:r>
              <a:rPr lang="en-US" dirty="0" smtClean="0"/>
              <a:t> </a:t>
            </a:r>
            <a:r>
              <a:rPr lang="en-US" dirty="0" err="1" smtClean="0"/>
              <a:t>ps</a:t>
            </a:r>
            <a:r>
              <a:rPr lang="en-US" dirty="0" smtClean="0"/>
              <a:t> = </a:t>
            </a:r>
            <a:r>
              <a:rPr lang="en-US" dirty="0" err="1" smtClean="0"/>
              <a:t>con.prepareStatement</a:t>
            </a:r>
            <a:r>
              <a:rPr lang="en-US" dirty="0" smtClean="0"/>
              <a:t>("select * from student where name = ? and city=?");</a:t>
            </a:r>
          </a:p>
          <a:p>
            <a:r>
              <a:rPr lang="en-US" dirty="0" smtClean="0"/>
              <a:t>Where con represent active Connection object.</a:t>
            </a:r>
          </a:p>
          <a:p>
            <a:r>
              <a:rPr lang="en-US" dirty="0" smtClean="0"/>
              <a:t>The value of name and city denoted by ? parameters will be set by user input by using setter methods provided by </a:t>
            </a:r>
            <a:r>
              <a:rPr lang="en-US" dirty="0" err="1" smtClean="0"/>
              <a:t>PreparedStatement</a:t>
            </a:r>
            <a:r>
              <a:rPr lang="en-US" dirty="0" smtClean="0"/>
              <a:t> interface -</a:t>
            </a:r>
          </a:p>
          <a:p>
            <a:r>
              <a:rPr lang="en-US" dirty="0" smtClean="0"/>
              <a:t>1- void </a:t>
            </a:r>
            <a:r>
              <a:rPr lang="en-US" dirty="0" err="1" smtClean="0"/>
              <a:t>setInt</a:t>
            </a:r>
            <a:r>
              <a:rPr lang="en-US" dirty="0" smtClean="0"/>
              <a:t>(</a:t>
            </a:r>
            <a:r>
              <a:rPr lang="en-US" dirty="0" err="1" smtClean="0"/>
              <a:t>int</a:t>
            </a:r>
            <a:r>
              <a:rPr lang="en-US" dirty="0" smtClean="0"/>
              <a:t> </a:t>
            </a:r>
            <a:r>
              <a:rPr lang="en-US" dirty="0" err="1" smtClean="0"/>
              <a:t>parameter_Index</a:t>
            </a:r>
            <a:r>
              <a:rPr lang="en-US" dirty="0" smtClean="0"/>
              <a:t>, </a:t>
            </a:r>
            <a:r>
              <a:rPr lang="en-US" dirty="0" err="1" smtClean="0"/>
              <a:t>int</a:t>
            </a:r>
            <a:r>
              <a:rPr lang="en-US" dirty="0" smtClean="0"/>
              <a:t> </a:t>
            </a:r>
            <a:r>
              <a:rPr lang="en-US" dirty="0" err="1" smtClean="0"/>
              <a:t>val</a:t>
            </a:r>
            <a:r>
              <a:rPr lang="en-US" dirty="0" smtClean="0"/>
              <a:t>) throws </a:t>
            </a:r>
            <a:r>
              <a:rPr lang="en-US" dirty="0" err="1" smtClean="0"/>
              <a:t>SQLException</a:t>
            </a:r>
            <a:r>
              <a:rPr lang="en-US" dirty="0" smtClean="0"/>
              <a:t> - It sets the parameter indicated by </a:t>
            </a:r>
            <a:r>
              <a:rPr lang="en-US" dirty="0" err="1" smtClean="0"/>
              <a:t>parameter_Index</a:t>
            </a:r>
            <a:r>
              <a:rPr lang="en-US" dirty="0" smtClean="0"/>
              <a:t> to the integer value defined by val. The java driver converts this value to SQL INTEGER value when it sends it to database.</a:t>
            </a:r>
          </a:p>
          <a:p>
            <a:r>
              <a:rPr lang="en-US" dirty="0" smtClean="0"/>
              <a:t>Note- first, second, third parameters have the </a:t>
            </a:r>
            <a:r>
              <a:rPr lang="en-US" dirty="0" err="1" smtClean="0"/>
              <a:t>parameter_Index</a:t>
            </a:r>
            <a:r>
              <a:rPr lang="en-US" dirty="0" smtClean="0"/>
              <a:t> = 1, 2, 3 respectively and so on.</a:t>
            </a:r>
          </a:p>
          <a:p>
            <a:r>
              <a:rPr lang="en-US" dirty="0" smtClean="0"/>
              <a:t>2- void </a:t>
            </a:r>
            <a:r>
              <a:rPr lang="en-US" dirty="0" err="1" smtClean="0"/>
              <a:t>setString</a:t>
            </a:r>
            <a:r>
              <a:rPr lang="en-US" dirty="0" smtClean="0"/>
              <a:t>(</a:t>
            </a:r>
            <a:r>
              <a:rPr lang="en-US" dirty="0" err="1" smtClean="0"/>
              <a:t>int</a:t>
            </a:r>
            <a:r>
              <a:rPr lang="en-US" dirty="0" smtClean="0"/>
              <a:t> </a:t>
            </a:r>
            <a:r>
              <a:rPr lang="en-US" dirty="0" err="1" smtClean="0"/>
              <a:t>parameter_Index</a:t>
            </a:r>
            <a:r>
              <a:rPr lang="en-US" dirty="0" smtClean="0"/>
              <a:t>, String </a:t>
            </a:r>
            <a:r>
              <a:rPr lang="en-US" dirty="0" err="1" smtClean="0"/>
              <a:t>val</a:t>
            </a:r>
            <a:r>
              <a:rPr lang="en-US" dirty="0" smtClean="0"/>
              <a:t>) throws </a:t>
            </a:r>
            <a:r>
              <a:rPr lang="en-US" dirty="0" err="1" smtClean="0"/>
              <a:t>SQLException</a:t>
            </a:r>
            <a:r>
              <a:rPr lang="en-US" dirty="0" smtClean="0"/>
              <a:t> - It sets the parameter indicated by </a:t>
            </a:r>
            <a:r>
              <a:rPr lang="en-US" dirty="0" err="1" smtClean="0"/>
              <a:t>parameter_Index</a:t>
            </a:r>
            <a:r>
              <a:rPr lang="en-US" dirty="0" smtClean="0"/>
              <a:t> to the String value defined by val. The java driver converts this value to SQL </a:t>
            </a:r>
            <a:r>
              <a:rPr lang="en-US" dirty="0" err="1" smtClean="0"/>
              <a:t>varchar</a:t>
            </a:r>
            <a:r>
              <a:rPr lang="en-US" dirty="0" smtClean="0"/>
              <a:t> or varchar2 (depends upon String length) value when it send it to database.</a:t>
            </a:r>
          </a:p>
          <a:p>
            <a:endParaRPr lang="en-US" dirty="0" smtClean="0"/>
          </a:p>
          <a:p>
            <a:r>
              <a:rPr lang="en-US" dirty="0" smtClean="0"/>
              <a:t>Similar to </a:t>
            </a:r>
            <a:r>
              <a:rPr lang="en-US" dirty="0" err="1" smtClean="0"/>
              <a:t>setInt</a:t>
            </a:r>
            <a:r>
              <a:rPr lang="en-US" dirty="0" smtClean="0"/>
              <a:t>() and </a:t>
            </a:r>
            <a:r>
              <a:rPr lang="en-US" dirty="0" err="1" smtClean="0"/>
              <a:t>setString</a:t>
            </a:r>
            <a:r>
              <a:rPr lang="en-US" dirty="0" smtClean="0"/>
              <a:t>(), </a:t>
            </a:r>
            <a:r>
              <a:rPr lang="en-US" dirty="0" err="1" smtClean="0"/>
              <a:t>PreparedStatment</a:t>
            </a:r>
            <a:r>
              <a:rPr lang="en-US" dirty="0" smtClean="0"/>
              <a:t> also have the following methods that works exactly the same way as these two methods -</a:t>
            </a:r>
          </a:p>
          <a:p>
            <a:r>
              <a:rPr lang="en-US" dirty="0" smtClean="0"/>
              <a:t>3- void </a:t>
            </a:r>
            <a:r>
              <a:rPr lang="en-US" dirty="0" err="1" smtClean="0"/>
              <a:t>setByte</a:t>
            </a:r>
            <a:r>
              <a:rPr lang="en-US" dirty="0" smtClean="0"/>
              <a:t>(</a:t>
            </a:r>
            <a:r>
              <a:rPr lang="en-US" dirty="0" err="1" smtClean="0"/>
              <a:t>int</a:t>
            </a:r>
            <a:r>
              <a:rPr lang="en-US" dirty="0" smtClean="0"/>
              <a:t> </a:t>
            </a:r>
            <a:r>
              <a:rPr lang="en-US" dirty="0" err="1" smtClean="0"/>
              <a:t>parameter_Index</a:t>
            </a:r>
            <a:r>
              <a:rPr lang="en-US" dirty="0" smtClean="0"/>
              <a:t>, byte </a:t>
            </a:r>
            <a:r>
              <a:rPr lang="en-US" dirty="0" err="1" smtClean="0"/>
              <a:t>val</a:t>
            </a:r>
            <a:r>
              <a:rPr lang="en-US" dirty="0" smtClean="0"/>
              <a:t>) throws </a:t>
            </a:r>
            <a:r>
              <a:rPr lang="en-US" dirty="0" err="1" smtClean="0"/>
              <a:t>SQLException</a:t>
            </a:r>
            <a:endParaRPr lang="en-US" dirty="0" smtClean="0"/>
          </a:p>
          <a:p>
            <a:r>
              <a:rPr lang="en-US" dirty="0" smtClean="0"/>
              <a:t>4- void </a:t>
            </a:r>
            <a:r>
              <a:rPr lang="en-US" dirty="0" err="1" smtClean="0"/>
              <a:t>setShort</a:t>
            </a:r>
            <a:r>
              <a:rPr lang="en-US" dirty="0" smtClean="0"/>
              <a:t>(</a:t>
            </a:r>
            <a:r>
              <a:rPr lang="en-US" dirty="0" err="1" smtClean="0"/>
              <a:t>int</a:t>
            </a:r>
            <a:r>
              <a:rPr lang="en-US" dirty="0" smtClean="0"/>
              <a:t> </a:t>
            </a:r>
            <a:r>
              <a:rPr lang="en-US" dirty="0" err="1" smtClean="0"/>
              <a:t>parameter_Index</a:t>
            </a:r>
            <a:r>
              <a:rPr lang="en-US" dirty="0" smtClean="0"/>
              <a:t>, short </a:t>
            </a:r>
            <a:r>
              <a:rPr lang="en-US" dirty="0" err="1" smtClean="0"/>
              <a:t>val</a:t>
            </a:r>
            <a:r>
              <a:rPr lang="en-US" dirty="0" smtClean="0"/>
              <a:t>) throws </a:t>
            </a:r>
            <a:r>
              <a:rPr lang="en-US" dirty="0" err="1" smtClean="0"/>
              <a:t>SQLException</a:t>
            </a:r>
            <a:endParaRPr lang="en-US" dirty="0" smtClean="0"/>
          </a:p>
          <a:p>
            <a:r>
              <a:rPr lang="en-US" dirty="0" smtClean="0"/>
              <a:t>5- void </a:t>
            </a:r>
            <a:r>
              <a:rPr lang="en-US" dirty="0" err="1" smtClean="0"/>
              <a:t>setLong</a:t>
            </a:r>
            <a:r>
              <a:rPr lang="en-US" dirty="0" smtClean="0"/>
              <a:t>(</a:t>
            </a:r>
            <a:r>
              <a:rPr lang="en-US" dirty="0" err="1" smtClean="0"/>
              <a:t>int</a:t>
            </a:r>
            <a:r>
              <a:rPr lang="en-US" dirty="0" smtClean="0"/>
              <a:t> </a:t>
            </a:r>
            <a:r>
              <a:rPr lang="en-US" dirty="0" err="1" smtClean="0"/>
              <a:t>parameter_Index</a:t>
            </a:r>
            <a:r>
              <a:rPr lang="en-US" dirty="0" smtClean="0"/>
              <a:t>, long </a:t>
            </a:r>
            <a:r>
              <a:rPr lang="en-US" dirty="0" err="1" smtClean="0"/>
              <a:t>val</a:t>
            </a:r>
            <a:r>
              <a:rPr lang="en-US" dirty="0" smtClean="0"/>
              <a:t>) throws </a:t>
            </a:r>
            <a:r>
              <a:rPr lang="en-US" dirty="0" err="1" smtClean="0"/>
              <a:t>SQLException</a:t>
            </a:r>
            <a:endParaRPr lang="en-US" dirty="0" smtClean="0"/>
          </a:p>
          <a:p>
            <a:r>
              <a:rPr lang="en-US" dirty="0" smtClean="0"/>
              <a:t>6- void </a:t>
            </a:r>
            <a:r>
              <a:rPr lang="en-US" dirty="0" err="1" smtClean="0"/>
              <a:t>setFloat</a:t>
            </a:r>
            <a:r>
              <a:rPr lang="en-US" dirty="0" smtClean="0"/>
              <a:t>(</a:t>
            </a:r>
            <a:r>
              <a:rPr lang="en-US" dirty="0" err="1" smtClean="0"/>
              <a:t>int</a:t>
            </a:r>
            <a:r>
              <a:rPr lang="en-US" dirty="0" smtClean="0"/>
              <a:t> </a:t>
            </a:r>
            <a:r>
              <a:rPr lang="en-US" dirty="0" err="1" smtClean="0"/>
              <a:t>parameter_Index</a:t>
            </a:r>
            <a:r>
              <a:rPr lang="en-US" dirty="0" smtClean="0"/>
              <a:t>, float </a:t>
            </a:r>
            <a:r>
              <a:rPr lang="en-US" dirty="0" err="1" smtClean="0"/>
              <a:t>val</a:t>
            </a:r>
            <a:r>
              <a:rPr lang="en-US" dirty="0" smtClean="0"/>
              <a:t>) throws </a:t>
            </a:r>
            <a:r>
              <a:rPr lang="en-US" dirty="0" err="1" smtClean="0"/>
              <a:t>SQLException</a:t>
            </a:r>
            <a:endParaRPr lang="en-US" dirty="0" smtClean="0"/>
          </a:p>
          <a:p>
            <a:r>
              <a:rPr lang="en-US" dirty="0" smtClean="0"/>
              <a:t>7- void </a:t>
            </a:r>
            <a:r>
              <a:rPr lang="en-US" dirty="0" err="1" smtClean="0"/>
              <a:t>setDouble</a:t>
            </a:r>
            <a:r>
              <a:rPr lang="en-US" dirty="0" smtClean="0"/>
              <a:t>(</a:t>
            </a:r>
            <a:r>
              <a:rPr lang="en-US" dirty="0" err="1" smtClean="0"/>
              <a:t>int</a:t>
            </a:r>
            <a:r>
              <a:rPr lang="en-US" dirty="0" smtClean="0"/>
              <a:t> </a:t>
            </a:r>
            <a:r>
              <a:rPr lang="en-US" dirty="0" err="1" smtClean="0"/>
              <a:t>parameter_Index</a:t>
            </a:r>
            <a:r>
              <a:rPr lang="en-US" dirty="0" smtClean="0"/>
              <a:t>, double </a:t>
            </a:r>
            <a:r>
              <a:rPr lang="en-US" dirty="0" err="1" smtClean="0"/>
              <a:t>val</a:t>
            </a:r>
            <a:r>
              <a:rPr lang="en-US" dirty="0" smtClean="0"/>
              <a:t>) throws </a:t>
            </a:r>
            <a:r>
              <a:rPr lang="en-US" dirty="0" err="1" smtClean="0"/>
              <a:t>SQLException</a:t>
            </a:r>
            <a:endParaRPr lang="en-US" dirty="0" smtClean="0"/>
          </a:p>
          <a:p>
            <a:r>
              <a:rPr lang="en-US" dirty="0" smtClean="0"/>
              <a:t>8- void </a:t>
            </a:r>
            <a:r>
              <a:rPr lang="en-US" dirty="0" err="1" smtClean="0"/>
              <a:t>setBoolean</a:t>
            </a:r>
            <a:r>
              <a:rPr lang="en-US" dirty="0" smtClean="0"/>
              <a:t>(</a:t>
            </a:r>
            <a:r>
              <a:rPr lang="en-US" dirty="0" err="1" smtClean="0"/>
              <a:t>int</a:t>
            </a:r>
            <a:r>
              <a:rPr lang="en-US" dirty="0" smtClean="0"/>
              <a:t> </a:t>
            </a:r>
            <a:r>
              <a:rPr lang="en-US" dirty="0" err="1" smtClean="0"/>
              <a:t>parameter_Index</a:t>
            </a:r>
            <a:r>
              <a:rPr lang="en-US" dirty="0" smtClean="0"/>
              <a:t>, </a:t>
            </a:r>
            <a:r>
              <a:rPr lang="en-US" dirty="0" err="1" smtClean="0"/>
              <a:t>boolean</a:t>
            </a:r>
            <a:r>
              <a:rPr lang="en-US" dirty="0" smtClean="0"/>
              <a:t> </a:t>
            </a:r>
            <a:r>
              <a:rPr lang="en-US" dirty="0" err="1" smtClean="0"/>
              <a:t>val</a:t>
            </a:r>
            <a:r>
              <a:rPr lang="en-US" dirty="0" smtClean="0"/>
              <a:t>) throws </a:t>
            </a:r>
            <a:r>
              <a:rPr lang="en-US" dirty="0" err="1" smtClean="0"/>
              <a:t>SQLException</a:t>
            </a:r>
            <a:endParaRPr lang="en-US" dirty="0" smtClean="0"/>
          </a:p>
          <a:p>
            <a:r>
              <a:rPr lang="en-US" dirty="0" err="1" smtClean="0"/>
              <a:t>etc</a:t>
            </a:r>
            <a:endParaRPr lang="en-IN" dirty="0"/>
          </a:p>
        </p:txBody>
      </p:sp>
    </p:spTree>
    <p:extLst>
      <p:ext uri="{BB962C8B-B14F-4D97-AF65-F5344CB8AC3E}">
        <p14:creationId xmlns:p14="http://schemas.microsoft.com/office/powerpoint/2010/main" val="2609387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55000" lnSpcReduction="20000"/>
          </a:bodyPr>
          <a:lstStyle/>
          <a:p>
            <a:r>
              <a:rPr lang="en-US" dirty="0" smtClean="0"/>
              <a:t>Once you have created Statement object you can execute SQL queries -</a:t>
            </a:r>
          </a:p>
          <a:p>
            <a:r>
              <a:rPr lang="en-US" dirty="0" smtClean="0"/>
              <a:t>Executing SQL Select Statement - </a:t>
            </a:r>
            <a:r>
              <a:rPr lang="en-US" dirty="0" err="1" smtClean="0"/>
              <a:t>executeQuery</a:t>
            </a:r>
            <a:r>
              <a:rPr lang="en-US" dirty="0" smtClean="0"/>
              <a:t>(String </a:t>
            </a:r>
            <a:r>
              <a:rPr lang="en-US" dirty="0" err="1" smtClean="0"/>
              <a:t>SQL_Query</a:t>
            </a:r>
            <a:r>
              <a:rPr lang="en-US" dirty="0" smtClean="0"/>
              <a:t>) method is used to execute SQL Select queries.</a:t>
            </a:r>
          </a:p>
          <a:p>
            <a:r>
              <a:rPr lang="en-US" dirty="0" smtClean="0"/>
              <a:t>Executing SQL Insert, Update and Delete Statements - </a:t>
            </a:r>
            <a:r>
              <a:rPr lang="en-US" dirty="0" err="1" smtClean="0"/>
              <a:t>executeUpdate</a:t>
            </a:r>
            <a:r>
              <a:rPr lang="en-US" dirty="0" smtClean="0"/>
              <a:t>(String </a:t>
            </a:r>
            <a:r>
              <a:rPr lang="en-US" dirty="0" err="1" smtClean="0"/>
              <a:t>SQL_Query</a:t>
            </a:r>
            <a:r>
              <a:rPr lang="en-US" dirty="0" smtClean="0"/>
              <a:t>) method is used to execute SQL </a:t>
            </a:r>
            <a:r>
              <a:rPr lang="en-US" dirty="0" err="1" smtClean="0"/>
              <a:t>Insert,Update</a:t>
            </a:r>
            <a:r>
              <a:rPr lang="en-US" dirty="0" smtClean="0"/>
              <a:t> and Delete queries.</a:t>
            </a:r>
          </a:p>
          <a:p>
            <a:r>
              <a:rPr lang="en-US" dirty="0" smtClean="0"/>
              <a:t>Similar to Statement interface, </a:t>
            </a:r>
            <a:r>
              <a:rPr lang="en-US" dirty="0" err="1" smtClean="0"/>
              <a:t>PreparedStatement</a:t>
            </a:r>
            <a:r>
              <a:rPr lang="en-US" dirty="0" smtClean="0"/>
              <a:t> have the same methods to execute SQL statements. The difference between two is that </a:t>
            </a:r>
            <a:r>
              <a:rPr lang="en-US" dirty="0" err="1" smtClean="0"/>
              <a:t>PreparedStatement</a:t>
            </a:r>
            <a:r>
              <a:rPr lang="en-US" dirty="0" smtClean="0"/>
              <a:t> methods does not accept parameters.</a:t>
            </a:r>
          </a:p>
          <a:p>
            <a:r>
              <a:rPr lang="en-US" dirty="0" smtClean="0"/>
              <a:t>1- </a:t>
            </a:r>
            <a:r>
              <a:rPr lang="en-US" dirty="0" err="1" smtClean="0"/>
              <a:t>ResultSet</a:t>
            </a:r>
            <a:r>
              <a:rPr lang="en-US" dirty="0" smtClean="0"/>
              <a:t> </a:t>
            </a:r>
            <a:r>
              <a:rPr lang="en-US" dirty="0" err="1" smtClean="0"/>
              <a:t>executeQuery</a:t>
            </a:r>
            <a:r>
              <a:rPr lang="en-US" dirty="0" smtClean="0"/>
              <a:t>(String </a:t>
            </a:r>
            <a:r>
              <a:rPr lang="en-US" dirty="0" err="1" smtClean="0"/>
              <a:t>SQL_Query</a:t>
            </a:r>
            <a:r>
              <a:rPr lang="en-US" dirty="0" smtClean="0"/>
              <a:t>) -</a:t>
            </a:r>
          </a:p>
          <a:p>
            <a:r>
              <a:rPr lang="en-US" dirty="0" smtClean="0"/>
              <a:t>This method is used to execute SQL Select statement. It has the following syntax -</a:t>
            </a:r>
          </a:p>
          <a:p>
            <a:r>
              <a:rPr lang="en-US" dirty="0" smtClean="0"/>
              <a:t>public abstract </a:t>
            </a:r>
            <a:r>
              <a:rPr lang="en-US" dirty="0" err="1" smtClean="0"/>
              <a:t>ResultSet</a:t>
            </a:r>
            <a:r>
              <a:rPr lang="en-US" dirty="0" smtClean="0"/>
              <a:t> </a:t>
            </a:r>
            <a:r>
              <a:rPr lang="en-US" dirty="0" err="1" smtClean="0"/>
              <a:t>executeQuery</a:t>
            </a:r>
            <a:r>
              <a:rPr lang="en-US" dirty="0" smtClean="0"/>
              <a:t>() throws </a:t>
            </a:r>
            <a:r>
              <a:rPr lang="en-US" dirty="0" err="1" smtClean="0"/>
              <a:t>SQLException</a:t>
            </a:r>
            <a:endParaRPr lang="en-US" dirty="0" smtClean="0"/>
          </a:p>
          <a:p>
            <a:r>
              <a:rPr lang="en-US" dirty="0" smtClean="0"/>
              <a:t>It executes the select query specified in </a:t>
            </a:r>
            <a:r>
              <a:rPr lang="en-US" dirty="0" err="1" smtClean="0"/>
              <a:t>PreparedStatement</a:t>
            </a:r>
            <a:r>
              <a:rPr lang="en-US" dirty="0" smtClean="0"/>
              <a:t> object and returns the result in </a:t>
            </a:r>
            <a:r>
              <a:rPr lang="en-US" dirty="0" err="1" smtClean="0"/>
              <a:t>ResultSet</a:t>
            </a:r>
            <a:r>
              <a:rPr lang="en-US" dirty="0" smtClean="0"/>
              <a:t>.</a:t>
            </a:r>
          </a:p>
          <a:p>
            <a:r>
              <a:rPr lang="en-US" dirty="0" smtClean="0"/>
              <a:t>For example - To get all data of a table named </a:t>
            </a:r>
            <a:r>
              <a:rPr lang="en-US" dirty="0" err="1" smtClean="0"/>
              <a:t>emp</a:t>
            </a:r>
            <a:r>
              <a:rPr lang="en-US" dirty="0" smtClean="0"/>
              <a:t> -</a:t>
            </a:r>
          </a:p>
          <a:p>
            <a:r>
              <a:rPr lang="en-US" dirty="0" err="1" smtClean="0"/>
              <a:t>ResultSet</a:t>
            </a:r>
            <a:r>
              <a:rPr lang="en-US" dirty="0" smtClean="0"/>
              <a:t> </a:t>
            </a:r>
            <a:r>
              <a:rPr lang="en-US" dirty="0" err="1" smtClean="0"/>
              <a:t>rs</a:t>
            </a:r>
            <a:r>
              <a:rPr lang="en-US" dirty="0" smtClean="0"/>
              <a:t> = </a:t>
            </a:r>
            <a:r>
              <a:rPr lang="en-US" dirty="0" err="1" smtClean="0"/>
              <a:t>ps.executeQuery</a:t>
            </a:r>
            <a:r>
              <a:rPr lang="en-US" dirty="0" smtClean="0"/>
              <a:t>();</a:t>
            </a:r>
          </a:p>
          <a:p>
            <a:r>
              <a:rPr lang="en-US" dirty="0" smtClean="0"/>
              <a:t>Here </a:t>
            </a:r>
            <a:r>
              <a:rPr lang="en-US" dirty="0" err="1" smtClean="0"/>
              <a:t>ps</a:t>
            </a:r>
            <a:r>
              <a:rPr lang="en-US" dirty="0" smtClean="0"/>
              <a:t> is the </a:t>
            </a:r>
            <a:r>
              <a:rPr lang="en-US" dirty="0" err="1" smtClean="0"/>
              <a:t>PreparedStatement</a:t>
            </a:r>
            <a:r>
              <a:rPr lang="en-US" dirty="0" smtClean="0"/>
              <a:t> object that contain the SQL Query. All data of </a:t>
            </a:r>
            <a:r>
              <a:rPr lang="en-US" dirty="0" err="1" smtClean="0"/>
              <a:t>emp</a:t>
            </a:r>
            <a:r>
              <a:rPr lang="en-US" dirty="0" smtClean="0"/>
              <a:t> table will be stored in </a:t>
            </a:r>
          </a:p>
          <a:p>
            <a:r>
              <a:rPr lang="en-US" dirty="0" err="1" smtClean="0"/>
              <a:t>ResultSet</a:t>
            </a:r>
            <a:r>
              <a:rPr lang="en-US" dirty="0" smtClean="0"/>
              <a:t> specified by </a:t>
            </a:r>
            <a:r>
              <a:rPr lang="en-US" dirty="0" err="1" smtClean="0"/>
              <a:t>rs</a:t>
            </a:r>
            <a:r>
              <a:rPr lang="en-US" dirty="0" smtClean="0"/>
              <a:t>.</a:t>
            </a:r>
            <a:endParaRPr lang="en-IN" dirty="0"/>
          </a:p>
        </p:txBody>
      </p:sp>
    </p:spTree>
    <p:extLst>
      <p:ext uri="{BB962C8B-B14F-4D97-AF65-F5344CB8AC3E}">
        <p14:creationId xmlns:p14="http://schemas.microsoft.com/office/powerpoint/2010/main" val="2609387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55000" lnSpcReduction="20000"/>
          </a:bodyPr>
          <a:lstStyle/>
          <a:p>
            <a:r>
              <a:rPr lang="en-US" dirty="0"/>
              <a:t>Example - (Using MySQL RDBMS)</a:t>
            </a:r>
          </a:p>
          <a:p>
            <a:r>
              <a:rPr lang="en-US" dirty="0"/>
              <a:t>In this example we select and print the data from a table named "Employee" exists in database "Company". The data will be selected according to user input at run time</a:t>
            </a:r>
            <a:r>
              <a:rPr lang="en-US" dirty="0" smtClean="0"/>
              <a:t>.</a:t>
            </a:r>
          </a:p>
          <a:p>
            <a:pPr marL="0" indent="0">
              <a:buNone/>
            </a:pPr>
            <a:r>
              <a:rPr lang="en-IN" dirty="0" smtClean="0"/>
              <a:t>import </a:t>
            </a:r>
            <a:r>
              <a:rPr lang="en-IN" dirty="0" err="1" smtClean="0"/>
              <a:t>java.io.BufferedReader</a:t>
            </a:r>
            <a:r>
              <a:rPr lang="en-IN" dirty="0" smtClean="0"/>
              <a:t>;</a:t>
            </a:r>
          </a:p>
          <a:p>
            <a:pPr marL="0" indent="0">
              <a:buNone/>
            </a:pPr>
            <a:r>
              <a:rPr lang="en-IN" dirty="0" smtClean="0"/>
              <a:t>import </a:t>
            </a:r>
            <a:r>
              <a:rPr lang="en-IN" dirty="0" err="1" smtClean="0"/>
              <a:t>java.io.InputStreamReader</a:t>
            </a:r>
            <a:r>
              <a:rPr lang="en-IN" dirty="0" smtClean="0"/>
              <a:t>;</a:t>
            </a:r>
          </a:p>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a:t>
            </a:r>
            <a:r>
              <a:rPr lang="en-IN" dirty="0" err="1" smtClean="0"/>
              <a:t>BufferedReader</a:t>
            </a:r>
            <a:r>
              <a:rPr lang="en-IN" dirty="0" smtClean="0"/>
              <a:t> </a:t>
            </a:r>
            <a:r>
              <a:rPr lang="en-IN" dirty="0" err="1" smtClean="0"/>
              <a:t>br</a:t>
            </a:r>
            <a:r>
              <a:rPr lang="en-IN" dirty="0" smtClean="0"/>
              <a:t> = new </a:t>
            </a:r>
            <a:r>
              <a:rPr lang="en-IN" dirty="0" err="1" smtClean="0"/>
              <a:t>BufferedReader</a:t>
            </a:r>
            <a:r>
              <a:rPr lang="en-IN" dirty="0" smtClean="0"/>
              <a:t>(new </a:t>
            </a:r>
            <a:r>
              <a:rPr lang="en-IN" dirty="0" err="1" smtClean="0"/>
              <a:t>InputStreamReader</a:t>
            </a:r>
            <a:r>
              <a:rPr lang="en-IN" dirty="0" smtClean="0"/>
              <a:t>(System.in));</a:t>
            </a:r>
          </a:p>
          <a:p>
            <a:pPr marL="0" indent="0">
              <a:buNone/>
            </a:pPr>
            <a:r>
              <a:rPr lang="en-IN" dirty="0" smtClean="0"/>
              <a:t>            </a:t>
            </a:r>
            <a:r>
              <a:rPr lang="en-IN" dirty="0" err="1" smtClean="0"/>
              <a:t>System.out.println</a:t>
            </a:r>
            <a:r>
              <a:rPr lang="en-IN" dirty="0" smtClean="0"/>
              <a:t>("Enter first employee id");</a:t>
            </a:r>
          </a:p>
          <a:p>
            <a:pPr marL="0" indent="0">
              <a:buNone/>
            </a:pPr>
            <a:r>
              <a:rPr lang="en-IN" dirty="0" smtClean="0"/>
              <a:t>            </a:t>
            </a:r>
            <a:r>
              <a:rPr lang="en-IN" dirty="0" err="1" smtClean="0"/>
              <a:t>int</a:t>
            </a:r>
            <a:r>
              <a:rPr lang="en-IN" dirty="0" smtClean="0"/>
              <a:t> id1 = </a:t>
            </a:r>
            <a:r>
              <a:rPr lang="en-IN" dirty="0" err="1" smtClean="0"/>
              <a:t>Integer.parseInt</a:t>
            </a:r>
            <a:r>
              <a:rPr lang="en-IN" dirty="0" smtClean="0"/>
              <a:t>(</a:t>
            </a:r>
            <a:r>
              <a:rPr lang="en-IN" dirty="0" err="1" smtClean="0"/>
              <a:t>br.readLine</a:t>
            </a:r>
            <a:r>
              <a:rPr lang="en-IN" dirty="0" smtClean="0"/>
              <a:t>());</a:t>
            </a:r>
          </a:p>
          <a:p>
            <a:pPr marL="0" indent="0">
              <a:buNone/>
            </a:pPr>
            <a:r>
              <a:rPr lang="en-IN" dirty="0" smtClean="0"/>
              <a:t>            </a:t>
            </a:r>
            <a:r>
              <a:rPr lang="en-IN" dirty="0" err="1" smtClean="0"/>
              <a:t>System.out.println</a:t>
            </a:r>
            <a:r>
              <a:rPr lang="en-IN" dirty="0" smtClean="0"/>
              <a:t>("Enter second employee id");</a:t>
            </a:r>
          </a:p>
          <a:p>
            <a:pPr marL="0" indent="0">
              <a:buNone/>
            </a:pPr>
            <a:r>
              <a:rPr lang="en-IN" dirty="0" smtClean="0"/>
              <a:t>            </a:t>
            </a:r>
            <a:r>
              <a:rPr lang="en-IN" dirty="0" err="1" smtClean="0"/>
              <a:t>int</a:t>
            </a:r>
            <a:r>
              <a:rPr lang="en-IN" dirty="0" smtClean="0"/>
              <a:t> id2 = </a:t>
            </a:r>
            <a:r>
              <a:rPr lang="en-IN" dirty="0" err="1" smtClean="0"/>
              <a:t>Integer.parseInt</a:t>
            </a:r>
            <a:r>
              <a:rPr lang="en-IN" dirty="0" smtClean="0"/>
              <a:t>(</a:t>
            </a:r>
            <a:r>
              <a:rPr lang="en-IN" dirty="0" err="1" smtClean="0"/>
              <a:t>br.readLine</a:t>
            </a:r>
            <a:r>
              <a:rPr lang="en-IN" dirty="0" smtClean="0"/>
              <a:t>());</a:t>
            </a:r>
          </a:p>
          <a:p>
            <a:pPr marL="0" indent="0">
              <a:buNone/>
            </a:pPr>
            <a:r>
              <a:rPr lang="en-IN" dirty="0" smtClean="0"/>
              <a:t>            </a:t>
            </a:r>
          </a:p>
          <a:p>
            <a:pPr marL="0" indent="0">
              <a:buNone/>
            </a:pPr>
            <a:endParaRPr lang="en-IN" dirty="0"/>
          </a:p>
        </p:txBody>
      </p:sp>
    </p:spTree>
    <p:extLst>
      <p:ext uri="{BB962C8B-B14F-4D97-AF65-F5344CB8AC3E}">
        <p14:creationId xmlns:p14="http://schemas.microsoft.com/office/powerpoint/2010/main" val="2609387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25000" lnSpcReduction="20000"/>
          </a:bodyPr>
          <a:lstStyle/>
          <a:p>
            <a:pPr marL="0" indent="0">
              <a:buNone/>
            </a:pPr>
            <a:r>
              <a:rPr lang="en-IN" dirty="0" smtClean="0"/>
              <a:t>//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a:t>
            </a:r>
            <a:r>
              <a:rPr lang="en-IN" dirty="0" err="1" smtClean="0"/>
              <a:t>PreparedStatement</a:t>
            </a:r>
            <a:r>
              <a:rPr lang="en-IN" dirty="0" smtClean="0"/>
              <a:t> </a:t>
            </a:r>
            <a:r>
              <a:rPr lang="en-IN" dirty="0" err="1" smtClean="0"/>
              <a:t>ps</a:t>
            </a:r>
            <a:r>
              <a:rPr lang="en-IN" dirty="0" smtClean="0"/>
              <a:t> = </a:t>
            </a:r>
            <a:r>
              <a:rPr lang="en-IN" dirty="0" err="1" smtClean="0"/>
              <a:t>con.prepareStatement</a:t>
            </a:r>
            <a:r>
              <a:rPr lang="en-IN" dirty="0" smtClean="0"/>
              <a:t>("select * from Employee where </a:t>
            </a:r>
            <a:r>
              <a:rPr lang="en-IN" dirty="0" err="1" smtClean="0"/>
              <a:t>eid</a:t>
            </a:r>
            <a:r>
              <a:rPr lang="en-IN" dirty="0" smtClean="0"/>
              <a:t> = ? or </a:t>
            </a:r>
            <a:r>
              <a:rPr lang="en-IN" dirty="0" err="1" smtClean="0"/>
              <a:t>eid</a:t>
            </a:r>
            <a:r>
              <a:rPr lang="en-IN" dirty="0" smtClean="0"/>
              <a:t> = ?");</a:t>
            </a:r>
          </a:p>
          <a:p>
            <a:pPr marL="0" indent="0">
              <a:buNone/>
            </a:pPr>
            <a:r>
              <a:rPr lang="en-IN" dirty="0" smtClean="0"/>
              <a:t>            </a:t>
            </a:r>
          </a:p>
          <a:p>
            <a:pPr marL="0" indent="0">
              <a:buNone/>
            </a:pPr>
            <a:r>
              <a:rPr lang="en-IN" dirty="0" smtClean="0"/>
              <a:t>            </a:t>
            </a:r>
          </a:p>
          <a:p>
            <a:pPr marL="0" indent="0">
              <a:buNone/>
            </a:pPr>
            <a:r>
              <a:rPr lang="en-IN" dirty="0" smtClean="0"/>
              <a:t>            </a:t>
            </a:r>
            <a:r>
              <a:rPr lang="en-IN" dirty="0" err="1" smtClean="0"/>
              <a:t>ps.setInt</a:t>
            </a:r>
            <a:r>
              <a:rPr lang="en-IN" dirty="0" smtClean="0"/>
              <a:t>(1, id1); // set the value of first parameter (</a:t>
            </a:r>
            <a:r>
              <a:rPr lang="en-IN" dirty="0" err="1" smtClean="0"/>
              <a:t>ist</a:t>
            </a:r>
            <a:r>
              <a:rPr lang="en-IN" dirty="0" smtClean="0"/>
              <a:t> ?).</a:t>
            </a:r>
          </a:p>
          <a:p>
            <a:pPr marL="0" indent="0">
              <a:buNone/>
            </a:pPr>
            <a:r>
              <a:rPr lang="en-IN" dirty="0" smtClean="0"/>
              <a:t>            </a:t>
            </a:r>
            <a:r>
              <a:rPr lang="en-IN" dirty="0" err="1" smtClean="0"/>
              <a:t>ps.setInt</a:t>
            </a:r>
            <a:r>
              <a:rPr lang="en-IN" dirty="0" smtClean="0"/>
              <a:t>(2, id2);  // set the value of second parameter (2nd ?).</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ResultSet</a:t>
            </a:r>
            <a:r>
              <a:rPr lang="en-IN" dirty="0" smtClean="0"/>
              <a:t> </a:t>
            </a:r>
            <a:r>
              <a:rPr lang="en-IN" dirty="0" err="1" smtClean="0"/>
              <a:t>rs</a:t>
            </a:r>
            <a:r>
              <a:rPr lang="en-IN" dirty="0" smtClean="0"/>
              <a:t> = </a:t>
            </a:r>
            <a:r>
              <a:rPr lang="en-IN" dirty="0" err="1" smtClean="0"/>
              <a:t>ps.executeQuery</a:t>
            </a:r>
            <a:r>
              <a:rPr lang="en-IN" dirty="0" smtClean="0"/>
              <a:t>();</a:t>
            </a:r>
          </a:p>
          <a:p>
            <a:pPr marL="0" indent="0">
              <a:buNone/>
            </a:pPr>
            <a:r>
              <a:rPr lang="en-IN" dirty="0" smtClean="0"/>
              <a:t>            </a:t>
            </a:r>
            <a:r>
              <a:rPr lang="en-IN" dirty="0" err="1" smtClean="0"/>
              <a:t>ResultSetMetaData</a:t>
            </a:r>
            <a:r>
              <a:rPr lang="en-IN" dirty="0" smtClean="0"/>
              <a:t> </a:t>
            </a:r>
            <a:r>
              <a:rPr lang="en-IN" dirty="0" err="1" smtClean="0"/>
              <a:t>rsmd</a:t>
            </a:r>
            <a:r>
              <a:rPr lang="en-IN" dirty="0" smtClean="0"/>
              <a:t> = </a:t>
            </a:r>
            <a:r>
              <a:rPr lang="en-IN" dirty="0" err="1" smtClean="0"/>
              <a:t>rs.getMetaData</a:t>
            </a:r>
            <a:r>
              <a:rPr lang="en-IN" dirty="0" smtClean="0"/>
              <a:t>();</a:t>
            </a:r>
          </a:p>
          <a:p>
            <a:pPr marL="0" indent="0">
              <a:buNone/>
            </a:pPr>
            <a:r>
              <a:rPr lang="en-IN" dirty="0" smtClean="0"/>
              <a:t>            </a:t>
            </a:r>
          </a:p>
          <a:p>
            <a:pPr marL="0" indent="0">
              <a:buNone/>
            </a:pPr>
            <a:r>
              <a:rPr lang="en-IN" dirty="0" smtClean="0"/>
              <a:t>            // Get total number of columns</a:t>
            </a:r>
          </a:p>
          <a:p>
            <a:pPr marL="0" indent="0">
              <a:buNone/>
            </a:pPr>
            <a:r>
              <a:rPr lang="en-IN" dirty="0" smtClean="0"/>
              <a:t>            </a:t>
            </a:r>
            <a:r>
              <a:rPr lang="en-IN" dirty="0" err="1" smtClean="0"/>
              <a:t>int</a:t>
            </a:r>
            <a:r>
              <a:rPr lang="en-IN" dirty="0" smtClean="0"/>
              <a:t> cols = </a:t>
            </a:r>
            <a:r>
              <a:rPr lang="en-IN" dirty="0" err="1" smtClean="0"/>
              <a:t>rsmd.getColumnCount</a:t>
            </a:r>
            <a:r>
              <a:rPr lang="en-IN" dirty="0" smtClean="0"/>
              <a:t>();</a:t>
            </a:r>
          </a:p>
          <a:p>
            <a:pPr marL="0" indent="0">
              <a:buNone/>
            </a:pPr>
            <a:r>
              <a:rPr lang="en-IN" dirty="0" smtClean="0"/>
              <a:t>            </a:t>
            </a:r>
          </a:p>
          <a:p>
            <a:pPr marL="0" indent="0">
              <a:buNone/>
            </a:pPr>
            <a:r>
              <a:rPr lang="en-IN" dirty="0" smtClean="0"/>
              <a:t>            // To print columns names of table</a:t>
            </a:r>
          </a:p>
          <a:p>
            <a:pPr marL="0" indent="0">
              <a:buNone/>
            </a:pPr>
            <a:r>
              <a:rPr lang="en-IN" dirty="0" smtClean="0"/>
              <a:t>            for(</a:t>
            </a:r>
            <a:r>
              <a:rPr lang="en-IN" dirty="0" err="1" smtClean="0"/>
              <a:t>int</a:t>
            </a:r>
            <a:r>
              <a:rPr lang="en-IN" dirty="0" smtClean="0"/>
              <a:t> i =1; i&lt;=cols; i++)</a:t>
            </a:r>
          </a:p>
          <a:p>
            <a:pPr marL="0" indent="0">
              <a:buNone/>
            </a:pPr>
            <a:r>
              <a:rPr lang="en-IN" dirty="0" smtClean="0"/>
              <a:t>            {</a:t>
            </a:r>
          </a:p>
          <a:p>
            <a:pPr marL="0" indent="0">
              <a:buNone/>
            </a:pPr>
            <a:r>
              <a:rPr lang="en-IN" dirty="0" smtClean="0"/>
              <a:t>                </a:t>
            </a:r>
            <a:r>
              <a:rPr lang="en-IN" dirty="0" err="1" smtClean="0"/>
              <a:t>System.out.print</a:t>
            </a:r>
            <a:r>
              <a:rPr lang="en-IN" dirty="0" smtClean="0"/>
              <a:t>(</a:t>
            </a:r>
            <a:r>
              <a:rPr lang="en-IN" dirty="0" err="1" smtClean="0"/>
              <a:t>rsmd.getColumnName</a:t>
            </a:r>
            <a:r>
              <a:rPr lang="en-IN" dirty="0" smtClean="0"/>
              <a:t>(i)+"   ");</a:t>
            </a:r>
          </a:p>
          <a:p>
            <a:pPr marL="0" indent="0">
              <a:buNone/>
            </a:pPr>
            <a:r>
              <a:rPr lang="en-IN" dirty="0" smtClean="0"/>
              <a:t>            }</a:t>
            </a:r>
          </a:p>
          <a:p>
            <a:pPr marL="0" indent="0">
              <a:buNone/>
            </a:pPr>
            <a:r>
              <a:rPr lang="en-IN" dirty="0" smtClean="0"/>
              <a:t>            </a:t>
            </a:r>
          </a:p>
          <a:p>
            <a:pPr marL="0" indent="0">
              <a:buNone/>
            </a:pPr>
            <a:r>
              <a:rPr lang="en-IN" dirty="0" smtClean="0"/>
              <a:t>            // for next line</a:t>
            </a:r>
          </a:p>
          <a:p>
            <a:pPr marL="0" indent="0">
              <a:buNone/>
            </a:pPr>
            <a:r>
              <a:rPr lang="en-IN" dirty="0" smtClean="0"/>
              <a:t>            </a:t>
            </a:r>
            <a:r>
              <a:rPr lang="en-IN" dirty="0" err="1" smtClean="0"/>
              <a:t>System.out.println</a:t>
            </a:r>
            <a:r>
              <a:rPr lang="en-IN" dirty="0" smtClean="0"/>
              <a:t>();</a:t>
            </a:r>
          </a:p>
          <a:p>
            <a:pPr marL="0" indent="0">
              <a:buNone/>
            </a:pPr>
            <a:r>
              <a:rPr lang="en-IN" dirty="0" smtClean="0"/>
              <a:t>            </a:t>
            </a:r>
          </a:p>
          <a:p>
            <a:pPr marL="0" indent="0">
              <a:buNone/>
            </a:pPr>
            <a:r>
              <a:rPr lang="en-IN" dirty="0" smtClean="0"/>
              <a:t>            // to print values contained in table</a:t>
            </a:r>
          </a:p>
          <a:p>
            <a:pPr marL="0" indent="0">
              <a:buNone/>
            </a:pPr>
            <a:r>
              <a:rPr lang="en-IN" dirty="0" smtClean="0"/>
              <a:t>            while(</a:t>
            </a:r>
            <a:r>
              <a:rPr lang="en-IN" dirty="0" err="1" smtClean="0"/>
              <a:t>rs.next</a:t>
            </a:r>
            <a:r>
              <a:rPr lang="en-IN" dirty="0" smtClean="0"/>
              <a:t>())</a:t>
            </a:r>
          </a:p>
          <a:p>
            <a:pPr marL="0" indent="0">
              <a:buNone/>
            </a:pPr>
            <a:r>
              <a:rPr lang="en-IN" dirty="0" smtClean="0"/>
              <a:t>            {</a:t>
            </a:r>
          </a:p>
          <a:p>
            <a:pPr marL="0" indent="0">
              <a:buNone/>
            </a:pPr>
            <a:r>
              <a:rPr lang="en-IN" dirty="0" smtClean="0"/>
              <a:t>                </a:t>
            </a:r>
            <a:r>
              <a:rPr lang="en-IN" dirty="0" err="1" smtClean="0"/>
              <a:t>System.out.println</a:t>
            </a:r>
            <a:r>
              <a:rPr lang="en-IN" dirty="0" smtClean="0"/>
              <a:t>(</a:t>
            </a:r>
            <a:r>
              <a:rPr lang="en-IN" dirty="0" err="1" smtClean="0"/>
              <a:t>rs.getInt</a:t>
            </a:r>
            <a:r>
              <a:rPr lang="en-IN" dirty="0" smtClean="0"/>
              <a:t>(1)+"   "+</a:t>
            </a:r>
            <a:r>
              <a:rPr lang="en-IN" dirty="0" err="1" smtClean="0"/>
              <a:t>rs.getString</a:t>
            </a:r>
            <a:r>
              <a:rPr lang="en-IN" dirty="0" smtClean="0"/>
              <a:t>(2)+"   "+</a:t>
            </a:r>
            <a:r>
              <a:rPr lang="en-IN" dirty="0" err="1" smtClean="0"/>
              <a:t>rs.getInt</a:t>
            </a:r>
            <a:r>
              <a:rPr lang="en-IN" dirty="0" smtClean="0"/>
              <a:t>(3));</a:t>
            </a:r>
          </a:p>
          <a:p>
            <a:pPr marL="0" indent="0">
              <a:buNone/>
            </a:pPr>
            <a:r>
              <a:rPr lang="en-IN" dirty="0" smtClean="0"/>
              <a:t>            }</a:t>
            </a:r>
          </a:p>
          <a:p>
            <a:pPr marL="0" indent="0">
              <a:buNone/>
            </a:pPr>
            <a:r>
              <a:rPr lang="en-IN" dirty="0" smtClean="0"/>
              <a:t>            </a:t>
            </a:r>
          </a:p>
          <a:p>
            <a:pPr marL="0" indent="0">
              <a:buNone/>
            </a:pPr>
            <a:r>
              <a:rPr lang="en-IN" dirty="0" smtClean="0"/>
              <a:t>            // Close the connection</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endParaRPr lang="en-IN" dirty="0" smtClean="0"/>
          </a:p>
          <a:p>
            <a:pPr marL="0" indent="0">
              <a:buNone/>
            </a:pPr>
            <a:r>
              <a:rPr lang="en-IN" dirty="0" smtClean="0"/>
              <a:t>}</a:t>
            </a:r>
            <a:endParaRPr lang="en-IN" dirty="0"/>
          </a:p>
        </p:txBody>
      </p:sp>
    </p:spTree>
    <p:extLst>
      <p:ext uri="{BB962C8B-B14F-4D97-AF65-F5344CB8AC3E}">
        <p14:creationId xmlns:p14="http://schemas.microsoft.com/office/powerpoint/2010/main" val="1187075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85000" lnSpcReduction="10000"/>
          </a:bodyPr>
          <a:lstStyle/>
          <a:p>
            <a:r>
              <a:rPr lang="en-US" dirty="0" smtClean="0"/>
              <a:t>2 -  </a:t>
            </a:r>
            <a:r>
              <a:rPr lang="en-US" dirty="0" err="1"/>
              <a:t>int</a:t>
            </a:r>
            <a:r>
              <a:rPr lang="en-US" dirty="0"/>
              <a:t> </a:t>
            </a:r>
            <a:r>
              <a:rPr lang="en-US" dirty="0" err="1"/>
              <a:t>executeUpdate</a:t>
            </a:r>
            <a:r>
              <a:rPr lang="en-US" dirty="0"/>
              <a:t>()-</a:t>
            </a:r>
          </a:p>
          <a:p>
            <a:r>
              <a:rPr lang="en-US" dirty="0"/>
              <a:t>This method is used to execute SQL Insert, Update, delete and other DDL statements that does not return anything. It has the following syntax -</a:t>
            </a:r>
            <a:r>
              <a:rPr lang="en-US" dirty="0" smtClean="0"/>
              <a:t/>
            </a:r>
            <a:br>
              <a:rPr lang="en-US" dirty="0" smtClean="0"/>
            </a:br>
            <a:r>
              <a:rPr lang="en-US" b="1" dirty="0" smtClean="0">
                <a:effectLst/>
              </a:rPr>
              <a:t>public abstract </a:t>
            </a:r>
            <a:r>
              <a:rPr lang="en-US" b="1" dirty="0" err="1" smtClean="0">
                <a:effectLst/>
              </a:rPr>
              <a:t>int</a:t>
            </a:r>
            <a:r>
              <a:rPr lang="en-US" b="1" dirty="0" smtClean="0">
                <a:effectLst/>
              </a:rPr>
              <a:t> </a:t>
            </a:r>
            <a:r>
              <a:rPr lang="en-US" b="1" dirty="0" err="1" smtClean="0">
                <a:effectLst/>
              </a:rPr>
              <a:t>executeUpdate</a:t>
            </a:r>
            <a:r>
              <a:rPr lang="en-US" b="1" dirty="0" smtClean="0">
                <a:effectLst/>
              </a:rPr>
              <a:t>() throws </a:t>
            </a:r>
            <a:r>
              <a:rPr lang="en-US" b="1" dirty="0" err="1" smtClean="0">
                <a:effectLst/>
              </a:rPr>
              <a:t>SQLException</a:t>
            </a:r>
            <a:r>
              <a:rPr lang="en-US" dirty="0" err="1"/>
              <a:t>It</a:t>
            </a:r>
            <a:r>
              <a:rPr lang="en-US" dirty="0"/>
              <a:t> executes the query specified in </a:t>
            </a:r>
            <a:r>
              <a:rPr lang="en-US" dirty="0" err="1"/>
              <a:t>PreparedStatement</a:t>
            </a:r>
            <a:r>
              <a:rPr lang="en-US" dirty="0"/>
              <a:t> object and returns the number of rows affected by the operation.</a:t>
            </a:r>
            <a:r>
              <a:rPr lang="en-US" dirty="0" smtClean="0"/>
              <a:t/>
            </a:r>
            <a:br>
              <a:rPr lang="en-US" dirty="0" smtClean="0"/>
            </a:br>
            <a:r>
              <a:rPr lang="en-US" b="1" dirty="0"/>
              <a:t>For example - </a:t>
            </a:r>
            <a:r>
              <a:rPr lang="en-US" dirty="0"/>
              <a:t>To delete all data of table named </a:t>
            </a:r>
            <a:r>
              <a:rPr lang="en-US" dirty="0" err="1"/>
              <a:t>emp</a:t>
            </a:r>
            <a:r>
              <a:rPr lang="en-US" dirty="0" smtClean="0"/>
              <a:t/>
            </a:r>
            <a:br>
              <a:rPr lang="en-US" dirty="0" smtClean="0"/>
            </a:br>
            <a:r>
              <a:rPr lang="en-US" b="1" dirty="0" err="1" smtClean="0">
                <a:effectLst/>
              </a:rPr>
              <a:t>int</a:t>
            </a:r>
            <a:r>
              <a:rPr lang="en-US" b="1" dirty="0" smtClean="0">
                <a:effectLst/>
              </a:rPr>
              <a:t> </a:t>
            </a:r>
            <a:r>
              <a:rPr lang="en-US" b="1" dirty="0" err="1" smtClean="0">
                <a:effectLst/>
              </a:rPr>
              <a:t>rows_affected</a:t>
            </a:r>
            <a:r>
              <a:rPr lang="en-US" b="1" dirty="0" smtClean="0">
                <a:effectLst/>
              </a:rPr>
              <a:t> = </a:t>
            </a:r>
            <a:r>
              <a:rPr lang="en-US" b="1" dirty="0" err="1" smtClean="0">
                <a:effectLst/>
              </a:rPr>
              <a:t>ps.executeUpdate</a:t>
            </a:r>
            <a:r>
              <a:rPr lang="en-US" b="1" dirty="0" smtClean="0">
                <a:effectLst/>
              </a:rPr>
              <a:t>();</a:t>
            </a:r>
            <a:r>
              <a:rPr lang="en-US" dirty="0" smtClean="0"/>
              <a:t> </a:t>
            </a:r>
            <a:r>
              <a:rPr lang="en-US" dirty="0"/>
              <a:t>Example - (Using MySQL RDBMS)</a:t>
            </a:r>
          </a:p>
          <a:p>
            <a:r>
              <a:rPr lang="en-US" dirty="0"/>
              <a:t>In this example we insert a new row in a table named "Employee" exists in database "Company". The values to be inserted will be decided by user at run time.</a:t>
            </a:r>
            <a:endParaRPr lang="en-IN" dirty="0"/>
          </a:p>
        </p:txBody>
      </p:sp>
    </p:spTree>
    <p:extLst>
      <p:ext uri="{BB962C8B-B14F-4D97-AF65-F5344CB8AC3E}">
        <p14:creationId xmlns:p14="http://schemas.microsoft.com/office/powerpoint/2010/main" val="1187075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25000" lnSpcReduction="20000"/>
          </a:bodyPr>
          <a:lstStyle/>
          <a:p>
            <a:pPr marL="0" indent="0">
              <a:buNone/>
            </a:pPr>
            <a:r>
              <a:rPr lang="en-IN" dirty="0" smtClean="0"/>
              <a:t>import </a:t>
            </a:r>
            <a:r>
              <a:rPr lang="en-IN" dirty="0" err="1" smtClean="0"/>
              <a:t>java.io.BufferedReader</a:t>
            </a:r>
            <a:r>
              <a:rPr lang="en-IN" dirty="0" smtClean="0"/>
              <a:t>;</a:t>
            </a:r>
          </a:p>
          <a:p>
            <a:pPr marL="0" indent="0">
              <a:buNone/>
            </a:pPr>
            <a:r>
              <a:rPr lang="en-IN" dirty="0" smtClean="0"/>
              <a:t>import </a:t>
            </a:r>
            <a:r>
              <a:rPr lang="en-IN" dirty="0" err="1" smtClean="0"/>
              <a:t>java.io.InputStreamReader</a:t>
            </a:r>
            <a:r>
              <a:rPr lang="en-IN" dirty="0" smtClean="0"/>
              <a:t>;</a:t>
            </a:r>
          </a:p>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a:t>
            </a:r>
            <a:r>
              <a:rPr lang="en-IN" dirty="0" err="1" smtClean="0"/>
              <a:t>BufferedReader</a:t>
            </a:r>
            <a:r>
              <a:rPr lang="en-IN" dirty="0" smtClean="0"/>
              <a:t> </a:t>
            </a:r>
            <a:r>
              <a:rPr lang="en-IN" dirty="0" err="1" smtClean="0"/>
              <a:t>br</a:t>
            </a:r>
            <a:r>
              <a:rPr lang="en-IN" dirty="0" smtClean="0"/>
              <a:t> = new </a:t>
            </a:r>
            <a:r>
              <a:rPr lang="en-IN" dirty="0" err="1" smtClean="0"/>
              <a:t>BufferedReader</a:t>
            </a:r>
            <a:r>
              <a:rPr lang="en-IN" dirty="0" smtClean="0"/>
              <a:t>(new </a:t>
            </a:r>
            <a:r>
              <a:rPr lang="en-IN" dirty="0" err="1" smtClean="0"/>
              <a:t>InputStreamReader</a:t>
            </a:r>
            <a:r>
              <a:rPr lang="en-IN" dirty="0" smtClean="0"/>
              <a:t>(System.in));</a:t>
            </a:r>
          </a:p>
          <a:p>
            <a:pPr marL="0" indent="0">
              <a:buNone/>
            </a:pPr>
            <a:r>
              <a:rPr lang="en-IN" dirty="0" smtClean="0"/>
              <a:t>            </a:t>
            </a:r>
            <a:r>
              <a:rPr lang="en-IN" dirty="0" err="1" smtClean="0"/>
              <a:t>System.out.println</a:t>
            </a:r>
            <a:r>
              <a:rPr lang="en-IN" dirty="0" smtClean="0"/>
              <a:t>("Enter employee id");</a:t>
            </a:r>
          </a:p>
          <a:p>
            <a:pPr marL="0" indent="0">
              <a:buNone/>
            </a:pPr>
            <a:r>
              <a:rPr lang="en-IN" dirty="0" smtClean="0"/>
              <a:t>            </a:t>
            </a:r>
            <a:r>
              <a:rPr lang="en-IN" dirty="0" err="1" smtClean="0"/>
              <a:t>int</a:t>
            </a:r>
            <a:r>
              <a:rPr lang="en-IN" dirty="0" smtClean="0"/>
              <a:t> id = </a:t>
            </a:r>
            <a:r>
              <a:rPr lang="en-IN" dirty="0" err="1" smtClean="0"/>
              <a:t>Integer.parseInt</a:t>
            </a:r>
            <a:r>
              <a:rPr lang="en-IN" dirty="0" smtClean="0"/>
              <a:t>(</a:t>
            </a:r>
            <a:r>
              <a:rPr lang="en-IN" dirty="0" err="1" smtClean="0"/>
              <a:t>br.readLine</a:t>
            </a:r>
            <a:r>
              <a:rPr lang="en-IN" dirty="0" smtClean="0"/>
              <a:t>());</a:t>
            </a:r>
          </a:p>
          <a:p>
            <a:pPr marL="0" indent="0">
              <a:buNone/>
            </a:pPr>
            <a:r>
              <a:rPr lang="en-IN" dirty="0" smtClean="0"/>
              <a:t>            </a:t>
            </a:r>
            <a:r>
              <a:rPr lang="en-IN" dirty="0" err="1" smtClean="0"/>
              <a:t>System.out.println</a:t>
            </a:r>
            <a:r>
              <a:rPr lang="en-IN" dirty="0" smtClean="0"/>
              <a:t>("Enter employee name");</a:t>
            </a:r>
          </a:p>
          <a:p>
            <a:pPr marL="0" indent="0">
              <a:buNone/>
            </a:pPr>
            <a:r>
              <a:rPr lang="en-IN" dirty="0" smtClean="0"/>
              <a:t>            String name = </a:t>
            </a:r>
            <a:r>
              <a:rPr lang="en-IN" dirty="0" err="1" smtClean="0"/>
              <a:t>br.readLine</a:t>
            </a:r>
            <a:r>
              <a:rPr lang="en-IN" dirty="0" smtClean="0"/>
              <a:t>();</a:t>
            </a:r>
          </a:p>
          <a:p>
            <a:pPr marL="0" indent="0">
              <a:buNone/>
            </a:pPr>
            <a:r>
              <a:rPr lang="en-IN" dirty="0" smtClean="0"/>
              <a:t>            </a:t>
            </a:r>
            <a:r>
              <a:rPr lang="en-IN" dirty="0" err="1" smtClean="0"/>
              <a:t>System.out.println</a:t>
            </a:r>
            <a:r>
              <a:rPr lang="en-IN" dirty="0" smtClean="0"/>
              <a:t>("Enter employee salary");</a:t>
            </a:r>
          </a:p>
          <a:p>
            <a:pPr marL="0" indent="0">
              <a:buNone/>
            </a:pPr>
            <a:r>
              <a:rPr lang="en-IN" dirty="0" smtClean="0"/>
              <a:t>            </a:t>
            </a:r>
            <a:r>
              <a:rPr lang="en-IN" dirty="0" err="1" smtClean="0"/>
              <a:t>int</a:t>
            </a:r>
            <a:r>
              <a:rPr lang="en-IN" dirty="0" smtClean="0"/>
              <a:t> </a:t>
            </a:r>
            <a:r>
              <a:rPr lang="en-IN" dirty="0" err="1" smtClean="0"/>
              <a:t>sal</a:t>
            </a:r>
            <a:r>
              <a:rPr lang="en-IN" dirty="0" smtClean="0"/>
              <a:t> = </a:t>
            </a:r>
            <a:r>
              <a:rPr lang="en-IN" dirty="0" err="1" smtClean="0"/>
              <a:t>Integer.parseInt</a:t>
            </a:r>
            <a:r>
              <a:rPr lang="en-IN" dirty="0" smtClean="0"/>
              <a:t>(</a:t>
            </a:r>
            <a:r>
              <a:rPr lang="en-IN" dirty="0" err="1" smtClean="0"/>
              <a:t>br.readLine</a:t>
            </a:r>
            <a:r>
              <a:rPr lang="en-IN" dirty="0" smtClean="0"/>
              <a:t>());            </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p>
          <a:p>
            <a:pPr marL="0" indent="0">
              <a:buNone/>
            </a:pPr>
            <a:r>
              <a:rPr lang="en-IN" dirty="0" smtClean="0"/>
              <a:t>            </a:t>
            </a:r>
          </a:p>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a:t>
            </a:r>
            <a:r>
              <a:rPr lang="en-IN" dirty="0" err="1" smtClean="0"/>
              <a:t>PreparedStatement</a:t>
            </a:r>
            <a:r>
              <a:rPr lang="en-IN" dirty="0" smtClean="0"/>
              <a:t> </a:t>
            </a:r>
            <a:r>
              <a:rPr lang="en-IN" dirty="0" err="1" smtClean="0"/>
              <a:t>ps</a:t>
            </a:r>
            <a:r>
              <a:rPr lang="en-IN" dirty="0" smtClean="0"/>
              <a:t> = </a:t>
            </a:r>
            <a:r>
              <a:rPr lang="en-IN" dirty="0" err="1" smtClean="0"/>
              <a:t>con.prepareStatement</a:t>
            </a:r>
            <a:r>
              <a:rPr lang="en-IN" dirty="0" smtClean="0"/>
              <a:t>("insert into Employee values(?, ?, ?)");</a:t>
            </a:r>
          </a:p>
          <a:p>
            <a:pPr marL="0" indent="0">
              <a:buNone/>
            </a:pPr>
            <a:r>
              <a:rPr lang="en-IN" dirty="0" smtClean="0"/>
              <a:t>               </a:t>
            </a:r>
          </a:p>
          <a:p>
            <a:pPr marL="0" indent="0">
              <a:buNone/>
            </a:pPr>
            <a:r>
              <a:rPr lang="en-IN" dirty="0" smtClean="0"/>
              <a:t>            </a:t>
            </a:r>
            <a:r>
              <a:rPr lang="en-IN" dirty="0" err="1" smtClean="0"/>
              <a:t>ps.setInt</a:t>
            </a:r>
            <a:r>
              <a:rPr lang="en-IN" dirty="0" smtClean="0"/>
              <a:t>(1, id); // set the value of first parameter (1st ?).</a:t>
            </a:r>
          </a:p>
          <a:p>
            <a:pPr marL="0" indent="0">
              <a:buNone/>
            </a:pPr>
            <a:r>
              <a:rPr lang="en-IN" dirty="0" smtClean="0"/>
              <a:t>            </a:t>
            </a:r>
            <a:r>
              <a:rPr lang="en-IN" dirty="0" err="1" smtClean="0"/>
              <a:t>ps.setString</a:t>
            </a:r>
            <a:r>
              <a:rPr lang="en-IN" dirty="0" smtClean="0"/>
              <a:t>(2, name);  // set the value of second parameter (2nd ?).</a:t>
            </a:r>
          </a:p>
          <a:p>
            <a:pPr marL="0" indent="0">
              <a:buNone/>
            </a:pPr>
            <a:r>
              <a:rPr lang="en-IN" dirty="0" smtClean="0"/>
              <a:t>            </a:t>
            </a:r>
            <a:r>
              <a:rPr lang="en-IN" dirty="0" err="1" smtClean="0"/>
              <a:t>ps.setInt</a:t>
            </a:r>
            <a:r>
              <a:rPr lang="en-IN" dirty="0" smtClean="0"/>
              <a:t>(3, </a:t>
            </a:r>
            <a:r>
              <a:rPr lang="en-IN" dirty="0" err="1" smtClean="0"/>
              <a:t>sal</a:t>
            </a:r>
            <a:r>
              <a:rPr lang="en-IN" dirty="0" smtClean="0"/>
              <a:t>); // set the value of 3rd parameter (3rd ?).</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int</a:t>
            </a:r>
            <a:r>
              <a:rPr lang="en-IN" dirty="0" smtClean="0"/>
              <a:t> rows = </a:t>
            </a:r>
            <a:r>
              <a:rPr lang="en-IN" dirty="0" err="1" smtClean="0"/>
              <a:t>ps.executeUpdate</a:t>
            </a:r>
            <a:r>
              <a:rPr lang="en-IN" dirty="0" smtClean="0"/>
              <a:t>();</a:t>
            </a:r>
          </a:p>
          <a:p>
            <a:pPr marL="0" indent="0">
              <a:buNone/>
            </a:pPr>
            <a:r>
              <a:rPr lang="en-IN" dirty="0" smtClean="0"/>
              <a:t>            </a:t>
            </a:r>
            <a:r>
              <a:rPr lang="en-IN" dirty="0" err="1" smtClean="0"/>
              <a:t>System.out.println</a:t>
            </a:r>
            <a:r>
              <a:rPr lang="en-IN" dirty="0" smtClean="0"/>
              <a:t>("No of rows affected = "+ rows);        </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endParaRPr lang="en-IN" dirty="0" smtClean="0"/>
          </a:p>
          <a:p>
            <a:pPr marL="0" indent="0">
              <a:buNone/>
            </a:pPr>
            <a:r>
              <a:rPr lang="en-IN" dirty="0" smtClean="0"/>
              <a:t>}</a:t>
            </a:r>
            <a:endParaRPr lang="en-IN" dirty="0"/>
          </a:p>
        </p:txBody>
      </p:sp>
    </p:spTree>
    <p:extLst>
      <p:ext uri="{BB962C8B-B14F-4D97-AF65-F5344CB8AC3E}">
        <p14:creationId xmlns:p14="http://schemas.microsoft.com/office/powerpoint/2010/main" val="1187075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47500" lnSpcReduction="20000"/>
          </a:bodyPr>
          <a:lstStyle/>
          <a:p>
            <a:r>
              <a:rPr lang="en-US" dirty="0"/>
              <a:t>Example 2 - (Using </a:t>
            </a:r>
            <a:r>
              <a:rPr lang="en-US" dirty="0" err="1"/>
              <a:t>MySql</a:t>
            </a:r>
            <a:r>
              <a:rPr lang="en-US" dirty="0"/>
              <a:t> RDBMS)</a:t>
            </a:r>
          </a:p>
          <a:p>
            <a:r>
              <a:rPr lang="en-US" dirty="0"/>
              <a:t>In this example we update the name and salary of an employee whose employee id will be input by the user at run time, from "Employee" table exists in "</a:t>
            </a:r>
            <a:r>
              <a:rPr lang="en-US" dirty="0" err="1"/>
              <a:t>Compan</a:t>
            </a:r>
            <a:r>
              <a:rPr lang="en-US" dirty="0"/>
              <a:t>" database</a:t>
            </a:r>
            <a:r>
              <a:rPr lang="en-US" dirty="0" smtClean="0"/>
              <a:t>.</a:t>
            </a:r>
          </a:p>
          <a:p>
            <a:pPr marL="0" indent="0">
              <a:buNone/>
            </a:pPr>
            <a:r>
              <a:rPr lang="en-IN" dirty="0" smtClean="0"/>
              <a:t>import </a:t>
            </a:r>
            <a:r>
              <a:rPr lang="en-IN" dirty="0" err="1" smtClean="0"/>
              <a:t>java.io.BufferedReader</a:t>
            </a:r>
            <a:r>
              <a:rPr lang="en-IN" dirty="0" smtClean="0"/>
              <a:t>;</a:t>
            </a:r>
          </a:p>
          <a:p>
            <a:pPr marL="0" indent="0">
              <a:buNone/>
            </a:pPr>
            <a:r>
              <a:rPr lang="en-IN" dirty="0" smtClean="0"/>
              <a:t>import </a:t>
            </a:r>
            <a:r>
              <a:rPr lang="en-IN" dirty="0" err="1" smtClean="0"/>
              <a:t>java.io.InputStreamReader</a:t>
            </a:r>
            <a:r>
              <a:rPr lang="en-IN" dirty="0" smtClean="0"/>
              <a:t>;</a:t>
            </a:r>
          </a:p>
          <a:p>
            <a:pPr marL="0" indent="0">
              <a:buNone/>
            </a:pPr>
            <a:r>
              <a:rPr lang="en-IN" dirty="0" smtClean="0"/>
              <a:t>import </a:t>
            </a:r>
            <a:r>
              <a:rPr lang="en-IN" dirty="0" err="1" smtClean="0"/>
              <a:t>java.sql</a:t>
            </a:r>
            <a:r>
              <a:rPr lang="en-IN" dirty="0" smtClean="0"/>
              <a:t>.*;</a:t>
            </a:r>
          </a:p>
          <a:p>
            <a:pPr marL="0" indent="0">
              <a:buNone/>
            </a:pPr>
            <a:r>
              <a:rPr lang="en-IN" dirty="0" smtClean="0"/>
              <a:t>public class MY_JDBC_DEMO {</a:t>
            </a:r>
          </a:p>
          <a:p>
            <a:pPr marL="0" indent="0">
              <a:buNone/>
            </a:pPr>
            <a:endParaRPr lang="en-IN" dirty="0" smtClean="0"/>
          </a:p>
          <a:p>
            <a:pPr marL="0" indent="0">
              <a:buNone/>
            </a:pPr>
            <a:r>
              <a:rPr lang="en-IN" dirty="0" smtClean="0"/>
              <a:t>    public static void main(String[] </a:t>
            </a:r>
            <a:r>
              <a:rPr lang="en-IN" dirty="0" err="1" smtClean="0"/>
              <a:t>args</a:t>
            </a:r>
            <a:r>
              <a:rPr lang="en-IN" dirty="0" smtClean="0"/>
              <a:t>) {</a:t>
            </a:r>
          </a:p>
          <a:p>
            <a:pPr marL="0" indent="0">
              <a:buNone/>
            </a:pPr>
            <a:r>
              <a:rPr lang="en-IN" dirty="0" smtClean="0"/>
              <a:t>        </a:t>
            </a:r>
          </a:p>
          <a:p>
            <a:pPr marL="0" indent="0">
              <a:buNone/>
            </a:pPr>
            <a:r>
              <a:rPr lang="en-IN" dirty="0" smtClean="0"/>
              <a:t>        Connection con;</a:t>
            </a:r>
          </a:p>
          <a:p>
            <a:pPr marL="0" indent="0">
              <a:buNone/>
            </a:pPr>
            <a:r>
              <a:rPr lang="en-IN" dirty="0" smtClean="0"/>
              <a:t>        try</a:t>
            </a:r>
          </a:p>
          <a:p>
            <a:pPr marL="0" indent="0">
              <a:buNone/>
            </a:pPr>
            <a:r>
              <a:rPr lang="en-IN" dirty="0" smtClean="0"/>
              <a:t>        {</a:t>
            </a:r>
          </a:p>
          <a:p>
            <a:pPr marL="0" indent="0">
              <a:buNone/>
            </a:pPr>
            <a:r>
              <a:rPr lang="en-IN" dirty="0" smtClean="0"/>
              <a:t>            </a:t>
            </a:r>
            <a:r>
              <a:rPr lang="en-IN" dirty="0" err="1" smtClean="0"/>
              <a:t>BufferedReader</a:t>
            </a:r>
            <a:r>
              <a:rPr lang="en-IN" dirty="0" smtClean="0"/>
              <a:t> </a:t>
            </a:r>
            <a:r>
              <a:rPr lang="en-IN" dirty="0" err="1" smtClean="0"/>
              <a:t>br</a:t>
            </a:r>
            <a:r>
              <a:rPr lang="en-IN" dirty="0" smtClean="0"/>
              <a:t> = new </a:t>
            </a:r>
            <a:r>
              <a:rPr lang="en-IN" dirty="0" err="1" smtClean="0"/>
              <a:t>BufferedReader</a:t>
            </a:r>
            <a:r>
              <a:rPr lang="en-IN" dirty="0" smtClean="0"/>
              <a:t>(new </a:t>
            </a:r>
            <a:r>
              <a:rPr lang="en-IN" dirty="0" err="1" smtClean="0"/>
              <a:t>InputStreamReader</a:t>
            </a:r>
            <a:r>
              <a:rPr lang="en-IN" dirty="0" smtClean="0"/>
              <a:t>(System.in));</a:t>
            </a:r>
          </a:p>
          <a:p>
            <a:pPr marL="0" indent="0">
              <a:buNone/>
            </a:pPr>
            <a:r>
              <a:rPr lang="en-IN" dirty="0" smtClean="0"/>
              <a:t>            </a:t>
            </a:r>
            <a:r>
              <a:rPr lang="en-IN" dirty="0" err="1" smtClean="0"/>
              <a:t>System.out.println</a:t>
            </a:r>
            <a:r>
              <a:rPr lang="en-IN" dirty="0" smtClean="0"/>
              <a:t>("Enter employee id");</a:t>
            </a:r>
          </a:p>
          <a:p>
            <a:pPr marL="0" indent="0">
              <a:buNone/>
            </a:pPr>
            <a:r>
              <a:rPr lang="en-IN" dirty="0" smtClean="0"/>
              <a:t>            </a:t>
            </a:r>
            <a:r>
              <a:rPr lang="en-IN" dirty="0" err="1" smtClean="0"/>
              <a:t>int</a:t>
            </a:r>
            <a:r>
              <a:rPr lang="en-IN" dirty="0" smtClean="0"/>
              <a:t> id = </a:t>
            </a:r>
            <a:r>
              <a:rPr lang="en-IN" dirty="0" err="1" smtClean="0"/>
              <a:t>Integer.parseInt</a:t>
            </a:r>
            <a:r>
              <a:rPr lang="en-IN" dirty="0" smtClean="0"/>
              <a:t>(</a:t>
            </a:r>
            <a:r>
              <a:rPr lang="en-IN" dirty="0" err="1" smtClean="0"/>
              <a:t>br.readLine</a:t>
            </a:r>
            <a:r>
              <a:rPr lang="en-IN" dirty="0" smtClean="0"/>
              <a:t>());</a:t>
            </a:r>
          </a:p>
          <a:p>
            <a:pPr marL="0" indent="0">
              <a:buNone/>
            </a:pPr>
            <a:r>
              <a:rPr lang="en-IN" dirty="0" smtClean="0"/>
              <a:t>            </a:t>
            </a:r>
            <a:r>
              <a:rPr lang="en-IN" dirty="0" err="1" smtClean="0"/>
              <a:t>System.out.println</a:t>
            </a:r>
            <a:r>
              <a:rPr lang="en-IN" dirty="0" smtClean="0"/>
              <a:t>("Enter employee name");</a:t>
            </a:r>
          </a:p>
          <a:p>
            <a:pPr marL="0" indent="0">
              <a:buNone/>
            </a:pPr>
            <a:r>
              <a:rPr lang="en-IN" dirty="0" smtClean="0"/>
              <a:t>            String name = </a:t>
            </a:r>
            <a:r>
              <a:rPr lang="en-IN" dirty="0" err="1" smtClean="0"/>
              <a:t>br.readLine</a:t>
            </a:r>
            <a:r>
              <a:rPr lang="en-IN" dirty="0" smtClean="0"/>
              <a:t>();</a:t>
            </a:r>
          </a:p>
          <a:p>
            <a:pPr marL="0" indent="0">
              <a:buNone/>
            </a:pPr>
            <a:r>
              <a:rPr lang="en-IN" dirty="0" smtClean="0"/>
              <a:t>            </a:t>
            </a:r>
            <a:r>
              <a:rPr lang="en-IN" dirty="0" err="1" smtClean="0"/>
              <a:t>System.out.println</a:t>
            </a:r>
            <a:r>
              <a:rPr lang="en-IN" dirty="0" smtClean="0"/>
              <a:t>("Enter employee </a:t>
            </a:r>
            <a:r>
              <a:rPr lang="en-IN" dirty="0" err="1" smtClean="0"/>
              <a:t>salaray</a:t>
            </a:r>
            <a:r>
              <a:rPr lang="en-IN" dirty="0" smtClean="0"/>
              <a:t>");</a:t>
            </a:r>
          </a:p>
          <a:p>
            <a:pPr marL="0" indent="0">
              <a:buNone/>
            </a:pPr>
            <a:r>
              <a:rPr lang="en-IN" dirty="0" smtClean="0"/>
              <a:t>            </a:t>
            </a:r>
            <a:r>
              <a:rPr lang="en-IN" dirty="0" err="1" smtClean="0"/>
              <a:t>int</a:t>
            </a:r>
            <a:r>
              <a:rPr lang="en-IN" dirty="0" smtClean="0"/>
              <a:t> </a:t>
            </a:r>
            <a:r>
              <a:rPr lang="en-IN" dirty="0" err="1" smtClean="0"/>
              <a:t>sal</a:t>
            </a:r>
            <a:r>
              <a:rPr lang="en-IN" dirty="0" smtClean="0"/>
              <a:t> = </a:t>
            </a:r>
            <a:r>
              <a:rPr lang="en-IN" dirty="0" err="1" smtClean="0"/>
              <a:t>Integer.parseInt</a:t>
            </a:r>
            <a:r>
              <a:rPr lang="en-IN" dirty="0" smtClean="0"/>
              <a:t>(</a:t>
            </a:r>
            <a:r>
              <a:rPr lang="en-IN" dirty="0" err="1" smtClean="0"/>
              <a:t>br.readLine</a:t>
            </a:r>
            <a:r>
              <a:rPr lang="en-IN" dirty="0" smtClean="0"/>
              <a:t>());            </a:t>
            </a:r>
          </a:p>
          <a:p>
            <a:pPr marL="0" indent="0">
              <a:buNone/>
            </a:pPr>
            <a:r>
              <a:rPr lang="en-IN" dirty="0" smtClean="0"/>
              <a:t>            </a:t>
            </a:r>
          </a:p>
          <a:p>
            <a:pPr marL="0" indent="0">
              <a:buNone/>
            </a:pPr>
            <a:r>
              <a:rPr lang="en-IN" dirty="0" smtClean="0"/>
              <a:t>            // Load the driver</a:t>
            </a:r>
          </a:p>
          <a:p>
            <a:pPr marL="0" indent="0">
              <a:buNone/>
            </a:pPr>
            <a:r>
              <a:rPr lang="en-IN" dirty="0" smtClean="0"/>
              <a:t>            </a:t>
            </a:r>
            <a:r>
              <a:rPr lang="en-IN" dirty="0" err="1" smtClean="0"/>
              <a:t>Class.forName</a:t>
            </a:r>
            <a:r>
              <a:rPr lang="en-IN" dirty="0" smtClean="0"/>
              <a:t>("</a:t>
            </a:r>
            <a:r>
              <a:rPr lang="en-IN" dirty="0" err="1" smtClean="0"/>
              <a:t>com.mysql.jdbc.Driver</a:t>
            </a:r>
            <a:r>
              <a:rPr lang="en-IN" dirty="0" smtClean="0"/>
              <a:t>");</a:t>
            </a:r>
            <a:endParaRPr lang="en-IN" dirty="0"/>
          </a:p>
        </p:txBody>
      </p:sp>
    </p:spTree>
    <p:extLst>
      <p:ext uri="{BB962C8B-B14F-4D97-AF65-F5344CB8AC3E}">
        <p14:creationId xmlns:p14="http://schemas.microsoft.com/office/powerpoint/2010/main" val="1187075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47500" lnSpcReduction="20000"/>
          </a:bodyPr>
          <a:lstStyle/>
          <a:p>
            <a:pPr marL="0" indent="0">
              <a:buNone/>
            </a:pPr>
            <a:r>
              <a:rPr lang="en-IN" dirty="0" smtClean="0"/>
              <a:t> // Establish connection</a:t>
            </a:r>
          </a:p>
          <a:p>
            <a:pPr marL="0" indent="0">
              <a:buNone/>
            </a:pPr>
            <a:r>
              <a:rPr lang="en-IN" dirty="0" smtClean="0"/>
              <a:t>            con = </a:t>
            </a:r>
            <a:r>
              <a:rPr lang="en-IN" dirty="0" err="1" smtClean="0"/>
              <a:t>DriverManager.getConnection</a:t>
            </a:r>
            <a:r>
              <a:rPr lang="en-IN" dirty="0" smtClean="0"/>
              <a:t>("</a:t>
            </a:r>
            <a:r>
              <a:rPr lang="en-IN" dirty="0" err="1" smtClean="0"/>
              <a:t>jdbc:mysql</a:t>
            </a:r>
            <a:r>
              <a:rPr lang="en-IN" dirty="0" smtClean="0"/>
              <a:t>://localhost:3306/Company", "root", "root");</a:t>
            </a:r>
          </a:p>
          <a:p>
            <a:pPr marL="0" indent="0">
              <a:buNone/>
            </a:pPr>
            <a:r>
              <a:rPr lang="en-IN" dirty="0" smtClean="0"/>
              <a:t>            </a:t>
            </a:r>
          </a:p>
          <a:p>
            <a:pPr marL="0" indent="0">
              <a:buNone/>
            </a:pPr>
            <a:r>
              <a:rPr lang="en-IN" dirty="0" smtClean="0"/>
              <a:t>            // Create Statement Object</a:t>
            </a:r>
          </a:p>
          <a:p>
            <a:pPr marL="0" indent="0">
              <a:buNone/>
            </a:pPr>
            <a:r>
              <a:rPr lang="en-IN" dirty="0" smtClean="0"/>
              <a:t>            </a:t>
            </a:r>
            <a:r>
              <a:rPr lang="en-IN" dirty="0" err="1" smtClean="0"/>
              <a:t>PreparedStatement</a:t>
            </a:r>
            <a:r>
              <a:rPr lang="en-IN" dirty="0" smtClean="0"/>
              <a:t> </a:t>
            </a:r>
            <a:r>
              <a:rPr lang="en-IN" dirty="0" err="1" smtClean="0"/>
              <a:t>ps</a:t>
            </a:r>
            <a:r>
              <a:rPr lang="en-IN" dirty="0" smtClean="0"/>
              <a:t> = </a:t>
            </a:r>
            <a:r>
              <a:rPr lang="en-IN" dirty="0" err="1" smtClean="0"/>
              <a:t>con.prepareStatement</a:t>
            </a:r>
            <a:r>
              <a:rPr lang="en-IN" dirty="0" smtClean="0"/>
              <a:t>("update Employee set </a:t>
            </a:r>
            <a:r>
              <a:rPr lang="en-IN" dirty="0" err="1" smtClean="0"/>
              <a:t>ename</a:t>
            </a:r>
            <a:r>
              <a:rPr lang="en-IN" dirty="0" smtClean="0"/>
              <a:t> = ?, salary = ? where </a:t>
            </a:r>
            <a:r>
              <a:rPr lang="en-IN" dirty="0" err="1" smtClean="0"/>
              <a:t>eid</a:t>
            </a:r>
            <a:r>
              <a:rPr lang="en-IN" dirty="0" smtClean="0"/>
              <a:t> = ?");</a:t>
            </a:r>
          </a:p>
          <a:p>
            <a:pPr marL="0" indent="0">
              <a:buNone/>
            </a:pPr>
            <a:r>
              <a:rPr lang="en-IN" dirty="0" smtClean="0"/>
              <a:t>               </a:t>
            </a:r>
          </a:p>
          <a:p>
            <a:pPr marL="0" indent="0">
              <a:buNone/>
            </a:pPr>
            <a:r>
              <a:rPr lang="en-IN" dirty="0" smtClean="0"/>
              <a:t>            </a:t>
            </a:r>
            <a:r>
              <a:rPr lang="en-IN" dirty="0" err="1" smtClean="0"/>
              <a:t>ps.setString</a:t>
            </a:r>
            <a:r>
              <a:rPr lang="en-IN" dirty="0" smtClean="0"/>
              <a:t>(1, name);  // set the value of first parameter (1st ? i.e. </a:t>
            </a:r>
            <a:r>
              <a:rPr lang="en-IN" dirty="0" err="1" smtClean="0"/>
              <a:t>ename</a:t>
            </a:r>
            <a:r>
              <a:rPr lang="en-IN" dirty="0" smtClean="0"/>
              <a:t>).</a:t>
            </a:r>
          </a:p>
          <a:p>
            <a:pPr marL="0" indent="0">
              <a:buNone/>
            </a:pPr>
            <a:r>
              <a:rPr lang="en-IN" dirty="0" smtClean="0"/>
              <a:t>            </a:t>
            </a:r>
            <a:r>
              <a:rPr lang="en-IN" dirty="0" err="1" smtClean="0"/>
              <a:t>ps.setInt</a:t>
            </a:r>
            <a:r>
              <a:rPr lang="en-IN" dirty="0" smtClean="0"/>
              <a:t>(2, </a:t>
            </a:r>
            <a:r>
              <a:rPr lang="en-IN" dirty="0" err="1" smtClean="0"/>
              <a:t>sal</a:t>
            </a:r>
            <a:r>
              <a:rPr lang="en-IN" dirty="0" smtClean="0"/>
              <a:t>); // set the value of 2nd parameter (2nd ? i.e. salary).</a:t>
            </a:r>
          </a:p>
          <a:p>
            <a:pPr marL="0" indent="0">
              <a:buNone/>
            </a:pPr>
            <a:r>
              <a:rPr lang="en-IN" dirty="0" smtClean="0"/>
              <a:t>            </a:t>
            </a:r>
            <a:r>
              <a:rPr lang="en-IN" dirty="0" err="1" smtClean="0"/>
              <a:t>ps.setInt</a:t>
            </a:r>
            <a:r>
              <a:rPr lang="en-IN" dirty="0" smtClean="0"/>
              <a:t>(3, id); // set the value of third parameter (3rd ? i.e. </a:t>
            </a:r>
            <a:r>
              <a:rPr lang="en-IN" dirty="0" err="1" smtClean="0"/>
              <a:t>eid</a:t>
            </a:r>
            <a:r>
              <a:rPr lang="en-IN" dirty="0" smtClean="0"/>
              <a:t>).</a:t>
            </a:r>
          </a:p>
          <a:p>
            <a:pPr marL="0" indent="0">
              <a:buNone/>
            </a:pPr>
            <a:r>
              <a:rPr lang="en-IN" dirty="0" smtClean="0"/>
              <a:t>            </a:t>
            </a:r>
          </a:p>
          <a:p>
            <a:pPr marL="0" indent="0">
              <a:buNone/>
            </a:pPr>
            <a:r>
              <a:rPr lang="en-IN" dirty="0" smtClean="0"/>
              <a:t>            // Execute query</a:t>
            </a:r>
          </a:p>
          <a:p>
            <a:pPr marL="0" indent="0">
              <a:buNone/>
            </a:pPr>
            <a:r>
              <a:rPr lang="en-IN" dirty="0" smtClean="0"/>
              <a:t>            </a:t>
            </a:r>
            <a:r>
              <a:rPr lang="en-IN" dirty="0" err="1" smtClean="0"/>
              <a:t>int</a:t>
            </a:r>
            <a:r>
              <a:rPr lang="en-IN" dirty="0" smtClean="0"/>
              <a:t> rows = </a:t>
            </a:r>
            <a:r>
              <a:rPr lang="en-IN" dirty="0" err="1" smtClean="0"/>
              <a:t>ps.executeUpdate</a:t>
            </a:r>
            <a:r>
              <a:rPr lang="en-IN" dirty="0" smtClean="0"/>
              <a:t>();</a:t>
            </a:r>
          </a:p>
          <a:p>
            <a:pPr marL="0" indent="0">
              <a:buNone/>
            </a:pPr>
            <a:r>
              <a:rPr lang="en-IN" dirty="0" smtClean="0"/>
              <a:t>            </a:t>
            </a:r>
            <a:r>
              <a:rPr lang="en-IN" dirty="0" err="1" smtClean="0"/>
              <a:t>System.out.println</a:t>
            </a:r>
            <a:r>
              <a:rPr lang="en-IN" dirty="0" smtClean="0"/>
              <a:t>("No of rows affected = "+ rows);        </a:t>
            </a:r>
          </a:p>
          <a:p>
            <a:pPr marL="0" indent="0">
              <a:buNone/>
            </a:pPr>
            <a:r>
              <a:rPr lang="en-IN" dirty="0" smtClean="0"/>
              <a:t>            </a:t>
            </a:r>
            <a:r>
              <a:rPr lang="en-IN" dirty="0" err="1" smtClean="0"/>
              <a:t>con.close</a:t>
            </a:r>
            <a:r>
              <a:rPr lang="en-IN" dirty="0" smtClean="0"/>
              <a:t>();</a:t>
            </a:r>
          </a:p>
          <a:p>
            <a:pPr marL="0" indent="0">
              <a:buNone/>
            </a:pPr>
            <a:r>
              <a:rPr lang="en-IN" dirty="0" smtClean="0"/>
              <a:t>        }</a:t>
            </a:r>
          </a:p>
          <a:p>
            <a:pPr marL="0" indent="0">
              <a:buNone/>
            </a:pPr>
            <a:r>
              <a:rPr lang="en-IN" dirty="0" smtClean="0"/>
              <a:t>        catch(Exception ex)</a:t>
            </a:r>
          </a:p>
          <a:p>
            <a:pPr marL="0" indent="0">
              <a:buNone/>
            </a:pPr>
            <a:r>
              <a:rPr lang="en-IN" dirty="0" smtClean="0"/>
              <a:t>        {</a:t>
            </a:r>
          </a:p>
          <a:p>
            <a:pPr marL="0" indent="0">
              <a:buNone/>
            </a:pPr>
            <a:r>
              <a:rPr lang="en-IN" dirty="0" smtClean="0"/>
              <a:t>            </a:t>
            </a:r>
            <a:r>
              <a:rPr lang="en-IN" dirty="0" err="1" smtClean="0"/>
              <a:t>System.out.println</a:t>
            </a:r>
            <a:r>
              <a:rPr lang="en-IN" dirty="0" smtClean="0"/>
              <a:t>(ex);</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endParaRPr lang="en-IN" dirty="0" smtClean="0"/>
          </a:p>
          <a:p>
            <a:pPr marL="0" indent="0">
              <a:buNone/>
            </a:pPr>
            <a:r>
              <a:rPr lang="en-IN" dirty="0" smtClean="0"/>
              <a:t>}</a:t>
            </a:r>
            <a:endParaRPr lang="en-IN" dirty="0"/>
          </a:p>
        </p:txBody>
      </p:sp>
    </p:spTree>
    <p:extLst>
      <p:ext uri="{BB962C8B-B14F-4D97-AF65-F5344CB8AC3E}">
        <p14:creationId xmlns:p14="http://schemas.microsoft.com/office/powerpoint/2010/main" val="1187075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2976</Words>
  <Application>Microsoft Office PowerPoint</Application>
  <PresentationFormat>On-screen Show (4:3)</PresentationFormat>
  <Paragraphs>482</Paragraphs>
  <Slides>30</Slides>
  <Notes>3</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JDBC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JDBC</dc:title>
  <dc:creator>Rohit Kamboj</dc:creator>
  <cp:lastModifiedBy>Rohit Kamboj</cp:lastModifiedBy>
  <cp:revision>71</cp:revision>
  <dcterms:created xsi:type="dcterms:W3CDTF">2025-04-10T05:20:29Z</dcterms:created>
  <dcterms:modified xsi:type="dcterms:W3CDTF">2025-04-10T07:20:24Z</dcterms:modified>
</cp:coreProperties>
</file>