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86"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739" autoAdjust="0"/>
  </p:normalViewPr>
  <p:slideViewPr>
    <p:cSldViewPr>
      <p:cViewPr varScale="1">
        <p:scale>
          <a:sx n="77" d="100"/>
          <a:sy n="77" d="100"/>
        </p:scale>
        <p:origin x="-1618"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870E221-A5E0-43AC-A2FE-85205B26AF83}" type="datetimeFigureOut">
              <a:rPr lang="en-IN" smtClean="0"/>
              <a:t>06-12-2024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DA5F32-0910-40DC-B314-ED562C3F78FF}" type="slidenum">
              <a:rPr lang="en-IN" smtClean="0"/>
              <a:t>‹#›</a:t>
            </a:fld>
            <a:endParaRPr lang="en-IN"/>
          </a:p>
        </p:txBody>
      </p:sp>
    </p:spTree>
    <p:extLst>
      <p:ext uri="{BB962C8B-B14F-4D97-AF65-F5344CB8AC3E}">
        <p14:creationId xmlns:p14="http://schemas.microsoft.com/office/powerpoint/2010/main" val="576488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Note -</a:t>
            </a:r>
            <a:r>
              <a:rPr lang="en-US" dirty="0" smtClean="0"/>
              <a:t/>
            </a:r>
            <a:br>
              <a:rPr lang="en-US" dirty="0" smtClean="0"/>
            </a:br>
            <a:r>
              <a:rPr lang="en-US" sz="1200" b="0" i="0" kern="1200" dirty="0" smtClean="0">
                <a:solidFill>
                  <a:schemeClr val="tx1"/>
                </a:solidFill>
                <a:effectLst/>
                <a:latin typeface="+mn-lt"/>
                <a:ea typeface="+mn-ea"/>
                <a:cs typeface="+mn-cs"/>
              </a:rPr>
              <a:t>Here string should be in a valid format that represent primitive type value. Each of the method return corresponding primitive type value.</a:t>
            </a:r>
            <a:endParaRPr lang="en-IN" dirty="0"/>
          </a:p>
        </p:txBody>
      </p:sp>
      <p:sp>
        <p:nvSpPr>
          <p:cNvPr id="4" name="Slide Number Placeholder 3"/>
          <p:cNvSpPr>
            <a:spLocks noGrp="1"/>
          </p:cNvSpPr>
          <p:nvPr>
            <p:ph type="sldNum" sz="quarter" idx="10"/>
          </p:nvPr>
        </p:nvSpPr>
        <p:spPr/>
        <p:txBody>
          <a:bodyPr/>
          <a:lstStyle/>
          <a:p>
            <a:fld id="{60DA5F32-0910-40DC-B314-ED562C3F78FF}" type="slidenum">
              <a:rPr lang="en-IN" smtClean="0"/>
              <a:t>12</a:t>
            </a:fld>
            <a:endParaRPr lang="en-IN"/>
          </a:p>
        </p:txBody>
      </p:sp>
    </p:spTree>
    <p:extLst>
      <p:ext uri="{BB962C8B-B14F-4D97-AF65-F5344CB8AC3E}">
        <p14:creationId xmlns:p14="http://schemas.microsoft.com/office/powerpoint/2010/main" val="3247936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Note -</a:t>
            </a:r>
            <a:r>
              <a:rPr lang="en-US" dirty="0" smtClean="0"/>
              <a:t/>
            </a:r>
            <a:br>
              <a:rPr lang="en-US" dirty="0" smtClean="0"/>
            </a:br>
            <a:r>
              <a:rPr lang="en-US" dirty="0" smtClean="0"/>
              <a:t>We have passed a String parameter in </a:t>
            </a:r>
            <a:r>
              <a:rPr lang="en-US" dirty="0" err="1" smtClean="0"/>
              <a:t>readLine</a:t>
            </a:r>
            <a:r>
              <a:rPr lang="en-US" dirty="0" smtClean="0"/>
              <a:t>() function and it is optional, if you pass any message then the message will be displayed first and then it takes input value, if you do not pass any message then it directly takes user input.</a:t>
            </a:r>
            <a:endParaRPr lang="en-IN" dirty="0" smtClean="0"/>
          </a:p>
          <a:p>
            <a:endParaRPr lang="en-IN" dirty="0"/>
          </a:p>
        </p:txBody>
      </p:sp>
      <p:sp>
        <p:nvSpPr>
          <p:cNvPr id="4" name="Slide Number Placeholder 3"/>
          <p:cNvSpPr>
            <a:spLocks noGrp="1"/>
          </p:cNvSpPr>
          <p:nvPr>
            <p:ph type="sldNum" sz="quarter" idx="10"/>
          </p:nvPr>
        </p:nvSpPr>
        <p:spPr/>
        <p:txBody>
          <a:bodyPr/>
          <a:lstStyle/>
          <a:p>
            <a:fld id="{60DA5F32-0910-40DC-B314-ED562C3F78FF}" type="slidenum">
              <a:rPr lang="en-IN" smtClean="0"/>
              <a:t>14</a:t>
            </a:fld>
            <a:endParaRPr lang="en-IN"/>
          </a:p>
        </p:txBody>
      </p:sp>
    </p:spTree>
    <p:extLst>
      <p:ext uri="{BB962C8B-B14F-4D97-AF65-F5344CB8AC3E}">
        <p14:creationId xmlns:p14="http://schemas.microsoft.com/office/powerpoint/2010/main" val="455807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smtClean="0"/>
              <a:t>Advantages of Using Scanner</a:t>
            </a:r>
          </a:p>
          <a:p>
            <a:r>
              <a:rPr lang="en-IN" dirty="0" smtClean="0"/>
              <a:t>Simple and intuitive for beginners.</a:t>
            </a:r>
          </a:p>
          <a:p>
            <a:r>
              <a:rPr lang="en-IN" dirty="0" smtClean="0"/>
              <a:t>Supports input parsing directly into desired types.</a:t>
            </a:r>
          </a:p>
          <a:p>
            <a:r>
              <a:rPr lang="en-IN" dirty="0" smtClean="0"/>
              <a:t>Versatile in handling multiple input sources.</a:t>
            </a:r>
          </a:p>
          <a:p>
            <a:r>
              <a:rPr lang="en-IN" b="1" dirty="0" smtClean="0"/>
              <a:t>Disadvantages</a:t>
            </a:r>
          </a:p>
          <a:p>
            <a:r>
              <a:rPr lang="en-IN" dirty="0" smtClean="0"/>
              <a:t>Slower compared to </a:t>
            </a:r>
            <a:r>
              <a:rPr lang="en-IN" dirty="0" err="1" smtClean="0"/>
              <a:t>BufferedReader</a:t>
            </a:r>
            <a:r>
              <a:rPr lang="en-IN" dirty="0" smtClean="0"/>
              <a:t> for large input.</a:t>
            </a:r>
          </a:p>
          <a:p>
            <a:r>
              <a:rPr lang="en-IN" dirty="0" smtClean="0"/>
              <a:t>Requires careful handling when mixing input methods.</a:t>
            </a:r>
          </a:p>
          <a:p>
            <a:endParaRPr lang="en-IN" dirty="0"/>
          </a:p>
        </p:txBody>
      </p:sp>
      <p:sp>
        <p:nvSpPr>
          <p:cNvPr id="4" name="Slide Number Placeholder 3"/>
          <p:cNvSpPr>
            <a:spLocks noGrp="1"/>
          </p:cNvSpPr>
          <p:nvPr>
            <p:ph type="sldNum" sz="quarter" idx="10"/>
          </p:nvPr>
        </p:nvSpPr>
        <p:spPr/>
        <p:txBody>
          <a:bodyPr/>
          <a:lstStyle/>
          <a:p>
            <a:fld id="{60DA5F32-0910-40DC-B314-ED562C3F78FF}" type="slidenum">
              <a:rPr lang="en-IN" smtClean="0"/>
              <a:t>18</a:t>
            </a:fld>
            <a:endParaRPr lang="en-IN"/>
          </a:p>
        </p:txBody>
      </p:sp>
    </p:spTree>
    <p:extLst>
      <p:ext uri="{BB962C8B-B14F-4D97-AF65-F5344CB8AC3E}">
        <p14:creationId xmlns:p14="http://schemas.microsoft.com/office/powerpoint/2010/main" val="2697659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Enter your age: 25</a:t>
            </a:r>
          </a:p>
          <a:p>
            <a:r>
              <a:rPr lang="en-US" dirty="0" smtClean="0"/>
              <a:t>Enter your name: </a:t>
            </a:r>
          </a:p>
          <a:p>
            <a:r>
              <a:rPr lang="en-US" dirty="0" smtClean="0"/>
              <a:t>Age: 25</a:t>
            </a:r>
          </a:p>
          <a:p>
            <a:r>
              <a:rPr lang="en-US" dirty="0" smtClean="0"/>
              <a:t>Name:</a:t>
            </a:r>
          </a:p>
          <a:p>
            <a:endParaRPr lang="en-IN" dirty="0"/>
          </a:p>
        </p:txBody>
      </p:sp>
      <p:sp>
        <p:nvSpPr>
          <p:cNvPr id="4" name="Slide Number Placeholder 3"/>
          <p:cNvSpPr>
            <a:spLocks noGrp="1"/>
          </p:cNvSpPr>
          <p:nvPr>
            <p:ph type="sldNum" sz="quarter" idx="10"/>
          </p:nvPr>
        </p:nvSpPr>
        <p:spPr/>
        <p:txBody>
          <a:bodyPr/>
          <a:lstStyle/>
          <a:p>
            <a:fld id="{60DA5F32-0910-40DC-B314-ED562C3F78FF}" type="slidenum">
              <a:rPr lang="en-IN" smtClean="0"/>
              <a:t>20</a:t>
            </a:fld>
            <a:endParaRPr lang="en-IN"/>
          </a:p>
        </p:txBody>
      </p:sp>
    </p:spTree>
    <p:extLst>
      <p:ext uri="{BB962C8B-B14F-4D97-AF65-F5344CB8AC3E}">
        <p14:creationId xmlns:p14="http://schemas.microsoft.com/office/powerpoint/2010/main" val="1998385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Key Points</a:t>
            </a:r>
          </a:p>
          <a:p>
            <a:r>
              <a:rPr lang="en-US" b="1" dirty="0" smtClean="0"/>
              <a:t>Efficiency</a:t>
            </a:r>
            <a:r>
              <a:rPr lang="en-US" dirty="0" smtClean="0"/>
              <a:t>: </a:t>
            </a:r>
            <a:r>
              <a:rPr lang="en-US" dirty="0" err="1" smtClean="0"/>
              <a:t>BufferedReader</a:t>
            </a:r>
            <a:r>
              <a:rPr lang="en-US" dirty="0" smtClean="0"/>
              <a:t> is efficient for reading large amounts of text because it buffers input.</a:t>
            </a:r>
          </a:p>
          <a:p>
            <a:r>
              <a:rPr lang="en-US" b="1" dirty="0" smtClean="0"/>
              <a:t>Always Reads Strings</a:t>
            </a:r>
            <a:r>
              <a:rPr lang="en-US" dirty="0" smtClean="0"/>
              <a:t>: You need to manually parse the input if a different data type is required.</a:t>
            </a:r>
          </a:p>
          <a:p>
            <a:r>
              <a:rPr lang="en-US" b="1" dirty="0" smtClean="0"/>
              <a:t>Exception Handling</a:t>
            </a:r>
            <a:r>
              <a:rPr lang="en-US" dirty="0" smtClean="0"/>
              <a:t>: Handle </a:t>
            </a:r>
            <a:r>
              <a:rPr lang="en-US" dirty="0" err="1" smtClean="0"/>
              <a:t>IOException</a:t>
            </a:r>
            <a:r>
              <a:rPr lang="en-US" dirty="0" smtClean="0"/>
              <a:t> and </a:t>
            </a:r>
            <a:r>
              <a:rPr lang="en-US" dirty="0" err="1" smtClean="0"/>
              <a:t>NumberFormatException</a:t>
            </a:r>
            <a:r>
              <a:rPr lang="en-US" dirty="0" smtClean="0"/>
              <a:t> for robust programs.</a:t>
            </a:r>
          </a:p>
          <a:p>
            <a:endParaRPr lang="en-IN" dirty="0"/>
          </a:p>
        </p:txBody>
      </p:sp>
      <p:sp>
        <p:nvSpPr>
          <p:cNvPr id="4" name="Slide Number Placeholder 3"/>
          <p:cNvSpPr>
            <a:spLocks noGrp="1"/>
          </p:cNvSpPr>
          <p:nvPr>
            <p:ph type="sldNum" sz="quarter" idx="10"/>
          </p:nvPr>
        </p:nvSpPr>
        <p:spPr/>
        <p:txBody>
          <a:bodyPr/>
          <a:lstStyle/>
          <a:p>
            <a:fld id="{60DA5F32-0910-40DC-B314-ED562C3F78FF}" type="slidenum">
              <a:rPr lang="en-IN" smtClean="0"/>
              <a:t>25</a:t>
            </a:fld>
            <a:endParaRPr lang="en-IN"/>
          </a:p>
        </p:txBody>
      </p:sp>
    </p:spTree>
    <p:extLst>
      <p:ext uri="{BB962C8B-B14F-4D97-AF65-F5344CB8AC3E}">
        <p14:creationId xmlns:p14="http://schemas.microsoft.com/office/powerpoint/2010/main" val="405223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smtClean="0"/>
              <a:t>Wrapper </a:t>
            </a:r>
            <a:r>
              <a:rPr lang="en-IN" dirty="0" smtClean="0"/>
              <a:t>Classes and ways of taking input from user</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19233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Java Wrapper Classes</a:t>
            </a:r>
            <a:br>
              <a:rPr lang="en-IN" dirty="0"/>
            </a:br>
            <a:endParaRPr lang="en-IN" dirty="0"/>
          </a:p>
        </p:txBody>
      </p:sp>
      <p:sp>
        <p:nvSpPr>
          <p:cNvPr id="3" name="Content Placeholder 2"/>
          <p:cNvSpPr>
            <a:spLocks noGrp="1"/>
          </p:cNvSpPr>
          <p:nvPr>
            <p:ph idx="1"/>
          </p:nvPr>
        </p:nvSpPr>
        <p:spPr/>
        <p:txBody>
          <a:bodyPr>
            <a:normAutofit fontScale="70000" lnSpcReduction="20000"/>
          </a:bodyPr>
          <a:lstStyle/>
          <a:p>
            <a:r>
              <a:rPr lang="en-US" dirty="0"/>
              <a:t>In Java, </a:t>
            </a:r>
            <a:r>
              <a:rPr lang="en-US" b="1" dirty="0"/>
              <a:t>wrapper classes</a:t>
            </a:r>
            <a:r>
              <a:rPr lang="en-US" dirty="0"/>
              <a:t> are used to represent the primitive data types as objects. </a:t>
            </a:r>
            <a:endParaRPr lang="en-US" dirty="0" smtClean="0"/>
          </a:p>
          <a:p>
            <a:r>
              <a:rPr lang="en-US" dirty="0" smtClean="0"/>
              <a:t>These </a:t>
            </a:r>
            <a:r>
              <a:rPr lang="en-US" dirty="0"/>
              <a:t>classes are part of the </a:t>
            </a:r>
            <a:r>
              <a:rPr lang="en-US" dirty="0" err="1"/>
              <a:t>java.lang</a:t>
            </a:r>
            <a:r>
              <a:rPr lang="en-US" dirty="0"/>
              <a:t> package and provide a way to wrap primitive values into an object, making it possible to store them in data structures that require objects (e.g., </a:t>
            </a:r>
            <a:r>
              <a:rPr lang="en-US" dirty="0" err="1"/>
              <a:t>ArrayList</a:t>
            </a:r>
            <a:r>
              <a:rPr lang="en-US" dirty="0" smtClean="0"/>
              <a:t>).</a:t>
            </a:r>
          </a:p>
          <a:p>
            <a:endParaRPr lang="en-US" dirty="0" smtClean="0"/>
          </a:p>
          <a:p>
            <a:r>
              <a:rPr lang="en-US" b="1" dirty="0"/>
              <a:t>Why Use Wrapper Classes?</a:t>
            </a:r>
          </a:p>
          <a:p>
            <a:r>
              <a:rPr lang="en-US" b="1" dirty="0"/>
              <a:t>Collections Framework Compatibility</a:t>
            </a:r>
            <a:r>
              <a:rPr lang="en-US" dirty="0"/>
              <a:t>: Collections like </a:t>
            </a:r>
            <a:r>
              <a:rPr lang="en-US" dirty="0" err="1"/>
              <a:t>ArrayList</a:t>
            </a:r>
            <a:r>
              <a:rPr lang="en-US" dirty="0"/>
              <a:t> can only store objects, not primitives.</a:t>
            </a:r>
          </a:p>
          <a:p>
            <a:r>
              <a:rPr lang="en-US" b="1" dirty="0"/>
              <a:t>Utility Methods</a:t>
            </a:r>
            <a:r>
              <a:rPr lang="en-US" dirty="0"/>
              <a:t>: Wrapper classes provide utility methods for parsing, converting, and comparing values.</a:t>
            </a:r>
          </a:p>
          <a:p>
            <a:r>
              <a:rPr lang="en-US" b="1" dirty="0" err="1"/>
              <a:t>Nullability</a:t>
            </a:r>
            <a:r>
              <a:rPr lang="en-US" dirty="0"/>
              <a:t>: Wrapper classes allow null values, which primitives do not support.</a:t>
            </a:r>
          </a:p>
          <a:p>
            <a:endParaRPr lang="en-US" dirty="0" smtClean="0"/>
          </a:p>
          <a:p>
            <a:endParaRPr lang="en-US" dirty="0" smtClean="0"/>
          </a:p>
          <a:p>
            <a:endParaRPr lang="en-IN" dirty="0"/>
          </a:p>
        </p:txBody>
      </p:sp>
    </p:spTree>
    <p:extLst>
      <p:ext uri="{BB962C8B-B14F-4D97-AF65-F5344CB8AC3E}">
        <p14:creationId xmlns:p14="http://schemas.microsoft.com/office/powerpoint/2010/main" val="3537967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endParaRPr lang="en-IN" dirty="0" smtClean="0"/>
          </a:p>
          <a:p>
            <a:endParaRPr lang="en-IN" dirty="0"/>
          </a:p>
          <a:p>
            <a:endParaRPr lang="en-IN" dirty="0" smtClean="0"/>
          </a:p>
          <a:p>
            <a:endParaRPr lang="en-IN" dirty="0"/>
          </a:p>
          <a:p>
            <a:pPr marL="0" indent="0">
              <a:buNone/>
            </a:pPr>
            <a:endParaRPr lang="en-IN" dirty="0"/>
          </a:p>
          <a:p>
            <a:r>
              <a:rPr lang="en-IN" dirty="0"/>
              <a:t>Wrapper class hierarchy -</a:t>
            </a:r>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457201"/>
            <a:ext cx="7924800" cy="2705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4267200"/>
            <a:ext cx="5913437" cy="183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370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lnSpcReduction="10000"/>
          </a:bodyPr>
          <a:lstStyle/>
          <a:p>
            <a:r>
              <a:rPr lang="en-US" sz="2400" dirty="0"/>
              <a:t>As shown in above figure all numeric type inherit</a:t>
            </a:r>
            <a:r>
              <a:rPr lang="en-US" sz="2400" b="1" dirty="0"/>
              <a:t> Number class </a:t>
            </a:r>
            <a:r>
              <a:rPr lang="en-US" sz="2400" dirty="0"/>
              <a:t>. This class define methods to return the value stored in wrapper class of these data types</a:t>
            </a:r>
            <a:r>
              <a:rPr lang="en-US" sz="2400" dirty="0" smtClean="0"/>
              <a:t>.</a:t>
            </a:r>
          </a:p>
          <a:p>
            <a:endParaRPr lang="en-US" sz="2400" dirty="0"/>
          </a:p>
          <a:p>
            <a:endParaRPr lang="en-US" sz="2400" dirty="0" smtClean="0"/>
          </a:p>
          <a:p>
            <a:endParaRPr lang="en-US" sz="2400" dirty="0"/>
          </a:p>
          <a:p>
            <a:endParaRPr lang="en-US" sz="2400" dirty="0" smtClean="0"/>
          </a:p>
          <a:p>
            <a:r>
              <a:rPr lang="en-IN" sz="2400" dirty="0"/>
              <a:t>for example -</a:t>
            </a:r>
          </a:p>
          <a:p>
            <a:endParaRPr lang="en-US" sz="2400" dirty="0" smtClean="0"/>
          </a:p>
          <a:p>
            <a:endParaRPr lang="en-US" sz="2400" dirty="0"/>
          </a:p>
          <a:p>
            <a:r>
              <a:rPr lang="en-US" sz="2400" dirty="0" smtClean="0"/>
              <a:t>We </a:t>
            </a:r>
            <a:r>
              <a:rPr lang="en-US" sz="2400" dirty="0"/>
              <a:t>can store the value within wrapper class either directly (as in above example) or by using constructor (constructor will be covered later). All numeric primitive type wrapper classes have two types of constructors -</a:t>
            </a:r>
            <a:endParaRPr lang="en-IN" sz="2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676400"/>
            <a:ext cx="5791200" cy="153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3810000"/>
            <a:ext cx="3505200"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5325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7500" lnSpcReduction="20000"/>
          </a:bodyPr>
          <a:lstStyle/>
          <a:p>
            <a:r>
              <a:rPr lang="en-US" b="1" dirty="0"/>
              <a:t>1. One take value of the same type</a:t>
            </a:r>
            <a:r>
              <a:rPr lang="en-US" b="1" dirty="0" smtClean="0"/>
              <a:t>.</a:t>
            </a:r>
          </a:p>
          <a:p>
            <a:r>
              <a:rPr lang="en-IN" i="1" dirty="0"/>
              <a:t>Integer(</a:t>
            </a:r>
            <a:r>
              <a:rPr lang="en-IN" i="1" dirty="0" err="1"/>
              <a:t>int</a:t>
            </a:r>
            <a:r>
              <a:rPr lang="en-IN" i="1" dirty="0"/>
              <a:t> value) </a:t>
            </a:r>
            <a:endParaRPr lang="en-IN" i="1" dirty="0" smtClean="0"/>
          </a:p>
          <a:p>
            <a:r>
              <a:rPr lang="en-IN" i="1" dirty="0" smtClean="0"/>
              <a:t>Double(double </a:t>
            </a:r>
            <a:r>
              <a:rPr lang="en-IN" i="1" dirty="0"/>
              <a:t>value</a:t>
            </a:r>
            <a:r>
              <a:rPr lang="en-IN" i="1" dirty="0" smtClean="0"/>
              <a:t>)</a:t>
            </a:r>
          </a:p>
          <a:p>
            <a:r>
              <a:rPr lang="en-US" b="1" dirty="0"/>
              <a:t>For Example </a:t>
            </a:r>
            <a:r>
              <a:rPr lang="en-US" b="1" dirty="0" smtClean="0"/>
              <a:t>–</a:t>
            </a:r>
          </a:p>
          <a:p>
            <a:r>
              <a:rPr lang="en-US" i="1" dirty="0" smtClean="0"/>
              <a:t>Integer </a:t>
            </a:r>
            <a:r>
              <a:rPr lang="en-US" i="1" dirty="0"/>
              <a:t>a= new Integer(66); </a:t>
            </a:r>
            <a:endParaRPr lang="en-US" i="1" dirty="0" smtClean="0"/>
          </a:p>
          <a:p>
            <a:r>
              <a:rPr lang="en-US" i="1" dirty="0" smtClean="0"/>
              <a:t>Double </a:t>
            </a:r>
            <a:r>
              <a:rPr lang="en-US" i="1" dirty="0"/>
              <a:t>b= new Double(10.13</a:t>
            </a:r>
            <a:r>
              <a:rPr lang="en-US" i="1" dirty="0" smtClean="0"/>
              <a:t>);</a:t>
            </a:r>
          </a:p>
          <a:p>
            <a:r>
              <a:rPr lang="en-US" b="1" dirty="0"/>
              <a:t>2. Another take string in valid format.</a:t>
            </a:r>
            <a:r>
              <a:rPr lang="en-US" dirty="0"/>
              <a:t> </a:t>
            </a:r>
            <a:endParaRPr lang="en-US" dirty="0" smtClean="0"/>
          </a:p>
          <a:p>
            <a:r>
              <a:rPr lang="en-US" i="1" dirty="0" smtClean="0"/>
              <a:t>Integer</a:t>
            </a:r>
            <a:r>
              <a:rPr lang="en-US" i="1" dirty="0"/>
              <a:t>("String in valid format") </a:t>
            </a:r>
            <a:endParaRPr lang="en-US" i="1" dirty="0" smtClean="0"/>
          </a:p>
          <a:p>
            <a:r>
              <a:rPr lang="en-US" i="1" dirty="0" smtClean="0"/>
              <a:t>Double</a:t>
            </a:r>
            <a:r>
              <a:rPr lang="en-US" i="1" dirty="0"/>
              <a:t>("String in valid format") </a:t>
            </a:r>
            <a:endParaRPr lang="en-US" i="1" dirty="0" smtClean="0"/>
          </a:p>
          <a:p>
            <a:r>
              <a:rPr lang="en-US" b="1" dirty="0" smtClean="0"/>
              <a:t>For </a:t>
            </a:r>
            <a:r>
              <a:rPr lang="en-US" b="1" dirty="0"/>
              <a:t>Example </a:t>
            </a:r>
            <a:r>
              <a:rPr lang="en-US" b="1" dirty="0" smtClean="0"/>
              <a:t>–</a:t>
            </a:r>
            <a:r>
              <a:rPr lang="en-US" dirty="0" smtClean="0"/>
              <a:t> </a:t>
            </a:r>
          </a:p>
          <a:p>
            <a:r>
              <a:rPr lang="en-US" i="1" dirty="0" smtClean="0"/>
              <a:t>Integer </a:t>
            </a:r>
            <a:r>
              <a:rPr lang="en-US" i="1" dirty="0"/>
              <a:t>a= new Integer("66"); </a:t>
            </a:r>
            <a:endParaRPr lang="en-US" i="1" dirty="0" smtClean="0"/>
          </a:p>
          <a:p>
            <a:r>
              <a:rPr lang="en-US" i="1" dirty="0" smtClean="0"/>
              <a:t>Double </a:t>
            </a:r>
            <a:r>
              <a:rPr lang="en-US" i="1" dirty="0"/>
              <a:t>b= new Double("10.13"); </a:t>
            </a:r>
            <a:endParaRPr lang="en-US" i="1" dirty="0" smtClean="0"/>
          </a:p>
          <a:p>
            <a:r>
              <a:rPr lang="en-US" dirty="0" smtClean="0"/>
              <a:t>If </a:t>
            </a:r>
            <a:r>
              <a:rPr lang="en-US" dirty="0"/>
              <a:t>string is not in valid format then a </a:t>
            </a:r>
            <a:r>
              <a:rPr lang="en-US" b="1" dirty="0" err="1"/>
              <a:t>NumberFormatException</a:t>
            </a:r>
            <a:r>
              <a:rPr lang="en-US" b="1" dirty="0"/>
              <a:t> </a:t>
            </a:r>
            <a:r>
              <a:rPr lang="en-US" dirty="0"/>
              <a:t>is thrown.</a:t>
            </a:r>
            <a:endParaRPr lang="en-IN" i="1" dirty="0"/>
          </a:p>
        </p:txBody>
      </p:sp>
    </p:spTree>
    <p:extLst>
      <p:ext uri="{BB962C8B-B14F-4D97-AF65-F5344CB8AC3E}">
        <p14:creationId xmlns:p14="http://schemas.microsoft.com/office/powerpoint/2010/main" val="3092600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lnSpcReduction="20000"/>
          </a:bodyPr>
          <a:lstStyle/>
          <a:p>
            <a:r>
              <a:rPr lang="en-IN" dirty="0"/>
              <a:t>Example -</a:t>
            </a:r>
          </a:p>
          <a:p>
            <a:endParaRPr lang="en-IN" dirty="0"/>
          </a:p>
          <a:p>
            <a:pPr marL="0" indent="0">
              <a:buNone/>
            </a:pPr>
            <a:r>
              <a:rPr lang="en-IN" dirty="0"/>
              <a:t>public class Demo</a:t>
            </a:r>
          </a:p>
          <a:p>
            <a:pPr marL="0" indent="0">
              <a:buNone/>
            </a:pPr>
            <a:r>
              <a:rPr lang="en-IN" dirty="0"/>
              <a:t>{</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a:t>
            </a:r>
            <a:r>
              <a:rPr lang="en-IN" dirty="0" smtClean="0"/>
              <a:t>  Float </a:t>
            </a:r>
            <a:r>
              <a:rPr lang="en-IN" dirty="0"/>
              <a:t>f1 = new Float(10.12f);  // boxing</a:t>
            </a:r>
          </a:p>
          <a:p>
            <a:pPr marL="0" indent="0">
              <a:buNone/>
            </a:pPr>
            <a:r>
              <a:rPr lang="en-IN" dirty="0"/>
              <a:t> </a:t>
            </a:r>
            <a:r>
              <a:rPr lang="en-IN" dirty="0" smtClean="0"/>
              <a:t>  float </a:t>
            </a:r>
            <a:r>
              <a:rPr lang="en-IN" dirty="0"/>
              <a:t>f2 = f1.floatValue();      // unboxing</a:t>
            </a:r>
          </a:p>
          <a:p>
            <a:pPr marL="0" indent="0">
              <a:buNone/>
            </a:pPr>
            <a:r>
              <a:rPr lang="en-IN" dirty="0"/>
              <a:t>  </a:t>
            </a:r>
            <a:r>
              <a:rPr lang="en-IN" dirty="0" smtClean="0"/>
              <a:t>  </a:t>
            </a:r>
            <a:r>
              <a:rPr lang="en-IN" dirty="0" err="1" smtClean="0"/>
              <a:t>System.out.println</a:t>
            </a:r>
            <a:r>
              <a:rPr lang="en-IN" dirty="0" smtClean="0"/>
              <a:t>(f1 </a:t>
            </a:r>
            <a:r>
              <a:rPr lang="en-IN" dirty="0"/>
              <a:t>+ "  " + f2); </a:t>
            </a:r>
          </a:p>
          <a:p>
            <a:pPr marL="0" indent="0">
              <a:buNone/>
            </a:pPr>
            <a:r>
              <a:rPr lang="en-IN" dirty="0"/>
              <a:t>  }</a:t>
            </a:r>
          </a:p>
          <a:p>
            <a:pPr marL="0" indent="0">
              <a:buNone/>
            </a:pPr>
            <a:r>
              <a:rPr lang="en-IN" dirty="0"/>
              <a:t>}</a:t>
            </a:r>
          </a:p>
          <a:p>
            <a:r>
              <a:rPr lang="en-IN" dirty="0"/>
              <a:t> </a:t>
            </a:r>
          </a:p>
        </p:txBody>
      </p:sp>
    </p:spTree>
    <p:extLst>
      <p:ext uri="{BB962C8B-B14F-4D97-AF65-F5344CB8AC3E}">
        <p14:creationId xmlns:p14="http://schemas.microsoft.com/office/powerpoint/2010/main" val="309260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r>
              <a:rPr lang="en-US" dirty="0"/>
              <a:t>This program wraps the float value 10.12 within a Float wrapper class and this process of wrapping (storing) primitive values in corresponding wrapper class is known as </a:t>
            </a:r>
            <a:r>
              <a:rPr lang="en-US" b="1" dirty="0" smtClean="0"/>
              <a:t>Boxing</a:t>
            </a:r>
            <a:r>
              <a:rPr lang="en-US" dirty="0" smtClean="0"/>
              <a:t>.</a:t>
            </a:r>
          </a:p>
          <a:p>
            <a:r>
              <a:rPr lang="en-US" dirty="0" smtClean="0"/>
              <a:t>And </a:t>
            </a:r>
            <a:r>
              <a:rPr lang="en-US" dirty="0"/>
              <a:t>in the next line value is extracted from Float wrapper class using </a:t>
            </a:r>
            <a:r>
              <a:rPr lang="en-US" dirty="0" err="1"/>
              <a:t>floatValue</a:t>
            </a:r>
            <a:r>
              <a:rPr lang="en-US" dirty="0"/>
              <a:t>() method of Number class and stored in primitive type variable f. This process of extracting value from wrapper class is known as </a:t>
            </a:r>
            <a:r>
              <a:rPr lang="en-US" b="1" dirty="0"/>
              <a:t>Unboxing</a:t>
            </a:r>
            <a:r>
              <a:rPr lang="en-US" dirty="0"/>
              <a:t>.</a:t>
            </a:r>
            <a:endParaRPr lang="en-IN" dirty="0"/>
          </a:p>
        </p:txBody>
      </p:sp>
    </p:spTree>
    <p:extLst>
      <p:ext uri="{BB962C8B-B14F-4D97-AF65-F5344CB8AC3E}">
        <p14:creationId xmlns:p14="http://schemas.microsoft.com/office/powerpoint/2010/main" val="3092600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7500" lnSpcReduction="20000"/>
          </a:bodyPr>
          <a:lstStyle/>
          <a:p>
            <a:r>
              <a:rPr lang="en-US" b="1" dirty="0"/>
              <a:t>Character and Boolean wrapper classes -</a:t>
            </a:r>
          </a:p>
          <a:p>
            <a:endParaRPr lang="en-US" dirty="0" smtClean="0"/>
          </a:p>
          <a:p>
            <a:r>
              <a:rPr lang="en-US" dirty="0" smtClean="0"/>
              <a:t>Character </a:t>
            </a:r>
            <a:r>
              <a:rPr lang="en-US" dirty="0"/>
              <a:t>and Boolean are the wrapper class for char and </a:t>
            </a:r>
            <a:r>
              <a:rPr lang="en-US" dirty="0" err="1"/>
              <a:t>boolean</a:t>
            </a:r>
            <a:r>
              <a:rPr lang="en-US" dirty="0"/>
              <a:t> primitives type respectively. These classes directly belong to Object class</a:t>
            </a:r>
            <a:r>
              <a:rPr lang="en-US" dirty="0" smtClean="0"/>
              <a:t>.</a:t>
            </a:r>
          </a:p>
          <a:p>
            <a:r>
              <a:rPr lang="en-US" b="1" dirty="0" smtClean="0"/>
              <a:t>Character </a:t>
            </a:r>
            <a:r>
              <a:rPr lang="en-US" b="1" dirty="0"/>
              <a:t>class -</a:t>
            </a:r>
            <a:r>
              <a:rPr lang="en-US" dirty="0"/>
              <a:t/>
            </a:r>
            <a:br>
              <a:rPr lang="en-US" dirty="0"/>
            </a:br>
            <a:r>
              <a:rPr lang="en-US" dirty="0"/>
              <a:t>Character class has the following constructor -</a:t>
            </a:r>
            <a:r>
              <a:rPr lang="en-US" i="1" dirty="0"/>
              <a:t>Character(char </a:t>
            </a:r>
            <a:r>
              <a:rPr lang="en-US" i="1" dirty="0" err="1"/>
              <a:t>ch</a:t>
            </a:r>
            <a:r>
              <a:rPr lang="en-US" i="1" dirty="0"/>
              <a:t>) </a:t>
            </a:r>
            <a:endParaRPr lang="en-US" i="1" dirty="0" smtClean="0"/>
          </a:p>
          <a:p>
            <a:r>
              <a:rPr lang="en-US" dirty="0" smtClean="0"/>
              <a:t>Here </a:t>
            </a:r>
            <a:r>
              <a:rPr lang="en-US" dirty="0" err="1"/>
              <a:t>ch</a:t>
            </a:r>
            <a:r>
              <a:rPr lang="en-US" dirty="0"/>
              <a:t> represents a char value that you want to wrap in Character wrapper class. </a:t>
            </a:r>
            <a:endParaRPr lang="en-US" dirty="0" smtClean="0"/>
          </a:p>
          <a:p>
            <a:r>
              <a:rPr lang="en-US" dirty="0" smtClean="0"/>
              <a:t>You </a:t>
            </a:r>
            <a:r>
              <a:rPr lang="en-US" dirty="0"/>
              <a:t>can extract value back using </a:t>
            </a:r>
            <a:r>
              <a:rPr lang="en-US" dirty="0" err="1"/>
              <a:t>charValue</a:t>
            </a:r>
            <a:r>
              <a:rPr lang="en-US" dirty="0"/>
              <a:t>() method. </a:t>
            </a:r>
            <a:endParaRPr lang="en-US" dirty="0" smtClean="0"/>
          </a:p>
          <a:p>
            <a:r>
              <a:rPr lang="en-US" b="1" dirty="0" smtClean="0"/>
              <a:t>For </a:t>
            </a:r>
            <a:r>
              <a:rPr lang="en-US" b="1" dirty="0"/>
              <a:t>example </a:t>
            </a:r>
            <a:r>
              <a:rPr lang="en-US" b="1" dirty="0" smtClean="0"/>
              <a:t>–</a:t>
            </a:r>
            <a:r>
              <a:rPr lang="en-US" dirty="0" smtClean="0"/>
              <a:t> </a:t>
            </a:r>
          </a:p>
          <a:p>
            <a:r>
              <a:rPr lang="en-US" dirty="0" smtClean="0"/>
              <a:t>char ch1 </a:t>
            </a:r>
            <a:r>
              <a:rPr lang="en-US" dirty="0"/>
              <a:t>= 'a'; </a:t>
            </a:r>
            <a:endParaRPr lang="en-US" dirty="0" smtClean="0"/>
          </a:p>
          <a:p>
            <a:r>
              <a:rPr lang="en-US" dirty="0" smtClean="0"/>
              <a:t>Character ch2 </a:t>
            </a:r>
            <a:r>
              <a:rPr lang="en-US" dirty="0"/>
              <a:t>= new </a:t>
            </a:r>
            <a:r>
              <a:rPr lang="en-US" dirty="0" smtClean="0"/>
              <a:t>Character(ch1); </a:t>
            </a:r>
          </a:p>
          <a:p>
            <a:r>
              <a:rPr lang="en-US" dirty="0" smtClean="0"/>
              <a:t>char ch3 </a:t>
            </a:r>
            <a:r>
              <a:rPr lang="en-US" dirty="0"/>
              <a:t>= </a:t>
            </a:r>
            <a:r>
              <a:rPr lang="en-US" dirty="0" smtClean="0"/>
              <a:t>ch2.charValue</a:t>
            </a:r>
            <a:r>
              <a:rPr lang="en-US" dirty="0"/>
              <a:t>();</a:t>
            </a:r>
            <a:endParaRPr lang="en-IN" dirty="0"/>
          </a:p>
        </p:txBody>
      </p:sp>
    </p:spTree>
    <p:extLst>
      <p:ext uri="{BB962C8B-B14F-4D97-AF65-F5344CB8AC3E}">
        <p14:creationId xmlns:p14="http://schemas.microsoft.com/office/powerpoint/2010/main" val="3092600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0000" lnSpcReduction="20000"/>
          </a:bodyPr>
          <a:lstStyle/>
          <a:p>
            <a:r>
              <a:rPr lang="en-IN" b="1" dirty="0"/>
              <a:t>Boolean class </a:t>
            </a:r>
            <a:r>
              <a:rPr lang="en-IN" b="1" dirty="0" smtClean="0"/>
              <a:t>–</a:t>
            </a:r>
          </a:p>
          <a:p>
            <a:r>
              <a:rPr lang="en-IN" dirty="0"/>
              <a:t/>
            </a:r>
            <a:br>
              <a:rPr lang="en-IN" dirty="0"/>
            </a:br>
            <a:r>
              <a:rPr lang="en-IN" dirty="0"/>
              <a:t>Boolean class has the following constructors </a:t>
            </a:r>
            <a:r>
              <a:rPr lang="en-IN" dirty="0" smtClean="0"/>
              <a:t>–</a:t>
            </a:r>
          </a:p>
          <a:p>
            <a:r>
              <a:rPr lang="en-IN" i="1" dirty="0" smtClean="0"/>
              <a:t>1- </a:t>
            </a:r>
            <a:r>
              <a:rPr lang="en-IN" i="1" dirty="0"/>
              <a:t>Boolean(</a:t>
            </a:r>
            <a:r>
              <a:rPr lang="en-IN" i="1" dirty="0" err="1"/>
              <a:t>boolean</a:t>
            </a:r>
            <a:r>
              <a:rPr lang="en-IN" i="1" dirty="0"/>
              <a:t> b1) </a:t>
            </a:r>
            <a:endParaRPr lang="en-IN" i="1" dirty="0" smtClean="0"/>
          </a:p>
          <a:p>
            <a:r>
              <a:rPr lang="en-IN" i="1" dirty="0" smtClean="0"/>
              <a:t>2- Boolean(String </a:t>
            </a:r>
            <a:r>
              <a:rPr lang="en-IN" i="1" dirty="0" err="1" smtClean="0"/>
              <a:t>str</a:t>
            </a:r>
            <a:r>
              <a:rPr lang="en-IN" i="1" dirty="0" smtClean="0"/>
              <a:t>) </a:t>
            </a:r>
          </a:p>
          <a:p>
            <a:r>
              <a:rPr lang="en-IN" dirty="0" smtClean="0"/>
              <a:t>Here </a:t>
            </a:r>
            <a:r>
              <a:rPr lang="en-IN" dirty="0"/>
              <a:t>b1 represents </a:t>
            </a:r>
            <a:r>
              <a:rPr lang="en-IN" dirty="0" err="1"/>
              <a:t>boolean</a:t>
            </a:r>
            <a:r>
              <a:rPr lang="en-IN" dirty="0"/>
              <a:t> value and String represents a string in valid format(i.e. </a:t>
            </a:r>
            <a:r>
              <a:rPr lang="en-IN" dirty="0" smtClean="0"/>
              <a:t>“true</a:t>
            </a:r>
            <a:r>
              <a:rPr lang="en-IN" dirty="0"/>
              <a:t>" or </a:t>
            </a:r>
            <a:r>
              <a:rPr lang="en-IN" dirty="0" smtClean="0"/>
              <a:t>“false</a:t>
            </a:r>
            <a:r>
              <a:rPr lang="en-IN" dirty="0"/>
              <a:t>") that you want to wrap in Boolean wrapper class. </a:t>
            </a:r>
            <a:endParaRPr lang="en-IN" dirty="0" smtClean="0"/>
          </a:p>
          <a:p>
            <a:r>
              <a:rPr lang="en-IN" dirty="0" smtClean="0"/>
              <a:t>You </a:t>
            </a:r>
            <a:r>
              <a:rPr lang="en-IN" dirty="0"/>
              <a:t>can extract value back using </a:t>
            </a:r>
            <a:r>
              <a:rPr lang="en-IN" dirty="0" err="1"/>
              <a:t>booleanValue</a:t>
            </a:r>
            <a:r>
              <a:rPr lang="en-IN" dirty="0"/>
              <a:t>() method. </a:t>
            </a:r>
            <a:endParaRPr lang="en-IN" dirty="0" smtClean="0"/>
          </a:p>
          <a:p>
            <a:r>
              <a:rPr lang="en-IN" b="1" dirty="0" smtClean="0"/>
              <a:t>For </a:t>
            </a:r>
            <a:r>
              <a:rPr lang="en-IN" b="1" dirty="0"/>
              <a:t>example </a:t>
            </a:r>
            <a:r>
              <a:rPr lang="en-IN" b="1" dirty="0" smtClean="0"/>
              <a:t>–</a:t>
            </a:r>
            <a:r>
              <a:rPr lang="en-IN" dirty="0" smtClean="0"/>
              <a:t> </a:t>
            </a:r>
          </a:p>
          <a:p>
            <a:r>
              <a:rPr lang="en-IN" dirty="0" err="1" smtClean="0"/>
              <a:t>boolean</a:t>
            </a:r>
            <a:r>
              <a:rPr lang="en-IN" dirty="0" smtClean="0"/>
              <a:t> </a:t>
            </a:r>
            <a:r>
              <a:rPr lang="en-IN" dirty="0"/>
              <a:t>b1 = true; </a:t>
            </a:r>
            <a:endParaRPr lang="en-IN" dirty="0" smtClean="0"/>
          </a:p>
          <a:p>
            <a:r>
              <a:rPr lang="en-IN" dirty="0" smtClean="0"/>
              <a:t>String </a:t>
            </a:r>
            <a:r>
              <a:rPr lang="en-IN" dirty="0"/>
              <a:t>s1 = "true"; </a:t>
            </a:r>
            <a:endParaRPr lang="en-IN" dirty="0" smtClean="0"/>
          </a:p>
          <a:p>
            <a:r>
              <a:rPr lang="en-IN" dirty="0" smtClean="0"/>
              <a:t>Boolean </a:t>
            </a:r>
            <a:r>
              <a:rPr lang="en-IN" dirty="0"/>
              <a:t>b2 = new Boolean(b1); // boxing </a:t>
            </a:r>
            <a:endParaRPr lang="en-IN" dirty="0" smtClean="0"/>
          </a:p>
          <a:p>
            <a:r>
              <a:rPr lang="en-IN" dirty="0" smtClean="0"/>
              <a:t>Boolean </a:t>
            </a:r>
            <a:r>
              <a:rPr lang="en-IN" dirty="0"/>
              <a:t>b3 = new Boolean(s1); // boxing </a:t>
            </a:r>
            <a:endParaRPr lang="en-IN" dirty="0" smtClean="0"/>
          </a:p>
          <a:p>
            <a:r>
              <a:rPr lang="en-IN" dirty="0" err="1" smtClean="0"/>
              <a:t>boolean</a:t>
            </a:r>
            <a:r>
              <a:rPr lang="en-IN" dirty="0" smtClean="0"/>
              <a:t> </a:t>
            </a:r>
            <a:r>
              <a:rPr lang="en-IN" dirty="0"/>
              <a:t>b4 = b2.booleanValue(); //unboxing </a:t>
            </a:r>
            <a:endParaRPr lang="en-IN" dirty="0" smtClean="0"/>
          </a:p>
          <a:p>
            <a:r>
              <a:rPr lang="en-IN" dirty="0" err="1" smtClean="0"/>
              <a:t>boolean</a:t>
            </a:r>
            <a:r>
              <a:rPr lang="en-IN" dirty="0" smtClean="0"/>
              <a:t> </a:t>
            </a:r>
            <a:r>
              <a:rPr lang="en-IN" dirty="0"/>
              <a:t>b5 = b3.booleanValue(); //unboxing</a:t>
            </a:r>
          </a:p>
        </p:txBody>
      </p:sp>
    </p:spTree>
    <p:extLst>
      <p:ext uri="{BB962C8B-B14F-4D97-AF65-F5344CB8AC3E}">
        <p14:creationId xmlns:p14="http://schemas.microsoft.com/office/powerpoint/2010/main" val="3092600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867400"/>
          </a:xfrm>
        </p:spPr>
        <p:txBody>
          <a:bodyPr>
            <a:normAutofit fontScale="62500" lnSpcReduction="20000"/>
          </a:bodyPr>
          <a:lstStyle/>
          <a:p>
            <a:r>
              <a:rPr lang="en-US" b="1" dirty="0" err="1"/>
              <a:t>Autoboxing</a:t>
            </a:r>
            <a:r>
              <a:rPr lang="en-US" b="1" dirty="0"/>
              <a:t> and </a:t>
            </a:r>
            <a:r>
              <a:rPr lang="en-US" b="1" dirty="0" err="1"/>
              <a:t>AutoUnboxing</a:t>
            </a:r>
            <a:r>
              <a:rPr lang="en-US" b="1" dirty="0"/>
              <a:t> </a:t>
            </a:r>
            <a:r>
              <a:rPr lang="en-US" b="1" dirty="0" smtClean="0"/>
              <a:t>–</a:t>
            </a:r>
          </a:p>
          <a:p>
            <a:endParaRPr lang="en-US" b="1" dirty="0"/>
          </a:p>
          <a:p>
            <a:r>
              <a:rPr lang="en-US" dirty="0"/>
              <a:t>Since jdk1.5 java supports the concept of </a:t>
            </a:r>
            <a:r>
              <a:rPr lang="en-US" dirty="0" err="1"/>
              <a:t>Autoboxing</a:t>
            </a:r>
            <a:r>
              <a:rPr lang="en-US" dirty="0"/>
              <a:t> and </a:t>
            </a:r>
            <a:r>
              <a:rPr lang="en-US" dirty="0" err="1"/>
              <a:t>AutoUnboxing</a:t>
            </a:r>
            <a:r>
              <a:rPr lang="en-US" dirty="0"/>
              <a:t>. </a:t>
            </a:r>
            <a:endParaRPr lang="en-US" dirty="0" smtClean="0"/>
          </a:p>
          <a:p>
            <a:r>
              <a:rPr lang="en-US" dirty="0" smtClean="0"/>
              <a:t>The </a:t>
            </a:r>
            <a:r>
              <a:rPr lang="en-US" dirty="0"/>
              <a:t>process of automatic conversion of primitive data type values into objects of </a:t>
            </a:r>
            <a:r>
              <a:rPr lang="en-US" dirty="0" smtClean="0"/>
              <a:t>corresponding </a:t>
            </a:r>
            <a:r>
              <a:rPr lang="en-US" dirty="0"/>
              <a:t>wrapper class is known as </a:t>
            </a:r>
            <a:r>
              <a:rPr lang="en-US" b="1" dirty="0" err="1" smtClean="0"/>
              <a:t>Autoboxing</a:t>
            </a:r>
            <a:r>
              <a:rPr lang="en-US" dirty="0" smtClean="0"/>
              <a:t>.</a:t>
            </a:r>
          </a:p>
          <a:p>
            <a:endParaRPr lang="en-US" dirty="0" smtClean="0"/>
          </a:p>
          <a:p>
            <a:r>
              <a:rPr lang="en-US" dirty="0" smtClean="0"/>
              <a:t>For </a:t>
            </a:r>
            <a:r>
              <a:rPr lang="en-US" dirty="0"/>
              <a:t>example </a:t>
            </a:r>
            <a:r>
              <a:rPr lang="en-US" dirty="0" smtClean="0"/>
              <a:t>– </a:t>
            </a:r>
          </a:p>
          <a:p>
            <a:r>
              <a:rPr lang="en-US" i="1" dirty="0" err="1" smtClean="0"/>
              <a:t>int</a:t>
            </a:r>
            <a:r>
              <a:rPr lang="en-US" i="1" dirty="0" smtClean="0"/>
              <a:t> </a:t>
            </a:r>
            <a:r>
              <a:rPr lang="en-US" i="1" dirty="0"/>
              <a:t>a=10; </a:t>
            </a:r>
            <a:endParaRPr lang="en-US" i="1" dirty="0" smtClean="0"/>
          </a:p>
          <a:p>
            <a:r>
              <a:rPr lang="en-US" i="1" dirty="0" smtClean="0"/>
              <a:t>Integer </a:t>
            </a:r>
            <a:r>
              <a:rPr lang="en-US" i="1" dirty="0"/>
              <a:t>b = a; </a:t>
            </a:r>
            <a:endParaRPr lang="en-US" i="1" dirty="0" smtClean="0"/>
          </a:p>
          <a:p>
            <a:r>
              <a:rPr lang="en-US" dirty="0" smtClean="0"/>
              <a:t>And </a:t>
            </a:r>
            <a:r>
              <a:rPr lang="en-US" dirty="0"/>
              <a:t>the process of extracting back the value of primitive data type from object type of </a:t>
            </a:r>
            <a:r>
              <a:rPr lang="en-US" dirty="0" smtClean="0"/>
              <a:t>corresponding </a:t>
            </a:r>
            <a:r>
              <a:rPr lang="en-US" dirty="0"/>
              <a:t>wrapper class is known as </a:t>
            </a:r>
            <a:r>
              <a:rPr lang="en-US" b="1" dirty="0" err="1"/>
              <a:t>AutoUnboxing</a:t>
            </a:r>
            <a:r>
              <a:rPr lang="en-US" dirty="0" smtClean="0"/>
              <a:t>.</a:t>
            </a:r>
          </a:p>
          <a:p>
            <a:endParaRPr lang="en-US" dirty="0" smtClean="0"/>
          </a:p>
          <a:p>
            <a:r>
              <a:rPr lang="en-US" dirty="0" smtClean="0"/>
              <a:t>For </a:t>
            </a:r>
            <a:r>
              <a:rPr lang="en-US" dirty="0"/>
              <a:t>example </a:t>
            </a:r>
            <a:r>
              <a:rPr lang="en-US" dirty="0" smtClean="0"/>
              <a:t>– </a:t>
            </a:r>
          </a:p>
          <a:p>
            <a:r>
              <a:rPr lang="en-US" i="1" dirty="0" smtClean="0"/>
              <a:t>Character </a:t>
            </a:r>
            <a:r>
              <a:rPr lang="en-US" i="1" dirty="0"/>
              <a:t>ch1 = 'a'; </a:t>
            </a:r>
            <a:endParaRPr lang="en-US" i="1" dirty="0" smtClean="0"/>
          </a:p>
          <a:p>
            <a:r>
              <a:rPr lang="en-US" i="1" dirty="0" smtClean="0"/>
              <a:t>char </a:t>
            </a:r>
            <a:r>
              <a:rPr lang="en-US" i="1" dirty="0"/>
              <a:t>ch2 = ch1; </a:t>
            </a:r>
            <a:endParaRPr lang="en-US" i="1" dirty="0" smtClean="0"/>
          </a:p>
          <a:p>
            <a:r>
              <a:rPr lang="en-US" dirty="0" smtClean="0"/>
              <a:t>So </a:t>
            </a:r>
            <a:r>
              <a:rPr lang="en-US" dirty="0"/>
              <a:t>now there is no need to do it </a:t>
            </a:r>
            <a:r>
              <a:rPr lang="en-US" dirty="0" smtClean="0"/>
              <a:t>manually, </a:t>
            </a:r>
            <a:r>
              <a:rPr lang="en-US" dirty="0"/>
              <a:t>Java automatically does it for you.</a:t>
            </a:r>
            <a:endParaRPr lang="en-IN" dirty="0"/>
          </a:p>
        </p:txBody>
      </p:sp>
    </p:spTree>
    <p:extLst>
      <p:ext uri="{BB962C8B-B14F-4D97-AF65-F5344CB8AC3E}">
        <p14:creationId xmlns:p14="http://schemas.microsoft.com/office/powerpoint/2010/main" val="3092600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lnSpcReduction="10000"/>
          </a:bodyPr>
          <a:lstStyle/>
          <a:p>
            <a:r>
              <a:rPr lang="en-IN" dirty="0"/>
              <a:t>Example -</a:t>
            </a:r>
          </a:p>
          <a:p>
            <a:endParaRPr lang="en-IN" dirty="0"/>
          </a:p>
          <a:p>
            <a:pPr marL="0" indent="0">
              <a:buNone/>
            </a:pPr>
            <a:r>
              <a:rPr lang="en-IN" dirty="0"/>
              <a:t>public class Demo</a:t>
            </a:r>
          </a:p>
          <a:p>
            <a:pPr marL="0" indent="0">
              <a:buNone/>
            </a:pPr>
            <a:r>
              <a:rPr lang="en-IN" dirty="0"/>
              <a:t>{</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Float f1 = 10.12f;  // </a:t>
            </a:r>
            <a:r>
              <a:rPr lang="en-IN" dirty="0" err="1"/>
              <a:t>Autoboxing</a:t>
            </a:r>
            <a:endParaRPr lang="en-IN" dirty="0"/>
          </a:p>
          <a:p>
            <a:pPr marL="0" indent="0">
              <a:buNone/>
            </a:pPr>
            <a:r>
              <a:rPr lang="en-IN" dirty="0"/>
              <a:t>  float f2 = f1;         // </a:t>
            </a:r>
            <a:r>
              <a:rPr lang="en-IN" dirty="0" err="1"/>
              <a:t>AutoUnboxing</a:t>
            </a:r>
            <a:endParaRPr lang="en-IN" dirty="0"/>
          </a:p>
          <a:p>
            <a:pPr marL="0" indent="0">
              <a:buNone/>
            </a:pPr>
            <a:r>
              <a:rPr lang="en-IN" dirty="0"/>
              <a:t>  </a:t>
            </a:r>
            <a:r>
              <a:rPr lang="en-IN" dirty="0" err="1"/>
              <a:t>System.out.println</a:t>
            </a:r>
            <a:r>
              <a:rPr lang="en-IN" dirty="0"/>
              <a:t>(f1 + "   " + f2); </a:t>
            </a:r>
          </a:p>
          <a:p>
            <a:pPr marL="0" indent="0">
              <a:buNone/>
            </a:pPr>
            <a:r>
              <a:rPr lang="en-IN" dirty="0"/>
              <a:t> }</a:t>
            </a:r>
          </a:p>
          <a:p>
            <a:pPr marL="0" indent="0">
              <a:buNone/>
            </a:pPr>
            <a:r>
              <a:rPr lang="en-IN" dirty="0"/>
              <a:t>}</a:t>
            </a:r>
          </a:p>
          <a:p>
            <a:endParaRPr lang="en-IN" dirty="0"/>
          </a:p>
        </p:txBody>
      </p:sp>
    </p:spTree>
    <p:extLst>
      <p:ext uri="{BB962C8B-B14F-4D97-AF65-F5344CB8AC3E}">
        <p14:creationId xmlns:p14="http://schemas.microsoft.com/office/powerpoint/2010/main" val="3092600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sz="2000" b="1" dirty="0" smtClean="0"/>
              <a:t>Converting(Parsing) </a:t>
            </a:r>
            <a:r>
              <a:rPr lang="en-US" sz="2000" b="1" dirty="0"/>
              <a:t>String into primitive </a:t>
            </a:r>
            <a:r>
              <a:rPr lang="en-US" sz="2000" b="1" dirty="0" smtClean="0"/>
              <a:t>type – </a:t>
            </a:r>
          </a:p>
          <a:p>
            <a:r>
              <a:rPr lang="en-US" sz="2000" dirty="0"/>
              <a:t>Each of the wrapper classes except Character have a parse() method that is used to convert a valid value of primitive type in string format into corresponding primitive data type</a:t>
            </a:r>
            <a:r>
              <a:rPr lang="en-US" sz="2000" dirty="0" smtClean="0"/>
              <a:t>.</a:t>
            </a:r>
          </a:p>
          <a:p>
            <a:r>
              <a:rPr lang="en-US" sz="2000" dirty="0" smtClean="0"/>
              <a:t>It </a:t>
            </a:r>
            <a:r>
              <a:rPr lang="en-US" sz="2000" dirty="0"/>
              <a:t>is a static method i.e. can be accessed directly by class name without creating any object of the class(static keyword will be covered later in detail). It is defined as follows -</a:t>
            </a:r>
            <a:endParaRPr lang="en-US" sz="2000" dirty="0" smtClean="0"/>
          </a:p>
          <a:p>
            <a:endParaRPr lang="en-US" sz="2000" dirty="0"/>
          </a:p>
          <a:p>
            <a:endParaRPr lang="en-IN" sz="20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965" y="3124200"/>
            <a:ext cx="80772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2600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0000" lnSpcReduction="20000"/>
          </a:bodyPr>
          <a:lstStyle/>
          <a:p>
            <a:r>
              <a:rPr lang="en-IN" dirty="0"/>
              <a:t>Example -</a:t>
            </a:r>
          </a:p>
          <a:p>
            <a:endParaRPr lang="en-IN" dirty="0"/>
          </a:p>
          <a:p>
            <a:pPr marL="0" indent="0">
              <a:buNone/>
            </a:pPr>
            <a:r>
              <a:rPr lang="en-IN" dirty="0"/>
              <a:t>public class Demo</a:t>
            </a:r>
          </a:p>
          <a:p>
            <a:pPr marL="0" indent="0">
              <a:buNone/>
            </a:pPr>
            <a:r>
              <a:rPr lang="en-IN" dirty="0"/>
              <a:t>{</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String s1 = "12";</a:t>
            </a:r>
          </a:p>
          <a:p>
            <a:pPr marL="0" indent="0">
              <a:buNone/>
            </a:pPr>
            <a:r>
              <a:rPr lang="en-IN" dirty="0"/>
              <a:t>  String s2 = "12.12f";</a:t>
            </a:r>
          </a:p>
          <a:p>
            <a:pPr marL="0" indent="0">
              <a:buNone/>
            </a:pPr>
            <a:r>
              <a:rPr lang="en-IN" dirty="0"/>
              <a:t>  String s3 = </a:t>
            </a:r>
            <a:r>
              <a:rPr lang="en-IN" dirty="0" smtClean="0"/>
              <a:t>“true</a:t>
            </a:r>
            <a:r>
              <a:rPr lang="en-IN" dirty="0"/>
              <a:t>";</a:t>
            </a:r>
          </a:p>
          <a:p>
            <a:pPr marL="0" indent="0">
              <a:buNone/>
            </a:pPr>
            <a:r>
              <a:rPr lang="en-IN" dirty="0"/>
              <a:t>  </a:t>
            </a:r>
            <a:r>
              <a:rPr lang="en-IN" dirty="0" err="1"/>
              <a:t>int</a:t>
            </a:r>
            <a:r>
              <a:rPr lang="en-IN" dirty="0"/>
              <a:t> a = </a:t>
            </a:r>
            <a:r>
              <a:rPr lang="en-IN" dirty="0" err="1"/>
              <a:t>Integer.parseInt</a:t>
            </a:r>
            <a:r>
              <a:rPr lang="en-IN" dirty="0"/>
              <a:t>(s1); </a:t>
            </a:r>
            <a:r>
              <a:rPr lang="en-IN" dirty="0" smtClean="0"/>
              <a:t>  </a:t>
            </a:r>
            <a:endParaRPr lang="en-IN" dirty="0"/>
          </a:p>
          <a:p>
            <a:pPr marL="0" indent="0">
              <a:buNone/>
            </a:pPr>
            <a:r>
              <a:rPr lang="en-IN" dirty="0"/>
              <a:t>  float b = </a:t>
            </a:r>
            <a:r>
              <a:rPr lang="en-IN" dirty="0" err="1"/>
              <a:t>Float.parseFloat</a:t>
            </a:r>
            <a:r>
              <a:rPr lang="en-IN" dirty="0"/>
              <a:t>(s2);</a:t>
            </a:r>
          </a:p>
          <a:p>
            <a:pPr marL="0" indent="0">
              <a:buNone/>
            </a:pPr>
            <a:r>
              <a:rPr lang="en-IN" dirty="0"/>
              <a:t>  </a:t>
            </a:r>
            <a:r>
              <a:rPr lang="en-IN" dirty="0" err="1"/>
              <a:t>boolean</a:t>
            </a:r>
            <a:r>
              <a:rPr lang="en-IN" dirty="0"/>
              <a:t> c = </a:t>
            </a:r>
            <a:r>
              <a:rPr lang="en-IN" dirty="0" err="1"/>
              <a:t>Boolean.parseBoolean</a:t>
            </a:r>
            <a:r>
              <a:rPr lang="en-IN" dirty="0"/>
              <a:t>(s3);</a:t>
            </a:r>
          </a:p>
          <a:p>
            <a:pPr marL="0" indent="0">
              <a:buNone/>
            </a:pPr>
            <a:r>
              <a:rPr lang="en-IN" dirty="0"/>
              <a:t>  </a:t>
            </a:r>
            <a:r>
              <a:rPr lang="en-IN" dirty="0" err="1"/>
              <a:t>System.out.println</a:t>
            </a:r>
            <a:r>
              <a:rPr lang="en-IN" dirty="0"/>
              <a:t>("a = "+a+" b = "+b+" c = "+c);</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1028856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IN" dirty="0"/>
              <a:t>Receiving input from user -</a:t>
            </a:r>
            <a:br>
              <a:rPr lang="en-IN" dirty="0"/>
            </a:br>
            <a:endParaRPr lang="en-IN" dirty="0"/>
          </a:p>
        </p:txBody>
      </p:sp>
      <p:sp>
        <p:nvSpPr>
          <p:cNvPr id="3" name="Content Placeholder 2"/>
          <p:cNvSpPr>
            <a:spLocks noGrp="1"/>
          </p:cNvSpPr>
          <p:nvPr>
            <p:ph idx="1"/>
          </p:nvPr>
        </p:nvSpPr>
        <p:spPr>
          <a:xfrm>
            <a:off x="457200" y="1066800"/>
            <a:ext cx="8229600" cy="5486400"/>
          </a:xfrm>
        </p:spPr>
        <p:txBody>
          <a:bodyPr>
            <a:normAutofit fontScale="70000" lnSpcReduction="20000"/>
          </a:bodyPr>
          <a:lstStyle/>
          <a:p>
            <a:r>
              <a:rPr lang="en-US" b="1" dirty="0"/>
              <a:t>1- Using </a:t>
            </a:r>
            <a:r>
              <a:rPr lang="en-US" b="1" dirty="0" err="1"/>
              <a:t>readLine</a:t>
            </a:r>
            <a:r>
              <a:rPr lang="en-US" b="1" dirty="0"/>
              <a:t>() method of </a:t>
            </a:r>
            <a:r>
              <a:rPr lang="en-US" b="1" dirty="0" err="1"/>
              <a:t>java.io.Console</a:t>
            </a:r>
            <a:r>
              <a:rPr lang="en-US" b="1" dirty="0"/>
              <a:t> class -</a:t>
            </a:r>
          </a:p>
          <a:p>
            <a:r>
              <a:rPr lang="en-US" dirty="0"/>
              <a:t>It is one of the simplest method to take input from user keyboard added in </a:t>
            </a:r>
            <a:r>
              <a:rPr lang="en-US" b="1" dirty="0"/>
              <a:t>jdk1.6 using Console class</a:t>
            </a:r>
            <a:r>
              <a:rPr lang="en-US" dirty="0" smtClean="0"/>
              <a:t>.</a:t>
            </a:r>
          </a:p>
          <a:p>
            <a:r>
              <a:rPr lang="en-US" dirty="0" smtClean="0"/>
              <a:t>Console </a:t>
            </a:r>
            <a:r>
              <a:rPr lang="en-US" dirty="0"/>
              <a:t>class has a method named </a:t>
            </a:r>
            <a:r>
              <a:rPr lang="en-US" b="1" dirty="0" err="1"/>
              <a:t>readLine</a:t>
            </a:r>
            <a:r>
              <a:rPr lang="en-US" b="1" dirty="0"/>
              <a:t>()</a:t>
            </a:r>
            <a:r>
              <a:rPr lang="en-US" dirty="0"/>
              <a:t>, which read a complete line and return the value in </a:t>
            </a:r>
            <a:r>
              <a:rPr lang="en-US" b="1" dirty="0"/>
              <a:t>String</a:t>
            </a:r>
            <a:r>
              <a:rPr lang="en-US" dirty="0"/>
              <a:t> format</a:t>
            </a:r>
            <a:r>
              <a:rPr lang="en-US" dirty="0" smtClean="0"/>
              <a:t>.</a:t>
            </a:r>
          </a:p>
          <a:p>
            <a:r>
              <a:rPr lang="en-US" dirty="0" smtClean="0"/>
              <a:t>As </a:t>
            </a:r>
            <a:r>
              <a:rPr lang="en-US" dirty="0"/>
              <a:t>we already know, to access methods of a class we need to create object of the class. We can create object of Console class as follows </a:t>
            </a:r>
            <a:r>
              <a:rPr lang="en-US" dirty="0" smtClean="0"/>
              <a:t>–</a:t>
            </a:r>
          </a:p>
          <a:p>
            <a:r>
              <a:rPr lang="en-US" i="1" dirty="0" smtClean="0"/>
              <a:t>Console </a:t>
            </a:r>
            <a:r>
              <a:rPr lang="en-US" i="1" dirty="0"/>
              <a:t>c = </a:t>
            </a:r>
            <a:r>
              <a:rPr lang="en-US" i="1" dirty="0" err="1"/>
              <a:t>System.console</a:t>
            </a:r>
            <a:r>
              <a:rPr lang="en-US" i="1" dirty="0"/>
              <a:t>(); </a:t>
            </a:r>
            <a:endParaRPr lang="en-US" i="1" dirty="0" smtClean="0"/>
          </a:p>
          <a:p>
            <a:r>
              <a:rPr lang="en-US" dirty="0" smtClean="0"/>
              <a:t>After </a:t>
            </a:r>
            <a:r>
              <a:rPr lang="en-US" dirty="0"/>
              <a:t>creating object we can access its </a:t>
            </a:r>
            <a:r>
              <a:rPr lang="en-US" dirty="0" err="1"/>
              <a:t>readLine</a:t>
            </a:r>
            <a:r>
              <a:rPr lang="en-US" dirty="0"/>
              <a:t>() method by using . (period) sign as follows </a:t>
            </a:r>
            <a:r>
              <a:rPr lang="en-US" dirty="0" smtClean="0"/>
              <a:t>-</a:t>
            </a:r>
          </a:p>
          <a:p>
            <a:r>
              <a:rPr lang="en-US" i="1" dirty="0" smtClean="0"/>
              <a:t>String s </a:t>
            </a:r>
            <a:r>
              <a:rPr lang="en-US" i="1" dirty="0"/>
              <a:t>= </a:t>
            </a:r>
            <a:r>
              <a:rPr lang="en-US" i="1" dirty="0" err="1"/>
              <a:t>c.readLine</a:t>
            </a:r>
            <a:r>
              <a:rPr lang="en-US" i="1" dirty="0"/>
              <a:t>("Enter input"); </a:t>
            </a:r>
            <a:endParaRPr lang="en-US" i="1" dirty="0" smtClean="0"/>
          </a:p>
          <a:p>
            <a:r>
              <a:rPr lang="en-US" dirty="0" smtClean="0"/>
              <a:t>Or </a:t>
            </a:r>
            <a:r>
              <a:rPr lang="en-US" dirty="0"/>
              <a:t>we can combine these lines into one as follows </a:t>
            </a:r>
            <a:r>
              <a:rPr lang="en-US" dirty="0" smtClean="0"/>
              <a:t>–</a:t>
            </a:r>
          </a:p>
          <a:p>
            <a:r>
              <a:rPr lang="en-US" i="1" dirty="0" smtClean="0"/>
              <a:t>String </a:t>
            </a:r>
            <a:r>
              <a:rPr lang="en-US" i="1" dirty="0"/>
              <a:t>s = </a:t>
            </a:r>
            <a:r>
              <a:rPr lang="en-US" i="1" dirty="0" err="1"/>
              <a:t>System.console</a:t>
            </a:r>
            <a:r>
              <a:rPr lang="en-US" i="1" dirty="0"/>
              <a:t>().</a:t>
            </a:r>
            <a:r>
              <a:rPr lang="en-US" i="1" dirty="0" err="1"/>
              <a:t>readLine</a:t>
            </a:r>
            <a:r>
              <a:rPr lang="en-US" i="1" dirty="0"/>
              <a:t>("Enter input"); </a:t>
            </a:r>
            <a:endParaRPr lang="en-US" i="1" dirty="0" smtClean="0"/>
          </a:p>
          <a:p>
            <a:r>
              <a:rPr lang="en-US" b="1" dirty="0" smtClean="0"/>
              <a:t>This class is </a:t>
            </a:r>
            <a:r>
              <a:rPr lang="en-US" b="1" dirty="0"/>
              <a:t>not available in IDEs like Eclipse but works well in terminal-based environments.</a:t>
            </a:r>
            <a:endParaRPr lang="en-US" b="1" i="1" dirty="0" smtClean="0"/>
          </a:p>
        </p:txBody>
      </p:sp>
    </p:spTree>
    <p:extLst>
      <p:ext uri="{BB962C8B-B14F-4D97-AF65-F5344CB8AC3E}">
        <p14:creationId xmlns:p14="http://schemas.microsoft.com/office/powerpoint/2010/main" val="3595275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867400"/>
          </a:xfrm>
        </p:spPr>
        <p:txBody>
          <a:bodyPr>
            <a:normAutofit fontScale="55000" lnSpcReduction="20000"/>
          </a:bodyPr>
          <a:lstStyle/>
          <a:p>
            <a:r>
              <a:rPr lang="en-IN" dirty="0"/>
              <a:t>Example -</a:t>
            </a:r>
          </a:p>
          <a:p>
            <a:r>
              <a:rPr lang="en-IN" dirty="0"/>
              <a:t>Program for the addition of two numbers input by the user -</a:t>
            </a:r>
          </a:p>
          <a:p>
            <a:endParaRPr lang="en-IN" dirty="0"/>
          </a:p>
          <a:p>
            <a:pPr marL="0" indent="0">
              <a:buNone/>
            </a:pPr>
            <a:r>
              <a:rPr lang="en-IN" dirty="0"/>
              <a:t>public class Demo1</a:t>
            </a:r>
          </a:p>
          <a:p>
            <a:pPr marL="0" indent="0">
              <a:buNone/>
            </a:pPr>
            <a:r>
              <a:rPr lang="en-IN" dirty="0"/>
              <a:t>{</a:t>
            </a:r>
          </a:p>
          <a:p>
            <a:pPr marL="0" indent="0">
              <a:buNone/>
            </a:pPr>
            <a:r>
              <a:rPr lang="en-IN" dirty="0"/>
              <a:t> public static void main(String </a:t>
            </a:r>
            <a:r>
              <a:rPr lang="en-IN" dirty="0" err="1"/>
              <a:t>args</a:t>
            </a:r>
            <a:r>
              <a:rPr lang="en-IN" dirty="0"/>
              <a:t>[]) </a:t>
            </a:r>
          </a:p>
          <a:p>
            <a:pPr marL="0" indent="0">
              <a:buNone/>
            </a:pPr>
            <a:r>
              <a:rPr lang="en-IN" dirty="0"/>
              <a:t> {</a:t>
            </a:r>
          </a:p>
          <a:p>
            <a:pPr marL="0" indent="0">
              <a:buNone/>
            </a:pPr>
            <a:r>
              <a:rPr lang="en-IN" dirty="0"/>
              <a:t>  </a:t>
            </a:r>
            <a:r>
              <a:rPr lang="en-IN" dirty="0" err="1"/>
              <a:t>int</a:t>
            </a:r>
            <a:r>
              <a:rPr lang="en-IN" dirty="0"/>
              <a:t> </a:t>
            </a:r>
            <a:r>
              <a:rPr lang="en-IN" dirty="0" err="1"/>
              <a:t>a,b,c</a:t>
            </a:r>
            <a:r>
              <a:rPr lang="en-IN" dirty="0"/>
              <a:t>;</a:t>
            </a:r>
          </a:p>
          <a:p>
            <a:pPr marL="0" indent="0">
              <a:buNone/>
            </a:pPr>
            <a:r>
              <a:rPr lang="en-IN" dirty="0"/>
              <a:t>          </a:t>
            </a:r>
          </a:p>
          <a:p>
            <a:pPr marL="0" indent="0">
              <a:buNone/>
            </a:pPr>
            <a:r>
              <a:rPr lang="en-IN" dirty="0"/>
              <a:t>  String s1 = </a:t>
            </a:r>
            <a:r>
              <a:rPr lang="en-IN" dirty="0" err="1"/>
              <a:t>System.console</a:t>
            </a:r>
            <a:r>
              <a:rPr lang="en-IN" dirty="0"/>
              <a:t>().</a:t>
            </a:r>
            <a:r>
              <a:rPr lang="en-IN" dirty="0" err="1"/>
              <a:t>readLine</a:t>
            </a:r>
            <a:r>
              <a:rPr lang="en-IN" dirty="0"/>
              <a:t>("Enter first number");</a:t>
            </a:r>
          </a:p>
          <a:p>
            <a:pPr marL="0" indent="0">
              <a:buNone/>
            </a:pPr>
            <a:r>
              <a:rPr lang="en-IN" dirty="0"/>
              <a:t>  a = </a:t>
            </a:r>
            <a:r>
              <a:rPr lang="en-IN" dirty="0" err="1"/>
              <a:t>Integer.parseInt</a:t>
            </a:r>
            <a:r>
              <a:rPr lang="en-IN" dirty="0"/>
              <a:t>(s1);</a:t>
            </a:r>
          </a:p>
          <a:p>
            <a:pPr marL="0" indent="0">
              <a:buNone/>
            </a:pPr>
            <a:r>
              <a:rPr lang="en-IN" dirty="0"/>
              <a:t>   </a:t>
            </a:r>
          </a:p>
          <a:p>
            <a:pPr marL="0" indent="0">
              <a:buNone/>
            </a:pPr>
            <a:r>
              <a:rPr lang="en-IN" dirty="0"/>
              <a:t>  /* We can combine above two line into one as follows - </a:t>
            </a:r>
          </a:p>
          <a:p>
            <a:pPr marL="0" indent="0">
              <a:buNone/>
            </a:pPr>
            <a:r>
              <a:rPr lang="en-IN" dirty="0"/>
              <a:t>     a = </a:t>
            </a:r>
            <a:r>
              <a:rPr lang="en-IN" dirty="0" err="1"/>
              <a:t>Integer.parseInt</a:t>
            </a:r>
            <a:r>
              <a:rPr lang="en-IN" dirty="0"/>
              <a:t>(</a:t>
            </a:r>
            <a:r>
              <a:rPr lang="en-IN" dirty="0" err="1"/>
              <a:t>System.console</a:t>
            </a:r>
            <a:r>
              <a:rPr lang="en-IN" dirty="0"/>
              <a:t>().</a:t>
            </a:r>
            <a:r>
              <a:rPr lang="en-IN" dirty="0" err="1"/>
              <a:t>readLine</a:t>
            </a:r>
            <a:r>
              <a:rPr lang="en-IN" dirty="0"/>
              <a:t>("</a:t>
            </a:r>
            <a:r>
              <a:rPr lang="en-IN" dirty="0" err="1"/>
              <a:t>Eneter</a:t>
            </a:r>
            <a:r>
              <a:rPr lang="en-IN" dirty="0"/>
              <a:t> first number"));</a:t>
            </a:r>
          </a:p>
          <a:p>
            <a:pPr marL="0" indent="0">
              <a:buNone/>
            </a:pPr>
            <a:r>
              <a:rPr lang="en-IN" dirty="0"/>
              <a:t>  */</a:t>
            </a:r>
          </a:p>
          <a:p>
            <a:pPr marL="0" indent="0">
              <a:buNone/>
            </a:pPr>
            <a:r>
              <a:rPr lang="en-IN" dirty="0"/>
              <a:t>  b = </a:t>
            </a:r>
            <a:r>
              <a:rPr lang="en-IN" dirty="0" err="1"/>
              <a:t>Integer.parseInt</a:t>
            </a:r>
            <a:r>
              <a:rPr lang="en-IN" dirty="0"/>
              <a:t>(</a:t>
            </a:r>
            <a:r>
              <a:rPr lang="en-IN" dirty="0" err="1"/>
              <a:t>System.console</a:t>
            </a:r>
            <a:r>
              <a:rPr lang="en-IN" dirty="0"/>
              <a:t>().</a:t>
            </a:r>
            <a:r>
              <a:rPr lang="en-IN" dirty="0" err="1"/>
              <a:t>readLine</a:t>
            </a:r>
            <a:r>
              <a:rPr lang="en-IN" dirty="0"/>
              <a:t>("</a:t>
            </a:r>
            <a:r>
              <a:rPr lang="en-IN" dirty="0" err="1"/>
              <a:t>Eneter</a:t>
            </a:r>
            <a:r>
              <a:rPr lang="en-IN" dirty="0"/>
              <a:t> second number"));</a:t>
            </a:r>
          </a:p>
          <a:p>
            <a:pPr marL="0" indent="0">
              <a:buNone/>
            </a:pPr>
            <a:r>
              <a:rPr lang="en-IN" dirty="0"/>
              <a:t>  c = </a:t>
            </a:r>
            <a:r>
              <a:rPr lang="en-IN" dirty="0" err="1"/>
              <a:t>a+b</a:t>
            </a:r>
            <a:r>
              <a:rPr lang="en-IN" dirty="0"/>
              <a:t>;</a:t>
            </a:r>
          </a:p>
          <a:p>
            <a:pPr marL="0" indent="0">
              <a:buNone/>
            </a:pPr>
            <a:r>
              <a:rPr lang="en-IN" dirty="0"/>
              <a:t>  </a:t>
            </a:r>
            <a:r>
              <a:rPr lang="en-IN" dirty="0" err="1"/>
              <a:t>System.out.println</a:t>
            </a:r>
            <a:r>
              <a:rPr lang="en-IN" dirty="0"/>
              <a:t>("Sum = "+c);</a:t>
            </a:r>
          </a:p>
          <a:p>
            <a:pPr marL="0" indent="0">
              <a:buNone/>
            </a:pPr>
            <a:r>
              <a:rPr lang="en-IN" dirty="0"/>
              <a:t>  }</a:t>
            </a:r>
          </a:p>
          <a:p>
            <a:pPr marL="0" indent="0">
              <a:buNone/>
            </a:pPr>
            <a:r>
              <a:rPr lang="en-IN" dirty="0"/>
              <a:t> }</a:t>
            </a:r>
          </a:p>
          <a:p>
            <a:pPr marL="0" indent="0">
              <a:buNone/>
            </a:pPr>
            <a:r>
              <a:rPr lang="en-IN" dirty="0"/>
              <a:t> </a:t>
            </a:r>
          </a:p>
        </p:txBody>
      </p:sp>
    </p:spTree>
    <p:extLst>
      <p:ext uri="{BB962C8B-B14F-4D97-AF65-F5344CB8AC3E}">
        <p14:creationId xmlns:p14="http://schemas.microsoft.com/office/powerpoint/2010/main" val="1028856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7500" lnSpcReduction="20000"/>
          </a:bodyPr>
          <a:lstStyle/>
          <a:p>
            <a:r>
              <a:rPr lang="en-IN" b="1" dirty="0"/>
              <a:t>2.Using </a:t>
            </a:r>
            <a:r>
              <a:rPr lang="en-IN" b="1" dirty="0" err="1"/>
              <a:t>java.util.Scanner</a:t>
            </a:r>
            <a:r>
              <a:rPr lang="en-IN" b="1" dirty="0"/>
              <a:t> class </a:t>
            </a:r>
            <a:r>
              <a:rPr lang="en-IN" b="1" dirty="0" smtClean="0"/>
              <a:t>-</a:t>
            </a:r>
            <a:endParaRPr lang="en-US" b="1" dirty="0" smtClean="0"/>
          </a:p>
          <a:p>
            <a:r>
              <a:rPr lang="en-US" dirty="0" smtClean="0"/>
              <a:t>The </a:t>
            </a:r>
            <a:r>
              <a:rPr lang="en-US" b="1" dirty="0"/>
              <a:t>Scanner</a:t>
            </a:r>
            <a:r>
              <a:rPr lang="en-US" dirty="0"/>
              <a:t> class in Java is part of the </a:t>
            </a:r>
            <a:r>
              <a:rPr lang="en-US" dirty="0" err="1"/>
              <a:t>java.util</a:t>
            </a:r>
            <a:r>
              <a:rPr lang="en-US" dirty="0"/>
              <a:t> package and is widely used to read user input from various input sources, including the keyboard, files, and strings. It simplifies the process of receiving input and parsing it into various data types such as </a:t>
            </a:r>
            <a:r>
              <a:rPr lang="en-US" dirty="0" err="1"/>
              <a:t>int</a:t>
            </a:r>
            <a:r>
              <a:rPr lang="en-US" dirty="0"/>
              <a:t>, double, String, etc</a:t>
            </a:r>
            <a:r>
              <a:rPr lang="en-US" dirty="0" smtClean="0"/>
              <a:t>.</a:t>
            </a:r>
          </a:p>
          <a:p>
            <a:r>
              <a:rPr lang="en-US" b="1" dirty="0"/>
              <a:t>How to Use the Scanner Class</a:t>
            </a:r>
          </a:p>
          <a:p>
            <a:r>
              <a:rPr lang="en-US" b="1" dirty="0"/>
              <a:t>1. Import the Scanner Class</a:t>
            </a:r>
          </a:p>
          <a:p>
            <a:r>
              <a:rPr lang="en-US" dirty="0"/>
              <a:t>To use the Scanner class, import it:</a:t>
            </a:r>
          </a:p>
          <a:p>
            <a:r>
              <a:rPr lang="en-IN" dirty="0"/>
              <a:t>import </a:t>
            </a:r>
            <a:r>
              <a:rPr lang="en-IN" dirty="0" err="1"/>
              <a:t>java.util.Scanner</a:t>
            </a:r>
            <a:r>
              <a:rPr lang="en-IN" dirty="0"/>
              <a:t>;</a:t>
            </a:r>
          </a:p>
          <a:p>
            <a:r>
              <a:rPr lang="en-US" b="1" dirty="0"/>
              <a:t>2. Create a Scanner Object</a:t>
            </a:r>
          </a:p>
          <a:p>
            <a:r>
              <a:rPr lang="en-US" dirty="0"/>
              <a:t>Create a Scanner object, typically for System.in to read from the keyboard:</a:t>
            </a:r>
          </a:p>
          <a:p>
            <a:r>
              <a:rPr lang="en-IN" dirty="0"/>
              <a:t>Scanner </a:t>
            </a:r>
            <a:r>
              <a:rPr lang="en-IN" dirty="0" err="1"/>
              <a:t>scanner</a:t>
            </a:r>
            <a:r>
              <a:rPr lang="en-IN" dirty="0"/>
              <a:t> = new Scanner(System.in);</a:t>
            </a:r>
          </a:p>
          <a:p>
            <a:endParaRPr lang="en-IN" dirty="0"/>
          </a:p>
        </p:txBody>
      </p:sp>
    </p:spTree>
    <p:extLst>
      <p:ext uri="{BB962C8B-B14F-4D97-AF65-F5344CB8AC3E}">
        <p14:creationId xmlns:p14="http://schemas.microsoft.com/office/powerpoint/2010/main" val="1028856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sz="2400" b="1" dirty="0"/>
              <a:t>3. Use Methods to Read Input</a:t>
            </a:r>
          </a:p>
          <a:p>
            <a:r>
              <a:rPr lang="en-US" sz="2400" dirty="0"/>
              <a:t>The Scanner class provides various methods for reading input based on data type.</a:t>
            </a:r>
          </a:p>
          <a:p>
            <a:endParaRPr lang="en-IN" sz="24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057400"/>
            <a:ext cx="79248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8856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47500" lnSpcReduction="20000"/>
          </a:bodyPr>
          <a:lstStyle/>
          <a:p>
            <a:r>
              <a:rPr lang="en-IN" dirty="0" smtClean="0"/>
              <a:t>Example – </a:t>
            </a:r>
          </a:p>
          <a:p>
            <a:pPr marL="0" indent="0">
              <a:buNone/>
            </a:pPr>
            <a:r>
              <a:rPr lang="en-IN" dirty="0"/>
              <a:t>import </a:t>
            </a:r>
            <a:r>
              <a:rPr lang="en-IN" dirty="0" err="1"/>
              <a:t>java.util.Scanner</a:t>
            </a:r>
            <a:r>
              <a:rPr lang="en-IN" dirty="0"/>
              <a:t>;</a:t>
            </a:r>
          </a:p>
          <a:p>
            <a:pPr marL="0" indent="0">
              <a:buNone/>
            </a:pPr>
            <a:endParaRPr lang="en-IN" dirty="0"/>
          </a:p>
          <a:p>
            <a:pPr marL="0" indent="0">
              <a:buNone/>
            </a:pPr>
            <a:r>
              <a:rPr lang="en-IN" dirty="0"/>
              <a:t>public class </a:t>
            </a:r>
            <a:r>
              <a:rPr lang="en-IN" dirty="0" err="1"/>
              <a:t>ScannerExample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Scanner </a:t>
            </a:r>
            <a:r>
              <a:rPr lang="en-IN" dirty="0" err="1"/>
              <a:t>scanner</a:t>
            </a:r>
            <a:r>
              <a:rPr lang="en-IN" dirty="0"/>
              <a:t> = new Scanner(System.in);</a:t>
            </a:r>
          </a:p>
          <a:p>
            <a:pPr marL="0" indent="0">
              <a:buNone/>
            </a:pPr>
            <a:endParaRPr lang="en-IN" dirty="0"/>
          </a:p>
          <a:p>
            <a:pPr marL="0" indent="0">
              <a:buNone/>
            </a:pPr>
            <a:r>
              <a:rPr lang="en-IN" dirty="0"/>
              <a:t>        // Reading a string</a:t>
            </a:r>
          </a:p>
          <a:p>
            <a:pPr marL="0" indent="0">
              <a:buNone/>
            </a:pPr>
            <a:r>
              <a:rPr lang="en-IN" dirty="0"/>
              <a:t>        </a:t>
            </a:r>
            <a:r>
              <a:rPr lang="en-IN" dirty="0" err="1"/>
              <a:t>System.out.print</a:t>
            </a:r>
            <a:r>
              <a:rPr lang="en-IN" dirty="0"/>
              <a:t>("Enter your name: ");</a:t>
            </a:r>
          </a:p>
          <a:p>
            <a:pPr marL="0" indent="0">
              <a:buNone/>
            </a:pPr>
            <a:r>
              <a:rPr lang="en-IN" dirty="0"/>
              <a:t>        String name = </a:t>
            </a:r>
            <a:r>
              <a:rPr lang="en-IN" dirty="0" err="1"/>
              <a:t>scanner.nextLine</a:t>
            </a:r>
            <a:r>
              <a:rPr lang="en-IN" dirty="0"/>
              <a:t>();</a:t>
            </a:r>
          </a:p>
          <a:p>
            <a:pPr marL="0" indent="0">
              <a:buNone/>
            </a:pPr>
            <a:endParaRPr lang="en-IN" dirty="0"/>
          </a:p>
          <a:p>
            <a:pPr marL="0" indent="0">
              <a:buNone/>
            </a:pPr>
            <a:r>
              <a:rPr lang="en-IN" dirty="0"/>
              <a:t>        // Reading an integer</a:t>
            </a:r>
          </a:p>
          <a:p>
            <a:pPr marL="0" indent="0">
              <a:buNone/>
            </a:pPr>
            <a:r>
              <a:rPr lang="en-IN" dirty="0"/>
              <a:t>        </a:t>
            </a:r>
            <a:r>
              <a:rPr lang="en-IN" dirty="0" err="1"/>
              <a:t>System.out.print</a:t>
            </a:r>
            <a:r>
              <a:rPr lang="en-IN" dirty="0"/>
              <a:t>("Enter your age: ");</a:t>
            </a:r>
          </a:p>
          <a:p>
            <a:pPr marL="0" indent="0">
              <a:buNone/>
            </a:pPr>
            <a:r>
              <a:rPr lang="en-IN" dirty="0"/>
              <a:t>        </a:t>
            </a:r>
            <a:r>
              <a:rPr lang="en-IN" dirty="0" err="1"/>
              <a:t>int</a:t>
            </a:r>
            <a:r>
              <a:rPr lang="en-IN" dirty="0"/>
              <a:t> age = </a:t>
            </a:r>
            <a:r>
              <a:rPr lang="en-IN" dirty="0" err="1"/>
              <a:t>scanner.nextInt</a:t>
            </a:r>
            <a:r>
              <a:rPr lang="en-IN" dirty="0"/>
              <a:t>();</a:t>
            </a:r>
          </a:p>
          <a:p>
            <a:pPr marL="0" indent="0">
              <a:buNone/>
            </a:pPr>
            <a:endParaRPr lang="en-IN" dirty="0"/>
          </a:p>
          <a:p>
            <a:pPr marL="0" indent="0">
              <a:buNone/>
            </a:pPr>
            <a:r>
              <a:rPr lang="en-IN" dirty="0"/>
              <a:t>        // Reading a double</a:t>
            </a:r>
          </a:p>
          <a:p>
            <a:pPr marL="0" indent="0">
              <a:buNone/>
            </a:pPr>
            <a:r>
              <a:rPr lang="en-IN" dirty="0"/>
              <a:t>        </a:t>
            </a:r>
            <a:r>
              <a:rPr lang="en-IN" dirty="0" err="1"/>
              <a:t>System.out.print</a:t>
            </a:r>
            <a:r>
              <a:rPr lang="en-IN" dirty="0"/>
              <a:t>("Enter your salary: ");</a:t>
            </a:r>
          </a:p>
          <a:p>
            <a:pPr marL="0" indent="0">
              <a:buNone/>
            </a:pPr>
            <a:r>
              <a:rPr lang="en-IN" dirty="0"/>
              <a:t>        double salary = </a:t>
            </a:r>
            <a:r>
              <a:rPr lang="en-IN" dirty="0" err="1"/>
              <a:t>scanner.nextDouble</a:t>
            </a:r>
            <a:r>
              <a:rPr lang="en-IN" dirty="0"/>
              <a:t>();</a:t>
            </a:r>
          </a:p>
          <a:p>
            <a:pPr marL="0" indent="0">
              <a:buNone/>
            </a:pPr>
            <a:endParaRPr lang="en-IN" dirty="0"/>
          </a:p>
          <a:p>
            <a:pPr marL="0" indent="0">
              <a:buNone/>
            </a:pPr>
            <a:r>
              <a:rPr lang="en-IN" dirty="0"/>
              <a:t>        </a:t>
            </a:r>
            <a:r>
              <a:rPr lang="en-IN" dirty="0" err="1"/>
              <a:t>System.out.println</a:t>
            </a:r>
            <a:r>
              <a:rPr lang="en-IN" dirty="0"/>
              <a:t>("Hello " + name + "! You are " + age + " years old and earn $" + salary + ".");</a:t>
            </a:r>
          </a:p>
          <a:p>
            <a:pPr marL="0" indent="0">
              <a:buNone/>
            </a:pPr>
            <a:r>
              <a:rPr lang="en-IN" dirty="0"/>
              <a:t>        </a:t>
            </a:r>
            <a:r>
              <a:rPr lang="en-IN" dirty="0" err="1"/>
              <a:t>scanner.close</a:t>
            </a:r>
            <a:r>
              <a:rPr lang="en-IN" dirty="0"/>
              <a:t>();</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028856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a:bodyPr>
          <a:lstStyle/>
          <a:p>
            <a:r>
              <a:rPr lang="en-US" b="1" dirty="0"/>
              <a:t>Avoid Mixing </a:t>
            </a:r>
            <a:r>
              <a:rPr lang="en-US" b="1" dirty="0" err="1"/>
              <a:t>nextLine</a:t>
            </a:r>
            <a:r>
              <a:rPr lang="en-US" b="1" dirty="0"/>
              <a:t>() with Other Methods</a:t>
            </a:r>
          </a:p>
          <a:p>
            <a:r>
              <a:rPr lang="en-US" dirty="0"/>
              <a:t>When using the Scanner class, mixing </a:t>
            </a:r>
            <a:r>
              <a:rPr lang="en-US" dirty="0" err="1"/>
              <a:t>nextLine</a:t>
            </a:r>
            <a:r>
              <a:rPr lang="en-US" dirty="0"/>
              <a:t>() with other input methods (like </a:t>
            </a:r>
            <a:r>
              <a:rPr lang="en-US" dirty="0" err="1"/>
              <a:t>nextInt</a:t>
            </a:r>
            <a:r>
              <a:rPr lang="en-US" dirty="0"/>
              <a:t>(), next(), etc.) can cause unexpected behavior.</a:t>
            </a:r>
          </a:p>
          <a:p>
            <a:r>
              <a:rPr lang="en-US" dirty="0"/>
              <a:t>Methods like </a:t>
            </a:r>
            <a:r>
              <a:rPr lang="en-US" dirty="0" err="1"/>
              <a:t>nextInt</a:t>
            </a:r>
            <a:r>
              <a:rPr lang="en-US" dirty="0"/>
              <a:t>(), </a:t>
            </a:r>
            <a:r>
              <a:rPr lang="en-US" dirty="0" err="1"/>
              <a:t>nextDouble</a:t>
            </a:r>
            <a:r>
              <a:rPr lang="en-US" dirty="0"/>
              <a:t>(), next() read only the specific token or value from the input, leaving the newline character (\n) in the input buffer</a:t>
            </a:r>
            <a:r>
              <a:rPr lang="en-US" dirty="0" smtClean="0"/>
              <a:t>.</a:t>
            </a:r>
          </a:p>
          <a:p>
            <a:r>
              <a:rPr lang="en-US" dirty="0" smtClean="0"/>
              <a:t>When </a:t>
            </a:r>
            <a:r>
              <a:rPr lang="en-US" dirty="0" err="1"/>
              <a:t>nextLine</a:t>
            </a:r>
            <a:r>
              <a:rPr lang="en-US" dirty="0"/>
              <a:t>() is called afterward, it immediately consumes the leftover newline character instead of waiting for new input.</a:t>
            </a:r>
            <a:endParaRPr lang="en-IN" dirty="0"/>
          </a:p>
        </p:txBody>
      </p:sp>
    </p:spTree>
    <p:extLst>
      <p:ext uri="{BB962C8B-B14F-4D97-AF65-F5344CB8AC3E}">
        <p14:creationId xmlns:p14="http://schemas.microsoft.com/office/powerpoint/2010/main" val="1028856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55000" lnSpcReduction="20000"/>
          </a:bodyPr>
          <a:lstStyle/>
          <a:p>
            <a:r>
              <a:rPr lang="en-IN" dirty="0"/>
              <a:t>Example of the </a:t>
            </a:r>
            <a:r>
              <a:rPr lang="en-IN" dirty="0" smtClean="0"/>
              <a:t>Problem – </a:t>
            </a:r>
          </a:p>
          <a:p>
            <a:pPr marL="0" indent="0">
              <a:buNone/>
            </a:pPr>
            <a:r>
              <a:rPr lang="en-IN" dirty="0"/>
              <a:t>import </a:t>
            </a:r>
            <a:r>
              <a:rPr lang="en-IN" dirty="0" err="1"/>
              <a:t>java.util.Scanner</a:t>
            </a:r>
            <a:r>
              <a:rPr lang="en-IN" dirty="0"/>
              <a:t>;</a:t>
            </a:r>
          </a:p>
          <a:p>
            <a:pPr marL="0" indent="0">
              <a:buNone/>
            </a:pPr>
            <a:endParaRPr lang="en-IN" dirty="0"/>
          </a:p>
          <a:p>
            <a:pPr marL="0" indent="0">
              <a:buNone/>
            </a:pPr>
            <a:r>
              <a:rPr lang="en-IN" dirty="0"/>
              <a:t>public class </a:t>
            </a:r>
            <a:r>
              <a:rPr lang="en-IN" dirty="0" err="1"/>
              <a:t>MixingInputExample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Scanner </a:t>
            </a:r>
            <a:r>
              <a:rPr lang="en-IN" dirty="0" err="1"/>
              <a:t>scanner</a:t>
            </a:r>
            <a:r>
              <a:rPr lang="en-IN" dirty="0"/>
              <a:t> = new Scanner(System.in);</a:t>
            </a:r>
          </a:p>
          <a:p>
            <a:pPr marL="0" indent="0">
              <a:buNone/>
            </a:pPr>
            <a:endParaRPr lang="en-IN" dirty="0"/>
          </a:p>
          <a:p>
            <a:pPr marL="0" indent="0">
              <a:buNone/>
            </a:pPr>
            <a:r>
              <a:rPr lang="en-IN" dirty="0"/>
              <a:t>        </a:t>
            </a:r>
            <a:r>
              <a:rPr lang="en-IN" dirty="0" err="1"/>
              <a:t>System.out.print</a:t>
            </a:r>
            <a:r>
              <a:rPr lang="en-IN" dirty="0"/>
              <a:t>("Enter your age: ");</a:t>
            </a:r>
          </a:p>
          <a:p>
            <a:pPr marL="0" indent="0">
              <a:buNone/>
            </a:pPr>
            <a:r>
              <a:rPr lang="en-IN" dirty="0"/>
              <a:t>        </a:t>
            </a:r>
            <a:r>
              <a:rPr lang="en-IN" dirty="0" err="1"/>
              <a:t>int</a:t>
            </a:r>
            <a:r>
              <a:rPr lang="en-IN" dirty="0"/>
              <a:t> age = </a:t>
            </a:r>
            <a:r>
              <a:rPr lang="en-IN" dirty="0" err="1"/>
              <a:t>scanner.nextInt</a:t>
            </a:r>
            <a:r>
              <a:rPr lang="en-IN" dirty="0"/>
              <a:t>(); // Reads the integer but leaves the newline character</a:t>
            </a:r>
          </a:p>
          <a:p>
            <a:pPr marL="0" indent="0">
              <a:buNone/>
            </a:pPr>
            <a:endParaRPr lang="en-IN" dirty="0"/>
          </a:p>
          <a:p>
            <a:pPr marL="0" indent="0">
              <a:buNone/>
            </a:pPr>
            <a:r>
              <a:rPr lang="en-IN" dirty="0"/>
              <a:t>        </a:t>
            </a:r>
            <a:r>
              <a:rPr lang="en-IN" dirty="0" err="1"/>
              <a:t>System.out.print</a:t>
            </a:r>
            <a:r>
              <a:rPr lang="en-IN" dirty="0"/>
              <a:t>("Enter your name: ");</a:t>
            </a:r>
          </a:p>
          <a:p>
            <a:pPr marL="0" indent="0">
              <a:buNone/>
            </a:pPr>
            <a:r>
              <a:rPr lang="en-IN" dirty="0"/>
              <a:t>        String name = </a:t>
            </a:r>
            <a:r>
              <a:rPr lang="en-IN" dirty="0" err="1"/>
              <a:t>scanner.nextLine</a:t>
            </a:r>
            <a:r>
              <a:rPr lang="en-IN" dirty="0"/>
              <a:t>(); // Reads the leftover newline, causing an empty string</a:t>
            </a:r>
          </a:p>
          <a:p>
            <a:pPr marL="0" indent="0">
              <a:buNone/>
            </a:pPr>
            <a:endParaRPr lang="en-IN" dirty="0"/>
          </a:p>
          <a:p>
            <a:pPr marL="0" indent="0">
              <a:buNone/>
            </a:pPr>
            <a:r>
              <a:rPr lang="en-IN" dirty="0"/>
              <a:t>        </a:t>
            </a:r>
            <a:r>
              <a:rPr lang="en-IN" dirty="0" err="1"/>
              <a:t>System.out.println</a:t>
            </a:r>
            <a:r>
              <a:rPr lang="en-IN" dirty="0"/>
              <a:t>("Age: " + age);</a:t>
            </a:r>
          </a:p>
          <a:p>
            <a:pPr marL="0" indent="0">
              <a:buNone/>
            </a:pPr>
            <a:r>
              <a:rPr lang="en-IN" dirty="0"/>
              <a:t>        </a:t>
            </a:r>
            <a:r>
              <a:rPr lang="en-IN" dirty="0" err="1"/>
              <a:t>System.out.println</a:t>
            </a:r>
            <a:r>
              <a:rPr lang="en-IN" dirty="0"/>
              <a:t>("Name: " + name); // Name will be empty</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028856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47500" lnSpcReduction="20000"/>
          </a:bodyPr>
          <a:lstStyle/>
          <a:p>
            <a:r>
              <a:rPr lang="en-US" dirty="0"/>
              <a:t>To fix this issue, add an extra </a:t>
            </a:r>
            <a:r>
              <a:rPr lang="en-US" dirty="0" err="1"/>
              <a:t>nextLine</a:t>
            </a:r>
            <a:r>
              <a:rPr lang="en-US" dirty="0"/>
              <a:t>() call after methods like </a:t>
            </a:r>
            <a:r>
              <a:rPr lang="en-US" dirty="0" err="1"/>
              <a:t>nextInt</a:t>
            </a:r>
            <a:r>
              <a:rPr lang="en-US" dirty="0"/>
              <a:t>() or next() to consume the leftover newline character before reading the actual input</a:t>
            </a:r>
            <a:r>
              <a:rPr lang="en-US" dirty="0" smtClean="0"/>
              <a:t>.</a:t>
            </a:r>
          </a:p>
          <a:p>
            <a:endParaRPr lang="en-US" dirty="0" smtClean="0"/>
          </a:p>
          <a:p>
            <a:pPr marL="0" indent="0">
              <a:buNone/>
            </a:pPr>
            <a:r>
              <a:rPr lang="en-IN" dirty="0"/>
              <a:t>import </a:t>
            </a:r>
            <a:r>
              <a:rPr lang="en-IN" dirty="0" err="1"/>
              <a:t>java.util.Scanner</a:t>
            </a:r>
            <a:r>
              <a:rPr lang="en-IN" dirty="0"/>
              <a:t>;</a:t>
            </a:r>
          </a:p>
          <a:p>
            <a:pPr marL="0" indent="0">
              <a:buNone/>
            </a:pPr>
            <a:endParaRPr lang="en-IN" dirty="0"/>
          </a:p>
          <a:p>
            <a:pPr marL="0" indent="0">
              <a:buNone/>
            </a:pPr>
            <a:r>
              <a:rPr lang="en-IN" dirty="0"/>
              <a:t>public class </a:t>
            </a:r>
            <a:r>
              <a:rPr lang="en-IN" dirty="0" err="1"/>
              <a:t>MixingInputFixed</a:t>
            </a:r>
            <a:r>
              <a:rPr lang="en-IN" dirty="0"/>
              <a:t> {</a:t>
            </a:r>
          </a:p>
          <a:p>
            <a:pPr marL="0" indent="0">
              <a:buNone/>
            </a:pPr>
            <a:r>
              <a:rPr lang="en-IN" dirty="0"/>
              <a:t>    public static void main(String[] </a:t>
            </a:r>
            <a:r>
              <a:rPr lang="en-IN" dirty="0" err="1"/>
              <a:t>args</a:t>
            </a:r>
            <a:r>
              <a:rPr lang="en-IN" dirty="0"/>
              <a:t>) {</a:t>
            </a:r>
          </a:p>
          <a:p>
            <a:pPr marL="0" indent="0">
              <a:buNone/>
            </a:pPr>
            <a:r>
              <a:rPr lang="en-IN" dirty="0"/>
              <a:t>        Scanner </a:t>
            </a:r>
            <a:r>
              <a:rPr lang="en-IN" dirty="0" err="1"/>
              <a:t>scanner</a:t>
            </a:r>
            <a:r>
              <a:rPr lang="en-IN" dirty="0"/>
              <a:t> = new Scanner(System.in);</a:t>
            </a:r>
          </a:p>
          <a:p>
            <a:pPr marL="0" indent="0">
              <a:buNone/>
            </a:pPr>
            <a:endParaRPr lang="en-IN" dirty="0"/>
          </a:p>
          <a:p>
            <a:pPr marL="0" indent="0">
              <a:buNone/>
            </a:pPr>
            <a:r>
              <a:rPr lang="en-IN" dirty="0"/>
              <a:t>        </a:t>
            </a:r>
            <a:r>
              <a:rPr lang="en-IN" dirty="0" err="1"/>
              <a:t>System.out.print</a:t>
            </a:r>
            <a:r>
              <a:rPr lang="en-IN" dirty="0"/>
              <a:t>("Enter your age: ");</a:t>
            </a:r>
          </a:p>
          <a:p>
            <a:pPr marL="0" indent="0">
              <a:buNone/>
            </a:pPr>
            <a:r>
              <a:rPr lang="en-IN" dirty="0"/>
              <a:t>        </a:t>
            </a:r>
            <a:r>
              <a:rPr lang="en-IN" dirty="0" err="1"/>
              <a:t>int</a:t>
            </a:r>
            <a:r>
              <a:rPr lang="en-IN" dirty="0"/>
              <a:t> age = </a:t>
            </a:r>
            <a:r>
              <a:rPr lang="en-IN" dirty="0" err="1"/>
              <a:t>scanner.nextInt</a:t>
            </a:r>
            <a:r>
              <a:rPr lang="en-IN" dirty="0"/>
              <a:t>(); // Reads the integer</a:t>
            </a:r>
          </a:p>
          <a:p>
            <a:pPr marL="0" indent="0">
              <a:buNone/>
            </a:pPr>
            <a:endParaRPr lang="en-IN" dirty="0"/>
          </a:p>
          <a:p>
            <a:pPr marL="0" indent="0">
              <a:buNone/>
            </a:pPr>
            <a:r>
              <a:rPr lang="en-IN" dirty="0"/>
              <a:t>        </a:t>
            </a:r>
            <a:r>
              <a:rPr lang="en-IN" b="1" dirty="0" err="1"/>
              <a:t>scanner.nextLine</a:t>
            </a:r>
            <a:r>
              <a:rPr lang="en-IN" b="1" dirty="0"/>
              <a:t>(); // Consume the leftover newline</a:t>
            </a:r>
          </a:p>
          <a:p>
            <a:pPr marL="0" indent="0">
              <a:buNone/>
            </a:pPr>
            <a:endParaRPr lang="en-IN" dirty="0"/>
          </a:p>
          <a:p>
            <a:pPr marL="0" indent="0">
              <a:buNone/>
            </a:pPr>
            <a:r>
              <a:rPr lang="en-IN" dirty="0"/>
              <a:t>        </a:t>
            </a:r>
            <a:r>
              <a:rPr lang="en-IN" dirty="0" err="1"/>
              <a:t>System.out.print</a:t>
            </a:r>
            <a:r>
              <a:rPr lang="en-IN" dirty="0"/>
              <a:t>("Enter your name: ");</a:t>
            </a:r>
          </a:p>
          <a:p>
            <a:pPr marL="0" indent="0">
              <a:buNone/>
            </a:pPr>
            <a:r>
              <a:rPr lang="en-IN" dirty="0"/>
              <a:t>        String name = </a:t>
            </a:r>
            <a:r>
              <a:rPr lang="en-IN" dirty="0" err="1"/>
              <a:t>scanner.nextLine</a:t>
            </a:r>
            <a:r>
              <a:rPr lang="en-IN" dirty="0"/>
              <a:t>(); // Now reads the actual input</a:t>
            </a:r>
          </a:p>
          <a:p>
            <a:pPr marL="0" indent="0">
              <a:buNone/>
            </a:pPr>
            <a:endParaRPr lang="en-IN" dirty="0"/>
          </a:p>
          <a:p>
            <a:pPr marL="0" indent="0">
              <a:buNone/>
            </a:pPr>
            <a:r>
              <a:rPr lang="en-IN" dirty="0"/>
              <a:t>        </a:t>
            </a:r>
            <a:r>
              <a:rPr lang="en-IN" dirty="0" err="1"/>
              <a:t>System.out.println</a:t>
            </a:r>
            <a:r>
              <a:rPr lang="en-IN" dirty="0"/>
              <a:t>("Age: " + age);</a:t>
            </a:r>
          </a:p>
          <a:p>
            <a:pPr marL="0" indent="0">
              <a:buNone/>
            </a:pPr>
            <a:r>
              <a:rPr lang="en-IN" dirty="0"/>
              <a:t>        </a:t>
            </a:r>
            <a:r>
              <a:rPr lang="en-IN" dirty="0" err="1"/>
              <a:t>System.out.println</a:t>
            </a:r>
            <a:r>
              <a:rPr lang="en-IN" dirty="0"/>
              <a:t>("Name: " + name);</a:t>
            </a:r>
          </a:p>
          <a:p>
            <a:pPr marL="0" indent="0">
              <a:buNone/>
            </a:pPr>
            <a:r>
              <a:rPr lang="en-IN" dirty="0"/>
              <a:t>        </a:t>
            </a:r>
            <a:r>
              <a:rPr lang="en-IN" dirty="0" err="1"/>
              <a:t>scanner.close</a:t>
            </a:r>
            <a:r>
              <a:rPr lang="en-IN" dirty="0"/>
              <a:t>();</a:t>
            </a:r>
          </a:p>
          <a:p>
            <a:pPr marL="0" indent="0">
              <a:buNone/>
            </a:pPr>
            <a:r>
              <a:rPr lang="en-IN" dirty="0"/>
              <a:t>    }</a:t>
            </a:r>
          </a:p>
          <a:p>
            <a:pPr marL="0" indent="0">
              <a:buNone/>
            </a:pPr>
            <a:r>
              <a:rPr lang="en-IN" dirty="0"/>
              <a:t>}</a:t>
            </a:r>
          </a:p>
          <a:p>
            <a:endParaRPr lang="en-IN" dirty="0"/>
          </a:p>
        </p:txBody>
      </p:sp>
    </p:spTree>
    <p:extLst>
      <p:ext uri="{BB962C8B-B14F-4D97-AF65-F5344CB8AC3E}">
        <p14:creationId xmlns:p14="http://schemas.microsoft.com/office/powerpoint/2010/main" val="10288561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r>
              <a:rPr lang="en-US" sz="2400" b="1" dirty="0"/>
              <a:t>Best </a:t>
            </a:r>
            <a:r>
              <a:rPr lang="en-US" sz="2400" b="1" dirty="0" smtClean="0"/>
              <a:t>Practices - </a:t>
            </a:r>
            <a:endParaRPr lang="en-US" sz="2400" b="1" dirty="0"/>
          </a:p>
          <a:p>
            <a:r>
              <a:rPr lang="en-US" sz="2400" b="1" dirty="0"/>
              <a:t>Plan Input Reading Carefully</a:t>
            </a:r>
            <a:r>
              <a:rPr lang="en-US" sz="2400" dirty="0"/>
              <a:t>: If you need to mix </a:t>
            </a:r>
            <a:r>
              <a:rPr lang="en-US" sz="2400" dirty="0" err="1"/>
              <a:t>nextLine</a:t>
            </a:r>
            <a:r>
              <a:rPr lang="en-US" sz="2400" dirty="0"/>
              <a:t>() with other methods, ensure you handle the newline character correctly.</a:t>
            </a:r>
          </a:p>
          <a:p>
            <a:r>
              <a:rPr lang="en-US" sz="2400" b="1" dirty="0"/>
              <a:t>Prefer </a:t>
            </a:r>
            <a:r>
              <a:rPr lang="en-US" sz="2400" b="1" dirty="0" err="1"/>
              <a:t>nextLine</a:t>
            </a:r>
            <a:r>
              <a:rPr lang="en-US" sz="2400" b="1" dirty="0"/>
              <a:t>() for All Input</a:t>
            </a:r>
            <a:r>
              <a:rPr lang="en-US" sz="2400" dirty="0"/>
              <a:t>: You can use </a:t>
            </a:r>
            <a:r>
              <a:rPr lang="en-US" sz="2400" dirty="0" err="1"/>
              <a:t>nextLine</a:t>
            </a:r>
            <a:r>
              <a:rPr lang="en-US" sz="2400" dirty="0"/>
              <a:t>() for all input and manually parse the string into the required </a:t>
            </a:r>
            <a:r>
              <a:rPr lang="en-US" sz="2400" dirty="0" smtClean="0"/>
              <a:t>type:</a:t>
            </a:r>
            <a:endParaRPr lang="en-US" sz="2400" dirty="0"/>
          </a:p>
          <a:p>
            <a:r>
              <a:rPr lang="en-US" sz="2400" dirty="0" err="1"/>
              <a:t>System.out.print</a:t>
            </a:r>
            <a:r>
              <a:rPr lang="en-US" sz="2400" dirty="0"/>
              <a:t>("Enter your age: "); </a:t>
            </a:r>
            <a:endParaRPr lang="en-US" sz="2400" dirty="0" smtClean="0"/>
          </a:p>
          <a:p>
            <a:r>
              <a:rPr lang="en-US" sz="2400" dirty="0" err="1" smtClean="0"/>
              <a:t>int</a:t>
            </a:r>
            <a:r>
              <a:rPr lang="en-US" sz="2400" dirty="0" smtClean="0"/>
              <a:t> </a:t>
            </a:r>
            <a:r>
              <a:rPr lang="en-US" sz="2400" dirty="0"/>
              <a:t>age = </a:t>
            </a:r>
            <a:r>
              <a:rPr lang="en-US" sz="2400" dirty="0" err="1"/>
              <a:t>Integer.parseInt</a:t>
            </a:r>
            <a:r>
              <a:rPr lang="en-US" sz="2400" dirty="0"/>
              <a:t>(</a:t>
            </a:r>
            <a:r>
              <a:rPr lang="en-US" sz="2400" dirty="0" err="1"/>
              <a:t>scanner.nextLine</a:t>
            </a:r>
            <a:r>
              <a:rPr lang="en-US" sz="2400" dirty="0"/>
              <a:t>()); // Parse input manually</a:t>
            </a:r>
          </a:p>
          <a:p>
            <a:endParaRPr lang="en-IN" dirty="0"/>
          </a:p>
        </p:txBody>
      </p:sp>
    </p:spTree>
    <p:extLst>
      <p:ext uri="{BB962C8B-B14F-4D97-AF65-F5344CB8AC3E}">
        <p14:creationId xmlns:p14="http://schemas.microsoft.com/office/powerpoint/2010/main" val="10288561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7500" lnSpcReduction="20000"/>
          </a:bodyPr>
          <a:lstStyle/>
          <a:p>
            <a:r>
              <a:rPr lang="en-IN" b="1" dirty="0"/>
              <a:t>3.Using </a:t>
            </a:r>
            <a:r>
              <a:rPr lang="en-IN" b="1" dirty="0" err="1"/>
              <a:t>java.io.BufferedReader</a:t>
            </a:r>
            <a:r>
              <a:rPr lang="en-IN" b="1" dirty="0"/>
              <a:t> class -</a:t>
            </a:r>
          </a:p>
          <a:p>
            <a:r>
              <a:rPr lang="en-US" dirty="0"/>
              <a:t>Using the </a:t>
            </a:r>
            <a:r>
              <a:rPr lang="en-US" b="1" dirty="0" err="1"/>
              <a:t>java.io.BufferedReader</a:t>
            </a:r>
            <a:r>
              <a:rPr lang="en-US" dirty="0"/>
              <a:t> class to take user input in Java is a traditional method that reads input as text. It's efficient for handling large inputs and is often paired with </a:t>
            </a:r>
            <a:r>
              <a:rPr lang="en-US" b="1" dirty="0" err="1"/>
              <a:t>InputStreamReader</a:t>
            </a:r>
            <a:r>
              <a:rPr lang="en-US" dirty="0"/>
              <a:t> to read data from the keyboard (standard input).</a:t>
            </a:r>
          </a:p>
          <a:p>
            <a:r>
              <a:rPr lang="en-US" dirty="0"/>
              <a:t>Here’s a step-by-step explanation of the process</a:t>
            </a:r>
            <a:r>
              <a:rPr lang="en-US" dirty="0" smtClean="0"/>
              <a:t>:</a:t>
            </a:r>
          </a:p>
          <a:p>
            <a:endParaRPr lang="en-US" dirty="0"/>
          </a:p>
          <a:p>
            <a:r>
              <a:rPr lang="en-US" b="1" dirty="0" smtClean="0"/>
              <a:t>Import </a:t>
            </a:r>
            <a:r>
              <a:rPr lang="en-US" b="1" dirty="0"/>
              <a:t>Required Classes</a:t>
            </a:r>
          </a:p>
          <a:p>
            <a:r>
              <a:rPr lang="en-US" dirty="0"/>
              <a:t>To use </a:t>
            </a:r>
            <a:r>
              <a:rPr lang="en-US" dirty="0" err="1"/>
              <a:t>BufferedReader</a:t>
            </a:r>
            <a:r>
              <a:rPr lang="en-US" dirty="0"/>
              <a:t>, you need to import classes from the java.io package</a:t>
            </a:r>
            <a:r>
              <a:rPr lang="en-US" dirty="0" smtClean="0"/>
              <a:t>:</a:t>
            </a:r>
          </a:p>
          <a:p>
            <a:endParaRPr lang="en-US" dirty="0"/>
          </a:p>
          <a:p>
            <a:r>
              <a:rPr lang="en-IN" i="1" dirty="0"/>
              <a:t>import </a:t>
            </a:r>
            <a:r>
              <a:rPr lang="en-IN" i="1" dirty="0" err="1"/>
              <a:t>java.io.BufferedReader</a:t>
            </a:r>
            <a:r>
              <a:rPr lang="en-IN" i="1" dirty="0"/>
              <a:t>;</a:t>
            </a:r>
          </a:p>
          <a:p>
            <a:r>
              <a:rPr lang="en-IN" i="1" dirty="0"/>
              <a:t>import </a:t>
            </a:r>
            <a:r>
              <a:rPr lang="en-IN" i="1" dirty="0" err="1"/>
              <a:t>java.io.InputStreamReader</a:t>
            </a:r>
            <a:r>
              <a:rPr lang="en-IN" i="1" dirty="0"/>
              <a:t>;</a:t>
            </a:r>
          </a:p>
          <a:p>
            <a:r>
              <a:rPr lang="en-IN" i="1" dirty="0"/>
              <a:t>import </a:t>
            </a:r>
            <a:r>
              <a:rPr lang="en-IN" i="1" dirty="0" err="1"/>
              <a:t>java.io.IOException</a:t>
            </a:r>
            <a:r>
              <a:rPr lang="en-IN" i="1" dirty="0"/>
              <a:t>;</a:t>
            </a:r>
          </a:p>
          <a:p>
            <a:endParaRPr lang="en-IN" dirty="0" smtClean="0"/>
          </a:p>
          <a:p>
            <a:endParaRPr lang="en-IN" dirty="0"/>
          </a:p>
        </p:txBody>
      </p:sp>
    </p:spTree>
    <p:extLst>
      <p:ext uri="{BB962C8B-B14F-4D97-AF65-F5344CB8AC3E}">
        <p14:creationId xmlns:p14="http://schemas.microsoft.com/office/powerpoint/2010/main" val="10288561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r>
              <a:rPr lang="en-US" sz="1800" dirty="0"/>
              <a:t> create object of </a:t>
            </a:r>
            <a:r>
              <a:rPr lang="en-US" sz="1800" dirty="0" err="1"/>
              <a:t>InputStreamReader</a:t>
            </a:r>
            <a:r>
              <a:rPr lang="en-US" sz="1800" dirty="0"/>
              <a:t> class </a:t>
            </a:r>
            <a:r>
              <a:rPr lang="en-US" sz="1800" dirty="0" smtClean="0"/>
              <a:t>–</a:t>
            </a:r>
          </a:p>
          <a:p>
            <a:r>
              <a:rPr lang="en-US" sz="1800" b="1" dirty="0" err="1" smtClean="0"/>
              <a:t>InputStreamReader</a:t>
            </a:r>
            <a:r>
              <a:rPr lang="en-US" sz="1800" b="1" dirty="0" smtClean="0"/>
              <a:t> </a:t>
            </a:r>
            <a:r>
              <a:rPr lang="en-US" sz="1800" b="1" dirty="0" err="1"/>
              <a:t>isr</a:t>
            </a:r>
            <a:r>
              <a:rPr lang="en-US" sz="1800" b="1" dirty="0"/>
              <a:t> = new </a:t>
            </a:r>
            <a:r>
              <a:rPr lang="en-US" sz="1800" b="1" dirty="0" err="1"/>
              <a:t>InputStreamReader</a:t>
            </a:r>
            <a:r>
              <a:rPr lang="en-US" sz="1800" b="1" dirty="0"/>
              <a:t>(System.in);</a:t>
            </a:r>
            <a:r>
              <a:rPr lang="en-US" sz="1800" dirty="0"/>
              <a:t> </a:t>
            </a:r>
            <a:endParaRPr lang="en-US" sz="1800" dirty="0" smtClean="0"/>
          </a:p>
          <a:p>
            <a:r>
              <a:rPr lang="en-US" sz="1800" b="1" dirty="0" err="1"/>
              <a:t>InputStreamReader</a:t>
            </a:r>
            <a:r>
              <a:rPr lang="en-US" sz="1800" dirty="0"/>
              <a:t>: Converts byte-based streams (like System.in) into character-based streams.</a:t>
            </a:r>
            <a:endParaRPr lang="en-US" sz="1800" dirty="0" smtClean="0"/>
          </a:p>
          <a:p>
            <a:endParaRPr lang="en-US" sz="1800" dirty="0" smtClean="0"/>
          </a:p>
          <a:p>
            <a:r>
              <a:rPr lang="en-US" sz="1800" dirty="0" smtClean="0"/>
              <a:t>Next </a:t>
            </a:r>
            <a:r>
              <a:rPr lang="en-US" sz="1800" dirty="0"/>
              <a:t>connect this </a:t>
            </a:r>
            <a:r>
              <a:rPr lang="en-US" sz="1800" dirty="0" err="1"/>
              <a:t>InputStreamReader</a:t>
            </a:r>
            <a:r>
              <a:rPr lang="en-US" sz="1800" dirty="0"/>
              <a:t> stream to </a:t>
            </a:r>
            <a:r>
              <a:rPr lang="en-US" sz="1800" dirty="0" err="1"/>
              <a:t>BufferdReader</a:t>
            </a:r>
            <a:r>
              <a:rPr lang="en-US" sz="1800" dirty="0"/>
              <a:t> object </a:t>
            </a:r>
            <a:r>
              <a:rPr lang="en-US" sz="1800" dirty="0" smtClean="0"/>
              <a:t>–</a:t>
            </a:r>
          </a:p>
          <a:p>
            <a:r>
              <a:rPr lang="en-US" sz="1800" b="1" dirty="0" err="1" smtClean="0"/>
              <a:t>BufferedReader</a:t>
            </a:r>
            <a:r>
              <a:rPr lang="en-US" sz="1800" b="1" dirty="0" smtClean="0"/>
              <a:t> </a:t>
            </a:r>
            <a:r>
              <a:rPr lang="en-US" sz="1800" b="1" dirty="0" err="1"/>
              <a:t>br</a:t>
            </a:r>
            <a:r>
              <a:rPr lang="en-US" sz="1800" b="1" dirty="0"/>
              <a:t> = new </a:t>
            </a:r>
            <a:r>
              <a:rPr lang="en-US" sz="1800" b="1" dirty="0" err="1"/>
              <a:t>BufferedReader</a:t>
            </a:r>
            <a:r>
              <a:rPr lang="en-US" sz="1800" b="1" dirty="0"/>
              <a:t>(</a:t>
            </a:r>
            <a:r>
              <a:rPr lang="en-US" sz="1800" b="1" dirty="0" err="1"/>
              <a:t>isr</a:t>
            </a:r>
            <a:r>
              <a:rPr lang="en-US" sz="1800" b="1" dirty="0"/>
              <a:t>);</a:t>
            </a:r>
            <a:r>
              <a:rPr lang="en-US" sz="1800" dirty="0"/>
              <a:t> </a:t>
            </a:r>
            <a:endParaRPr lang="en-US" sz="1800" dirty="0" smtClean="0"/>
          </a:p>
          <a:p>
            <a:r>
              <a:rPr lang="en-US" sz="1800" b="1" dirty="0" err="1"/>
              <a:t>BufferedReader</a:t>
            </a:r>
            <a:r>
              <a:rPr lang="en-US" sz="1800" dirty="0"/>
              <a:t>: Reads text from a character-based input stream, buffering characters for efficient reading.</a:t>
            </a:r>
            <a:endParaRPr lang="en-US" sz="1800" dirty="0" smtClean="0"/>
          </a:p>
          <a:p>
            <a:endParaRPr lang="en-US" sz="1800" dirty="0"/>
          </a:p>
          <a:p>
            <a:r>
              <a:rPr lang="en-US" sz="1800" dirty="0" smtClean="0"/>
              <a:t>Finally </a:t>
            </a:r>
            <a:r>
              <a:rPr lang="en-US" sz="1800" dirty="0"/>
              <a:t>call </a:t>
            </a:r>
            <a:r>
              <a:rPr lang="en-US" sz="1800" dirty="0" err="1"/>
              <a:t>readLine</a:t>
            </a:r>
            <a:r>
              <a:rPr lang="en-US" sz="1800" dirty="0"/>
              <a:t>() method on </a:t>
            </a:r>
            <a:r>
              <a:rPr lang="en-US" sz="1800" dirty="0" err="1"/>
              <a:t>BufferedReader</a:t>
            </a:r>
            <a:r>
              <a:rPr lang="en-US" sz="1800" dirty="0"/>
              <a:t> object </a:t>
            </a:r>
            <a:r>
              <a:rPr lang="en-US" sz="1800" dirty="0" smtClean="0"/>
              <a:t>–</a:t>
            </a:r>
          </a:p>
          <a:p>
            <a:r>
              <a:rPr lang="en-US" sz="1800" b="1" dirty="0" smtClean="0"/>
              <a:t>String </a:t>
            </a:r>
            <a:r>
              <a:rPr lang="en-US" sz="1800" b="1" dirty="0" err="1"/>
              <a:t>str</a:t>
            </a:r>
            <a:r>
              <a:rPr lang="en-US" sz="1800" b="1" dirty="0"/>
              <a:t> = </a:t>
            </a:r>
            <a:r>
              <a:rPr lang="en-US" sz="1800" b="1" dirty="0" err="1"/>
              <a:t>br.readLine</a:t>
            </a:r>
            <a:r>
              <a:rPr lang="en-US" sz="1800" b="1" dirty="0"/>
              <a:t>();</a:t>
            </a:r>
            <a:r>
              <a:rPr lang="en-US" sz="1800" dirty="0"/>
              <a:t> // throws </a:t>
            </a:r>
            <a:r>
              <a:rPr lang="en-US" sz="1800" dirty="0" err="1"/>
              <a:t>IOException</a:t>
            </a:r>
            <a:r>
              <a:rPr lang="en-US" sz="1800" dirty="0"/>
              <a:t> </a:t>
            </a:r>
            <a:endParaRPr lang="en-US" sz="1800" dirty="0" smtClean="0"/>
          </a:p>
          <a:p>
            <a:endParaRPr lang="en-US" sz="1800" dirty="0" smtClean="0"/>
          </a:p>
          <a:p>
            <a:r>
              <a:rPr lang="en-US" sz="1800" b="1" dirty="0" smtClean="0"/>
              <a:t>Note </a:t>
            </a:r>
            <a:r>
              <a:rPr lang="en-US" sz="1800" b="1" dirty="0"/>
              <a:t>- </a:t>
            </a:r>
            <a:r>
              <a:rPr lang="en-US" sz="1800" dirty="0"/>
              <a:t>This </a:t>
            </a:r>
            <a:r>
              <a:rPr lang="en-US" sz="1800" dirty="0" err="1"/>
              <a:t>readLine</a:t>
            </a:r>
            <a:r>
              <a:rPr lang="en-US" sz="1800" dirty="0"/>
              <a:t>() method is different from the method we learned in Console class. It cannot have string massage within it. And it also throws </a:t>
            </a:r>
            <a:r>
              <a:rPr lang="en-US" sz="1800" b="1" dirty="0" err="1"/>
              <a:t>IOException</a:t>
            </a:r>
            <a:r>
              <a:rPr lang="en-US" sz="1800" dirty="0"/>
              <a:t>.</a:t>
            </a:r>
            <a:endParaRPr lang="en-IN" sz="1800" dirty="0"/>
          </a:p>
        </p:txBody>
      </p:sp>
    </p:spTree>
    <p:extLst>
      <p:ext uri="{BB962C8B-B14F-4D97-AF65-F5344CB8AC3E}">
        <p14:creationId xmlns:p14="http://schemas.microsoft.com/office/powerpoint/2010/main" val="1028856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40000" lnSpcReduction="20000"/>
          </a:bodyPr>
          <a:lstStyle/>
          <a:p>
            <a:r>
              <a:rPr lang="en-IN" dirty="0"/>
              <a:t>Example -</a:t>
            </a:r>
          </a:p>
          <a:p>
            <a:r>
              <a:rPr lang="en-IN" dirty="0"/>
              <a:t>Program for the addition of two numbers input by the user -</a:t>
            </a:r>
          </a:p>
          <a:p>
            <a:endParaRPr lang="en-IN" dirty="0"/>
          </a:p>
          <a:p>
            <a:pPr marL="0" indent="0">
              <a:buNone/>
            </a:pPr>
            <a:r>
              <a:rPr lang="en-IN" dirty="0"/>
              <a:t>import </a:t>
            </a:r>
            <a:r>
              <a:rPr lang="en-IN" dirty="0" err="1"/>
              <a:t>java.io.InputStreamReader</a:t>
            </a:r>
            <a:r>
              <a:rPr lang="en-IN" dirty="0"/>
              <a:t>;</a:t>
            </a:r>
          </a:p>
          <a:p>
            <a:pPr marL="0" indent="0">
              <a:buNone/>
            </a:pPr>
            <a:r>
              <a:rPr lang="en-IN" dirty="0"/>
              <a:t>import </a:t>
            </a:r>
            <a:r>
              <a:rPr lang="en-IN" dirty="0" err="1"/>
              <a:t>java.io.BufferedReader</a:t>
            </a:r>
            <a:r>
              <a:rPr lang="en-IN" dirty="0"/>
              <a:t>;</a:t>
            </a:r>
          </a:p>
          <a:p>
            <a:pPr marL="0" indent="0">
              <a:buNone/>
            </a:pPr>
            <a:r>
              <a:rPr lang="en-IN" dirty="0"/>
              <a:t>import </a:t>
            </a:r>
            <a:r>
              <a:rPr lang="en-IN" dirty="0" err="1"/>
              <a:t>java.io.IOException</a:t>
            </a:r>
            <a:r>
              <a:rPr lang="en-IN" dirty="0"/>
              <a:t>;</a:t>
            </a:r>
          </a:p>
          <a:p>
            <a:pPr marL="0" indent="0">
              <a:buNone/>
            </a:pPr>
            <a:endParaRPr lang="en-IN" dirty="0"/>
          </a:p>
          <a:p>
            <a:pPr marL="0" indent="0">
              <a:buNone/>
            </a:pPr>
            <a:r>
              <a:rPr lang="en-IN" dirty="0"/>
              <a:t>public class Demo3</a:t>
            </a:r>
          </a:p>
          <a:p>
            <a:pPr marL="0" indent="0">
              <a:buNone/>
            </a:pPr>
            <a:r>
              <a:rPr lang="en-IN" dirty="0"/>
              <a:t> {</a:t>
            </a:r>
          </a:p>
          <a:p>
            <a:pPr marL="0" indent="0">
              <a:buNone/>
            </a:pPr>
            <a:r>
              <a:rPr lang="en-IN" dirty="0"/>
              <a:t>  public static void main(String </a:t>
            </a:r>
            <a:r>
              <a:rPr lang="en-IN" dirty="0" err="1"/>
              <a:t>args</a:t>
            </a:r>
            <a:r>
              <a:rPr lang="en-IN" dirty="0"/>
              <a:t>[])throws </a:t>
            </a:r>
            <a:r>
              <a:rPr lang="en-IN" dirty="0" err="1"/>
              <a:t>IOException</a:t>
            </a:r>
            <a:endParaRPr lang="en-IN" dirty="0"/>
          </a:p>
          <a:p>
            <a:pPr marL="0" indent="0">
              <a:buNone/>
            </a:pPr>
            <a:r>
              <a:rPr lang="en-IN" dirty="0"/>
              <a:t>  {</a:t>
            </a:r>
          </a:p>
          <a:p>
            <a:pPr marL="0" indent="0">
              <a:buNone/>
            </a:pPr>
            <a:r>
              <a:rPr lang="en-IN" dirty="0"/>
              <a:t>   </a:t>
            </a:r>
            <a:r>
              <a:rPr lang="en-IN" dirty="0" err="1"/>
              <a:t>int</a:t>
            </a:r>
            <a:r>
              <a:rPr lang="en-IN" dirty="0"/>
              <a:t> </a:t>
            </a:r>
            <a:r>
              <a:rPr lang="en-IN" dirty="0" err="1"/>
              <a:t>a,b,c</a:t>
            </a:r>
            <a:r>
              <a:rPr lang="en-IN" dirty="0"/>
              <a:t>;</a:t>
            </a:r>
          </a:p>
          <a:p>
            <a:pPr marL="0" indent="0">
              <a:buNone/>
            </a:pPr>
            <a:r>
              <a:rPr lang="en-IN" dirty="0"/>
              <a:t>          </a:t>
            </a:r>
          </a:p>
          <a:p>
            <a:pPr marL="0" indent="0">
              <a:buNone/>
            </a:pPr>
            <a:r>
              <a:rPr lang="en-IN" dirty="0"/>
              <a:t>   </a:t>
            </a:r>
            <a:r>
              <a:rPr lang="en-IN" dirty="0" err="1"/>
              <a:t>InputStreamReader</a:t>
            </a:r>
            <a:r>
              <a:rPr lang="en-IN" dirty="0"/>
              <a:t> </a:t>
            </a:r>
            <a:r>
              <a:rPr lang="en-IN" dirty="0" err="1"/>
              <a:t>isr</a:t>
            </a:r>
            <a:r>
              <a:rPr lang="en-IN" dirty="0"/>
              <a:t> = new </a:t>
            </a:r>
            <a:r>
              <a:rPr lang="en-IN" dirty="0" err="1"/>
              <a:t>InputStreamReader</a:t>
            </a:r>
            <a:r>
              <a:rPr lang="en-IN" dirty="0"/>
              <a:t>(System.in);</a:t>
            </a:r>
          </a:p>
          <a:p>
            <a:pPr marL="0" indent="0">
              <a:buNone/>
            </a:pPr>
            <a:r>
              <a:rPr lang="en-IN" dirty="0"/>
              <a:t>   </a:t>
            </a:r>
            <a:r>
              <a:rPr lang="en-IN" dirty="0" err="1"/>
              <a:t>BufferedReader</a:t>
            </a:r>
            <a:r>
              <a:rPr lang="en-IN" dirty="0"/>
              <a:t> </a:t>
            </a:r>
            <a:r>
              <a:rPr lang="en-IN" dirty="0" err="1"/>
              <a:t>br</a:t>
            </a:r>
            <a:r>
              <a:rPr lang="en-IN" dirty="0"/>
              <a:t> = new </a:t>
            </a:r>
            <a:r>
              <a:rPr lang="en-IN" dirty="0" err="1"/>
              <a:t>BufferedReader</a:t>
            </a:r>
            <a:r>
              <a:rPr lang="en-IN" dirty="0"/>
              <a:t>(</a:t>
            </a:r>
            <a:r>
              <a:rPr lang="en-IN" dirty="0" err="1"/>
              <a:t>isr</a:t>
            </a:r>
            <a:r>
              <a:rPr lang="en-IN" dirty="0"/>
              <a:t>);</a:t>
            </a:r>
          </a:p>
          <a:p>
            <a:pPr marL="0" indent="0">
              <a:buNone/>
            </a:pPr>
            <a:r>
              <a:rPr lang="en-IN" dirty="0"/>
              <a:t>   </a:t>
            </a:r>
            <a:r>
              <a:rPr lang="en-IN" dirty="0" err="1"/>
              <a:t>System.out.println</a:t>
            </a:r>
            <a:r>
              <a:rPr lang="en-IN" dirty="0"/>
              <a:t>("Enter first number");</a:t>
            </a:r>
          </a:p>
          <a:p>
            <a:pPr marL="0" indent="0">
              <a:buNone/>
            </a:pPr>
            <a:r>
              <a:rPr lang="en-IN" dirty="0"/>
              <a:t>   String str1 = </a:t>
            </a:r>
            <a:r>
              <a:rPr lang="en-IN" dirty="0" err="1"/>
              <a:t>br.readLine</a:t>
            </a:r>
            <a:r>
              <a:rPr lang="en-IN" dirty="0"/>
              <a:t>();   </a:t>
            </a:r>
          </a:p>
          <a:p>
            <a:pPr marL="0" indent="0">
              <a:buNone/>
            </a:pPr>
            <a:r>
              <a:rPr lang="en-IN" dirty="0"/>
              <a:t>   a=  </a:t>
            </a:r>
            <a:r>
              <a:rPr lang="en-IN" dirty="0" err="1"/>
              <a:t>Integer.parseInt</a:t>
            </a:r>
            <a:r>
              <a:rPr lang="en-IN" dirty="0"/>
              <a:t>(str1);</a:t>
            </a:r>
          </a:p>
          <a:p>
            <a:pPr marL="0" indent="0">
              <a:buNone/>
            </a:pPr>
            <a:r>
              <a:rPr lang="en-IN" dirty="0"/>
              <a:t>       </a:t>
            </a:r>
          </a:p>
          <a:p>
            <a:pPr marL="0" indent="0">
              <a:buNone/>
            </a:pPr>
            <a:r>
              <a:rPr lang="en-IN" dirty="0"/>
              <a:t>   </a:t>
            </a:r>
            <a:r>
              <a:rPr lang="en-IN" dirty="0" err="1"/>
              <a:t>System.out.println</a:t>
            </a:r>
            <a:r>
              <a:rPr lang="en-IN" dirty="0"/>
              <a:t>("Enter second number");</a:t>
            </a:r>
          </a:p>
          <a:p>
            <a:pPr marL="0" indent="0">
              <a:buNone/>
            </a:pPr>
            <a:r>
              <a:rPr lang="en-IN" dirty="0"/>
              <a:t>   String str2 = </a:t>
            </a:r>
            <a:r>
              <a:rPr lang="en-IN" dirty="0" err="1"/>
              <a:t>br.readLine</a:t>
            </a:r>
            <a:r>
              <a:rPr lang="en-IN" dirty="0"/>
              <a:t>();</a:t>
            </a:r>
          </a:p>
          <a:p>
            <a:pPr marL="0" indent="0">
              <a:buNone/>
            </a:pPr>
            <a:r>
              <a:rPr lang="en-IN" dirty="0"/>
              <a:t>   b = </a:t>
            </a:r>
            <a:r>
              <a:rPr lang="en-IN" dirty="0" err="1"/>
              <a:t>Integer.parseInt</a:t>
            </a:r>
            <a:r>
              <a:rPr lang="en-IN" dirty="0"/>
              <a:t>(str2);</a:t>
            </a:r>
          </a:p>
          <a:p>
            <a:pPr marL="0" indent="0">
              <a:buNone/>
            </a:pPr>
            <a:r>
              <a:rPr lang="en-IN" dirty="0"/>
              <a:t>   c = </a:t>
            </a:r>
            <a:r>
              <a:rPr lang="en-IN" dirty="0" err="1"/>
              <a:t>a+b</a:t>
            </a:r>
            <a:r>
              <a:rPr lang="en-IN" dirty="0"/>
              <a:t>;</a:t>
            </a:r>
          </a:p>
          <a:p>
            <a:pPr marL="0" indent="0">
              <a:buNone/>
            </a:pPr>
            <a:r>
              <a:rPr lang="en-IN" dirty="0"/>
              <a:t>   </a:t>
            </a:r>
            <a:r>
              <a:rPr lang="en-IN" dirty="0" err="1"/>
              <a:t>System.out.println</a:t>
            </a:r>
            <a:r>
              <a:rPr lang="en-IN" dirty="0"/>
              <a:t>("Sum = "+c);  </a:t>
            </a:r>
          </a:p>
          <a:p>
            <a:pPr marL="0" indent="0">
              <a:buNone/>
            </a:pPr>
            <a:r>
              <a:rPr lang="en-IN" dirty="0"/>
              <a:t>   }</a:t>
            </a:r>
          </a:p>
          <a:p>
            <a:pPr marL="0" indent="0">
              <a:buNone/>
            </a:pPr>
            <a:r>
              <a:rPr lang="en-IN" dirty="0"/>
              <a:t>  }</a:t>
            </a:r>
          </a:p>
        </p:txBody>
      </p:sp>
    </p:spTree>
    <p:extLst>
      <p:ext uri="{BB962C8B-B14F-4D97-AF65-F5344CB8AC3E}">
        <p14:creationId xmlns:p14="http://schemas.microsoft.com/office/powerpoint/2010/main" val="10288561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endParaRPr lang="en-IN" dirty="0"/>
          </a:p>
        </p:txBody>
      </p:sp>
    </p:spTree>
    <p:extLst>
      <p:ext uri="{BB962C8B-B14F-4D97-AF65-F5344CB8AC3E}">
        <p14:creationId xmlns:p14="http://schemas.microsoft.com/office/powerpoint/2010/main" val="10288561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1606</Words>
  <Application>Microsoft Office PowerPoint</Application>
  <PresentationFormat>On-screen Show (4:3)</PresentationFormat>
  <Paragraphs>301</Paragraphs>
  <Slides>26</Slides>
  <Notes>5</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Wrapper Classes and ways of taking input from user</vt:lpstr>
      <vt:lpstr>Java Wrapper Classes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Receiving input from user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Rohit Kamboj</cp:lastModifiedBy>
  <cp:revision>100</cp:revision>
  <dcterms:created xsi:type="dcterms:W3CDTF">2006-08-16T00:00:00Z</dcterms:created>
  <dcterms:modified xsi:type="dcterms:W3CDTF">2024-12-06T07:19:13Z</dcterms:modified>
</cp:coreProperties>
</file>