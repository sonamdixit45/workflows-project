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5"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841" autoAdjust="0"/>
  </p:normalViewPr>
  <p:slideViewPr>
    <p:cSldViewPr>
      <p:cViewPr varScale="1">
        <p:scale>
          <a:sx n="78" d="100"/>
          <a:sy n="78" d="100"/>
        </p:scale>
        <p:origin x="-157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EBF9B38-C7D8-4B10-97E1-4F04F39044FC}" type="datetimeFigureOut">
              <a:rPr lang="en-IN" smtClean="0"/>
              <a:t>03-02-2025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969FDD-D6CA-4204-BFB9-64F911DE1568}" type="slidenum">
              <a:rPr lang="en-IN" smtClean="0"/>
              <a:t>‹#›</a:t>
            </a:fld>
            <a:endParaRPr lang="en-IN"/>
          </a:p>
        </p:txBody>
      </p:sp>
    </p:spTree>
    <p:extLst>
      <p:ext uri="{BB962C8B-B14F-4D97-AF65-F5344CB8AC3E}">
        <p14:creationId xmlns:p14="http://schemas.microsoft.com/office/powerpoint/2010/main" val="2639221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1" kern="1200" dirty="0" smtClean="0">
                <a:solidFill>
                  <a:schemeClr val="tx1"/>
                </a:solidFill>
                <a:effectLst/>
                <a:latin typeface="+mn-lt"/>
                <a:ea typeface="+mn-ea"/>
                <a:cs typeface="+mn-cs"/>
              </a:rPr>
              <a:t>Note: If you import a package, </a:t>
            </a:r>
            <a:r>
              <a:rPr lang="en-US" sz="1200" b="0" i="1" kern="1200" dirty="0" err="1" smtClean="0">
                <a:solidFill>
                  <a:schemeClr val="tx1"/>
                </a:solidFill>
                <a:effectLst/>
                <a:latin typeface="+mn-lt"/>
                <a:ea typeface="+mn-ea"/>
                <a:cs typeface="+mn-cs"/>
              </a:rPr>
              <a:t>subpackages</a:t>
            </a:r>
            <a:r>
              <a:rPr lang="en-US" sz="1200" b="0" i="1" kern="1200" dirty="0" smtClean="0">
                <a:solidFill>
                  <a:schemeClr val="tx1"/>
                </a:solidFill>
                <a:effectLst/>
                <a:latin typeface="+mn-lt"/>
                <a:ea typeface="+mn-ea"/>
                <a:cs typeface="+mn-cs"/>
              </a:rPr>
              <a:t> will not be imported.</a:t>
            </a:r>
          </a:p>
          <a:p>
            <a:endParaRPr lang="en-IN" dirty="0"/>
          </a:p>
        </p:txBody>
      </p:sp>
      <p:sp>
        <p:nvSpPr>
          <p:cNvPr id="4" name="Slide Number Placeholder 3"/>
          <p:cNvSpPr>
            <a:spLocks noGrp="1"/>
          </p:cNvSpPr>
          <p:nvPr>
            <p:ph type="sldNum" sz="quarter" idx="10"/>
          </p:nvPr>
        </p:nvSpPr>
        <p:spPr/>
        <p:txBody>
          <a:bodyPr/>
          <a:lstStyle/>
          <a:p>
            <a:fld id="{B7969FDD-D6CA-4204-BFB9-64F911DE1568}" type="slidenum">
              <a:rPr lang="en-IN" smtClean="0"/>
              <a:t>12</a:t>
            </a:fld>
            <a:endParaRPr lang="en-IN"/>
          </a:p>
        </p:txBody>
      </p:sp>
    </p:spTree>
    <p:extLst>
      <p:ext uri="{BB962C8B-B14F-4D97-AF65-F5344CB8AC3E}">
        <p14:creationId xmlns:p14="http://schemas.microsoft.com/office/powerpoint/2010/main" val="2741145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 we </a:t>
            </a:r>
            <a:r>
              <a:rPr lang="en-US" b="1" dirty="0" smtClean="0"/>
              <a:t>must</a:t>
            </a:r>
            <a:r>
              <a:rPr lang="en-US" dirty="0" smtClean="0"/>
              <a:t> use </a:t>
            </a:r>
            <a:r>
              <a:rPr lang="en-US" dirty="0" err="1" smtClean="0"/>
              <a:t>Math.sqrt</a:t>
            </a:r>
            <a:r>
              <a:rPr lang="en-US" dirty="0" smtClean="0"/>
              <a:t>() and </a:t>
            </a:r>
            <a:r>
              <a:rPr lang="en-US" dirty="0" err="1" smtClean="0"/>
              <a:t>Math.PI</a:t>
            </a:r>
            <a:r>
              <a:rPr lang="en-US" dirty="0" smtClean="0"/>
              <a:t>, explicitly referring to the Math class.</a:t>
            </a:r>
            <a:endParaRPr lang="en-IN" dirty="0"/>
          </a:p>
        </p:txBody>
      </p:sp>
      <p:sp>
        <p:nvSpPr>
          <p:cNvPr id="4" name="Slide Number Placeholder 3"/>
          <p:cNvSpPr>
            <a:spLocks noGrp="1"/>
          </p:cNvSpPr>
          <p:nvPr>
            <p:ph type="sldNum" sz="quarter" idx="10"/>
          </p:nvPr>
        </p:nvSpPr>
        <p:spPr/>
        <p:txBody>
          <a:bodyPr/>
          <a:lstStyle/>
          <a:p>
            <a:fld id="{B7969FDD-D6CA-4204-BFB9-64F911DE1568}" type="slidenum">
              <a:rPr lang="en-IN" smtClean="0"/>
              <a:t>15</a:t>
            </a:fld>
            <a:endParaRPr lang="en-IN"/>
          </a:p>
        </p:txBody>
      </p:sp>
    </p:spTree>
    <p:extLst>
      <p:ext uri="{BB962C8B-B14F-4D97-AF65-F5344CB8AC3E}">
        <p14:creationId xmlns:p14="http://schemas.microsoft.com/office/powerpoint/2010/main" val="24123375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can now use </a:t>
            </a:r>
            <a:r>
              <a:rPr lang="en-US" dirty="0" err="1" smtClean="0"/>
              <a:t>sqrt</a:t>
            </a:r>
            <a:r>
              <a:rPr lang="en-US" dirty="0" smtClean="0"/>
              <a:t>() and PI </a:t>
            </a:r>
            <a:r>
              <a:rPr lang="en-US" b="1" dirty="0" smtClean="0"/>
              <a:t>directly</a:t>
            </a:r>
            <a:r>
              <a:rPr lang="en-US" dirty="0" smtClean="0"/>
              <a:t> without referring to Math.</a:t>
            </a:r>
            <a:endParaRPr lang="en-IN" dirty="0"/>
          </a:p>
        </p:txBody>
      </p:sp>
      <p:sp>
        <p:nvSpPr>
          <p:cNvPr id="4" name="Slide Number Placeholder 3"/>
          <p:cNvSpPr>
            <a:spLocks noGrp="1"/>
          </p:cNvSpPr>
          <p:nvPr>
            <p:ph type="sldNum" sz="quarter" idx="10"/>
          </p:nvPr>
        </p:nvSpPr>
        <p:spPr/>
        <p:txBody>
          <a:bodyPr/>
          <a:lstStyle/>
          <a:p>
            <a:fld id="{B7969FDD-D6CA-4204-BFB9-64F911DE1568}" type="slidenum">
              <a:rPr lang="en-IN" smtClean="0"/>
              <a:t>16</a:t>
            </a:fld>
            <a:endParaRPr lang="en-IN"/>
          </a:p>
        </p:txBody>
      </p:sp>
    </p:spTree>
    <p:extLst>
      <p:ext uri="{BB962C8B-B14F-4D97-AF65-F5344CB8AC3E}">
        <p14:creationId xmlns:p14="http://schemas.microsoft.com/office/powerpoint/2010/main" val="4214519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Output – </a:t>
            </a:r>
          </a:p>
          <a:p>
            <a:r>
              <a:rPr lang="en-US" dirty="0" smtClean="0"/>
              <a:t>Car starts with a key.</a:t>
            </a:r>
          </a:p>
          <a:p>
            <a:r>
              <a:rPr lang="en-US" dirty="0" smtClean="0"/>
              <a:t>Bike starts with a self-start button.</a:t>
            </a:r>
          </a:p>
          <a:p>
            <a:endParaRPr lang="en-IN" dirty="0" smtClean="0"/>
          </a:p>
          <a:p>
            <a:endParaRPr lang="en-IN" dirty="0"/>
          </a:p>
        </p:txBody>
      </p:sp>
      <p:sp>
        <p:nvSpPr>
          <p:cNvPr id="4" name="Slide Number Placeholder 3"/>
          <p:cNvSpPr>
            <a:spLocks noGrp="1"/>
          </p:cNvSpPr>
          <p:nvPr>
            <p:ph type="sldNum" sz="quarter" idx="10"/>
          </p:nvPr>
        </p:nvSpPr>
        <p:spPr/>
        <p:txBody>
          <a:bodyPr/>
          <a:lstStyle/>
          <a:p>
            <a:fld id="{B7969FDD-D6CA-4204-BFB9-64F911DE1568}" type="slidenum">
              <a:rPr lang="en-IN" smtClean="0"/>
              <a:t>22</a:t>
            </a:fld>
            <a:endParaRPr lang="en-IN"/>
          </a:p>
        </p:txBody>
      </p:sp>
    </p:spTree>
    <p:extLst>
      <p:ext uri="{BB962C8B-B14F-4D97-AF65-F5344CB8AC3E}">
        <p14:creationId xmlns:p14="http://schemas.microsoft.com/office/powerpoint/2010/main" val="17499612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969FDD-D6CA-4204-BFB9-64F911DE1568}" type="slidenum">
              <a:rPr lang="en-IN" smtClean="0"/>
              <a:t>23</a:t>
            </a:fld>
            <a:endParaRPr lang="en-IN"/>
          </a:p>
        </p:txBody>
      </p:sp>
    </p:spTree>
    <p:extLst>
      <p:ext uri="{BB962C8B-B14F-4D97-AF65-F5344CB8AC3E}">
        <p14:creationId xmlns:p14="http://schemas.microsoft.com/office/powerpoint/2010/main" val="3448735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Printing document...</a:t>
            </a:r>
          </a:p>
          <a:p>
            <a:r>
              <a:rPr lang="en-US" dirty="0" smtClean="0"/>
              <a:t>Showing document preview...</a:t>
            </a:r>
          </a:p>
          <a:p>
            <a:endParaRPr lang="en-IN" dirty="0"/>
          </a:p>
        </p:txBody>
      </p:sp>
      <p:sp>
        <p:nvSpPr>
          <p:cNvPr id="4" name="Slide Number Placeholder 3"/>
          <p:cNvSpPr>
            <a:spLocks noGrp="1"/>
          </p:cNvSpPr>
          <p:nvPr>
            <p:ph type="sldNum" sz="quarter" idx="10"/>
          </p:nvPr>
        </p:nvSpPr>
        <p:spPr/>
        <p:txBody>
          <a:bodyPr/>
          <a:lstStyle/>
          <a:p>
            <a:fld id="{B7969FDD-D6CA-4204-BFB9-64F911DE1568}" type="slidenum">
              <a:rPr lang="en-IN" smtClean="0"/>
              <a:t>24</a:t>
            </a:fld>
            <a:endParaRPr lang="en-IN"/>
          </a:p>
        </p:txBody>
      </p:sp>
    </p:spTree>
    <p:extLst>
      <p:ext uri="{BB962C8B-B14F-4D97-AF65-F5344CB8AC3E}">
        <p14:creationId xmlns:p14="http://schemas.microsoft.com/office/powerpoint/2010/main" val="149234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Packages and Interface</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313280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Packages</a:t>
            </a:r>
            <a:endParaRPr lang="en-IN" dirty="0"/>
          </a:p>
        </p:txBody>
      </p:sp>
      <p:sp>
        <p:nvSpPr>
          <p:cNvPr id="3" name="Content Placeholder 2"/>
          <p:cNvSpPr>
            <a:spLocks noGrp="1"/>
          </p:cNvSpPr>
          <p:nvPr>
            <p:ph idx="1"/>
          </p:nvPr>
        </p:nvSpPr>
        <p:spPr/>
        <p:txBody>
          <a:bodyPr>
            <a:normAutofit fontScale="92500" lnSpcReduction="10000"/>
          </a:bodyPr>
          <a:lstStyle/>
          <a:p>
            <a:r>
              <a:rPr lang="en-US" dirty="0"/>
              <a:t>A package in Java is used to group related classes. Think of it as </a:t>
            </a:r>
            <a:r>
              <a:rPr lang="en-US" b="1" dirty="0"/>
              <a:t>a folder in a file directory</a:t>
            </a:r>
            <a:r>
              <a:rPr lang="en-US" dirty="0"/>
              <a:t>. We use packages to avoid name conflicts, and to write a better maintainable code. Packages are divided into two categories:</a:t>
            </a:r>
          </a:p>
          <a:p>
            <a:r>
              <a:rPr lang="en-US" dirty="0"/>
              <a:t>Built-in Packages (packages from the Java API)</a:t>
            </a:r>
          </a:p>
          <a:p>
            <a:r>
              <a:rPr lang="en-US" dirty="0"/>
              <a:t>User-defined Packages (create your own packages</a:t>
            </a:r>
            <a:r>
              <a:rPr lang="en-US" dirty="0" smtClean="0"/>
              <a:t>)</a:t>
            </a:r>
          </a:p>
          <a:p>
            <a:r>
              <a:rPr lang="en-US" dirty="0"/>
              <a:t>There are many built-in packages such as java, </a:t>
            </a:r>
            <a:r>
              <a:rPr lang="en-US" dirty="0" err="1"/>
              <a:t>lang</a:t>
            </a:r>
            <a:r>
              <a:rPr lang="en-US" dirty="0"/>
              <a:t>, </a:t>
            </a:r>
            <a:r>
              <a:rPr lang="en-US" dirty="0" err="1"/>
              <a:t>awt</a:t>
            </a:r>
            <a:r>
              <a:rPr lang="en-US" dirty="0"/>
              <a:t>, </a:t>
            </a:r>
            <a:r>
              <a:rPr lang="en-US" dirty="0" err="1"/>
              <a:t>javax</a:t>
            </a:r>
            <a:r>
              <a:rPr lang="en-US" dirty="0"/>
              <a:t>, swing, net, </a:t>
            </a:r>
            <a:r>
              <a:rPr lang="en-US" dirty="0" err="1"/>
              <a:t>io</a:t>
            </a:r>
            <a:r>
              <a:rPr lang="en-US" dirty="0"/>
              <a:t>, </a:t>
            </a:r>
            <a:r>
              <a:rPr lang="en-US" dirty="0" err="1"/>
              <a:t>util</a:t>
            </a:r>
            <a:r>
              <a:rPr lang="en-US" dirty="0"/>
              <a:t>, </a:t>
            </a:r>
            <a:r>
              <a:rPr lang="en-US" dirty="0" err="1"/>
              <a:t>sql</a:t>
            </a:r>
            <a:r>
              <a:rPr lang="en-US" dirty="0"/>
              <a:t> etc.</a:t>
            </a:r>
          </a:p>
          <a:p>
            <a:endParaRPr lang="en-IN" dirty="0"/>
          </a:p>
        </p:txBody>
      </p:sp>
    </p:spTree>
    <p:extLst>
      <p:ext uri="{BB962C8B-B14F-4D97-AF65-F5344CB8AC3E}">
        <p14:creationId xmlns:p14="http://schemas.microsoft.com/office/powerpoint/2010/main" val="3478319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92500" lnSpcReduction="20000"/>
          </a:bodyPr>
          <a:lstStyle/>
          <a:p>
            <a:r>
              <a:rPr lang="en-US" sz="2400" dirty="0"/>
              <a:t>Advantage of Java Package</a:t>
            </a:r>
          </a:p>
          <a:p>
            <a:r>
              <a:rPr lang="en-US" sz="2400" dirty="0"/>
              <a:t>1) Java package is used to categorize the classes and interfaces so that they can be easily maintained.</a:t>
            </a:r>
          </a:p>
          <a:p>
            <a:r>
              <a:rPr lang="en-US" sz="2400" dirty="0"/>
              <a:t>2) Java package provides access protection.</a:t>
            </a:r>
          </a:p>
          <a:p>
            <a:r>
              <a:rPr lang="en-US" sz="2400" dirty="0"/>
              <a:t>3) Java package removes naming collision</a:t>
            </a:r>
            <a:r>
              <a:rPr lang="en-US" sz="2400" dirty="0" smtClean="0"/>
              <a:t>.</a:t>
            </a:r>
          </a:p>
          <a:p>
            <a:endParaRPr lang="en-US" sz="2400" dirty="0" smtClean="0"/>
          </a:p>
          <a:p>
            <a:pPr fontAlgn="base"/>
            <a:r>
              <a:rPr lang="en-US" sz="2400" b="1" dirty="0"/>
              <a:t>1. Built-in Packages</a:t>
            </a:r>
          </a:p>
          <a:p>
            <a:pPr fontAlgn="base"/>
            <a:r>
              <a:rPr lang="en-US" sz="2400" dirty="0"/>
              <a:t>These packages consist of a large number of classes which are a part of Java </a:t>
            </a:r>
            <a:r>
              <a:rPr lang="en-US" sz="2400" b="1" dirty="0" err="1"/>
              <a:t>API</a:t>
            </a:r>
            <a:r>
              <a:rPr lang="en-US" sz="2400" dirty="0" err="1"/>
              <a:t>.Some</a:t>
            </a:r>
            <a:r>
              <a:rPr lang="en-US" sz="2400" dirty="0"/>
              <a:t> of the commonly used built-in packages are:</a:t>
            </a:r>
          </a:p>
          <a:p>
            <a:pPr fontAlgn="base"/>
            <a:r>
              <a:rPr lang="en-US" sz="2400" b="1" dirty="0" err="1"/>
              <a:t>java.lang</a:t>
            </a:r>
            <a:r>
              <a:rPr lang="en-US" sz="2400" b="1" dirty="0"/>
              <a:t>: </a:t>
            </a:r>
            <a:r>
              <a:rPr lang="en-US" sz="2400" dirty="0"/>
              <a:t>Contains language support classes(</a:t>
            </a:r>
            <a:r>
              <a:rPr lang="en-US" sz="2400" dirty="0" err="1"/>
              <a:t>e.g</a:t>
            </a:r>
            <a:r>
              <a:rPr lang="en-US" sz="2400" dirty="0"/>
              <a:t> classes which defines primitive data types, math operations). This package is automatically imported.</a:t>
            </a:r>
          </a:p>
          <a:p>
            <a:pPr fontAlgn="base"/>
            <a:r>
              <a:rPr lang="en-US" sz="2400" b="1" dirty="0"/>
              <a:t>java.io: </a:t>
            </a:r>
            <a:r>
              <a:rPr lang="en-US" sz="2400" dirty="0"/>
              <a:t>Contains classes for supporting input / output operations.</a:t>
            </a:r>
          </a:p>
          <a:p>
            <a:pPr fontAlgn="base"/>
            <a:r>
              <a:rPr lang="en-US" sz="2400" b="1" dirty="0" err="1"/>
              <a:t>java.util</a:t>
            </a:r>
            <a:r>
              <a:rPr lang="en-US" sz="2400" b="1" dirty="0"/>
              <a:t>: </a:t>
            </a:r>
            <a:r>
              <a:rPr lang="en-US" sz="2400" dirty="0"/>
              <a:t>Contains utility classes which implement data structures like Linked List, Dictionary and support ; for Date / Time operations.</a:t>
            </a:r>
          </a:p>
          <a:p>
            <a:endParaRPr lang="en-US" sz="2400" dirty="0"/>
          </a:p>
          <a:p>
            <a:pPr marL="0" indent="0">
              <a:buNone/>
            </a:pPr>
            <a:r>
              <a:rPr lang="en-US" sz="2400" dirty="0"/>
              <a:t/>
            </a:r>
            <a:br>
              <a:rPr lang="en-US" sz="2400" dirty="0"/>
            </a:br>
            <a:endParaRPr lang="en-IN" sz="2400" dirty="0"/>
          </a:p>
        </p:txBody>
      </p:sp>
    </p:spTree>
    <p:extLst>
      <p:ext uri="{BB962C8B-B14F-4D97-AF65-F5344CB8AC3E}">
        <p14:creationId xmlns:p14="http://schemas.microsoft.com/office/powerpoint/2010/main" val="3022775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85000" lnSpcReduction="10000"/>
          </a:bodyPr>
          <a:lstStyle/>
          <a:p>
            <a:endParaRPr lang="en-IN" dirty="0" smtClean="0"/>
          </a:p>
          <a:p>
            <a:endParaRPr lang="en-IN" dirty="0"/>
          </a:p>
          <a:p>
            <a:endParaRPr lang="en-IN" dirty="0" smtClean="0"/>
          </a:p>
          <a:p>
            <a:endParaRPr lang="en-IN" dirty="0"/>
          </a:p>
          <a:p>
            <a:endParaRPr lang="en-IN" dirty="0" smtClean="0"/>
          </a:p>
          <a:p>
            <a:endParaRPr lang="en-IN" dirty="0"/>
          </a:p>
          <a:p>
            <a:pPr fontAlgn="base"/>
            <a:endParaRPr lang="en-US" b="1" dirty="0" smtClean="0"/>
          </a:p>
          <a:p>
            <a:pPr fontAlgn="base"/>
            <a:endParaRPr lang="en-US" b="1" dirty="0"/>
          </a:p>
          <a:p>
            <a:pPr fontAlgn="base"/>
            <a:r>
              <a:rPr lang="en-US" b="1" dirty="0" smtClean="0"/>
              <a:t>2</a:t>
            </a:r>
            <a:r>
              <a:rPr lang="en-US" b="1" dirty="0"/>
              <a:t>. User-defined Packages</a:t>
            </a:r>
          </a:p>
          <a:p>
            <a:pPr fontAlgn="base"/>
            <a:r>
              <a:rPr lang="en-US" dirty="0"/>
              <a:t>These are the packages that are defined by the user</a:t>
            </a:r>
            <a:r>
              <a:rPr lang="en-US" dirty="0" smtClean="0"/>
              <a:t>.</a:t>
            </a:r>
          </a:p>
          <a:p>
            <a:pPr fontAlgn="base"/>
            <a:r>
              <a:rPr lang="en-US" dirty="0"/>
              <a:t>To create your own package, you need to understand that Java uses a file system directory to store them. Just like folders on your computer:</a:t>
            </a:r>
          </a:p>
          <a:p>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685800"/>
            <a:ext cx="65913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3750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85000" lnSpcReduction="20000"/>
          </a:bodyPr>
          <a:lstStyle/>
          <a:p>
            <a:endParaRPr lang="en-IN" dirty="0" smtClean="0"/>
          </a:p>
          <a:p>
            <a:endParaRPr lang="en-IN" dirty="0"/>
          </a:p>
          <a:p>
            <a:endParaRPr lang="en-IN" dirty="0" smtClean="0"/>
          </a:p>
          <a:p>
            <a:endParaRPr lang="en-US" dirty="0" smtClean="0"/>
          </a:p>
          <a:p>
            <a:endParaRPr lang="en-US" dirty="0"/>
          </a:p>
          <a:p>
            <a:r>
              <a:rPr lang="en-US" dirty="0" smtClean="0"/>
              <a:t>To </a:t>
            </a:r>
            <a:r>
              <a:rPr lang="en-US" dirty="0"/>
              <a:t>create a package, use the </a:t>
            </a:r>
            <a:r>
              <a:rPr lang="en-US" dirty="0"/>
              <a:t>package</a:t>
            </a:r>
            <a:r>
              <a:rPr lang="en-US" dirty="0"/>
              <a:t> keyword</a:t>
            </a:r>
            <a:r>
              <a:rPr lang="en-US" dirty="0" smtClean="0"/>
              <a:t>:</a:t>
            </a:r>
          </a:p>
          <a:p>
            <a:pPr marL="0" indent="0">
              <a:buNone/>
            </a:pPr>
            <a:endParaRPr lang="en-IN" dirty="0" smtClean="0"/>
          </a:p>
          <a:p>
            <a:pPr marL="0" indent="0">
              <a:buNone/>
            </a:pPr>
            <a:r>
              <a:rPr lang="en-IN" dirty="0" smtClean="0"/>
              <a:t>package </a:t>
            </a:r>
            <a:r>
              <a:rPr lang="en-IN" dirty="0" err="1"/>
              <a:t>mypack</a:t>
            </a:r>
            <a:r>
              <a:rPr lang="en-IN" dirty="0"/>
              <a:t>;</a:t>
            </a:r>
          </a:p>
          <a:p>
            <a:pPr marL="0" indent="0">
              <a:buNone/>
            </a:pPr>
            <a:r>
              <a:rPr lang="en-IN" dirty="0"/>
              <a:t>class </a:t>
            </a:r>
            <a:r>
              <a:rPr lang="en-IN" dirty="0" err="1"/>
              <a:t>MyPackageClass</a:t>
            </a:r>
            <a:r>
              <a:rPr lang="en-IN" dirty="0"/>
              <a:t>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System.out.println</a:t>
            </a:r>
            <a:r>
              <a:rPr lang="en-IN" dirty="0"/>
              <a:t>("This is my package!");</a:t>
            </a:r>
          </a:p>
          <a:p>
            <a:pPr marL="0" indent="0">
              <a:buNone/>
            </a:pPr>
            <a:r>
              <a:rPr lang="en-IN" dirty="0"/>
              <a:t>  }</a:t>
            </a:r>
          </a:p>
          <a:p>
            <a:pPr marL="0" indent="0">
              <a:buNone/>
            </a:pPr>
            <a:r>
              <a:rPr lang="en-IN" dirty="0"/>
              <a: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609600"/>
            <a:ext cx="3787775" cy="142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3750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85000" lnSpcReduction="20000"/>
          </a:bodyPr>
          <a:lstStyle/>
          <a:p>
            <a:r>
              <a:rPr lang="en-US" dirty="0"/>
              <a:t>Save the file as </a:t>
            </a:r>
            <a:r>
              <a:rPr lang="en-US" b="1" dirty="0"/>
              <a:t>MyPackageClass.java</a:t>
            </a:r>
            <a:r>
              <a:rPr lang="en-US" dirty="0"/>
              <a:t>, and compile it</a:t>
            </a:r>
            <a:r>
              <a:rPr lang="en-US" dirty="0" smtClean="0"/>
              <a:t>:</a:t>
            </a:r>
          </a:p>
          <a:p>
            <a:r>
              <a:rPr lang="en-IN" dirty="0" err="1"/>
              <a:t>javac</a:t>
            </a:r>
            <a:r>
              <a:rPr lang="en-IN" dirty="0"/>
              <a:t> -d . </a:t>
            </a:r>
            <a:r>
              <a:rPr lang="en-IN" dirty="0" smtClean="0"/>
              <a:t>MyPackageClass.java</a:t>
            </a:r>
          </a:p>
          <a:p>
            <a:endParaRPr lang="en-IN" dirty="0" smtClean="0"/>
          </a:p>
          <a:p>
            <a:r>
              <a:rPr lang="en-US" dirty="0"/>
              <a:t>This forces the compiler to create the "</a:t>
            </a:r>
            <a:r>
              <a:rPr lang="en-US" dirty="0" err="1"/>
              <a:t>mypack</a:t>
            </a:r>
            <a:r>
              <a:rPr lang="en-US" dirty="0"/>
              <a:t>" package.</a:t>
            </a:r>
          </a:p>
          <a:p>
            <a:r>
              <a:rPr lang="en-US" dirty="0"/>
              <a:t>The -d keyword specifies the destination for where to save the class file.</a:t>
            </a:r>
          </a:p>
          <a:p>
            <a:r>
              <a:rPr lang="en-US" dirty="0"/>
              <a:t>The package name should be written in lower case to avoid conflict with class </a:t>
            </a:r>
            <a:r>
              <a:rPr lang="en-US" dirty="0" smtClean="0"/>
              <a:t>names.</a:t>
            </a:r>
          </a:p>
          <a:p>
            <a:r>
              <a:rPr lang="en-US" dirty="0"/>
              <a:t>When we compiled the package in the example above, a new folder was created, called "</a:t>
            </a:r>
            <a:r>
              <a:rPr lang="en-US" dirty="0" err="1"/>
              <a:t>mypack</a:t>
            </a:r>
            <a:r>
              <a:rPr lang="en-US" dirty="0" smtClean="0"/>
              <a:t>".</a:t>
            </a:r>
          </a:p>
          <a:p>
            <a:endParaRPr lang="en-US" dirty="0"/>
          </a:p>
          <a:p>
            <a:r>
              <a:rPr lang="en-US" dirty="0"/>
              <a:t>To run the </a:t>
            </a:r>
            <a:r>
              <a:rPr lang="en-US" b="1" dirty="0"/>
              <a:t>MyPackageClass.java</a:t>
            </a:r>
            <a:r>
              <a:rPr lang="en-US" dirty="0"/>
              <a:t> file, write the following:</a:t>
            </a:r>
          </a:p>
          <a:p>
            <a:r>
              <a:rPr lang="en-IN" dirty="0"/>
              <a:t>java </a:t>
            </a:r>
            <a:r>
              <a:rPr lang="en-IN" dirty="0" err="1"/>
              <a:t>mypack.MyPackageClass</a:t>
            </a:r>
            <a:endParaRPr lang="en-IN" dirty="0"/>
          </a:p>
        </p:txBody>
      </p:sp>
    </p:spTree>
    <p:extLst>
      <p:ext uri="{BB962C8B-B14F-4D97-AF65-F5344CB8AC3E}">
        <p14:creationId xmlns:p14="http://schemas.microsoft.com/office/powerpoint/2010/main" val="2063750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85000" lnSpcReduction="10000"/>
          </a:bodyPr>
          <a:lstStyle/>
          <a:p>
            <a:r>
              <a:rPr lang="en-US" b="1" dirty="0"/>
              <a:t>How to access package from another package?</a:t>
            </a:r>
          </a:p>
          <a:p>
            <a:r>
              <a:rPr lang="en-US" dirty="0"/>
              <a:t>There are three ways to access the package from outside the package.</a:t>
            </a:r>
          </a:p>
          <a:p>
            <a:r>
              <a:rPr lang="en-US" dirty="0"/>
              <a:t>import package.*;</a:t>
            </a:r>
          </a:p>
          <a:p>
            <a:r>
              <a:rPr lang="en-US" dirty="0"/>
              <a:t>import </a:t>
            </a:r>
            <a:r>
              <a:rPr lang="en-US" dirty="0" err="1"/>
              <a:t>package.classname</a:t>
            </a:r>
            <a:r>
              <a:rPr lang="en-US" dirty="0"/>
              <a:t>;</a:t>
            </a:r>
          </a:p>
          <a:p>
            <a:r>
              <a:rPr lang="en-US" dirty="0"/>
              <a:t>fully qualified name</a:t>
            </a:r>
            <a:r>
              <a:rPr lang="en-US" dirty="0" smtClean="0"/>
              <a:t>.</a:t>
            </a:r>
          </a:p>
          <a:p>
            <a:endParaRPr lang="en-US" dirty="0"/>
          </a:p>
          <a:p>
            <a:r>
              <a:rPr lang="en-US" dirty="0"/>
              <a:t>1) Using packagename.*</a:t>
            </a:r>
          </a:p>
          <a:p>
            <a:r>
              <a:rPr lang="en-US" dirty="0"/>
              <a:t>If you use package.* then all the classes and interfaces of this package will be accessible but not </a:t>
            </a:r>
            <a:r>
              <a:rPr lang="en-US" dirty="0" err="1"/>
              <a:t>subpackages</a:t>
            </a:r>
            <a:r>
              <a:rPr lang="en-US" dirty="0"/>
              <a:t>.</a:t>
            </a:r>
          </a:p>
          <a:p>
            <a:r>
              <a:rPr lang="en-US" dirty="0"/>
              <a:t>The import keyword is used to make the classes and interface of another package accessible to the current package.</a:t>
            </a:r>
          </a:p>
          <a:p>
            <a:endParaRPr lang="en-IN" dirty="0"/>
          </a:p>
        </p:txBody>
      </p:sp>
    </p:spTree>
    <p:extLst>
      <p:ext uri="{BB962C8B-B14F-4D97-AF65-F5344CB8AC3E}">
        <p14:creationId xmlns:p14="http://schemas.microsoft.com/office/powerpoint/2010/main" val="2063750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0000" lnSpcReduction="20000"/>
          </a:bodyPr>
          <a:lstStyle/>
          <a:p>
            <a:r>
              <a:rPr lang="en-IN" dirty="0" smtClean="0"/>
              <a:t>Example – </a:t>
            </a:r>
          </a:p>
          <a:p>
            <a:pPr marL="0" indent="0">
              <a:buNone/>
            </a:pPr>
            <a:r>
              <a:rPr lang="en-IN" dirty="0"/>
              <a:t>//save by A.java  </a:t>
            </a:r>
          </a:p>
          <a:p>
            <a:pPr marL="0" indent="0">
              <a:buNone/>
            </a:pPr>
            <a:r>
              <a:rPr lang="en-IN" b="1" dirty="0"/>
              <a:t>package</a:t>
            </a:r>
            <a:r>
              <a:rPr lang="en-IN" dirty="0"/>
              <a:t> pack;  </a:t>
            </a:r>
          </a:p>
          <a:p>
            <a:pPr marL="0" indent="0">
              <a:buNone/>
            </a:pPr>
            <a:r>
              <a:rPr lang="en-IN" b="1" dirty="0"/>
              <a:t>public</a:t>
            </a:r>
            <a:r>
              <a:rPr lang="en-IN" dirty="0"/>
              <a:t> </a:t>
            </a:r>
            <a:r>
              <a:rPr lang="en-IN" b="1" dirty="0"/>
              <a:t>class</a:t>
            </a:r>
            <a:r>
              <a:rPr lang="en-IN" dirty="0"/>
              <a:t> A{  </a:t>
            </a:r>
          </a:p>
          <a:p>
            <a:pPr marL="0" indent="0">
              <a:buNone/>
            </a:pPr>
            <a:r>
              <a:rPr lang="en-IN" dirty="0"/>
              <a:t>  </a:t>
            </a:r>
            <a:r>
              <a:rPr lang="en-IN" b="1" dirty="0"/>
              <a:t>public</a:t>
            </a:r>
            <a:r>
              <a:rPr lang="en-IN" dirty="0"/>
              <a:t> </a:t>
            </a:r>
            <a:r>
              <a:rPr lang="en-IN" b="1" dirty="0"/>
              <a:t>void</a:t>
            </a:r>
            <a:r>
              <a:rPr lang="en-IN" dirty="0"/>
              <a:t> </a:t>
            </a:r>
            <a:r>
              <a:rPr lang="en-IN" dirty="0" err="1"/>
              <a:t>msg</a:t>
            </a:r>
            <a:r>
              <a:rPr lang="en-IN" dirty="0"/>
              <a:t>(){</a:t>
            </a:r>
            <a:r>
              <a:rPr lang="en-IN" dirty="0" err="1"/>
              <a:t>System.out.println</a:t>
            </a:r>
            <a:r>
              <a:rPr lang="en-IN" dirty="0"/>
              <a:t>("Hello");} </a:t>
            </a:r>
          </a:p>
          <a:p>
            <a:pPr marL="0" indent="0">
              <a:buNone/>
            </a:pPr>
            <a:r>
              <a:rPr lang="en-IN" dirty="0"/>
              <a:t>}  </a:t>
            </a:r>
            <a:endParaRPr lang="en-IN" dirty="0" smtClean="0"/>
          </a:p>
          <a:p>
            <a:pPr marL="0" indent="0">
              <a:buNone/>
            </a:pPr>
            <a:endParaRPr lang="en-IN" dirty="0"/>
          </a:p>
          <a:p>
            <a:pPr marL="0" indent="0">
              <a:buNone/>
            </a:pPr>
            <a:r>
              <a:rPr lang="en-IN" dirty="0"/>
              <a:t>//save by B.java  </a:t>
            </a:r>
          </a:p>
          <a:p>
            <a:pPr marL="0" indent="0">
              <a:buNone/>
            </a:pPr>
            <a:r>
              <a:rPr lang="en-IN" b="1" dirty="0"/>
              <a:t>package</a:t>
            </a:r>
            <a:r>
              <a:rPr lang="en-IN" dirty="0"/>
              <a:t> </a:t>
            </a:r>
            <a:r>
              <a:rPr lang="en-IN" dirty="0" err="1"/>
              <a:t>mypack</a:t>
            </a:r>
            <a:r>
              <a:rPr lang="en-IN" dirty="0"/>
              <a:t>;  </a:t>
            </a:r>
          </a:p>
          <a:p>
            <a:pPr marL="0" indent="0">
              <a:buNone/>
            </a:pPr>
            <a:r>
              <a:rPr lang="en-IN" b="1" dirty="0"/>
              <a:t>import</a:t>
            </a:r>
            <a:r>
              <a:rPr lang="en-IN" dirty="0"/>
              <a:t> pack.*;  </a:t>
            </a:r>
          </a:p>
          <a:p>
            <a:pPr marL="0" indent="0">
              <a:buNone/>
            </a:pPr>
            <a:r>
              <a:rPr lang="en-IN" dirty="0"/>
              <a:t>  </a:t>
            </a:r>
          </a:p>
          <a:p>
            <a:pPr marL="0" indent="0">
              <a:buNone/>
            </a:pPr>
            <a:r>
              <a:rPr lang="en-IN" b="1" dirty="0"/>
              <a:t>class</a:t>
            </a:r>
            <a:r>
              <a:rPr lang="en-IN" dirty="0"/>
              <a:t> B{  </a:t>
            </a:r>
          </a:p>
          <a:p>
            <a:pPr marL="0" indent="0">
              <a:buNone/>
            </a:pPr>
            <a:r>
              <a:rPr lang="en-IN" dirty="0"/>
              <a:t>  </a:t>
            </a:r>
            <a:r>
              <a:rPr lang="en-IN" b="1" dirty="0"/>
              <a:t>public</a:t>
            </a:r>
            <a:r>
              <a:rPr lang="en-IN" dirty="0"/>
              <a:t> </a:t>
            </a:r>
            <a:r>
              <a:rPr lang="en-IN" b="1" dirty="0"/>
              <a:t>static</a:t>
            </a:r>
            <a:r>
              <a:rPr lang="en-IN" dirty="0"/>
              <a:t> </a:t>
            </a:r>
            <a:r>
              <a:rPr lang="en-IN" b="1" dirty="0"/>
              <a:t>void</a:t>
            </a:r>
            <a:r>
              <a:rPr lang="en-IN" dirty="0"/>
              <a:t> main(String </a:t>
            </a:r>
            <a:r>
              <a:rPr lang="en-IN" dirty="0" err="1"/>
              <a:t>args</a:t>
            </a:r>
            <a:r>
              <a:rPr lang="en-IN" dirty="0"/>
              <a:t>[]){  </a:t>
            </a:r>
          </a:p>
          <a:p>
            <a:pPr marL="0" indent="0">
              <a:buNone/>
            </a:pPr>
            <a:r>
              <a:rPr lang="en-IN" dirty="0"/>
              <a:t>   A </a:t>
            </a:r>
            <a:r>
              <a:rPr lang="en-IN" dirty="0" err="1"/>
              <a:t>obj</a:t>
            </a:r>
            <a:r>
              <a:rPr lang="en-IN" dirty="0"/>
              <a:t> = </a:t>
            </a:r>
            <a:r>
              <a:rPr lang="en-IN" b="1" dirty="0"/>
              <a:t>new</a:t>
            </a:r>
            <a:r>
              <a:rPr lang="en-IN" dirty="0"/>
              <a:t> A();  </a:t>
            </a:r>
          </a:p>
          <a:p>
            <a:pPr marL="0" indent="0">
              <a:buNone/>
            </a:pPr>
            <a:r>
              <a:rPr lang="en-IN" dirty="0"/>
              <a:t>   obj.msg();  </a:t>
            </a:r>
          </a:p>
          <a:p>
            <a:pPr marL="0" indent="0">
              <a:buNone/>
            </a:pPr>
            <a:r>
              <a:rPr lang="en-IN" dirty="0"/>
              <a:t>  }  </a:t>
            </a:r>
          </a:p>
          <a:p>
            <a:pPr marL="0" indent="0">
              <a:buNone/>
            </a:pPr>
            <a:r>
              <a:rPr lang="en-IN" dirty="0"/>
              <a:t>}  </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2063750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lnSpcReduction="10000"/>
          </a:bodyPr>
          <a:lstStyle/>
          <a:p>
            <a:r>
              <a:rPr lang="en-IN" dirty="0" smtClean="0"/>
              <a:t>Now first compile A.java – </a:t>
            </a:r>
          </a:p>
          <a:p>
            <a:r>
              <a:rPr lang="en-IN" dirty="0" err="1"/>
              <a:t>javac</a:t>
            </a:r>
            <a:r>
              <a:rPr lang="en-IN" dirty="0"/>
              <a:t> -d . </a:t>
            </a:r>
            <a:r>
              <a:rPr lang="en-IN" dirty="0" smtClean="0"/>
              <a:t>A.java</a:t>
            </a:r>
          </a:p>
          <a:p>
            <a:r>
              <a:rPr lang="en-IN" dirty="0" smtClean="0"/>
              <a:t>Compile B.java – </a:t>
            </a:r>
          </a:p>
          <a:p>
            <a:r>
              <a:rPr lang="en-IN" dirty="0" err="1"/>
              <a:t>javac</a:t>
            </a:r>
            <a:r>
              <a:rPr lang="en-IN" dirty="0"/>
              <a:t> -d . </a:t>
            </a:r>
            <a:r>
              <a:rPr lang="en-IN" dirty="0" smtClean="0"/>
              <a:t>B.java</a:t>
            </a:r>
          </a:p>
          <a:p>
            <a:r>
              <a:rPr lang="en-IN" dirty="0" smtClean="0"/>
              <a:t>Now run the B class file – </a:t>
            </a:r>
          </a:p>
          <a:p>
            <a:r>
              <a:rPr lang="en-IN" dirty="0"/>
              <a:t>j</a:t>
            </a:r>
            <a:r>
              <a:rPr lang="en-IN" dirty="0" smtClean="0"/>
              <a:t>ava </a:t>
            </a:r>
            <a:r>
              <a:rPr lang="en-IN" dirty="0" err="1" smtClean="0"/>
              <a:t>mypack.B</a:t>
            </a:r>
            <a:endParaRPr lang="en-IN" dirty="0" smtClean="0"/>
          </a:p>
          <a:p>
            <a:endParaRPr lang="en-IN" dirty="0" smtClean="0"/>
          </a:p>
          <a:p>
            <a:r>
              <a:rPr lang="en-US" dirty="0"/>
              <a:t>2) Using </a:t>
            </a:r>
            <a:r>
              <a:rPr lang="en-US" dirty="0" err="1"/>
              <a:t>packagename.classname</a:t>
            </a:r>
            <a:endParaRPr lang="en-US" dirty="0"/>
          </a:p>
          <a:p>
            <a:r>
              <a:rPr lang="en-US" dirty="0"/>
              <a:t>If you import </a:t>
            </a:r>
            <a:r>
              <a:rPr lang="en-US" dirty="0" err="1"/>
              <a:t>package.classname</a:t>
            </a:r>
            <a:r>
              <a:rPr lang="en-US" dirty="0"/>
              <a:t> then only declared class of this package will be accessible.</a:t>
            </a:r>
          </a:p>
          <a:p>
            <a:endParaRPr lang="en-IN" dirty="0"/>
          </a:p>
        </p:txBody>
      </p:sp>
    </p:spTree>
    <p:extLst>
      <p:ext uri="{BB962C8B-B14F-4D97-AF65-F5344CB8AC3E}">
        <p14:creationId xmlns:p14="http://schemas.microsoft.com/office/powerpoint/2010/main" val="2063750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0000" lnSpcReduction="20000"/>
          </a:bodyPr>
          <a:lstStyle/>
          <a:p>
            <a:pPr marL="0" indent="0">
              <a:buNone/>
            </a:pPr>
            <a:r>
              <a:rPr lang="en-IN" dirty="0"/>
              <a:t>//save by A.java  </a:t>
            </a:r>
          </a:p>
          <a:p>
            <a:pPr marL="0" indent="0">
              <a:buNone/>
            </a:pPr>
            <a:r>
              <a:rPr lang="en-IN" dirty="0"/>
              <a:t>  </a:t>
            </a:r>
          </a:p>
          <a:p>
            <a:pPr marL="0" indent="0">
              <a:buNone/>
            </a:pPr>
            <a:r>
              <a:rPr lang="en-IN" b="1" dirty="0"/>
              <a:t>package</a:t>
            </a:r>
            <a:r>
              <a:rPr lang="en-IN" dirty="0"/>
              <a:t> pack;  </a:t>
            </a:r>
          </a:p>
          <a:p>
            <a:pPr marL="0" indent="0">
              <a:buNone/>
            </a:pPr>
            <a:r>
              <a:rPr lang="en-IN" b="1" dirty="0"/>
              <a:t>public</a:t>
            </a:r>
            <a:r>
              <a:rPr lang="en-IN" dirty="0"/>
              <a:t> </a:t>
            </a:r>
            <a:r>
              <a:rPr lang="en-IN" b="1" dirty="0"/>
              <a:t>class</a:t>
            </a:r>
            <a:r>
              <a:rPr lang="en-IN" dirty="0"/>
              <a:t> A{  </a:t>
            </a:r>
          </a:p>
          <a:p>
            <a:pPr marL="0" indent="0">
              <a:buNone/>
            </a:pPr>
            <a:r>
              <a:rPr lang="en-IN" dirty="0"/>
              <a:t>  </a:t>
            </a:r>
            <a:r>
              <a:rPr lang="en-IN" b="1" dirty="0"/>
              <a:t>public</a:t>
            </a:r>
            <a:r>
              <a:rPr lang="en-IN" dirty="0"/>
              <a:t> </a:t>
            </a:r>
            <a:r>
              <a:rPr lang="en-IN" b="1" dirty="0"/>
              <a:t>void</a:t>
            </a:r>
            <a:r>
              <a:rPr lang="en-IN" dirty="0"/>
              <a:t> </a:t>
            </a:r>
            <a:r>
              <a:rPr lang="en-IN" dirty="0" err="1"/>
              <a:t>msg</a:t>
            </a:r>
            <a:r>
              <a:rPr lang="en-IN" dirty="0"/>
              <a:t>(){</a:t>
            </a:r>
            <a:r>
              <a:rPr lang="en-IN" dirty="0" err="1"/>
              <a:t>System.out.println</a:t>
            </a:r>
            <a:r>
              <a:rPr lang="en-IN" dirty="0"/>
              <a:t>("Hello");}  </a:t>
            </a:r>
          </a:p>
          <a:p>
            <a:pPr marL="0" indent="0">
              <a:buNone/>
            </a:pPr>
            <a:r>
              <a:rPr lang="en-IN" dirty="0"/>
              <a:t>}  </a:t>
            </a:r>
            <a:endParaRPr lang="en-IN" dirty="0" smtClean="0"/>
          </a:p>
          <a:p>
            <a:pPr marL="0" indent="0">
              <a:buNone/>
            </a:pPr>
            <a:endParaRPr lang="en-IN" dirty="0"/>
          </a:p>
          <a:p>
            <a:pPr marL="0" indent="0">
              <a:buNone/>
            </a:pPr>
            <a:r>
              <a:rPr lang="en-IN" dirty="0"/>
              <a:t>//save by B.java  </a:t>
            </a:r>
          </a:p>
          <a:p>
            <a:pPr marL="0" indent="0">
              <a:buNone/>
            </a:pPr>
            <a:r>
              <a:rPr lang="en-IN" b="1" dirty="0"/>
              <a:t>package</a:t>
            </a:r>
            <a:r>
              <a:rPr lang="en-IN" dirty="0"/>
              <a:t> </a:t>
            </a:r>
            <a:r>
              <a:rPr lang="en-IN" dirty="0" err="1"/>
              <a:t>mypack</a:t>
            </a:r>
            <a:r>
              <a:rPr lang="en-IN" dirty="0"/>
              <a:t>;  </a:t>
            </a:r>
          </a:p>
          <a:p>
            <a:pPr marL="0" indent="0">
              <a:buNone/>
            </a:pPr>
            <a:r>
              <a:rPr lang="en-IN" b="1" dirty="0"/>
              <a:t>import</a:t>
            </a:r>
            <a:r>
              <a:rPr lang="en-IN" dirty="0"/>
              <a:t> </a:t>
            </a:r>
            <a:r>
              <a:rPr lang="en-IN" dirty="0" err="1"/>
              <a:t>pack.A</a:t>
            </a:r>
            <a:r>
              <a:rPr lang="en-IN" dirty="0"/>
              <a:t>;  </a:t>
            </a:r>
          </a:p>
          <a:p>
            <a:pPr marL="0" indent="0">
              <a:buNone/>
            </a:pPr>
            <a:r>
              <a:rPr lang="en-IN" dirty="0"/>
              <a:t>  </a:t>
            </a:r>
          </a:p>
          <a:p>
            <a:pPr marL="0" indent="0">
              <a:buNone/>
            </a:pPr>
            <a:r>
              <a:rPr lang="en-IN" b="1" dirty="0"/>
              <a:t>class</a:t>
            </a:r>
            <a:r>
              <a:rPr lang="en-IN" dirty="0"/>
              <a:t> B{  </a:t>
            </a:r>
          </a:p>
          <a:p>
            <a:pPr marL="0" indent="0">
              <a:buNone/>
            </a:pPr>
            <a:r>
              <a:rPr lang="en-IN" dirty="0"/>
              <a:t>  </a:t>
            </a:r>
            <a:r>
              <a:rPr lang="en-IN" b="1" dirty="0"/>
              <a:t>public</a:t>
            </a:r>
            <a:r>
              <a:rPr lang="en-IN" dirty="0"/>
              <a:t> </a:t>
            </a:r>
            <a:r>
              <a:rPr lang="en-IN" b="1" dirty="0"/>
              <a:t>static</a:t>
            </a:r>
            <a:r>
              <a:rPr lang="en-IN" dirty="0"/>
              <a:t> </a:t>
            </a:r>
            <a:r>
              <a:rPr lang="en-IN" b="1" dirty="0"/>
              <a:t>void</a:t>
            </a:r>
            <a:r>
              <a:rPr lang="en-IN" dirty="0"/>
              <a:t> main(String </a:t>
            </a:r>
            <a:r>
              <a:rPr lang="en-IN" dirty="0" err="1"/>
              <a:t>args</a:t>
            </a:r>
            <a:r>
              <a:rPr lang="en-IN" dirty="0"/>
              <a:t>[]){  </a:t>
            </a:r>
          </a:p>
          <a:p>
            <a:pPr marL="0" indent="0">
              <a:buNone/>
            </a:pPr>
            <a:r>
              <a:rPr lang="en-IN" dirty="0"/>
              <a:t>   A </a:t>
            </a:r>
            <a:r>
              <a:rPr lang="en-IN" dirty="0" err="1"/>
              <a:t>obj</a:t>
            </a:r>
            <a:r>
              <a:rPr lang="en-IN" dirty="0"/>
              <a:t> = </a:t>
            </a:r>
            <a:r>
              <a:rPr lang="en-IN" b="1" dirty="0"/>
              <a:t>new</a:t>
            </a:r>
            <a:r>
              <a:rPr lang="en-IN" dirty="0"/>
              <a:t> A();  </a:t>
            </a:r>
          </a:p>
          <a:p>
            <a:pPr marL="0" indent="0">
              <a:buNone/>
            </a:pPr>
            <a:r>
              <a:rPr lang="en-IN" dirty="0"/>
              <a:t>   obj.msg();  </a:t>
            </a:r>
          </a:p>
          <a:p>
            <a:pPr marL="0" indent="0">
              <a:buNone/>
            </a:pPr>
            <a:r>
              <a:rPr lang="en-IN" dirty="0"/>
              <a:t>  }  </a:t>
            </a:r>
          </a:p>
          <a:p>
            <a:pPr marL="0" indent="0">
              <a:buNone/>
            </a:pPr>
            <a:r>
              <a:rPr lang="en-IN" dirty="0"/>
              <a:t>}  </a:t>
            </a:r>
          </a:p>
          <a:p>
            <a:pPr marL="0" indent="0">
              <a:buNone/>
            </a:pPr>
            <a:endParaRPr lang="en-IN" dirty="0"/>
          </a:p>
        </p:txBody>
      </p:sp>
    </p:spTree>
    <p:extLst>
      <p:ext uri="{BB962C8B-B14F-4D97-AF65-F5344CB8AC3E}">
        <p14:creationId xmlns:p14="http://schemas.microsoft.com/office/powerpoint/2010/main" val="2063750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lstStyle/>
          <a:p>
            <a:r>
              <a:rPr lang="en-US" dirty="0"/>
              <a:t>3) Using fully qualified name</a:t>
            </a:r>
          </a:p>
          <a:p>
            <a:r>
              <a:rPr lang="en-US" dirty="0"/>
              <a:t>If you use fully qualified name then only declared class of this package will be accessible. Now there is no need to import. But you need to use fully qualified name every time when you are accessing the class or interface.</a:t>
            </a:r>
          </a:p>
          <a:p>
            <a:r>
              <a:rPr lang="en-US" dirty="0"/>
              <a:t>It is generally used when two packages have same class name e.g. </a:t>
            </a:r>
            <a:r>
              <a:rPr lang="en-US" dirty="0" err="1"/>
              <a:t>java.util</a:t>
            </a:r>
            <a:r>
              <a:rPr lang="en-US" dirty="0"/>
              <a:t> and </a:t>
            </a:r>
            <a:r>
              <a:rPr lang="en-US" dirty="0" err="1"/>
              <a:t>java.sql</a:t>
            </a:r>
            <a:r>
              <a:rPr lang="en-US" dirty="0"/>
              <a:t> packages contain Date class.</a:t>
            </a:r>
            <a:endParaRPr lang="en-IN" dirty="0"/>
          </a:p>
        </p:txBody>
      </p:sp>
    </p:spTree>
    <p:extLst>
      <p:ext uri="{BB962C8B-B14F-4D97-AF65-F5344CB8AC3E}">
        <p14:creationId xmlns:p14="http://schemas.microsoft.com/office/powerpoint/2010/main" val="2063750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0000" lnSpcReduction="20000"/>
          </a:bodyPr>
          <a:lstStyle/>
          <a:p>
            <a:pPr marL="0" indent="0">
              <a:buNone/>
            </a:pPr>
            <a:r>
              <a:rPr lang="en-IN" dirty="0"/>
              <a:t>//save by A.java  </a:t>
            </a:r>
          </a:p>
          <a:p>
            <a:pPr marL="0" indent="0">
              <a:buNone/>
            </a:pPr>
            <a:r>
              <a:rPr lang="en-IN" b="1" dirty="0"/>
              <a:t>package</a:t>
            </a:r>
            <a:r>
              <a:rPr lang="en-IN" dirty="0"/>
              <a:t> pack;  </a:t>
            </a:r>
          </a:p>
          <a:p>
            <a:pPr marL="0" indent="0">
              <a:buNone/>
            </a:pPr>
            <a:r>
              <a:rPr lang="en-IN" b="1" dirty="0"/>
              <a:t>public</a:t>
            </a:r>
            <a:r>
              <a:rPr lang="en-IN" dirty="0"/>
              <a:t> </a:t>
            </a:r>
            <a:r>
              <a:rPr lang="en-IN" b="1" dirty="0"/>
              <a:t>class</a:t>
            </a:r>
            <a:r>
              <a:rPr lang="en-IN" dirty="0"/>
              <a:t> A{  </a:t>
            </a:r>
          </a:p>
          <a:p>
            <a:pPr marL="0" indent="0">
              <a:buNone/>
            </a:pPr>
            <a:r>
              <a:rPr lang="en-IN" dirty="0"/>
              <a:t>  </a:t>
            </a:r>
            <a:r>
              <a:rPr lang="en-IN" b="1" dirty="0"/>
              <a:t>public</a:t>
            </a:r>
            <a:r>
              <a:rPr lang="en-IN" dirty="0"/>
              <a:t> </a:t>
            </a:r>
            <a:r>
              <a:rPr lang="en-IN" b="1" dirty="0"/>
              <a:t>void</a:t>
            </a:r>
            <a:r>
              <a:rPr lang="en-IN" dirty="0"/>
              <a:t> </a:t>
            </a:r>
            <a:r>
              <a:rPr lang="en-IN" dirty="0" err="1"/>
              <a:t>msg</a:t>
            </a:r>
            <a:r>
              <a:rPr lang="en-IN" dirty="0"/>
              <a:t>(){</a:t>
            </a:r>
            <a:r>
              <a:rPr lang="en-IN" dirty="0" err="1"/>
              <a:t>System.out.println</a:t>
            </a:r>
            <a:r>
              <a:rPr lang="en-IN" dirty="0"/>
              <a:t>("Hello");}  </a:t>
            </a:r>
          </a:p>
          <a:p>
            <a:pPr marL="0" indent="0">
              <a:buNone/>
            </a:pPr>
            <a:r>
              <a:rPr lang="en-IN" dirty="0"/>
              <a:t>}  </a:t>
            </a:r>
            <a:endParaRPr lang="en-IN" dirty="0" smtClean="0"/>
          </a:p>
          <a:p>
            <a:pPr marL="0" indent="0">
              <a:buNone/>
            </a:pPr>
            <a:endParaRPr lang="en-IN" dirty="0"/>
          </a:p>
          <a:p>
            <a:pPr marL="0" indent="0">
              <a:buNone/>
            </a:pPr>
            <a:r>
              <a:rPr lang="en-IN" dirty="0"/>
              <a:t>//save by B.java  </a:t>
            </a:r>
          </a:p>
          <a:p>
            <a:pPr marL="0" indent="0">
              <a:buNone/>
            </a:pPr>
            <a:r>
              <a:rPr lang="en-IN" b="1" dirty="0"/>
              <a:t>package</a:t>
            </a:r>
            <a:r>
              <a:rPr lang="en-IN" dirty="0"/>
              <a:t> </a:t>
            </a:r>
            <a:r>
              <a:rPr lang="en-IN" dirty="0" err="1"/>
              <a:t>mypack</a:t>
            </a:r>
            <a:r>
              <a:rPr lang="en-IN" dirty="0"/>
              <a:t>;  </a:t>
            </a:r>
          </a:p>
          <a:p>
            <a:pPr marL="0" indent="0">
              <a:buNone/>
            </a:pPr>
            <a:r>
              <a:rPr lang="en-IN" b="1" dirty="0"/>
              <a:t>class</a:t>
            </a:r>
            <a:r>
              <a:rPr lang="en-IN" dirty="0"/>
              <a:t> B{  </a:t>
            </a:r>
          </a:p>
          <a:p>
            <a:pPr marL="0" indent="0">
              <a:buNone/>
            </a:pPr>
            <a:r>
              <a:rPr lang="en-IN" dirty="0"/>
              <a:t>  </a:t>
            </a:r>
            <a:r>
              <a:rPr lang="en-IN" b="1" dirty="0"/>
              <a:t>public</a:t>
            </a:r>
            <a:r>
              <a:rPr lang="en-IN" dirty="0"/>
              <a:t> </a:t>
            </a:r>
            <a:r>
              <a:rPr lang="en-IN" b="1" dirty="0"/>
              <a:t>static</a:t>
            </a:r>
            <a:r>
              <a:rPr lang="en-IN" dirty="0"/>
              <a:t> </a:t>
            </a:r>
            <a:r>
              <a:rPr lang="en-IN" b="1" dirty="0"/>
              <a:t>void</a:t>
            </a:r>
            <a:r>
              <a:rPr lang="en-IN" dirty="0"/>
              <a:t> main(String </a:t>
            </a:r>
            <a:r>
              <a:rPr lang="en-IN" dirty="0" err="1"/>
              <a:t>args</a:t>
            </a:r>
            <a:r>
              <a:rPr lang="en-IN" dirty="0"/>
              <a:t>[]){  </a:t>
            </a:r>
          </a:p>
          <a:p>
            <a:pPr marL="0" indent="0">
              <a:buNone/>
            </a:pPr>
            <a:r>
              <a:rPr lang="en-IN" dirty="0"/>
              <a:t>   </a:t>
            </a:r>
            <a:r>
              <a:rPr lang="en-IN" dirty="0" err="1"/>
              <a:t>pack.A</a:t>
            </a:r>
            <a:r>
              <a:rPr lang="en-IN" dirty="0"/>
              <a:t> </a:t>
            </a:r>
            <a:r>
              <a:rPr lang="en-IN" dirty="0" err="1"/>
              <a:t>obj</a:t>
            </a:r>
            <a:r>
              <a:rPr lang="en-IN" dirty="0"/>
              <a:t> = </a:t>
            </a:r>
            <a:r>
              <a:rPr lang="en-IN" b="1" dirty="0"/>
              <a:t>new</a:t>
            </a:r>
            <a:r>
              <a:rPr lang="en-IN" dirty="0"/>
              <a:t> </a:t>
            </a:r>
            <a:r>
              <a:rPr lang="en-IN" dirty="0" err="1"/>
              <a:t>pack.A</a:t>
            </a:r>
            <a:r>
              <a:rPr lang="en-IN" dirty="0"/>
              <a:t>();//using fully qualified name  </a:t>
            </a:r>
          </a:p>
          <a:p>
            <a:pPr marL="0" indent="0">
              <a:buNone/>
            </a:pPr>
            <a:r>
              <a:rPr lang="en-IN" dirty="0"/>
              <a:t>   obj.msg();  </a:t>
            </a:r>
          </a:p>
          <a:p>
            <a:pPr marL="0" indent="0">
              <a:buNone/>
            </a:pPr>
            <a:r>
              <a:rPr lang="en-IN" dirty="0"/>
              <a:t>  }  </a:t>
            </a:r>
          </a:p>
          <a:p>
            <a:pPr marL="0" indent="0">
              <a:buNone/>
            </a:pPr>
            <a:r>
              <a:rPr lang="en-IN" dirty="0"/>
              <a:t>}  </a:t>
            </a:r>
            <a:endParaRPr lang="en-IN" dirty="0" smtClean="0"/>
          </a:p>
          <a:p>
            <a:r>
              <a:rPr lang="en-US" dirty="0"/>
              <a:t>If you import a package, all the classes and interface of that package will be imported excluding the classes and interfaces of the </a:t>
            </a:r>
            <a:r>
              <a:rPr lang="en-US" dirty="0" err="1"/>
              <a:t>subpackages</a:t>
            </a:r>
            <a:r>
              <a:rPr lang="en-US" dirty="0"/>
              <a:t>. Hence, you need to import the </a:t>
            </a:r>
            <a:r>
              <a:rPr lang="en-US" dirty="0" err="1"/>
              <a:t>subpackage</a:t>
            </a:r>
            <a:r>
              <a:rPr lang="en-US" dirty="0"/>
              <a:t> as well.</a:t>
            </a:r>
            <a:endParaRPr lang="en-IN" dirty="0"/>
          </a:p>
          <a:p>
            <a:pPr marL="0" indent="0">
              <a:buNone/>
            </a:pPr>
            <a:endParaRPr lang="en-IN" dirty="0"/>
          </a:p>
        </p:txBody>
      </p:sp>
    </p:spTree>
    <p:extLst>
      <p:ext uri="{BB962C8B-B14F-4D97-AF65-F5344CB8AC3E}">
        <p14:creationId xmlns:p14="http://schemas.microsoft.com/office/powerpoint/2010/main" val="2063750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85000" lnSpcReduction="20000"/>
          </a:bodyPr>
          <a:lstStyle/>
          <a:p>
            <a:r>
              <a:rPr lang="en-US" b="1" dirty="0" err="1"/>
              <a:t>Subpackage</a:t>
            </a:r>
            <a:r>
              <a:rPr lang="en-US" b="1" dirty="0"/>
              <a:t> in java</a:t>
            </a:r>
          </a:p>
          <a:p>
            <a:r>
              <a:rPr lang="en-US" dirty="0"/>
              <a:t>Package inside the package is called the </a:t>
            </a:r>
            <a:r>
              <a:rPr lang="en-US" b="1" dirty="0" err="1"/>
              <a:t>subpackage</a:t>
            </a:r>
            <a:r>
              <a:rPr lang="en-US" dirty="0"/>
              <a:t>. It should be created </a:t>
            </a:r>
            <a:r>
              <a:rPr lang="en-US" b="1" dirty="0"/>
              <a:t>to categorize the package further</a:t>
            </a:r>
            <a:r>
              <a:rPr lang="en-US" dirty="0"/>
              <a:t>.</a:t>
            </a:r>
          </a:p>
          <a:p>
            <a:r>
              <a:rPr lang="en-IN" dirty="0"/>
              <a:t>Let's take an example, Sun Microsystem has </a:t>
            </a:r>
            <a:r>
              <a:rPr lang="en-IN" dirty="0" err="1"/>
              <a:t>definded</a:t>
            </a:r>
            <a:r>
              <a:rPr lang="en-IN" dirty="0"/>
              <a:t> a package named java that contains many classes like System, String, Reader, Writer, Socket etc. These classes represent a particular group e.g. Reader and Writer classes are for </a:t>
            </a:r>
            <a:r>
              <a:rPr lang="en-IN" dirty="0" err="1"/>
              <a:t>Input/Output</a:t>
            </a:r>
            <a:r>
              <a:rPr lang="en-IN" dirty="0"/>
              <a:t> operation, Socket and </a:t>
            </a:r>
            <a:r>
              <a:rPr lang="en-IN" dirty="0" err="1"/>
              <a:t>ServerSocket</a:t>
            </a:r>
            <a:r>
              <a:rPr lang="en-IN" dirty="0"/>
              <a:t> classes are for networking </a:t>
            </a:r>
            <a:r>
              <a:rPr lang="en-IN" dirty="0" err="1"/>
              <a:t>etc</a:t>
            </a:r>
            <a:r>
              <a:rPr lang="en-IN" dirty="0"/>
              <a:t> and so on. So, Sun has subcategorized the java package into </a:t>
            </a:r>
            <a:r>
              <a:rPr lang="en-IN" dirty="0" err="1"/>
              <a:t>subpackages</a:t>
            </a:r>
            <a:r>
              <a:rPr lang="en-IN" dirty="0"/>
              <a:t> such as </a:t>
            </a:r>
            <a:r>
              <a:rPr lang="en-IN" dirty="0" err="1"/>
              <a:t>lang</a:t>
            </a:r>
            <a:r>
              <a:rPr lang="en-IN" dirty="0"/>
              <a:t>, net, </a:t>
            </a:r>
            <a:r>
              <a:rPr lang="en-IN" dirty="0" err="1"/>
              <a:t>io</a:t>
            </a:r>
            <a:r>
              <a:rPr lang="en-IN" dirty="0"/>
              <a:t> etc. and put the </a:t>
            </a:r>
            <a:r>
              <a:rPr lang="en-IN" dirty="0" err="1"/>
              <a:t>Input/Output</a:t>
            </a:r>
            <a:r>
              <a:rPr lang="en-IN" dirty="0"/>
              <a:t> related classes in </a:t>
            </a:r>
            <a:r>
              <a:rPr lang="en-IN" dirty="0" err="1"/>
              <a:t>io</a:t>
            </a:r>
            <a:r>
              <a:rPr lang="en-IN" dirty="0"/>
              <a:t> package, Server and </a:t>
            </a:r>
            <a:r>
              <a:rPr lang="en-IN" dirty="0" err="1"/>
              <a:t>ServerSocket</a:t>
            </a:r>
            <a:r>
              <a:rPr lang="en-IN" dirty="0"/>
              <a:t> classes in net packages and so on.</a:t>
            </a:r>
          </a:p>
          <a:p>
            <a:r>
              <a:rPr lang="en-IN" i="1" dirty="0"/>
              <a:t>The standard of defining package is </a:t>
            </a:r>
            <a:r>
              <a:rPr lang="en-IN" i="1" dirty="0" err="1"/>
              <a:t>domain.company.package</a:t>
            </a:r>
            <a:r>
              <a:rPr lang="en-IN" i="1" dirty="0"/>
              <a:t> e.g. </a:t>
            </a:r>
            <a:r>
              <a:rPr lang="en-IN" i="1" dirty="0" err="1" smtClean="0"/>
              <a:t>com.chitkara.bean</a:t>
            </a:r>
            <a:r>
              <a:rPr lang="en-IN" i="1" dirty="0" smtClean="0"/>
              <a:t> </a:t>
            </a:r>
            <a:r>
              <a:rPr lang="en-IN" i="1" dirty="0"/>
              <a:t>or </a:t>
            </a:r>
            <a:r>
              <a:rPr lang="en-IN" i="1" dirty="0" err="1"/>
              <a:t>org.sssit.dao</a:t>
            </a:r>
            <a:r>
              <a:rPr lang="en-IN" i="1" dirty="0"/>
              <a:t>.</a:t>
            </a:r>
          </a:p>
          <a:p>
            <a:endParaRPr lang="en-IN" dirty="0"/>
          </a:p>
        </p:txBody>
      </p:sp>
    </p:spTree>
    <p:extLst>
      <p:ext uri="{BB962C8B-B14F-4D97-AF65-F5344CB8AC3E}">
        <p14:creationId xmlns:p14="http://schemas.microsoft.com/office/powerpoint/2010/main" val="2063750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lstStyle/>
          <a:p>
            <a:r>
              <a:rPr lang="en-IN" dirty="0" smtClean="0"/>
              <a:t>Example – </a:t>
            </a:r>
          </a:p>
          <a:p>
            <a:pPr marL="0" indent="0">
              <a:buNone/>
            </a:pPr>
            <a:r>
              <a:rPr lang="en-IN" dirty="0"/>
              <a:t>package </a:t>
            </a:r>
            <a:r>
              <a:rPr lang="en-IN" dirty="0" err="1"/>
              <a:t>com.chitkara.core</a:t>
            </a:r>
            <a:r>
              <a:rPr lang="en-IN" dirty="0"/>
              <a:t>;  </a:t>
            </a:r>
          </a:p>
          <a:p>
            <a:pPr marL="0" indent="0">
              <a:buNone/>
            </a:pPr>
            <a:r>
              <a:rPr lang="en-IN" dirty="0"/>
              <a:t>class Demo{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System.out.println</a:t>
            </a:r>
            <a:r>
              <a:rPr lang="en-IN" dirty="0"/>
              <a:t>("Hello </a:t>
            </a:r>
            <a:r>
              <a:rPr lang="en-IN" dirty="0" err="1"/>
              <a:t>subpackage</a:t>
            </a:r>
            <a:r>
              <a:rPr lang="en-IN" dirty="0"/>
              <a:t>");  </a:t>
            </a:r>
          </a:p>
          <a:p>
            <a:pPr marL="0" indent="0">
              <a:buNone/>
            </a:pPr>
            <a:r>
              <a:rPr lang="en-IN" dirty="0"/>
              <a:t>  }  </a:t>
            </a:r>
          </a:p>
          <a:p>
            <a:pPr marL="0" indent="0">
              <a:buNone/>
            </a:pPr>
            <a:r>
              <a:rPr lang="en-IN" dirty="0"/>
              <a:t>} </a:t>
            </a:r>
            <a:endParaRPr lang="en-IN" dirty="0" smtClean="0"/>
          </a:p>
          <a:p>
            <a:r>
              <a:rPr lang="en-IN" dirty="0"/>
              <a:t>Compile it - java </a:t>
            </a:r>
            <a:r>
              <a:rPr lang="en-IN" dirty="0" err="1" smtClean="0"/>
              <a:t>com.chitkara.core.Demo</a:t>
            </a:r>
            <a:endParaRPr lang="en-IN" dirty="0" smtClean="0"/>
          </a:p>
          <a:p>
            <a:r>
              <a:rPr lang="en-IN" dirty="0"/>
              <a:t>Run it - java </a:t>
            </a:r>
            <a:r>
              <a:rPr lang="en-IN" dirty="0" err="1"/>
              <a:t>com.chitkara.core.Demo</a:t>
            </a:r>
            <a:endParaRPr lang="en-IN" dirty="0"/>
          </a:p>
        </p:txBody>
      </p:sp>
    </p:spTree>
    <p:extLst>
      <p:ext uri="{BB962C8B-B14F-4D97-AF65-F5344CB8AC3E}">
        <p14:creationId xmlns:p14="http://schemas.microsoft.com/office/powerpoint/2010/main" val="2063750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0000" lnSpcReduction="20000"/>
          </a:bodyPr>
          <a:lstStyle/>
          <a:p>
            <a:r>
              <a:rPr lang="en-IN" b="1" dirty="0"/>
              <a:t>Static Import in </a:t>
            </a:r>
            <a:r>
              <a:rPr lang="en-IN" b="1" dirty="0" smtClean="0"/>
              <a:t>Java – </a:t>
            </a:r>
          </a:p>
          <a:p>
            <a:r>
              <a:rPr lang="en-US" dirty="0"/>
              <a:t>In Java, </a:t>
            </a:r>
            <a:r>
              <a:rPr lang="en-US" b="1" dirty="0"/>
              <a:t>static import</a:t>
            </a:r>
            <a:r>
              <a:rPr lang="en-US" dirty="0"/>
              <a:t> (import static) allows us to import </a:t>
            </a:r>
            <a:r>
              <a:rPr lang="en-US" b="1" dirty="0"/>
              <a:t>static members</a:t>
            </a:r>
            <a:r>
              <a:rPr lang="en-US" dirty="0"/>
              <a:t> (methods and variables) of a class </a:t>
            </a:r>
            <a:r>
              <a:rPr lang="en-US" b="1" dirty="0"/>
              <a:t>directly</a:t>
            </a:r>
            <a:r>
              <a:rPr lang="en-US" dirty="0"/>
              <a:t>, so we don't need to prefix them with the class name</a:t>
            </a:r>
            <a:r>
              <a:rPr lang="en-US" dirty="0" smtClean="0"/>
              <a:t>.</a:t>
            </a:r>
          </a:p>
          <a:p>
            <a:endParaRPr lang="en-US" dirty="0" smtClean="0"/>
          </a:p>
          <a:p>
            <a:r>
              <a:rPr lang="en-US" dirty="0"/>
              <a:t>1. Without Static Import (Normal Way</a:t>
            </a:r>
            <a:r>
              <a:rPr lang="en-US" dirty="0" smtClean="0"/>
              <a:t>)</a:t>
            </a:r>
          </a:p>
          <a:p>
            <a:pPr marL="0" indent="0">
              <a:buNone/>
            </a:pPr>
            <a:endParaRPr lang="en-IN" b="1" dirty="0" smtClean="0"/>
          </a:p>
          <a:p>
            <a:pPr marL="0" indent="0">
              <a:buNone/>
            </a:pPr>
            <a:r>
              <a:rPr lang="en-IN" b="1" dirty="0" smtClean="0"/>
              <a:t>import </a:t>
            </a:r>
            <a:r>
              <a:rPr lang="en-IN" dirty="0" err="1"/>
              <a:t>java.lang</a:t>
            </a:r>
            <a:r>
              <a:rPr lang="en-IN" dirty="0"/>
              <a:t>.*; </a:t>
            </a:r>
            <a:r>
              <a:rPr lang="en-IN" i="1" dirty="0"/>
              <a:t>// optional as this is by default imported</a:t>
            </a:r>
            <a:br>
              <a:rPr lang="en-IN" i="1" dirty="0"/>
            </a:br>
            <a:r>
              <a:rPr lang="en-IN" i="1" dirty="0"/>
              <a:t/>
            </a:r>
            <a:br>
              <a:rPr lang="en-IN" i="1" dirty="0"/>
            </a:br>
            <a:r>
              <a:rPr lang="en-IN" b="1" dirty="0"/>
              <a:t>public class </a:t>
            </a:r>
            <a:r>
              <a:rPr lang="en-IN" dirty="0"/>
              <a:t>Main {</a:t>
            </a:r>
            <a:br>
              <a:rPr lang="en-IN" dirty="0"/>
            </a:br>
            <a:r>
              <a:rPr lang="en-IN" dirty="0"/>
              <a:t>    </a:t>
            </a:r>
            <a:r>
              <a:rPr lang="en-IN" b="1" dirty="0"/>
              <a:t>public static void </a:t>
            </a:r>
            <a:r>
              <a:rPr lang="en-IN" dirty="0"/>
              <a:t>main(String[] </a:t>
            </a:r>
            <a:r>
              <a:rPr lang="en-IN" dirty="0" err="1"/>
              <a:t>args</a:t>
            </a:r>
            <a:r>
              <a:rPr lang="en-IN" dirty="0"/>
              <a:t>) {</a:t>
            </a:r>
            <a:br>
              <a:rPr lang="en-IN" dirty="0"/>
            </a:br>
            <a:r>
              <a:rPr lang="en-IN" dirty="0"/>
              <a:t>        </a:t>
            </a:r>
            <a:r>
              <a:rPr lang="en-IN" dirty="0" err="1"/>
              <a:t>System.</a:t>
            </a:r>
            <a:r>
              <a:rPr lang="en-IN" b="1" i="1" dirty="0" err="1"/>
              <a:t>out</a:t>
            </a:r>
            <a:r>
              <a:rPr lang="en-IN" dirty="0" err="1"/>
              <a:t>.println</a:t>
            </a:r>
            <a:r>
              <a:rPr lang="en-IN" dirty="0"/>
              <a:t>(</a:t>
            </a:r>
            <a:r>
              <a:rPr lang="en-IN" dirty="0" err="1"/>
              <a:t>Math.</a:t>
            </a:r>
            <a:r>
              <a:rPr lang="en-IN" i="1" dirty="0" err="1"/>
              <a:t>sqrt</a:t>
            </a:r>
            <a:r>
              <a:rPr lang="en-IN" dirty="0"/>
              <a:t>(</a:t>
            </a:r>
            <a:r>
              <a:rPr lang="en-IN" dirty="0"/>
              <a:t>16</a:t>
            </a:r>
            <a:r>
              <a:rPr lang="en-IN" dirty="0"/>
              <a:t>));  </a:t>
            </a:r>
            <a:r>
              <a:rPr lang="en-IN" i="1" dirty="0"/>
              <a:t>// Using Math class name</a:t>
            </a:r>
            <a:br>
              <a:rPr lang="en-IN" i="1" dirty="0"/>
            </a:br>
            <a:r>
              <a:rPr lang="en-IN" i="1" dirty="0"/>
              <a:t>        </a:t>
            </a:r>
            <a:r>
              <a:rPr lang="en-IN" dirty="0" err="1"/>
              <a:t>System.</a:t>
            </a:r>
            <a:r>
              <a:rPr lang="en-IN" b="1" i="1" dirty="0" err="1"/>
              <a:t>out</a:t>
            </a:r>
            <a:r>
              <a:rPr lang="en-IN" dirty="0" err="1"/>
              <a:t>.println</a:t>
            </a:r>
            <a:r>
              <a:rPr lang="en-IN" dirty="0"/>
              <a:t>(</a:t>
            </a:r>
            <a:r>
              <a:rPr lang="en-IN" dirty="0" err="1"/>
              <a:t>Math.</a:t>
            </a:r>
            <a:r>
              <a:rPr lang="en-IN" b="1" i="1" dirty="0" err="1"/>
              <a:t>PI</a:t>
            </a:r>
            <a:r>
              <a:rPr lang="en-IN" dirty="0"/>
              <a:t>);       </a:t>
            </a:r>
            <a:r>
              <a:rPr lang="en-IN" i="1" dirty="0"/>
              <a:t>// Using Math class name</a:t>
            </a:r>
            <a:br>
              <a:rPr lang="en-IN" i="1" dirty="0"/>
            </a:br>
            <a:r>
              <a:rPr lang="en-IN" i="1" dirty="0"/>
              <a:t>  </a:t>
            </a:r>
            <a:r>
              <a:rPr lang="en-IN" dirty="0"/>
              <a:t>}</a:t>
            </a:r>
            <a:br>
              <a:rPr lang="en-IN" dirty="0"/>
            </a:br>
            <a:r>
              <a:rPr lang="en-IN" dirty="0"/>
              <a:t>}</a:t>
            </a:r>
            <a:br>
              <a:rPr lang="en-IN" dirty="0"/>
            </a:br>
            <a:r>
              <a:rPr lang="en-IN" dirty="0"/>
              <a:t/>
            </a:r>
            <a:br>
              <a:rPr lang="en-IN" dirty="0"/>
            </a:br>
            <a:r>
              <a:rPr lang="en-IN" dirty="0"/>
              <a:t/>
            </a:r>
            <a:br>
              <a:rPr lang="en-IN" dirty="0"/>
            </a:br>
            <a:endParaRPr lang="en-IN" b="1" dirty="0"/>
          </a:p>
        </p:txBody>
      </p:sp>
    </p:spTree>
    <p:extLst>
      <p:ext uri="{BB962C8B-B14F-4D97-AF65-F5344CB8AC3E}">
        <p14:creationId xmlns:p14="http://schemas.microsoft.com/office/powerpoint/2010/main" val="2063750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a:bodyPr>
          <a:lstStyle/>
          <a:p>
            <a:r>
              <a:rPr lang="en-IN" b="1" dirty="0"/>
              <a:t>2. With Static </a:t>
            </a:r>
            <a:r>
              <a:rPr lang="en-IN" b="1" dirty="0" smtClean="0"/>
              <a:t>Import – </a:t>
            </a:r>
          </a:p>
          <a:p>
            <a:pPr marL="0" indent="0">
              <a:buNone/>
            </a:pPr>
            <a:r>
              <a:rPr lang="en-IN" sz="2400" b="1" dirty="0"/>
              <a:t>import static </a:t>
            </a:r>
            <a:r>
              <a:rPr lang="en-IN" sz="2400" dirty="0" err="1"/>
              <a:t>java.lang.Math.</a:t>
            </a:r>
            <a:r>
              <a:rPr lang="en-IN" sz="2400" i="1" dirty="0" err="1"/>
              <a:t>sqrt</a:t>
            </a:r>
            <a:r>
              <a:rPr lang="en-IN" sz="2400" dirty="0"/>
              <a:t>;  </a:t>
            </a:r>
            <a:r>
              <a:rPr lang="en-IN" sz="2400" i="1" dirty="0"/>
              <a:t>// Importing static method</a:t>
            </a:r>
            <a:br>
              <a:rPr lang="en-IN" sz="2400" i="1" dirty="0"/>
            </a:br>
            <a:r>
              <a:rPr lang="en-IN" sz="2400" b="1" dirty="0"/>
              <a:t>import static </a:t>
            </a:r>
            <a:r>
              <a:rPr lang="en-IN" sz="2400" dirty="0" err="1"/>
              <a:t>java.lang.Math.</a:t>
            </a:r>
            <a:r>
              <a:rPr lang="en-IN" sz="2400" b="1" i="1" dirty="0" err="1"/>
              <a:t>PI</a:t>
            </a:r>
            <a:r>
              <a:rPr lang="en-IN" sz="2400" dirty="0"/>
              <a:t>;    </a:t>
            </a:r>
            <a:r>
              <a:rPr lang="en-IN" sz="2400" i="1" dirty="0"/>
              <a:t>// Importing static variable</a:t>
            </a:r>
            <a:br>
              <a:rPr lang="en-IN" sz="2400" i="1" dirty="0"/>
            </a:br>
            <a:r>
              <a:rPr lang="en-IN" sz="2400" i="1" dirty="0"/>
              <a:t/>
            </a:r>
            <a:br>
              <a:rPr lang="en-IN" sz="2400" i="1" dirty="0"/>
            </a:br>
            <a:r>
              <a:rPr lang="en-IN" sz="2400" b="1" dirty="0"/>
              <a:t>public class </a:t>
            </a:r>
            <a:r>
              <a:rPr lang="en-IN" sz="2400" dirty="0"/>
              <a:t>Main {</a:t>
            </a:r>
            <a:br>
              <a:rPr lang="en-IN" sz="2400" dirty="0"/>
            </a:br>
            <a:r>
              <a:rPr lang="en-IN" sz="2400" dirty="0"/>
              <a:t>    </a:t>
            </a:r>
            <a:r>
              <a:rPr lang="en-IN" sz="2400" b="1" dirty="0"/>
              <a:t>public static void </a:t>
            </a:r>
            <a:r>
              <a:rPr lang="en-IN" sz="2400" dirty="0"/>
              <a:t>main(String[] </a:t>
            </a:r>
            <a:r>
              <a:rPr lang="en-IN" sz="2400" dirty="0" err="1"/>
              <a:t>args</a:t>
            </a:r>
            <a:r>
              <a:rPr lang="en-IN" sz="2400" dirty="0"/>
              <a:t>) {</a:t>
            </a:r>
            <a:br>
              <a:rPr lang="en-IN" sz="2400" dirty="0"/>
            </a:br>
            <a:r>
              <a:rPr lang="en-IN" sz="2400" dirty="0"/>
              <a:t>        </a:t>
            </a:r>
            <a:r>
              <a:rPr lang="en-IN" sz="2400" dirty="0" err="1"/>
              <a:t>System.</a:t>
            </a:r>
            <a:r>
              <a:rPr lang="en-IN" sz="2400" b="1" i="1" dirty="0" err="1"/>
              <a:t>out</a:t>
            </a:r>
            <a:r>
              <a:rPr lang="en-IN" sz="2400" dirty="0" err="1"/>
              <a:t>.println</a:t>
            </a:r>
            <a:r>
              <a:rPr lang="en-IN" sz="2400" dirty="0"/>
              <a:t>(</a:t>
            </a:r>
            <a:r>
              <a:rPr lang="en-IN" sz="2400" i="1" dirty="0" err="1"/>
              <a:t>sqrt</a:t>
            </a:r>
            <a:r>
              <a:rPr lang="en-IN" sz="2400" dirty="0"/>
              <a:t>(</a:t>
            </a:r>
            <a:r>
              <a:rPr lang="en-IN" sz="2400" dirty="0"/>
              <a:t>16</a:t>
            </a:r>
            <a:r>
              <a:rPr lang="en-IN" sz="2400" dirty="0"/>
              <a:t>));  </a:t>
            </a:r>
            <a:r>
              <a:rPr lang="en-IN" sz="2400" i="1" dirty="0"/>
              <a:t>// Using Math class name</a:t>
            </a:r>
            <a:br>
              <a:rPr lang="en-IN" sz="2400" i="1" dirty="0"/>
            </a:br>
            <a:r>
              <a:rPr lang="en-IN" sz="2400" i="1" dirty="0"/>
              <a:t>        </a:t>
            </a:r>
            <a:r>
              <a:rPr lang="en-IN" sz="2400" dirty="0" err="1"/>
              <a:t>System.</a:t>
            </a:r>
            <a:r>
              <a:rPr lang="en-IN" sz="2400" b="1" i="1" dirty="0" err="1"/>
              <a:t>out</a:t>
            </a:r>
            <a:r>
              <a:rPr lang="en-IN" sz="2400" dirty="0" err="1"/>
              <a:t>.println</a:t>
            </a:r>
            <a:r>
              <a:rPr lang="en-IN" sz="2400" dirty="0"/>
              <a:t>(</a:t>
            </a:r>
            <a:r>
              <a:rPr lang="en-IN" sz="2400" b="1" i="1" dirty="0"/>
              <a:t>PI</a:t>
            </a:r>
            <a:r>
              <a:rPr lang="en-IN" sz="2400" dirty="0"/>
              <a:t>);       </a:t>
            </a:r>
            <a:r>
              <a:rPr lang="en-IN" sz="2400" i="1" dirty="0"/>
              <a:t>// Using Math class name</a:t>
            </a:r>
            <a:br>
              <a:rPr lang="en-IN" sz="2400" i="1" dirty="0"/>
            </a:br>
            <a:r>
              <a:rPr lang="en-IN" sz="2400" i="1" dirty="0"/>
              <a:t>  </a:t>
            </a:r>
            <a:r>
              <a:rPr lang="en-IN" sz="2400" dirty="0"/>
              <a:t>}</a:t>
            </a:r>
            <a:br>
              <a:rPr lang="en-IN" sz="2400" dirty="0"/>
            </a:br>
            <a:r>
              <a:rPr lang="en-IN" sz="2400" dirty="0"/>
              <a:t>}</a:t>
            </a:r>
            <a:br>
              <a:rPr lang="en-IN" sz="2400" dirty="0"/>
            </a:br>
            <a:r>
              <a:rPr lang="en-IN" sz="2400" dirty="0"/>
              <a:t/>
            </a:r>
            <a:br>
              <a:rPr lang="en-IN" sz="2400" dirty="0"/>
            </a:br>
            <a:r>
              <a:rPr lang="en-IN" dirty="0"/>
              <a:t/>
            </a:r>
            <a:br>
              <a:rPr lang="en-IN" dirty="0"/>
            </a:br>
            <a:endParaRPr lang="en-IN" dirty="0"/>
          </a:p>
          <a:p>
            <a:endParaRPr lang="en-IN" dirty="0"/>
          </a:p>
        </p:txBody>
      </p:sp>
    </p:spTree>
    <p:extLst>
      <p:ext uri="{BB962C8B-B14F-4D97-AF65-F5344CB8AC3E}">
        <p14:creationId xmlns:p14="http://schemas.microsoft.com/office/powerpoint/2010/main" val="2063750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7500" lnSpcReduction="20000"/>
          </a:bodyPr>
          <a:lstStyle/>
          <a:p>
            <a:r>
              <a:rPr lang="en-US" b="1" dirty="0"/>
              <a:t>3. Importing All Static Members</a:t>
            </a:r>
          </a:p>
          <a:p>
            <a:r>
              <a:rPr lang="en-US" dirty="0"/>
              <a:t>Instead of importing specific members, we can import </a:t>
            </a:r>
            <a:r>
              <a:rPr lang="en-US" b="1" dirty="0"/>
              <a:t>all</a:t>
            </a:r>
            <a:r>
              <a:rPr lang="en-US" dirty="0"/>
              <a:t> static members of a class using</a:t>
            </a:r>
            <a:r>
              <a:rPr lang="en-US" dirty="0" smtClean="0"/>
              <a:t>:</a:t>
            </a:r>
          </a:p>
          <a:p>
            <a:endParaRPr lang="en-US" dirty="0"/>
          </a:p>
          <a:p>
            <a:pPr marL="0" indent="0">
              <a:buNone/>
            </a:pPr>
            <a:r>
              <a:rPr lang="en-IN" b="1" dirty="0"/>
              <a:t>import static </a:t>
            </a:r>
            <a:r>
              <a:rPr lang="en-IN" dirty="0" err="1"/>
              <a:t>java.lang.Math</a:t>
            </a:r>
            <a:r>
              <a:rPr lang="en-IN" dirty="0"/>
              <a:t>.*;  </a:t>
            </a:r>
            <a:r>
              <a:rPr lang="en-IN" i="1" dirty="0"/>
              <a:t>// Importing all static members</a:t>
            </a:r>
            <a:br>
              <a:rPr lang="en-IN" i="1" dirty="0"/>
            </a:br>
            <a:r>
              <a:rPr lang="en-IN" i="1" dirty="0"/>
              <a:t/>
            </a:r>
            <a:br>
              <a:rPr lang="en-IN" i="1" dirty="0"/>
            </a:br>
            <a:r>
              <a:rPr lang="en-IN" b="1" dirty="0"/>
              <a:t>public class </a:t>
            </a:r>
            <a:r>
              <a:rPr lang="en-IN" dirty="0"/>
              <a:t>Main {</a:t>
            </a:r>
            <a:br>
              <a:rPr lang="en-IN" dirty="0"/>
            </a:br>
            <a:r>
              <a:rPr lang="en-IN" dirty="0"/>
              <a:t>    </a:t>
            </a:r>
            <a:r>
              <a:rPr lang="en-IN" b="1" dirty="0"/>
              <a:t>public static void </a:t>
            </a:r>
            <a:r>
              <a:rPr lang="en-IN" dirty="0"/>
              <a:t>main(String[] </a:t>
            </a:r>
            <a:r>
              <a:rPr lang="en-IN" dirty="0" err="1"/>
              <a:t>args</a:t>
            </a:r>
            <a:r>
              <a:rPr lang="en-IN" dirty="0"/>
              <a:t>) {</a:t>
            </a:r>
            <a:br>
              <a:rPr lang="en-IN" dirty="0"/>
            </a:br>
            <a:r>
              <a:rPr lang="en-IN" dirty="0"/>
              <a:t>        </a:t>
            </a:r>
            <a:r>
              <a:rPr lang="en-IN" dirty="0" err="1"/>
              <a:t>System.</a:t>
            </a:r>
            <a:r>
              <a:rPr lang="en-IN" b="1" i="1" dirty="0" err="1"/>
              <a:t>out</a:t>
            </a:r>
            <a:r>
              <a:rPr lang="en-IN" dirty="0" err="1"/>
              <a:t>.println</a:t>
            </a:r>
            <a:r>
              <a:rPr lang="en-IN" dirty="0"/>
              <a:t>(</a:t>
            </a:r>
            <a:r>
              <a:rPr lang="en-IN" i="1" dirty="0" err="1"/>
              <a:t>sqrt</a:t>
            </a:r>
            <a:r>
              <a:rPr lang="en-IN" dirty="0"/>
              <a:t>(</a:t>
            </a:r>
            <a:r>
              <a:rPr lang="en-IN" dirty="0"/>
              <a:t>16</a:t>
            </a:r>
            <a:r>
              <a:rPr lang="en-IN" dirty="0"/>
              <a:t>));  </a:t>
            </a:r>
            <a:r>
              <a:rPr lang="en-IN" i="1" dirty="0"/>
              <a:t>// Using Math class name</a:t>
            </a:r>
            <a:br>
              <a:rPr lang="en-IN" i="1" dirty="0"/>
            </a:br>
            <a:r>
              <a:rPr lang="en-IN" i="1" dirty="0"/>
              <a:t>        </a:t>
            </a:r>
            <a:r>
              <a:rPr lang="en-IN" dirty="0" err="1"/>
              <a:t>System.</a:t>
            </a:r>
            <a:r>
              <a:rPr lang="en-IN" b="1" i="1" dirty="0" err="1"/>
              <a:t>out</a:t>
            </a:r>
            <a:r>
              <a:rPr lang="en-IN" dirty="0" err="1"/>
              <a:t>.println</a:t>
            </a:r>
            <a:r>
              <a:rPr lang="en-IN" dirty="0"/>
              <a:t>(</a:t>
            </a:r>
            <a:r>
              <a:rPr lang="en-IN" b="1" i="1" dirty="0"/>
              <a:t>PI</a:t>
            </a:r>
            <a:r>
              <a:rPr lang="en-IN" dirty="0"/>
              <a:t>);       </a:t>
            </a:r>
            <a:r>
              <a:rPr lang="en-IN" i="1" dirty="0"/>
              <a:t>// Using Math class name</a:t>
            </a:r>
            <a:br>
              <a:rPr lang="en-IN" i="1" dirty="0"/>
            </a:br>
            <a:r>
              <a:rPr lang="en-IN" i="1" dirty="0"/>
              <a:t>  </a:t>
            </a:r>
            <a:r>
              <a:rPr lang="en-IN" dirty="0"/>
              <a:t>}</a:t>
            </a:r>
            <a:br>
              <a:rPr lang="en-IN" dirty="0"/>
            </a:br>
            <a:r>
              <a:rPr lang="en-IN" dirty="0"/>
              <a:t>}</a:t>
            </a:r>
            <a:br>
              <a:rPr lang="en-IN" dirty="0"/>
            </a:br>
            <a:r>
              <a:rPr lang="en-IN" dirty="0"/>
              <a:t/>
            </a:r>
            <a:br>
              <a:rPr lang="en-IN" dirty="0"/>
            </a:br>
            <a:r>
              <a:rPr lang="en-IN" dirty="0"/>
              <a:t/>
            </a:r>
            <a:br>
              <a:rPr lang="en-IN" dirty="0"/>
            </a:br>
            <a:endParaRPr lang="en-IN" dirty="0"/>
          </a:p>
        </p:txBody>
      </p:sp>
    </p:spTree>
    <p:extLst>
      <p:ext uri="{BB962C8B-B14F-4D97-AF65-F5344CB8AC3E}">
        <p14:creationId xmlns:p14="http://schemas.microsoft.com/office/powerpoint/2010/main" val="2063750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lstStyle/>
          <a:p>
            <a:r>
              <a:rPr lang="en-US" b="1" dirty="0"/>
              <a:t>4. Using Static Import with User-Defined </a:t>
            </a:r>
            <a:r>
              <a:rPr lang="en-US" b="1" dirty="0" smtClean="0"/>
              <a:t>Classes – </a:t>
            </a:r>
          </a:p>
          <a:p>
            <a:pPr marL="0" indent="0">
              <a:buNone/>
            </a:pPr>
            <a:r>
              <a:rPr lang="en-IN" dirty="0"/>
              <a:t>package </a:t>
            </a:r>
            <a:r>
              <a:rPr lang="en-IN" dirty="0" err="1"/>
              <a:t>mypackage</a:t>
            </a:r>
            <a:r>
              <a:rPr lang="en-IN" dirty="0"/>
              <a:t>;</a:t>
            </a:r>
          </a:p>
          <a:p>
            <a:pPr marL="0" indent="0">
              <a:buNone/>
            </a:pPr>
            <a:endParaRPr lang="en-IN" dirty="0"/>
          </a:p>
          <a:p>
            <a:pPr marL="0" indent="0">
              <a:buNone/>
            </a:pPr>
            <a:r>
              <a:rPr lang="en-IN" dirty="0"/>
              <a:t>public class Utility {</a:t>
            </a:r>
          </a:p>
          <a:p>
            <a:pPr marL="0" indent="0">
              <a:buNone/>
            </a:pPr>
            <a:r>
              <a:rPr lang="en-IN" dirty="0"/>
              <a:t>    public static void greet() {</a:t>
            </a:r>
          </a:p>
          <a:p>
            <a:pPr marL="0" indent="0">
              <a:buNone/>
            </a:pPr>
            <a:r>
              <a:rPr lang="en-IN" dirty="0"/>
              <a:t>        </a:t>
            </a:r>
            <a:r>
              <a:rPr lang="en-IN" dirty="0" err="1"/>
              <a:t>System.out.println</a:t>
            </a:r>
            <a:r>
              <a:rPr lang="en-IN" dirty="0"/>
              <a:t>("Hello from Utility class!");</a:t>
            </a:r>
          </a:p>
          <a:p>
            <a:pPr marL="0" indent="0">
              <a:buNone/>
            </a:pPr>
            <a:r>
              <a:rPr lang="en-IN" dirty="0"/>
              <a:t>    }</a:t>
            </a:r>
          </a:p>
          <a:p>
            <a:pPr marL="0" indent="0">
              <a:buNone/>
            </a:pPr>
            <a:r>
              <a:rPr lang="en-IN" dirty="0"/>
              <a:t>}</a:t>
            </a:r>
          </a:p>
          <a:p>
            <a:pPr marL="0" indent="0">
              <a:buNone/>
            </a:pPr>
            <a:endParaRPr lang="en-IN" b="1" dirty="0"/>
          </a:p>
        </p:txBody>
      </p:sp>
    </p:spTree>
    <p:extLst>
      <p:ext uri="{BB962C8B-B14F-4D97-AF65-F5344CB8AC3E}">
        <p14:creationId xmlns:p14="http://schemas.microsoft.com/office/powerpoint/2010/main" val="2063750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a:bodyPr>
          <a:lstStyle/>
          <a:p>
            <a:pPr marL="0" indent="0">
              <a:buNone/>
            </a:pPr>
            <a:r>
              <a:rPr lang="en-IN" sz="2000" dirty="0"/>
              <a:t>import static </a:t>
            </a:r>
            <a:r>
              <a:rPr lang="en-IN" sz="2000" dirty="0" err="1" smtClean="0"/>
              <a:t>mypackage.Test</a:t>
            </a:r>
            <a:r>
              <a:rPr lang="en-IN" sz="2000" dirty="0" smtClean="0"/>
              <a:t>.*;  </a:t>
            </a:r>
            <a:r>
              <a:rPr lang="en-IN" sz="2000" dirty="0"/>
              <a:t>// </a:t>
            </a:r>
            <a:r>
              <a:rPr lang="en-IN" sz="2000" dirty="0" smtClean="0"/>
              <a:t>Importing all </a:t>
            </a:r>
            <a:r>
              <a:rPr lang="en-IN" sz="2000" dirty="0"/>
              <a:t>static </a:t>
            </a:r>
            <a:r>
              <a:rPr lang="en-IN" sz="2000" dirty="0" smtClean="0"/>
              <a:t>member </a:t>
            </a:r>
            <a:r>
              <a:rPr lang="en-IN" sz="2000" dirty="0" err="1" smtClean="0"/>
              <a:t>fron</a:t>
            </a:r>
            <a:r>
              <a:rPr lang="en-IN" sz="2000" dirty="0" smtClean="0"/>
              <a:t> Test</a:t>
            </a:r>
            <a:endParaRPr lang="en-IN" sz="2000" dirty="0"/>
          </a:p>
          <a:p>
            <a:pPr marL="0" indent="0">
              <a:buNone/>
            </a:pPr>
            <a:endParaRPr lang="en-IN" sz="2000" dirty="0"/>
          </a:p>
          <a:p>
            <a:pPr marL="0" indent="0">
              <a:buNone/>
            </a:pPr>
            <a:r>
              <a:rPr lang="en-IN" sz="2000" dirty="0"/>
              <a:t>public class Test {</a:t>
            </a:r>
          </a:p>
          <a:p>
            <a:pPr marL="0" indent="0">
              <a:buNone/>
            </a:pPr>
            <a:r>
              <a:rPr lang="en-IN" sz="2000" dirty="0"/>
              <a:t>    public static void main(String[] </a:t>
            </a:r>
            <a:r>
              <a:rPr lang="en-IN" sz="2000" dirty="0" err="1"/>
              <a:t>args</a:t>
            </a:r>
            <a:r>
              <a:rPr lang="en-IN" sz="2000" dirty="0"/>
              <a:t>) {</a:t>
            </a:r>
          </a:p>
          <a:p>
            <a:pPr marL="0" indent="0">
              <a:buNone/>
            </a:pPr>
            <a:r>
              <a:rPr lang="en-IN" sz="2000" dirty="0"/>
              <a:t>        greet();  // Directly calling greet() without </a:t>
            </a:r>
            <a:r>
              <a:rPr lang="en-IN" sz="2000" dirty="0" err="1"/>
              <a:t>Utility.greet</a:t>
            </a:r>
            <a:r>
              <a:rPr lang="en-IN" sz="2000" dirty="0"/>
              <a:t>()</a:t>
            </a:r>
          </a:p>
          <a:p>
            <a:pPr marL="0" indent="0">
              <a:buNone/>
            </a:pPr>
            <a:r>
              <a:rPr lang="en-IN" sz="2000" dirty="0"/>
              <a:t>    }</a:t>
            </a:r>
          </a:p>
          <a:p>
            <a:pPr marL="0" indent="0">
              <a:buNone/>
            </a:pPr>
            <a:r>
              <a:rPr lang="en-IN" sz="2000" dirty="0" smtClean="0"/>
              <a:t>}</a:t>
            </a:r>
          </a:p>
          <a:p>
            <a:pPr marL="0" indent="0">
              <a:buNone/>
            </a:pPr>
            <a:endParaRPr lang="en-IN" sz="2000" dirty="0"/>
          </a:p>
          <a:p>
            <a:r>
              <a:rPr lang="en-US" sz="2000" b="1" dirty="0"/>
              <a:t>When to Use Static Import?</a:t>
            </a:r>
          </a:p>
          <a:p>
            <a:r>
              <a:rPr lang="en-US" sz="2000" dirty="0"/>
              <a:t>✔ When frequently using static members from a class.</a:t>
            </a:r>
            <a:br>
              <a:rPr lang="en-US" sz="2000" dirty="0"/>
            </a:br>
            <a:r>
              <a:rPr lang="en-US" sz="2000" dirty="0"/>
              <a:t>✔ When improving code readability.</a:t>
            </a:r>
          </a:p>
          <a:p>
            <a:r>
              <a:rPr lang="en-US" sz="2000" dirty="0"/>
              <a:t>❌ </a:t>
            </a:r>
            <a:r>
              <a:rPr lang="en-US" sz="2000" b="1" dirty="0"/>
              <a:t>Avoid overusing static import</a:t>
            </a:r>
            <a:r>
              <a:rPr lang="en-US" sz="2000" dirty="0"/>
              <a:t>, as it can make code </a:t>
            </a:r>
            <a:r>
              <a:rPr lang="en-US" sz="2000" b="1" dirty="0"/>
              <a:t>less readable</a:t>
            </a:r>
            <a:r>
              <a:rPr lang="en-US" sz="2000" dirty="0"/>
              <a:t> if multiple classes have the same method names.</a:t>
            </a:r>
          </a:p>
          <a:p>
            <a:endParaRPr lang="en-IN" sz="2000" dirty="0"/>
          </a:p>
          <a:p>
            <a:pPr marL="0" indent="0">
              <a:buNone/>
            </a:pPr>
            <a:endParaRPr lang="en-IN" sz="2000" dirty="0"/>
          </a:p>
        </p:txBody>
      </p:sp>
    </p:spTree>
    <p:extLst>
      <p:ext uri="{BB962C8B-B14F-4D97-AF65-F5344CB8AC3E}">
        <p14:creationId xmlns:p14="http://schemas.microsoft.com/office/powerpoint/2010/main" val="20637503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Interface</a:t>
            </a:r>
            <a:endParaRPr lang="en-IN" dirty="0"/>
          </a:p>
        </p:txBody>
      </p:sp>
      <p:sp>
        <p:nvSpPr>
          <p:cNvPr id="3" name="Content Placeholder 2"/>
          <p:cNvSpPr>
            <a:spLocks noGrp="1"/>
          </p:cNvSpPr>
          <p:nvPr>
            <p:ph idx="1"/>
          </p:nvPr>
        </p:nvSpPr>
        <p:spPr/>
        <p:txBody>
          <a:bodyPr>
            <a:normAutofit fontScale="70000" lnSpcReduction="20000"/>
          </a:bodyPr>
          <a:lstStyle/>
          <a:p>
            <a:r>
              <a:rPr lang="en-US" dirty="0"/>
              <a:t>In Java, an </a:t>
            </a:r>
            <a:r>
              <a:rPr lang="en-US" b="1" dirty="0"/>
              <a:t>interface</a:t>
            </a:r>
            <a:r>
              <a:rPr lang="en-US" dirty="0"/>
              <a:t> is a blueprint of a class that contains </a:t>
            </a:r>
            <a:r>
              <a:rPr lang="en-US" b="1" dirty="0"/>
              <a:t>only abstract methods (before Java 8)</a:t>
            </a:r>
            <a:r>
              <a:rPr lang="en-US" dirty="0"/>
              <a:t> and </a:t>
            </a:r>
            <a:r>
              <a:rPr lang="en-US" b="1" dirty="0"/>
              <a:t>static/final variables</a:t>
            </a:r>
            <a:r>
              <a:rPr lang="en-US" dirty="0"/>
              <a:t>. It is used for </a:t>
            </a:r>
            <a:r>
              <a:rPr lang="en-US" b="1" dirty="0"/>
              <a:t>achieving abstraction</a:t>
            </a:r>
            <a:r>
              <a:rPr lang="en-US" dirty="0"/>
              <a:t> and </a:t>
            </a:r>
            <a:r>
              <a:rPr lang="en-US" b="1" dirty="0"/>
              <a:t>multiple inheritance</a:t>
            </a:r>
            <a:r>
              <a:rPr lang="en-US" dirty="0"/>
              <a:t> in </a:t>
            </a:r>
            <a:r>
              <a:rPr lang="en-US" dirty="0" smtClean="0"/>
              <a:t>Java</a:t>
            </a:r>
          </a:p>
          <a:p>
            <a:endParaRPr lang="en-US" dirty="0" smtClean="0"/>
          </a:p>
          <a:p>
            <a:r>
              <a:rPr lang="en-US" b="1" dirty="0"/>
              <a:t>Key Characteristics of Interfaces</a:t>
            </a:r>
          </a:p>
          <a:p>
            <a:r>
              <a:rPr lang="en-US" dirty="0"/>
              <a:t>Only method declarations (No implementation before Java 8).</a:t>
            </a:r>
          </a:p>
          <a:p>
            <a:r>
              <a:rPr lang="en-US" dirty="0"/>
              <a:t>All methods are public and abstract by default.</a:t>
            </a:r>
          </a:p>
          <a:p>
            <a:r>
              <a:rPr lang="en-US" dirty="0"/>
              <a:t>Only static and final variables are allowed.</a:t>
            </a:r>
          </a:p>
          <a:p>
            <a:r>
              <a:rPr lang="en-US" dirty="0"/>
              <a:t>A class implements an interface using the implements keyword.</a:t>
            </a:r>
          </a:p>
          <a:p>
            <a:r>
              <a:rPr lang="en-US" dirty="0"/>
              <a:t>Supports multiple inheritance (A class can implement multiple interfaces).</a:t>
            </a:r>
            <a:endParaRPr lang="en-IN" dirty="0"/>
          </a:p>
        </p:txBody>
      </p:sp>
    </p:spTree>
    <p:extLst>
      <p:ext uri="{BB962C8B-B14F-4D97-AF65-F5344CB8AC3E}">
        <p14:creationId xmlns:p14="http://schemas.microsoft.com/office/powerpoint/2010/main" val="368409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55000" lnSpcReduction="20000"/>
          </a:bodyPr>
          <a:lstStyle/>
          <a:p>
            <a:r>
              <a:rPr lang="en-IN" dirty="0" smtClean="0"/>
              <a:t>Example – </a:t>
            </a:r>
          </a:p>
          <a:p>
            <a:endParaRPr lang="en-IN" dirty="0" smtClean="0"/>
          </a:p>
          <a:p>
            <a:pPr marL="0" indent="0">
              <a:buNone/>
            </a:pPr>
            <a:r>
              <a:rPr lang="en-IN" dirty="0"/>
              <a:t>// Define an interface</a:t>
            </a:r>
          </a:p>
          <a:p>
            <a:pPr marL="0" indent="0">
              <a:buNone/>
            </a:pPr>
            <a:r>
              <a:rPr lang="en-IN" dirty="0"/>
              <a:t>interface Animal {</a:t>
            </a:r>
          </a:p>
          <a:p>
            <a:pPr marL="0" indent="0">
              <a:buNone/>
            </a:pPr>
            <a:r>
              <a:rPr lang="en-IN" dirty="0"/>
              <a:t>    void </a:t>
            </a:r>
            <a:r>
              <a:rPr lang="en-IN" dirty="0" err="1"/>
              <a:t>makeSound</a:t>
            </a:r>
            <a:r>
              <a:rPr lang="en-IN" dirty="0"/>
              <a:t>();  // Abstract method (public &amp; abstract by default)</a:t>
            </a:r>
          </a:p>
          <a:p>
            <a:pPr marL="0" indent="0">
              <a:buNone/>
            </a:pPr>
            <a:r>
              <a:rPr lang="en-IN" dirty="0"/>
              <a:t>}</a:t>
            </a:r>
          </a:p>
          <a:p>
            <a:pPr marL="0" indent="0">
              <a:buNone/>
            </a:pPr>
            <a:endParaRPr lang="en-IN" dirty="0"/>
          </a:p>
          <a:p>
            <a:pPr marL="0" indent="0">
              <a:buNone/>
            </a:pPr>
            <a:r>
              <a:rPr lang="en-IN" dirty="0"/>
              <a:t>// Implementing the interface in a class</a:t>
            </a:r>
          </a:p>
          <a:p>
            <a:pPr marL="0" indent="0">
              <a:buNone/>
            </a:pPr>
            <a:r>
              <a:rPr lang="en-IN" dirty="0"/>
              <a:t>class Dog implements Animal {</a:t>
            </a:r>
          </a:p>
          <a:p>
            <a:pPr marL="0" indent="0">
              <a:buNone/>
            </a:pPr>
            <a:r>
              <a:rPr lang="en-IN" dirty="0"/>
              <a:t>    public void </a:t>
            </a:r>
            <a:r>
              <a:rPr lang="en-IN" dirty="0" err="1"/>
              <a:t>makeSound</a:t>
            </a:r>
            <a:r>
              <a:rPr lang="en-IN" dirty="0"/>
              <a:t>() {  // Must provide method definition</a:t>
            </a:r>
          </a:p>
          <a:p>
            <a:pPr marL="0" indent="0">
              <a:buNone/>
            </a:pPr>
            <a:r>
              <a:rPr lang="en-IN" dirty="0"/>
              <a:t>        </a:t>
            </a:r>
            <a:r>
              <a:rPr lang="en-IN" dirty="0" err="1"/>
              <a:t>System.out.println</a:t>
            </a:r>
            <a:r>
              <a:rPr lang="en-IN" dirty="0"/>
              <a:t>("Dog barks: Woof Woof!");</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a:t>
            </a:r>
            <a:r>
              <a:rPr lang="en-IN" dirty="0" err="1"/>
              <a:t>InterfaceExample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Dog </a:t>
            </a:r>
            <a:r>
              <a:rPr lang="en-IN" dirty="0" err="1"/>
              <a:t>dog</a:t>
            </a:r>
            <a:r>
              <a:rPr lang="en-IN" dirty="0"/>
              <a:t> = new Dog();  // Creating object of implementing class</a:t>
            </a:r>
          </a:p>
          <a:p>
            <a:pPr marL="0" indent="0">
              <a:buNone/>
            </a:pPr>
            <a:r>
              <a:rPr lang="en-IN" dirty="0"/>
              <a:t>        </a:t>
            </a:r>
            <a:r>
              <a:rPr lang="en-IN" dirty="0" err="1"/>
              <a:t>dog.makeSound</a:t>
            </a:r>
            <a:r>
              <a:rPr lang="en-IN" dirty="0"/>
              <a: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063750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96000"/>
          </a:xfrm>
        </p:spPr>
        <p:txBody>
          <a:bodyPr>
            <a:normAutofit fontScale="40000" lnSpcReduction="20000"/>
          </a:bodyPr>
          <a:lstStyle/>
          <a:p>
            <a:r>
              <a:rPr lang="en-US" b="1" dirty="0"/>
              <a:t>Interface with Multiple Implementing Classes</a:t>
            </a:r>
          </a:p>
          <a:p>
            <a:r>
              <a:rPr lang="en-US" dirty="0"/>
              <a:t>An interface can be implemented by multiple classes</a:t>
            </a:r>
            <a:r>
              <a:rPr lang="en-US" dirty="0" smtClean="0"/>
              <a:t>.</a:t>
            </a:r>
          </a:p>
          <a:p>
            <a:endParaRPr lang="en-US" dirty="0"/>
          </a:p>
          <a:p>
            <a:pPr marL="0" indent="0">
              <a:buNone/>
            </a:pPr>
            <a:r>
              <a:rPr lang="en-IN" dirty="0"/>
              <a:t>interface Vehicle {</a:t>
            </a:r>
          </a:p>
          <a:p>
            <a:pPr marL="0" indent="0">
              <a:buNone/>
            </a:pPr>
            <a:r>
              <a:rPr lang="en-IN" dirty="0"/>
              <a:t>    void start();</a:t>
            </a:r>
          </a:p>
          <a:p>
            <a:pPr marL="0" indent="0">
              <a:buNone/>
            </a:pPr>
            <a:r>
              <a:rPr lang="en-IN" dirty="0"/>
              <a:t>}</a:t>
            </a:r>
          </a:p>
          <a:p>
            <a:pPr marL="0" indent="0">
              <a:buNone/>
            </a:pPr>
            <a:endParaRPr lang="en-IN" dirty="0"/>
          </a:p>
          <a:p>
            <a:pPr marL="0" indent="0">
              <a:buNone/>
            </a:pPr>
            <a:r>
              <a:rPr lang="en-IN" dirty="0"/>
              <a:t>// Class implementing Vehicle interface</a:t>
            </a:r>
          </a:p>
          <a:p>
            <a:pPr marL="0" indent="0">
              <a:buNone/>
            </a:pPr>
            <a:r>
              <a:rPr lang="en-IN" dirty="0"/>
              <a:t>class Car implements Vehicle {</a:t>
            </a:r>
          </a:p>
          <a:p>
            <a:pPr marL="0" indent="0">
              <a:buNone/>
            </a:pPr>
            <a:r>
              <a:rPr lang="en-IN" dirty="0"/>
              <a:t>    public void start() {</a:t>
            </a:r>
          </a:p>
          <a:p>
            <a:pPr marL="0" indent="0">
              <a:buNone/>
            </a:pPr>
            <a:r>
              <a:rPr lang="en-IN" dirty="0"/>
              <a:t>        </a:t>
            </a:r>
            <a:r>
              <a:rPr lang="en-IN" dirty="0" err="1"/>
              <a:t>System.out.println</a:t>
            </a:r>
            <a:r>
              <a:rPr lang="en-IN" dirty="0"/>
              <a:t>("Car starts with a key.");</a:t>
            </a:r>
          </a:p>
          <a:p>
            <a:pPr marL="0" indent="0">
              <a:buNone/>
            </a:pPr>
            <a:r>
              <a:rPr lang="en-IN" dirty="0"/>
              <a:t>    }</a:t>
            </a:r>
          </a:p>
          <a:p>
            <a:pPr marL="0" indent="0">
              <a:buNone/>
            </a:pPr>
            <a:r>
              <a:rPr lang="en-IN" dirty="0"/>
              <a:t>}</a:t>
            </a:r>
          </a:p>
          <a:p>
            <a:pPr marL="0" indent="0">
              <a:buNone/>
            </a:pPr>
            <a:endParaRPr lang="en-IN" dirty="0"/>
          </a:p>
          <a:p>
            <a:pPr marL="0" indent="0">
              <a:buNone/>
            </a:pPr>
            <a:r>
              <a:rPr lang="en-IN" dirty="0"/>
              <a:t>// Another class implementing the same interface</a:t>
            </a:r>
          </a:p>
          <a:p>
            <a:pPr marL="0" indent="0">
              <a:buNone/>
            </a:pPr>
            <a:r>
              <a:rPr lang="en-IN" dirty="0"/>
              <a:t>class Bike implements Vehicle {</a:t>
            </a:r>
          </a:p>
          <a:p>
            <a:pPr marL="0" indent="0">
              <a:buNone/>
            </a:pPr>
            <a:r>
              <a:rPr lang="en-IN" dirty="0"/>
              <a:t>    public void start() {</a:t>
            </a:r>
          </a:p>
          <a:p>
            <a:pPr marL="0" indent="0">
              <a:buNone/>
            </a:pPr>
            <a:r>
              <a:rPr lang="en-IN" dirty="0"/>
              <a:t>        </a:t>
            </a:r>
            <a:r>
              <a:rPr lang="en-IN" dirty="0" err="1"/>
              <a:t>System.out.println</a:t>
            </a:r>
            <a:r>
              <a:rPr lang="en-IN" dirty="0"/>
              <a:t>("Bike starts with a self-start button.");</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a:t>
            </a:r>
            <a:r>
              <a:rPr lang="en-IN" dirty="0" err="1"/>
              <a:t>MultipleImplementation</a:t>
            </a:r>
            <a:r>
              <a:rPr lang="en-IN" dirty="0"/>
              <a:t> {</a:t>
            </a:r>
          </a:p>
          <a:p>
            <a:pPr marL="0" indent="0">
              <a:buNone/>
            </a:pPr>
            <a:r>
              <a:rPr lang="en-IN" dirty="0"/>
              <a:t>    public static void main(String[] </a:t>
            </a:r>
            <a:r>
              <a:rPr lang="en-IN" dirty="0" err="1"/>
              <a:t>args</a:t>
            </a:r>
            <a:r>
              <a:rPr lang="en-IN" dirty="0"/>
              <a:t>) {</a:t>
            </a:r>
          </a:p>
          <a:p>
            <a:pPr marL="0" indent="0">
              <a:buNone/>
            </a:pPr>
            <a:r>
              <a:rPr lang="en-IN" dirty="0"/>
              <a:t>        Vehicle </a:t>
            </a:r>
            <a:r>
              <a:rPr lang="en-IN" dirty="0" err="1"/>
              <a:t>myCar</a:t>
            </a:r>
            <a:r>
              <a:rPr lang="en-IN" dirty="0"/>
              <a:t> = new Car();</a:t>
            </a:r>
          </a:p>
          <a:p>
            <a:pPr marL="0" indent="0">
              <a:buNone/>
            </a:pPr>
            <a:r>
              <a:rPr lang="en-IN" dirty="0"/>
              <a:t>        </a:t>
            </a:r>
            <a:r>
              <a:rPr lang="en-IN" dirty="0" err="1"/>
              <a:t>myCar.start</a:t>
            </a:r>
            <a:r>
              <a:rPr lang="en-IN" dirty="0"/>
              <a:t>();</a:t>
            </a:r>
          </a:p>
          <a:p>
            <a:pPr marL="0" indent="0">
              <a:buNone/>
            </a:pPr>
            <a:endParaRPr lang="en-IN" dirty="0"/>
          </a:p>
          <a:p>
            <a:pPr marL="0" indent="0">
              <a:buNone/>
            </a:pPr>
            <a:r>
              <a:rPr lang="en-IN" dirty="0"/>
              <a:t>        Vehicle </a:t>
            </a:r>
            <a:r>
              <a:rPr lang="en-IN" dirty="0" err="1"/>
              <a:t>myBike</a:t>
            </a:r>
            <a:r>
              <a:rPr lang="en-IN" dirty="0"/>
              <a:t> = new Bike();</a:t>
            </a:r>
          </a:p>
          <a:p>
            <a:pPr marL="0" indent="0">
              <a:buNone/>
            </a:pPr>
            <a:r>
              <a:rPr lang="en-IN" dirty="0"/>
              <a:t>        </a:t>
            </a:r>
            <a:r>
              <a:rPr lang="en-IN" dirty="0" err="1"/>
              <a:t>myBike.start</a:t>
            </a:r>
            <a:r>
              <a:rPr lang="en-IN" dirty="0"/>
              <a: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97154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47500" lnSpcReduction="20000"/>
          </a:bodyPr>
          <a:lstStyle/>
          <a:p>
            <a:r>
              <a:rPr lang="en-US" b="1" dirty="0"/>
              <a:t>Interface Supporting Multiple </a:t>
            </a:r>
            <a:r>
              <a:rPr lang="en-US" b="1" dirty="0" smtClean="0"/>
              <a:t>Inheritance – </a:t>
            </a:r>
          </a:p>
          <a:p>
            <a:endParaRPr lang="en-US" b="1" dirty="0"/>
          </a:p>
          <a:p>
            <a:r>
              <a:rPr lang="en-US" dirty="0"/>
              <a:t>Unlike classes, Java </a:t>
            </a:r>
            <a:r>
              <a:rPr lang="en-US" b="1" dirty="0"/>
              <a:t>does not support multiple inheritance with classes</a:t>
            </a:r>
            <a:r>
              <a:rPr lang="en-US" dirty="0"/>
              <a:t> but allows </a:t>
            </a:r>
            <a:r>
              <a:rPr lang="en-US" b="1" dirty="0"/>
              <a:t>multiple inheritance with interfaces</a:t>
            </a:r>
            <a:r>
              <a:rPr lang="en-US" dirty="0" smtClean="0"/>
              <a:t>.</a:t>
            </a:r>
          </a:p>
          <a:p>
            <a:endParaRPr lang="en-US" dirty="0"/>
          </a:p>
          <a:p>
            <a:r>
              <a:rPr lang="en-IN" dirty="0" smtClean="0"/>
              <a:t>Example – </a:t>
            </a:r>
          </a:p>
          <a:p>
            <a:pPr marL="0" indent="0">
              <a:buNone/>
            </a:pPr>
            <a:r>
              <a:rPr lang="en-IN" dirty="0"/>
              <a:t>interface Printable {</a:t>
            </a:r>
          </a:p>
          <a:p>
            <a:pPr marL="0" indent="0">
              <a:buNone/>
            </a:pPr>
            <a:r>
              <a:rPr lang="en-IN" dirty="0"/>
              <a:t>    void print();</a:t>
            </a:r>
          </a:p>
          <a:p>
            <a:pPr marL="0" indent="0">
              <a:buNone/>
            </a:pPr>
            <a:r>
              <a:rPr lang="en-IN" dirty="0"/>
              <a:t>}</a:t>
            </a:r>
          </a:p>
          <a:p>
            <a:pPr marL="0" indent="0">
              <a:buNone/>
            </a:pPr>
            <a:endParaRPr lang="en-IN" dirty="0"/>
          </a:p>
          <a:p>
            <a:pPr marL="0" indent="0">
              <a:buNone/>
            </a:pPr>
            <a:r>
              <a:rPr lang="en-IN" dirty="0"/>
              <a:t>interface Showable {</a:t>
            </a:r>
          </a:p>
          <a:p>
            <a:pPr marL="0" indent="0">
              <a:buNone/>
            </a:pPr>
            <a:r>
              <a:rPr lang="en-IN" dirty="0"/>
              <a:t>    void show();</a:t>
            </a:r>
          </a:p>
          <a:p>
            <a:pPr marL="0" indent="0">
              <a:buNone/>
            </a:pPr>
            <a:r>
              <a:rPr lang="en-IN" dirty="0"/>
              <a:t>}</a:t>
            </a:r>
          </a:p>
          <a:p>
            <a:pPr marL="0" indent="0">
              <a:buNone/>
            </a:pPr>
            <a:endParaRPr lang="en-IN" dirty="0"/>
          </a:p>
          <a:p>
            <a:pPr marL="0" indent="0">
              <a:buNone/>
            </a:pPr>
            <a:r>
              <a:rPr lang="en-IN" dirty="0"/>
              <a:t>// A class implementing multiple interfaces</a:t>
            </a:r>
          </a:p>
          <a:p>
            <a:pPr marL="0" indent="0">
              <a:buNone/>
            </a:pPr>
            <a:r>
              <a:rPr lang="en-IN" dirty="0"/>
              <a:t>class Document implements Printable, Showable {</a:t>
            </a:r>
          </a:p>
          <a:p>
            <a:pPr marL="0" indent="0">
              <a:buNone/>
            </a:pPr>
            <a:r>
              <a:rPr lang="en-IN" dirty="0"/>
              <a:t>    public void print() {</a:t>
            </a:r>
          </a:p>
          <a:p>
            <a:pPr marL="0" indent="0">
              <a:buNone/>
            </a:pPr>
            <a:r>
              <a:rPr lang="en-IN" dirty="0"/>
              <a:t>        </a:t>
            </a:r>
            <a:r>
              <a:rPr lang="en-IN" dirty="0" err="1"/>
              <a:t>System.out.println</a:t>
            </a:r>
            <a:r>
              <a:rPr lang="en-IN" dirty="0"/>
              <a:t>("Printing document...");</a:t>
            </a:r>
          </a:p>
          <a:p>
            <a:pPr marL="0" indent="0">
              <a:buNone/>
            </a:pPr>
            <a:r>
              <a:rPr lang="en-IN" dirty="0"/>
              <a:t>    }</a:t>
            </a:r>
          </a:p>
          <a:p>
            <a:pPr marL="0" indent="0">
              <a:buNone/>
            </a:pPr>
            <a:r>
              <a:rPr lang="en-IN" dirty="0"/>
              <a:t>    </a:t>
            </a:r>
          </a:p>
          <a:p>
            <a:pPr marL="0" indent="0">
              <a:buNone/>
            </a:pPr>
            <a:r>
              <a:rPr lang="en-IN" dirty="0"/>
              <a:t>    public void show() {</a:t>
            </a:r>
          </a:p>
          <a:p>
            <a:pPr marL="0" indent="0">
              <a:buNone/>
            </a:pPr>
            <a:r>
              <a:rPr lang="en-IN" dirty="0"/>
              <a:t>        </a:t>
            </a:r>
            <a:r>
              <a:rPr lang="en-IN" dirty="0" err="1"/>
              <a:t>System.out.println</a:t>
            </a:r>
            <a:r>
              <a:rPr lang="en-IN" dirty="0"/>
              <a:t>("Showing document preview...");</a:t>
            </a:r>
          </a:p>
          <a:p>
            <a:pPr marL="0" indent="0">
              <a:buNone/>
            </a:pPr>
            <a:r>
              <a:rPr lang="en-IN" dirty="0"/>
              <a:t>    }</a:t>
            </a:r>
          </a:p>
          <a:p>
            <a:pPr marL="0" indent="0">
              <a:buNone/>
            </a:pPr>
            <a:r>
              <a:rPr lang="en-IN" dirty="0"/>
              <a: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3971545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lstStyle/>
          <a:p>
            <a:pPr marL="0" indent="0">
              <a:buNone/>
            </a:pPr>
            <a:r>
              <a:rPr lang="en-IN" dirty="0"/>
              <a:t>public class </a:t>
            </a:r>
            <a:r>
              <a:rPr lang="en-IN" dirty="0" err="1"/>
              <a:t>MultipleInheritanceExample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Document doc = new Document();</a:t>
            </a:r>
          </a:p>
          <a:p>
            <a:pPr marL="0" indent="0">
              <a:buNone/>
            </a:pPr>
            <a:r>
              <a:rPr lang="en-IN" dirty="0"/>
              <a:t>        </a:t>
            </a:r>
            <a:r>
              <a:rPr lang="en-IN" dirty="0" err="1"/>
              <a:t>doc.print</a:t>
            </a:r>
            <a:r>
              <a:rPr lang="en-IN" dirty="0"/>
              <a:t>();</a:t>
            </a:r>
          </a:p>
          <a:p>
            <a:pPr marL="0" indent="0">
              <a:buNone/>
            </a:pPr>
            <a:r>
              <a:rPr lang="en-IN" dirty="0"/>
              <a:t>        </a:t>
            </a:r>
            <a:r>
              <a:rPr lang="en-IN" dirty="0" err="1"/>
              <a:t>doc.show</a:t>
            </a:r>
            <a:r>
              <a:rPr lang="en-IN" dirty="0"/>
              <a: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97154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lstStyle/>
          <a:p>
            <a:r>
              <a:rPr lang="en-US" b="1" dirty="0"/>
              <a:t>Interface with Default and Static Methods (Java 8</a:t>
            </a:r>
            <a:r>
              <a:rPr lang="en-US" b="1" dirty="0" smtClean="0"/>
              <a:t>+) - </a:t>
            </a:r>
            <a:endParaRPr lang="en-US" b="1" dirty="0"/>
          </a:p>
          <a:p>
            <a:r>
              <a:rPr lang="en-US" dirty="0"/>
              <a:t>Before Java 8, interfaces could only have </a:t>
            </a:r>
            <a:r>
              <a:rPr lang="en-US" b="1" dirty="0"/>
              <a:t>abstract methods</a:t>
            </a:r>
            <a:r>
              <a:rPr lang="en-US" dirty="0"/>
              <a:t>, but from Java 8 onwards, they can have:</a:t>
            </a:r>
          </a:p>
          <a:p>
            <a:r>
              <a:rPr lang="en-US" b="1" dirty="0"/>
              <a:t>Default methods</a:t>
            </a:r>
            <a:r>
              <a:rPr lang="en-US" dirty="0"/>
              <a:t> (with implementation)</a:t>
            </a:r>
          </a:p>
          <a:p>
            <a:r>
              <a:rPr lang="en-US" b="1" dirty="0"/>
              <a:t>Static methods</a:t>
            </a:r>
            <a:r>
              <a:rPr lang="en-US" dirty="0"/>
              <a:t> (with implementation</a:t>
            </a:r>
          </a:p>
          <a:p>
            <a:endParaRPr lang="en-IN" dirty="0"/>
          </a:p>
        </p:txBody>
      </p:sp>
    </p:spTree>
    <p:extLst>
      <p:ext uri="{BB962C8B-B14F-4D97-AF65-F5344CB8AC3E}">
        <p14:creationId xmlns:p14="http://schemas.microsoft.com/office/powerpoint/2010/main" val="397154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324600"/>
          </a:xfrm>
        </p:spPr>
        <p:txBody>
          <a:bodyPr>
            <a:normAutofit fontScale="40000" lnSpcReduction="20000"/>
          </a:bodyPr>
          <a:lstStyle/>
          <a:p>
            <a:r>
              <a:rPr lang="en-IN" dirty="0" smtClean="0"/>
              <a:t>Example – </a:t>
            </a:r>
          </a:p>
          <a:p>
            <a:pPr marL="0" indent="0">
              <a:buNone/>
            </a:pPr>
            <a:r>
              <a:rPr lang="en-IN" dirty="0"/>
              <a:t>interface </a:t>
            </a:r>
            <a:r>
              <a:rPr lang="en-IN" dirty="0" err="1"/>
              <a:t>MyInterface</a:t>
            </a:r>
            <a:r>
              <a:rPr lang="en-IN" dirty="0"/>
              <a:t> {</a:t>
            </a:r>
          </a:p>
          <a:p>
            <a:pPr marL="0" indent="0">
              <a:buNone/>
            </a:pPr>
            <a:r>
              <a:rPr lang="en-IN" dirty="0"/>
              <a:t>    void show();  // Abstract method</a:t>
            </a:r>
          </a:p>
          <a:p>
            <a:pPr marL="0" indent="0">
              <a:buNone/>
            </a:pPr>
            <a:endParaRPr lang="en-IN" dirty="0"/>
          </a:p>
          <a:p>
            <a:pPr marL="0" indent="0">
              <a:buNone/>
            </a:pPr>
            <a:r>
              <a:rPr lang="en-IN" dirty="0"/>
              <a:t>    // Default method with implementation</a:t>
            </a:r>
          </a:p>
          <a:p>
            <a:pPr marL="0" indent="0">
              <a:buNone/>
            </a:pPr>
            <a:r>
              <a:rPr lang="en-IN" dirty="0"/>
              <a:t>    default void display() {</a:t>
            </a:r>
          </a:p>
          <a:p>
            <a:pPr marL="0" indent="0">
              <a:buNone/>
            </a:pPr>
            <a:r>
              <a:rPr lang="en-IN" dirty="0"/>
              <a:t>        </a:t>
            </a:r>
            <a:r>
              <a:rPr lang="en-IN" dirty="0" err="1"/>
              <a:t>System.out.println</a:t>
            </a:r>
            <a:r>
              <a:rPr lang="en-IN" dirty="0"/>
              <a:t>("This is a default method in the interface.");</a:t>
            </a:r>
          </a:p>
          <a:p>
            <a:pPr marL="0" indent="0">
              <a:buNone/>
            </a:pPr>
            <a:r>
              <a:rPr lang="en-IN" dirty="0"/>
              <a:t>    }</a:t>
            </a:r>
          </a:p>
          <a:p>
            <a:pPr marL="0" indent="0">
              <a:buNone/>
            </a:pPr>
            <a:endParaRPr lang="en-IN" dirty="0"/>
          </a:p>
          <a:p>
            <a:pPr marL="0" indent="0">
              <a:buNone/>
            </a:pPr>
            <a:r>
              <a:rPr lang="en-IN" dirty="0"/>
              <a:t>    // Static method with implementation</a:t>
            </a:r>
          </a:p>
          <a:p>
            <a:pPr marL="0" indent="0">
              <a:buNone/>
            </a:pPr>
            <a:r>
              <a:rPr lang="en-IN" dirty="0"/>
              <a:t>    static void </a:t>
            </a:r>
            <a:r>
              <a:rPr lang="en-IN" dirty="0" err="1"/>
              <a:t>staticMethod</a:t>
            </a:r>
            <a:r>
              <a:rPr lang="en-IN" dirty="0"/>
              <a:t>() {</a:t>
            </a:r>
          </a:p>
          <a:p>
            <a:pPr marL="0" indent="0">
              <a:buNone/>
            </a:pPr>
            <a:r>
              <a:rPr lang="en-IN" dirty="0"/>
              <a:t>        </a:t>
            </a:r>
            <a:r>
              <a:rPr lang="en-IN" dirty="0" err="1"/>
              <a:t>System.out.println</a:t>
            </a:r>
            <a:r>
              <a:rPr lang="en-IN" dirty="0"/>
              <a:t>("This is a static method in the interface.");</a:t>
            </a:r>
          </a:p>
          <a:p>
            <a:pPr marL="0" indent="0">
              <a:buNone/>
            </a:pPr>
            <a:r>
              <a:rPr lang="en-IN" dirty="0"/>
              <a:t>    }</a:t>
            </a:r>
          </a:p>
          <a:p>
            <a:pPr marL="0" indent="0">
              <a:buNone/>
            </a:pPr>
            <a:r>
              <a:rPr lang="en-IN" dirty="0"/>
              <a:t>}</a:t>
            </a:r>
          </a:p>
          <a:p>
            <a:pPr marL="0" indent="0">
              <a:buNone/>
            </a:pPr>
            <a:endParaRPr lang="en-IN" dirty="0"/>
          </a:p>
          <a:p>
            <a:pPr marL="0" indent="0">
              <a:buNone/>
            </a:pPr>
            <a:r>
              <a:rPr lang="en-IN" dirty="0"/>
              <a:t>// Implementing the interface</a:t>
            </a:r>
          </a:p>
          <a:p>
            <a:pPr marL="0" indent="0">
              <a:buNone/>
            </a:pPr>
            <a:r>
              <a:rPr lang="en-IN" dirty="0"/>
              <a:t>class </a:t>
            </a:r>
            <a:r>
              <a:rPr lang="en-IN" dirty="0" err="1"/>
              <a:t>MyClass</a:t>
            </a:r>
            <a:r>
              <a:rPr lang="en-IN" dirty="0"/>
              <a:t> implements </a:t>
            </a:r>
            <a:r>
              <a:rPr lang="en-IN" dirty="0" err="1"/>
              <a:t>MyInterface</a:t>
            </a:r>
            <a:r>
              <a:rPr lang="en-IN" dirty="0"/>
              <a:t> {</a:t>
            </a:r>
          </a:p>
          <a:p>
            <a:pPr marL="0" indent="0">
              <a:buNone/>
            </a:pPr>
            <a:r>
              <a:rPr lang="en-IN" dirty="0"/>
              <a:t>    public void show() {</a:t>
            </a:r>
          </a:p>
          <a:p>
            <a:pPr marL="0" indent="0">
              <a:buNone/>
            </a:pPr>
            <a:r>
              <a:rPr lang="en-IN" dirty="0"/>
              <a:t>        </a:t>
            </a:r>
            <a:r>
              <a:rPr lang="en-IN" dirty="0" err="1"/>
              <a:t>System.out.println</a:t>
            </a:r>
            <a:r>
              <a:rPr lang="en-IN" dirty="0"/>
              <a:t>("Implementing abstract method.");</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a:t>
            </a:r>
            <a:r>
              <a:rPr lang="en-IN" dirty="0" err="1"/>
              <a:t>InterfaceWithDefaultStatic</a:t>
            </a:r>
            <a:r>
              <a:rPr lang="en-IN" dirty="0"/>
              <a:t>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MyClass</a:t>
            </a:r>
            <a:r>
              <a:rPr lang="en-IN" dirty="0"/>
              <a:t> </a:t>
            </a:r>
            <a:r>
              <a:rPr lang="en-IN" dirty="0" err="1"/>
              <a:t>obj</a:t>
            </a:r>
            <a:r>
              <a:rPr lang="en-IN" dirty="0"/>
              <a:t> = new </a:t>
            </a:r>
            <a:r>
              <a:rPr lang="en-IN" dirty="0" err="1"/>
              <a:t>MyClass</a:t>
            </a:r>
            <a:r>
              <a:rPr lang="en-IN" dirty="0"/>
              <a:t>();</a:t>
            </a:r>
          </a:p>
          <a:p>
            <a:pPr marL="0" indent="0">
              <a:buNone/>
            </a:pPr>
            <a:r>
              <a:rPr lang="en-IN" dirty="0"/>
              <a:t>        </a:t>
            </a:r>
            <a:r>
              <a:rPr lang="en-IN" dirty="0" err="1"/>
              <a:t>obj.show</a:t>
            </a:r>
            <a:r>
              <a:rPr lang="en-IN" dirty="0"/>
              <a:t>();</a:t>
            </a:r>
          </a:p>
          <a:p>
            <a:pPr marL="0" indent="0">
              <a:buNone/>
            </a:pPr>
            <a:r>
              <a:rPr lang="en-IN" dirty="0"/>
              <a:t>        </a:t>
            </a:r>
            <a:r>
              <a:rPr lang="en-IN" dirty="0" err="1"/>
              <a:t>obj.display</a:t>
            </a:r>
            <a:r>
              <a:rPr lang="en-IN" dirty="0"/>
              <a:t>();  // Calling default method</a:t>
            </a:r>
          </a:p>
          <a:p>
            <a:pPr marL="0" indent="0">
              <a:buNone/>
            </a:pPr>
            <a:endParaRPr lang="en-IN" dirty="0"/>
          </a:p>
          <a:p>
            <a:pPr marL="0" indent="0">
              <a:buNone/>
            </a:pPr>
            <a:r>
              <a:rPr lang="en-IN" dirty="0"/>
              <a:t>        </a:t>
            </a:r>
            <a:r>
              <a:rPr lang="en-IN" dirty="0" err="1"/>
              <a:t>MyInterface.staticMethod</a:t>
            </a:r>
            <a:r>
              <a:rPr lang="en-IN" dirty="0"/>
              <a:t>();  // Calling static method (directly from interface)</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971545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0000" lnSpcReduction="20000"/>
          </a:bodyPr>
          <a:lstStyle/>
          <a:p>
            <a:r>
              <a:rPr lang="en-US" b="1" dirty="0"/>
              <a:t>Interface Variables (Final &amp; Static</a:t>
            </a:r>
            <a:r>
              <a:rPr lang="en-US" b="1" dirty="0" smtClean="0"/>
              <a:t>) - </a:t>
            </a:r>
            <a:endParaRPr lang="en-US" b="1" dirty="0"/>
          </a:p>
          <a:p>
            <a:r>
              <a:rPr lang="en-US" dirty="0"/>
              <a:t>All </a:t>
            </a:r>
            <a:r>
              <a:rPr lang="en-US" b="1" dirty="0"/>
              <a:t>variables in an interface are implicitly public, static, and final</a:t>
            </a:r>
            <a:r>
              <a:rPr lang="en-US" dirty="0" smtClean="0"/>
              <a:t>.</a:t>
            </a:r>
          </a:p>
          <a:p>
            <a:endParaRPr lang="en-US" dirty="0" smtClean="0"/>
          </a:p>
          <a:p>
            <a:pPr marL="0" indent="0">
              <a:buNone/>
            </a:pPr>
            <a:r>
              <a:rPr lang="en-US" dirty="0"/>
              <a:t>interface Constants {</a:t>
            </a:r>
          </a:p>
          <a:p>
            <a:pPr marL="0" indent="0">
              <a:buNone/>
            </a:pPr>
            <a:r>
              <a:rPr lang="en-US" dirty="0"/>
              <a:t>    </a:t>
            </a:r>
            <a:r>
              <a:rPr lang="en-US" dirty="0" err="1"/>
              <a:t>int</a:t>
            </a:r>
            <a:r>
              <a:rPr lang="en-US" dirty="0"/>
              <a:t> MAX_VALUE = 100;  // Implicitly public, static, and final</a:t>
            </a:r>
          </a:p>
          <a:p>
            <a:pPr marL="0" indent="0">
              <a:buNone/>
            </a:pPr>
            <a:r>
              <a:rPr lang="en-US" dirty="0"/>
              <a:t>}</a:t>
            </a:r>
          </a:p>
          <a:p>
            <a:pPr marL="0" indent="0">
              <a:buNone/>
            </a:pPr>
            <a:endParaRPr lang="en-US" dirty="0"/>
          </a:p>
          <a:p>
            <a:pPr marL="0" indent="0">
              <a:buNone/>
            </a:pPr>
            <a:r>
              <a:rPr lang="en-US" dirty="0"/>
              <a:t>public class </a:t>
            </a:r>
            <a:r>
              <a:rPr lang="en-US" dirty="0" err="1"/>
              <a:t>InterfaceVariableExample</a:t>
            </a:r>
            <a:r>
              <a:rPr lang="en-US" dirty="0"/>
              <a:t>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System.out.println</a:t>
            </a:r>
            <a:r>
              <a:rPr lang="en-US" dirty="0"/>
              <a:t>("Max Value: " + </a:t>
            </a:r>
            <a:r>
              <a:rPr lang="en-US" dirty="0" err="1"/>
              <a:t>Constants.MAX_VALUE</a:t>
            </a:r>
            <a:r>
              <a:rPr lang="en-US" dirty="0"/>
              <a:t>);</a:t>
            </a:r>
          </a:p>
          <a:p>
            <a:pPr marL="0" indent="0">
              <a:buNone/>
            </a:pPr>
            <a:r>
              <a:rPr lang="en-US" dirty="0"/>
              <a:t>        // </a:t>
            </a:r>
            <a:r>
              <a:rPr lang="en-US" dirty="0" err="1"/>
              <a:t>Constants.MAX_VALUE</a:t>
            </a:r>
            <a:r>
              <a:rPr lang="en-US" dirty="0"/>
              <a:t> = 200;  // ERROR: Cannot change final variable</a:t>
            </a:r>
          </a:p>
          <a:p>
            <a:pPr marL="0" indent="0">
              <a:buNone/>
            </a:pPr>
            <a:r>
              <a:rPr lang="en-US" dirty="0"/>
              <a:t>    }</a:t>
            </a:r>
          </a:p>
          <a:p>
            <a:pPr marL="0" indent="0">
              <a:buNone/>
            </a:pPr>
            <a:r>
              <a:rPr lang="en-US" dirty="0"/>
              <a:t>}</a:t>
            </a:r>
          </a:p>
          <a:p>
            <a:pPr marL="0" indent="0">
              <a:buNone/>
            </a:pPr>
            <a:endParaRPr lang="en-US" dirty="0"/>
          </a:p>
          <a:p>
            <a:endParaRPr lang="en-IN" dirty="0"/>
          </a:p>
        </p:txBody>
      </p:sp>
    </p:spTree>
    <p:extLst>
      <p:ext uri="{BB962C8B-B14F-4D97-AF65-F5344CB8AC3E}">
        <p14:creationId xmlns:p14="http://schemas.microsoft.com/office/powerpoint/2010/main" val="3971545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lstStyle/>
          <a:p>
            <a:r>
              <a:rPr lang="en-US" b="1" dirty="0"/>
              <a:t>When to Use an Interface?</a:t>
            </a:r>
          </a:p>
          <a:p>
            <a:r>
              <a:rPr lang="en-US" dirty="0"/>
              <a:t>✔ When multiple classes need to share a common behavior but have different implementations.</a:t>
            </a:r>
            <a:br>
              <a:rPr lang="en-US" dirty="0"/>
            </a:br>
            <a:r>
              <a:rPr lang="en-US" dirty="0"/>
              <a:t>✔ When achieving </a:t>
            </a:r>
            <a:r>
              <a:rPr lang="en-US" b="1" dirty="0"/>
              <a:t>multiple inheritance</a:t>
            </a:r>
            <a:r>
              <a:rPr lang="en-US" dirty="0"/>
              <a:t> is necessary.</a:t>
            </a:r>
            <a:br>
              <a:rPr lang="en-US" dirty="0"/>
            </a:br>
            <a:r>
              <a:rPr lang="en-US" dirty="0"/>
              <a:t>✔ When designing </a:t>
            </a:r>
            <a:r>
              <a:rPr lang="en-US" b="1" dirty="0"/>
              <a:t>loosely coupled systems</a:t>
            </a:r>
            <a:r>
              <a:rPr lang="en-US" dirty="0"/>
              <a:t> (decoupling implementations from interfaces).</a:t>
            </a:r>
          </a:p>
          <a:p>
            <a:endParaRPr lang="en-IN" dirty="0"/>
          </a:p>
        </p:txBody>
      </p:sp>
    </p:spTree>
    <p:extLst>
      <p:ext uri="{BB962C8B-B14F-4D97-AF65-F5344CB8AC3E}">
        <p14:creationId xmlns:p14="http://schemas.microsoft.com/office/powerpoint/2010/main" val="3971545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lstStyle/>
          <a:p>
            <a:r>
              <a:rPr lang="en-US" b="1" dirty="0"/>
              <a:t>Why Did Java 8 Allow Method Bodies in Interfaces? 🤔</a:t>
            </a:r>
          </a:p>
          <a:p>
            <a:r>
              <a:rPr lang="en-US" dirty="0"/>
              <a:t>Before Java 8, </a:t>
            </a:r>
            <a:r>
              <a:rPr lang="en-US" b="1" dirty="0"/>
              <a:t>interfaces in Java could only have abstract methods</a:t>
            </a:r>
            <a:r>
              <a:rPr lang="en-US" dirty="0"/>
              <a:t>, meaning they could not have method implementations. However, Java 8 introduced </a:t>
            </a:r>
            <a:r>
              <a:rPr lang="en-US" b="1" dirty="0"/>
              <a:t>default and static methods</a:t>
            </a:r>
            <a:r>
              <a:rPr lang="en-US" dirty="0"/>
              <a:t> with method bodies in interfaces. This change was made to </a:t>
            </a:r>
            <a:r>
              <a:rPr lang="en-US" b="1" dirty="0"/>
              <a:t>ensure backward compatibility</a:t>
            </a:r>
            <a:r>
              <a:rPr lang="en-US" dirty="0"/>
              <a:t> and </a:t>
            </a:r>
            <a:r>
              <a:rPr lang="en-US" b="1" dirty="0"/>
              <a:t>enhance flexibility</a:t>
            </a:r>
            <a:r>
              <a:rPr lang="en-US" dirty="0"/>
              <a:t> in interface design.</a:t>
            </a:r>
          </a:p>
          <a:p>
            <a:endParaRPr lang="en-IN" dirty="0"/>
          </a:p>
        </p:txBody>
      </p:sp>
    </p:spTree>
    <p:extLst>
      <p:ext uri="{BB962C8B-B14F-4D97-AF65-F5344CB8AC3E}">
        <p14:creationId xmlns:p14="http://schemas.microsoft.com/office/powerpoint/2010/main" val="3971545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0000" lnSpcReduction="20000"/>
          </a:bodyPr>
          <a:lstStyle/>
          <a:p>
            <a:r>
              <a:rPr lang="en-US" b="1" dirty="0"/>
              <a:t>. Backward Compatibility (Avoiding API Breakage)</a:t>
            </a:r>
          </a:p>
          <a:p>
            <a:r>
              <a:rPr lang="en-US" dirty="0" smtClean="0"/>
              <a:t>🔸Before </a:t>
            </a:r>
            <a:r>
              <a:rPr lang="en-US" dirty="0"/>
              <a:t>Java 8, adding a new method to an interface </a:t>
            </a:r>
            <a:r>
              <a:rPr lang="en-US" b="1" dirty="0"/>
              <a:t>broke all implementing classes</a:t>
            </a:r>
            <a:r>
              <a:rPr lang="en-US" dirty="0"/>
              <a:t> because they would have to provide an implementation for the new method.</a:t>
            </a:r>
          </a:p>
          <a:p>
            <a:r>
              <a:rPr lang="en-US" dirty="0"/>
              <a:t>🔸 </a:t>
            </a:r>
            <a:r>
              <a:rPr lang="en-US" b="1" dirty="0"/>
              <a:t>Solution in Java 8</a:t>
            </a:r>
            <a:r>
              <a:rPr lang="en-US" dirty="0"/>
              <a:t>:</a:t>
            </a:r>
          </a:p>
          <a:p>
            <a:r>
              <a:rPr lang="en-US" b="1" dirty="0"/>
              <a:t>Default methods</a:t>
            </a:r>
            <a:r>
              <a:rPr lang="en-US" dirty="0"/>
              <a:t> allow interface designers to </a:t>
            </a:r>
            <a:r>
              <a:rPr lang="en-US" b="1" dirty="0"/>
              <a:t>add new methods</a:t>
            </a:r>
            <a:r>
              <a:rPr lang="en-US" dirty="0"/>
              <a:t> without breaking existing implementations</a:t>
            </a:r>
            <a:r>
              <a:rPr lang="en-US" dirty="0" smtClean="0"/>
              <a:t>.</a:t>
            </a:r>
          </a:p>
          <a:p>
            <a:endParaRPr lang="en-US" dirty="0"/>
          </a:p>
          <a:p>
            <a:pPr marL="0" indent="0">
              <a:buNone/>
            </a:pPr>
            <a:r>
              <a:rPr lang="en-US" dirty="0"/>
              <a:t>interface Vehicle {</a:t>
            </a:r>
          </a:p>
          <a:p>
            <a:pPr marL="0" indent="0">
              <a:buNone/>
            </a:pPr>
            <a:r>
              <a:rPr lang="en-US" dirty="0"/>
              <a:t>    void start();</a:t>
            </a:r>
          </a:p>
          <a:p>
            <a:pPr marL="0" indent="0">
              <a:buNone/>
            </a:pPr>
            <a:r>
              <a:rPr lang="en-US" dirty="0"/>
              <a:t>}</a:t>
            </a:r>
          </a:p>
          <a:p>
            <a:pPr marL="0" indent="0">
              <a:buNone/>
            </a:pPr>
            <a:endParaRPr lang="en-US" dirty="0"/>
          </a:p>
          <a:p>
            <a:pPr marL="0" indent="0">
              <a:buNone/>
            </a:pPr>
            <a:r>
              <a:rPr lang="en-US" dirty="0"/>
              <a:t>// Suppose we add a new method</a:t>
            </a:r>
          </a:p>
          <a:p>
            <a:pPr marL="0" indent="0">
              <a:buNone/>
            </a:pPr>
            <a:r>
              <a:rPr lang="en-US" dirty="0"/>
              <a:t>interface Vehicle {  </a:t>
            </a:r>
          </a:p>
          <a:p>
            <a:pPr marL="0" indent="0">
              <a:buNone/>
            </a:pPr>
            <a:r>
              <a:rPr lang="en-US" dirty="0"/>
              <a:t>    void start();</a:t>
            </a:r>
          </a:p>
          <a:p>
            <a:pPr marL="0" indent="0">
              <a:buNone/>
            </a:pPr>
            <a:r>
              <a:rPr lang="en-US" dirty="0"/>
              <a:t>    void stop();  // This breaks all implementing classes!</a:t>
            </a:r>
          </a:p>
          <a:p>
            <a:pPr marL="0" indent="0">
              <a:buNone/>
            </a:pPr>
            <a:r>
              <a:rPr lang="en-US" dirty="0"/>
              <a:t>}</a:t>
            </a:r>
          </a:p>
          <a:p>
            <a:r>
              <a:rPr lang="en-US" dirty="0"/>
              <a:t>All existing classes implementing Vehicle would break!</a:t>
            </a:r>
            <a:endParaRPr lang="en-IN" dirty="0" smtClean="0"/>
          </a:p>
        </p:txBody>
      </p:sp>
    </p:spTree>
    <p:extLst>
      <p:ext uri="{BB962C8B-B14F-4D97-AF65-F5344CB8AC3E}">
        <p14:creationId xmlns:p14="http://schemas.microsoft.com/office/powerpoint/2010/main" val="3971545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92500" lnSpcReduction="10000"/>
          </a:bodyPr>
          <a:lstStyle/>
          <a:p>
            <a:r>
              <a:rPr lang="en-IN" dirty="0" smtClean="0"/>
              <a:t>Solution – </a:t>
            </a:r>
          </a:p>
          <a:p>
            <a:pPr marL="0" indent="0">
              <a:buNone/>
            </a:pPr>
            <a:r>
              <a:rPr lang="en-IN" dirty="0"/>
              <a:t>interface Vehicle {</a:t>
            </a:r>
          </a:p>
          <a:p>
            <a:pPr marL="0" indent="0">
              <a:buNone/>
            </a:pPr>
            <a:r>
              <a:rPr lang="en-IN" dirty="0"/>
              <a:t>    void start();  // Abstract method</a:t>
            </a:r>
          </a:p>
          <a:p>
            <a:pPr marL="0" indent="0">
              <a:buNone/>
            </a:pPr>
            <a:endParaRPr lang="en-IN" dirty="0"/>
          </a:p>
          <a:p>
            <a:pPr marL="0" indent="0">
              <a:buNone/>
            </a:pPr>
            <a:r>
              <a:rPr lang="en-IN" dirty="0"/>
              <a:t>    // New default method added without breaking existing classes</a:t>
            </a:r>
          </a:p>
          <a:p>
            <a:pPr marL="0" indent="0">
              <a:buNone/>
            </a:pPr>
            <a:r>
              <a:rPr lang="en-IN" dirty="0"/>
              <a:t>    default void stop() {</a:t>
            </a:r>
          </a:p>
          <a:p>
            <a:pPr marL="0" indent="0">
              <a:buNone/>
            </a:pPr>
            <a:r>
              <a:rPr lang="en-IN" dirty="0"/>
              <a:t>        </a:t>
            </a:r>
            <a:r>
              <a:rPr lang="en-IN" dirty="0" err="1"/>
              <a:t>System.out.println</a:t>
            </a:r>
            <a:r>
              <a:rPr lang="en-IN" dirty="0"/>
              <a:t>("Vehicle stopping...");</a:t>
            </a:r>
          </a:p>
          <a:p>
            <a:pPr marL="0" indent="0">
              <a:buNone/>
            </a:pPr>
            <a:r>
              <a:rPr lang="en-IN" dirty="0"/>
              <a:t>    }</a:t>
            </a:r>
          </a:p>
          <a:p>
            <a:pPr marL="0" indent="0">
              <a:buNone/>
            </a:pPr>
            <a:r>
              <a:rPr lang="en-IN" dirty="0"/>
              <a:t>}</a:t>
            </a:r>
          </a:p>
          <a:p>
            <a:r>
              <a:rPr lang="en-US" b="1" dirty="0"/>
              <a:t>Now, existing classes will continue to work</a:t>
            </a:r>
            <a:r>
              <a:rPr lang="en-US" dirty="0"/>
              <a:t>, as they are not forced to override stop().</a:t>
            </a:r>
            <a:endParaRPr lang="en-IN" dirty="0"/>
          </a:p>
        </p:txBody>
      </p:sp>
    </p:spTree>
    <p:extLst>
      <p:ext uri="{BB962C8B-B14F-4D97-AF65-F5344CB8AC3E}">
        <p14:creationId xmlns:p14="http://schemas.microsoft.com/office/powerpoint/2010/main" val="3971545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47500" lnSpcReduction="20000"/>
          </a:bodyPr>
          <a:lstStyle/>
          <a:p>
            <a:r>
              <a:rPr lang="en-US" b="1" dirty="0"/>
              <a:t>Allowing Code Reusability in </a:t>
            </a:r>
            <a:r>
              <a:rPr lang="en-US" b="1" dirty="0" smtClean="0"/>
              <a:t>Interfaces - </a:t>
            </a:r>
            <a:endParaRPr lang="en-US" b="1" dirty="0"/>
          </a:p>
          <a:p>
            <a:r>
              <a:rPr lang="en-US" dirty="0"/>
              <a:t>Before Java 8, common functionality had to be implemented in each class separately.</a:t>
            </a:r>
          </a:p>
          <a:p>
            <a:r>
              <a:rPr lang="en-US" dirty="0"/>
              <a:t>Now, with default methods, the common functionality can be written once in the interface and reused.</a:t>
            </a:r>
          </a:p>
          <a:p>
            <a:r>
              <a:rPr lang="en-US" dirty="0"/>
              <a:t>Example: Without Default Methods (Before Java 8</a:t>
            </a:r>
            <a:r>
              <a:rPr lang="en-US" dirty="0" smtClean="0"/>
              <a:t>)</a:t>
            </a:r>
          </a:p>
          <a:p>
            <a:endParaRPr lang="en-US" dirty="0"/>
          </a:p>
          <a:p>
            <a:pPr marL="0" indent="0">
              <a:buNone/>
            </a:pPr>
            <a:r>
              <a:rPr lang="en-US" dirty="0"/>
              <a:t>interface Printer {</a:t>
            </a:r>
          </a:p>
          <a:p>
            <a:pPr marL="0" indent="0">
              <a:buNone/>
            </a:pPr>
            <a:r>
              <a:rPr lang="en-US" dirty="0"/>
              <a:t>    void print();</a:t>
            </a:r>
          </a:p>
          <a:p>
            <a:pPr marL="0" indent="0">
              <a:buNone/>
            </a:pPr>
            <a:r>
              <a:rPr lang="en-US" dirty="0"/>
              <a:t>}</a:t>
            </a:r>
          </a:p>
          <a:p>
            <a:pPr marL="0" indent="0">
              <a:buNone/>
            </a:pPr>
            <a:endParaRPr lang="en-US" dirty="0"/>
          </a:p>
          <a:p>
            <a:pPr marL="0" indent="0">
              <a:buNone/>
            </a:pPr>
            <a:r>
              <a:rPr lang="en-US" dirty="0"/>
              <a:t>class </a:t>
            </a:r>
            <a:r>
              <a:rPr lang="en-US" dirty="0" err="1"/>
              <a:t>InkjetPrinter</a:t>
            </a:r>
            <a:r>
              <a:rPr lang="en-US" dirty="0"/>
              <a:t> implements Printer {</a:t>
            </a:r>
          </a:p>
          <a:p>
            <a:pPr marL="0" indent="0">
              <a:buNone/>
            </a:pPr>
            <a:r>
              <a:rPr lang="en-US" dirty="0"/>
              <a:t>    public void print() {</a:t>
            </a:r>
          </a:p>
          <a:p>
            <a:pPr marL="0" indent="0">
              <a:buNone/>
            </a:pPr>
            <a:r>
              <a:rPr lang="en-US" dirty="0"/>
              <a:t>        </a:t>
            </a:r>
            <a:r>
              <a:rPr lang="en-US" dirty="0" err="1"/>
              <a:t>System.out.println</a:t>
            </a:r>
            <a:r>
              <a:rPr lang="en-US" dirty="0"/>
              <a:t>("Printing using Inkjet Printer...");</a:t>
            </a:r>
          </a:p>
          <a:p>
            <a:pPr marL="0" indent="0">
              <a:buNone/>
            </a:pPr>
            <a:r>
              <a:rPr lang="en-US" dirty="0"/>
              <a:t>    }</a:t>
            </a:r>
          </a:p>
          <a:p>
            <a:pPr marL="0" indent="0">
              <a:buNone/>
            </a:pPr>
            <a:r>
              <a:rPr lang="en-US" dirty="0"/>
              <a:t>}</a:t>
            </a:r>
          </a:p>
          <a:p>
            <a:pPr marL="0" indent="0">
              <a:buNone/>
            </a:pPr>
            <a:endParaRPr lang="en-US" dirty="0"/>
          </a:p>
          <a:p>
            <a:pPr marL="0" indent="0">
              <a:buNone/>
            </a:pPr>
            <a:r>
              <a:rPr lang="en-US" dirty="0"/>
              <a:t>class </a:t>
            </a:r>
            <a:r>
              <a:rPr lang="en-US" dirty="0" err="1"/>
              <a:t>LaserPrinter</a:t>
            </a:r>
            <a:r>
              <a:rPr lang="en-US" dirty="0"/>
              <a:t> implements Printer {</a:t>
            </a:r>
          </a:p>
          <a:p>
            <a:pPr marL="0" indent="0">
              <a:buNone/>
            </a:pPr>
            <a:r>
              <a:rPr lang="en-US" dirty="0"/>
              <a:t>    public void print() {</a:t>
            </a:r>
          </a:p>
          <a:p>
            <a:pPr marL="0" indent="0">
              <a:buNone/>
            </a:pPr>
            <a:r>
              <a:rPr lang="en-US" dirty="0"/>
              <a:t>        </a:t>
            </a:r>
            <a:r>
              <a:rPr lang="en-US" dirty="0" err="1"/>
              <a:t>System.out.println</a:t>
            </a:r>
            <a:r>
              <a:rPr lang="en-US" dirty="0"/>
              <a:t>("Printing using Laser Printer...");</a:t>
            </a:r>
          </a:p>
          <a:p>
            <a:pPr marL="0" indent="0">
              <a:buNone/>
            </a:pPr>
            <a:r>
              <a:rPr lang="en-US" dirty="0"/>
              <a:t>    }</a:t>
            </a:r>
          </a:p>
          <a:p>
            <a:pPr marL="0" indent="0">
              <a:buNone/>
            </a:pPr>
            <a:r>
              <a:rPr lang="en-US" dirty="0"/>
              <a:t>}</a:t>
            </a:r>
          </a:p>
          <a:p>
            <a:pPr marL="0" indent="0">
              <a:buNone/>
            </a:pPr>
            <a:endParaRPr lang="en-US" dirty="0"/>
          </a:p>
          <a:p>
            <a:pPr marL="0" indent="0">
              <a:buNone/>
            </a:pPr>
            <a:r>
              <a:rPr lang="en-US" dirty="0"/>
              <a:t>// If we want a new feature like duplex printing, we must implement it in each class.</a:t>
            </a:r>
          </a:p>
          <a:p>
            <a:pPr marL="0" indent="0">
              <a:buNone/>
            </a:pPr>
            <a:endParaRPr lang="en-US" dirty="0"/>
          </a:p>
          <a:p>
            <a:endParaRPr lang="en-IN" dirty="0"/>
          </a:p>
        </p:txBody>
      </p:sp>
    </p:spTree>
    <p:extLst>
      <p:ext uri="{BB962C8B-B14F-4D97-AF65-F5344CB8AC3E}">
        <p14:creationId xmlns:p14="http://schemas.microsoft.com/office/powerpoint/2010/main" val="3971545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32500" lnSpcReduction="20000"/>
          </a:bodyPr>
          <a:lstStyle/>
          <a:p>
            <a:r>
              <a:rPr lang="en-US" dirty="0"/>
              <a:t>Each class must implement duplicate code separately</a:t>
            </a:r>
            <a:r>
              <a:rPr lang="en-US" dirty="0" smtClean="0"/>
              <a:t>.</a:t>
            </a:r>
            <a:endParaRPr lang="en-US" dirty="0"/>
          </a:p>
          <a:p>
            <a:r>
              <a:rPr lang="en-US" dirty="0"/>
              <a:t>With Java 8 Default Methods (Code Reusability</a:t>
            </a:r>
            <a:r>
              <a:rPr lang="en-US" dirty="0" smtClean="0"/>
              <a:t>) – </a:t>
            </a:r>
          </a:p>
          <a:p>
            <a:pPr marL="0" indent="0">
              <a:buNone/>
            </a:pPr>
            <a:r>
              <a:rPr lang="en-IN" dirty="0"/>
              <a:t>interface Printer {</a:t>
            </a:r>
          </a:p>
          <a:p>
            <a:pPr marL="0" indent="0">
              <a:buNone/>
            </a:pPr>
            <a:r>
              <a:rPr lang="en-IN" dirty="0"/>
              <a:t>    void print();</a:t>
            </a:r>
          </a:p>
          <a:p>
            <a:pPr marL="0" indent="0">
              <a:buNone/>
            </a:pPr>
            <a:endParaRPr lang="en-IN" dirty="0"/>
          </a:p>
          <a:p>
            <a:pPr marL="0" indent="0">
              <a:buNone/>
            </a:pPr>
            <a:r>
              <a:rPr lang="en-IN" dirty="0"/>
              <a:t>    // Default method for duplex printing</a:t>
            </a:r>
          </a:p>
          <a:p>
            <a:pPr marL="0" indent="0">
              <a:buNone/>
            </a:pPr>
            <a:r>
              <a:rPr lang="en-IN" dirty="0"/>
              <a:t>    default void </a:t>
            </a:r>
            <a:r>
              <a:rPr lang="en-IN" dirty="0" err="1"/>
              <a:t>duplexPrint</a:t>
            </a:r>
            <a:r>
              <a:rPr lang="en-IN" dirty="0"/>
              <a:t>() {</a:t>
            </a:r>
          </a:p>
          <a:p>
            <a:pPr marL="0" indent="0">
              <a:buNone/>
            </a:pPr>
            <a:r>
              <a:rPr lang="en-IN" dirty="0"/>
              <a:t>        </a:t>
            </a:r>
            <a:r>
              <a:rPr lang="en-IN" dirty="0" err="1"/>
              <a:t>System.out.println</a:t>
            </a:r>
            <a:r>
              <a:rPr lang="en-IN" dirty="0"/>
              <a:t>("Printing on both sides...");</a:t>
            </a:r>
          </a:p>
          <a:p>
            <a:pPr marL="0" indent="0">
              <a:buNone/>
            </a:pPr>
            <a:r>
              <a:rPr lang="en-IN" dirty="0"/>
              <a:t>    }</a:t>
            </a:r>
          </a:p>
          <a:p>
            <a:pPr marL="0" indent="0">
              <a:buNone/>
            </a:pPr>
            <a:r>
              <a:rPr lang="en-IN" dirty="0"/>
              <a:t>}</a:t>
            </a:r>
          </a:p>
          <a:p>
            <a:pPr marL="0" indent="0">
              <a:buNone/>
            </a:pPr>
            <a:endParaRPr lang="en-IN" dirty="0"/>
          </a:p>
          <a:p>
            <a:pPr marL="0" indent="0">
              <a:buNone/>
            </a:pPr>
            <a:r>
              <a:rPr lang="en-IN" dirty="0"/>
              <a:t>class </a:t>
            </a:r>
            <a:r>
              <a:rPr lang="en-IN" dirty="0" err="1"/>
              <a:t>InkjetPrinter</a:t>
            </a:r>
            <a:r>
              <a:rPr lang="en-IN" dirty="0"/>
              <a:t> implements Printer {</a:t>
            </a:r>
          </a:p>
          <a:p>
            <a:pPr marL="0" indent="0">
              <a:buNone/>
            </a:pPr>
            <a:r>
              <a:rPr lang="en-IN" dirty="0"/>
              <a:t>    public void print() {</a:t>
            </a:r>
          </a:p>
          <a:p>
            <a:pPr marL="0" indent="0">
              <a:buNone/>
            </a:pPr>
            <a:r>
              <a:rPr lang="en-IN" dirty="0"/>
              <a:t>        </a:t>
            </a:r>
            <a:r>
              <a:rPr lang="en-IN" dirty="0" err="1"/>
              <a:t>System.out.println</a:t>
            </a:r>
            <a:r>
              <a:rPr lang="en-IN" dirty="0"/>
              <a:t>("Printing using Inkjet Printer...");</a:t>
            </a:r>
          </a:p>
          <a:p>
            <a:pPr marL="0" indent="0">
              <a:buNone/>
            </a:pPr>
            <a:r>
              <a:rPr lang="en-IN" dirty="0"/>
              <a:t>    }</a:t>
            </a:r>
          </a:p>
          <a:p>
            <a:pPr marL="0" indent="0">
              <a:buNone/>
            </a:pPr>
            <a:r>
              <a:rPr lang="en-IN" dirty="0"/>
              <a:t>}</a:t>
            </a:r>
          </a:p>
          <a:p>
            <a:pPr marL="0" indent="0">
              <a:buNone/>
            </a:pPr>
            <a:endParaRPr lang="en-IN" dirty="0"/>
          </a:p>
          <a:p>
            <a:pPr marL="0" indent="0">
              <a:buNone/>
            </a:pPr>
            <a:r>
              <a:rPr lang="en-IN" dirty="0"/>
              <a:t>class </a:t>
            </a:r>
            <a:r>
              <a:rPr lang="en-IN" dirty="0" err="1"/>
              <a:t>LaserPrinter</a:t>
            </a:r>
            <a:r>
              <a:rPr lang="en-IN" dirty="0"/>
              <a:t> implements Printer {</a:t>
            </a:r>
          </a:p>
          <a:p>
            <a:pPr marL="0" indent="0">
              <a:buNone/>
            </a:pPr>
            <a:r>
              <a:rPr lang="en-IN" dirty="0"/>
              <a:t>    public void print() {</a:t>
            </a:r>
          </a:p>
          <a:p>
            <a:pPr marL="0" indent="0">
              <a:buNone/>
            </a:pPr>
            <a:r>
              <a:rPr lang="en-IN" dirty="0"/>
              <a:t>        </a:t>
            </a:r>
            <a:r>
              <a:rPr lang="en-IN" dirty="0" err="1"/>
              <a:t>System.out.println</a:t>
            </a:r>
            <a:r>
              <a:rPr lang="en-IN" dirty="0"/>
              <a:t>("Printing using Laser Printer...");</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a:t>
            </a:r>
            <a:r>
              <a:rPr lang="en-IN" dirty="0" err="1"/>
              <a:t>DefaultMethodExample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Printer inkjet = new </a:t>
            </a:r>
            <a:r>
              <a:rPr lang="en-IN" dirty="0" err="1"/>
              <a:t>InkjetPrinter</a:t>
            </a:r>
            <a:r>
              <a:rPr lang="en-IN" dirty="0"/>
              <a:t>();</a:t>
            </a:r>
          </a:p>
          <a:p>
            <a:pPr marL="0" indent="0">
              <a:buNone/>
            </a:pPr>
            <a:r>
              <a:rPr lang="en-IN" dirty="0"/>
              <a:t>        </a:t>
            </a:r>
            <a:r>
              <a:rPr lang="en-IN" dirty="0" err="1"/>
              <a:t>inkjet.print</a:t>
            </a:r>
            <a:r>
              <a:rPr lang="en-IN" dirty="0"/>
              <a:t>();</a:t>
            </a:r>
          </a:p>
          <a:p>
            <a:pPr marL="0" indent="0">
              <a:buNone/>
            </a:pPr>
            <a:r>
              <a:rPr lang="en-IN" dirty="0"/>
              <a:t>        </a:t>
            </a:r>
            <a:r>
              <a:rPr lang="en-IN" dirty="0" err="1"/>
              <a:t>inkjet.duplexPrint</a:t>
            </a:r>
            <a:r>
              <a:rPr lang="en-IN" dirty="0"/>
              <a:t>();  // Using default method without overriding</a:t>
            </a:r>
          </a:p>
          <a:p>
            <a:pPr marL="0" indent="0">
              <a:buNone/>
            </a:pPr>
            <a:endParaRPr lang="en-IN" dirty="0"/>
          </a:p>
          <a:p>
            <a:pPr marL="0" indent="0">
              <a:buNone/>
            </a:pPr>
            <a:r>
              <a:rPr lang="en-IN" dirty="0"/>
              <a:t>        Printer laser = new </a:t>
            </a:r>
            <a:r>
              <a:rPr lang="en-IN" dirty="0" err="1"/>
              <a:t>LaserPrinter</a:t>
            </a:r>
            <a:r>
              <a:rPr lang="en-IN" dirty="0"/>
              <a:t>();</a:t>
            </a:r>
          </a:p>
          <a:p>
            <a:pPr marL="0" indent="0">
              <a:buNone/>
            </a:pPr>
            <a:r>
              <a:rPr lang="en-IN" dirty="0"/>
              <a:t>        </a:t>
            </a:r>
            <a:r>
              <a:rPr lang="en-IN" dirty="0" err="1"/>
              <a:t>laser.print</a:t>
            </a:r>
            <a:r>
              <a:rPr lang="en-IN" dirty="0"/>
              <a:t>();</a:t>
            </a:r>
          </a:p>
          <a:p>
            <a:pPr marL="0" indent="0">
              <a:buNone/>
            </a:pPr>
            <a:r>
              <a:rPr lang="en-IN" dirty="0"/>
              <a:t>        </a:t>
            </a:r>
            <a:r>
              <a:rPr lang="en-IN" dirty="0" err="1"/>
              <a:t>laser.duplexPrint</a:t>
            </a:r>
            <a:r>
              <a:rPr lang="en-IN" dirty="0"/>
              <a: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971545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lstStyle/>
          <a:p>
            <a:r>
              <a:rPr lang="en-US" b="1" dirty="0"/>
              <a:t>Allowing Utility Methods in Interfaces (static methods</a:t>
            </a:r>
            <a:r>
              <a:rPr lang="en-US" b="1" dirty="0" smtClean="0"/>
              <a:t>) - </a:t>
            </a:r>
            <a:endParaRPr lang="en-US" b="1" dirty="0"/>
          </a:p>
          <a:p>
            <a:r>
              <a:rPr lang="en-US" dirty="0"/>
              <a:t>Before Java 8, utility methods (helper functions) had to be placed in separate utility classes like Collections or Arrays.</a:t>
            </a:r>
          </a:p>
          <a:p>
            <a:r>
              <a:rPr lang="en-US" dirty="0"/>
              <a:t>Now, static methods in interfaces allow utility functions to be directly placed inside interfaces</a:t>
            </a:r>
            <a:r>
              <a:rPr lang="en-US" dirty="0" smtClean="0"/>
              <a:t>.</a:t>
            </a:r>
            <a:endParaRPr lang="en-US" dirty="0"/>
          </a:p>
          <a:p>
            <a:r>
              <a:rPr lang="en-US" dirty="0"/>
              <a:t>Example: Static Method in Interface</a:t>
            </a:r>
            <a:endParaRPr lang="en-IN" dirty="0"/>
          </a:p>
        </p:txBody>
      </p:sp>
    </p:spTree>
    <p:extLst>
      <p:ext uri="{BB962C8B-B14F-4D97-AF65-F5344CB8AC3E}">
        <p14:creationId xmlns:p14="http://schemas.microsoft.com/office/powerpoint/2010/main" val="3971545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85000" lnSpcReduction="10000"/>
          </a:bodyPr>
          <a:lstStyle/>
          <a:p>
            <a:pPr marL="0" indent="0">
              <a:buNone/>
            </a:pPr>
            <a:r>
              <a:rPr lang="en-IN" dirty="0"/>
              <a:t>interface </a:t>
            </a:r>
            <a:r>
              <a:rPr lang="en-IN" dirty="0" err="1"/>
              <a:t>MathOperations</a:t>
            </a:r>
            <a:r>
              <a:rPr lang="en-IN" dirty="0"/>
              <a:t> {</a:t>
            </a:r>
          </a:p>
          <a:p>
            <a:pPr marL="0" indent="0">
              <a:buNone/>
            </a:pPr>
            <a:r>
              <a:rPr lang="en-IN" dirty="0"/>
              <a:t>    static </a:t>
            </a:r>
            <a:r>
              <a:rPr lang="en-IN" dirty="0" err="1"/>
              <a:t>int</a:t>
            </a:r>
            <a:r>
              <a:rPr lang="en-IN" dirty="0"/>
              <a:t> add(</a:t>
            </a:r>
            <a:r>
              <a:rPr lang="en-IN" dirty="0" err="1"/>
              <a:t>int</a:t>
            </a:r>
            <a:r>
              <a:rPr lang="en-IN" dirty="0"/>
              <a:t> a, </a:t>
            </a:r>
            <a:r>
              <a:rPr lang="en-IN" dirty="0" err="1"/>
              <a:t>int</a:t>
            </a:r>
            <a:r>
              <a:rPr lang="en-IN" dirty="0"/>
              <a:t> b) {  // Static method in interface</a:t>
            </a:r>
          </a:p>
          <a:p>
            <a:pPr marL="0" indent="0">
              <a:buNone/>
            </a:pPr>
            <a:r>
              <a:rPr lang="en-IN" dirty="0"/>
              <a:t>        return a + b;</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a:t>
            </a:r>
            <a:r>
              <a:rPr lang="en-IN" dirty="0" err="1"/>
              <a:t>StaticMethodExample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System.out.println</a:t>
            </a:r>
            <a:r>
              <a:rPr lang="en-IN" dirty="0"/>
              <a:t>(</a:t>
            </a:r>
            <a:r>
              <a:rPr lang="en-IN" dirty="0" err="1"/>
              <a:t>MathOperations.add</a:t>
            </a:r>
            <a:r>
              <a:rPr lang="en-IN" dirty="0"/>
              <a:t>(5, 3)); // Calling static method</a:t>
            </a:r>
          </a:p>
          <a:p>
            <a:pPr marL="0" indent="0">
              <a:buNone/>
            </a:pPr>
            <a:r>
              <a:rPr lang="en-IN" dirty="0"/>
              <a:t>    }</a:t>
            </a:r>
          </a:p>
          <a:p>
            <a:pPr marL="0" indent="0">
              <a:buNone/>
            </a:pPr>
            <a:r>
              <a:rPr lang="en-IN" dirty="0"/>
              <a:t>}</a:t>
            </a:r>
          </a:p>
          <a:p>
            <a:r>
              <a:rPr lang="en-US" dirty="0"/>
              <a:t>No need for a separate utility class! </a:t>
            </a:r>
            <a:endParaRPr lang="en-IN" dirty="0"/>
          </a:p>
        </p:txBody>
      </p:sp>
    </p:spTree>
    <p:extLst>
      <p:ext uri="{BB962C8B-B14F-4D97-AF65-F5344CB8AC3E}">
        <p14:creationId xmlns:p14="http://schemas.microsoft.com/office/powerpoint/2010/main" val="3971545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lstStyle/>
          <a:p>
            <a:endParaRPr lang="en-IN" dirty="0"/>
          </a:p>
        </p:txBody>
      </p:sp>
    </p:spTree>
    <p:extLst>
      <p:ext uri="{BB962C8B-B14F-4D97-AF65-F5344CB8AC3E}">
        <p14:creationId xmlns:p14="http://schemas.microsoft.com/office/powerpoint/2010/main" val="3971545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TotalTime>
  <Words>1929</Words>
  <Application>Microsoft Office PowerPoint</Application>
  <PresentationFormat>On-screen Show (4:3)</PresentationFormat>
  <Paragraphs>418</Paragraphs>
  <Slides>36</Slides>
  <Notes>6</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Packages and Interface</vt:lpstr>
      <vt:lpstr>Packages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Packages and Interface</dc:title>
  <dc:creator/>
  <cp:lastModifiedBy>Rohit Kamboj</cp:lastModifiedBy>
  <cp:revision>108</cp:revision>
  <dcterms:created xsi:type="dcterms:W3CDTF">2006-08-16T00:00:00Z</dcterms:created>
  <dcterms:modified xsi:type="dcterms:W3CDTF">2025-02-03T10:19:13Z</dcterms:modified>
</cp:coreProperties>
</file>