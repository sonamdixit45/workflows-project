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84" autoAdjust="0"/>
  </p:normalViewPr>
  <p:slideViewPr>
    <p:cSldViewPr>
      <p:cViewPr varScale="1">
        <p:scale>
          <a:sx n="77" d="100"/>
          <a:sy n="77" d="100"/>
        </p:scale>
        <p:origin x="-1618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34C37-2D91-4303-B0BC-E21EDB8340D7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47C82-7067-4F49-9EAD-F9EAB7D8A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318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Day is an </a:t>
            </a:r>
            <a:r>
              <a:rPr lang="en-US" dirty="0" err="1" smtClean="0"/>
              <a:t>enum</a:t>
            </a:r>
            <a:r>
              <a:rPr lang="en-US" dirty="0" smtClean="0"/>
              <a:t> representing days of the week.</a:t>
            </a:r>
          </a:p>
          <a:p>
            <a:r>
              <a:rPr lang="en-US" dirty="0" err="1" smtClean="0"/>
              <a:t>Day.MONDAY</a:t>
            </a:r>
            <a:r>
              <a:rPr lang="en-US" dirty="0" smtClean="0"/>
              <a:t> assigns a specific </a:t>
            </a:r>
            <a:r>
              <a:rPr lang="en-US" dirty="0" err="1" smtClean="0"/>
              <a:t>enum</a:t>
            </a:r>
            <a:r>
              <a:rPr lang="en-US" dirty="0" smtClean="0"/>
              <a:t> value.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47C82-7067-4F49-9EAD-F9EAB7D8AB4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837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Why use </a:t>
            </a:r>
            <a:r>
              <a:rPr lang="en-US" b="1" dirty="0" err="1" smtClean="0"/>
              <a:t>Enums</a:t>
            </a:r>
            <a:r>
              <a:rPr lang="en-US" b="1" dirty="0" smtClean="0"/>
              <a:t> in switch cases?</a:t>
            </a:r>
            <a:endParaRPr lang="en-US" dirty="0" smtClean="0"/>
          </a:p>
          <a:p>
            <a:r>
              <a:rPr lang="en-US" dirty="0" smtClean="0"/>
              <a:t>Improves code readability.</a:t>
            </a:r>
          </a:p>
          <a:p>
            <a:r>
              <a:rPr lang="en-US" dirty="0" smtClean="0"/>
              <a:t>Prevents invalid values from being passed.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47C82-7067-4F49-9EAD-F9EAB7D8AB4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13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Java Enumeration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</a:t>
            </a:r>
            <a:r>
              <a:rPr lang="en-US" dirty="0" err="1"/>
              <a:t>Enum</a:t>
            </a:r>
            <a:r>
              <a:rPr lang="en-US" dirty="0"/>
              <a:t> in Java?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</a:t>
            </a:r>
            <a:r>
              <a:rPr lang="en-US" b="1" dirty="0" err="1"/>
              <a:t>enum</a:t>
            </a:r>
            <a:r>
              <a:rPr lang="en-US" dirty="0"/>
              <a:t> (short for </a:t>
            </a:r>
            <a:r>
              <a:rPr lang="en-US" b="1" dirty="0"/>
              <a:t>enumeration</a:t>
            </a:r>
            <a:r>
              <a:rPr lang="en-US" dirty="0"/>
              <a:t>) in Java is a special data type used to define a collection of constants. </a:t>
            </a:r>
            <a:r>
              <a:rPr lang="en-US" dirty="0" err="1"/>
              <a:t>Enums</a:t>
            </a:r>
            <a:r>
              <a:rPr lang="en-US" dirty="0"/>
              <a:t> provide a way to group related values together, making the code more readable and type-safe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Key Features of </a:t>
            </a:r>
            <a:r>
              <a:rPr lang="en-US" b="1" dirty="0" err="1"/>
              <a:t>Enums</a:t>
            </a:r>
            <a:r>
              <a:rPr lang="en-US" b="1" dirty="0"/>
              <a:t>:</a:t>
            </a:r>
          </a:p>
          <a:p>
            <a:r>
              <a:rPr lang="en-US" dirty="0" err="1"/>
              <a:t>Enum</a:t>
            </a:r>
            <a:r>
              <a:rPr lang="en-US" dirty="0"/>
              <a:t> constants are </a:t>
            </a:r>
            <a:r>
              <a:rPr lang="en-US" b="1" dirty="0"/>
              <a:t>implicitly public, static, and final</a:t>
            </a:r>
            <a:r>
              <a:rPr lang="en-US" dirty="0" smtClean="0"/>
              <a:t>. </a:t>
            </a:r>
            <a:r>
              <a:rPr lang="en-US" dirty="0"/>
              <a:t>Since it is static, it can be accessed using the </a:t>
            </a:r>
            <a:r>
              <a:rPr lang="en-US" dirty="0" err="1"/>
              <a:t>enum</a:t>
            </a:r>
            <a:r>
              <a:rPr lang="en-US" dirty="0"/>
              <a:t> name. Since it is final, </a:t>
            </a:r>
            <a:r>
              <a:rPr lang="en-US" dirty="0" err="1"/>
              <a:t>enums</a:t>
            </a:r>
            <a:r>
              <a:rPr lang="en-US" dirty="0"/>
              <a:t> cannot be extended.</a:t>
            </a:r>
          </a:p>
          <a:p>
            <a:r>
              <a:rPr lang="en-US" dirty="0"/>
              <a:t>Every </a:t>
            </a:r>
            <a:r>
              <a:rPr lang="en-US" dirty="0" err="1"/>
              <a:t>enum</a:t>
            </a:r>
            <a:r>
              <a:rPr lang="en-US" dirty="0"/>
              <a:t> is internally implemented using the Class type</a:t>
            </a:r>
            <a:r>
              <a:rPr lang="en-US" dirty="0" smtClean="0"/>
              <a:t>.</a:t>
            </a:r>
          </a:p>
          <a:p>
            <a:r>
              <a:rPr lang="en-US" dirty="0"/>
              <a:t> Each </a:t>
            </a:r>
            <a:r>
              <a:rPr lang="en-US" dirty="0" err="1"/>
              <a:t>enum</a:t>
            </a:r>
            <a:r>
              <a:rPr lang="en-US" dirty="0"/>
              <a:t> constant represents an object of type </a:t>
            </a:r>
            <a:r>
              <a:rPr lang="en-US" dirty="0" err="1"/>
              <a:t>enum</a:t>
            </a:r>
            <a:r>
              <a:rPr lang="en-US" dirty="0"/>
              <a:t>.</a:t>
            </a:r>
          </a:p>
          <a:p>
            <a:r>
              <a:rPr lang="en-US" dirty="0" err="1" smtClean="0"/>
              <a:t>Enum</a:t>
            </a:r>
            <a:r>
              <a:rPr lang="en-US" dirty="0" smtClean="0"/>
              <a:t> </a:t>
            </a:r>
            <a:r>
              <a:rPr lang="en-US" dirty="0"/>
              <a:t>values are </a:t>
            </a:r>
            <a:r>
              <a:rPr lang="en-US" b="1" dirty="0"/>
              <a:t>type-safe</a:t>
            </a:r>
            <a:r>
              <a:rPr lang="en-US" dirty="0"/>
              <a:t>, meaning you cannot assign a value outside the predefined set.</a:t>
            </a:r>
          </a:p>
          <a:p>
            <a:r>
              <a:rPr lang="en-US" dirty="0" err="1"/>
              <a:t>Enums</a:t>
            </a:r>
            <a:r>
              <a:rPr lang="en-US" dirty="0"/>
              <a:t> can have </a:t>
            </a:r>
            <a:r>
              <a:rPr lang="en-US" b="1" dirty="0"/>
              <a:t>fields, constructors, and methods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1161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pPr fontAlgn="base"/>
            <a:r>
              <a:rPr lang="en-US" b="1" dirty="0"/>
              <a:t>Declaration of </a:t>
            </a:r>
            <a:r>
              <a:rPr lang="en-US" b="1" dirty="0" err="1"/>
              <a:t>enum</a:t>
            </a:r>
            <a:r>
              <a:rPr lang="en-US" b="1" dirty="0"/>
              <a:t> in Java</a:t>
            </a:r>
          </a:p>
          <a:p>
            <a:pPr fontAlgn="base"/>
            <a:r>
              <a:rPr lang="en-US" dirty="0" err="1"/>
              <a:t>Enum</a:t>
            </a:r>
            <a:r>
              <a:rPr lang="en-US" dirty="0"/>
              <a:t> declaration can be done outside a class or inside a class but not inside a method.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Example1 – </a:t>
            </a:r>
          </a:p>
          <a:p>
            <a:pPr marL="0" indent="0">
              <a:buNone/>
            </a:pPr>
            <a:r>
              <a:rPr lang="en-US" dirty="0" err="1"/>
              <a:t>enum</a:t>
            </a:r>
            <a:r>
              <a:rPr lang="en-US" dirty="0"/>
              <a:t> Day {</a:t>
            </a:r>
          </a:p>
          <a:p>
            <a:pPr marL="0" indent="0">
              <a:buNone/>
            </a:pPr>
            <a:r>
              <a:rPr lang="en-US" dirty="0"/>
              <a:t>    SUNDAY, MONDAY, TUESDAY, WEDNESDAY, THURSDAY, FRIDAY, SATURDAY;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EnumExample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Day today = </a:t>
            </a:r>
            <a:r>
              <a:rPr lang="en-US" dirty="0" err="1"/>
              <a:t>Day.MONDAY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("Today is: " + today);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750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Example 2 –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EnumExample</a:t>
            </a:r>
            <a:r>
              <a:rPr lang="en-US" dirty="0"/>
              <a:t>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 err="1"/>
              <a:t>enum</a:t>
            </a:r>
            <a:r>
              <a:rPr lang="en-US" dirty="0"/>
              <a:t> Day {</a:t>
            </a:r>
          </a:p>
          <a:p>
            <a:pPr marL="0" indent="0">
              <a:buNone/>
            </a:pPr>
            <a:r>
              <a:rPr lang="en-US" dirty="0"/>
              <a:t>    SUNDAY, MONDAY, TUESDAY, WEDNESDAY, THURSDAY, FRIDAY, SATURDAY;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Day today = </a:t>
            </a:r>
            <a:r>
              <a:rPr lang="en-US" dirty="0" err="1"/>
              <a:t>Day.MONDAY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("Today is: " + today);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444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 err="1"/>
              <a:t>Enum</a:t>
            </a:r>
            <a:r>
              <a:rPr lang="en-US" b="1" dirty="0"/>
              <a:t> with a Switch Case</a:t>
            </a:r>
          </a:p>
          <a:p>
            <a:r>
              <a:rPr lang="en-US" dirty="0" err="1"/>
              <a:t>Enums</a:t>
            </a:r>
            <a:r>
              <a:rPr lang="en-US" dirty="0"/>
              <a:t> can be used in a switch statement to handle different cases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enum</a:t>
            </a:r>
            <a:r>
              <a:rPr lang="en-US" dirty="0"/>
              <a:t> Day {</a:t>
            </a:r>
          </a:p>
          <a:p>
            <a:pPr marL="0" indent="0">
              <a:buNone/>
            </a:pPr>
            <a:r>
              <a:rPr lang="en-US" dirty="0"/>
              <a:t>    SUNDAY, MONDAY, TUESDAY, WEDNESDAY, THURSDAY, FRIDAY, SATURDAY;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EnumSwitchExample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    Day today = </a:t>
            </a:r>
            <a:r>
              <a:rPr lang="en-US" dirty="0" err="1"/>
              <a:t>Day.FRIDAY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switch (today) {</a:t>
            </a:r>
          </a:p>
          <a:p>
            <a:pPr marL="0" indent="0">
              <a:buNone/>
            </a:pPr>
            <a:r>
              <a:rPr lang="en-US" dirty="0"/>
              <a:t>            case MONDAY: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("Start of the work week.");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case FRIDAY: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("Weekend is near!");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case SUNDAY: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("Relax, it's Sunday!");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    default:</a:t>
            </a:r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System.out.println</a:t>
            </a:r>
            <a:r>
              <a:rPr lang="en-US" dirty="0"/>
              <a:t>("A regular day.");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err="1"/>
              <a:t>Enum</a:t>
            </a:r>
            <a:r>
              <a:rPr lang="en-US" b="1" dirty="0"/>
              <a:t> with Fields, Constructors, and Methods</a:t>
            </a:r>
          </a:p>
          <a:p>
            <a:r>
              <a:rPr lang="en-US" dirty="0" err="1"/>
              <a:t>Enums</a:t>
            </a:r>
            <a:r>
              <a:rPr lang="en-US" dirty="0"/>
              <a:t> can have instance variables, constructors, and methods.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enum</a:t>
            </a:r>
            <a:r>
              <a:rPr lang="en-IN" dirty="0" smtClean="0"/>
              <a:t> </a:t>
            </a:r>
            <a:r>
              <a:rPr lang="en-IN" dirty="0"/>
              <a:t>Size {</a:t>
            </a:r>
          </a:p>
          <a:p>
            <a:pPr marL="0" indent="0">
              <a:buNone/>
            </a:pPr>
            <a:r>
              <a:rPr lang="en-IN" dirty="0"/>
              <a:t>    SMALL(30), MEDIUM(50), LARGE(70);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int</a:t>
            </a:r>
            <a:r>
              <a:rPr lang="en-IN" dirty="0"/>
              <a:t> price;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Size(</a:t>
            </a:r>
            <a:r>
              <a:rPr lang="en-IN" dirty="0" err="1"/>
              <a:t>int</a:t>
            </a:r>
            <a:r>
              <a:rPr lang="en-IN" dirty="0"/>
              <a:t> price) { // Constructor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this.price</a:t>
            </a:r>
            <a:r>
              <a:rPr lang="en-IN" dirty="0"/>
              <a:t> = price;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getPrice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price;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EnumWithFieldsExample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Size </a:t>
            </a:r>
            <a:r>
              <a:rPr lang="en-IN" dirty="0" err="1"/>
              <a:t>pizzaSize</a:t>
            </a:r>
            <a:r>
              <a:rPr lang="en-IN" dirty="0"/>
              <a:t> = </a:t>
            </a:r>
            <a:r>
              <a:rPr lang="en-IN" dirty="0" err="1"/>
              <a:t>Size.LARGE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("Pizza Size: " + </a:t>
            </a:r>
            <a:r>
              <a:rPr lang="en-IN" dirty="0" err="1"/>
              <a:t>pizzaSize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("Price: ₹" + </a:t>
            </a:r>
            <a:r>
              <a:rPr lang="en-IN" dirty="0" err="1"/>
              <a:t>pizzaSize.getPrice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Each Size </a:t>
            </a:r>
            <a:r>
              <a:rPr lang="en-US" dirty="0" err="1"/>
              <a:t>enum</a:t>
            </a:r>
            <a:r>
              <a:rPr lang="en-US" dirty="0"/>
              <a:t> constant has a corresponding price.</a:t>
            </a:r>
          </a:p>
          <a:p>
            <a:r>
              <a:rPr lang="en-US" dirty="0"/>
              <a:t>The constructor initializes the price field.</a:t>
            </a:r>
          </a:p>
          <a:p>
            <a:r>
              <a:rPr lang="en-US" dirty="0"/>
              <a:t>The </a:t>
            </a:r>
            <a:r>
              <a:rPr lang="en-US" dirty="0" err="1"/>
              <a:t>getPrice</a:t>
            </a:r>
            <a:r>
              <a:rPr lang="en-US" dirty="0"/>
              <a:t>() method retrieves the price.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47500" lnSpcReduction="20000"/>
          </a:bodyPr>
          <a:lstStyle/>
          <a:p>
            <a:r>
              <a:rPr lang="en-IN" dirty="0" smtClean="0"/>
              <a:t>Example 2 – with multiple parameters – 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enum</a:t>
            </a:r>
            <a:r>
              <a:rPr lang="en-IN" dirty="0" smtClean="0"/>
              <a:t> </a:t>
            </a:r>
            <a:r>
              <a:rPr lang="en-IN" dirty="0"/>
              <a:t>Size {</a:t>
            </a:r>
          </a:p>
          <a:p>
            <a:pPr marL="0" indent="0">
              <a:buNone/>
            </a:pPr>
            <a:r>
              <a:rPr lang="en-IN" dirty="0"/>
              <a:t>    SMALL(30, 8), MEDIUM(50, 12), LARGE(70, 16);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int</a:t>
            </a:r>
            <a:r>
              <a:rPr lang="en-IN" dirty="0"/>
              <a:t> price;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int</a:t>
            </a:r>
            <a:r>
              <a:rPr lang="en-IN" dirty="0"/>
              <a:t> diameter; // New parameter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Constructor with multiple parameters</a:t>
            </a:r>
          </a:p>
          <a:p>
            <a:pPr marL="0" indent="0">
              <a:buNone/>
            </a:pPr>
            <a:r>
              <a:rPr lang="en-IN" dirty="0"/>
              <a:t>    Size(</a:t>
            </a:r>
            <a:r>
              <a:rPr lang="en-IN" dirty="0" err="1"/>
              <a:t>int</a:t>
            </a:r>
            <a:r>
              <a:rPr lang="en-IN" dirty="0"/>
              <a:t> price, </a:t>
            </a:r>
            <a:r>
              <a:rPr lang="en-IN" dirty="0" err="1"/>
              <a:t>int</a:t>
            </a:r>
            <a:r>
              <a:rPr lang="en-IN" dirty="0"/>
              <a:t> diameter)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this.price</a:t>
            </a:r>
            <a:r>
              <a:rPr lang="en-IN" dirty="0"/>
              <a:t> = price;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this.diameter</a:t>
            </a:r>
            <a:r>
              <a:rPr lang="en-IN" dirty="0"/>
              <a:t> = diameter;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Getter methods</a:t>
            </a:r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getPrice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price;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getDiameter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diameter;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EnumWithMultipleFieldsExample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Size </a:t>
            </a:r>
            <a:r>
              <a:rPr lang="en-IN" dirty="0" err="1"/>
              <a:t>pizzaSize</a:t>
            </a:r>
            <a:r>
              <a:rPr lang="en-IN" dirty="0"/>
              <a:t> = </a:t>
            </a:r>
            <a:r>
              <a:rPr lang="en-IN" dirty="0" err="1"/>
              <a:t>Size.LARGE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("Pizza Size: " + </a:t>
            </a:r>
            <a:r>
              <a:rPr lang="en-IN" dirty="0" err="1"/>
              <a:t>pizzaSize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("Price: ₹" + </a:t>
            </a:r>
            <a:r>
              <a:rPr lang="en-IN" dirty="0" err="1"/>
              <a:t>pizzaSize.getPrice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("Diameter: " + </a:t>
            </a:r>
            <a:r>
              <a:rPr lang="en-IN" dirty="0" err="1"/>
              <a:t>pizzaSize.getDiameter</a:t>
            </a:r>
            <a:r>
              <a:rPr lang="en-IN" dirty="0"/>
              <a:t>() + " inches");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r>
              <a:rPr lang="en-US" dirty="0"/>
              <a:t>You can define multiple parameters in an </a:t>
            </a:r>
            <a:r>
              <a:rPr lang="en-US" dirty="0" err="1"/>
              <a:t>enum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✅ Each </a:t>
            </a:r>
            <a:r>
              <a:rPr lang="en-US" dirty="0" err="1"/>
              <a:t>enum</a:t>
            </a:r>
            <a:r>
              <a:rPr lang="en-US" dirty="0"/>
              <a:t> constant must provide values for all defined parameters.</a:t>
            </a:r>
            <a:br>
              <a:rPr lang="en-US" dirty="0"/>
            </a:br>
            <a:r>
              <a:rPr lang="en-US" dirty="0"/>
              <a:t>✅ Use constructor and getter methods to handle multiple attributes.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 err="1"/>
              <a:t>Enum</a:t>
            </a:r>
            <a:r>
              <a:rPr lang="en-US" b="1" dirty="0"/>
              <a:t> with Abstract Methods</a:t>
            </a:r>
          </a:p>
          <a:p>
            <a:r>
              <a:rPr lang="en-US" dirty="0" err="1"/>
              <a:t>Enums</a:t>
            </a:r>
            <a:r>
              <a:rPr lang="en-US" dirty="0"/>
              <a:t> can define abstract methods that must be implemented by each constant.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enum</a:t>
            </a:r>
            <a:r>
              <a:rPr lang="en-IN" dirty="0" smtClean="0"/>
              <a:t> </a:t>
            </a:r>
            <a:r>
              <a:rPr lang="en-IN" dirty="0"/>
              <a:t>Operation {</a:t>
            </a:r>
          </a:p>
          <a:p>
            <a:pPr marL="0" indent="0">
              <a:buNone/>
            </a:pPr>
            <a:r>
              <a:rPr lang="en-IN" dirty="0"/>
              <a:t>    ADD {</a:t>
            </a:r>
          </a:p>
          <a:p>
            <a:pPr marL="0" indent="0">
              <a:buNone/>
            </a:pPr>
            <a:r>
              <a:rPr lang="en-IN" dirty="0"/>
              <a:t>        public </a:t>
            </a:r>
            <a:r>
              <a:rPr lang="en-IN" dirty="0" err="1"/>
              <a:t>int</a:t>
            </a:r>
            <a:r>
              <a:rPr lang="en-IN" dirty="0"/>
              <a:t> apply(</a:t>
            </a:r>
            <a:r>
              <a:rPr lang="en-IN" dirty="0" err="1"/>
              <a:t>int</a:t>
            </a:r>
            <a:r>
              <a:rPr lang="en-IN" dirty="0"/>
              <a:t> a, </a:t>
            </a:r>
            <a:r>
              <a:rPr lang="en-IN" dirty="0" err="1"/>
              <a:t>int</a:t>
            </a:r>
            <a:r>
              <a:rPr lang="en-IN" dirty="0"/>
              <a:t> b) {</a:t>
            </a:r>
          </a:p>
          <a:p>
            <a:pPr marL="0" indent="0">
              <a:buNone/>
            </a:pPr>
            <a:r>
              <a:rPr lang="en-IN" dirty="0"/>
              <a:t>            return a + b;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SUBTRACT {</a:t>
            </a:r>
          </a:p>
          <a:p>
            <a:pPr marL="0" indent="0">
              <a:buNone/>
            </a:pPr>
            <a:r>
              <a:rPr lang="en-IN" dirty="0"/>
              <a:t>        public </a:t>
            </a:r>
            <a:r>
              <a:rPr lang="en-IN" dirty="0" err="1"/>
              <a:t>int</a:t>
            </a:r>
            <a:r>
              <a:rPr lang="en-IN" dirty="0"/>
              <a:t> apply(</a:t>
            </a:r>
            <a:r>
              <a:rPr lang="en-IN" dirty="0" err="1"/>
              <a:t>int</a:t>
            </a:r>
            <a:r>
              <a:rPr lang="en-IN" dirty="0"/>
              <a:t> a, </a:t>
            </a:r>
            <a:r>
              <a:rPr lang="en-IN" dirty="0" err="1"/>
              <a:t>int</a:t>
            </a:r>
            <a:r>
              <a:rPr lang="en-IN" dirty="0"/>
              <a:t> b) {</a:t>
            </a:r>
          </a:p>
          <a:p>
            <a:pPr marL="0" indent="0">
              <a:buNone/>
            </a:pPr>
            <a:r>
              <a:rPr lang="en-IN" dirty="0"/>
              <a:t>            return a - b;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abstract </a:t>
            </a:r>
            <a:r>
              <a:rPr lang="en-IN" dirty="0" err="1"/>
              <a:t>int</a:t>
            </a:r>
            <a:r>
              <a:rPr lang="en-IN" dirty="0"/>
              <a:t> apply(</a:t>
            </a:r>
            <a:r>
              <a:rPr lang="en-IN" dirty="0" err="1"/>
              <a:t>int</a:t>
            </a:r>
            <a:r>
              <a:rPr lang="en-IN" dirty="0"/>
              <a:t> a, </a:t>
            </a:r>
            <a:r>
              <a:rPr lang="en-IN" dirty="0" err="1"/>
              <a:t>int</a:t>
            </a:r>
            <a:r>
              <a:rPr lang="en-IN" dirty="0"/>
              <a:t> b);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EnumAbstractExample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("Addition: " + </a:t>
            </a:r>
            <a:r>
              <a:rPr lang="en-IN" dirty="0" err="1"/>
              <a:t>Operation.ADD.apply</a:t>
            </a:r>
            <a:r>
              <a:rPr lang="en-IN" dirty="0"/>
              <a:t>(10, 5));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("Subtraction: " + </a:t>
            </a:r>
            <a:r>
              <a:rPr lang="en-IN" dirty="0" err="1"/>
              <a:t>Operation.SUBTRACT.apply</a:t>
            </a:r>
            <a:r>
              <a:rPr lang="en-IN" dirty="0"/>
              <a:t>(10, 5));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Iterating Over </a:t>
            </a:r>
            <a:r>
              <a:rPr lang="en-US" b="1" dirty="0" err="1"/>
              <a:t>Enum</a:t>
            </a:r>
            <a:r>
              <a:rPr lang="en-US" b="1" dirty="0"/>
              <a:t> Values</a:t>
            </a:r>
          </a:p>
          <a:p>
            <a:r>
              <a:rPr lang="en-US" dirty="0"/>
              <a:t>You can iterate over all values of an </a:t>
            </a:r>
            <a:r>
              <a:rPr lang="en-US" dirty="0" err="1"/>
              <a:t>enum</a:t>
            </a:r>
            <a:r>
              <a:rPr lang="en-US" dirty="0"/>
              <a:t> using the values() method.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err="1" smtClean="0"/>
              <a:t>enum</a:t>
            </a:r>
            <a:r>
              <a:rPr lang="en-IN" dirty="0" smtClean="0"/>
              <a:t> </a:t>
            </a:r>
            <a:r>
              <a:rPr lang="en-IN" dirty="0" err="1"/>
              <a:t>Color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RED, GREEN, BLUE;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EnumIterationExample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for (</a:t>
            </a:r>
            <a:r>
              <a:rPr lang="en-IN" dirty="0" err="1"/>
              <a:t>Color</a:t>
            </a:r>
            <a:r>
              <a:rPr lang="en-IN" dirty="0"/>
              <a:t> c : </a:t>
            </a:r>
            <a:r>
              <a:rPr lang="en-IN" dirty="0" err="1"/>
              <a:t>Color.values</a:t>
            </a:r>
            <a:r>
              <a:rPr lang="en-IN" dirty="0"/>
              <a:t>())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(c);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err="1"/>
              <a:t>Enum</a:t>
            </a:r>
            <a:r>
              <a:rPr lang="en-US" b="1" dirty="0"/>
              <a:t> Implementing an Interface</a:t>
            </a:r>
          </a:p>
          <a:p>
            <a:r>
              <a:rPr lang="en-US" dirty="0" err="1"/>
              <a:t>Enums</a:t>
            </a:r>
            <a:r>
              <a:rPr lang="en-US" dirty="0"/>
              <a:t> can implement interfaces, but cannot extend classes.</a:t>
            </a:r>
          </a:p>
          <a:p>
            <a:pPr marL="0" indent="0">
              <a:buNone/>
            </a:pPr>
            <a:r>
              <a:rPr lang="en-IN" dirty="0"/>
              <a:t>interface Printable {</a:t>
            </a:r>
          </a:p>
          <a:p>
            <a:pPr marL="0" indent="0">
              <a:buNone/>
            </a:pPr>
            <a:r>
              <a:rPr lang="en-IN" dirty="0"/>
              <a:t>    void print();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 Status implements Printable {</a:t>
            </a:r>
          </a:p>
          <a:p>
            <a:pPr marL="0" indent="0">
              <a:buNone/>
            </a:pPr>
            <a:r>
              <a:rPr lang="en-IN" dirty="0"/>
              <a:t>    SUCCESS {</a:t>
            </a:r>
          </a:p>
          <a:p>
            <a:pPr marL="0" indent="0">
              <a:buNone/>
            </a:pPr>
            <a:r>
              <a:rPr lang="en-IN" dirty="0"/>
              <a:t>        public void print()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("Operation was successful!");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FAILURE {</a:t>
            </a:r>
          </a:p>
          <a:p>
            <a:pPr marL="0" indent="0">
              <a:buNone/>
            </a:pPr>
            <a:r>
              <a:rPr lang="en-IN" dirty="0"/>
              <a:t>        public void print()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("Operation failed.");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EnumInterfaceExample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Status.SUCCESS.print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Status.FAILURE.print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 smtClean="0"/>
              <a:t>}</a:t>
            </a:r>
          </a:p>
          <a:p>
            <a:r>
              <a:rPr lang="en-US" b="1" dirty="0"/>
              <a:t>Why use interfaces with </a:t>
            </a:r>
            <a:r>
              <a:rPr lang="en-US" b="1" dirty="0" err="1"/>
              <a:t>Enums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Useful when </a:t>
            </a:r>
            <a:r>
              <a:rPr lang="en-US" dirty="0" err="1"/>
              <a:t>enum</a:t>
            </a:r>
            <a:r>
              <a:rPr lang="en-US" dirty="0"/>
              <a:t> constants need to follow a contract.</a:t>
            </a:r>
          </a:p>
          <a:p>
            <a:endParaRPr lang="en-IN" dirty="0" smtClean="0"/>
          </a:p>
          <a:p>
            <a:r>
              <a:rPr lang="en-IN" dirty="0" smtClean="0"/>
              <a:t>Note  - </a:t>
            </a:r>
            <a:r>
              <a:rPr lang="en-US" b="1" dirty="0"/>
              <a:t>it is not compulsory</a:t>
            </a:r>
            <a:r>
              <a:rPr lang="en-US" dirty="0"/>
              <a:t> for all </a:t>
            </a:r>
            <a:r>
              <a:rPr lang="en-US" dirty="0" err="1"/>
              <a:t>enum</a:t>
            </a:r>
            <a:r>
              <a:rPr lang="en-US" dirty="0"/>
              <a:t> constants to override an interface method if the method has a </a:t>
            </a:r>
            <a:r>
              <a:rPr lang="en-US" b="1" dirty="0"/>
              <a:t>default implementation</a:t>
            </a:r>
            <a:r>
              <a:rPr lang="en-US" dirty="0"/>
              <a:t> in the </a:t>
            </a:r>
            <a:r>
              <a:rPr lang="en-US" dirty="0" err="1"/>
              <a:t>enum</a:t>
            </a:r>
            <a:r>
              <a:rPr lang="en-US" dirty="0"/>
              <a:t>. However, if the method is </a:t>
            </a:r>
            <a:r>
              <a:rPr lang="en-US" b="1" dirty="0"/>
              <a:t>abstract</a:t>
            </a:r>
            <a:r>
              <a:rPr lang="en-US" dirty="0"/>
              <a:t>, then all </a:t>
            </a:r>
            <a:r>
              <a:rPr lang="en-US" dirty="0" err="1"/>
              <a:t>enum</a:t>
            </a:r>
            <a:r>
              <a:rPr lang="en-US" dirty="0"/>
              <a:t> constants </a:t>
            </a:r>
            <a:r>
              <a:rPr lang="en-US" b="1" dirty="0"/>
              <a:t>must</a:t>
            </a:r>
            <a:r>
              <a:rPr lang="en-US" dirty="0"/>
              <a:t> override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40000" lnSpcReduction="20000"/>
          </a:bodyPr>
          <a:lstStyle/>
          <a:p>
            <a:r>
              <a:rPr lang="en-US" b="1" dirty="0"/>
              <a:t>Case 1: Optional Method Override (Default Implementation)</a:t>
            </a:r>
          </a:p>
          <a:p>
            <a:r>
              <a:rPr lang="en-US" dirty="0"/>
              <a:t>If the method has a </a:t>
            </a:r>
            <a:r>
              <a:rPr lang="en-US" b="1" dirty="0"/>
              <a:t>default implementation</a:t>
            </a:r>
            <a:r>
              <a:rPr lang="en-US" dirty="0"/>
              <a:t> in the </a:t>
            </a:r>
            <a:r>
              <a:rPr lang="en-US" dirty="0" err="1"/>
              <a:t>enum</a:t>
            </a:r>
            <a:r>
              <a:rPr lang="en-US" dirty="0"/>
              <a:t>, only some constants may override it.</a:t>
            </a:r>
          </a:p>
          <a:p>
            <a:pPr marL="0" indent="0">
              <a:buNone/>
            </a:pPr>
            <a:r>
              <a:rPr lang="en-IN" dirty="0"/>
              <a:t>interface Printable {</a:t>
            </a:r>
          </a:p>
          <a:p>
            <a:pPr marL="0" indent="0">
              <a:buNone/>
            </a:pPr>
            <a:r>
              <a:rPr lang="en-IN" dirty="0"/>
              <a:t>    void print();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 Status implements Printable {</a:t>
            </a:r>
          </a:p>
          <a:p>
            <a:pPr marL="0" indent="0">
              <a:buNone/>
            </a:pPr>
            <a:r>
              <a:rPr lang="en-IN" dirty="0"/>
              <a:t>    SUCCESS {</a:t>
            </a:r>
          </a:p>
          <a:p>
            <a:pPr marL="0" indent="0">
              <a:buNone/>
            </a:pPr>
            <a:r>
              <a:rPr lang="en-IN" dirty="0"/>
              <a:t>        @Override</a:t>
            </a:r>
          </a:p>
          <a:p>
            <a:pPr marL="0" indent="0">
              <a:buNone/>
            </a:pPr>
            <a:r>
              <a:rPr lang="en-IN" dirty="0"/>
              <a:t>        public void print()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("Operation was successful!");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FAILURE {</a:t>
            </a:r>
          </a:p>
          <a:p>
            <a:pPr marL="0" indent="0">
              <a:buNone/>
            </a:pPr>
            <a:r>
              <a:rPr lang="en-IN" dirty="0"/>
              <a:t>        @Override</a:t>
            </a:r>
          </a:p>
          <a:p>
            <a:pPr marL="0" indent="0">
              <a:buNone/>
            </a:pPr>
            <a:r>
              <a:rPr lang="en-IN" dirty="0"/>
              <a:t>        public void print()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("Operation failed.");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PENDING; // Does NOT override print(), will use default implementation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Default implementation</a:t>
            </a:r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void print()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("Operation is pending...");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EnumInterfaceExample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Status.SUCCESS.print</a:t>
            </a:r>
            <a:r>
              <a:rPr lang="en-IN" dirty="0"/>
              <a:t>();   // Overridden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Status.FAILURE.print</a:t>
            </a:r>
            <a:r>
              <a:rPr lang="en-IN" dirty="0"/>
              <a:t>();   // Overridden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Status.PENDING.print</a:t>
            </a:r>
            <a:r>
              <a:rPr lang="en-IN" dirty="0"/>
              <a:t>();   // Uses default method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Case 2: Compulsory Method Override (Abstract Method)</a:t>
            </a:r>
          </a:p>
          <a:p>
            <a:r>
              <a:rPr lang="en-US" dirty="0"/>
              <a:t>If the method is </a:t>
            </a:r>
            <a:r>
              <a:rPr lang="en-US" b="1" dirty="0"/>
              <a:t>abstract</a:t>
            </a:r>
            <a:r>
              <a:rPr lang="en-US" dirty="0"/>
              <a:t>, then </a:t>
            </a:r>
            <a:r>
              <a:rPr lang="en-US" b="1" dirty="0"/>
              <a:t>all</a:t>
            </a:r>
            <a:r>
              <a:rPr lang="en-US" dirty="0"/>
              <a:t> </a:t>
            </a:r>
            <a:r>
              <a:rPr lang="en-US" dirty="0" err="1"/>
              <a:t>enum</a:t>
            </a:r>
            <a:r>
              <a:rPr lang="en-US" dirty="0"/>
              <a:t> constants </a:t>
            </a:r>
            <a:r>
              <a:rPr lang="en-US" b="1" dirty="0"/>
              <a:t>must override it</a:t>
            </a:r>
            <a:r>
              <a:rPr lang="en-US" dirty="0"/>
              <a:t>, otherwise, a compilation error occurs.</a:t>
            </a:r>
          </a:p>
          <a:p>
            <a:pPr marL="0" indent="0">
              <a:buNone/>
            </a:pPr>
            <a:r>
              <a:rPr lang="en-IN" dirty="0"/>
              <a:t>interface Action {</a:t>
            </a:r>
          </a:p>
          <a:p>
            <a:pPr marL="0" indent="0">
              <a:buNone/>
            </a:pPr>
            <a:r>
              <a:rPr lang="en-IN" dirty="0"/>
              <a:t>    void perform();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 Task implements Action {</a:t>
            </a:r>
          </a:p>
          <a:p>
            <a:pPr marL="0" indent="0">
              <a:buNone/>
            </a:pPr>
            <a:r>
              <a:rPr lang="en-IN" dirty="0"/>
              <a:t>    START {</a:t>
            </a:r>
          </a:p>
          <a:p>
            <a:pPr marL="0" indent="0">
              <a:buNone/>
            </a:pPr>
            <a:r>
              <a:rPr lang="en-IN" dirty="0"/>
              <a:t>        @Override</a:t>
            </a:r>
          </a:p>
          <a:p>
            <a:pPr marL="0" indent="0">
              <a:buNone/>
            </a:pPr>
            <a:r>
              <a:rPr lang="en-IN" dirty="0"/>
              <a:t>        public void perform()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("Starting the task...");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},</a:t>
            </a:r>
          </a:p>
          <a:p>
            <a:pPr marL="0" indent="0">
              <a:buNone/>
            </a:pPr>
            <a:r>
              <a:rPr lang="en-IN" dirty="0"/>
              <a:t>    STOP {</a:t>
            </a:r>
          </a:p>
          <a:p>
            <a:pPr marL="0" indent="0">
              <a:buNone/>
            </a:pPr>
            <a:r>
              <a:rPr lang="en-IN" dirty="0"/>
              <a:t>        @Override</a:t>
            </a:r>
          </a:p>
          <a:p>
            <a:pPr marL="0" indent="0">
              <a:buNone/>
            </a:pPr>
            <a:r>
              <a:rPr lang="en-IN" dirty="0"/>
              <a:t>        public void perform()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("Stopping the task...");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};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r>
              <a:rPr lang="en-IN" dirty="0"/>
              <a:t>    // ERROR if we don't override perform() for every constant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IN" b="1" dirty="0"/>
              <a:t>Java </a:t>
            </a:r>
            <a:r>
              <a:rPr lang="en-IN" b="1" dirty="0" err="1"/>
              <a:t>Enum</a:t>
            </a:r>
            <a:r>
              <a:rPr lang="en-IN" b="1" dirty="0"/>
              <a:t> Methods: </a:t>
            </a:r>
            <a:r>
              <a:rPr lang="en-IN" b="1" dirty="0" err="1"/>
              <a:t>compareTo</a:t>
            </a:r>
            <a:r>
              <a:rPr lang="en-IN" b="1" dirty="0"/>
              <a:t>() and ordinal</a:t>
            </a:r>
            <a:r>
              <a:rPr lang="en-IN" b="1" dirty="0" smtClean="0"/>
              <a:t>() – </a:t>
            </a:r>
          </a:p>
          <a:p>
            <a:r>
              <a:rPr lang="en-US" b="1" dirty="0"/>
              <a:t>ordinal() </a:t>
            </a:r>
            <a:r>
              <a:rPr lang="en-US" b="1" dirty="0" smtClean="0"/>
              <a:t>Method - </a:t>
            </a:r>
            <a:endParaRPr lang="en-US" b="1" dirty="0"/>
          </a:p>
          <a:p>
            <a:r>
              <a:rPr lang="en-US" dirty="0" smtClean="0"/>
              <a:t>The </a:t>
            </a:r>
            <a:r>
              <a:rPr lang="en-US" dirty="0"/>
              <a:t>ordinal() method returns the </a:t>
            </a:r>
            <a:r>
              <a:rPr lang="en-US" b="1" dirty="0"/>
              <a:t>zero-based index</a:t>
            </a:r>
            <a:r>
              <a:rPr lang="en-US" dirty="0"/>
              <a:t> (position) of an </a:t>
            </a:r>
            <a:r>
              <a:rPr lang="en-US" dirty="0" err="1"/>
              <a:t>enum</a:t>
            </a:r>
            <a:r>
              <a:rPr lang="en-US" dirty="0"/>
              <a:t> constant </a:t>
            </a:r>
            <a:r>
              <a:rPr lang="en-US" b="1" dirty="0"/>
              <a:t>as defined in the </a:t>
            </a:r>
            <a:r>
              <a:rPr lang="en-US" b="1" dirty="0" err="1"/>
              <a:t>enum</a:t>
            </a:r>
            <a:r>
              <a:rPr lang="en-US" b="1" dirty="0"/>
              <a:t> declaration</a:t>
            </a:r>
            <a:r>
              <a:rPr lang="en-US" dirty="0"/>
              <a:t>.</a:t>
            </a:r>
          </a:p>
          <a:p>
            <a:r>
              <a:rPr lang="en-IN" dirty="0"/>
              <a:t>Syntax-  public final </a:t>
            </a:r>
            <a:r>
              <a:rPr lang="en-IN" dirty="0" err="1"/>
              <a:t>int</a:t>
            </a:r>
            <a:r>
              <a:rPr lang="en-IN" dirty="0"/>
              <a:t> ordinal()</a:t>
            </a:r>
          </a:p>
          <a:p>
            <a:r>
              <a:rPr lang="en-US" b="1" dirty="0"/>
              <a:t>Returns:</a:t>
            </a:r>
            <a:r>
              <a:rPr lang="en-US" dirty="0"/>
              <a:t> An integer representing the </a:t>
            </a:r>
            <a:r>
              <a:rPr lang="en-US" b="1" dirty="0"/>
              <a:t>position</a:t>
            </a:r>
            <a:r>
              <a:rPr lang="en-US" dirty="0"/>
              <a:t> of the </a:t>
            </a:r>
            <a:r>
              <a:rPr lang="en-US" dirty="0" err="1"/>
              <a:t>enum</a:t>
            </a:r>
            <a:r>
              <a:rPr lang="en-US" dirty="0"/>
              <a:t> constant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Starts </a:t>
            </a:r>
            <a:r>
              <a:rPr lang="en-US" b="1" dirty="0"/>
              <a:t>from 0</a:t>
            </a:r>
            <a:r>
              <a:rPr lang="en-US" dirty="0"/>
              <a:t> for the first declared constant.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Example – </a:t>
            </a:r>
          </a:p>
          <a:p>
            <a:pPr marL="0" indent="0">
              <a:buNone/>
            </a:pPr>
            <a:r>
              <a:rPr lang="en-IN" dirty="0" err="1"/>
              <a:t>enum</a:t>
            </a:r>
            <a:r>
              <a:rPr lang="en-IN" dirty="0"/>
              <a:t> Level {</a:t>
            </a:r>
          </a:p>
          <a:p>
            <a:pPr marL="0" indent="0">
              <a:buNone/>
            </a:pPr>
            <a:r>
              <a:rPr lang="en-IN" dirty="0"/>
              <a:t>    LOW, MEDIUM, HIGH;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OrdinalExample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("LOW ordinal: " + </a:t>
            </a:r>
            <a:r>
              <a:rPr lang="en-IN" dirty="0" err="1"/>
              <a:t>Level.LOW.ordinal</a:t>
            </a:r>
            <a:r>
              <a:rPr lang="en-IN" dirty="0"/>
              <a:t>());       // 0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("MEDIUM ordinal: " + </a:t>
            </a:r>
            <a:r>
              <a:rPr lang="en-IN" dirty="0" err="1"/>
              <a:t>Level.MEDIUM.ordinal</a:t>
            </a:r>
            <a:r>
              <a:rPr lang="en-IN" dirty="0"/>
              <a:t>()); // 1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("HIGH ordinal: " + </a:t>
            </a:r>
            <a:r>
              <a:rPr lang="en-IN" dirty="0" err="1"/>
              <a:t>Level.HIGH.ordinal</a:t>
            </a:r>
            <a:r>
              <a:rPr lang="en-IN" dirty="0"/>
              <a:t>());     // 2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compareTo</a:t>
            </a:r>
            <a:r>
              <a:rPr lang="en-US" b="1" dirty="0"/>
              <a:t>() </a:t>
            </a:r>
            <a:r>
              <a:rPr lang="en-US" b="1" dirty="0" smtClean="0"/>
              <a:t>Method – </a:t>
            </a:r>
          </a:p>
          <a:p>
            <a:endParaRPr lang="en-US" b="1" dirty="0"/>
          </a:p>
          <a:p>
            <a:r>
              <a:rPr lang="en-US" dirty="0" smtClean="0"/>
              <a:t>The </a:t>
            </a:r>
            <a:r>
              <a:rPr lang="en-US" dirty="0" err="1"/>
              <a:t>compareTo</a:t>
            </a:r>
            <a:r>
              <a:rPr lang="en-US" dirty="0"/>
              <a:t>() method compares two </a:t>
            </a:r>
            <a:r>
              <a:rPr lang="en-US" dirty="0" err="1"/>
              <a:t>enum</a:t>
            </a:r>
            <a:r>
              <a:rPr lang="en-US" dirty="0"/>
              <a:t> constants </a:t>
            </a:r>
            <a:r>
              <a:rPr lang="en-US" b="1" dirty="0"/>
              <a:t>based on their ordinal values</a:t>
            </a:r>
            <a:r>
              <a:rPr lang="en-US" dirty="0"/>
              <a:t>.</a:t>
            </a:r>
          </a:p>
          <a:p>
            <a:r>
              <a:rPr lang="en-US" b="1" dirty="0"/>
              <a:t>Syntax:</a:t>
            </a:r>
          </a:p>
          <a:p>
            <a:r>
              <a:rPr lang="en-US" dirty="0" smtClean="0"/>
              <a:t>public </a:t>
            </a:r>
            <a:r>
              <a:rPr lang="en-US" dirty="0"/>
              <a:t>final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compareTo</a:t>
            </a:r>
            <a:r>
              <a:rPr lang="en-US" dirty="0"/>
              <a:t>(E other) </a:t>
            </a:r>
          </a:p>
          <a:p>
            <a:r>
              <a:rPr lang="en-US" b="1" dirty="0"/>
              <a:t>Returns:</a:t>
            </a:r>
            <a:endParaRPr lang="en-US" dirty="0"/>
          </a:p>
          <a:p>
            <a:pPr lvl="1"/>
            <a:r>
              <a:rPr lang="en-US" b="1" dirty="0"/>
              <a:t>0</a:t>
            </a:r>
            <a:r>
              <a:rPr lang="en-US" dirty="0"/>
              <a:t> → if both </a:t>
            </a:r>
            <a:r>
              <a:rPr lang="en-US" dirty="0" err="1"/>
              <a:t>enums</a:t>
            </a:r>
            <a:r>
              <a:rPr lang="en-US" dirty="0"/>
              <a:t> have the same ordinal value.</a:t>
            </a:r>
          </a:p>
          <a:p>
            <a:pPr lvl="1"/>
            <a:r>
              <a:rPr lang="en-US" b="1" dirty="0"/>
              <a:t>Positive (&gt;0)</a:t>
            </a:r>
            <a:r>
              <a:rPr lang="en-US" dirty="0"/>
              <a:t> → if the calling </a:t>
            </a:r>
            <a:r>
              <a:rPr lang="en-US" dirty="0" err="1"/>
              <a:t>enum</a:t>
            </a:r>
            <a:r>
              <a:rPr lang="en-US" dirty="0"/>
              <a:t> comes </a:t>
            </a:r>
            <a:r>
              <a:rPr lang="en-US" b="1" dirty="0"/>
              <a:t>after</a:t>
            </a:r>
            <a:r>
              <a:rPr lang="en-US" dirty="0"/>
              <a:t> the compared </a:t>
            </a:r>
            <a:r>
              <a:rPr lang="en-US" dirty="0" err="1"/>
              <a:t>enum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Negative (&lt;0)</a:t>
            </a:r>
            <a:r>
              <a:rPr lang="en-US" dirty="0"/>
              <a:t> → if the calling </a:t>
            </a:r>
            <a:r>
              <a:rPr lang="en-US" dirty="0" err="1"/>
              <a:t>enum</a:t>
            </a:r>
            <a:r>
              <a:rPr lang="en-US" dirty="0"/>
              <a:t> comes </a:t>
            </a:r>
            <a:r>
              <a:rPr lang="en-US" b="1" dirty="0"/>
              <a:t>before</a:t>
            </a:r>
            <a:r>
              <a:rPr lang="en-US" dirty="0"/>
              <a:t> the compared </a:t>
            </a:r>
            <a:r>
              <a:rPr lang="en-US" dirty="0" err="1"/>
              <a:t>enum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err="1"/>
              <a:t>enum</a:t>
            </a:r>
            <a:r>
              <a:rPr lang="en-IN" sz="1800" dirty="0"/>
              <a:t> Priority {</a:t>
            </a:r>
          </a:p>
          <a:p>
            <a:pPr marL="0" indent="0">
              <a:buNone/>
            </a:pPr>
            <a:r>
              <a:rPr lang="en-IN" sz="1800" dirty="0"/>
              <a:t>    LOW, MEDIUM, HIGH;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public class </a:t>
            </a:r>
            <a:r>
              <a:rPr lang="en-IN" sz="1800" dirty="0" err="1"/>
              <a:t>CompareToExample</a:t>
            </a:r>
            <a:r>
              <a:rPr lang="en-IN" sz="1800" dirty="0"/>
              <a:t> {</a:t>
            </a:r>
          </a:p>
          <a:p>
            <a:pPr marL="0" indent="0">
              <a:buNone/>
            </a:pPr>
            <a:r>
              <a:rPr lang="en-IN" sz="1800" dirty="0"/>
              <a:t>    public static void main(String[] </a:t>
            </a:r>
            <a:r>
              <a:rPr lang="en-IN" sz="1800" dirty="0" err="1"/>
              <a:t>args</a:t>
            </a:r>
            <a:r>
              <a:rPr lang="en-IN" sz="1800" dirty="0"/>
              <a:t>) {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</a:t>
            </a:r>
            <a:r>
              <a:rPr lang="en-IN" sz="1800" dirty="0" err="1"/>
              <a:t>Priority.LOW.compareTo</a:t>
            </a:r>
            <a:r>
              <a:rPr lang="en-IN" sz="1800" dirty="0"/>
              <a:t>(</a:t>
            </a:r>
            <a:r>
              <a:rPr lang="en-IN" sz="1800" dirty="0" err="1"/>
              <a:t>Priority.MEDIUM</a:t>
            </a:r>
            <a:r>
              <a:rPr lang="en-IN" sz="1800" dirty="0"/>
              <a:t>));   // -1 (LOW &lt; MEDIUM)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</a:t>
            </a:r>
            <a:r>
              <a:rPr lang="en-IN" sz="1800" dirty="0" err="1"/>
              <a:t>Priority.HIGH.compareTo</a:t>
            </a:r>
            <a:r>
              <a:rPr lang="en-IN" sz="1800" dirty="0"/>
              <a:t>(</a:t>
            </a:r>
            <a:r>
              <a:rPr lang="en-IN" sz="1800" dirty="0" err="1"/>
              <a:t>Priority.LOW</a:t>
            </a:r>
            <a:r>
              <a:rPr lang="en-IN" sz="1800" dirty="0"/>
              <a:t>));     // 2  (HIGH &gt; LOW)</a:t>
            </a:r>
          </a:p>
          <a:p>
            <a:pPr marL="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System.out.println</a:t>
            </a:r>
            <a:r>
              <a:rPr lang="en-IN" sz="1800" dirty="0"/>
              <a:t>(</a:t>
            </a:r>
            <a:r>
              <a:rPr lang="en-IN" sz="1800" dirty="0" err="1"/>
              <a:t>Priority.MEDIUM.compareTo</a:t>
            </a:r>
            <a:r>
              <a:rPr lang="en-IN" sz="1800" dirty="0"/>
              <a:t>(</a:t>
            </a:r>
            <a:r>
              <a:rPr lang="en-IN" sz="1800" dirty="0" err="1"/>
              <a:t>Priority.MEDIUM</a:t>
            </a:r>
            <a:r>
              <a:rPr lang="en-IN" sz="1800" dirty="0"/>
              <a:t>));// 0  (Equal)</a:t>
            </a:r>
          </a:p>
          <a:p>
            <a:pPr marL="0" indent="0">
              <a:buNone/>
            </a:pPr>
            <a:r>
              <a:rPr lang="en-IN" sz="1800" dirty="0"/>
              <a:t>    }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b="1" dirty="0"/>
              <a:t>Conclusion</a:t>
            </a:r>
          </a:p>
          <a:p>
            <a:r>
              <a:rPr lang="en-US" dirty="0" err="1"/>
              <a:t>Enums</a:t>
            </a:r>
            <a:r>
              <a:rPr lang="en-US" dirty="0"/>
              <a:t> in Java are a powerful feature that helps manage a fixed set of constants with type safety. They:</a:t>
            </a:r>
          </a:p>
          <a:p>
            <a:r>
              <a:rPr lang="en-US" dirty="0"/>
              <a:t>Improve code readability and maintainability.</a:t>
            </a:r>
          </a:p>
          <a:p>
            <a:r>
              <a:rPr lang="en-US" dirty="0"/>
              <a:t>Allow methods, constructors, and fields for added functionality.</a:t>
            </a:r>
          </a:p>
          <a:p>
            <a:r>
              <a:rPr lang="en-US" dirty="0"/>
              <a:t>Support usage in switch cases, collections, and interfaces.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Practice Problems – </a:t>
            </a:r>
            <a:endParaRPr lang="en-IN" dirty="0"/>
          </a:p>
          <a:p>
            <a:r>
              <a:rPr lang="en-US" b="1" dirty="0"/>
              <a:t>Define an </a:t>
            </a:r>
            <a:r>
              <a:rPr lang="en-US" b="1" dirty="0" err="1"/>
              <a:t>enum</a:t>
            </a:r>
            <a:r>
              <a:rPr lang="en-US" dirty="0"/>
              <a:t> named Direction with values </a:t>
            </a:r>
            <a:r>
              <a:rPr lang="en-US" b="1" dirty="0"/>
              <a:t>NORTH, SOUTH, EAST, WEST</a:t>
            </a:r>
            <a:r>
              <a:rPr lang="en-US" dirty="0"/>
              <a:t>. Write a program to print each value using a loop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Create an </a:t>
            </a:r>
            <a:r>
              <a:rPr lang="en-US" b="1" dirty="0" err="1"/>
              <a:t>enum</a:t>
            </a:r>
            <a:r>
              <a:rPr lang="en-US" b="1" dirty="0"/>
              <a:t> with a constructor</a:t>
            </a:r>
            <a:r>
              <a:rPr lang="en-US" dirty="0"/>
              <a:t> that assigns a </a:t>
            </a:r>
            <a:r>
              <a:rPr lang="en-US" b="1" dirty="0"/>
              <a:t>custom string value</a:t>
            </a:r>
            <a:r>
              <a:rPr lang="en-US" dirty="0"/>
              <a:t> to each </a:t>
            </a:r>
            <a:r>
              <a:rPr lang="en-US" dirty="0" err="1"/>
              <a:t>enum</a:t>
            </a:r>
            <a:r>
              <a:rPr lang="en-US" dirty="0"/>
              <a:t> constant.</a:t>
            </a:r>
          </a:p>
          <a:p>
            <a:r>
              <a:rPr lang="en-US" dirty="0"/>
              <a:t>Example: LOW("Low Priority"), MEDIUM("Medium Priority"), HIGH("High Priority")</a:t>
            </a:r>
          </a:p>
          <a:p>
            <a:r>
              <a:rPr lang="en-US" dirty="0"/>
              <a:t>Write a method to get the string value and display it.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122338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Write a program to </a:t>
            </a:r>
            <a:r>
              <a:rPr lang="en-US" b="1" dirty="0"/>
              <a:t>display the ordinal value</a:t>
            </a:r>
            <a:r>
              <a:rPr lang="en-US" dirty="0"/>
              <a:t> of each </a:t>
            </a:r>
            <a:r>
              <a:rPr lang="en-US" dirty="0" err="1"/>
              <a:t>enum</a:t>
            </a:r>
            <a:r>
              <a:rPr lang="en-US" dirty="0"/>
              <a:t> constant in an </a:t>
            </a:r>
            <a:r>
              <a:rPr lang="en-US" dirty="0" err="1"/>
              <a:t>enum</a:t>
            </a:r>
            <a:r>
              <a:rPr lang="en-US" dirty="0"/>
              <a:t> Season with values </a:t>
            </a:r>
            <a:r>
              <a:rPr lang="en-US" b="1" dirty="0"/>
              <a:t>WINTER, SPRING, SUMMER, FALL</a:t>
            </a:r>
            <a:r>
              <a:rPr lang="en-US" dirty="0"/>
              <a:t>.</a:t>
            </a:r>
          </a:p>
          <a:p>
            <a:r>
              <a:rPr lang="en-US" dirty="0"/>
              <a:t>Implement a program where the user </a:t>
            </a:r>
            <a:r>
              <a:rPr lang="en-US" b="1" dirty="0"/>
              <a:t>inputs two </a:t>
            </a:r>
            <a:r>
              <a:rPr lang="en-US" b="1" dirty="0" err="1"/>
              <a:t>enum</a:t>
            </a:r>
            <a:r>
              <a:rPr lang="en-US" b="1" dirty="0"/>
              <a:t> constants</a:t>
            </a:r>
            <a:r>
              <a:rPr lang="en-US" dirty="0"/>
              <a:t>, and the program compares them using </a:t>
            </a:r>
            <a:r>
              <a:rPr lang="en-US" b="1" dirty="0" err="1"/>
              <a:t>compareTo</a:t>
            </a:r>
            <a:r>
              <a:rPr lang="en-US" b="1" dirty="0"/>
              <a:t>()</a:t>
            </a:r>
            <a:r>
              <a:rPr lang="en-US" dirty="0"/>
              <a:t> to determine which comes first.</a:t>
            </a:r>
          </a:p>
          <a:p>
            <a:r>
              <a:rPr lang="en-US" dirty="0"/>
              <a:t>Create an </a:t>
            </a:r>
            <a:r>
              <a:rPr lang="en-US" dirty="0" err="1"/>
              <a:t>enum</a:t>
            </a:r>
            <a:r>
              <a:rPr lang="en-US" dirty="0"/>
              <a:t> Operation that </a:t>
            </a:r>
            <a:r>
              <a:rPr lang="en-US" b="1" dirty="0"/>
              <a:t>implements an interface </a:t>
            </a:r>
            <a:r>
              <a:rPr lang="en-US" b="1" dirty="0" err="1"/>
              <a:t>MathOperation</a:t>
            </a:r>
            <a:r>
              <a:rPr lang="en-US" dirty="0"/>
              <a:t> with an abstract method calculate(</a:t>
            </a:r>
            <a:r>
              <a:rPr lang="en-US" dirty="0" err="1"/>
              <a:t>int</a:t>
            </a:r>
            <a:r>
              <a:rPr lang="en-US" dirty="0"/>
              <a:t> a, </a:t>
            </a:r>
            <a:r>
              <a:rPr lang="en-US" dirty="0" err="1"/>
              <a:t>int</a:t>
            </a:r>
            <a:r>
              <a:rPr lang="en-US" dirty="0"/>
              <a:t> b).Example operations: </a:t>
            </a:r>
            <a:r>
              <a:rPr lang="en-US" b="1" dirty="0"/>
              <a:t>ADD, SUBTRACT, MULTIPLY, DIVIDE</a:t>
            </a:r>
            <a:endParaRPr lang="en-US" dirty="0"/>
          </a:p>
          <a:p>
            <a:r>
              <a:rPr lang="en-US" dirty="0"/>
              <a:t>Implement the calculate() method for each operation.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883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Write a program using an </a:t>
            </a:r>
            <a:r>
              <a:rPr lang="en-US" b="1" dirty="0" err="1"/>
              <a:t>enum</a:t>
            </a:r>
            <a:r>
              <a:rPr lang="en-US" b="1" dirty="0"/>
              <a:t> in a switch </a:t>
            </a:r>
            <a:r>
              <a:rPr lang="en-US" b="1" dirty="0" err="1"/>
              <a:t>statement</a:t>
            </a:r>
            <a:r>
              <a:rPr lang="en-US" dirty="0" err="1"/>
              <a:t>.Example</a:t>
            </a:r>
            <a:r>
              <a:rPr lang="en-US" dirty="0"/>
              <a:t>: An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TrafficLight</a:t>
            </a:r>
            <a:r>
              <a:rPr lang="en-US" dirty="0"/>
              <a:t> (</a:t>
            </a:r>
            <a:r>
              <a:rPr lang="en-US" b="1" dirty="0"/>
              <a:t>RED, YELLOW, GREEN</a:t>
            </a:r>
            <a:r>
              <a:rPr lang="en-US" dirty="0"/>
              <a:t>) should print </a:t>
            </a:r>
            <a:r>
              <a:rPr lang="en-US" b="1" dirty="0"/>
              <a:t>"Stop"</a:t>
            </a:r>
            <a:r>
              <a:rPr lang="en-US" dirty="0"/>
              <a:t>, </a:t>
            </a:r>
            <a:r>
              <a:rPr lang="en-US" b="1" dirty="0"/>
              <a:t>"Ready"</a:t>
            </a:r>
            <a:r>
              <a:rPr lang="en-US" dirty="0"/>
              <a:t>, or </a:t>
            </a:r>
            <a:r>
              <a:rPr lang="en-US" b="1" dirty="0"/>
              <a:t>"Go"</a:t>
            </a:r>
            <a:r>
              <a:rPr lang="en-US" dirty="0"/>
              <a:t> based on the value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IN" dirty="0"/>
              <a:t>Create an </a:t>
            </a:r>
            <a:r>
              <a:rPr lang="en-IN" dirty="0" err="1"/>
              <a:t>enum</a:t>
            </a:r>
            <a:r>
              <a:rPr lang="en-IN" dirty="0"/>
              <a:t> Planet that </a:t>
            </a:r>
            <a:r>
              <a:rPr lang="en-IN" dirty="0" err="1"/>
              <a:t>stores:</a:t>
            </a:r>
            <a:r>
              <a:rPr lang="en-IN" b="1" dirty="0" err="1"/>
              <a:t>Planet</a:t>
            </a:r>
            <a:r>
              <a:rPr lang="en-IN" b="1" dirty="0"/>
              <a:t> Name</a:t>
            </a:r>
            <a:r>
              <a:rPr lang="en-IN" dirty="0"/>
              <a:t> (String)</a:t>
            </a:r>
          </a:p>
          <a:p>
            <a:r>
              <a:rPr lang="en-IN" b="1" dirty="0"/>
              <a:t>Mass in kg</a:t>
            </a:r>
            <a:r>
              <a:rPr lang="en-IN" dirty="0"/>
              <a:t> (double)</a:t>
            </a:r>
          </a:p>
          <a:p>
            <a:r>
              <a:rPr lang="en-IN" b="1" dirty="0"/>
              <a:t>Radius in meters</a:t>
            </a:r>
            <a:r>
              <a:rPr lang="en-IN" dirty="0"/>
              <a:t> (double)</a:t>
            </a:r>
          </a:p>
          <a:p>
            <a:r>
              <a:rPr lang="en-IN" dirty="0"/>
              <a:t>Write a method to calculate </a:t>
            </a:r>
            <a:r>
              <a:rPr lang="en-IN" b="1" dirty="0"/>
              <a:t>gravity</a:t>
            </a:r>
            <a:r>
              <a:rPr lang="en-IN" dirty="0"/>
              <a:t> using the formula: </a:t>
            </a:r>
            <a:r>
              <a:rPr lang="en-IN" dirty="0" smtClean="0"/>
              <a:t>g=G×M/R2</a:t>
            </a:r>
          </a:p>
          <a:p>
            <a:r>
              <a:rPr lang="en-IN" dirty="0" smtClean="0"/>
              <a:t>where </a:t>
            </a:r>
            <a:r>
              <a:rPr lang="en-IN" b="1" dirty="0"/>
              <a:t>G = 6.674×10⁻¹¹ m³/kg·s²</a:t>
            </a:r>
            <a:r>
              <a:rPr lang="en-IN" dirty="0"/>
              <a:t>.</a:t>
            </a:r>
          </a:p>
          <a:p>
            <a:r>
              <a:rPr lang="en-IN" dirty="0"/>
              <a:t>Print the gravity of each planet.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883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an </a:t>
            </a:r>
            <a:r>
              <a:rPr lang="en-US" dirty="0" err="1"/>
              <a:t>enum</a:t>
            </a:r>
            <a:r>
              <a:rPr lang="en-US" dirty="0"/>
              <a:t> Weekday with a method </a:t>
            </a:r>
            <a:r>
              <a:rPr lang="en-US" dirty="0" err="1"/>
              <a:t>isWeekend</a:t>
            </a:r>
            <a:r>
              <a:rPr lang="en-US" dirty="0"/>
              <a:t>().It should return </a:t>
            </a:r>
            <a:r>
              <a:rPr lang="en-US" b="1" dirty="0"/>
              <a:t>true</a:t>
            </a:r>
            <a:r>
              <a:rPr lang="en-US" dirty="0"/>
              <a:t> for </a:t>
            </a:r>
            <a:r>
              <a:rPr lang="en-US" b="1" dirty="0"/>
              <a:t>Saturday, Sunday</a:t>
            </a:r>
            <a:r>
              <a:rPr lang="en-US" dirty="0"/>
              <a:t>, and </a:t>
            </a:r>
            <a:r>
              <a:rPr lang="en-US" b="1" dirty="0"/>
              <a:t>false</a:t>
            </a:r>
            <a:r>
              <a:rPr lang="en-US" dirty="0"/>
              <a:t> for other days.</a:t>
            </a:r>
          </a:p>
          <a:p>
            <a:r>
              <a:rPr lang="en-US" dirty="0"/>
              <a:t>Write a program to test it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Create an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en-US" dirty="0" err="1"/>
              <a:t>UserRole</a:t>
            </a:r>
            <a:r>
              <a:rPr lang="en-US" dirty="0"/>
              <a:t> (</a:t>
            </a:r>
            <a:r>
              <a:rPr lang="en-US" b="1" dirty="0"/>
              <a:t>ADMIN, USER, GUEST</a:t>
            </a:r>
            <a:r>
              <a:rPr lang="en-US" dirty="0"/>
              <a:t>) with a method </a:t>
            </a:r>
            <a:r>
              <a:rPr lang="en-US" dirty="0" err="1"/>
              <a:t>getPermissions</a:t>
            </a:r>
            <a:r>
              <a:rPr lang="en-US" dirty="0"/>
              <a:t>().</a:t>
            </a:r>
          </a:p>
          <a:p>
            <a:r>
              <a:rPr lang="en-US" b="1" dirty="0"/>
              <a:t>ADMIN</a:t>
            </a:r>
            <a:r>
              <a:rPr lang="en-US" dirty="0"/>
              <a:t> should return </a:t>
            </a:r>
            <a:r>
              <a:rPr lang="en-US" b="1" dirty="0"/>
              <a:t>"Full Access"</a:t>
            </a:r>
            <a:endParaRPr lang="en-US" dirty="0"/>
          </a:p>
          <a:p>
            <a:r>
              <a:rPr lang="en-US" b="1" dirty="0"/>
              <a:t>USER</a:t>
            </a:r>
            <a:r>
              <a:rPr lang="en-US" dirty="0"/>
              <a:t> should return </a:t>
            </a:r>
            <a:r>
              <a:rPr lang="en-US" b="1" dirty="0"/>
              <a:t>"Limited Access"</a:t>
            </a:r>
            <a:endParaRPr lang="en-US" dirty="0"/>
          </a:p>
          <a:p>
            <a:r>
              <a:rPr lang="en-US" b="1" dirty="0"/>
              <a:t>GUEST</a:t>
            </a:r>
            <a:r>
              <a:rPr lang="en-US" dirty="0"/>
              <a:t> should return </a:t>
            </a:r>
            <a:r>
              <a:rPr lang="en-US" b="1" dirty="0"/>
              <a:t>"Read-Only Access"</a:t>
            </a:r>
            <a:endParaRPr lang="en-US" dirty="0"/>
          </a:p>
          <a:p>
            <a:r>
              <a:rPr lang="en-US" dirty="0"/>
              <a:t>Test it by printing the permissions of each role.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883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883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88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1880</Words>
  <Application>Microsoft Office PowerPoint</Application>
  <PresentationFormat>On-screen Show (4:3)</PresentationFormat>
  <Paragraphs>319</Paragraphs>
  <Slides>28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Java Enumeration</vt:lpstr>
      <vt:lpstr>What is an Enum in Java?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Enumeration</dc:title>
  <dc:creator/>
  <cp:lastModifiedBy>Rohit Kamboj</cp:lastModifiedBy>
  <cp:revision>59</cp:revision>
  <dcterms:created xsi:type="dcterms:W3CDTF">2006-08-16T00:00:00Z</dcterms:created>
  <dcterms:modified xsi:type="dcterms:W3CDTF">2025-02-24T12:17:40Z</dcterms:modified>
</cp:coreProperties>
</file>