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HU0zzaYIQX4qxDp1HjbqJZKXl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676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1356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798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502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002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d78549e8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cd78549e8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2cd78549e88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4682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cd78549e8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cd78549e8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2cd78549e88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042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78549e8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78549e8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2cd78549e88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4318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189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7306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472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583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8107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72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601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1806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57" name="Google Shape;1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7979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5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5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1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5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5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4"/>
          <p:cNvSpPr/>
          <p:nvPr/>
        </p:nvSpPr>
        <p:spPr>
          <a:xfrm rot="10800000" flipH="1">
            <a:off x="0" y="6583684"/>
            <a:ext cx="9144000" cy="274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4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4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1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7" name="Google Shape;17;p1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18;p14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p14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76200" y="6594307"/>
            <a:ext cx="2362200" cy="26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086100" y="6596246"/>
            <a:ext cx="2895600" cy="26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/>
        </p:nvSpPr>
        <p:spPr>
          <a:xfrm>
            <a:off x="152400" y="1421295"/>
            <a:ext cx="8763000" cy="448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Software Engineering (OOSE)</a:t>
            </a:r>
            <a:endParaRPr dirty="0"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22CS017 </a:t>
            </a: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Quality Management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3A30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3A30FA"/>
              </a:solidFill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3A30FA"/>
              </a:solidFill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(Theory)</a:t>
            </a:r>
          </a:p>
          <a:p>
            <a:pPr algn="ctr">
              <a:spcBef>
                <a:spcPts val="400"/>
              </a:spcBef>
              <a:buSzPts val="2000"/>
            </a:pP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Dr. Dinesh Vij</a:t>
            </a:r>
            <a:endParaRPr lang="en-US"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/>
        </p:nvSpPr>
        <p:spPr>
          <a:xfrm>
            <a:off x="381786" y="292407"/>
            <a:ext cx="6019560" cy="89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68990" y="963516"/>
            <a:ext cx="8838720" cy="494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>
            <a:spLocks noGrp="1"/>
          </p:cNvSpPr>
          <p:nvPr>
            <p:ph type="body" idx="1"/>
          </p:nvPr>
        </p:nvSpPr>
        <p:spPr>
          <a:xfrm>
            <a:off x="675349" y="1190052"/>
            <a:ext cx="7826002" cy="40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Software Quality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Factors of Software Quality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Overview Quality Management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Software Quality Management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Quality Management for Projects or Programs</a:t>
            </a:r>
            <a:endParaRPr sz="2000" b="1" dirty="0">
              <a:latin typeface="Times"/>
              <a:ea typeface="Times"/>
              <a:cs typeface="Times"/>
              <a:sym typeface="Times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000" b="1" dirty="0">
                <a:latin typeface="Times"/>
                <a:ea typeface="Times"/>
                <a:cs typeface="Times"/>
                <a:sym typeface="Times"/>
              </a:rPr>
              <a:t>Practice Questions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b="1" i="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endParaRPr sz="2000" b="1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600" dirty="0">
              <a:latin typeface="Times"/>
              <a:ea typeface="Times"/>
              <a:cs typeface="Times"/>
              <a:sym typeface="Times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</a:t>
            </a:r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1" i="0" dirty="0">
                <a:latin typeface="Times"/>
                <a:ea typeface="Times"/>
                <a:cs typeface="Times"/>
                <a:sym typeface="Times"/>
              </a:rPr>
              <a:t>Software Quality </a:t>
            </a:r>
            <a:r>
              <a:rPr lang="en-US" b="0" i="0" dirty="0">
                <a:latin typeface="Times"/>
                <a:ea typeface="Times"/>
                <a:cs typeface="Times"/>
                <a:sym typeface="Times"/>
              </a:rPr>
              <a:t>shows how good and reliable a product is.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dirty="0">
              <a:latin typeface="Times"/>
              <a:ea typeface="Times"/>
              <a:cs typeface="Times"/>
              <a:sym typeface="Times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dirty="0">
                <a:latin typeface="Times"/>
                <a:ea typeface="Times"/>
                <a:cs typeface="Times"/>
                <a:sym typeface="Times"/>
              </a:rPr>
              <a:t>As</a:t>
            </a:r>
            <a:r>
              <a:rPr lang="en-US" b="0" i="0" dirty="0">
                <a:latin typeface="Times"/>
                <a:ea typeface="Times"/>
                <a:cs typeface="Times"/>
                <a:sym typeface="Times"/>
              </a:rPr>
              <a:t> an example, think about functionally correct software. It performs all functions as laid out in the SRS document. But, it has a virtually unusable program. Even though it should be functionally correct, we tend not to think about it to be a high-quality product.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lang="en-US" b="0" i="0" dirty="0">
              <a:latin typeface="Times"/>
              <a:ea typeface="Times"/>
              <a:cs typeface="Times"/>
              <a:sym typeface="Times"/>
            </a:endParaRPr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b="0" i="0" dirty="0">
                <a:latin typeface="Times"/>
                <a:ea typeface="Times"/>
                <a:cs typeface="Times"/>
                <a:sym typeface="Times"/>
              </a:rPr>
              <a:t>Another example is also that of a product that will have everything that the users need but has an incomprehensible and not maintainable code. </a:t>
            </a:r>
            <a:endParaRPr dirty="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4" name="Google Shape;64;p3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>
            <a:spLocks noGrp="1"/>
          </p:cNvSpPr>
          <p:nvPr>
            <p:ph type="title"/>
          </p:nvPr>
        </p:nvSpPr>
        <p:spPr>
          <a:xfrm>
            <a:off x="0" y="428604"/>
            <a:ext cx="6477000" cy="40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latin typeface="Times"/>
                <a:ea typeface="Times"/>
                <a:cs typeface="Times"/>
                <a:sym typeface="Times"/>
              </a:rPr>
              <a:t>Factors of Software Quality</a:t>
            </a:r>
            <a:br>
              <a:rPr lang="en-US" b="1" i="0">
                <a:latin typeface="Times"/>
                <a:ea typeface="Times"/>
                <a:cs typeface="Times"/>
                <a:sym typeface="Times"/>
              </a:rPr>
            </a:b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4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72" name="Google Shape;7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463" y="2081213"/>
            <a:ext cx="631507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d78549e88_0_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/>
              <a:t>Product operation factors</a:t>
            </a:r>
            <a:endParaRPr sz="2500"/>
          </a:p>
        </p:txBody>
      </p:sp>
      <p:sp>
        <p:nvSpPr>
          <p:cNvPr id="79" name="Google Shape;79;g2cd78549e88_0_1"/>
          <p:cNvSpPr txBox="1">
            <a:spLocks noGrp="1"/>
          </p:cNvSpPr>
          <p:nvPr>
            <p:ph type="body" idx="1"/>
          </p:nvPr>
        </p:nvSpPr>
        <p:spPr>
          <a:xfrm>
            <a:off x="457200" y="1381539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Correctness: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extent to which a program fulfills its specification.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Reliability: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ability not to fail.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Efficiency: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of resources execution and storage.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Integrity: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protection of the program from unauthorized access.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Usability: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ease of use of the software.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g2cd78549e88_0_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d78549e88_0_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Product revision factors</a:t>
            </a:r>
            <a:endParaRPr sz="1900"/>
          </a:p>
        </p:txBody>
      </p:sp>
      <p:sp>
        <p:nvSpPr>
          <p:cNvPr id="87" name="Google Shape;87;g2cd78549e88_0_10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 dirty="0"/>
              <a:t>Maintainability: </a:t>
            </a:r>
            <a:r>
              <a:rPr lang="en-US" sz="2400" dirty="0"/>
              <a:t>effort required to locate and fix a fault in a program.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 dirty="0"/>
              <a:t>•</a:t>
            </a:r>
            <a:r>
              <a:rPr lang="en-US" sz="2400" b="1" dirty="0"/>
              <a:t>Flexibility: </a:t>
            </a:r>
            <a:r>
              <a:rPr lang="en-US" sz="2400" dirty="0"/>
              <a:t>ease of making changes required because of changes in operating environment.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 dirty="0"/>
              <a:t>•</a:t>
            </a:r>
            <a:r>
              <a:rPr lang="en-US" sz="2400" b="1" dirty="0"/>
              <a:t>Testability: </a:t>
            </a:r>
            <a:r>
              <a:rPr lang="en-US" sz="2400" dirty="0"/>
              <a:t>ease of testing the program to ensure that it is error-free and meets its specification.</a:t>
            </a:r>
            <a:endParaRPr sz="2400" dirty="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88" name="Google Shape;88;g2cd78549e88_0_1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d78549e88_0_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Product transition factors</a:t>
            </a:r>
            <a:endParaRPr sz="2700"/>
          </a:p>
        </p:txBody>
      </p:sp>
      <p:sp>
        <p:nvSpPr>
          <p:cNvPr id="95" name="Google Shape;95;g2cd78549e88_0_1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/>
              <a:t>Portability: </a:t>
            </a:r>
            <a:r>
              <a:rPr lang="en-US" sz="2400"/>
              <a:t>Effort required to transfer a program from one environment to another system.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•</a:t>
            </a:r>
            <a:r>
              <a:rPr lang="en-US" sz="2400" b="1"/>
              <a:t>Reusability: </a:t>
            </a:r>
            <a:r>
              <a:rPr lang="en-US" sz="2400"/>
              <a:t>ease of re-using software in a different context.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•</a:t>
            </a:r>
            <a:r>
              <a:rPr lang="en-US" sz="2400" b="1"/>
              <a:t>Interoperability: </a:t>
            </a:r>
            <a:r>
              <a:rPr lang="en-US" sz="2400"/>
              <a:t>effort required to couple a system to another system. </a:t>
            </a:r>
            <a:endParaRPr sz="2400"/>
          </a:p>
          <a:p>
            <a:pPr marL="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g2cd78549e88_0_1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body" idx="1"/>
          </p:nvPr>
        </p:nvSpPr>
        <p:spPr>
          <a:xfrm>
            <a:off x="457200" y="155679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 marR="1711325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Control (QC): Techniques used to assure that a product or service meets  requirements or goals.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444500" marR="106679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Assurance (QA): Actions at a management level that directly improve the chances that  QC actions will be successful. Includes verification that QC was performed as planned.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444500" marR="69215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Management System (QMS): “A formalized system that documents the structure,  responsibilities and procedures required to achieve effective quality management.” </a:t>
            </a:r>
            <a:endParaRPr sz="1800" baseline="30000">
              <a:latin typeface="Times"/>
              <a:ea typeface="Times"/>
              <a:cs typeface="Times"/>
              <a:sym typeface="Times"/>
            </a:endParaRPr>
          </a:p>
          <a:p>
            <a:pPr marL="444500" marR="671195" lvl="0" indent="-342900" algn="just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Plan (QMP): Primary document of a QMS that typically includes the Quality Policy,  objectives, and written procedures.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4445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Quality Policy: “The overall quality intentions and direction of an organization with regard to quality, determined by top management.”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marL="342900" lvl="0" indent="-2286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" name="Google Shape;102;p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152400" y="15240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</a:rPr>
              <a:t>Software quality factors</a:t>
            </a:r>
            <a:endParaRPr sz="3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41" y="1238739"/>
            <a:ext cx="8686800" cy="474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Overview Quality Management</a:t>
            </a:r>
            <a:endParaRPr/>
          </a:p>
        </p:txBody>
      </p:sp>
      <p:sp>
        <p:nvSpPr>
          <p:cNvPr id="110" name="Google Shape;110;p6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640" y="1556792"/>
            <a:ext cx="5967213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 txBox="1"/>
          <p:nvPr/>
        </p:nvSpPr>
        <p:spPr>
          <a:xfrm>
            <a:off x="2987824" y="6135451"/>
            <a:ext cx="2383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1: Quality Management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" name="Google Shape;118;p7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body" idx="1"/>
          </p:nvPr>
        </p:nvSpPr>
        <p:spPr>
          <a:xfrm>
            <a:off x="89900" y="1108350"/>
            <a:ext cx="8847300" cy="5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Software quality management (SQM)</a:t>
            </a:r>
            <a:r>
              <a:rPr lang="en-US" sz="2000" dirty="0"/>
              <a:t> is a management process that aims to develop and manage the quality of software in such a way so as the best ensure </a:t>
            </a:r>
            <a:r>
              <a:rPr lang="en-US" sz="2000" b="1" dirty="0"/>
              <a:t>the product meets the quality standards expected by the customer while also meeting any necessary regulatory and developer requirements.</a:t>
            </a:r>
            <a:endParaRPr b="1" dirty="0"/>
          </a:p>
          <a:p>
            <a:pPr marL="342900" lvl="0" indent="-215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Software quality management activities are generally split up into three core components: </a:t>
            </a:r>
            <a:r>
              <a:rPr lang="en-US" sz="2000" i="1" dirty="0">
                <a:solidFill>
                  <a:srgbClr val="FF0000"/>
                </a:solidFill>
              </a:rPr>
              <a:t>quality assurance</a:t>
            </a:r>
            <a:r>
              <a:rPr lang="en-US" sz="2000" dirty="0"/>
              <a:t>, </a:t>
            </a:r>
            <a:r>
              <a:rPr lang="en-US" sz="2000" i="1" dirty="0">
                <a:solidFill>
                  <a:srgbClr val="FF0000"/>
                </a:solidFill>
              </a:rPr>
              <a:t>quality planning</a:t>
            </a:r>
            <a:r>
              <a:rPr lang="en-US" sz="2000" dirty="0"/>
              <a:t>, and </a:t>
            </a:r>
            <a:r>
              <a:rPr lang="en-US" sz="2000" i="1" dirty="0">
                <a:solidFill>
                  <a:srgbClr val="FF0000"/>
                </a:solidFill>
              </a:rPr>
              <a:t>quality control</a:t>
            </a:r>
            <a:r>
              <a:rPr lang="en-US" sz="2000" dirty="0"/>
              <a:t>. </a:t>
            </a:r>
            <a:endParaRPr dirty="0"/>
          </a:p>
          <a:p>
            <a:pPr marL="342900" lvl="0" indent="-215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r>
              <a:rPr lang="en-US" sz="800" dirty="0"/>
              <a:t/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423375" y="887850"/>
            <a:ext cx="8644200" cy="5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1. Quality assurance:-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This stage can include: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encouraging documentation process standards, such as the creation of </a:t>
            </a:r>
            <a:r>
              <a:rPr lang="en-US" sz="2000" b="1" dirty="0"/>
              <a:t>well-defined engineering documents using standard templates</a:t>
            </a:r>
            <a:endParaRPr b="1"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mentoring how to conduct standard processes, such as </a:t>
            </a:r>
            <a:r>
              <a:rPr lang="en-US" sz="2000" b="1" dirty="0"/>
              <a:t>quality reviews</a:t>
            </a:r>
            <a:endParaRPr b="1"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mentoring in-process </a:t>
            </a:r>
            <a:r>
              <a:rPr lang="en-US" sz="2000" b="1" dirty="0"/>
              <a:t>test data recording </a:t>
            </a:r>
            <a:r>
              <a:rPr lang="en-US" sz="2000" dirty="0"/>
              <a:t>procedures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identifying standards, if any, that should be used in software development processes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r>
              <a:rPr lang="en-US" sz="800" dirty="0"/>
              <a:t/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1"/>
          </p:nvPr>
        </p:nvSpPr>
        <p:spPr>
          <a:xfrm>
            <a:off x="408875" y="1035225"/>
            <a:ext cx="8090400" cy="5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2. Quality planning: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Quality planning </a:t>
            </a:r>
            <a:r>
              <a:rPr lang="en-US" sz="2000" b="1" dirty="0"/>
              <a:t>works at a more granular, project-based level,</a:t>
            </a:r>
            <a:r>
              <a:rPr lang="en-US" sz="2000" dirty="0"/>
              <a:t> defining </a:t>
            </a:r>
            <a:r>
              <a:rPr lang="en-US" sz="2000" b="1" dirty="0"/>
              <a:t>the quality attributes to be associated with the output of the project </a:t>
            </a:r>
            <a:r>
              <a:rPr lang="en-US" sz="2000" dirty="0"/>
              <a:t>and how those attributes should be assessed.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Additionally, any existing organizational standards may also be assigned to the project at this phase.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Attributes such as </a:t>
            </a:r>
            <a:r>
              <a:rPr lang="en-US" sz="2000" b="1" dirty="0"/>
              <a:t>"robustness," "accessibility," and "modularity" </a:t>
            </a:r>
            <a:r>
              <a:rPr lang="en-US" sz="2000" dirty="0"/>
              <a:t>may be assigned to the software development project.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r>
              <a:rPr lang="en-US" sz="800" dirty="0"/>
              <a:t/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Software quality management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6200" y="887845"/>
            <a:ext cx="8991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3. Quality control: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Activities include: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release testing of software, including </a:t>
            </a:r>
            <a:r>
              <a:rPr lang="en-US" sz="2000" b="1" dirty="0"/>
              <a:t>proper documentation of the testing process</a:t>
            </a:r>
            <a:endParaRPr b="1"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examination of software and associated documentation for non-conformance with standards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b="1" dirty="0"/>
              <a:t>follow-up review of software </a:t>
            </a:r>
            <a:r>
              <a:rPr lang="en-US" sz="2000" dirty="0"/>
              <a:t>to ensure any required changes detailed in previous testing are addressed</a:t>
            </a:r>
            <a:endParaRPr dirty="0"/>
          </a:p>
          <a:p>
            <a:pPr marL="742950" lvl="1" indent="-2857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application of software measurement and metrics for assessment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42021"/>
              </a:buClr>
              <a:buSzPts val="2000"/>
              <a:buNone/>
            </a:pPr>
            <a:r>
              <a:rPr lang="en-US" sz="2000" b="0" i="0" dirty="0">
                <a:solidFill>
                  <a:srgbClr val="242021"/>
                </a:solidFill>
              </a:rPr>
              <a:t>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1800" dirty="0">
                <a:solidFill>
                  <a:srgbClr val="242021"/>
                </a:solidFill>
              </a:rPr>
              <a:t> </a:t>
            </a:r>
            <a:br>
              <a:rPr lang="en-US" sz="1800" dirty="0">
                <a:solidFill>
                  <a:srgbClr val="242021"/>
                </a:solidFill>
              </a:rPr>
            </a:br>
            <a:endParaRPr sz="1800" dirty="0">
              <a:solidFill>
                <a:srgbClr val="242021"/>
              </a:solidFill>
            </a:endParaRPr>
          </a:p>
          <a:p>
            <a:pPr marL="0" lvl="2" indent="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dirty="0"/>
              <a:t> </a:t>
            </a:r>
            <a:br>
              <a:rPr lang="en-US" sz="1400" dirty="0"/>
            </a:br>
            <a:r>
              <a:rPr lang="en-US" sz="1800" dirty="0"/>
              <a:t> </a:t>
            </a:r>
            <a:r>
              <a:rPr lang="en-US" sz="800" dirty="0"/>
              <a:t/>
            </a:r>
            <a:br>
              <a:rPr lang="en-US" sz="800" dirty="0"/>
            </a:br>
            <a:r>
              <a:rPr lang="en-US" sz="1000" dirty="0"/>
              <a:t> </a:t>
            </a:r>
            <a:br>
              <a:rPr lang="en-US" sz="10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>
                <a:solidFill>
                  <a:srgbClr val="303030"/>
                </a:solidFill>
              </a:rPr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sz="1800" dirty="0">
              <a:solidFill>
                <a:srgbClr val="30303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Quality Management for Projects or Programs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560" y="1772816"/>
            <a:ext cx="7596336" cy="3697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/>
        </p:nvSpPr>
        <p:spPr>
          <a:xfrm>
            <a:off x="2987824" y="6135451"/>
            <a:ext cx="2383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2: Quality Management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147145" y="145656"/>
            <a:ext cx="65479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Practice Questions</a:t>
            </a:r>
            <a:endParaRPr sz="36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395536" y="1052736"/>
            <a:ext cx="8352928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Q1- Which requirements are the foundation from which quality is measured?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Hardware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Software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Programmers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None of the mentioned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Q2-Which of the following is not a SQA plan for a project?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a) evaluations to be performed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b) amount of technical work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c) audits and reviews to be performed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d) documents to be produced by the SQA group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Q3- Which of the following is not an appraisal cost in SQA?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a) inter-process inspection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b) maintenance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c) </a:t>
            </a:r>
            <a:r>
              <a:rPr lang="en-US" sz="14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quality planning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d) testing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Q4- The primary objective of formal technical reviews is to find _________ during the process so that they do not become defects after release of the software.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errors</a:t>
            </a:r>
            <a:r>
              <a:rPr lang="en-US" sz="1400" b="1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equivalent faults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failure cause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AutoNum type="alphaLcParenR"/>
            </a:pPr>
            <a:r>
              <a:rPr lang="en-US" sz="1400" dirty="0" smtClean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none </a:t>
            </a:r>
            <a:r>
              <a:rPr lang="en-US" sz="14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of the mentioned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ftr" idx="11"/>
          </p:nvPr>
        </p:nvSpPr>
        <p:spPr>
          <a:xfrm>
            <a:off x="352540" y="6356520"/>
            <a:ext cx="83339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Computer Networks        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13" descr="See the sourc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726</Words>
  <Application>Microsoft Office PowerPoint</Application>
  <PresentationFormat>On-screen Show (4:3)</PresentationFormat>
  <Paragraphs>135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Noto Sans Symbols</vt:lpstr>
      <vt:lpstr>Times</vt:lpstr>
      <vt:lpstr>Times New Roman</vt:lpstr>
      <vt:lpstr>Office Theme</vt:lpstr>
      <vt:lpstr>PowerPoint Presentation</vt:lpstr>
      <vt:lpstr>PowerPoint Presentation</vt:lpstr>
      <vt:lpstr>Software Quality</vt:lpstr>
      <vt:lpstr>Factors of Software Quality </vt:lpstr>
      <vt:lpstr>Product operation factors</vt:lpstr>
      <vt:lpstr>Product revision factors</vt:lpstr>
      <vt:lpstr>Product transition factors</vt:lpstr>
      <vt:lpstr>PowerPoint Presentation</vt:lpstr>
      <vt:lpstr>Overview Quality Management</vt:lpstr>
      <vt:lpstr>Software Quality Management</vt:lpstr>
      <vt:lpstr>Software quality management</vt:lpstr>
      <vt:lpstr>Software quality management</vt:lpstr>
      <vt:lpstr>Software quality management</vt:lpstr>
      <vt:lpstr>Quality Management for Projects or Programs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dell</cp:lastModifiedBy>
  <cp:revision>8</cp:revision>
  <dcterms:created xsi:type="dcterms:W3CDTF">2021-07-05T10:09:00Z</dcterms:created>
  <dcterms:modified xsi:type="dcterms:W3CDTF">2025-05-06T10:02:22Z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1033-11.2.0.10463</vt:lpwstr>
  </property>
  <property fmtid="{D5CDD505-2E9C-101B-9397-08002B2CF9AE}" pid="3" name="ICV">
    <vt:lpwstr>C66E8A929365439D9183C5235316B3C9</vt:lpwstr>
  </property>
</Properties>
</file>