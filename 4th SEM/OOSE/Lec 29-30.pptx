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7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28" r:id="rId50"/>
    <p:sldId id="329"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5" r:id="rId72"/>
    <p:sldId id="326" r:id="rId73"/>
    <p:sldId id="327" r:id="rId74"/>
    <p:sldId id="324" r:id="rId7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7" roundtripDataSignature="AMtx7mjbD6dDwaFFLmtxDxu3RSNyPDLY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3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708906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3" name="Google Shape;43;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674905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 name="Google Shape;5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4974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0826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 name="Google Shape;6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150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1" name="Google Shape;7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153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8" name="Google Shape;7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3986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5" name="Google Shape;8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2417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2" name="Google Shape;9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602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9" name="Google Shape;9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7327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6061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3" name="Google Shape;11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8692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 name="Google Shape;12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7656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3958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4" name="Google Shape;13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4318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0261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49" name="Google Shape;149;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5185137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5" name="Google Shape;15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0137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2" name="Google Shape;16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9223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4108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7" name="Google Shape;17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0610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4" name="Google Shape;18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216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1" name="Google Shape;19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7506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99" name="Google Shape;199;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350357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6" name="Google Shape;20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44502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3" name="Google Shape;213;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96125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9608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8" name="Google Shape;228;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34028206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4" name="Google Shape;234;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18997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1" name="Google Shape;24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44005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8" name="Google Shape;248;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9936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5" name="Google Shape;25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6496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3" name="Google Shape;26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70252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0" name="Google Shape;27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92005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79" name="Google Shape;279;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2014281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5" name="Google Shape;285;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51387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2" name="Google Shape;29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12004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9" name="Google Shape;29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21820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6" name="Google Shape;306;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60634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3" name="Google Shape;313;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60651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0" name="Google Shape;320;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21698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7" name="Google Shape;327;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02678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4" name="Google Shape;334;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31908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1" name="Google Shape;341;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81535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8" name="Google Shape;348;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24156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56" name="Google Shape;356;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9833284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3" name="Google Shape;363;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65193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1" name="Google Shape;371;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31722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0" name="Google Shape;380;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87907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0" name="Google Shape;380;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88480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0" name="Google Shape;380;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73698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8" name="Google Shape;388;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80216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6" name="Google Shape;396;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89081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5" name="Google Shape;405;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28730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2" name="Google Shape;412;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9589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9" name="Google Shape;419;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23612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7" name="Google Shape;427;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70499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5" name="Google Shape;435;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55949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3" name="Google Shape;44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52941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0" name="Google Shape;450;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15933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7" name="Google Shape;457;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0301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6" name="Google Shape;466;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20545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5" name="Google Shape;475;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58698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2" name="Google Shape;482;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68680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9" name="Google Shape;489;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70493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6" name="Google Shape;496;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102926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3" name="Google Shape;503;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85307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2" name="Google Shape;512;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900604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2" name="Google Shape;522;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54858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9" name="Google Shape;529;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32753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6" name="Google Shape;53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147543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6" name="Google Shape;53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065241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6" name="Google Shape;53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077482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6" name="Google Shape;53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7817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3" name="Google Shape;543;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41982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71"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71"/>
          <p:cNvGrpSpPr/>
          <p:nvPr/>
        </p:nvGrpSpPr>
        <p:grpSpPr>
          <a:xfrm>
            <a:off x="6146800" y="0"/>
            <a:ext cx="2997200" cy="876300"/>
            <a:chOff x="6096000" y="3924300"/>
            <a:chExt cx="2997200" cy="876300"/>
          </a:xfrm>
        </p:grpSpPr>
        <p:sp>
          <p:nvSpPr>
            <p:cNvPr id="27" name="Google Shape;27;p7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71"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7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 name="Google Shape;30;p71"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7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7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7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chemeClr val="lt1"/>
                </a:solidFill>
                <a:latin typeface="Times New Roman"/>
                <a:ea typeface="Times New Roman"/>
                <a:cs typeface="Times New Roman"/>
                <a:sym typeface="Times New Roman"/>
              </a:defRPr>
            </a:lvl1pPr>
            <a:lvl2pPr marL="0" lvl="1" indent="0" algn="r">
              <a:spcBef>
                <a:spcPts val="0"/>
              </a:spcBef>
              <a:spcAft>
                <a:spcPts val="0"/>
              </a:spcAft>
              <a:buNone/>
              <a:defRPr sz="1200" b="1">
                <a:solidFill>
                  <a:schemeClr val="lt1"/>
                </a:solidFill>
                <a:latin typeface="Times New Roman"/>
                <a:ea typeface="Times New Roman"/>
                <a:cs typeface="Times New Roman"/>
                <a:sym typeface="Times New Roman"/>
              </a:defRPr>
            </a:lvl2pPr>
            <a:lvl3pPr marL="0" lvl="2" indent="0" algn="r">
              <a:spcBef>
                <a:spcPts val="0"/>
              </a:spcBef>
              <a:spcAft>
                <a:spcPts val="0"/>
              </a:spcAft>
              <a:buNone/>
              <a:defRPr sz="1200" b="1">
                <a:solidFill>
                  <a:schemeClr val="lt1"/>
                </a:solidFill>
                <a:latin typeface="Times New Roman"/>
                <a:ea typeface="Times New Roman"/>
                <a:cs typeface="Times New Roman"/>
                <a:sym typeface="Times New Roman"/>
              </a:defRPr>
            </a:lvl3pPr>
            <a:lvl4pPr marL="0" lvl="3" indent="0" algn="r">
              <a:spcBef>
                <a:spcPts val="0"/>
              </a:spcBef>
              <a:spcAft>
                <a:spcPts val="0"/>
              </a:spcAft>
              <a:buNone/>
              <a:defRPr sz="1200" b="1">
                <a:solidFill>
                  <a:schemeClr val="lt1"/>
                </a:solidFill>
                <a:latin typeface="Times New Roman"/>
                <a:ea typeface="Times New Roman"/>
                <a:cs typeface="Times New Roman"/>
                <a:sym typeface="Times New Roman"/>
              </a:defRPr>
            </a:lvl4pPr>
            <a:lvl5pPr marL="0" lvl="4" indent="0" algn="r">
              <a:spcBef>
                <a:spcPts val="0"/>
              </a:spcBef>
              <a:spcAft>
                <a:spcPts val="0"/>
              </a:spcAft>
              <a:buNone/>
              <a:defRPr sz="1200" b="1">
                <a:solidFill>
                  <a:schemeClr val="lt1"/>
                </a:solidFill>
                <a:latin typeface="Times New Roman"/>
                <a:ea typeface="Times New Roman"/>
                <a:cs typeface="Times New Roman"/>
                <a:sym typeface="Times New Roman"/>
              </a:defRPr>
            </a:lvl5pPr>
            <a:lvl6pPr marL="0" lvl="5" indent="0" algn="r">
              <a:spcBef>
                <a:spcPts val="0"/>
              </a:spcBef>
              <a:spcAft>
                <a:spcPts val="0"/>
              </a:spcAft>
              <a:buNone/>
              <a:defRPr sz="1200" b="1">
                <a:solidFill>
                  <a:schemeClr val="lt1"/>
                </a:solidFill>
                <a:latin typeface="Times New Roman"/>
                <a:ea typeface="Times New Roman"/>
                <a:cs typeface="Times New Roman"/>
                <a:sym typeface="Times New Roman"/>
              </a:defRPr>
            </a:lvl6pPr>
            <a:lvl7pPr marL="0" lvl="6" indent="0" algn="r">
              <a:spcBef>
                <a:spcPts val="0"/>
              </a:spcBef>
              <a:spcAft>
                <a:spcPts val="0"/>
              </a:spcAft>
              <a:buNone/>
              <a:defRPr sz="1200" b="1">
                <a:solidFill>
                  <a:schemeClr val="lt1"/>
                </a:solidFill>
                <a:latin typeface="Times New Roman"/>
                <a:ea typeface="Times New Roman"/>
                <a:cs typeface="Times New Roman"/>
                <a:sym typeface="Times New Roman"/>
              </a:defRPr>
            </a:lvl7pPr>
            <a:lvl8pPr marL="0" lvl="7" indent="0" algn="r">
              <a:spcBef>
                <a:spcPts val="0"/>
              </a:spcBef>
              <a:spcAft>
                <a:spcPts val="0"/>
              </a:spcAft>
              <a:buNone/>
              <a:defRPr sz="1200" b="1">
                <a:solidFill>
                  <a:schemeClr val="lt1"/>
                </a:solidFill>
                <a:latin typeface="Times New Roman"/>
                <a:ea typeface="Times New Roman"/>
                <a:cs typeface="Times New Roman"/>
                <a:sym typeface="Times New Roman"/>
              </a:defRPr>
            </a:lvl8pPr>
            <a:lvl9pPr marL="0" lvl="8" indent="0" algn="r">
              <a:spcBef>
                <a:spcPts val="0"/>
              </a:spcBef>
              <a:spcAft>
                <a:spcPts val="0"/>
              </a:spcAft>
              <a:buNone/>
              <a:defRPr sz="1200" b="1">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7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0"/>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70"/>
          <p:cNvSpPr/>
          <p:nvPr/>
        </p:nvSpPr>
        <p:spPr>
          <a:xfrm rot="10800000" flipH="1">
            <a:off x="0" y="6583684"/>
            <a:ext cx="9144000" cy="2743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4" name="Google Shape;14;p70" descr="LOGO.gif"/>
          <p:cNvPicPr preferRelativeResize="0"/>
          <p:nvPr/>
        </p:nvPicPr>
        <p:blipFill rotWithShape="1">
          <a:blip r:embed="rId3">
            <a:alphaModFix/>
          </a:blip>
          <a:srcRect b="10713"/>
          <a:stretch/>
        </p:blipFill>
        <p:spPr>
          <a:xfrm>
            <a:off x="6553200" y="228600"/>
            <a:ext cx="2057400" cy="635000"/>
          </a:xfrm>
          <a:prstGeom prst="rect">
            <a:avLst/>
          </a:prstGeom>
          <a:noFill/>
          <a:ln>
            <a:noFill/>
          </a:ln>
        </p:spPr>
      </p:pic>
      <p:pic>
        <p:nvPicPr>
          <p:cNvPr id="15" name="Google Shape;15;p70" descr="LOGO.gif"/>
          <p:cNvPicPr preferRelativeResize="0"/>
          <p:nvPr/>
        </p:nvPicPr>
        <p:blipFill rotWithShape="1">
          <a:blip r:embed="rId3">
            <a:alphaModFix/>
          </a:blip>
          <a:srcRect b="10713"/>
          <a:stretch/>
        </p:blipFill>
        <p:spPr>
          <a:xfrm>
            <a:off x="6553200" y="228600"/>
            <a:ext cx="2057400" cy="635000"/>
          </a:xfrm>
          <a:prstGeom prst="rect">
            <a:avLst/>
          </a:prstGeom>
          <a:noFill/>
          <a:ln>
            <a:noFill/>
          </a:ln>
        </p:spPr>
      </p:pic>
      <p:grpSp>
        <p:nvGrpSpPr>
          <p:cNvPr id="16" name="Google Shape;16;p70"/>
          <p:cNvGrpSpPr/>
          <p:nvPr/>
        </p:nvGrpSpPr>
        <p:grpSpPr>
          <a:xfrm>
            <a:off x="6146800" y="0"/>
            <a:ext cx="2997200" cy="876300"/>
            <a:chOff x="6096000" y="3924300"/>
            <a:chExt cx="2997200" cy="876300"/>
          </a:xfrm>
        </p:grpSpPr>
        <p:sp>
          <p:nvSpPr>
            <p:cNvPr id="17" name="Google Shape;17;p70"/>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8" name="Google Shape;18;p70" descr="LOGO.gif"/>
            <p:cNvPicPr preferRelativeResize="0"/>
            <p:nvPr/>
          </p:nvPicPr>
          <p:blipFill rotWithShape="1">
            <a:blip r:embed="rId3">
              <a:alphaModFix/>
            </a:blip>
            <a:srcRect b="10713"/>
            <a:stretch/>
          </p:blipFill>
          <p:spPr>
            <a:xfrm>
              <a:off x="6502400" y="4152900"/>
              <a:ext cx="2057400" cy="635000"/>
            </a:xfrm>
            <a:prstGeom prst="rect">
              <a:avLst/>
            </a:prstGeom>
            <a:noFill/>
            <a:ln>
              <a:noFill/>
            </a:ln>
          </p:spPr>
        </p:pic>
        <p:sp>
          <p:nvSpPr>
            <p:cNvPr id="19" name="Google Shape;19;p70"/>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0" name="Google Shape;20;p70" descr="logo.jpg"/>
          <p:cNvPicPr preferRelativeResize="0"/>
          <p:nvPr/>
        </p:nvPicPr>
        <p:blipFill rotWithShape="1">
          <a:blip r:embed="rId4">
            <a:alphaModFix/>
          </a:blip>
          <a:srcRect/>
          <a:stretch/>
        </p:blipFill>
        <p:spPr>
          <a:xfrm>
            <a:off x="6553200" y="228600"/>
            <a:ext cx="1920875" cy="609600"/>
          </a:xfrm>
          <a:prstGeom prst="rect">
            <a:avLst/>
          </a:prstGeom>
          <a:noFill/>
          <a:ln>
            <a:noFill/>
          </a:ln>
        </p:spPr>
      </p:pic>
      <p:sp>
        <p:nvSpPr>
          <p:cNvPr id="21" name="Google Shape;21;p70"/>
          <p:cNvSpPr txBox="1">
            <a:spLocks noGrp="1"/>
          </p:cNvSpPr>
          <p:nvPr>
            <p:ph type="dt" idx="10"/>
          </p:nvPr>
        </p:nvSpPr>
        <p:spPr>
          <a:xfrm>
            <a:off x="76200" y="6594307"/>
            <a:ext cx="2362200" cy="26369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2" name="Google Shape;22;p70"/>
          <p:cNvSpPr txBox="1">
            <a:spLocks noGrp="1"/>
          </p:cNvSpPr>
          <p:nvPr>
            <p:ph type="ftr" idx="11"/>
          </p:nvPr>
        </p:nvSpPr>
        <p:spPr>
          <a:xfrm>
            <a:off x="3086100" y="6596246"/>
            <a:ext cx="2895600" cy="26175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70"/>
          <p:cNvSpPr txBox="1">
            <a:spLocks noGrp="1"/>
          </p:cNvSpPr>
          <p:nvPr>
            <p:ph type="sldNum" idx="12"/>
          </p:nvPr>
        </p:nvSpPr>
        <p:spPr>
          <a:xfrm>
            <a:off x="6553200" y="6583684"/>
            <a:ext cx="2133600" cy="27431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u="none">
                <a:solidFill>
                  <a:schemeClr val="lt1"/>
                </a:solidFill>
                <a:latin typeface="Times New Roman"/>
                <a:ea typeface="Times New Roman"/>
                <a:cs typeface="Times New Roman"/>
                <a:sym typeface="Times New Roman"/>
              </a:defRPr>
            </a:lvl1pPr>
            <a:lvl2pPr marL="0" marR="0" lvl="1" indent="0" algn="r" rtl="0">
              <a:spcBef>
                <a:spcPts val="0"/>
              </a:spcBef>
              <a:spcAft>
                <a:spcPts val="0"/>
              </a:spcAft>
              <a:buNone/>
              <a:defRPr sz="1200" b="1" u="none">
                <a:solidFill>
                  <a:schemeClr val="lt1"/>
                </a:solidFill>
                <a:latin typeface="Times New Roman"/>
                <a:ea typeface="Times New Roman"/>
                <a:cs typeface="Times New Roman"/>
                <a:sym typeface="Times New Roman"/>
              </a:defRPr>
            </a:lvl2pPr>
            <a:lvl3pPr marL="0" marR="0" lvl="2" indent="0" algn="r" rtl="0">
              <a:spcBef>
                <a:spcPts val="0"/>
              </a:spcBef>
              <a:spcAft>
                <a:spcPts val="0"/>
              </a:spcAft>
              <a:buNone/>
              <a:defRPr sz="1200" b="1" u="none">
                <a:solidFill>
                  <a:schemeClr val="lt1"/>
                </a:solidFill>
                <a:latin typeface="Times New Roman"/>
                <a:ea typeface="Times New Roman"/>
                <a:cs typeface="Times New Roman"/>
                <a:sym typeface="Times New Roman"/>
              </a:defRPr>
            </a:lvl3pPr>
            <a:lvl4pPr marL="0" marR="0" lvl="3" indent="0" algn="r" rtl="0">
              <a:spcBef>
                <a:spcPts val="0"/>
              </a:spcBef>
              <a:spcAft>
                <a:spcPts val="0"/>
              </a:spcAft>
              <a:buNone/>
              <a:defRPr sz="1200" b="1" u="none">
                <a:solidFill>
                  <a:schemeClr val="lt1"/>
                </a:solidFill>
                <a:latin typeface="Times New Roman"/>
                <a:ea typeface="Times New Roman"/>
                <a:cs typeface="Times New Roman"/>
                <a:sym typeface="Times New Roman"/>
              </a:defRPr>
            </a:lvl4pPr>
            <a:lvl5pPr marL="0" marR="0" lvl="4" indent="0" algn="r" rtl="0">
              <a:spcBef>
                <a:spcPts val="0"/>
              </a:spcBef>
              <a:spcAft>
                <a:spcPts val="0"/>
              </a:spcAft>
              <a:buNone/>
              <a:defRPr sz="1200" b="1" u="none">
                <a:solidFill>
                  <a:schemeClr val="lt1"/>
                </a:solidFill>
                <a:latin typeface="Times New Roman"/>
                <a:ea typeface="Times New Roman"/>
                <a:cs typeface="Times New Roman"/>
                <a:sym typeface="Times New Roman"/>
              </a:defRPr>
            </a:lvl5pPr>
            <a:lvl6pPr marL="0" marR="0" lvl="5" indent="0" algn="r" rtl="0">
              <a:spcBef>
                <a:spcPts val="0"/>
              </a:spcBef>
              <a:spcAft>
                <a:spcPts val="0"/>
              </a:spcAft>
              <a:buNone/>
              <a:defRPr sz="1200" b="1" u="none">
                <a:solidFill>
                  <a:schemeClr val="lt1"/>
                </a:solidFill>
                <a:latin typeface="Times New Roman"/>
                <a:ea typeface="Times New Roman"/>
                <a:cs typeface="Times New Roman"/>
                <a:sym typeface="Times New Roman"/>
              </a:defRPr>
            </a:lvl6pPr>
            <a:lvl7pPr marL="0" marR="0" lvl="6" indent="0" algn="r" rtl="0">
              <a:spcBef>
                <a:spcPts val="0"/>
              </a:spcBef>
              <a:spcAft>
                <a:spcPts val="0"/>
              </a:spcAft>
              <a:buNone/>
              <a:defRPr sz="1200" b="1" u="none">
                <a:solidFill>
                  <a:schemeClr val="lt1"/>
                </a:solidFill>
                <a:latin typeface="Times New Roman"/>
                <a:ea typeface="Times New Roman"/>
                <a:cs typeface="Times New Roman"/>
                <a:sym typeface="Times New Roman"/>
              </a:defRPr>
            </a:lvl7pPr>
            <a:lvl8pPr marL="0" marR="0" lvl="7" indent="0" algn="r" rtl="0">
              <a:spcBef>
                <a:spcPts val="0"/>
              </a:spcBef>
              <a:spcAft>
                <a:spcPts val="0"/>
              </a:spcAft>
              <a:buNone/>
              <a:defRPr sz="1200" b="1" u="none">
                <a:solidFill>
                  <a:schemeClr val="lt1"/>
                </a:solidFill>
                <a:latin typeface="Times New Roman"/>
                <a:ea typeface="Times New Roman"/>
                <a:cs typeface="Times New Roman"/>
                <a:sym typeface="Times New Roman"/>
              </a:defRPr>
            </a:lvl8pPr>
            <a:lvl9pPr marL="0" marR="0" lvl="8" indent="0" algn="r" rtl="0">
              <a:spcBef>
                <a:spcPts val="0"/>
              </a:spcBef>
              <a:spcAft>
                <a:spcPts val="0"/>
              </a:spcAft>
              <a:buNone/>
              <a:defRPr sz="1200" b="1" u="none">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
          <p:cNvSpPr txBox="1"/>
          <p:nvPr/>
        </p:nvSpPr>
        <p:spPr>
          <a:xfrm>
            <a:off x="152400" y="914400"/>
            <a:ext cx="8763000" cy="4038600"/>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5400" b="1" dirty="0">
                <a:solidFill>
                  <a:srgbClr val="3A30FA"/>
                </a:solidFill>
                <a:latin typeface="Times New Roman"/>
                <a:ea typeface="Times New Roman"/>
                <a:cs typeface="Times New Roman"/>
                <a:sym typeface="Times New Roman"/>
              </a:rPr>
              <a:t>Project Management &amp; Metrics </a:t>
            </a:r>
            <a:endParaRPr dirty="0"/>
          </a:p>
        </p:txBody>
      </p:sp>
      <p:sp>
        <p:nvSpPr>
          <p:cNvPr id="46" name="Google Shape;46;p1"/>
          <p:cNvSpPr txBox="1"/>
          <p:nvPr/>
        </p:nvSpPr>
        <p:spPr>
          <a:xfrm>
            <a:off x="1676400" y="4953000"/>
            <a:ext cx="5943600" cy="147732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400" b="1">
                <a:solidFill>
                  <a:schemeClr val="dk1"/>
                </a:solidFill>
                <a:latin typeface="Times New Roman"/>
                <a:ea typeface="Times New Roman"/>
                <a:cs typeface="Times New Roman"/>
                <a:sym typeface="Times New Roman"/>
              </a:rPr>
              <a:t>Ms. Gagandeep Kaur </a:t>
            </a:r>
            <a:endParaRPr/>
          </a:p>
          <a:p>
            <a:pPr marL="0" marR="0" lvl="0" indent="0" algn="ctr" rtl="0">
              <a:spcBef>
                <a:spcPts val="0"/>
              </a:spcBef>
              <a:spcAft>
                <a:spcPts val="0"/>
              </a:spcAft>
              <a:buNone/>
            </a:pPr>
            <a:r>
              <a:rPr lang="en-US" sz="1800">
                <a:solidFill>
                  <a:srgbClr val="FF0000"/>
                </a:solidFill>
                <a:latin typeface="Times New Roman"/>
                <a:ea typeface="Times New Roman"/>
                <a:cs typeface="Times New Roman"/>
                <a:sym typeface="Times New Roman"/>
              </a:rPr>
              <a:t>Assistant Professor </a:t>
            </a:r>
            <a:endParaRPr/>
          </a:p>
          <a:p>
            <a:pPr marL="0" marR="0" lvl="0" indent="0" algn="ctr" rtl="0">
              <a:spcBef>
                <a:spcPts val="0"/>
              </a:spcBef>
              <a:spcAft>
                <a:spcPts val="0"/>
              </a:spcAft>
              <a:buNone/>
            </a:pPr>
            <a:r>
              <a:rPr lang="en-US" sz="1800">
                <a:solidFill>
                  <a:srgbClr val="FF0000"/>
                </a:solidFill>
                <a:latin typeface="Times New Roman"/>
                <a:ea typeface="Times New Roman"/>
                <a:cs typeface="Times New Roman"/>
                <a:sym typeface="Times New Roman"/>
              </a:rPr>
              <a:t>Department of Computer Science and Engineering</a:t>
            </a:r>
            <a:endParaRPr/>
          </a:p>
          <a:p>
            <a:pPr marL="0" marR="0" lvl="0" indent="0" algn="ctr" rtl="0">
              <a:spcBef>
                <a:spcPts val="0"/>
              </a:spcBef>
              <a:spcAft>
                <a:spcPts val="0"/>
              </a:spcAft>
              <a:buNone/>
            </a:pPr>
            <a:r>
              <a:rPr lang="en-US" sz="1800">
                <a:solidFill>
                  <a:srgbClr val="FF0000"/>
                </a:solidFill>
                <a:latin typeface="Times New Roman"/>
                <a:ea typeface="Times New Roman"/>
                <a:cs typeface="Times New Roman"/>
                <a:sym typeface="Times New Roman"/>
              </a:rPr>
              <a:t>Chitkara University, Punjab</a:t>
            </a:r>
            <a:endParaRPr/>
          </a:p>
        </p:txBody>
      </p:sp>
      <p:sp>
        <p:nvSpPr>
          <p:cNvPr id="47" name="Google Shape;47;p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Management Spectrum</a:t>
            </a:r>
            <a:endParaRPr/>
          </a:p>
        </p:txBody>
      </p:sp>
      <p:sp>
        <p:nvSpPr>
          <p:cNvPr id="53" name="Google Shape;53;p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
        <p:nvSpPr>
          <p:cNvPr id="54" name="Google Shape;54;p2"/>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303030"/>
              </a:buClr>
              <a:buSzPts val="2000"/>
              <a:buChar char="•"/>
            </a:pPr>
            <a:r>
              <a:rPr lang="en-US" sz="2000" b="0" i="0" dirty="0">
                <a:solidFill>
                  <a:srgbClr val="303030"/>
                </a:solidFill>
              </a:rPr>
              <a:t>In </a:t>
            </a:r>
            <a:r>
              <a:rPr lang="en-US" sz="2000" dirty="0">
                <a:solidFill>
                  <a:srgbClr val="303030"/>
                </a:solidFill>
              </a:rPr>
              <a:t>software engineering, the management spectrum describes the management of a software project. </a:t>
            </a:r>
            <a:endParaRPr dirty="0"/>
          </a:p>
          <a:p>
            <a:pPr marL="342900" lvl="0" indent="-342900" algn="just" rtl="0">
              <a:lnSpc>
                <a:spcPct val="150000"/>
              </a:lnSpc>
              <a:spcBef>
                <a:spcPts val="400"/>
              </a:spcBef>
              <a:spcAft>
                <a:spcPts val="0"/>
              </a:spcAft>
              <a:buClr>
                <a:srgbClr val="303030"/>
              </a:buClr>
              <a:buSzPts val="2000"/>
              <a:buChar char="•"/>
            </a:pPr>
            <a:r>
              <a:rPr lang="en-US" sz="2000" b="0" i="0" dirty="0">
                <a:solidFill>
                  <a:srgbClr val="303030"/>
                </a:solidFill>
              </a:rPr>
              <a:t>The management of a software project </a:t>
            </a:r>
            <a:r>
              <a:rPr lang="en-US" sz="2000" b="1" i="0" dirty="0">
                <a:solidFill>
                  <a:srgbClr val="303030"/>
                </a:solidFill>
              </a:rPr>
              <a:t>starts from requirement analysis and finishes based on the nature of the </a:t>
            </a:r>
            <a:r>
              <a:rPr lang="en-US" sz="2000" b="1" dirty="0">
                <a:solidFill>
                  <a:srgbClr val="303030"/>
                </a:solidFill>
              </a:rPr>
              <a:t>product</a:t>
            </a:r>
            <a:r>
              <a:rPr lang="en-US" sz="2000" dirty="0">
                <a:solidFill>
                  <a:srgbClr val="303030"/>
                </a:solidFill>
              </a:rPr>
              <a:t>;</a:t>
            </a:r>
            <a:r>
              <a:rPr lang="en-US" sz="2000" b="0" i="0" dirty="0">
                <a:solidFill>
                  <a:srgbClr val="303030"/>
                </a:solidFill>
              </a:rPr>
              <a:t> it may or may not end because almost all software products </a:t>
            </a:r>
            <a:r>
              <a:rPr lang="en-US" sz="2000" dirty="0">
                <a:solidFill>
                  <a:srgbClr val="303030"/>
                </a:solidFill>
              </a:rPr>
              <a:t>face</a:t>
            </a:r>
            <a:r>
              <a:rPr lang="en-US" sz="2000" b="0" i="0" dirty="0">
                <a:solidFill>
                  <a:srgbClr val="303030"/>
                </a:solidFill>
              </a:rPr>
              <a:t> changes and </a:t>
            </a:r>
            <a:r>
              <a:rPr lang="en-US" sz="2000" dirty="0">
                <a:solidFill>
                  <a:srgbClr val="303030"/>
                </a:solidFill>
              </a:rPr>
              <a:t>require</a:t>
            </a:r>
            <a:r>
              <a:rPr lang="en-US" sz="2000" b="0" i="0" dirty="0">
                <a:solidFill>
                  <a:srgbClr val="303030"/>
                </a:solidFill>
              </a:rPr>
              <a:t> support. </a:t>
            </a:r>
            <a:endParaRPr dirty="0"/>
          </a:p>
          <a:p>
            <a:pPr marL="342900" lvl="0" indent="-342900" algn="just" rtl="0">
              <a:lnSpc>
                <a:spcPct val="150000"/>
              </a:lnSpc>
              <a:spcBef>
                <a:spcPts val="400"/>
              </a:spcBef>
              <a:spcAft>
                <a:spcPts val="0"/>
              </a:spcAft>
              <a:buClr>
                <a:srgbClr val="303030"/>
              </a:buClr>
              <a:buSzPts val="2000"/>
              <a:buChar char="•"/>
            </a:pPr>
            <a:r>
              <a:rPr lang="en-US" sz="2000" b="0" i="0" dirty="0">
                <a:solidFill>
                  <a:srgbClr val="303030"/>
                </a:solidFill>
              </a:rPr>
              <a:t>The management spectrum focuses on the four P’s</a:t>
            </a:r>
            <a:r>
              <a:rPr lang="en-US" sz="2000" dirty="0">
                <a:solidFill>
                  <a:srgbClr val="303030"/>
                </a:solidFill>
              </a:rPr>
              <a:t>:</a:t>
            </a:r>
            <a:endParaRPr sz="2000" b="0" i="0" dirty="0">
              <a:solidFill>
                <a:srgbClr val="303030"/>
              </a:solidFill>
            </a:endParaRPr>
          </a:p>
          <a:p>
            <a:pPr marL="2057400" lvl="4" indent="-228600" algn="just" rtl="0">
              <a:lnSpc>
                <a:spcPct val="150000"/>
              </a:lnSpc>
              <a:spcBef>
                <a:spcPts val="400"/>
              </a:spcBef>
              <a:spcAft>
                <a:spcPts val="0"/>
              </a:spcAft>
              <a:buClr>
                <a:srgbClr val="C00000"/>
              </a:buClr>
              <a:buSzPts val="2000"/>
              <a:buFont typeface="Calibri"/>
              <a:buAutoNum type="arabicPeriod"/>
            </a:pPr>
            <a:r>
              <a:rPr lang="en-US" sz="2000" i="1" dirty="0">
                <a:solidFill>
                  <a:srgbClr val="C00000"/>
                </a:solidFill>
              </a:rPr>
              <a:t>People			3. Process</a:t>
            </a:r>
            <a:endParaRPr dirty="0"/>
          </a:p>
          <a:p>
            <a:pPr marL="1828800" lvl="4" indent="0" algn="just" rtl="0">
              <a:lnSpc>
                <a:spcPct val="150000"/>
              </a:lnSpc>
              <a:spcBef>
                <a:spcPts val="400"/>
              </a:spcBef>
              <a:spcAft>
                <a:spcPts val="0"/>
              </a:spcAft>
              <a:buClr>
                <a:srgbClr val="C00000"/>
              </a:buClr>
              <a:buSzPts val="2000"/>
              <a:buNone/>
            </a:pPr>
            <a:r>
              <a:rPr lang="en-US" sz="2000" i="1" dirty="0">
                <a:solidFill>
                  <a:srgbClr val="C00000"/>
                </a:solidFill>
              </a:rPr>
              <a:t>2. Product			4. Project</a:t>
            </a:r>
            <a:endParaRPr dirty="0"/>
          </a:p>
          <a:p>
            <a:pPr marL="342900" lvl="0" indent="-342900" algn="just" rtl="0">
              <a:lnSpc>
                <a:spcPct val="150000"/>
              </a:lnSpc>
              <a:spcBef>
                <a:spcPts val="400"/>
              </a:spcBef>
              <a:spcAft>
                <a:spcPts val="0"/>
              </a:spcAft>
              <a:buClr>
                <a:srgbClr val="303030"/>
              </a:buClr>
              <a:buSzPts val="2000"/>
              <a:buChar char="•"/>
            </a:pPr>
            <a:r>
              <a:rPr lang="en-US" sz="2000" b="0" i="0" dirty="0">
                <a:solidFill>
                  <a:srgbClr val="303030"/>
                </a:solidFill>
              </a:rPr>
              <a:t>Here, the manager of the project has to control all these P’s to have a smooth flow in the progress of the project and to reach the goal.</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First P - People</a:t>
            </a:r>
            <a:endParaRPr/>
          </a:p>
        </p:txBody>
      </p:sp>
      <p:sp>
        <p:nvSpPr>
          <p:cNvPr id="60" name="Google Shape;60;p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
        <p:nvSpPr>
          <p:cNvPr id="61" name="Google Shape;61;p3"/>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303030"/>
              </a:buClr>
              <a:buSzPts val="2000"/>
              <a:buChar char="•"/>
            </a:pPr>
            <a:r>
              <a:rPr lang="en-US" sz="2000" dirty="0">
                <a:solidFill>
                  <a:srgbClr val="303030"/>
                </a:solidFill>
              </a:rPr>
              <a:t>The “people factor” is so important that the Software Engineering Institute has developed a </a:t>
            </a:r>
            <a:r>
              <a:rPr lang="en-US" sz="2000" i="1" dirty="0">
                <a:solidFill>
                  <a:srgbClr val="C00000"/>
                </a:solidFill>
              </a:rPr>
              <a:t>People Capability Maturity Model (People-CMM), </a:t>
            </a:r>
            <a:r>
              <a:rPr lang="en-US" sz="2000" dirty="0">
                <a:solidFill>
                  <a:srgbClr val="303030"/>
                </a:solidFill>
              </a:rPr>
              <a:t>in recognition of the fact that </a:t>
            </a:r>
            <a:endParaRPr dirty="0"/>
          </a:p>
          <a:p>
            <a:pPr marL="457200" lvl="1" indent="0" algn="just" rtl="0">
              <a:lnSpc>
                <a:spcPct val="150000"/>
              </a:lnSpc>
              <a:spcBef>
                <a:spcPts val="400"/>
              </a:spcBef>
              <a:spcAft>
                <a:spcPts val="0"/>
              </a:spcAft>
              <a:buClr>
                <a:srgbClr val="303030"/>
              </a:buClr>
              <a:buSzPts val="2000"/>
              <a:buNone/>
            </a:pPr>
            <a:r>
              <a:rPr lang="en-US" sz="2000" i="1" dirty="0">
                <a:solidFill>
                  <a:srgbClr val="303030"/>
                </a:solidFill>
              </a:rPr>
              <a:t>	“Every organization needs to continually improve its ability to </a:t>
            </a:r>
            <a:r>
              <a:rPr lang="en-US" sz="2000" i="1" dirty="0" smtClean="0">
                <a:solidFill>
                  <a:srgbClr val="303030"/>
                </a:solidFill>
              </a:rPr>
              <a:t>attract, develop</a:t>
            </a:r>
            <a:r>
              <a:rPr lang="en-US" sz="2000" i="1" dirty="0">
                <a:solidFill>
                  <a:srgbClr val="303030"/>
                </a:solidFill>
              </a:rPr>
              <a:t>, motivate, organize, and retain the workforce needed </a:t>
            </a:r>
            <a:r>
              <a:rPr lang="en-US" sz="2000" i="1" dirty="0" smtClean="0">
                <a:solidFill>
                  <a:srgbClr val="303030"/>
                </a:solidFill>
              </a:rPr>
              <a:t>to accomplish </a:t>
            </a:r>
            <a:r>
              <a:rPr lang="en-US" sz="2000" i="1" dirty="0">
                <a:solidFill>
                  <a:srgbClr val="303030"/>
                </a:solidFill>
              </a:rPr>
              <a:t>its strategic business objectives.”</a:t>
            </a:r>
            <a:endParaRPr dirty="0"/>
          </a:p>
          <a:p>
            <a:pPr marL="342900" lvl="0" indent="-215900" algn="just" rtl="0">
              <a:lnSpc>
                <a:spcPct val="150000"/>
              </a:lnSpc>
              <a:spcBef>
                <a:spcPts val="400"/>
              </a:spcBef>
              <a:spcAft>
                <a:spcPts val="0"/>
              </a:spcAft>
              <a:buClr>
                <a:schemeClr val="dk1"/>
              </a:buClr>
              <a:buSzPts val="2000"/>
              <a:buNone/>
            </a:pPr>
            <a:endParaRPr sz="2000" dirty="0">
              <a:solidFill>
                <a:srgbClr val="303030"/>
              </a:solidFill>
            </a:endParaRPr>
          </a:p>
          <a:p>
            <a:pPr marL="342900" lvl="0" indent="-342900" algn="just" rtl="0">
              <a:lnSpc>
                <a:spcPct val="150000"/>
              </a:lnSpc>
              <a:spcBef>
                <a:spcPts val="400"/>
              </a:spcBef>
              <a:spcAft>
                <a:spcPts val="0"/>
              </a:spcAft>
              <a:buClr>
                <a:srgbClr val="303030"/>
              </a:buClr>
              <a:buSzPts val="2000"/>
              <a:buChar char="•"/>
            </a:pPr>
            <a:r>
              <a:rPr lang="en-US" sz="2000" dirty="0">
                <a:solidFill>
                  <a:srgbClr val="303030"/>
                </a:solidFill>
              </a:rPr>
              <a:t>Organizations that achieve high levels of People-CMM maturity have a </a:t>
            </a:r>
            <a:r>
              <a:rPr lang="en-US" sz="2000" b="1" dirty="0">
                <a:solidFill>
                  <a:srgbClr val="303030"/>
                </a:solidFill>
              </a:rPr>
              <a:t>higher likelihood of implementing effective </a:t>
            </a:r>
            <a:r>
              <a:rPr lang="en-US" sz="2000" dirty="0">
                <a:solidFill>
                  <a:srgbClr val="303030"/>
                </a:solidFill>
              </a:rPr>
              <a:t>software project management practices. </a:t>
            </a:r>
            <a:endParaRPr dirty="0"/>
          </a:p>
          <a:p>
            <a:pPr marL="342900" lvl="0" indent="-215900" algn="just" rtl="0">
              <a:lnSpc>
                <a:spcPct val="150000"/>
              </a:lnSpc>
              <a:spcBef>
                <a:spcPts val="400"/>
              </a:spcBef>
              <a:spcAft>
                <a:spcPts val="0"/>
              </a:spcAft>
              <a:buClr>
                <a:schemeClr val="dk1"/>
              </a:buClr>
              <a:buSzPts val="2000"/>
              <a:buNone/>
            </a:pPr>
            <a:endParaRPr sz="2000" dirty="0">
              <a:solidFill>
                <a:srgbClr val="30303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First P - People</a:t>
            </a:r>
            <a:endParaRPr/>
          </a:p>
        </p:txBody>
      </p:sp>
      <p:sp>
        <p:nvSpPr>
          <p:cNvPr id="67" name="Google Shape;67;p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
        <p:nvSpPr>
          <p:cNvPr id="68" name="Google Shape;68;p4"/>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B2A2A"/>
              </a:buClr>
              <a:buSzPts val="2000"/>
              <a:buChar char="•"/>
            </a:pPr>
            <a:r>
              <a:rPr lang="en-US" sz="2000" b="0" i="0">
                <a:solidFill>
                  <a:srgbClr val="2B2A2A"/>
                </a:solidFill>
              </a:rPr>
              <a:t>Depending on their roles and responsibilities, people involved in a software project can be categorized into the following main categories or stakeholders: </a:t>
            </a:r>
            <a:endParaRPr/>
          </a:p>
          <a:p>
            <a:pPr marL="1143000" lvl="2" indent="-228600" algn="just" rtl="0">
              <a:lnSpc>
                <a:spcPct val="150000"/>
              </a:lnSpc>
              <a:spcBef>
                <a:spcPts val="400"/>
              </a:spcBef>
              <a:spcAft>
                <a:spcPts val="0"/>
              </a:spcAft>
              <a:buClr>
                <a:srgbClr val="C00000"/>
              </a:buClr>
              <a:buSzPts val="2000"/>
              <a:buFont typeface="Noto Sans Symbols"/>
              <a:buChar char="✔"/>
            </a:pPr>
            <a:r>
              <a:rPr lang="en-US" sz="2000" b="0" i="1">
                <a:solidFill>
                  <a:srgbClr val="C00000"/>
                </a:solidFill>
              </a:rPr>
              <a:t>Senior manager </a:t>
            </a:r>
            <a:endParaRPr/>
          </a:p>
          <a:p>
            <a:pPr marL="1143000" lvl="2" indent="-228600" algn="just" rtl="0">
              <a:lnSpc>
                <a:spcPct val="150000"/>
              </a:lnSpc>
              <a:spcBef>
                <a:spcPts val="400"/>
              </a:spcBef>
              <a:spcAft>
                <a:spcPts val="0"/>
              </a:spcAft>
              <a:buClr>
                <a:srgbClr val="C00000"/>
              </a:buClr>
              <a:buSzPts val="2000"/>
              <a:buFont typeface="Noto Sans Symbols"/>
              <a:buChar char="✔"/>
            </a:pPr>
            <a:r>
              <a:rPr lang="en-US" sz="2000" b="0" i="1">
                <a:solidFill>
                  <a:srgbClr val="C00000"/>
                </a:solidFill>
              </a:rPr>
              <a:t>Project manager </a:t>
            </a:r>
            <a:endParaRPr/>
          </a:p>
          <a:p>
            <a:pPr marL="1143000" lvl="2" indent="-228600" algn="just" rtl="0">
              <a:lnSpc>
                <a:spcPct val="150000"/>
              </a:lnSpc>
              <a:spcBef>
                <a:spcPts val="400"/>
              </a:spcBef>
              <a:spcAft>
                <a:spcPts val="0"/>
              </a:spcAft>
              <a:buClr>
                <a:srgbClr val="C00000"/>
              </a:buClr>
              <a:buSzPts val="2000"/>
              <a:buFont typeface="Noto Sans Symbols"/>
              <a:buChar char="✔"/>
            </a:pPr>
            <a:r>
              <a:rPr lang="en-US" sz="2000" b="0" i="1">
                <a:solidFill>
                  <a:srgbClr val="C00000"/>
                </a:solidFill>
              </a:rPr>
              <a:t>Software Engineer </a:t>
            </a:r>
            <a:endParaRPr/>
          </a:p>
          <a:p>
            <a:pPr marL="1143000" lvl="2" indent="-228600" algn="just" rtl="0">
              <a:lnSpc>
                <a:spcPct val="150000"/>
              </a:lnSpc>
              <a:spcBef>
                <a:spcPts val="400"/>
              </a:spcBef>
              <a:spcAft>
                <a:spcPts val="0"/>
              </a:spcAft>
              <a:buClr>
                <a:srgbClr val="C00000"/>
              </a:buClr>
              <a:buSzPts val="2000"/>
              <a:buFont typeface="Noto Sans Symbols"/>
              <a:buChar char="✔"/>
            </a:pPr>
            <a:r>
              <a:rPr lang="en-US" sz="2000" b="0" i="1">
                <a:solidFill>
                  <a:srgbClr val="C00000"/>
                </a:solidFill>
              </a:rPr>
              <a:t>Customer </a:t>
            </a:r>
            <a:endParaRPr/>
          </a:p>
          <a:p>
            <a:pPr marL="1143000" lvl="2" indent="-228600" algn="just" rtl="0">
              <a:lnSpc>
                <a:spcPct val="150000"/>
              </a:lnSpc>
              <a:spcBef>
                <a:spcPts val="400"/>
              </a:spcBef>
              <a:spcAft>
                <a:spcPts val="0"/>
              </a:spcAft>
              <a:buClr>
                <a:srgbClr val="C00000"/>
              </a:buClr>
              <a:buSzPts val="2000"/>
              <a:buFont typeface="Noto Sans Symbols"/>
              <a:buChar char="✔"/>
            </a:pPr>
            <a:r>
              <a:rPr lang="en-US" sz="2000" b="0" i="1">
                <a:solidFill>
                  <a:srgbClr val="C00000"/>
                </a:solidFill>
              </a:rPr>
              <a:t>End user</a:t>
            </a:r>
            <a:endParaRPr sz="2800" i="1">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People - Stakeholders</a:t>
            </a:r>
            <a:endParaRPr/>
          </a:p>
        </p:txBody>
      </p:sp>
      <p:sp>
        <p:nvSpPr>
          <p:cNvPr id="74" name="Google Shape;74;p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
        <p:nvSpPr>
          <p:cNvPr id="75" name="Google Shape;75;p5"/>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C00000"/>
              </a:buClr>
              <a:buSzPts val="2000"/>
              <a:buChar char="•"/>
            </a:pPr>
            <a:r>
              <a:rPr lang="en-US" sz="2000" b="1" i="1" dirty="0">
                <a:solidFill>
                  <a:srgbClr val="C00000"/>
                </a:solidFill>
              </a:rPr>
              <a:t>Senior managers </a:t>
            </a:r>
            <a:r>
              <a:rPr lang="en-US" sz="2000" b="0" i="0" dirty="0">
                <a:solidFill>
                  <a:srgbClr val="2B2A2A"/>
                </a:solidFill>
              </a:rPr>
              <a:t>who </a:t>
            </a:r>
            <a:r>
              <a:rPr lang="en-US" sz="2000" b="1" i="0" dirty="0">
                <a:solidFill>
                  <a:srgbClr val="2B2A2A"/>
                </a:solidFill>
              </a:rPr>
              <a:t>define the business issues </a:t>
            </a:r>
            <a:r>
              <a:rPr lang="en-US" sz="2000" b="0" i="0" dirty="0">
                <a:solidFill>
                  <a:srgbClr val="2B2A2A"/>
                </a:solidFill>
              </a:rPr>
              <a:t>that often have significant influence on the project.</a:t>
            </a:r>
            <a:endParaRPr dirty="0"/>
          </a:p>
          <a:p>
            <a:pPr marL="342900" lvl="0" indent="-342900" algn="just" rtl="0">
              <a:lnSpc>
                <a:spcPct val="150000"/>
              </a:lnSpc>
              <a:spcBef>
                <a:spcPts val="400"/>
              </a:spcBef>
              <a:spcAft>
                <a:spcPts val="0"/>
              </a:spcAft>
              <a:buClr>
                <a:srgbClr val="C00000"/>
              </a:buClr>
              <a:buSzPts val="2000"/>
              <a:buChar char="•"/>
            </a:pPr>
            <a:r>
              <a:rPr lang="en-US" sz="2000" b="1" i="1" dirty="0">
                <a:solidFill>
                  <a:srgbClr val="C00000"/>
                </a:solidFill>
              </a:rPr>
              <a:t>Project (technical) managers </a:t>
            </a:r>
            <a:r>
              <a:rPr lang="en-US" sz="2000" b="0" i="0" dirty="0">
                <a:solidFill>
                  <a:srgbClr val="2B2A2A"/>
                </a:solidFill>
              </a:rPr>
              <a:t>who must </a:t>
            </a:r>
            <a:r>
              <a:rPr lang="en-US" sz="2000" b="1" i="0" dirty="0">
                <a:solidFill>
                  <a:srgbClr val="2B2A2A"/>
                </a:solidFill>
              </a:rPr>
              <a:t>plan, motivate, organize, and control</a:t>
            </a:r>
            <a:r>
              <a:rPr lang="en-US" sz="2000" b="0" i="0" dirty="0">
                <a:solidFill>
                  <a:srgbClr val="2B2A2A"/>
                </a:solidFill>
              </a:rPr>
              <a:t> the practitioners who do software work.</a:t>
            </a:r>
            <a:endParaRPr dirty="0"/>
          </a:p>
          <a:p>
            <a:pPr marL="342900" lvl="0" indent="-342900" algn="just" rtl="0">
              <a:lnSpc>
                <a:spcPct val="150000"/>
              </a:lnSpc>
              <a:spcBef>
                <a:spcPts val="400"/>
              </a:spcBef>
              <a:spcAft>
                <a:spcPts val="0"/>
              </a:spcAft>
              <a:buClr>
                <a:srgbClr val="C00000"/>
              </a:buClr>
              <a:buSzPts val="2000"/>
              <a:buChar char="•"/>
            </a:pPr>
            <a:r>
              <a:rPr lang="en-US" sz="2000" b="1" i="1" dirty="0">
                <a:solidFill>
                  <a:srgbClr val="C00000"/>
                </a:solidFill>
              </a:rPr>
              <a:t>Practitioners/Software Engineers </a:t>
            </a:r>
            <a:r>
              <a:rPr lang="en-US" sz="2000" b="0" i="0" dirty="0">
                <a:solidFill>
                  <a:srgbClr val="2B2A2A"/>
                </a:solidFill>
              </a:rPr>
              <a:t>who </a:t>
            </a:r>
            <a:r>
              <a:rPr lang="en-US" sz="2000" b="1" i="0" dirty="0">
                <a:solidFill>
                  <a:srgbClr val="2B2A2A"/>
                </a:solidFill>
              </a:rPr>
              <a:t>deliver the technical skills </a:t>
            </a:r>
            <a:r>
              <a:rPr lang="en-US" sz="2000" b="0" i="0" dirty="0">
                <a:solidFill>
                  <a:srgbClr val="2B2A2A"/>
                </a:solidFill>
              </a:rPr>
              <a:t>that are necessary to engineer a product or application.</a:t>
            </a:r>
            <a:endParaRPr dirty="0"/>
          </a:p>
          <a:p>
            <a:pPr marL="342900" lvl="0" indent="-342900" algn="just" rtl="0">
              <a:lnSpc>
                <a:spcPct val="150000"/>
              </a:lnSpc>
              <a:spcBef>
                <a:spcPts val="400"/>
              </a:spcBef>
              <a:spcAft>
                <a:spcPts val="0"/>
              </a:spcAft>
              <a:buClr>
                <a:srgbClr val="C00000"/>
              </a:buClr>
              <a:buSzPts val="2000"/>
              <a:buChar char="•"/>
            </a:pPr>
            <a:r>
              <a:rPr lang="en-US" sz="2000" b="1" i="1" dirty="0">
                <a:solidFill>
                  <a:srgbClr val="C00000"/>
                </a:solidFill>
              </a:rPr>
              <a:t>Customers</a:t>
            </a:r>
            <a:r>
              <a:rPr lang="en-US" sz="2000" b="0" i="0" dirty="0">
                <a:solidFill>
                  <a:srgbClr val="2B2A2A"/>
                </a:solidFill>
              </a:rPr>
              <a:t> who </a:t>
            </a:r>
            <a:r>
              <a:rPr lang="en-US" sz="2000" b="1" i="0" dirty="0">
                <a:solidFill>
                  <a:srgbClr val="2B2A2A"/>
                </a:solidFill>
              </a:rPr>
              <a:t>specify the requirements </a:t>
            </a:r>
            <a:r>
              <a:rPr lang="en-US" sz="2000" b="0" i="0" dirty="0">
                <a:solidFill>
                  <a:srgbClr val="2B2A2A"/>
                </a:solidFill>
              </a:rPr>
              <a:t>for the software to be engineered and other stakeholders who have a peripheral interest in the outcome.</a:t>
            </a:r>
            <a:endParaRPr dirty="0"/>
          </a:p>
          <a:p>
            <a:pPr marL="342900" lvl="0" indent="-342900" algn="just" rtl="0">
              <a:lnSpc>
                <a:spcPct val="150000"/>
              </a:lnSpc>
              <a:spcBef>
                <a:spcPts val="400"/>
              </a:spcBef>
              <a:spcAft>
                <a:spcPts val="0"/>
              </a:spcAft>
              <a:buClr>
                <a:srgbClr val="C00000"/>
              </a:buClr>
              <a:buSzPts val="2000"/>
              <a:buChar char="•"/>
            </a:pPr>
            <a:r>
              <a:rPr lang="en-US" sz="2000" b="1" i="1" dirty="0">
                <a:solidFill>
                  <a:srgbClr val="C00000"/>
                </a:solidFill>
              </a:rPr>
              <a:t>End-users</a:t>
            </a:r>
            <a:r>
              <a:rPr lang="en-US" sz="2000" b="0" i="0" dirty="0">
                <a:solidFill>
                  <a:srgbClr val="2B2A2A"/>
                </a:solidFill>
              </a:rPr>
              <a:t> who </a:t>
            </a:r>
            <a:r>
              <a:rPr lang="en-US" sz="2000" b="1" i="0" dirty="0">
                <a:solidFill>
                  <a:srgbClr val="2B2A2A"/>
                </a:solidFill>
              </a:rPr>
              <a:t>interact with the software </a:t>
            </a:r>
            <a:r>
              <a:rPr lang="en-US" sz="2000" b="0" i="0" dirty="0">
                <a:solidFill>
                  <a:srgbClr val="2B2A2A"/>
                </a:solidFill>
              </a:rPr>
              <a:t>once it is released for production use.</a:t>
            </a:r>
            <a:endParaRPr sz="2800" dirty="0">
              <a:solidFill>
                <a:srgbClr val="30303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People – Team Leaders</a:t>
            </a:r>
            <a:endParaRPr/>
          </a:p>
        </p:txBody>
      </p:sp>
      <p:sp>
        <p:nvSpPr>
          <p:cNvPr id="81" name="Google Shape;81;p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
        <p:nvSpPr>
          <p:cNvPr id="82" name="Google Shape;82;p6"/>
          <p:cNvSpPr txBox="1">
            <a:spLocks noGrp="1"/>
          </p:cNvSpPr>
          <p:nvPr>
            <p:ph type="body" idx="1"/>
          </p:nvPr>
        </p:nvSpPr>
        <p:spPr>
          <a:xfrm>
            <a:off x="457200" y="1371600"/>
            <a:ext cx="8229600" cy="4386263"/>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B2A2A"/>
              </a:buClr>
              <a:buSzPts val="2000"/>
              <a:buChar char="•"/>
            </a:pPr>
            <a:r>
              <a:rPr lang="en-US" sz="2000" b="0" i="0" dirty="0">
                <a:solidFill>
                  <a:srgbClr val="2B2A2A"/>
                </a:solidFill>
              </a:rPr>
              <a:t>The MOI model of leadership </a:t>
            </a:r>
            <a:endParaRPr dirty="0"/>
          </a:p>
          <a:p>
            <a:pPr marL="342900" lvl="0" indent="-342900" algn="just" rtl="0">
              <a:lnSpc>
                <a:spcPct val="150000"/>
              </a:lnSpc>
              <a:spcBef>
                <a:spcPts val="400"/>
              </a:spcBef>
              <a:spcAft>
                <a:spcPts val="0"/>
              </a:spcAft>
              <a:buClr>
                <a:srgbClr val="C00000"/>
              </a:buClr>
              <a:buSzPts val="2000"/>
              <a:buFont typeface="Noto Sans Symbols"/>
              <a:buChar char="✔"/>
            </a:pPr>
            <a:r>
              <a:rPr lang="en-US" sz="2000" b="1" i="1" dirty="0">
                <a:solidFill>
                  <a:srgbClr val="C00000"/>
                </a:solidFill>
              </a:rPr>
              <a:t>Motivation -</a:t>
            </a:r>
            <a:r>
              <a:rPr lang="en-US" sz="2000" b="0" i="0" dirty="0">
                <a:solidFill>
                  <a:srgbClr val="2B2A2A"/>
                </a:solidFill>
              </a:rPr>
              <a:t> The ability </a:t>
            </a:r>
            <a:r>
              <a:rPr lang="en-US" sz="2000" b="1" i="0" dirty="0">
                <a:solidFill>
                  <a:srgbClr val="2B2A2A"/>
                </a:solidFill>
              </a:rPr>
              <a:t>to encourage </a:t>
            </a:r>
            <a:r>
              <a:rPr lang="en-US" sz="2000" b="0" i="0" dirty="0">
                <a:solidFill>
                  <a:srgbClr val="2B2A2A"/>
                </a:solidFill>
              </a:rPr>
              <a:t>(by “push or pull”) technical people to produce to their best ability. </a:t>
            </a:r>
            <a:endParaRPr sz="2000" dirty="0">
              <a:solidFill>
                <a:srgbClr val="2B2A2A"/>
              </a:solidFill>
            </a:endParaRPr>
          </a:p>
          <a:p>
            <a:pPr marL="342900" lvl="0" indent="-342900" algn="just" rtl="0">
              <a:lnSpc>
                <a:spcPct val="150000"/>
              </a:lnSpc>
              <a:spcBef>
                <a:spcPts val="400"/>
              </a:spcBef>
              <a:spcAft>
                <a:spcPts val="0"/>
              </a:spcAft>
              <a:buClr>
                <a:srgbClr val="C00000"/>
              </a:buClr>
              <a:buSzPts val="2000"/>
              <a:buFont typeface="Noto Sans Symbols"/>
              <a:buChar char="✔"/>
            </a:pPr>
            <a:r>
              <a:rPr lang="en-US" sz="2000" b="1" i="1" dirty="0">
                <a:solidFill>
                  <a:srgbClr val="C00000"/>
                </a:solidFill>
              </a:rPr>
              <a:t>Organization -</a:t>
            </a:r>
            <a:r>
              <a:rPr lang="en-US" sz="2000" b="0" i="0" dirty="0">
                <a:solidFill>
                  <a:srgbClr val="2B2A2A"/>
                </a:solidFill>
              </a:rPr>
              <a:t> The ability </a:t>
            </a:r>
            <a:r>
              <a:rPr lang="en-US" sz="2000" b="1" i="0" dirty="0">
                <a:solidFill>
                  <a:srgbClr val="2B2A2A"/>
                </a:solidFill>
              </a:rPr>
              <a:t>to mold existing processes </a:t>
            </a:r>
            <a:r>
              <a:rPr lang="en-US" sz="2000" b="0" i="0" dirty="0">
                <a:solidFill>
                  <a:srgbClr val="2B2A2A"/>
                </a:solidFill>
              </a:rPr>
              <a:t>(or invent new ones) that will enable the initial concept to be translated into a final product</a:t>
            </a:r>
            <a:r>
              <a:rPr lang="en-US" sz="2000" b="0" i="0" dirty="0" smtClean="0">
                <a:solidFill>
                  <a:srgbClr val="2B2A2A"/>
                </a:solidFill>
              </a:rPr>
              <a:t>.</a:t>
            </a:r>
            <a:endParaRPr sz="2000" b="0" i="0" dirty="0">
              <a:solidFill>
                <a:srgbClr val="2B2A2A"/>
              </a:solidFill>
            </a:endParaRPr>
          </a:p>
          <a:p>
            <a:pPr marL="342900" lvl="0" indent="-342900" algn="just">
              <a:lnSpc>
                <a:spcPct val="150000"/>
              </a:lnSpc>
              <a:spcBef>
                <a:spcPts val="400"/>
              </a:spcBef>
              <a:buClr>
                <a:srgbClr val="C00000"/>
              </a:buClr>
              <a:buSzPts val="2000"/>
              <a:buFont typeface="Noto Sans Symbols"/>
              <a:buChar char="✔"/>
            </a:pPr>
            <a:r>
              <a:rPr lang="en-US" sz="2000" b="1" i="1" dirty="0">
                <a:solidFill>
                  <a:srgbClr val="C00000"/>
                </a:solidFill>
              </a:rPr>
              <a:t>Ideas or innovation - </a:t>
            </a:r>
            <a:r>
              <a:rPr lang="en-US" sz="2000" b="0" i="0" dirty="0">
                <a:solidFill>
                  <a:srgbClr val="2B2A2A"/>
                </a:solidFill>
              </a:rPr>
              <a:t>The ability </a:t>
            </a:r>
            <a:r>
              <a:rPr lang="en-US" sz="2000" b="0" i="0" dirty="0" smtClean="0">
                <a:solidFill>
                  <a:srgbClr val="2B2A2A"/>
                </a:solidFill>
              </a:rPr>
              <a:t>to </a:t>
            </a:r>
            <a:r>
              <a:rPr lang="en-US" sz="2000" b="1" i="0" dirty="0" smtClean="0">
                <a:solidFill>
                  <a:srgbClr val="2B2A2A"/>
                </a:solidFill>
              </a:rPr>
              <a:t>encourage </a:t>
            </a:r>
            <a:r>
              <a:rPr lang="en-US" sz="2000" b="1" i="0" dirty="0">
                <a:solidFill>
                  <a:srgbClr val="2B2A2A"/>
                </a:solidFill>
              </a:rPr>
              <a:t>people to create </a:t>
            </a:r>
            <a:r>
              <a:rPr lang="en-US" sz="2000" b="0" i="0" dirty="0">
                <a:solidFill>
                  <a:srgbClr val="2B2A2A"/>
                </a:solidFill>
              </a:rPr>
              <a:t>and feel creative </a:t>
            </a:r>
            <a:r>
              <a:rPr lang="en-US" sz="2000" b="0" i="0" dirty="0" smtClean="0">
                <a:solidFill>
                  <a:srgbClr val="2B2A2A"/>
                </a:solidFill>
              </a:rPr>
              <a:t>when they </a:t>
            </a:r>
            <a:r>
              <a:rPr lang="en-US" sz="2000" dirty="0" smtClean="0">
                <a:solidFill>
                  <a:srgbClr val="2B2A2A"/>
                </a:solidFill>
              </a:rPr>
              <a:t>work </a:t>
            </a:r>
            <a:r>
              <a:rPr lang="en-US" sz="2000" b="0" i="0" dirty="0">
                <a:solidFill>
                  <a:srgbClr val="2B2A2A"/>
                </a:solidFill>
              </a:rPr>
              <a:t>within bounds established for a particular software product or application.</a:t>
            </a:r>
            <a:endParaRPr sz="2800" dirty="0">
              <a:solidFill>
                <a:srgbClr val="30303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People – Software Team</a:t>
            </a:r>
            <a:endParaRPr/>
          </a:p>
        </p:txBody>
      </p:sp>
      <p:sp>
        <p:nvSpPr>
          <p:cNvPr id="88" name="Google Shape;88;p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
        <p:nvSpPr>
          <p:cNvPr id="89" name="Google Shape;89;p7"/>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B2A2A"/>
              </a:buClr>
              <a:buSzPts val="2000"/>
              <a:buChar char="•"/>
            </a:pPr>
            <a:r>
              <a:rPr lang="en-US" sz="2000" dirty="0">
                <a:solidFill>
                  <a:srgbClr val="2B2A2A"/>
                </a:solidFill>
              </a:rPr>
              <a:t>Seven project factors that should be considered when planning the structure of software engineering teams:</a:t>
            </a:r>
            <a:endParaRPr dirty="0"/>
          </a:p>
          <a:p>
            <a:pPr marL="742950" lvl="1" indent="-285750" algn="just" rtl="0">
              <a:lnSpc>
                <a:spcPct val="150000"/>
              </a:lnSpc>
              <a:spcBef>
                <a:spcPts val="400"/>
              </a:spcBef>
              <a:spcAft>
                <a:spcPts val="0"/>
              </a:spcAft>
              <a:buClr>
                <a:srgbClr val="2B2A2A"/>
              </a:buClr>
              <a:buSzPts val="2000"/>
              <a:buChar char="–"/>
            </a:pPr>
            <a:r>
              <a:rPr lang="en-US" sz="2000" b="1" dirty="0">
                <a:solidFill>
                  <a:srgbClr val="2B2A2A"/>
                </a:solidFill>
              </a:rPr>
              <a:t>Difficulty</a:t>
            </a:r>
            <a:r>
              <a:rPr lang="en-US" sz="2000" dirty="0">
                <a:solidFill>
                  <a:srgbClr val="2B2A2A"/>
                </a:solidFill>
              </a:rPr>
              <a:t> of the problem to be solved</a:t>
            </a:r>
            <a:endParaRPr dirty="0"/>
          </a:p>
          <a:p>
            <a:pPr marL="742950" lvl="1" indent="-285750" algn="just" rtl="0">
              <a:lnSpc>
                <a:spcPct val="150000"/>
              </a:lnSpc>
              <a:spcBef>
                <a:spcPts val="400"/>
              </a:spcBef>
              <a:spcAft>
                <a:spcPts val="0"/>
              </a:spcAft>
              <a:buClr>
                <a:srgbClr val="2B2A2A"/>
              </a:buClr>
              <a:buSzPts val="2000"/>
              <a:buChar char="–"/>
            </a:pPr>
            <a:r>
              <a:rPr lang="en-US" sz="2000" b="1" dirty="0">
                <a:solidFill>
                  <a:srgbClr val="2B2A2A"/>
                </a:solidFill>
              </a:rPr>
              <a:t>“Size”</a:t>
            </a:r>
            <a:r>
              <a:rPr lang="en-US" sz="2000" dirty="0">
                <a:solidFill>
                  <a:srgbClr val="2B2A2A"/>
                </a:solidFill>
              </a:rPr>
              <a:t> of the resultant program(s) in lines of code or function points</a:t>
            </a:r>
            <a:endParaRPr dirty="0"/>
          </a:p>
          <a:p>
            <a:pPr marL="742950" lvl="1" indent="-285750" algn="just" rtl="0">
              <a:lnSpc>
                <a:spcPct val="150000"/>
              </a:lnSpc>
              <a:spcBef>
                <a:spcPts val="400"/>
              </a:spcBef>
              <a:spcAft>
                <a:spcPts val="0"/>
              </a:spcAft>
              <a:buClr>
                <a:srgbClr val="2B2A2A"/>
              </a:buClr>
              <a:buSzPts val="2000"/>
              <a:buChar char="–"/>
            </a:pPr>
            <a:r>
              <a:rPr lang="en-US" sz="2000" b="1" dirty="0">
                <a:solidFill>
                  <a:srgbClr val="2B2A2A"/>
                </a:solidFill>
              </a:rPr>
              <a:t>Time</a:t>
            </a:r>
            <a:r>
              <a:rPr lang="en-US" sz="2000" dirty="0">
                <a:solidFill>
                  <a:srgbClr val="2B2A2A"/>
                </a:solidFill>
              </a:rPr>
              <a:t> that the team will stay together (team lifetime)</a:t>
            </a:r>
            <a:endParaRPr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Degree to which the problem can be </a:t>
            </a:r>
            <a:r>
              <a:rPr lang="en-US" sz="2000" b="1" dirty="0">
                <a:solidFill>
                  <a:srgbClr val="2B2A2A"/>
                </a:solidFill>
              </a:rPr>
              <a:t>modularized</a:t>
            </a:r>
            <a:endParaRPr b="1"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Required </a:t>
            </a:r>
            <a:r>
              <a:rPr lang="en-US" sz="2000" b="1" dirty="0">
                <a:solidFill>
                  <a:srgbClr val="2B2A2A"/>
                </a:solidFill>
              </a:rPr>
              <a:t>quality and reliability </a:t>
            </a:r>
            <a:r>
              <a:rPr lang="en-US" sz="2000" dirty="0">
                <a:solidFill>
                  <a:srgbClr val="2B2A2A"/>
                </a:solidFill>
              </a:rPr>
              <a:t>of the system to be built</a:t>
            </a:r>
            <a:endParaRPr dirty="0"/>
          </a:p>
          <a:p>
            <a:pPr marL="742950" lvl="1" indent="-285750" algn="just" rtl="0">
              <a:lnSpc>
                <a:spcPct val="150000"/>
              </a:lnSpc>
              <a:spcBef>
                <a:spcPts val="400"/>
              </a:spcBef>
              <a:spcAft>
                <a:spcPts val="0"/>
              </a:spcAft>
              <a:buClr>
                <a:srgbClr val="2B2A2A"/>
              </a:buClr>
              <a:buSzPts val="2000"/>
              <a:buChar char="–"/>
            </a:pPr>
            <a:r>
              <a:rPr lang="en-US" sz="2000" b="1" dirty="0">
                <a:solidFill>
                  <a:srgbClr val="2B2A2A"/>
                </a:solidFill>
              </a:rPr>
              <a:t>Rigidity</a:t>
            </a:r>
            <a:r>
              <a:rPr lang="en-US" sz="2000" dirty="0">
                <a:solidFill>
                  <a:srgbClr val="2B2A2A"/>
                </a:solidFill>
              </a:rPr>
              <a:t> of the delivery date</a:t>
            </a:r>
            <a:endParaRPr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Degree of </a:t>
            </a:r>
            <a:r>
              <a:rPr lang="en-US" sz="2000" b="1" dirty="0">
                <a:solidFill>
                  <a:srgbClr val="2B2A2A"/>
                </a:solidFill>
              </a:rPr>
              <a:t>sociability </a:t>
            </a:r>
            <a:r>
              <a:rPr lang="en-US" sz="2000" dirty="0">
                <a:solidFill>
                  <a:srgbClr val="2B2A2A"/>
                </a:solidFill>
              </a:rPr>
              <a:t>(communication) required for the project</a:t>
            </a:r>
            <a:endParaRPr dirty="0"/>
          </a:p>
          <a:p>
            <a:pPr marL="457200" lvl="1" indent="0" algn="just" rtl="0">
              <a:lnSpc>
                <a:spcPct val="150000"/>
              </a:lnSpc>
              <a:spcBef>
                <a:spcPts val="400"/>
              </a:spcBef>
              <a:spcAft>
                <a:spcPts val="0"/>
              </a:spcAft>
              <a:buClr>
                <a:srgbClr val="2B2A2A"/>
              </a:buClr>
              <a:buSzPts val="2000"/>
              <a:buNone/>
            </a:pPr>
            <a:r>
              <a:rPr lang="en-US" sz="2000" dirty="0">
                <a:solidFill>
                  <a:srgbClr val="2B2A2A"/>
                </a:solidFill>
              </a:rPr>
              <a:t> </a:t>
            </a:r>
            <a:r>
              <a:rPr lang="en-US" sz="1600" dirty="0"/>
              <a:t/>
            </a:r>
            <a:br>
              <a:rPr lang="en-US" sz="1600" dirty="0"/>
            </a:br>
            <a:r>
              <a:rPr lang="en-US" sz="2000" dirty="0">
                <a:solidFill>
                  <a:srgbClr val="2B2A2A"/>
                </a:solidFill>
              </a:rPr>
              <a:t> </a:t>
            </a:r>
            <a:r>
              <a:rPr lang="en-US" sz="1600" dirty="0"/>
              <a:t/>
            </a:r>
            <a:br>
              <a:rPr lang="en-US" sz="1600" dirty="0"/>
            </a:br>
            <a:endParaRPr sz="2000" b="0" i="0" dirty="0">
              <a:solidFill>
                <a:srgbClr val="2B2A2A"/>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Second P - Product</a:t>
            </a:r>
            <a:endParaRPr/>
          </a:p>
        </p:txBody>
      </p:sp>
      <p:sp>
        <p:nvSpPr>
          <p:cNvPr id="95" name="Google Shape;95;p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
        <p:nvSpPr>
          <p:cNvPr id="96" name="Google Shape;96;p8"/>
          <p:cNvSpPr txBox="1">
            <a:spLocks noGrp="1"/>
          </p:cNvSpPr>
          <p:nvPr>
            <p:ph type="body" idx="1"/>
          </p:nvPr>
        </p:nvSpPr>
        <p:spPr>
          <a:xfrm>
            <a:off x="257175" y="1114425"/>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B2A2A"/>
              </a:buClr>
              <a:buSzPts val="2000"/>
              <a:buChar char="•"/>
            </a:pPr>
            <a:r>
              <a:rPr lang="en-US" sz="1800" b="0" i="0" dirty="0">
                <a:solidFill>
                  <a:srgbClr val="2B2A2A"/>
                </a:solidFill>
              </a:rPr>
              <a:t>Customers and software developers must meet:</a:t>
            </a:r>
            <a:endParaRPr sz="1800" dirty="0"/>
          </a:p>
          <a:p>
            <a:pPr marL="742950" lvl="1" indent="-285750" algn="just" rtl="0">
              <a:lnSpc>
                <a:spcPct val="150000"/>
              </a:lnSpc>
              <a:spcBef>
                <a:spcPts val="400"/>
              </a:spcBef>
              <a:spcAft>
                <a:spcPts val="0"/>
              </a:spcAft>
              <a:buClr>
                <a:srgbClr val="2B2A2A"/>
              </a:buClr>
              <a:buSzPts val="2000"/>
              <a:buChar char="–"/>
            </a:pPr>
            <a:r>
              <a:rPr lang="en-US" sz="1800" b="0" i="0" dirty="0">
                <a:solidFill>
                  <a:srgbClr val="2B2A2A"/>
                </a:solidFill>
              </a:rPr>
              <a:t>To </a:t>
            </a:r>
            <a:r>
              <a:rPr lang="en-US" sz="1800" b="1" i="0" dirty="0">
                <a:solidFill>
                  <a:srgbClr val="2B2A2A"/>
                </a:solidFill>
              </a:rPr>
              <a:t>define objectives </a:t>
            </a:r>
            <a:r>
              <a:rPr lang="en-US" sz="1800" b="0" i="0" dirty="0">
                <a:solidFill>
                  <a:srgbClr val="2B2A2A"/>
                </a:solidFill>
              </a:rPr>
              <a:t>and scope of the project.</a:t>
            </a:r>
            <a:endParaRPr sz="1800" dirty="0"/>
          </a:p>
          <a:p>
            <a:pPr marL="742950" lvl="1" indent="-285750" algn="just" rtl="0">
              <a:lnSpc>
                <a:spcPct val="150000"/>
              </a:lnSpc>
              <a:spcBef>
                <a:spcPts val="400"/>
              </a:spcBef>
              <a:spcAft>
                <a:spcPts val="0"/>
              </a:spcAft>
              <a:buClr>
                <a:srgbClr val="2B2A2A"/>
              </a:buClr>
              <a:buSzPts val="2000"/>
              <a:buChar char="–"/>
            </a:pPr>
            <a:r>
              <a:rPr lang="en-US" sz="1800" b="0" i="0" dirty="0">
                <a:solidFill>
                  <a:srgbClr val="2B2A2A"/>
                </a:solidFill>
              </a:rPr>
              <a:t>To </a:t>
            </a:r>
            <a:r>
              <a:rPr lang="en-US" sz="1800" b="1" i="0" dirty="0">
                <a:solidFill>
                  <a:srgbClr val="2B2A2A"/>
                </a:solidFill>
              </a:rPr>
              <a:t>consider alternative solutions </a:t>
            </a:r>
            <a:r>
              <a:rPr lang="en-US" sz="1800" b="0" i="0" dirty="0">
                <a:solidFill>
                  <a:srgbClr val="2B2A2A"/>
                </a:solidFill>
              </a:rPr>
              <a:t>and to select the best possible approach. </a:t>
            </a:r>
            <a:endParaRPr sz="1800" dirty="0"/>
          </a:p>
          <a:p>
            <a:pPr marL="742950" lvl="1" indent="-285750" algn="just" rtl="0">
              <a:lnSpc>
                <a:spcPct val="150000"/>
              </a:lnSpc>
              <a:spcBef>
                <a:spcPts val="400"/>
              </a:spcBef>
              <a:spcAft>
                <a:spcPts val="0"/>
              </a:spcAft>
              <a:buClr>
                <a:srgbClr val="2B2A2A"/>
              </a:buClr>
              <a:buSzPts val="2000"/>
              <a:buChar char="–"/>
            </a:pPr>
            <a:r>
              <a:rPr lang="en-US" sz="1800" b="0" i="0" dirty="0">
                <a:solidFill>
                  <a:srgbClr val="2B2A2A"/>
                </a:solidFill>
              </a:rPr>
              <a:t>To </a:t>
            </a:r>
            <a:r>
              <a:rPr lang="en-US" sz="1800" b="1" i="0" dirty="0">
                <a:solidFill>
                  <a:srgbClr val="2B2A2A"/>
                </a:solidFill>
              </a:rPr>
              <a:t>identify</a:t>
            </a:r>
            <a:r>
              <a:rPr lang="en-US" sz="1800" b="0" i="0" dirty="0">
                <a:solidFill>
                  <a:srgbClr val="2B2A2A"/>
                </a:solidFill>
              </a:rPr>
              <a:t> technical and management </a:t>
            </a:r>
            <a:r>
              <a:rPr lang="en-US" sz="1800" b="1" i="0" dirty="0">
                <a:solidFill>
                  <a:srgbClr val="2B2A2A"/>
                </a:solidFill>
              </a:rPr>
              <a:t>constraints</a:t>
            </a:r>
            <a:r>
              <a:rPr lang="en-US" sz="1800" b="0" i="0" dirty="0">
                <a:solidFill>
                  <a:srgbClr val="2B2A2A"/>
                </a:solidFill>
              </a:rPr>
              <a:t>. </a:t>
            </a:r>
            <a:endParaRPr sz="1800" dirty="0"/>
          </a:p>
          <a:p>
            <a:pPr marL="342900" lvl="0" indent="-342900" algn="just" rtl="0">
              <a:lnSpc>
                <a:spcPct val="150000"/>
              </a:lnSpc>
              <a:spcBef>
                <a:spcPts val="400"/>
              </a:spcBef>
              <a:spcAft>
                <a:spcPts val="0"/>
              </a:spcAft>
              <a:buClr>
                <a:srgbClr val="C00000"/>
              </a:buClr>
              <a:buSzPts val="2000"/>
              <a:buChar char="•"/>
            </a:pPr>
            <a:r>
              <a:rPr lang="en-US" sz="1800" b="0" i="1" dirty="0">
                <a:solidFill>
                  <a:srgbClr val="C00000"/>
                </a:solidFill>
              </a:rPr>
              <a:t>Objectives </a:t>
            </a:r>
            <a:r>
              <a:rPr lang="en-US" sz="1800" b="0" i="0" dirty="0">
                <a:solidFill>
                  <a:srgbClr val="2B2A2A"/>
                </a:solidFill>
              </a:rPr>
              <a:t>identify the overall goals for the product (from the customers’ point of view) without considering how these goals will be achieved. </a:t>
            </a:r>
            <a:endParaRPr sz="1800" dirty="0"/>
          </a:p>
          <a:p>
            <a:pPr marL="342900" lvl="0" indent="-342900" algn="just" rtl="0">
              <a:lnSpc>
                <a:spcPct val="150000"/>
              </a:lnSpc>
              <a:spcBef>
                <a:spcPts val="400"/>
              </a:spcBef>
              <a:spcAft>
                <a:spcPts val="0"/>
              </a:spcAft>
              <a:buClr>
                <a:srgbClr val="C00000"/>
              </a:buClr>
              <a:buSzPts val="2000"/>
              <a:buChar char="•"/>
            </a:pPr>
            <a:r>
              <a:rPr lang="en-US" sz="1800" b="0" i="1" dirty="0">
                <a:solidFill>
                  <a:srgbClr val="C00000"/>
                </a:solidFill>
              </a:rPr>
              <a:t>Scope</a:t>
            </a:r>
            <a:r>
              <a:rPr lang="en-US" sz="1800" b="0" i="0" dirty="0">
                <a:solidFill>
                  <a:srgbClr val="2B2A2A"/>
                </a:solidFill>
              </a:rPr>
              <a:t> identifies the primary data, functions and behaviors that characterize the product, and more important, attempts to bound these characteristics in a quantitative manner.</a:t>
            </a:r>
            <a:endParaRPr sz="1800" dirty="0"/>
          </a:p>
          <a:p>
            <a:pPr marL="342900" lvl="0" indent="-342900" algn="just" rtl="0">
              <a:spcBef>
                <a:spcPts val="360"/>
              </a:spcBef>
              <a:spcAft>
                <a:spcPts val="0"/>
              </a:spcAft>
              <a:buClr>
                <a:schemeClr val="dk1"/>
              </a:buClr>
              <a:buSzPts val="1800"/>
              <a:buChar char="•"/>
            </a:pPr>
            <a:r>
              <a:rPr lang="en-US" sz="1800" i="1" dirty="0"/>
              <a:t>If scope and objectives are not defined, then it will be impossible: </a:t>
            </a:r>
            <a:endParaRPr sz="1800" dirty="0"/>
          </a:p>
          <a:p>
            <a:pPr marL="742950" lvl="1" indent="-285750" algn="just" rtl="0">
              <a:spcBef>
                <a:spcPts val="360"/>
              </a:spcBef>
              <a:spcAft>
                <a:spcPts val="0"/>
              </a:spcAft>
              <a:buClr>
                <a:schemeClr val="dk1"/>
              </a:buClr>
              <a:buSzPts val="1800"/>
              <a:buChar char="–"/>
            </a:pPr>
            <a:r>
              <a:rPr lang="en-US" sz="1800" i="1" dirty="0"/>
              <a:t>To define a reasonable and </a:t>
            </a:r>
            <a:r>
              <a:rPr lang="en-US" sz="1800" b="1" i="1" dirty="0"/>
              <a:t>accurate estimate of cost</a:t>
            </a:r>
            <a:r>
              <a:rPr lang="en-US" sz="1800" i="1" dirty="0"/>
              <a:t>.</a:t>
            </a:r>
            <a:endParaRPr sz="1800" dirty="0"/>
          </a:p>
          <a:p>
            <a:pPr marL="742950" lvl="1" indent="-285750" algn="just" rtl="0">
              <a:spcBef>
                <a:spcPts val="360"/>
              </a:spcBef>
              <a:spcAft>
                <a:spcPts val="0"/>
              </a:spcAft>
              <a:buClr>
                <a:schemeClr val="dk1"/>
              </a:buClr>
              <a:buSzPts val="1800"/>
              <a:buChar char="–"/>
            </a:pPr>
            <a:r>
              <a:rPr lang="en-US" sz="1800" i="1" dirty="0"/>
              <a:t>To </a:t>
            </a:r>
            <a:r>
              <a:rPr lang="en-US" sz="1800" b="1" i="1" dirty="0"/>
              <a:t>assess possible risks  </a:t>
            </a:r>
            <a:r>
              <a:rPr lang="en-US" sz="1800" i="1" dirty="0"/>
              <a:t>and to define a manageable project schedule.</a:t>
            </a:r>
            <a:endParaRPr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Product/Software Scope</a:t>
            </a:r>
            <a:endParaRPr/>
          </a:p>
        </p:txBody>
      </p:sp>
      <p:sp>
        <p:nvSpPr>
          <p:cNvPr id="102" name="Google Shape;102;p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
        <p:nvSpPr>
          <p:cNvPr id="103" name="Google Shape;103;p9"/>
          <p:cNvSpPr txBox="1">
            <a:spLocks noGrp="1"/>
          </p:cNvSpPr>
          <p:nvPr>
            <p:ph type="body" idx="1"/>
          </p:nvPr>
        </p:nvSpPr>
        <p:spPr>
          <a:xfrm>
            <a:off x="457200" y="8382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42021"/>
              </a:buClr>
              <a:buSzPts val="2000"/>
              <a:buChar char="•"/>
            </a:pPr>
            <a:r>
              <a:rPr lang="en-US" sz="2000" b="0" i="0" dirty="0">
                <a:solidFill>
                  <a:srgbClr val="242021"/>
                </a:solidFill>
              </a:rPr>
              <a:t>The first software project management activity is the determination of </a:t>
            </a:r>
            <a:r>
              <a:rPr lang="en-US" sz="2000" b="0" i="1" dirty="0">
                <a:solidFill>
                  <a:srgbClr val="242021"/>
                </a:solidFill>
              </a:rPr>
              <a:t>software scope.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Scope is defined by answering the following questions:</a:t>
            </a:r>
            <a:r>
              <a:rPr lang="en-US" sz="2000" dirty="0"/>
              <a:t> </a:t>
            </a:r>
            <a:endParaRPr dirty="0"/>
          </a:p>
          <a:p>
            <a:pPr marL="742950" lvl="1" indent="-285750" algn="just" rtl="0">
              <a:lnSpc>
                <a:spcPct val="150000"/>
              </a:lnSpc>
              <a:spcBef>
                <a:spcPts val="400"/>
              </a:spcBef>
              <a:spcAft>
                <a:spcPts val="0"/>
              </a:spcAft>
              <a:buClr>
                <a:srgbClr val="C00000"/>
              </a:buClr>
              <a:buSzPts val="2000"/>
              <a:buChar char="–"/>
            </a:pPr>
            <a:r>
              <a:rPr lang="en-US" sz="2000" b="1" i="1" dirty="0">
                <a:solidFill>
                  <a:srgbClr val="C00000"/>
                </a:solidFill>
              </a:rPr>
              <a:t>Context:</a:t>
            </a:r>
            <a:r>
              <a:rPr lang="en-US" sz="2000" b="0" i="0" dirty="0">
                <a:solidFill>
                  <a:srgbClr val="2B2A2A"/>
                </a:solidFill>
              </a:rPr>
              <a:t> How does the </a:t>
            </a:r>
            <a:r>
              <a:rPr lang="en-US" sz="2000" b="1" i="0" dirty="0">
                <a:solidFill>
                  <a:srgbClr val="2B2A2A"/>
                </a:solidFill>
              </a:rPr>
              <a:t>software to be built fit into a larger system</a:t>
            </a:r>
            <a:r>
              <a:rPr lang="en-US" sz="2000" b="0" i="0" dirty="0">
                <a:solidFill>
                  <a:srgbClr val="2B2A2A"/>
                </a:solidFill>
              </a:rPr>
              <a:t>, product, or business context and </a:t>
            </a:r>
            <a:r>
              <a:rPr lang="en-US" sz="2000" b="1" i="0" dirty="0">
                <a:solidFill>
                  <a:srgbClr val="2B2A2A"/>
                </a:solidFill>
              </a:rPr>
              <a:t>what constraints are imposed </a:t>
            </a:r>
            <a:r>
              <a:rPr lang="en-US" sz="2000" b="0" i="0" dirty="0">
                <a:solidFill>
                  <a:srgbClr val="2B2A2A"/>
                </a:solidFill>
              </a:rPr>
              <a:t>as a result of the context? </a:t>
            </a:r>
            <a:endParaRPr dirty="0"/>
          </a:p>
          <a:p>
            <a:pPr marL="742950" lvl="1" indent="-285750" algn="just" rtl="0">
              <a:lnSpc>
                <a:spcPct val="150000"/>
              </a:lnSpc>
              <a:spcBef>
                <a:spcPts val="400"/>
              </a:spcBef>
              <a:spcAft>
                <a:spcPts val="0"/>
              </a:spcAft>
              <a:buClr>
                <a:srgbClr val="C00000"/>
              </a:buClr>
              <a:buSzPts val="2000"/>
              <a:buChar char="–"/>
            </a:pPr>
            <a:r>
              <a:rPr lang="en-US" sz="2000" b="1" i="1" dirty="0">
                <a:solidFill>
                  <a:srgbClr val="C00000"/>
                </a:solidFill>
              </a:rPr>
              <a:t>Information objectives: </a:t>
            </a:r>
            <a:r>
              <a:rPr lang="en-US" sz="2000" b="0" i="0" dirty="0">
                <a:solidFill>
                  <a:srgbClr val="2B2A2A"/>
                </a:solidFill>
              </a:rPr>
              <a:t>What customer-visible </a:t>
            </a:r>
            <a:r>
              <a:rPr lang="en-US" sz="2000" b="1" i="0" dirty="0">
                <a:solidFill>
                  <a:srgbClr val="2B2A2A"/>
                </a:solidFill>
              </a:rPr>
              <a:t>data objects are produced as output</a:t>
            </a:r>
            <a:r>
              <a:rPr lang="en-US" sz="2000" b="0" i="0" dirty="0">
                <a:solidFill>
                  <a:srgbClr val="2B2A2A"/>
                </a:solidFill>
              </a:rPr>
              <a:t> from the software? What data objects are required for input? </a:t>
            </a:r>
            <a:endParaRPr dirty="0"/>
          </a:p>
          <a:p>
            <a:pPr marL="742950" lvl="1" indent="-285750" algn="just" rtl="0">
              <a:lnSpc>
                <a:spcPct val="150000"/>
              </a:lnSpc>
              <a:spcBef>
                <a:spcPts val="400"/>
              </a:spcBef>
              <a:spcAft>
                <a:spcPts val="0"/>
              </a:spcAft>
              <a:buClr>
                <a:srgbClr val="C00000"/>
              </a:buClr>
              <a:buSzPts val="2000"/>
              <a:buChar char="–"/>
            </a:pPr>
            <a:r>
              <a:rPr lang="en-US" sz="2000" b="1" i="1" dirty="0">
                <a:solidFill>
                  <a:srgbClr val="C00000"/>
                </a:solidFill>
              </a:rPr>
              <a:t>Function and performance: </a:t>
            </a:r>
            <a:r>
              <a:rPr lang="en-US" sz="2000" b="0" i="0" dirty="0">
                <a:solidFill>
                  <a:srgbClr val="2B2A2A"/>
                </a:solidFill>
              </a:rPr>
              <a:t>What function does the software perform to </a:t>
            </a:r>
            <a:r>
              <a:rPr lang="en-US" sz="2000" b="1" i="0" dirty="0">
                <a:solidFill>
                  <a:srgbClr val="2B2A2A"/>
                </a:solidFill>
              </a:rPr>
              <a:t>transform input data into output</a:t>
            </a:r>
            <a:r>
              <a:rPr lang="en-US" sz="2000" b="0" i="0" dirty="0">
                <a:solidFill>
                  <a:srgbClr val="2B2A2A"/>
                </a:solidFill>
              </a:rPr>
              <a:t>? Are any special performance characteristics to be addressed?</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Problem Decomposition</a:t>
            </a:r>
            <a:endParaRPr/>
          </a:p>
        </p:txBody>
      </p:sp>
      <p:sp>
        <p:nvSpPr>
          <p:cNvPr id="109" name="Google Shape;109;p1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
        <p:nvSpPr>
          <p:cNvPr id="110" name="Google Shape;110;p10"/>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B2A2A"/>
              </a:buClr>
              <a:buSzPts val="2000"/>
              <a:buChar char="•"/>
            </a:pPr>
            <a:r>
              <a:rPr lang="en-US" sz="2000" b="0" i="0" dirty="0">
                <a:solidFill>
                  <a:srgbClr val="2B2A2A"/>
                </a:solidFill>
              </a:rPr>
              <a:t>Sometimes called </a:t>
            </a:r>
            <a:r>
              <a:rPr lang="en-US" sz="2000" b="0" i="1" dirty="0">
                <a:solidFill>
                  <a:srgbClr val="2B2A2A"/>
                </a:solidFill>
              </a:rPr>
              <a:t>partitioning</a:t>
            </a:r>
            <a:r>
              <a:rPr lang="en-US" sz="2000" b="0" i="0" dirty="0">
                <a:solidFill>
                  <a:srgbClr val="2B2A2A"/>
                </a:solidFill>
              </a:rPr>
              <a:t> or </a:t>
            </a:r>
            <a:r>
              <a:rPr lang="en-US" sz="2000" b="0" i="1" dirty="0">
                <a:solidFill>
                  <a:srgbClr val="2B2A2A"/>
                </a:solidFill>
              </a:rPr>
              <a:t>problem elaboration</a:t>
            </a:r>
            <a:r>
              <a:rPr lang="en-US" sz="2000" b="0" i="0" dirty="0">
                <a:solidFill>
                  <a:srgbClr val="2B2A2A"/>
                </a:solidFill>
              </a:rPr>
              <a:t>. </a:t>
            </a:r>
            <a:endParaRPr dirty="0"/>
          </a:p>
          <a:p>
            <a:pPr marL="342900" lvl="0" indent="-342900" algn="just" rtl="0">
              <a:lnSpc>
                <a:spcPct val="150000"/>
              </a:lnSpc>
              <a:spcBef>
                <a:spcPts val="400"/>
              </a:spcBef>
              <a:spcAft>
                <a:spcPts val="0"/>
              </a:spcAft>
              <a:buClr>
                <a:srgbClr val="2B2A2A"/>
              </a:buClr>
              <a:buSzPts val="2000"/>
              <a:buChar char="•"/>
            </a:pPr>
            <a:r>
              <a:rPr lang="en-US" sz="2000" dirty="0">
                <a:solidFill>
                  <a:srgbClr val="2B2A2A"/>
                </a:solidFill>
              </a:rPr>
              <a:t>Once scope is defined … </a:t>
            </a:r>
            <a:endParaRPr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It is decomposed into constituent functions </a:t>
            </a:r>
            <a:endParaRPr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It is decomposed into </a:t>
            </a:r>
            <a:r>
              <a:rPr lang="en-US" sz="2000" b="1" dirty="0">
                <a:solidFill>
                  <a:srgbClr val="2B2A2A"/>
                </a:solidFill>
              </a:rPr>
              <a:t>user-visible</a:t>
            </a:r>
            <a:r>
              <a:rPr lang="en-US" sz="2000" dirty="0">
                <a:solidFill>
                  <a:srgbClr val="2B2A2A"/>
                </a:solidFill>
              </a:rPr>
              <a:t> data objects </a:t>
            </a:r>
            <a:endParaRPr dirty="0"/>
          </a:p>
          <a:p>
            <a:pPr marL="914400" lvl="2" indent="0" algn="just" rtl="0">
              <a:lnSpc>
                <a:spcPct val="150000"/>
              </a:lnSpc>
              <a:spcBef>
                <a:spcPts val="400"/>
              </a:spcBef>
              <a:spcAft>
                <a:spcPts val="0"/>
              </a:spcAft>
              <a:buClr>
                <a:srgbClr val="2B2A2A"/>
              </a:buClr>
              <a:buSzPts val="2000"/>
              <a:buNone/>
            </a:pPr>
            <a:r>
              <a:rPr lang="en-US" sz="2000" dirty="0">
                <a:solidFill>
                  <a:srgbClr val="2B2A2A"/>
                </a:solidFill>
              </a:rPr>
              <a:t>		or  </a:t>
            </a:r>
            <a:endParaRPr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It is decomposed into a set of problem classes </a:t>
            </a:r>
            <a:endParaRPr dirty="0"/>
          </a:p>
          <a:p>
            <a:pPr marL="342900" lvl="0" indent="-342900" algn="just" rtl="0">
              <a:lnSpc>
                <a:spcPct val="150000"/>
              </a:lnSpc>
              <a:spcBef>
                <a:spcPts val="400"/>
              </a:spcBef>
              <a:spcAft>
                <a:spcPts val="0"/>
              </a:spcAft>
              <a:buClr>
                <a:srgbClr val="2B2A2A"/>
              </a:buClr>
              <a:buSzPts val="2000"/>
              <a:buChar char="•"/>
            </a:pPr>
            <a:r>
              <a:rPr lang="en-US" sz="2000" dirty="0">
                <a:solidFill>
                  <a:srgbClr val="2B2A2A"/>
                </a:solidFill>
              </a:rPr>
              <a:t>Decomposition process continues </a:t>
            </a:r>
            <a:r>
              <a:rPr lang="en-US" sz="2000" b="1" dirty="0">
                <a:solidFill>
                  <a:srgbClr val="2B2A2A"/>
                </a:solidFill>
              </a:rPr>
              <a:t>until all functions or problem classes have been defined</a:t>
            </a:r>
            <a:endParaRPr b="1" dirty="0"/>
          </a:p>
          <a:p>
            <a:pPr marL="342900" lvl="0" indent="-215900" algn="just" rtl="0">
              <a:lnSpc>
                <a:spcPct val="150000"/>
              </a:lnSpc>
              <a:spcBef>
                <a:spcPts val="400"/>
              </a:spcBef>
              <a:spcAft>
                <a:spcPts val="0"/>
              </a:spcAft>
              <a:buClr>
                <a:schemeClr val="dk1"/>
              </a:buClr>
              <a:buSzPts val="2000"/>
              <a:buNone/>
            </a:pPr>
            <a:endParaRPr sz="2000" b="0" i="0" dirty="0">
              <a:solidFill>
                <a:srgbClr val="2B2A2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Third P - Process</a:t>
            </a:r>
            <a:endParaRPr/>
          </a:p>
        </p:txBody>
      </p:sp>
      <p:sp>
        <p:nvSpPr>
          <p:cNvPr id="116" name="Google Shape;116;p1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
        <p:nvSpPr>
          <p:cNvPr id="117" name="Google Shape;117;p11"/>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B2A2A"/>
              </a:buClr>
              <a:buSzPts val="2000"/>
              <a:buChar char="•"/>
            </a:pPr>
            <a:r>
              <a:rPr lang="en-US" sz="2000" b="0" i="0" dirty="0">
                <a:solidFill>
                  <a:srgbClr val="2B2A2A"/>
                </a:solidFill>
              </a:rPr>
              <a:t>The project manager must decide </a:t>
            </a:r>
            <a:r>
              <a:rPr lang="en-US" sz="2000" b="1" i="0" dirty="0">
                <a:solidFill>
                  <a:srgbClr val="2B2A2A"/>
                </a:solidFill>
              </a:rPr>
              <a:t>which process model is appropriate </a:t>
            </a:r>
            <a:r>
              <a:rPr lang="en-US" sz="2000" b="0" i="0" dirty="0">
                <a:solidFill>
                  <a:srgbClr val="2B2A2A"/>
                </a:solidFill>
              </a:rPr>
              <a:t>for: </a:t>
            </a:r>
            <a:endParaRPr dirty="0"/>
          </a:p>
          <a:p>
            <a:pPr marL="742950" lvl="1" indent="-285750" algn="just" rtl="0">
              <a:lnSpc>
                <a:spcPct val="150000"/>
              </a:lnSpc>
              <a:spcBef>
                <a:spcPts val="400"/>
              </a:spcBef>
              <a:spcAft>
                <a:spcPts val="0"/>
              </a:spcAft>
              <a:buClr>
                <a:srgbClr val="2B2A2A"/>
              </a:buClr>
              <a:buSzPts val="2000"/>
              <a:buChar char="–"/>
            </a:pPr>
            <a:r>
              <a:rPr lang="en-US" sz="2000" b="0" i="0" dirty="0">
                <a:solidFill>
                  <a:srgbClr val="2B2A2A"/>
                </a:solidFill>
              </a:rPr>
              <a:t>The customers who have requested the product and the people who will do the work</a:t>
            </a:r>
            <a:endParaRPr dirty="0"/>
          </a:p>
          <a:p>
            <a:pPr marL="742950" lvl="1" indent="-285750" algn="just" rtl="0">
              <a:lnSpc>
                <a:spcPct val="150000"/>
              </a:lnSpc>
              <a:spcBef>
                <a:spcPts val="400"/>
              </a:spcBef>
              <a:spcAft>
                <a:spcPts val="0"/>
              </a:spcAft>
              <a:buClr>
                <a:srgbClr val="2B2A2A"/>
              </a:buClr>
              <a:buSzPts val="2000"/>
              <a:buChar char="–"/>
            </a:pPr>
            <a:r>
              <a:rPr lang="en-US" sz="2000" b="0" i="0" dirty="0">
                <a:solidFill>
                  <a:srgbClr val="2B2A2A"/>
                </a:solidFill>
              </a:rPr>
              <a:t>The characteristics of the product itself</a:t>
            </a:r>
            <a:endParaRPr dirty="0"/>
          </a:p>
          <a:p>
            <a:pPr marL="742950" lvl="1" indent="-285750" algn="just" rtl="0">
              <a:lnSpc>
                <a:spcPct val="150000"/>
              </a:lnSpc>
              <a:spcBef>
                <a:spcPts val="400"/>
              </a:spcBef>
              <a:spcAft>
                <a:spcPts val="0"/>
              </a:spcAft>
              <a:buClr>
                <a:srgbClr val="2B2A2A"/>
              </a:buClr>
              <a:buSzPts val="2000"/>
              <a:buChar char="–"/>
            </a:pPr>
            <a:r>
              <a:rPr lang="en-US" sz="2000" b="0" i="0" dirty="0">
                <a:solidFill>
                  <a:srgbClr val="2B2A2A"/>
                </a:solidFill>
              </a:rPr>
              <a:t>The project environment in which the software team works. </a:t>
            </a:r>
            <a:endParaRPr sz="2000" dirty="0">
              <a:solidFill>
                <a:srgbClr val="2B2A2A"/>
              </a:solidFill>
            </a:endParaRPr>
          </a:p>
          <a:p>
            <a:pPr marL="342900" lvl="0" indent="-342900" algn="just" rtl="0">
              <a:lnSpc>
                <a:spcPct val="150000"/>
              </a:lnSpc>
              <a:spcBef>
                <a:spcPts val="400"/>
              </a:spcBef>
              <a:spcAft>
                <a:spcPts val="0"/>
              </a:spcAft>
              <a:buClr>
                <a:srgbClr val="2B2A2A"/>
              </a:buClr>
              <a:buSzPts val="2000"/>
              <a:buChar char="•"/>
            </a:pPr>
            <a:r>
              <a:rPr lang="en-US" sz="2000" b="0" i="0" dirty="0">
                <a:solidFill>
                  <a:srgbClr val="2B2A2A"/>
                </a:solidFill>
              </a:rPr>
              <a:t>When a process model has been selected, </a:t>
            </a:r>
            <a:r>
              <a:rPr lang="en-US" sz="2000" b="1" i="0" dirty="0">
                <a:solidFill>
                  <a:srgbClr val="2B2A2A"/>
                </a:solidFill>
              </a:rPr>
              <a:t>define a preliminary project plan on the set of common process framework activities</a:t>
            </a:r>
            <a:r>
              <a:rPr lang="en-US" sz="2000" b="1" i="0" dirty="0" smtClean="0">
                <a:solidFill>
                  <a:srgbClr val="2B2A2A"/>
                </a:solidFill>
              </a:rPr>
              <a:t>.</a:t>
            </a:r>
            <a:endParaRPr sz="2800" b="1" i="0" dirty="0">
              <a:solidFill>
                <a:srgbClr val="2B2A2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Third P – Process (contd.)</a:t>
            </a:r>
            <a:endParaRPr/>
          </a:p>
        </p:txBody>
      </p:sp>
      <p:sp>
        <p:nvSpPr>
          <p:cNvPr id="123" name="Google Shape;123;p1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
        <p:nvSpPr>
          <p:cNvPr id="124" name="Google Shape;124;p12"/>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B2A2A"/>
              </a:buClr>
              <a:buSzPts val="2000"/>
              <a:buChar char="•"/>
            </a:pPr>
            <a:r>
              <a:rPr lang="en-US" sz="2000" b="0" i="0" dirty="0">
                <a:solidFill>
                  <a:srgbClr val="2B2A2A"/>
                </a:solidFill>
              </a:rPr>
              <a:t>Once a process framework has been established </a:t>
            </a:r>
            <a:endParaRPr dirty="0"/>
          </a:p>
          <a:p>
            <a:pPr marL="742950" lvl="1" indent="-285750" algn="just" rtl="0">
              <a:lnSpc>
                <a:spcPct val="150000"/>
              </a:lnSpc>
              <a:spcBef>
                <a:spcPts val="400"/>
              </a:spcBef>
              <a:spcAft>
                <a:spcPts val="0"/>
              </a:spcAft>
              <a:buClr>
                <a:srgbClr val="2B2A2A"/>
              </a:buClr>
              <a:buSzPts val="2000"/>
              <a:buChar char="–"/>
            </a:pPr>
            <a:r>
              <a:rPr lang="en-US" sz="2000" b="0" i="0" dirty="0">
                <a:solidFill>
                  <a:srgbClr val="2B2A2A"/>
                </a:solidFill>
              </a:rPr>
              <a:t>Consider project characteristics</a:t>
            </a:r>
            <a:endParaRPr dirty="0"/>
          </a:p>
          <a:p>
            <a:pPr marL="742950" lvl="1" indent="-285750" algn="just" rtl="0">
              <a:lnSpc>
                <a:spcPct val="150000"/>
              </a:lnSpc>
              <a:spcBef>
                <a:spcPts val="400"/>
              </a:spcBef>
              <a:spcAft>
                <a:spcPts val="0"/>
              </a:spcAft>
              <a:buClr>
                <a:srgbClr val="2B2A2A"/>
              </a:buClr>
              <a:buSzPts val="2000"/>
              <a:buChar char="–"/>
            </a:pPr>
            <a:r>
              <a:rPr lang="en-US" sz="2000" b="0" i="0" dirty="0">
                <a:solidFill>
                  <a:srgbClr val="2B2A2A"/>
                </a:solidFill>
              </a:rPr>
              <a:t>Determine the degree of rigor required </a:t>
            </a:r>
            <a:endParaRPr dirty="0"/>
          </a:p>
          <a:p>
            <a:pPr marL="742950" lvl="1" indent="-285750" algn="just" rtl="0">
              <a:lnSpc>
                <a:spcPct val="150000"/>
              </a:lnSpc>
              <a:spcBef>
                <a:spcPts val="400"/>
              </a:spcBef>
              <a:spcAft>
                <a:spcPts val="0"/>
              </a:spcAft>
              <a:buClr>
                <a:srgbClr val="2B2A2A"/>
              </a:buClr>
              <a:buSzPts val="2000"/>
              <a:buChar char="–"/>
            </a:pPr>
            <a:r>
              <a:rPr lang="en-US" sz="2000" b="1" i="0" dirty="0">
                <a:solidFill>
                  <a:srgbClr val="2B2A2A"/>
                </a:solidFill>
              </a:rPr>
              <a:t>Define a task set for each software engineering activity </a:t>
            </a:r>
            <a:endParaRPr b="1" dirty="0"/>
          </a:p>
          <a:p>
            <a:pPr marL="1143000" lvl="2" indent="-228600" algn="just" rtl="0">
              <a:lnSpc>
                <a:spcPct val="150000"/>
              </a:lnSpc>
              <a:spcBef>
                <a:spcPts val="400"/>
              </a:spcBef>
              <a:spcAft>
                <a:spcPts val="0"/>
              </a:spcAft>
              <a:buClr>
                <a:srgbClr val="2B2A2A"/>
              </a:buClr>
              <a:buSzPts val="2000"/>
              <a:buFont typeface="Noto Sans Symbols"/>
              <a:buChar char="⮚"/>
            </a:pPr>
            <a:r>
              <a:rPr lang="en-US" sz="2000" b="0" i="0" dirty="0">
                <a:solidFill>
                  <a:srgbClr val="2B2A2A"/>
                </a:solidFill>
              </a:rPr>
              <a:t>Task set : </a:t>
            </a:r>
            <a:endParaRPr dirty="0"/>
          </a:p>
          <a:p>
            <a:pPr marL="1600200" lvl="3" indent="-228600" algn="just" rtl="0">
              <a:lnSpc>
                <a:spcPct val="150000"/>
              </a:lnSpc>
              <a:spcBef>
                <a:spcPts val="400"/>
              </a:spcBef>
              <a:spcAft>
                <a:spcPts val="0"/>
              </a:spcAft>
              <a:buClr>
                <a:srgbClr val="2B2A2A"/>
              </a:buClr>
              <a:buSzPts val="2000"/>
              <a:buFont typeface="Noto Sans Symbols"/>
              <a:buChar char="✔"/>
            </a:pPr>
            <a:r>
              <a:rPr lang="en-US" sz="2000" b="0" i="0" dirty="0">
                <a:solidFill>
                  <a:srgbClr val="2B2A2A"/>
                </a:solidFill>
              </a:rPr>
              <a:t>Software engineering tasks</a:t>
            </a:r>
            <a:endParaRPr dirty="0"/>
          </a:p>
          <a:p>
            <a:pPr marL="1600200" lvl="3" indent="-228600" algn="just" rtl="0">
              <a:lnSpc>
                <a:spcPct val="150000"/>
              </a:lnSpc>
              <a:spcBef>
                <a:spcPts val="400"/>
              </a:spcBef>
              <a:spcAft>
                <a:spcPts val="0"/>
              </a:spcAft>
              <a:buClr>
                <a:srgbClr val="2B2A2A"/>
              </a:buClr>
              <a:buSzPts val="2000"/>
              <a:buFont typeface="Noto Sans Symbols"/>
              <a:buChar char="✔"/>
            </a:pPr>
            <a:r>
              <a:rPr lang="en-US" sz="2000" b="0" i="0" dirty="0">
                <a:solidFill>
                  <a:srgbClr val="2B2A2A"/>
                </a:solidFill>
              </a:rPr>
              <a:t>Work products </a:t>
            </a:r>
            <a:endParaRPr dirty="0"/>
          </a:p>
          <a:p>
            <a:pPr marL="1600200" lvl="3" indent="-228600" algn="just" rtl="0">
              <a:lnSpc>
                <a:spcPct val="150000"/>
              </a:lnSpc>
              <a:spcBef>
                <a:spcPts val="400"/>
              </a:spcBef>
              <a:spcAft>
                <a:spcPts val="0"/>
              </a:spcAft>
              <a:buClr>
                <a:srgbClr val="2B2A2A"/>
              </a:buClr>
              <a:buSzPts val="2000"/>
              <a:buFont typeface="Noto Sans Symbols"/>
              <a:buChar char="✔"/>
            </a:pPr>
            <a:r>
              <a:rPr lang="en-US" sz="2000" b="0" i="0" dirty="0">
                <a:solidFill>
                  <a:srgbClr val="2B2A2A"/>
                </a:solidFill>
              </a:rPr>
              <a:t>Quality assurance points </a:t>
            </a:r>
            <a:endParaRPr dirty="0"/>
          </a:p>
          <a:p>
            <a:pPr marL="1600200" lvl="3" indent="-228600" algn="just" rtl="0">
              <a:lnSpc>
                <a:spcPct val="150000"/>
              </a:lnSpc>
              <a:spcBef>
                <a:spcPts val="400"/>
              </a:spcBef>
              <a:spcAft>
                <a:spcPts val="0"/>
              </a:spcAft>
              <a:buClr>
                <a:srgbClr val="2B2A2A"/>
              </a:buClr>
              <a:buSzPts val="2000"/>
              <a:buFont typeface="Noto Sans Symbols"/>
              <a:buChar char="✔"/>
            </a:pPr>
            <a:r>
              <a:rPr lang="en-US" sz="2000" b="0" i="0" dirty="0">
                <a:solidFill>
                  <a:srgbClr val="2B2A2A"/>
                </a:solidFill>
              </a:rPr>
              <a:t>Milestones</a:t>
            </a:r>
            <a:endParaRPr sz="2800" b="0" i="0" dirty="0">
              <a:solidFill>
                <a:srgbClr val="2B2A2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Fourth P - Project</a:t>
            </a:r>
            <a:endParaRPr/>
          </a:p>
        </p:txBody>
      </p:sp>
      <p:sp>
        <p:nvSpPr>
          <p:cNvPr id="130" name="Google Shape;130;p1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
        <p:nvSpPr>
          <p:cNvPr id="131" name="Google Shape;131;p13"/>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B2A2A"/>
              </a:buClr>
              <a:buSzPts val="2000"/>
              <a:buChar char="•"/>
            </a:pPr>
            <a:r>
              <a:rPr lang="en-US" sz="2000" b="0" i="0" dirty="0">
                <a:solidFill>
                  <a:srgbClr val="2B2A2A"/>
                </a:solidFill>
              </a:rPr>
              <a:t>For a successful project, we must understand what can go wrong </a:t>
            </a:r>
            <a:endParaRPr dirty="0"/>
          </a:p>
          <a:p>
            <a:pPr marL="342900" lvl="0" indent="-342900" algn="just" rtl="0">
              <a:lnSpc>
                <a:spcPct val="150000"/>
              </a:lnSpc>
              <a:spcBef>
                <a:spcPts val="400"/>
              </a:spcBef>
              <a:spcAft>
                <a:spcPts val="0"/>
              </a:spcAft>
              <a:buClr>
                <a:srgbClr val="2B2A2A"/>
              </a:buClr>
              <a:buSzPts val="2000"/>
              <a:buChar char="•"/>
            </a:pPr>
            <a:r>
              <a:rPr lang="en-US" sz="2000" b="0" i="0" dirty="0">
                <a:solidFill>
                  <a:srgbClr val="2B2A2A"/>
                </a:solidFill>
              </a:rPr>
              <a:t>Projects get into trouble when … </a:t>
            </a:r>
            <a:endParaRPr dirty="0"/>
          </a:p>
          <a:p>
            <a:pPr marL="742950" lvl="1" indent="-285750" algn="just" rtl="0">
              <a:spcBef>
                <a:spcPts val="400"/>
              </a:spcBef>
              <a:spcAft>
                <a:spcPts val="0"/>
              </a:spcAft>
              <a:buClr>
                <a:srgbClr val="2B2A2A"/>
              </a:buClr>
              <a:buSzPts val="2000"/>
              <a:buChar char="–"/>
            </a:pPr>
            <a:r>
              <a:rPr lang="en-US" sz="2000" b="0" i="0" dirty="0">
                <a:solidFill>
                  <a:srgbClr val="2B2A2A"/>
                </a:solidFill>
              </a:rPr>
              <a:t>Software people don’t understand their </a:t>
            </a:r>
            <a:r>
              <a:rPr lang="en-US" sz="2000" b="1" i="0" dirty="0">
                <a:solidFill>
                  <a:srgbClr val="2B2A2A"/>
                </a:solidFill>
              </a:rPr>
              <a:t>customer’s needs</a:t>
            </a:r>
            <a:r>
              <a:rPr lang="en-US" sz="2000" b="0" i="0" dirty="0">
                <a:solidFill>
                  <a:srgbClr val="2B2A2A"/>
                </a:solidFill>
              </a:rPr>
              <a:t>.</a:t>
            </a:r>
            <a:endParaRPr dirty="0"/>
          </a:p>
          <a:p>
            <a:pPr marL="742950" lvl="1" indent="-285750" algn="just" rtl="0">
              <a:spcBef>
                <a:spcPts val="400"/>
              </a:spcBef>
              <a:spcAft>
                <a:spcPts val="0"/>
              </a:spcAft>
              <a:buClr>
                <a:srgbClr val="2B2A2A"/>
              </a:buClr>
              <a:buSzPts val="2000"/>
              <a:buChar char="–"/>
            </a:pPr>
            <a:r>
              <a:rPr lang="en-US" sz="2000" b="0" i="0" dirty="0">
                <a:solidFill>
                  <a:srgbClr val="2B2A2A"/>
                </a:solidFill>
              </a:rPr>
              <a:t>The product </a:t>
            </a:r>
            <a:r>
              <a:rPr lang="en-US" sz="2000" b="1" i="0" dirty="0">
                <a:solidFill>
                  <a:srgbClr val="2B2A2A"/>
                </a:solidFill>
              </a:rPr>
              <a:t>scope is poorly defined. </a:t>
            </a:r>
            <a:endParaRPr b="1" dirty="0"/>
          </a:p>
          <a:p>
            <a:pPr marL="742950" lvl="1" indent="-285750" algn="just" rtl="0">
              <a:spcBef>
                <a:spcPts val="400"/>
              </a:spcBef>
              <a:spcAft>
                <a:spcPts val="0"/>
              </a:spcAft>
              <a:buClr>
                <a:srgbClr val="2B2A2A"/>
              </a:buClr>
              <a:buSzPts val="2000"/>
              <a:buChar char="–"/>
            </a:pPr>
            <a:r>
              <a:rPr lang="en-US" sz="2000" b="0" i="0" dirty="0">
                <a:solidFill>
                  <a:srgbClr val="2B2A2A"/>
                </a:solidFill>
              </a:rPr>
              <a:t>Changes are managed poorly. </a:t>
            </a:r>
            <a:endParaRPr dirty="0"/>
          </a:p>
          <a:p>
            <a:pPr marL="742950" lvl="1" indent="-285750" algn="just" rtl="0">
              <a:spcBef>
                <a:spcPts val="400"/>
              </a:spcBef>
              <a:spcAft>
                <a:spcPts val="0"/>
              </a:spcAft>
              <a:buClr>
                <a:srgbClr val="2B2A2A"/>
              </a:buClr>
              <a:buSzPts val="2000"/>
              <a:buChar char="–"/>
            </a:pPr>
            <a:r>
              <a:rPr lang="en-US" sz="2000" b="0" i="0" dirty="0">
                <a:solidFill>
                  <a:srgbClr val="2B2A2A"/>
                </a:solidFill>
              </a:rPr>
              <a:t>The chosen </a:t>
            </a:r>
            <a:r>
              <a:rPr lang="en-US" sz="2000" b="1" i="0" dirty="0">
                <a:solidFill>
                  <a:srgbClr val="2B2A2A"/>
                </a:solidFill>
              </a:rPr>
              <a:t>technology changes</a:t>
            </a:r>
            <a:r>
              <a:rPr lang="en-US" sz="2000" b="0" i="0" dirty="0">
                <a:solidFill>
                  <a:srgbClr val="2B2A2A"/>
                </a:solidFill>
              </a:rPr>
              <a:t>.</a:t>
            </a:r>
            <a:endParaRPr dirty="0"/>
          </a:p>
          <a:p>
            <a:pPr marL="742950" lvl="1" indent="-285750" algn="just" rtl="0">
              <a:spcBef>
                <a:spcPts val="400"/>
              </a:spcBef>
              <a:spcAft>
                <a:spcPts val="0"/>
              </a:spcAft>
              <a:buClr>
                <a:srgbClr val="2B2A2A"/>
              </a:buClr>
              <a:buSzPts val="2000"/>
              <a:buChar char="–"/>
            </a:pPr>
            <a:r>
              <a:rPr lang="en-US" sz="2000" b="0" i="0" dirty="0">
                <a:solidFill>
                  <a:srgbClr val="2B2A2A"/>
                </a:solidFill>
              </a:rPr>
              <a:t>Business </a:t>
            </a:r>
            <a:r>
              <a:rPr lang="en-US" sz="2000" b="1" i="0" dirty="0">
                <a:solidFill>
                  <a:srgbClr val="2B2A2A"/>
                </a:solidFill>
              </a:rPr>
              <a:t>needs change </a:t>
            </a:r>
            <a:r>
              <a:rPr lang="en-US" sz="2000" b="0" i="0" dirty="0">
                <a:solidFill>
                  <a:srgbClr val="2B2A2A"/>
                </a:solidFill>
              </a:rPr>
              <a:t>[or are ill-defined].</a:t>
            </a:r>
            <a:endParaRPr dirty="0"/>
          </a:p>
          <a:p>
            <a:pPr marL="742950" lvl="1" indent="-285750" algn="just" rtl="0">
              <a:spcBef>
                <a:spcPts val="400"/>
              </a:spcBef>
              <a:spcAft>
                <a:spcPts val="0"/>
              </a:spcAft>
              <a:buClr>
                <a:srgbClr val="2B2A2A"/>
              </a:buClr>
              <a:buSzPts val="2000"/>
              <a:buChar char="–"/>
            </a:pPr>
            <a:r>
              <a:rPr lang="en-US" sz="2000" b="1" i="0" dirty="0">
                <a:solidFill>
                  <a:srgbClr val="2B2A2A"/>
                </a:solidFill>
              </a:rPr>
              <a:t>Deadlines are unrealistic </a:t>
            </a:r>
            <a:r>
              <a:rPr lang="en-US" sz="2000" b="0" i="0" dirty="0">
                <a:solidFill>
                  <a:srgbClr val="2B2A2A"/>
                </a:solidFill>
              </a:rPr>
              <a:t>and Users are resistant. </a:t>
            </a:r>
            <a:endParaRPr dirty="0"/>
          </a:p>
          <a:p>
            <a:pPr marL="742950" lvl="1" indent="-285750" algn="just" rtl="0">
              <a:spcBef>
                <a:spcPts val="400"/>
              </a:spcBef>
              <a:spcAft>
                <a:spcPts val="0"/>
              </a:spcAft>
              <a:buClr>
                <a:srgbClr val="2B2A2A"/>
              </a:buClr>
              <a:buSzPts val="2000"/>
              <a:buChar char="–"/>
            </a:pPr>
            <a:r>
              <a:rPr lang="en-US" sz="2000" b="0" i="0" dirty="0">
                <a:solidFill>
                  <a:srgbClr val="2B2A2A"/>
                </a:solidFill>
              </a:rPr>
              <a:t>Sponsorship is lost [or was never properly obtained].</a:t>
            </a:r>
            <a:endParaRPr dirty="0"/>
          </a:p>
          <a:p>
            <a:pPr marL="742950" lvl="1" indent="-285750" algn="just" rtl="0">
              <a:spcBef>
                <a:spcPts val="400"/>
              </a:spcBef>
              <a:spcAft>
                <a:spcPts val="0"/>
              </a:spcAft>
              <a:buClr>
                <a:srgbClr val="2B2A2A"/>
              </a:buClr>
              <a:buSzPts val="2000"/>
              <a:buChar char="–"/>
            </a:pPr>
            <a:r>
              <a:rPr lang="en-US" sz="2000" b="0" i="0" dirty="0">
                <a:solidFill>
                  <a:srgbClr val="2B2A2A"/>
                </a:solidFill>
              </a:rPr>
              <a:t>The project team </a:t>
            </a:r>
            <a:r>
              <a:rPr lang="en-US" sz="2000" b="1" i="0" dirty="0">
                <a:solidFill>
                  <a:srgbClr val="2B2A2A"/>
                </a:solidFill>
              </a:rPr>
              <a:t>lacks people with appropriate skills</a:t>
            </a:r>
            <a:r>
              <a:rPr lang="en-US" sz="2000" b="0" i="0" dirty="0">
                <a:solidFill>
                  <a:srgbClr val="2B2A2A"/>
                </a:solidFill>
              </a:rPr>
              <a:t>. </a:t>
            </a:r>
            <a:endParaRPr dirty="0"/>
          </a:p>
          <a:p>
            <a:pPr marL="742950" lvl="1" indent="-285750" algn="just" rtl="0">
              <a:spcBef>
                <a:spcPts val="400"/>
              </a:spcBef>
              <a:spcAft>
                <a:spcPts val="0"/>
              </a:spcAft>
              <a:buClr>
                <a:srgbClr val="2B2A2A"/>
              </a:buClr>
              <a:buSzPts val="2000"/>
              <a:buChar char="–"/>
            </a:pPr>
            <a:r>
              <a:rPr lang="en-US" sz="2000" b="0" i="0" dirty="0">
                <a:solidFill>
                  <a:srgbClr val="2B2A2A"/>
                </a:solidFill>
              </a:rPr>
              <a:t>Managers [and practitioners] </a:t>
            </a:r>
            <a:r>
              <a:rPr lang="en-US" sz="2000" b="1" i="0" dirty="0">
                <a:solidFill>
                  <a:srgbClr val="2B2A2A"/>
                </a:solidFill>
              </a:rPr>
              <a:t>avoid best practices </a:t>
            </a:r>
            <a:r>
              <a:rPr lang="en-US" sz="2000" b="0" i="0" dirty="0">
                <a:solidFill>
                  <a:srgbClr val="2B2A2A"/>
                </a:solidFill>
              </a:rPr>
              <a:t>and lessons learned.</a:t>
            </a:r>
            <a:endParaRPr dirty="0"/>
          </a:p>
          <a:p>
            <a:pPr marL="342900" lvl="1" indent="-215900" algn="just" rtl="0">
              <a:spcBef>
                <a:spcPts val="400"/>
              </a:spcBef>
              <a:spcAft>
                <a:spcPts val="0"/>
              </a:spcAft>
              <a:buClr>
                <a:schemeClr val="dk1"/>
              </a:buClr>
              <a:buSzPts val="2000"/>
              <a:buFont typeface="Arial"/>
              <a:buNone/>
            </a:pPr>
            <a:endParaRPr sz="2000" dirty="0">
              <a:solidFill>
                <a:srgbClr val="2B2A2A"/>
              </a:solidFill>
            </a:endParaRPr>
          </a:p>
          <a:p>
            <a:pPr marL="342900" lvl="1" indent="-342900" algn="just" rtl="0">
              <a:spcBef>
                <a:spcPts val="400"/>
              </a:spcBef>
              <a:spcAft>
                <a:spcPts val="0"/>
              </a:spcAft>
              <a:buClr>
                <a:srgbClr val="2B2A2A"/>
              </a:buClr>
              <a:buSzPts val="2000"/>
              <a:buFont typeface="Arial"/>
              <a:buChar char="•"/>
            </a:pPr>
            <a:r>
              <a:rPr lang="en-US" sz="2000" dirty="0">
                <a:solidFill>
                  <a:srgbClr val="2B2A2A"/>
                </a:solidFill>
              </a:rPr>
              <a:t>Manager acts to avoid these problems by using </a:t>
            </a:r>
            <a:r>
              <a:rPr lang="en-US" sz="2000" i="1" dirty="0">
                <a:solidFill>
                  <a:srgbClr val="2B2A2A"/>
                </a:solidFill>
              </a:rPr>
              <a:t>five-part commonsense approach</a:t>
            </a:r>
            <a:r>
              <a:rPr lang="en-US" sz="2000" dirty="0">
                <a:solidFill>
                  <a:srgbClr val="2B2A2A"/>
                </a:solidFill>
              </a:rPr>
              <a:t> to software projects</a:t>
            </a:r>
            <a:endParaRPr dirty="0"/>
          </a:p>
          <a:p>
            <a:pPr marL="0" lvl="1" indent="0" algn="just" rtl="0">
              <a:spcBef>
                <a:spcPts val="400"/>
              </a:spcBef>
              <a:spcAft>
                <a:spcPts val="0"/>
              </a:spcAft>
              <a:buClr>
                <a:srgbClr val="2B2A2A"/>
              </a:buClr>
              <a:buSzPts val="2000"/>
              <a:buNone/>
            </a:pPr>
            <a:r>
              <a:rPr lang="en-US" sz="2000" dirty="0">
                <a:solidFill>
                  <a:srgbClr val="2B2A2A"/>
                </a:solidFill>
              </a:rPr>
              <a:t> </a:t>
            </a:r>
            <a:br>
              <a:rPr lang="en-US" sz="2000" dirty="0">
                <a:solidFill>
                  <a:srgbClr val="2B2A2A"/>
                </a:solidFill>
              </a:rPr>
            </a:br>
            <a:endParaRPr sz="2000" dirty="0">
              <a:solidFill>
                <a:srgbClr val="2B2A2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Common Sense Approaches to Projects</a:t>
            </a:r>
            <a:endParaRPr/>
          </a:p>
        </p:txBody>
      </p:sp>
      <p:sp>
        <p:nvSpPr>
          <p:cNvPr id="137" name="Google Shape;137;p1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
        <p:nvSpPr>
          <p:cNvPr id="138" name="Google Shape;138;p14"/>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Font typeface="Calibri"/>
              <a:buAutoNum type="arabicPeriod"/>
            </a:pPr>
            <a:r>
              <a:rPr lang="en-US" sz="2000" b="1" i="1" dirty="0">
                <a:solidFill>
                  <a:srgbClr val="C00000"/>
                </a:solidFill>
              </a:rPr>
              <a:t>Start on the right foot:</a:t>
            </a:r>
            <a:r>
              <a:rPr lang="en-US" sz="2000" b="0" i="0" dirty="0">
                <a:solidFill>
                  <a:srgbClr val="2B2A2A"/>
                </a:solidFill>
              </a:rPr>
              <a:t> This is accomplished by working hard (very hard) </a:t>
            </a:r>
            <a:r>
              <a:rPr lang="en-US" sz="2000" b="1" i="0" dirty="0">
                <a:solidFill>
                  <a:srgbClr val="2B2A2A"/>
                </a:solidFill>
              </a:rPr>
              <a:t>to understand the problem </a:t>
            </a:r>
            <a:r>
              <a:rPr lang="en-US" sz="2000" b="0" i="0" dirty="0">
                <a:solidFill>
                  <a:srgbClr val="2B2A2A"/>
                </a:solidFill>
              </a:rPr>
              <a:t>that is to be solved and then setting realistic objectives and </a:t>
            </a:r>
            <a:r>
              <a:rPr lang="en-US" sz="2000" b="0" i="0" dirty="0" smtClean="0">
                <a:solidFill>
                  <a:srgbClr val="2B2A2A"/>
                </a:solidFill>
              </a:rPr>
              <a:t>expectations.</a:t>
            </a:r>
            <a:endParaRPr lang="en-US" dirty="0"/>
          </a:p>
          <a:p>
            <a:pPr marL="457200" lvl="0" indent="-457200" algn="just" rtl="0">
              <a:lnSpc>
                <a:spcPct val="150000"/>
              </a:lnSpc>
              <a:spcBef>
                <a:spcPts val="0"/>
              </a:spcBef>
              <a:spcAft>
                <a:spcPts val="0"/>
              </a:spcAft>
              <a:buClr>
                <a:srgbClr val="C00000"/>
              </a:buClr>
              <a:buSzPts val="2000"/>
              <a:buFont typeface="Calibri"/>
              <a:buAutoNum type="arabicPeriod"/>
            </a:pPr>
            <a:endParaRPr lang="en-US" sz="2000" b="1" i="1" dirty="0">
              <a:solidFill>
                <a:srgbClr val="C00000"/>
              </a:solidFill>
            </a:endParaRPr>
          </a:p>
          <a:p>
            <a:pPr marL="457200" lvl="0" indent="-457200" algn="just" rtl="0">
              <a:lnSpc>
                <a:spcPct val="150000"/>
              </a:lnSpc>
              <a:spcBef>
                <a:spcPts val="0"/>
              </a:spcBef>
              <a:spcAft>
                <a:spcPts val="0"/>
              </a:spcAft>
              <a:buClr>
                <a:srgbClr val="C00000"/>
              </a:buClr>
              <a:buSzPts val="2000"/>
              <a:buFont typeface="Calibri"/>
              <a:buAutoNum type="arabicPeriod"/>
            </a:pPr>
            <a:r>
              <a:rPr lang="en-US" sz="2000" b="1" i="1" dirty="0" smtClean="0">
                <a:solidFill>
                  <a:srgbClr val="C00000"/>
                </a:solidFill>
              </a:rPr>
              <a:t>Maintain </a:t>
            </a:r>
            <a:r>
              <a:rPr lang="en-US" sz="2000" b="1" i="1" dirty="0">
                <a:solidFill>
                  <a:srgbClr val="C00000"/>
                </a:solidFill>
              </a:rPr>
              <a:t>momentum: </a:t>
            </a:r>
            <a:r>
              <a:rPr lang="en-US" sz="2000" b="0" i="0" dirty="0">
                <a:solidFill>
                  <a:srgbClr val="2B2A2A"/>
                </a:solidFill>
              </a:rPr>
              <a:t>The project </a:t>
            </a:r>
            <a:r>
              <a:rPr lang="en-US" sz="2000" b="1" i="0" dirty="0">
                <a:solidFill>
                  <a:srgbClr val="2B2A2A"/>
                </a:solidFill>
              </a:rPr>
              <a:t>manager must provide incentives to keep turnover of personnel to an absolute minimum</a:t>
            </a:r>
            <a:r>
              <a:rPr lang="en-US" sz="2000" b="0" i="0" dirty="0">
                <a:solidFill>
                  <a:srgbClr val="2B2A2A"/>
                </a:solidFill>
              </a:rPr>
              <a:t>, the team should emphasize quality in every task it performs, and senior management should do everything possible to stay out of the team’s way.</a:t>
            </a:r>
            <a:endParaRPr dirty="0"/>
          </a:p>
          <a:p>
            <a:pPr marL="457200" lvl="0" indent="-393700" algn="just" rtl="0">
              <a:lnSpc>
                <a:spcPct val="150000"/>
              </a:lnSpc>
              <a:spcBef>
                <a:spcPts val="200"/>
              </a:spcBef>
              <a:spcAft>
                <a:spcPts val="0"/>
              </a:spcAft>
              <a:buClr>
                <a:schemeClr val="dk1"/>
              </a:buClr>
              <a:buSzPts val="1000"/>
              <a:buFont typeface="Calibri"/>
              <a:buNone/>
            </a:pPr>
            <a:endParaRPr sz="1000" b="0" i="0" dirty="0">
              <a:solidFill>
                <a:srgbClr val="2B2A2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Common Sense Approaches to Projects</a:t>
            </a:r>
            <a:endParaRPr/>
          </a:p>
        </p:txBody>
      </p:sp>
      <p:sp>
        <p:nvSpPr>
          <p:cNvPr id="144" name="Google Shape;144;p1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
        <p:nvSpPr>
          <p:cNvPr id="145" name="Google Shape;145;p15"/>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Font typeface="Calibri"/>
              <a:buAutoNum type="arabicPeriod" startAt="3"/>
            </a:pPr>
            <a:r>
              <a:rPr lang="en-US" sz="2000" b="1" i="1" dirty="0">
                <a:solidFill>
                  <a:srgbClr val="C00000"/>
                </a:solidFill>
              </a:rPr>
              <a:t>Track progress</a:t>
            </a:r>
            <a:r>
              <a:rPr lang="en-US" sz="2000" dirty="0">
                <a:solidFill>
                  <a:srgbClr val="2B2A2A"/>
                </a:solidFill>
              </a:rPr>
              <a:t>:</a:t>
            </a:r>
            <a:r>
              <a:rPr lang="en-US" sz="2000" b="0" i="0" dirty="0">
                <a:solidFill>
                  <a:srgbClr val="2B2A2A"/>
                </a:solidFill>
              </a:rPr>
              <a:t> For a software project, </a:t>
            </a:r>
            <a:r>
              <a:rPr lang="en-US" sz="2000" b="1" i="0" dirty="0">
                <a:solidFill>
                  <a:srgbClr val="2B2A2A"/>
                </a:solidFill>
              </a:rPr>
              <a:t>progress is tracked as work products (e.g., models, source code, sets of test cases) </a:t>
            </a:r>
            <a:r>
              <a:rPr lang="en-US" sz="2000" b="1" i="0" dirty="0" smtClean="0">
                <a:solidFill>
                  <a:srgbClr val="2B2A2A"/>
                </a:solidFill>
              </a:rPr>
              <a:t>are </a:t>
            </a:r>
            <a:r>
              <a:rPr lang="en-US" sz="2000" b="1" i="0" dirty="0">
                <a:solidFill>
                  <a:srgbClr val="2B2A2A"/>
                </a:solidFill>
              </a:rPr>
              <a:t>produced and approved</a:t>
            </a:r>
            <a:r>
              <a:rPr lang="en-US" sz="2000" b="0" i="0" dirty="0">
                <a:solidFill>
                  <a:srgbClr val="2B2A2A"/>
                </a:solidFill>
              </a:rPr>
              <a:t> (using formal technical reviews) as part of a quality assurance </a:t>
            </a:r>
            <a:r>
              <a:rPr lang="en-US" sz="2000" b="0" i="0" dirty="0" smtClean="0">
                <a:solidFill>
                  <a:srgbClr val="2B2A2A"/>
                </a:solidFill>
              </a:rPr>
              <a:t>activity.</a:t>
            </a:r>
            <a:endParaRPr lang="en-US" sz="2000" dirty="0">
              <a:solidFill>
                <a:srgbClr val="2B2A2A"/>
              </a:solidFill>
            </a:endParaRPr>
          </a:p>
          <a:p>
            <a:pPr marL="457200" lvl="0" indent="-457200" algn="just" rtl="0">
              <a:lnSpc>
                <a:spcPct val="150000"/>
              </a:lnSpc>
              <a:spcBef>
                <a:spcPts val="0"/>
              </a:spcBef>
              <a:spcAft>
                <a:spcPts val="0"/>
              </a:spcAft>
              <a:buClr>
                <a:srgbClr val="C00000"/>
              </a:buClr>
              <a:buSzPts val="2000"/>
              <a:buFont typeface="Calibri"/>
              <a:buAutoNum type="arabicPeriod" startAt="3"/>
            </a:pPr>
            <a:endParaRPr lang="en-US" sz="2000" b="1" i="1" dirty="0">
              <a:solidFill>
                <a:srgbClr val="2B2A2A"/>
              </a:solidFill>
            </a:endParaRPr>
          </a:p>
          <a:p>
            <a:pPr marL="457200" lvl="0" indent="-457200" algn="just" rtl="0">
              <a:lnSpc>
                <a:spcPct val="150000"/>
              </a:lnSpc>
              <a:spcBef>
                <a:spcPts val="0"/>
              </a:spcBef>
              <a:spcAft>
                <a:spcPts val="0"/>
              </a:spcAft>
              <a:buClr>
                <a:srgbClr val="C00000"/>
              </a:buClr>
              <a:buSzPts val="2000"/>
              <a:buFont typeface="Calibri"/>
              <a:buAutoNum type="arabicPeriod" startAt="3"/>
            </a:pPr>
            <a:r>
              <a:rPr lang="en-US" sz="2000" b="1" i="1" dirty="0" smtClean="0">
                <a:solidFill>
                  <a:srgbClr val="C00000"/>
                </a:solidFill>
              </a:rPr>
              <a:t>Make </a:t>
            </a:r>
            <a:r>
              <a:rPr lang="en-US" sz="2000" b="1" i="1" dirty="0">
                <a:solidFill>
                  <a:srgbClr val="C00000"/>
                </a:solidFill>
              </a:rPr>
              <a:t>smart decisions: </a:t>
            </a:r>
            <a:r>
              <a:rPr lang="en-US" sz="2000" b="0" i="0" dirty="0">
                <a:solidFill>
                  <a:srgbClr val="2B2A2A"/>
                </a:solidFill>
              </a:rPr>
              <a:t>In essence, the decisions of the project manager and the software team should be to “</a:t>
            </a:r>
            <a:r>
              <a:rPr lang="en-US" sz="2000" b="1" i="0" dirty="0">
                <a:solidFill>
                  <a:srgbClr val="2B2A2A"/>
                </a:solidFill>
              </a:rPr>
              <a:t>keep it simple</a:t>
            </a:r>
            <a:r>
              <a:rPr lang="en-US" sz="2000" b="0" i="0" dirty="0" smtClean="0">
                <a:solidFill>
                  <a:srgbClr val="2B2A2A"/>
                </a:solidFill>
              </a:rPr>
              <a:t>.”</a:t>
            </a:r>
            <a:endParaRPr lang="en-US" dirty="0"/>
          </a:p>
          <a:p>
            <a:pPr marL="457200" lvl="0" indent="-457200" algn="just" rtl="0">
              <a:lnSpc>
                <a:spcPct val="150000"/>
              </a:lnSpc>
              <a:spcBef>
                <a:spcPts val="0"/>
              </a:spcBef>
              <a:spcAft>
                <a:spcPts val="0"/>
              </a:spcAft>
              <a:buClr>
                <a:srgbClr val="C00000"/>
              </a:buClr>
              <a:buSzPts val="2000"/>
              <a:buFont typeface="Calibri"/>
              <a:buAutoNum type="arabicPeriod" startAt="3"/>
            </a:pPr>
            <a:endParaRPr lang="en-US" sz="2000" b="1" i="1" dirty="0">
              <a:solidFill>
                <a:srgbClr val="C00000"/>
              </a:solidFill>
            </a:endParaRPr>
          </a:p>
          <a:p>
            <a:pPr marL="457200" lvl="0" indent="-457200" algn="just" rtl="0">
              <a:lnSpc>
                <a:spcPct val="150000"/>
              </a:lnSpc>
              <a:spcBef>
                <a:spcPts val="0"/>
              </a:spcBef>
              <a:spcAft>
                <a:spcPts val="0"/>
              </a:spcAft>
              <a:buClr>
                <a:srgbClr val="C00000"/>
              </a:buClr>
              <a:buSzPts val="2000"/>
              <a:buFont typeface="Calibri"/>
              <a:buAutoNum type="arabicPeriod" startAt="3"/>
            </a:pPr>
            <a:r>
              <a:rPr lang="en-US" sz="2000" b="1" i="1" dirty="0" smtClean="0">
                <a:solidFill>
                  <a:srgbClr val="C00000"/>
                </a:solidFill>
              </a:rPr>
              <a:t>Conduct </a:t>
            </a:r>
            <a:r>
              <a:rPr lang="en-US" sz="2000" b="1" i="1" dirty="0">
                <a:solidFill>
                  <a:srgbClr val="C00000"/>
                </a:solidFill>
              </a:rPr>
              <a:t>a postmortem analysis: </a:t>
            </a:r>
            <a:r>
              <a:rPr lang="en-US" sz="2000" b="0" i="0" dirty="0">
                <a:solidFill>
                  <a:srgbClr val="2B2A2A"/>
                </a:solidFill>
              </a:rPr>
              <a:t>Establish a consistent mechanism for </a:t>
            </a:r>
            <a:r>
              <a:rPr lang="en-US" sz="2000" b="1" i="0" dirty="0">
                <a:solidFill>
                  <a:srgbClr val="2B2A2A"/>
                </a:solidFill>
              </a:rPr>
              <a:t>extracting lessons learned for each project</a:t>
            </a:r>
            <a:r>
              <a:rPr lang="en-US" sz="2000" b="0" i="0" dirty="0">
                <a:solidFill>
                  <a:srgbClr val="2B2A2A"/>
                </a:solidFill>
              </a:rPr>
              <a:t>.</a:t>
            </a:r>
            <a:endParaRPr dirty="0"/>
          </a:p>
          <a:p>
            <a:pPr marL="0" lvl="0" indent="0" algn="just" rtl="0">
              <a:lnSpc>
                <a:spcPct val="150000"/>
              </a:lnSpc>
              <a:spcBef>
                <a:spcPts val="400"/>
              </a:spcBef>
              <a:spcAft>
                <a:spcPts val="0"/>
              </a:spcAft>
              <a:buClr>
                <a:srgbClr val="2B2A2A"/>
              </a:buClr>
              <a:buSzPts val="2000"/>
              <a:buNone/>
            </a:pPr>
            <a:r>
              <a:rPr lang="en-US" sz="2000" dirty="0">
                <a:solidFill>
                  <a:srgbClr val="2B2A2A"/>
                </a:solidFill>
              </a:rPr>
              <a:t> </a:t>
            </a:r>
            <a:br>
              <a:rPr lang="en-US" sz="2000" dirty="0">
                <a:solidFill>
                  <a:srgbClr val="2B2A2A"/>
                </a:solidFill>
              </a:rPr>
            </a:br>
            <a:endParaRPr sz="2000" dirty="0">
              <a:solidFill>
                <a:srgbClr val="2B2A2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6"/>
          <p:cNvSpPr txBox="1"/>
          <p:nvPr/>
        </p:nvSpPr>
        <p:spPr>
          <a:xfrm>
            <a:off x="152400" y="914400"/>
            <a:ext cx="8763000" cy="4038600"/>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5400" b="1">
                <a:solidFill>
                  <a:srgbClr val="3A30FA"/>
                </a:solidFill>
                <a:latin typeface="Times New Roman"/>
                <a:ea typeface="Times New Roman"/>
                <a:cs typeface="Times New Roman"/>
                <a:sym typeface="Times New Roman"/>
              </a:rPr>
              <a:t>Metrics in Process and Project Domains</a:t>
            </a:r>
            <a:endParaRPr/>
          </a:p>
        </p:txBody>
      </p:sp>
      <p:sp>
        <p:nvSpPr>
          <p:cNvPr id="152" name="Google Shape;152;p1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Introduction</a:t>
            </a:r>
            <a:endParaRPr/>
          </a:p>
        </p:txBody>
      </p:sp>
      <p:sp>
        <p:nvSpPr>
          <p:cNvPr id="158" name="Google Shape;158;p1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
        <p:nvSpPr>
          <p:cNvPr id="159" name="Google Shape;159;p17"/>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C00000"/>
              </a:buClr>
              <a:buSzPts val="2000"/>
              <a:buChar char="•"/>
            </a:pPr>
            <a:r>
              <a:rPr lang="en-US" sz="2000" b="0" i="1" dirty="0">
                <a:solidFill>
                  <a:srgbClr val="C00000"/>
                </a:solidFill>
              </a:rPr>
              <a:t>Process metrics </a:t>
            </a:r>
            <a:r>
              <a:rPr lang="en-US" sz="2000" b="0" i="0" dirty="0">
                <a:solidFill>
                  <a:srgbClr val="242021"/>
                </a:solidFill>
              </a:rPr>
              <a:t>are collected across all projects and over long periods of time. Their intent is to provide </a:t>
            </a:r>
            <a:r>
              <a:rPr lang="en-US" sz="2000" b="1" i="0" dirty="0">
                <a:solidFill>
                  <a:srgbClr val="242021"/>
                </a:solidFill>
              </a:rPr>
              <a:t>a set of process indicators that lead to long-term software process improvement. </a:t>
            </a:r>
            <a:endParaRPr b="1" dirty="0"/>
          </a:p>
          <a:p>
            <a:pPr marL="342900" lvl="0" indent="-342900" algn="just" rtl="0">
              <a:lnSpc>
                <a:spcPct val="150000"/>
              </a:lnSpc>
              <a:spcBef>
                <a:spcPts val="400"/>
              </a:spcBef>
              <a:spcAft>
                <a:spcPts val="0"/>
              </a:spcAft>
              <a:buClr>
                <a:srgbClr val="C00000"/>
              </a:buClr>
              <a:buSzPts val="2000"/>
              <a:buChar char="•"/>
            </a:pPr>
            <a:r>
              <a:rPr lang="en-US" sz="2000" b="0" i="1" dirty="0">
                <a:solidFill>
                  <a:srgbClr val="C00000"/>
                </a:solidFill>
              </a:rPr>
              <a:t>Project metrics </a:t>
            </a:r>
            <a:r>
              <a:rPr lang="en-US" sz="2000" b="0" i="0" dirty="0">
                <a:solidFill>
                  <a:srgbClr val="242021"/>
                </a:solidFill>
              </a:rPr>
              <a:t>enable a software project manager to:</a:t>
            </a:r>
            <a:endParaRPr dirty="0"/>
          </a:p>
          <a:p>
            <a:pPr marL="457200" lvl="1" indent="0" algn="just" rtl="0">
              <a:lnSpc>
                <a:spcPct val="150000"/>
              </a:lnSpc>
              <a:spcBef>
                <a:spcPts val="400"/>
              </a:spcBef>
              <a:spcAft>
                <a:spcPts val="0"/>
              </a:spcAft>
              <a:buClr>
                <a:srgbClr val="242021"/>
              </a:buClr>
              <a:buSzPts val="2000"/>
              <a:buNone/>
            </a:pPr>
            <a:r>
              <a:rPr lang="en-US" sz="2000" b="0" i="0" dirty="0">
                <a:solidFill>
                  <a:srgbClr val="242021"/>
                </a:solidFill>
              </a:rPr>
              <a:t>(1) assess </a:t>
            </a:r>
            <a:r>
              <a:rPr lang="en-US" sz="2000" b="1" i="0" dirty="0">
                <a:solidFill>
                  <a:srgbClr val="242021"/>
                </a:solidFill>
              </a:rPr>
              <a:t>the status</a:t>
            </a:r>
            <a:r>
              <a:rPr lang="en-US" sz="2000" b="0" i="0" dirty="0">
                <a:solidFill>
                  <a:srgbClr val="242021"/>
                </a:solidFill>
              </a:rPr>
              <a:t> of an ongoing project, </a:t>
            </a:r>
            <a:endParaRPr dirty="0"/>
          </a:p>
          <a:p>
            <a:pPr marL="457200" lvl="1" indent="0" algn="just" rtl="0">
              <a:lnSpc>
                <a:spcPct val="150000"/>
              </a:lnSpc>
              <a:spcBef>
                <a:spcPts val="400"/>
              </a:spcBef>
              <a:spcAft>
                <a:spcPts val="0"/>
              </a:spcAft>
              <a:buClr>
                <a:srgbClr val="242021"/>
              </a:buClr>
              <a:buSzPts val="2000"/>
              <a:buNone/>
            </a:pPr>
            <a:r>
              <a:rPr lang="en-US" sz="2000" b="0" i="0" dirty="0">
                <a:solidFill>
                  <a:srgbClr val="242021"/>
                </a:solidFill>
              </a:rPr>
              <a:t>(2) track </a:t>
            </a:r>
            <a:r>
              <a:rPr lang="en-US" sz="2000" b="1" i="0" dirty="0">
                <a:solidFill>
                  <a:srgbClr val="242021"/>
                </a:solidFill>
              </a:rPr>
              <a:t>potential risks</a:t>
            </a:r>
            <a:r>
              <a:rPr lang="en-US" sz="2000" b="0" i="0" dirty="0">
                <a:solidFill>
                  <a:srgbClr val="242021"/>
                </a:solidFill>
              </a:rPr>
              <a:t>, </a:t>
            </a:r>
            <a:endParaRPr dirty="0"/>
          </a:p>
          <a:p>
            <a:pPr marL="457200" lvl="1" indent="0" algn="just" rtl="0">
              <a:lnSpc>
                <a:spcPct val="150000"/>
              </a:lnSpc>
              <a:spcBef>
                <a:spcPts val="400"/>
              </a:spcBef>
              <a:spcAft>
                <a:spcPts val="0"/>
              </a:spcAft>
              <a:buClr>
                <a:srgbClr val="242021"/>
              </a:buClr>
              <a:buSzPts val="2000"/>
              <a:buNone/>
            </a:pPr>
            <a:r>
              <a:rPr lang="en-US" sz="2000" b="0" i="0" dirty="0">
                <a:solidFill>
                  <a:srgbClr val="242021"/>
                </a:solidFill>
              </a:rPr>
              <a:t>(3) </a:t>
            </a:r>
            <a:r>
              <a:rPr lang="en-US" sz="2000" b="1" i="0" dirty="0">
                <a:solidFill>
                  <a:srgbClr val="242021"/>
                </a:solidFill>
              </a:rPr>
              <a:t>uncover problem areas </a:t>
            </a:r>
            <a:r>
              <a:rPr lang="en-US" sz="2000" b="0" i="0" dirty="0">
                <a:solidFill>
                  <a:srgbClr val="242021"/>
                </a:solidFill>
              </a:rPr>
              <a:t>before they go “critical,” </a:t>
            </a:r>
            <a:endParaRPr dirty="0"/>
          </a:p>
          <a:p>
            <a:pPr marL="457200" lvl="1" indent="0" algn="just" rtl="0">
              <a:lnSpc>
                <a:spcPct val="150000"/>
              </a:lnSpc>
              <a:spcBef>
                <a:spcPts val="400"/>
              </a:spcBef>
              <a:spcAft>
                <a:spcPts val="0"/>
              </a:spcAft>
              <a:buClr>
                <a:srgbClr val="242021"/>
              </a:buClr>
              <a:buSzPts val="2000"/>
              <a:buNone/>
            </a:pPr>
            <a:r>
              <a:rPr lang="en-US" sz="2000" b="0" i="0" dirty="0">
                <a:solidFill>
                  <a:srgbClr val="242021"/>
                </a:solidFill>
              </a:rPr>
              <a:t>(4) </a:t>
            </a:r>
            <a:r>
              <a:rPr lang="en-US" sz="2000" b="1" i="0" dirty="0">
                <a:solidFill>
                  <a:srgbClr val="242021"/>
                </a:solidFill>
              </a:rPr>
              <a:t>adjust work flow </a:t>
            </a:r>
            <a:r>
              <a:rPr lang="en-US" sz="2000" b="0" i="0" dirty="0">
                <a:solidFill>
                  <a:srgbClr val="242021"/>
                </a:solidFill>
              </a:rPr>
              <a:t>or tasks, and </a:t>
            </a:r>
            <a:endParaRPr dirty="0"/>
          </a:p>
          <a:p>
            <a:pPr marL="457200" lvl="1" indent="0" algn="just" rtl="0">
              <a:lnSpc>
                <a:spcPct val="150000"/>
              </a:lnSpc>
              <a:spcBef>
                <a:spcPts val="400"/>
              </a:spcBef>
              <a:spcAft>
                <a:spcPts val="0"/>
              </a:spcAft>
              <a:buClr>
                <a:srgbClr val="242021"/>
              </a:buClr>
              <a:buSzPts val="2000"/>
              <a:buNone/>
            </a:pPr>
            <a:r>
              <a:rPr lang="en-US" sz="2000" b="0" i="0" dirty="0">
                <a:solidFill>
                  <a:srgbClr val="242021"/>
                </a:solidFill>
              </a:rPr>
              <a:t>(5) </a:t>
            </a:r>
            <a:r>
              <a:rPr lang="en-US" sz="2000" b="1" i="0" dirty="0">
                <a:solidFill>
                  <a:srgbClr val="242021"/>
                </a:solidFill>
              </a:rPr>
              <a:t>evaluate the project team’s ability </a:t>
            </a:r>
            <a:r>
              <a:rPr lang="en-US" sz="2000" b="0" i="0" dirty="0">
                <a:solidFill>
                  <a:srgbClr val="242021"/>
                </a:solidFill>
              </a:rPr>
              <a:t>to control quality of software work products.</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solidFill>
                <a:srgbClr val="30303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63"/>
        <p:cNvGrpSpPr/>
        <p:nvPr/>
      </p:nvGrpSpPr>
      <p:grpSpPr>
        <a:xfrm>
          <a:off x="0" y="0"/>
          <a:ext cx="0" cy="0"/>
          <a:chOff x="0" y="0"/>
          <a:chExt cx="0" cy="0"/>
        </a:xfrm>
      </p:grpSpPr>
      <p:sp>
        <p:nvSpPr>
          <p:cNvPr id="164" name="Google Shape;164;p1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Process Metrics and Software Process Improvement</a:t>
            </a:r>
            <a:endParaRPr/>
          </a:p>
        </p:txBody>
      </p:sp>
      <p:sp>
        <p:nvSpPr>
          <p:cNvPr id="165" name="Google Shape;165;p1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
        <p:nvSpPr>
          <p:cNvPr id="166" name="Google Shape;166;p18"/>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42021"/>
              </a:buClr>
              <a:buSzPts val="2000"/>
              <a:buChar char="•"/>
            </a:pPr>
            <a:r>
              <a:rPr lang="en-US" sz="2000" b="0" i="0">
                <a:solidFill>
                  <a:srgbClr val="242021"/>
                </a:solidFill>
              </a:rPr>
              <a:t>The only rational way to improve any process is to </a:t>
            </a:r>
            <a:endParaRPr/>
          </a:p>
          <a:p>
            <a:pPr marL="742950" lvl="1" indent="-285750" algn="just" rtl="0">
              <a:lnSpc>
                <a:spcPct val="150000"/>
              </a:lnSpc>
              <a:spcBef>
                <a:spcPts val="400"/>
              </a:spcBef>
              <a:spcAft>
                <a:spcPts val="0"/>
              </a:spcAft>
              <a:buClr>
                <a:srgbClr val="242021"/>
              </a:buClr>
              <a:buSzPts val="2000"/>
              <a:buChar char="–"/>
            </a:pPr>
            <a:r>
              <a:rPr lang="en-US" sz="2000" b="0" i="0">
                <a:solidFill>
                  <a:srgbClr val="242021"/>
                </a:solidFill>
              </a:rPr>
              <a:t>measure</a:t>
            </a:r>
            <a:r>
              <a:rPr lang="en-US" sz="2000">
                <a:solidFill>
                  <a:srgbClr val="242021"/>
                </a:solidFill>
              </a:rPr>
              <a:t> </a:t>
            </a:r>
            <a:r>
              <a:rPr lang="en-US" sz="2000" b="0" i="0">
                <a:solidFill>
                  <a:srgbClr val="242021"/>
                </a:solidFill>
              </a:rPr>
              <a:t>specific attributes of the process, </a:t>
            </a:r>
            <a:endParaRPr/>
          </a:p>
          <a:p>
            <a:pPr marL="742950" lvl="1" indent="-285750" algn="just" rtl="0">
              <a:lnSpc>
                <a:spcPct val="150000"/>
              </a:lnSpc>
              <a:spcBef>
                <a:spcPts val="400"/>
              </a:spcBef>
              <a:spcAft>
                <a:spcPts val="0"/>
              </a:spcAft>
              <a:buClr>
                <a:srgbClr val="242021"/>
              </a:buClr>
              <a:buSzPts val="2000"/>
              <a:buChar char="–"/>
            </a:pPr>
            <a:r>
              <a:rPr lang="en-US" sz="2000" b="0" i="0">
                <a:solidFill>
                  <a:srgbClr val="242021"/>
                </a:solidFill>
              </a:rPr>
              <a:t>develop a set of meaningful metrics based on these attributes, and </a:t>
            </a:r>
            <a:endParaRPr/>
          </a:p>
          <a:p>
            <a:pPr marL="742950" lvl="1" indent="-285750" algn="just" rtl="0">
              <a:lnSpc>
                <a:spcPct val="150000"/>
              </a:lnSpc>
              <a:spcBef>
                <a:spcPts val="400"/>
              </a:spcBef>
              <a:spcAft>
                <a:spcPts val="0"/>
              </a:spcAft>
              <a:buClr>
                <a:srgbClr val="242021"/>
              </a:buClr>
              <a:buSzPts val="2000"/>
              <a:buChar char="–"/>
            </a:pPr>
            <a:r>
              <a:rPr lang="en-US" sz="2000" b="0" i="0">
                <a:solidFill>
                  <a:srgbClr val="242021"/>
                </a:solidFill>
              </a:rPr>
              <a:t>then use the metrics to provide indicators that will lead to a strategy for improvement.</a:t>
            </a:r>
            <a:endParaRPr/>
          </a:p>
          <a:p>
            <a:pPr marL="342900" lvl="0" indent="-342900" algn="just" rtl="0">
              <a:lnSpc>
                <a:spcPct val="150000"/>
              </a:lnSpc>
              <a:spcBef>
                <a:spcPts val="400"/>
              </a:spcBef>
              <a:spcAft>
                <a:spcPts val="0"/>
              </a:spcAft>
              <a:buClr>
                <a:srgbClr val="242021"/>
              </a:buClr>
              <a:buSzPts val="2000"/>
              <a:buChar char="•"/>
            </a:pPr>
            <a:r>
              <a:rPr lang="en-US" sz="2000">
                <a:solidFill>
                  <a:srgbClr val="242021"/>
                </a:solidFill>
              </a:rPr>
              <a:t>Process is only one of a number of “controllable factors” in improving software quality and organizational performance.</a:t>
            </a:r>
            <a:endParaRPr/>
          </a:p>
          <a:p>
            <a:pPr marL="0" lvl="0" indent="0" algn="just" rtl="0">
              <a:lnSpc>
                <a:spcPct val="150000"/>
              </a:lnSpc>
              <a:spcBef>
                <a:spcPts val="400"/>
              </a:spcBef>
              <a:spcAft>
                <a:spcPts val="0"/>
              </a:spcAft>
              <a:buClr>
                <a:srgbClr val="242021"/>
              </a:buClr>
              <a:buSzPts val="2000"/>
              <a:buNone/>
            </a:pPr>
            <a:r>
              <a:rPr lang="en-US" sz="2000">
                <a:solidFill>
                  <a:srgbClr val="242021"/>
                </a:solidFill>
              </a:rPr>
              <a:t> </a:t>
            </a:r>
            <a:r>
              <a:rPr lang="en-US" sz="1600"/>
              <a:t/>
            </a:r>
            <a:br>
              <a:rPr lang="en-US" sz="1600"/>
            </a:br>
            <a:endParaRPr sz="2000" b="0" i="0">
              <a:solidFill>
                <a:srgbClr val="242021"/>
              </a:solidFill>
            </a:endParaRPr>
          </a:p>
          <a:p>
            <a:pPr marL="0" lvl="0" indent="0" algn="just" rtl="0">
              <a:lnSpc>
                <a:spcPct val="150000"/>
              </a:lnSpc>
              <a:spcBef>
                <a:spcPts val="400"/>
              </a:spcBef>
              <a:spcAft>
                <a:spcPts val="0"/>
              </a:spcAft>
              <a:buClr>
                <a:schemeClr val="dk1"/>
              </a:buClr>
              <a:buSzPts val="2000"/>
              <a:buNone/>
            </a:pPr>
            <a:r>
              <a:rPr lang="en-US" sz="2000"/>
              <a:t> </a:t>
            </a:r>
            <a:br>
              <a:rPr lang="en-US" sz="2000"/>
            </a:br>
            <a:endParaRPr sz="2000">
              <a:solidFill>
                <a:srgbClr val="30303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Process Metrics and Software Process Improvement (contd.)</a:t>
            </a:r>
            <a:endParaRPr/>
          </a:p>
        </p:txBody>
      </p:sp>
      <p:sp>
        <p:nvSpPr>
          <p:cNvPr id="172" name="Google Shape;172;p1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
        <p:nvSpPr>
          <p:cNvPr id="173" name="Google Shape;173;p19"/>
          <p:cNvSpPr txBox="1">
            <a:spLocks noGrp="1"/>
          </p:cNvSpPr>
          <p:nvPr>
            <p:ph type="body" idx="1"/>
          </p:nvPr>
        </p:nvSpPr>
        <p:spPr>
          <a:xfrm>
            <a:off x="457200" y="1371600"/>
            <a:ext cx="8229600" cy="4278758"/>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chemeClr val="dk1"/>
              </a:buClr>
              <a:buSzPts val="2000"/>
              <a:buNone/>
            </a:pPr>
            <a:endParaRPr sz="2000" dirty="0">
              <a:solidFill>
                <a:srgbClr val="242021"/>
              </a:solidFill>
            </a:endParaRPr>
          </a:p>
          <a:p>
            <a:pPr marL="0" lvl="0" indent="0" algn="just" rtl="0">
              <a:lnSpc>
                <a:spcPct val="150000"/>
              </a:lnSpc>
              <a:spcBef>
                <a:spcPts val="400"/>
              </a:spcBef>
              <a:spcAft>
                <a:spcPts val="0"/>
              </a:spcAft>
              <a:buClr>
                <a:srgbClr val="242021"/>
              </a:buClr>
              <a:buSzPts val="2000"/>
              <a:buNone/>
            </a:pPr>
            <a:r>
              <a:rPr lang="en-US" sz="2000" dirty="0">
                <a:solidFill>
                  <a:srgbClr val="242021"/>
                </a:solidFill>
              </a:rPr>
              <a:t>  </a:t>
            </a:r>
            <a:r>
              <a:rPr lang="en-US" sz="2000" dirty="0" smtClean="0">
                <a:solidFill>
                  <a:srgbClr val="242021"/>
                </a:solidFill>
              </a:rPr>
              <a:t>Figure1</a:t>
            </a:r>
            <a:r>
              <a:rPr lang="en-US" sz="2000" dirty="0">
                <a:solidFill>
                  <a:srgbClr val="242021"/>
                </a:solidFill>
              </a:rPr>
              <a:t>: </a:t>
            </a:r>
            <a:r>
              <a:rPr lang="en-US" sz="2000" b="0" i="0" dirty="0">
                <a:solidFill>
                  <a:srgbClr val="242021"/>
                </a:solidFill>
              </a:rPr>
              <a:t>Determinants for software quality and organizational effectiveness.</a:t>
            </a:r>
            <a:endParaRPr dirty="0"/>
          </a:p>
          <a:p>
            <a:pPr marL="0" lvl="0" indent="0" algn="just" rtl="0">
              <a:lnSpc>
                <a:spcPct val="150000"/>
              </a:lnSpc>
              <a:spcBef>
                <a:spcPts val="400"/>
              </a:spcBef>
              <a:spcAft>
                <a:spcPts val="0"/>
              </a:spcAft>
              <a:buClr>
                <a:schemeClr val="dk1"/>
              </a:buClr>
              <a:buSzPts val="2000"/>
              <a:buNone/>
            </a:pPr>
            <a:r>
              <a:rPr lang="en-US" sz="2000" dirty="0"/>
              <a:t> </a:t>
            </a:r>
            <a:br>
              <a:rPr lang="en-US" sz="2000" dirty="0"/>
            </a:br>
            <a:r>
              <a:rPr lang="en-US" sz="2000" dirty="0">
                <a:solidFill>
                  <a:srgbClr val="242021"/>
                </a:solidFill>
              </a:rPr>
              <a:t> </a:t>
            </a:r>
            <a:r>
              <a:rPr lang="en-US" sz="2000" dirty="0"/>
              <a:t/>
            </a:r>
            <a:br>
              <a:rPr lang="en-US" sz="2000" dirty="0"/>
            </a:br>
            <a:endParaRPr sz="2000" b="0" i="0" dirty="0">
              <a:solidFill>
                <a:srgbClr val="242021"/>
              </a:solidFill>
            </a:endParaRPr>
          </a:p>
          <a:p>
            <a:pPr marL="0" lvl="0" indent="0" algn="just" rtl="0">
              <a:lnSpc>
                <a:spcPct val="150000"/>
              </a:lnSpc>
              <a:spcBef>
                <a:spcPts val="400"/>
              </a:spcBef>
              <a:spcAft>
                <a:spcPts val="0"/>
              </a:spcAft>
              <a:buClr>
                <a:schemeClr val="dk1"/>
              </a:buClr>
              <a:buSzPts val="2000"/>
              <a:buNone/>
            </a:pPr>
            <a:r>
              <a:rPr lang="en-US" sz="2000" dirty="0"/>
              <a:t> </a:t>
            </a:r>
            <a:br>
              <a:rPr lang="en-US" sz="2000" dirty="0"/>
            </a:br>
            <a:endParaRPr sz="2000" dirty="0">
              <a:solidFill>
                <a:srgbClr val="303030"/>
              </a:solidFill>
            </a:endParaRPr>
          </a:p>
        </p:txBody>
      </p:sp>
      <p:pic>
        <p:nvPicPr>
          <p:cNvPr id="174" name="Google Shape;174;p19"/>
          <p:cNvPicPr preferRelativeResize="0"/>
          <p:nvPr/>
        </p:nvPicPr>
        <p:blipFill rotWithShape="1">
          <a:blip r:embed="rId3">
            <a:alphaModFix/>
          </a:blip>
          <a:srcRect/>
          <a:stretch/>
        </p:blipFill>
        <p:spPr>
          <a:xfrm>
            <a:off x="1616424" y="990600"/>
            <a:ext cx="5911151" cy="450735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Process Metrics and Software Process Improvement (contd.)</a:t>
            </a:r>
            <a:endParaRPr/>
          </a:p>
        </p:txBody>
      </p:sp>
      <p:sp>
        <p:nvSpPr>
          <p:cNvPr id="180" name="Google Shape;180;p2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
        <p:nvSpPr>
          <p:cNvPr id="181" name="Google Shape;181;p20"/>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42021"/>
              </a:buClr>
              <a:buSzPts val="2000"/>
              <a:buChar char="•"/>
            </a:pPr>
            <a:r>
              <a:rPr lang="en-US" sz="2000">
                <a:solidFill>
                  <a:srgbClr val="242021"/>
                </a:solidFill>
              </a:rPr>
              <a:t>P</a:t>
            </a:r>
            <a:r>
              <a:rPr lang="en-US" sz="2000" b="0" i="0">
                <a:solidFill>
                  <a:srgbClr val="242021"/>
                </a:solidFill>
              </a:rPr>
              <a:t>rocess sits at the center of a triangle connecting three factors that have a profound influence </a:t>
            </a:r>
            <a:r>
              <a:rPr lang="en-US" sz="2000">
                <a:solidFill>
                  <a:srgbClr val="242021"/>
                </a:solidFill>
              </a:rPr>
              <a:t>on organizational</a:t>
            </a:r>
            <a:r>
              <a:rPr lang="en-US" sz="2000"/>
              <a:t> </a:t>
            </a:r>
            <a:r>
              <a:rPr lang="en-US" sz="2000">
                <a:solidFill>
                  <a:srgbClr val="242021"/>
                </a:solidFill>
              </a:rPr>
              <a:t>performance and </a:t>
            </a:r>
            <a:r>
              <a:rPr lang="en-US" sz="2000" b="0" i="0">
                <a:solidFill>
                  <a:srgbClr val="242021"/>
                </a:solidFill>
              </a:rPr>
              <a:t>software quality.</a:t>
            </a:r>
            <a:r>
              <a:rPr lang="en-US" sz="2000"/>
              <a:t> </a:t>
            </a:r>
            <a:endParaRPr/>
          </a:p>
          <a:p>
            <a:pPr marL="342900" lvl="0" indent="-342900" algn="just" rtl="0">
              <a:lnSpc>
                <a:spcPct val="150000"/>
              </a:lnSpc>
              <a:spcBef>
                <a:spcPts val="400"/>
              </a:spcBef>
              <a:spcAft>
                <a:spcPts val="0"/>
              </a:spcAft>
              <a:buClr>
                <a:srgbClr val="242021"/>
              </a:buClr>
              <a:buSzPts val="2000"/>
              <a:buChar char="•"/>
            </a:pPr>
            <a:r>
              <a:rPr lang="en-US" sz="2000" b="0" i="0">
                <a:solidFill>
                  <a:srgbClr val="242021"/>
                </a:solidFill>
              </a:rPr>
              <a:t>In addition, the process triangle exists within a circle of environmental conditions that include the: </a:t>
            </a:r>
            <a:endParaRPr/>
          </a:p>
          <a:p>
            <a:pPr marL="742950" lvl="1" indent="-285750" algn="just" rtl="0">
              <a:lnSpc>
                <a:spcPct val="150000"/>
              </a:lnSpc>
              <a:spcBef>
                <a:spcPts val="400"/>
              </a:spcBef>
              <a:spcAft>
                <a:spcPts val="0"/>
              </a:spcAft>
              <a:buClr>
                <a:srgbClr val="242021"/>
              </a:buClr>
              <a:buSzPts val="2000"/>
              <a:buChar char="–"/>
            </a:pPr>
            <a:r>
              <a:rPr lang="en-US" sz="2000" b="0" i="0">
                <a:solidFill>
                  <a:srgbClr val="242021"/>
                </a:solidFill>
              </a:rPr>
              <a:t>development environment (e.g., integrated software tools), </a:t>
            </a:r>
            <a:endParaRPr/>
          </a:p>
          <a:p>
            <a:pPr marL="742950" lvl="1" indent="-285750" algn="just" rtl="0">
              <a:lnSpc>
                <a:spcPct val="150000"/>
              </a:lnSpc>
              <a:spcBef>
                <a:spcPts val="400"/>
              </a:spcBef>
              <a:spcAft>
                <a:spcPts val="0"/>
              </a:spcAft>
              <a:buClr>
                <a:srgbClr val="242021"/>
              </a:buClr>
              <a:buSzPts val="2000"/>
              <a:buChar char="–"/>
            </a:pPr>
            <a:r>
              <a:rPr lang="en-US" sz="2000" b="0" i="0">
                <a:solidFill>
                  <a:srgbClr val="242021"/>
                </a:solidFill>
              </a:rPr>
              <a:t>business conditions (e.g., deadlines, business rules), and </a:t>
            </a:r>
            <a:endParaRPr/>
          </a:p>
          <a:p>
            <a:pPr marL="742950" lvl="1" indent="-285750" algn="just" rtl="0">
              <a:lnSpc>
                <a:spcPct val="150000"/>
              </a:lnSpc>
              <a:spcBef>
                <a:spcPts val="400"/>
              </a:spcBef>
              <a:spcAft>
                <a:spcPts val="0"/>
              </a:spcAft>
              <a:buClr>
                <a:srgbClr val="242021"/>
              </a:buClr>
              <a:buSzPts val="2000"/>
              <a:buChar char="–"/>
            </a:pPr>
            <a:r>
              <a:rPr lang="en-US" sz="2000" b="0" i="0">
                <a:solidFill>
                  <a:srgbClr val="242021"/>
                </a:solidFill>
              </a:rPr>
              <a:t>customer characteristics (e.g., ease of communication and collaboration)</a:t>
            </a:r>
            <a:r>
              <a:rPr lang="en-US" sz="2000"/>
              <a:t> </a:t>
            </a:r>
            <a:br>
              <a:rPr lang="en-US" sz="2000"/>
            </a:br>
            <a:r>
              <a:rPr lang="en-US" sz="2000"/>
              <a:t> </a:t>
            </a:r>
            <a:br>
              <a:rPr lang="en-US" sz="2000"/>
            </a:br>
            <a:r>
              <a:rPr lang="en-US" sz="2000">
                <a:solidFill>
                  <a:srgbClr val="242021"/>
                </a:solidFill>
              </a:rPr>
              <a:t> </a:t>
            </a:r>
            <a:r>
              <a:rPr lang="en-US" sz="2000"/>
              <a:t/>
            </a:r>
            <a:br>
              <a:rPr lang="en-US" sz="2000"/>
            </a:br>
            <a:endParaRPr sz="2000" b="0" i="0">
              <a:solidFill>
                <a:srgbClr val="242021"/>
              </a:solidFill>
            </a:endParaRPr>
          </a:p>
          <a:p>
            <a:pPr marL="0" lvl="0" indent="0" algn="just" rtl="0">
              <a:lnSpc>
                <a:spcPct val="150000"/>
              </a:lnSpc>
              <a:spcBef>
                <a:spcPts val="400"/>
              </a:spcBef>
              <a:spcAft>
                <a:spcPts val="0"/>
              </a:spcAft>
              <a:buClr>
                <a:schemeClr val="dk1"/>
              </a:buClr>
              <a:buSzPts val="2000"/>
              <a:buNone/>
            </a:pPr>
            <a:r>
              <a:rPr lang="en-US" sz="2000"/>
              <a:t> </a:t>
            </a:r>
            <a:br>
              <a:rPr lang="en-US" sz="2000"/>
            </a:br>
            <a:endParaRPr sz="2000">
              <a:solidFill>
                <a:srgbClr val="30303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Process Metrics and Software Process Improvement (contd.)</a:t>
            </a:r>
            <a:endParaRPr/>
          </a:p>
        </p:txBody>
      </p:sp>
      <p:sp>
        <p:nvSpPr>
          <p:cNvPr id="187" name="Google Shape;187;p2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
        <p:nvSpPr>
          <p:cNvPr id="188" name="Google Shape;188;p21"/>
          <p:cNvSpPr txBox="1">
            <a:spLocks noGrp="1"/>
          </p:cNvSpPr>
          <p:nvPr>
            <p:ph type="body" idx="1"/>
          </p:nvPr>
        </p:nvSpPr>
        <p:spPr>
          <a:xfrm>
            <a:off x="457200" y="1100137"/>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2000" dirty="0"/>
              <a:t>Process metrics can be either </a:t>
            </a:r>
            <a:r>
              <a:rPr lang="en-US" sz="2000" b="1" i="1" dirty="0">
                <a:solidFill>
                  <a:srgbClr val="C00000"/>
                </a:solidFill>
              </a:rPr>
              <a:t>Public</a:t>
            </a:r>
            <a:r>
              <a:rPr lang="en-US" sz="2000" dirty="0"/>
              <a:t> or </a:t>
            </a:r>
            <a:r>
              <a:rPr lang="en-US" sz="2000" b="1" i="1" dirty="0">
                <a:solidFill>
                  <a:srgbClr val="C00000"/>
                </a:solidFill>
              </a:rPr>
              <a:t>Private</a:t>
            </a:r>
            <a:r>
              <a:rPr lang="en-US" sz="2000" dirty="0"/>
              <a:t>.</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Examples of </a:t>
            </a:r>
            <a:r>
              <a:rPr lang="en-US" sz="2000" b="1" i="1" dirty="0">
                <a:solidFill>
                  <a:srgbClr val="C00000"/>
                </a:solidFill>
              </a:rPr>
              <a:t>private metrics </a:t>
            </a:r>
            <a:r>
              <a:rPr lang="en-US" sz="2000" b="0" i="0" dirty="0">
                <a:solidFill>
                  <a:srgbClr val="242021"/>
                </a:solidFill>
              </a:rPr>
              <a:t>include </a:t>
            </a:r>
            <a:endParaRPr dirty="0"/>
          </a:p>
          <a:p>
            <a:pPr marL="742950" lvl="1" indent="-285750" algn="just" rtl="0">
              <a:lnSpc>
                <a:spcPct val="150000"/>
              </a:lnSpc>
              <a:spcBef>
                <a:spcPts val="400"/>
              </a:spcBef>
              <a:spcAft>
                <a:spcPts val="0"/>
              </a:spcAft>
              <a:buClr>
                <a:srgbClr val="242021"/>
              </a:buClr>
              <a:buSzPts val="2000"/>
              <a:buChar char="–"/>
            </a:pPr>
            <a:r>
              <a:rPr lang="en-US" sz="2000" b="0" i="0" dirty="0">
                <a:solidFill>
                  <a:srgbClr val="242021"/>
                </a:solidFill>
              </a:rPr>
              <a:t>defect rates (by individual), </a:t>
            </a:r>
            <a:endParaRPr dirty="0"/>
          </a:p>
          <a:p>
            <a:pPr marL="742950" lvl="1" indent="-285750" algn="just" rtl="0">
              <a:lnSpc>
                <a:spcPct val="150000"/>
              </a:lnSpc>
              <a:spcBef>
                <a:spcPts val="400"/>
              </a:spcBef>
              <a:spcAft>
                <a:spcPts val="0"/>
              </a:spcAft>
              <a:buClr>
                <a:srgbClr val="242021"/>
              </a:buClr>
              <a:buSzPts val="2000"/>
              <a:buChar char="–"/>
            </a:pPr>
            <a:r>
              <a:rPr lang="en-US" sz="2000" b="0" i="0" dirty="0">
                <a:solidFill>
                  <a:srgbClr val="242021"/>
                </a:solidFill>
              </a:rPr>
              <a:t>defect rates (by component), and </a:t>
            </a:r>
            <a:endParaRPr dirty="0"/>
          </a:p>
          <a:p>
            <a:pPr marL="742950" lvl="1" indent="-285750" algn="just" rtl="0">
              <a:lnSpc>
                <a:spcPct val="150000"/>
              </a:lnSpc>
              <a:spcBef>
                <a:spcPts val="400"/>
              </a:spcBef>
              <a:spcAft>
                <a:spcPts val="0"/>
              </a:spcAft>
              <a:buClr>
                <a:srgbClr val="242021"/>
              </a:buClr>
              <a:buSzPts val="2000"/>
              <a:buChar char="–"/>
            </a:pPr>
            <a:r>
              <a:rPr lang="en-US" sz="2000" b="0" i="0" dirty="0">
                <a:solidFill>
                  <a:srgbClr val="242021"/>
                </a:solidFill>
              </a:rPr>
              <a:t>errors found during development</a:t>
            </a:r>
            <a:r>
              <a:rPr lang="en-US" sz="2000" dirty="0"/>
              <a:t> </a:t>
            </a:r>
            <a:endParaRPr dirty="0"/>
          </a:p>
          <a:p>
            <a:pPr marL="342900" lvl="0" indent="-342900" algn="just" rtl="0">
              <a:lnSpc>
                <a:spcPct val="150000"/>
              </a:lnSpc>
              <a:spcBef>
                <a:spcPts val="400"/>
              </a:spcBef>
              <a:spcAft>
                <a:spcPts val="0"/>
              </a:spcAft>
              <a:buClr>
                <a:srgbClr val="C00000"/>
              </a:buClr>
              <a:buSzPts val="2000"/>
              <a:buChar char="•"/>
            </a:pPr>
            <a:r>
              <a:rPr lang="en-US" sz="2000" b="1" i="1" dirty="0">
                <a:solidFill>
                  <a:srgbClr val="C00000"/>
                </a:solidFill>
              </a:rPr>
              <a:t>Public metrics</a:t>
            </a:r>
            <a:r>
              <a:rPr lang="en-US" sz="2000" b="0" i="0" dirty="0">
                <a:solidFill>
                  <a:srgbClr val="242021"/>
                </a:solidFill>
              </a:rPr>
              <a:t> generally assimilate information that originally was private to individuals and teams.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Project-level defect rates (absolutely not attributed to an individual), </a:t>
            </a:r>
            <a:r>
              <a:rPr lang="en-US" sz="2000" b="1" i="0" dirty="0">
                <a:solidFill>
                  <a:srgbClr val="242021"/>
                </a:solidFill>
              </a:rPr>
              <a:t>effort, calendar times, and related data are collected and evaluated </a:t>
            </a:r>
            <a:r>
              <a:rPr lang="en-US" sz="2000" i="0" dirty="0">
                <a:solidFill>
                  <a:srgbClr val="242021"/>
                </a:solidFill>
              </a:rPr>
              <a:t>i</a:t>
            </a:r>
            <a:r>
              <a:rPr lang="en-US" sz="2000" b="0" i="0" dirty="0">
                <a:solidFill>
                  <a:srgbClr val="242021"/>
                </a:solidFill>
              </a:rPr>
              <a:t>n an attempt to uncover indicators that can improve organizational process performance.</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r>
              <a:rPr lang="en-US" sz="2000" dirty="0"/>
              <a:t/>
            </a:r>
            <a:br>
              <a:rPr lang="en-US" sz="2000" dirty="0"/>
            </a:br>
            <a:r>
              <a:rPr lang="en-US" sz="2000" dirty="0"/>
              <a:t> </a:t>
            </a:r>
            <a:br>
              <a:rPr lang="en-US" sz="2000" dirty="0"/>
            </a:br>
            <a:r>
              <a:rPr lang="en-US" sz="2000" dirty="0">
                <a:solidFill>
                  <a:srgbClr val="242021"/>
                </a:solidFill>
              </a:rPr>
              <a:t> </a:t>
            </a:r>
            <a:r>
              <a:rPr lang="en-US" sz="2000" dirty="0"/>
              <a:t/>
            </a:r>
            <a:br>
              <a:rPr lang="en-US" sz="2000" dirty="0"/>
            </a:br>
            <a:endParaRPr sz="2000" b="0" i="0" dirty="0">
              <a:solidFill>
                <a:srgbClr val="242021"/>
              </a:solidFill>
            </a:endParaRPr>
          </a:p>
          <a:p>
            <a:pPr marL="0" lvl="0" indent="0" algn="just" rtl="0">
              <a:lnSpc>
                <a:spcPct val="150000"/>
              </a:lnSpc>
              <a:spcBef>
                <a:spcPts val="400"/>
              </a:spcBef>
              <a:spcAft>
                <a:spcPts val="0"/>
              </a:spcAft>
              <a:buClr>
                <a:schemeClr val="dk1"/>
              </a:buClr>
              <a:buSzPts val="2000"/>
              <a:buNone/>
            </a:pPr>
            <a:r>
              <a:rPr lang="en-US" sz="2000" dirty="0"/>
              <a:t> </a:t>
            </a:r>
            <a:br>
              <a:rPr lang="en-US" sz="2000" dirty="0"/>
            </a:br>
            <a:endParaRPr sz="2000" dirty="0">
              <a:solidFill>
                <a:srgbClr val="30303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Process Metrics and Software Process Improvement (contd.)</a:t>
            </a:r>
            <a:endParaRPr/>
          </a:p>
        </p:txBody>
      </p:sp>
      <p:sp>
        <p:nvSpPr>
          <p:cNvPr id="194" name="Google Shape;194;p2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
        <p:nvSpPr>
          <p:cNvPr id="195" name="Google Shape;195;p22"/>
          <p:cNvSpPr txBox="1">
            <a:spLocks noGrp="1"/>
          </p:cNvSpPr>
          <p:nvPr>
            <p:ph type="body" idx="1"/>
          </p:nvPr>
        </p:nvSpPr>
        <p:spPr>
          <a:xfrm>
            <a:off x="457200" y="1042987"/>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42021"/>
              </a:buClr>
              <a:buSzPts val="2000"/>
              <a:buChar char="•"/>
            </a:pPr>
            <a:r>
              <a:rPr lang="en-US" sz="2000" b="0" i="0" dirty="0">
                <a:solidFill>
                  <a:srgbClr val="242021"/>
                </a:solidFill>
              </a:rPr>
              <a:t>Some process metrics are private to the software project team but public to all team members.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Examples include:</a:t>
            </a:r>
            <a:endParaRPr dirty="0"/>
          </a:p>
          <a:p>
            <a:pPr marL="742950" lvl="1" indent="-285750" algn="just" rtl="0">
              <a:lnSpc>
                <a:spcPct val="150000"/>
              </a:lnSpc>
              <a:spcBef>
                <a:spcPts val="400"/>
              </a:spcBef>
              <a:spcAft>
                <a:spcPts val="0"/>
              </a:spcAft>
              <a:buClr>
                <a:srgbClr val="242021"/>
              </a:buClr>
              <a:buSzPts val="2000"/>
              <a:buChar char="–"/>
            </a:pPr>
            <a:r>
              <a:rPr lang="en-US" sz="2000" b="0" i="0" dirty="0">
                <a:solidFill>
                  <a:srgbClr val="242021"/>
                </a:solidFill>
              </a:rPr>
              <a:t>defects reported for major software functions (that have been developed by a number of practitioners), </a:t>
            </a:r>
            <a:endParaRPr dirty="0"/>
          </a:p>
          <a:p>
            <a:pPr marL="742950" lvl="1" indent="-285750" algn="just" rtl="0">
              <a:lnSpc>
                <a:spcPct val="150000"/>
              </a:lnSpc>
              <a:spcBef>
                <a:spcPts val="400"/>
              </a:spcBef>
              <a:spcAft>
                <a:spcPts val="0"/>
              </a:spcAft>
              <a:buClr>
                <a:srgbClr val="242021"/>
              </a:buClr>
              <a:buSzPts val="2000"/>
              <a:buChar char="–"/>
            </a:pPr>
            <a:r>
              <a:rPr lang="en-US" sz="2000" b="0" i="0" dirty="0">
                <a:solidFill>
                  <a:srgbClr val="242021"/>
                </a:solidFill>
              </a:rPr>
              <a:t>errors found during technical reviews, and </a:t>
            </a:r>
            <a:endParaRPr dirty="0"/>
          </a:p>
          <a:p>
            <a:pPr marL="742950" lvl="1" indent="-285750" algn="just" rtl="0">
              <a:lnSpc>
                <a:spcPct val="150000"/>
              </a:lnSpc>
              <a:spcBef>
                <a:spcPts val="400"/>
              </a:spcBef>
              <a:spcAft>
                <a:spcPts val="0"/>
              </a:spcAft>
              <a:buClr>
                <a:srgbClr val="242021"/>
              </a:buClr>
              <a:buSzPts val="2000"/>
              <a:buChar char="–"/>
            </a:pPr>
            <a:r>
              <a:rPr lang="en-US" sz="2000" b="0" i="0" dirty="0">
                <a:solidFill>
                  <a:srgbClr val="242021"/>
                </a:solidFill>
              </a:rPr>
              <a:t>lines of code or function points per component or function.</a:t>
            </a:r>
            <a:endParaRPr dirty="0"/>
          </a:p>
          <a:p>
            <a:pPr marL="342900" lvl="0" indent="-342900" algn="just" rtl="0">
              <a:lnSpc>
                <a:spcPct val="150000"/>
              </a:lnSpc>
              <a:spcBef>
                <a:spcPts val="400"/>
              </a:spcBef>
              <a:spcAft>
                <a:spcPts val="0"/>
              </a:spcAft>
              <a:buClr>
                <a:srgbClr val="242021"/>
              </a:buClr>
              <a:buSzPts val="2000"/>
              <a:buChar char="•"/>
            </a:pPr>
            <a:r>
              <a:rPr lang="en-US" sz="2000" dirty="0">
                <a:solidFill>
                  <a:srgbClr val="242021"/>
                </a:solidFill>
              </a:rPr>
              <a:t>Software process metrics can provide significant benefit as an organization works to improve its overall level of process maturity. However, like </a:t>
            </a:r>
            <a:r>
              <a:rPr lang="en-US" sz="2000" b="1" dirty="0">
                <a:solidFill>
                  <a:srgbClr val="242021"/>
                </a:solidFill>
              </a:rPr>
              <a:t>all metrics, these can be misused, creating more problems than they solve. </a:t>
            </a:r>
            <a:r>
              <a:rPr lang="en-US" sz="2000" dirty="0">
                <a:solidFill>
                  <a:srgbClr val="242021"/>
                </a:solidFill>
              </a:rPr>
              <a:t>Hence, </a:t>
            </a:r>
            <a:r>
              <a:rPr lang="en-US" sz="2000" b="1" i="1" dirty="0">
                <a:solidFill>
                  <a:srgbClr val="C00000"/>
                </a:solidFill>
              </a:rPr>
              <a:t>“Software Metrics Etiquette” </a:t>
            </a:r>
            <a:r>
              <a:rPr lang="en-US" sz="2000" dirty="0"/>
              <a:t>are suggested.</a:t>
            </a:r>
            <a:endParaRPr dirty="0"/>
          </a:p>
          <a:p>
            <a:pPr marL="0" lvl="0" indent="0" algn="just" rtl="0">
              <a:lnSpc>
                <a:spcPct val="150000"/>
              </a:lnSpc>
              <a:spcBef>
                <a:spcPts val="400"/>
              </a:spcBef>
              <a:spcAft>
                <a:spcPts val="0"/>
              </a:spcAft>
              <a:buClr>
                <a:schemeClr val="dk1"/>
              </a:buClr>
              <a:buSzPts val="2000"/>
              <a:buNone/>
            </a:pPr>
            <a:r>
              <a:rPr lang="en-US" sz="2000" dirty="0"/>
              <a:t> </a:t>
            </a:r>
            <a:br>
              <a:rPr lang="en-US" sz="2000" dirty="0"/>
            </a:br>
            <a:r>
              <a:rPr lang="en-US" sz="2000" dirty="0"/>
              <a:t/>
            </a:r>
            <a:br>
              <a:rPr lang="en-US" sz="2000" dirty="0"/>
            </a:br>
            <a:r>
              <a:rPr lang="en-US" sz="2000" dirty="0"/>
              <a:t> </a:t>
            </a:r>
            <a:br>
              <a:rPr lang="en-US" sz="2000" dirty="0"/>
            </a:br>
            <a:r>
              <a:rPr lang="en-US" sz="2000" dirty="0">
                <a:solidFill>
                  <a:srgbClr val="242021"/>
                </a:solidFill>
              </a:rPr>
              <a:t> </a:t>
            </a:r>
            <a:r>
              <a:rPr lang="en-US" sz="2000" dirty="0"/>
              <a:t/>
            </a:r>
            <a:br>
              <a:rPr lang="en-US" sz="2000" dirty="0"/>
            </a:br>
            <a:endParaRPr sz="2000" b="0" i="0" dirty="0">
              <a:solidFill>
                <a:srgbClr val="242021"/>
              </a:solidFill>
            </a:endParaRPr>
          </a:p>
          <a:p>
            <a:pPr marL="0" lvl="0" indent="0" algn="just" rtl="0">
              <a:lnSpc>
                <a:spcPct val="150000"/>
              </a:lnSpc>
              <a:spcBef>
                <a:spcPts val="400"/>
              </a:spcBef>
              <a:spcAft>
                <a:spcPts val="0"/>
              </a:spcAft>
              <a:buClr>
                <a:schemeClr val="dk1"/>
              </a:buClr>
              <a:buSzPts val="2000"/>
              <a:buNone/>
            </a:pPr>
            <a:r>
              <a:rPr lang="en-US" sz="2000" dirty="0"/>
              <a:t> </a:t>
            </a:r>
            <a:br>
              <a:rPr lang="en-US" sz="2000" dirty="0"/>
            </a:br>
            <a:endParaRPr sz="2000" dirty="0">
              <a:solidFill>
                <a:srgbClr val="30303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Process Metrics and Software Process Improvement (contd.)</a:t>
            </a:r>
            <a:endParaRPr/>
          </a:p>
        </p:txBody>
      </p:sp>
      <p:sp>
        <p:nvSpPr>
          <p:cNvPr id="202" name="Google Shape;202;p2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
        <p:nvSpPr>
          <p:cNvPr id="203" name="Google Shape;203;p23"/>
          <p:cNvSpPr txBox="1">
            <a:spLocks noGrp="1"/>
          </p:cNvSpPr>
          <p:nvPr>
            <p:ph type="body" idx="1"/>
          </p:nvPr>
        </p:nvSpPr>
        <p:spPr>
          <a:xfrm>
            <a:off x="457200" y="838200"/>
            <a:ext cx="8229600" cy="57912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rgbClr val="C00000"/>
              </a:buClr>
              <a:buSzPts val="1800"/>
              <a:buNone/>
            </a:pPr>
            <a:r>
              <a:rPr lang="en-US" sz="1800" b="1" i="1" dirty="0">
                <a:solidFill>
                  <a:srgbClr val="C00000"/>
                </a:solidFill>
              </a:rPr>
              <a:t>“Software Metrics Etiquette” </a:t>
            </a:r>
            <a:r>
              <a:rPr lang="en-US" sz="1800" b="0" i="0" dirty="0">
                <a:solidFill>
                  <a:srgbClr val="242021"/>
                </a:solidFill>
              </a:rPr>
              <a:t>that is appropriate for both managers and practitioners as they institute a process metrics program:</a:t>
            </a:r>
            <a:endParaRPr dirty="0"/>
          </a:p>
          <a:p>
            <a:pPr marL="742950" lvl="1" indent="-285750" algn="l" rtl="0">
              <a:lnSpc>
                <a:spcPct val="150000"/>
              </a:lnSpc>
              <a:spcBef>
                <a:spcPts val="360"/>
              </a:spcBef>
              <a:spcAft>
                <a:spcPts val="0"/>
              </a:spcAft>
              <a:buClr>
                <a:srgbClr val="242021"/>
              </a:buClr>
              <a:buSzPts val="1800"/>
              <a:buChar char="–"/>
            </a:pPr>
            <a:r>
              <a:rPr lang="en-US" sz="1800" b="0" i="0" dirty="0">
                <a:solidFill>
                  <a:srgbClr val="242021"/>
                </a:solidFill>
              </a:rPr>
              <a:t>Use common sense and organizational sensitivity when interpreting metrics data.</a:t>
            </a:r>
            <a:endParaRPr dirty="0"/>
          </a:p>
          <a:p>
            <a:pPr marL="742950" lvl="1" indent="-285750" algn="l" rtl="0">
              <a:lnSpc>
                <a:spcPct val="150000"/>
              </a:lnSpc>
              <a:spcBef>
                <a:spcPts val="360"/>
              </a:spcBef>
              <a:spcAft>
                <a:spcPts val="0"/>
              </a:spcAft>
              <a:buClr>
                <a:srgbClr val="242021"/>
              </a:buClr>
              <a:buSzPts val="1800"/>
              <a:buChar char="–"/>
            </a:pPr>
            <a:r>
              <a:rPr lang="en-US" sz="1800" b="0" i="0" dirty="0">
                <a:solidFill>
                  <a:srgbClr val="242021"/>
                </a:solidFill>
              </a:rPr>
              <a:t>Provide </a:t>
            </a:r>
            <a:r>
              <a:rPr lang="en-US" sz="1800" b="1" i="0" dirty="0">
                <a:solidFill>
                  <a:srgbClr val="242021"/>
                </a:solidFill>
              </a:rPr>
              <a:t>regular feedback to the individuals </a:t>
            </a:r>
            <a:r>
              <a:rPr lang="en-US" sz="1800" b="0" i="0" dirty="0">
                <a:solidFill>
                  <a:srgbClr val="242021"/>
                </a:solidFill>
              </a:rPr>
              <a:t>and teams who collect measures and metrics.</a:t>
            </a:r>
            <a:endParaRPr dirty="0"/>
          </a:p>
          <a:p>
            <a:pPr marL="742950" lvl="1" indent="-285750" algn="l" rtl="0">
              <a:lnSpc>
                <a:spcPct val="150000"/>
              </a:lnSpc>
              <a:spcBef>
                <a:spcPts val="360"/>
              </a:spcBef>
              <a:spcAft>
                <a:spcPts val="0"/>
              </a:spcAft>
              <a:buClr>
                <a:srgbClr val="242021"/>
              </a:buClr>
              <a:buSzPts val="1800"/>
              <a:buChar char="–"/>
            </a:pPr>
            <a:r>
              <a:rPr lang="en-US" sz="1800" b="0" i="0" dirty="0">
                <a:solidFill>
                  <a:srgbClr val="242021"/>
                </a:solidFill>
              </a:rPr>
              <a:t>Don’t use metrics </a:t>
            </a:r>
            <a:r>
              <a:rPr lang="en-US" sz="1800" b="1" i="0" dirty="0">
                <a:solidFill>
                  <a:srgbClr val="242021"/>
                </a:solidFill>
              </a:rPr>
              <a:t>to appraise individuals</a:t>
            </a:r>
            <a:r>
              <a:rPr lang="en-US" sz="1800" b="0" i="0" dirty="0">
                <a:solidFill>
                  <a:srgbClr val="242021"/>
                </a:solidFill>
              </a:rPr>
              <a:t>.</a:t>
            </a:r>
            <a:endParaRPr dirty="0"/>
          </a:p>
          <a:p>
            <a:pPr marL="742950" lvl="1" indent="-285750" algn="l" rtl="0">
              <a:lnSpc>
                <a:spcPct val="150000"/>
              </a:lnSpc>
              <a:spcBef>
                <a:spcPts val="360"/>
              </a:spcBef>
              <a:spcAft>
                <a:spcPts val="0"/>
              </a:spcAft>
              <a:buClr>
                <a:srgbClr val="242021"/>
              </a:buClr>
              <a:buSzPts val="1800"/>
              <a:buChar char="–"/>
            </a:pPr>
            <a:r>
              <a:rPr lang="en-US" sz="1800" b="0" i="0" dirty="0">
                <a:solidFill>
                  <a:srgbClr val="242021"/>
                </a:solidFill>
              </a:rPr>
              <a:t>Work with practitioners and teams to set clear goals and metrics that will be used to achieve them.</a:t>
            </a:r>
            <a:endParaRPr dirty="0"/>
          </a:p>
          <a:p>
            <a:pPr marL="742950" lvl="1" indent="-285750" algn="l" rtl="0">
              <a:lnSpc>
                <a:spcPct val="150000"/>
              </a:lnSpc>
              <a:spcBef>
                <a:spcPts val="360"/>
              </a:spcBef>
              <a:spcAft>
                <a:spcPts val="0"/>
              </a:spcAft>
              <a:buClr>
                <a:srgbClr val="242021"/>
              </a:buClr>
              <a:buSzPts val="1800"/>
              <a:buChar char="–"/>
            </a:pPr>
            <a:r>
              <a:rPr lang="en-US" sz="1800" b="0" i="0" dirty="0">
                <a:solidFill>
                  <a:srgbClr val="242021"/>
                </a:solidFill>
              </a:rPr>
              <a:t>Never use </a:t>
            </a:r>
            <a:r>
              <a:rPr lang="en-US" sz="1800" b="1" i="0" dirty="0">
                <a:solidFill>
                  <a:srgbClr val="242021"/>
                </a:solidFill>
              </a:rPr>
              <a:t>metrics to threaten individuals </a:t>
            </a:r>
            <a:r>
              <a:rPr lang="en-US" sz="1800" b="0" i="0" dirty="0">
                <a:solidFill>
                  <a:srgbClr val="242021"/>
                </a:solidFill>
              </a:rPr>
              <a:t>or teams.</a:t>
            </a:r>
            <a:endParaRPr dirty="0"/>
          </a:p>
          <a:p>
            <a:pPr marL="742950" lvl="1" indent="-285750" algn="l" rtl="0">
              <a:lnSpc>
                <a:spcPct val="150000"/>
              </a:lnSpc>
              <a:spcBef>
                <a:spcPts val="360"/>
              </a:spcBef>
              <a:spcAft>
                <a:spcPts val="0"/>
              </a:spcAft>
              <a:buClr>
                <a:srgbClr val="242021"/>
              </a:buClr>
              <a:buSzPts val="1800"/>
              <a:buChar char="–"/>
            </a:pPr>
            <a:r>
              <a:rPr lang="en-US" sz="1800" b="0" i="0" dirty="0">
                <a:solidFill>
                  <a:srgbClr val="242021"/>
                </a:solidFill>
              </a:rPr>
              <a:t>Metrics data that indicate a problem area should not be considered “negative.” These data are merely an indicator for process improvement.</a:t>
            </a:r>
            <a:endParaRPr dirty="0"/>
          </a:p>
          <a:p>
            <a:pPr marL="742950" lvl="1" indent="-285750" algn="l" rtl="0">
              <a:lnSpc>
                <a:spcPct val="150000"/>
              </a:lnSpc>
              <a:spcBef>
                <a:spcPts val="400"/>
              </a:spcBef>
              <a:spcAft>
                <a:spcPts val="0"/>
              </a:spcAft>
              <a:buClr>
                <a:srgbClr val="242021"/>
              </a:buClr>
              <a:buSzPts val="1800"/>
              <a:buChar char="–"/>
            </a:pPr>
            <a:r>
              <a:rPr lang="en-US" sz="1800" b="0" i="0" dirty="0">
                <a:solidFill>
                  <a:srgbClr val="242021"/>
                </a:solidFill>
              </a:rPr>
              <a:t>Don’t </a:t>
            </a:r>
            <a:r>
              <a:rPr lang="en-US" sz="1800" b="1" i="0" dirty="0">
                <a:solidFill>
                  <a:srgbClr val="242021"/>
                </a:solidFill>
              </a:rPr>
              <a:t>obsess on a single metric </a:t>
            </a:r>
            <a:r>
              <a:rPr lang="en-US" sz="1800" b="0" i="0" dirty="0">
                <a:solidFill>
                  <a:srgbClr val="242021"/>
                </a:solidFill>
              </a:rPr>
              <a:t>to the exclusion of other important metrics.</a:t>
            </a:r>
            <a:r>
              <a:rPr lang="en-US" sz="1800" dirty="0"/>
              <a:t> </a:t>
            </a:r>
            <a:r>
              <a:rPr lang="en-US" sz="2000" dirty="0"/>
              <a:t/>
            </a:r>
            <a:br>
              <a:rPr lang="en-US" sz="2000" dirty="0"/>
            </a:br>
            <a:endParaRPr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Project Metrics</a:t>
            </a:r>
            <a:endParaRPr/>
          </a:p>
        </p:txBody>
      </p:sp>
      <p:sp>
        <p:nvSpPr>
          <p:cNvPr id="209" name="Google Shape;209;p2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
        <p:nvSpPr>
          <p:cNvPr id="210" name="Google Shape;210;p24"/>
          <p:cNvSpPr txBox="1">
            <a:spLocks noGrp="1"/>
          </p:cNvSpPr>
          <p:nvPr>
            <p:ph type="body" idx="1"/>
          </p:nvPr>
        </p:nvSpPr>
        <p:spPr>
          <a:xfrm>
            <a:off x="428624" y="1100137"/>
            <a:ext cx="8229600" cy="511492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2000" dirty="0"/>
              <a:t>Project metrics and the indicators derived from them are used by a project manager and a software team to adapt project workflow and technical activities.</a:t>
            </a:r>
            <a:endParaRPr dirty="0"/>
          </a:p>
          <a:p>
            <a:pPr marL="342900" lvl="0" indent="-342900" algn="just" rtl="0">
              <a:lnSpc>
                <a:spcPct val="150000"/>
              </a:lnSpc>
              <a:spcBef>
                <a:spcPts val="400"/>
              </a:spcBef>
              <a:spcAft>
                <a:spcPts val="0"/>
              </a:spcAft>
              <a:buClr>
                <a:schemeClr val="dk1"/>
              </a:buClr>
              <a:buSzPts val="2000"/>
              <a:buChar char="•"/>
            </a:pPr>
            <a:r>
              <a:rPr lang="en-US" sz="2000" dirty="0"/>
              <a:t>The </a:t>
            </a:r>
            <a:r>
              <a:rPr lang="en-US" sz="2000" b="1" dirty="0"/>
              <a:t>first application of project metrics </a:t>
            </a:r>
            <a:r>
              <a:rPr lang="en-US" sz="2000" dirty="0"/>
              <a:t>on most software projects occurs </a:t>
            </a:r>
            <a:r>
              <a:rPr lang="en-US" sz="2000" b="1" dirty="0"/>
              <a:t>during estimation. </a:t>
            </a:r>
            <a:endParaRPr b="1" dirty="0"/>
          </a:p>
          <a:p>
            <a:pPr marL="342900" lvl="0" indent="-342900" algn="just" rtl="0">
              <a:lnSpc>
                <a:spcPct val="150000"/>
              </a:lnSpc>
              <a:spcBef>
                <a:spcPts val="400"/>
              </a:spcBef>
              <a:spcAft>
                <a:spcPts val="0"/>
              </a:spcAft>
              <a:buClr>
                <a:schemeClr val="dk1"/>
              </a:buClr>
              <a:buSzPts val="2000"/>
              <a:buChar char="•"/>
            </a:pPr>
            <a:r>
              <a:rPr lang="en-US" sz="2000" b="1" dirty="0"/>
              <a:t>Metrics collected from past projects are used as a basis </a:t>
            </a:r>
            <a:r>
              <a:rPr lang="en-US" sz="2000" dirty="0"/>
              <a:t>from which </a:t>
            </a:r>
            <a:r>
              <a:rPr lang="en-US" sz="2000" b="1" i="1" dirty="0"/>
              <a:t>effort and time estimates </a:t>
            </a:r>
            <a:r>
              <a:rPr lang="en-US" sz="2000" dirty="0"/>
              <a:t>are made for current software work. </a:t>
            </a:r>
            <a:endParaRPr dirty="0"/>
          </a:p>
          <a:p>
            <a:pPr marL="342900" lvl="0" indent="-342900" algn="just" rtl="0">
              <a:lnSpc>
                <a:spcPct val="150000"/>
              </a:lnSpc>
              <a:spcBef>
                <a:spcPts val="400"/>
              </a:spcBef>
              <a:spcAft>
                <a:spcPts val="0"/>
              </a:spcAft>
              <a:buClr>
                <a:schemeClr val="dk1"/>
              </a:buClr>
              <a:buSzPts val="2000"/>
              <a:buChar char="•"/>
            </a:pPr>
            <a:r>
              <a:rPr lang="en-US" sz="2000" dirty="0"/>
              <a:t>As a project proceeds, measures of effort and calendar time expended are compared to original estimates (and the project schedule). </a:t>
            </a:r>
            <a:endParaRPr dirty="0"/>
          </a:p>
          <a:p>
            <a:pPr marL="342900" lvl="0" indent="-342900" algn="just" rtl="0">
              <a:lnSpc>
                <a:spcPct val="150000"/>
              </a:lnSpc>
              <a:spcBef>
                <a:spcPts val="400"/>
              </a:spcBef>
              <a:spcAft>
                <a:spcPts val="0"/>
              </a:spcAft>
              <a:buClr>
                <a:schemeClr val="dk1"/>
              </a:buClr>
              <a:buSzPts val="2000"/>
              <a:buChar char="•"/>
            </a:pPr>
            <a:r>
              <a:rPr lang="en-US" sz="2000" dirty="0"/>
              <a:t>The project manager uses this data to monitor and control progress.</a:t>
            </a:r>
            <a:endParaRPr dirty="0"/>
          </a:p>
          <a:p>
            <a:pPr marL="0" lvl="0" indent="0" algn="just" rtl="0">
              <a:lnSpc>
                <a:spcPct val="150000"/>
              </a:lnSpc>
              <a:spcBef>
                <a:spcPts val="400"/>
              </a:spcBef>
              <a:spcAft>
                <a:spcPts val="0"/>
              </a:spcAft>
              <a:buClr>
                <a:schemeClr val="dk1"/>
              </a:buClr>
              <a:buSzPts val="2000"/>
              <a:buNone/>
            </a:pPr>
            <a:r>
              <a:rPr lang="en-US" sz="2000" dirty="0"/>
              <a:t> </a:t>
            </a:r>
            <a:br>
              <a:rPr lang="en-US" sz="2000" dirty="0"/>
            </a:br>
            <a:r>
              <a:rPr lang="en-US" sz="2000" dirty="0"/>
              <a:t> </a:t>
            </a:r>
            <a:br>
              <a:rPr lang="en-US" sz="2000" dirty="0"/>
            </a:br>
            <a:endParaRPr sz="2000"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solidFill>
                <a:srgbClr val="30303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Project Metrics (contd.)</a:t>
            </a:r>
            <a:endParaRPr/>
          </a:p>
        </p:txBody>
      </p:sp>
      <p:sp>
        <p:nvSpPr>
          <p:cNvPr id="216" name="Google Shape;216;p2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
        <p:nvSpPr>
          <p:cNvPr id="217" name="Google Shape;217;p25"/>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42021"/>
              </a:buClr>
              <a:buSzPts val="2000"/>
              <a:buChar char="•"/>
            </a:pPr>
            <a:r>
              <a:rPr lang="en-US" sz="2000" b="0" i="0" dirty="0">
                <a:solidFill>
                  <a:srgbClr val="242021"/>
                </a:solidFill>
              </a:rPr>
              <a:t>As technical work commences, other project metrics begin to have significance.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Production rates represented in terms of </a:t>
            </a:r>
            <a:r>
              <a:rPr lang="en-US" sz="2000" b="1" i="0" dirty="0">
                <a:solidFill>
                  <a:srgbClr val="242021"/>
                </a:solidFill>
              </a:rPr>
              <a:t>models created, review hours, function points, and delivered source lines are measured</a:t>
            </a:r>
            <a:r>
              <a:rPr lang="en-US" sz="2000" b="0" i="0" dirty="0">
                <a:solidFill>
                  <a:srgbClr val="242021"/>
                </a:solidFill>
              </a:rPr>
              <a:t>.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In addition, </a:t>
            </a:r>
            <a:r>
              <a:rPr lang="en-US" sz="2000" b="1" i="0" dirty="0">
                <a:solidFill>
                  <a:srgbClr val="242021"/>
                </a:solidFill>
              </a:rPr>
              <a:t>errors uncovered </a:t>
            </a:r>
            <a:r>
              <a:rPr lang="en-US" sz="2000" b="0" i="0" dirty="0">
                <a:solidFill>
                  <a:srgbClr val="242021"/>
                </a:solidFill>
              </a:rPr>
              <a:t>during each software engineering task are tracked.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As the software evolves from requirements into design, </a:t>
            </a:r>
            <a:r>
              <a:rPr lang="en-US" sz="2000" b="1" i="0" dirty="0">
                <a:solidFill>
                  <a:srgbClr val="242021"/>
                </a:solidFill>
              </a:rPr>
              <a:t>technical metrics are collected to assess design quality </a:t>
            </a:r>
            <a:r>
              <a:rPr lang="en-US" sz="2000" b="0" i="0" dirty="0">
                <a:solidFill>
                  <a:srgbClr val="242021"/>
                </a:solidFill>
              </a:rPr>
              <a:t>and to provide indicators that will influence the approach taken to code generation and testing.</a:t>
            </a:r>
            <a:endParaRPr dirty="0"/>
          </a:p>
          <a:p>
            <a:pPr marL="0" lvl="0" indent="0" algn="just" rtl="0">
              <a:lnSpc>
                <a:spcPct val="150000"/>
              </a:lnSpc>
              <a:spcBef>
                <a:spcPts val="400"/>
              </a:spcBef>
              <a:spcAft>
                <a:spcPts val="0"/>
              </a:spcAft>
              <a:buClr>
                <a:schemeClr val="dk1"/>
              </a:buClr>
              <a:buSzPts val="2000"/>
              <a:buNone/>
            </a:pPr>
            <a:r>
              <a:rPr lang="en-US" sz="2000" dirty="0"/>
              <a:t> </a:t>
            </a:r>
            <a:br>
              <a:rPr lang="en-US" sz="2000" dirty="0"/>
            </a:br>
            <a:r>
              <a:rPr lang="en-US" sz="2000" dirty="0"/>
              <a:t> </a:t>
            </a:r>
            <a:br>
              <a:rPr lang="en-US" sz="2000" dirty="0"/>
            </a:br>
            <a:r>
              <a:rPr lang="en-US" sz="2000" dirty="0"/>
              <a:t> </a:t>
            </a:r>
            <a:br>
              <a:rPr lang="en-US" sz="2000" dirty="0"/>
            </a:br>
            <a:endParaRPr sz="2000"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solidFill>
                <a:srgbClr val="30303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Project Metrices (contd.)</a:t>
            </a:r>
            <a:endParaRPr/>
          </a:p>
        </p:txBody>
      </p:sp>
      <p:sp>
        <p:nvSpPr>
          <p:cNvPr id="223" name="Google Shape;223;p2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
        <p:nvSpPr>
          <p:cNvPr id="224" name="Google Shape;224;p26"/>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42021"/>
              </a:buClr>
              <a:buSzPts val="2000"/>
              <a:buChar char="•"/>
            </a:pPr>
            <a:r>
              <a:rPr lang="en-US" sz="2000" b="0" i="0" dirty="0">
                <a:solidFill>
                  <a:srgbClr val="242021"/>
                </a:solidFill>
              </a:rPr>
              <a:t>The intent of project metrics is twofold. </a:t>
            </a:r>
            <a:endParaRPr dirty="0"/>
          </a:p>
          <a:p>
            <a:pPr marL="342900" lvl="0" indent="-342900" algn="just" rtl="0">
              <a:lnSpc>
                <a:spcPct val="150000"/>
              </a:lnSpc>
              <a:spcBef>
                <a:spcPts val="400"/>
              </a:spcBef>
              <a:spcAft>
                <a:spcPts val="0"/>
              </a:spcAft>
              <a:buClr>
                <a:srgbClr val="C00000"/>
              </a:buClr>
              <a:buSzPts val="2000"/>
              <a:buChar char="•"/>
            </a:pPr>
            <a:r>
              <a:rPr lang="en-US" sz="2000" b="0" i="0" dirty="0">
                <a:solidFill>
                  <a:srgbClr val="C00000"/>
                </a:solidFill>
              </a:rPr>
              <a:t>First</a:t>
            </a:r>
            <a:r>
              <a:rPr lang="en-US" sz="2000" b="0" i="0" dirty="0">
                <a:solidFill>
                  <a:srgbClr val="242021"/>
                </a:solidFill>
              </a:rPr>
              <a:t>, these metrics are used </a:t>
            </a:r>
            <a:r>
              <a:rPr lang="en-US" sz="2000" b="1" i="0" dirty="0">
                <a:solidFill>
                  <a:srgbClr val="242021"/>
                </a:solidFill>
              </a:rPr>
              <a:t>to minimize the development schedule </a:t>
            </a:r>
            <a:r>
              <a:rPr lang="en-US" sz="2000" b="0" i="0" dirty="0">
                <a:solidFill>
                  <a:srgbClr val="242021"/>
                </a:solidFill>
              </a:rPr>
              <a:t>by making the adjustments necessary to avoid delays and mitigate potential problems and risks. </a:t>
            </a:r>
            <a:endParaRPr dirty="0"/>
          </a:p>
          <a:p>
            <a:pPr marL="342900" lvl="0" indent="-342900" algn="just" rtl="0">
              <a:lnSpc>
                <a:spcPct val="150000"/>
              </a:lnSpc>
              <a:spcBef>
                <a:spcPts val="400"/>
              </a:spcBef>
              <a:spcAft>
                <a:spcPts val="0"/>
              </a:spcAft>
              <a:buClr>
                <a:srgbClr val="C00000"/>
              </a:buClr>
              <a:buSzPts val="2000"/>
              <a:buChar char="•"/>
            </a:pPr>
            <a:r>
              <a:rPr lang="en-US" sz="2000" b="0" i="0" dirty="0">
                <a:solidFill>
                  <a:srgbClr val="C00000"/>
                </a:solidFill>
              </a:rPr>
              <a:t>Second</a:t>
            </a:r>
            <a:r>
              <a:rPr lang="en-US" sz="2000" b="0" i="0" dirty="0">
                <a:solidFill>
                  <a:srgbClr val="242021"/>
                </a:solidFill>
              </a:rPr>
              <a:t>, project metrics are used </a:t>
            </a:r>
            <a:r>
              <a:rPr lang="en-US" sz="2000" b="1" i="0" dirty="0">
                <a:solidFill>
                  <a:srgbClr val="242021"/>
                </a:solidFill>
              </a:rPr>
              <a:t>to assess product quality on an ongoing basis</a:t>
            </a:r>
            <a:r>
              <a:rPr lang="en-US" sz="2000" b="0" i="0" dirty="0">
                <a:solidFill>
                  <a:srgbClr val="242021"/>
                </a:solidFill>
              </a:rPr>
              <a:t> and, when necessary, modify the technical approach to improve quality.</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As quality improves, defects are minimized, and as the defect count goes down, the amount of rework required during the project is also reduced.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This leads to a </a:t>
            </a:r>
            <a:r>
              <a:rPr lang="en-US" sz="2000" b="1" i="0" dirty="0">
                <a:solidFill>
                  <a:srgbClr val="242021"/>
                </a:solidFill>
              </a:rPr>
              <a:t>reduction in overall project cost.</a:t>
            </a:r>
            <a:endParaRPr b="1" dirty="0"/>
          </a:p>
          <a:p>
            <a:pPr marL="0" lvl="0" indent="0" algn="just" rtl="0">
              <a:lnSpc>
                <a:spcPct val="150000"/>
              </a:lnSpc>
              <a:spcBef>
                <a:spcPts val="400"/>
              </a:spcBef>
              <a:spcAft>
                <a:spcPts val="0"/>
              </a:spcAft>
              <a:buClr>
                <a:schemeClr val="dk1"/>
              </a:buClr>
              <a:buSzPts val="2000"/>
              <a:buNone/>
            </a:pPr>
            <a:r>
              <a:rPr lang="en-US" sz="2000" dirty="0"/>
              <a:t> </a:t>
            </a:r>
            <a:r>
              <a:rPr lang="en-US" sz="1600" dirty="0"/>
              <a:t/>
            </a:r>
            <a:br>
              <a:rPr lang="en-US" sz="1600" dirty="0"/>
            </a:br>
            <a:r>
              <a:rPr lang="en-US" sz="2000" dirty="0"/>
              <a:t> </a:t>
            </a:r>
            <a:br>
              <a:rPr lang="en-US" sz="2000" dirty="0"/>
            </a:br>
            <a:r>
              <a:rPr lang="en-US" sz="2000" dirty="0"/>
              <a:t> </a:t>
            </a:r>
            <a:br>
              <a:rPr lang="en-US" sz="2000" dirty="0"/>
            </a:br>
            <a:r>
              <a:rPr lang="en-US" sz="2000" dirty="0"/>
              <a:t> </a:t>
            </a:r>
            <a:br>
              <a:rPr lang="en-US" sz="2000" dirty="0"/>
            </a:br>
            <a:endParaRPr sz="2000"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solidFill>
                <a:srgbClr val="30303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7"/>
          <p:cNvSpPr txBox="1"/>
          <p:nvPr/>
        </p:nvSpPr>
        <p:spPr>
          <a:xfrm>
            <a:off x="152400" y="914400"/>
            <a:ext cx="8763000" cy="4038600"/>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5400" b="1">
                <a:solidFill>
                  <a:srgbClr val="3A30FA"/>
                </a:solidFill>
                <a:latin typeface="Times New Roman"/>
                <a:ea typeface="Times New Roman"/>
                <a:cs typeface="Times New Roman"/>
                <a:sym typeface="Times New Roman"/>
              </a:rPr>
              <a:t>Metrics for Software Quality</a:t>
            </a:r>
            <a:endParaRPr/>
          </a:p>
        </p:txBody>
      </p:sp>
      <p:sp>
        <p:nvSpPr>
          <p:cNvPr id="231" name="Google Shape;231;p2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Measures of Software Quality</a:t>
            </a:r>
            <a:endParaRPr/>
          </a:p>
        </p:txBody>
      </p:sp>
      <p:sp>
        <p:nvSpPr>
          <p:cNvPr id="237" name="Google Shape;237;p2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
        <p:nvSpPr>
          <p:cNvPr id="238" name="Google Shape;238;p28"/>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Font typeface="Calibri"/>
              <a:buAutoNum type="arabicPeriod"/>
            </a:pPr>
            <a:r>
              <a:rPr lang="en-US" sz="2000" b="1" i="1" dirty="0">
                <a:solidFill>
                  <a:srgbClr val="C00000"/>
                </a:solidFill>
              </a:rPr>
              <a:t>Correctness: </a:t>
            </a:r>
            <a:endParaRPr dirty="0"/>
          </a:p>
          <a:p>
            <a:pPr marL="742950" lvl="1" indent="-285750" algn="just" rtl="0">
              <a:lnSpc>
                <a:spcPct val="150000"/>
              </a:lnSpc>
              <a:spcBef>
                <a:spcPts val="400"/>
              </a:spcBef>
              <a:spcAft>
                <a:spcPts val="0"/>
              </a:spcAft>
              <a:buClr>
                <a:srgbClr val="2B2A2A"/>
              </a:buClr>
              <a:buSzPts val="2000"/>
              <a:buChar char="–"/>
            </a:pPr>
            <a:r>
              <a:rPr lang="en-US" sz="2000" b="0" i="0" dirty="0">
                <a:solidFill>
                  <a:srgbClr val="2B2A2A"/>
                </a:solidFill>
              </a:rPr>
              <a:t>Is the degree to which the software performs its required function. </a:t>
            </a:r>
            <a:endParaRPr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The most common </a:t>
            </a:r>
            <a:r>
              <a:rPr lang="en-US" sz="2000" b="1" dirty="0">
                <a:solidFill>
                  <a:srgbClr val="2B2A2A"/>
                </a:solidFill>
              </a:rPr>
              <a:t>measure for correctness is defects per KLOC (thousand line of codes)</a:t>
            </a:r>
            <a:r>
              <a:rPr lang="en-US" sz="2000" dirty="0">
                <a:solidFill>
                  <a:srgbClr val="2B2A2A"/>
                </a:solidFill>
              </a:rPr>
              <a:t>, where a defect is defined as a verified lack of conformance to requirements.</a:t>
            </a:r>
            <a:endParaRPr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When considering the overall quality of a software product, defects are those problems reported by a user of the program after the program has been released for general use. </a:t>
            </a:r>
            <a:endParaRPr dirty="0"/>
          </a:p>
          <a:p>
            <a:pPr marL="742950" lvl="1" indent="-285750" algn="just" rtl="0">
              <a:lnSpc>
                <a:spcPct val="150000"/>
              </a:lnSpc>
              <a:spcBef>
                <a:spcPts val="400"/>
              </a:spcBef>
              <a:spcAft>
                <a:spcPts val="0"/>
              </a:spcAft>
              <a:buClr>
                <a:srgbClr val="2B2A2A"/>
              </a:buClr>
              <a:buSzPts val="2000"/>
              <a:buChar char="–"/>
            </a:pPr>
            <a:r>
              <a:rPr lang="en-US" sz="2000" dirty="0">
                <a:solidFill>
                  <a:srgbClr val="2B2A2A"/>
                </a:solidFill>
              </a:rPr>
              <a:t>For quality assessment purposes, </a:t>
            </a:r>
            <a:r>
              <a:rPr lang="en-US" sz="2000" b="1" dirty="0">
                <a:solidFill>
                  <a:srgbClr val="2B2A2A"/>
                </a:solidFill>
              </a:rPr>
              <a:t>defects are counted over a standard period of time, typically one year.</a:t>
            </a:r>
            <a:endParaRPr b="1" dirty="0"/>
          </a:p>
          <a:p>
            <a:pPr marL="457200" lvl="1" indent="0" algn="just" rtl="0">
              <a:lnSpc>
                <a:spcPct val="150000"/>
              </a:lnSpc>
              <a:spcBef>
                <a:spcPts val="400"/>
              </a:spcBef>
              <a:spcAft>
                <a:spcPts val="0"/>
              </a:spcAft>
              <a:buClr>
                <a:srgbClr val="2B2A2A"/>
              </a:buClr>
              <a:buSzPts val="2000"/>
              <a:buNone/>
            </a:pPr>
            <a:r>
              <a:rPr lang="en-US" sz="2000" dirty="0">
                <a:solidFill>
                  <a:srgbClr val="2B2A2A"/>
                </a:solidFill>
              </a:rPr>
              <a:t> </a:t>
            </a:r>
            <a:r>
              <a:rPr lang="en-US" sz="1600" dirty="0"/>
              <a:t/>
            </a:r>
            <a:br>
              <a:rPr lang="en-US" sz="1600" dirty="0"/>
            </a:br>
            <a:endParaRPr sz="2800" dirty="0">
              <a:solidFill>
                <a:srgbClr val="30303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Measures of Software Quality</a:t>
            </a:r>
            <a:endParaRPr/>
          </a:p>
        </p:txBody>
      </p:sp>
      <p:sp>
        <p:nvSpPr>
          <p:cNvPr id="244" name="Google Shape;244;p2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
        <p:nvSpPr>
          <p:cNvPr id="245" name="Google Shape;245;p29"/>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Font typeface="Calibri"/>
              <a:buAutoNum type="arabicPeriod" startAt="2"/>
            </a:pPr>
            <a:r>
              <a:rPr lang="en-US" sz="2000" b="1" i="1" dirty="0">
                <a:solidFill>
                  <a:srgbClr val="C00000"/>
                </a:solidFill>
              </a:rPr>
              <a:t>Maintainability:</a:t>
            </a:r>
            <a:r>
              <a:rPr lang="en-US" sz="2000" b="0" i="0" dirty="0">
                <a:solidFill>
                  <a:srgbClr val="2B2A2A"/>
                </a:solidFill>
              </a:rPr>
              <a:t> It is the ease with which a program can be</a:t>
            </a:r>
            <a:endParaRPr dirty="0"/>
          </a:p>
          <a:p>
            <a:pPr marL="1143000" lvl="2" indent="-228600" algn="just" rtl="0">
              <a:lnSpc>
                <a:spcPct val="150000"/>
              </a:lnSpc>
              <a:spcBef>
                <a:spcPts val="400"/>
              </a:spcBef>
              <a:spcAft>
                <a:spcPts val="0"/>
              </a:spcAft>
              <a:buClr>
                <a:srgbClr val="2B2A2A"/>
              </a:buClr>
              <a:buSzPts val="2000"/>
              <a:buFont typeface="Noto Sans Symbols"/>
              <a:buChar char="✔"/>
            </a:pPr>
            <a:r>
              <a:rPr lang="en-US" sz="2000" b="1" i="0" dirty="0">
                <a:solidFill>
                  <a:srgbClr val="2B2A2A"/>
                </a:solidFill>
              </a:rPr>
              <a:t>Corrected</a:t>
            </a:r>
            <a:r>
              <a:rPr lang="en-US" sz="2000" dirty="0">
                <a:solidFill>
                  <a:srgbClr val="2B2A2A"/>
                </a:solidFill>
              </a:rPr>
              <a:t>, if an error is encountered</a:t>
            </a:r>
            <a:r>
              <a:rPr lang="en-US" sz="2000" b="0" i="0" dirty="0">
                <a:solidFill>
                  <a:srgbClr val="2B2A2A"/>
                </a:solidFill>
              </a:rPr>
              <a:t> </a:t>
            </a:r>
            <a:endParaRPr dirty="0"/>
          </a:p>
          <a:p>
            <a:pPr marL="1143000" lvl="2" indent="-228600" algn="just" rtl="0">
              <a:lnSpc>
                <a:spcPct val="150000"/>
              </a:lnSpc>
              <a:spcBef>
                <a:spcPts val="400"/>
              </a:spcBef>
              <a:spcAft>
                <a:spcPts val="0"/>
              </a:spcAft>
              <a:buClr>
                <a:srgbClr val="2B2A2A"/>
              </a:buClr>
              <a:buSzPts val="2000"/>
              <a:buFont typeface="Noto Sans Symbols"/>
              <a:buChar char="✔"/>
            </a:pPr>
            <a:r>
              <a:rPr lang="en-US" sz="2000" b="1" dirty="0">
                <a:solidFill>
                  <a:srgbClr val="2B2A2A"/>
                </a:solidFill>
              </a:rPr>
              <a:t>A</a:t>
            </a:r>
            <a:r>
              <a:rPr lang="en-US" sz="2000" b="1" i="0" dirty="0">
                <a:solidFill>
                  <a:srgbClr val="2B2A2A"/>
                </a:solidFill>
              </a:rPr>
              <a:t>dapted, </a:t>
            </a:r>
            <a:r>
              <a:rPr lang="en-US" sz="2000" b="0" i="0" dirty="0">
                <a:solidFill>
                  <a:srgbClr val="2B2A2A"/>
                </a:solidFill>
              </a:rPr>
              <a:t>if the environment changes</a:t>
            </a:r>
            <a:r>
              <a:rPr lang="en-US" sz="2000" dirty="0">
                <a:solidFill>
                  <a:srgbClr val="2B2A2A"/>
                </a:solidFill>
              </a:rPr>
              <a:t>, or</a:t>
            </a:r>
            <a:r>
              <a:rPr lang="en-US" sz="2000" b="0" i="0" dirty="0">
                <a:solidFill>
                  <a:srgbClr val="2B2A2A"/>
                </a:solidFill>
              </a:rPr>
              <a:t> </a:t>
            </a:r>
            <a:endParaRPr dirty="0"/>
          </a:p>
          <a:p>
            <a:pPr marL="1143000" lvl="2" indent="-228600" algn="just" rtl="0">
              <a:lnSpc>
                <a:spcPct val="150000"/>
              </a:lnSpc>
              <a:spcBef>
                <a:spcPts val="400"/>
              </a:spcBef>
              <a:spcAft>
                <a:spcPts val="0"/>
              </a:spcAft>
              <a:buClr>
                <a:srgbClr val="2B2A2A"/>
              </a:buClr>
              <a:buSzPts val="2000"/>
              <a:buFont typeface="Noto Sans Symbols"/>
              <a:buChar char="✔"/>
            </a:pPr>
            <a:r>
              <a:rPr lang="en-US" sz="2000" b="1" i="0" dirty="0">
                <a:solidFill>
                  <a:srgbClr val="2B2A2A"/>
                </a:solidFill>
              </a:rPr>
              <a:t>Enhanced</a:t>
            </a:r>
            <a:r>
              <a:rPr lang="en-US" sz="2000" b="0" i="0" dirty="0">
                <a:solidFill>
                  <a:srgbClr val="2B2A2A"/>
                </a:solidFill>
              </a:rPr>
              <a:t>, if the customer desires changes in requirements.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There is no way to measure maintainability directly; therefore, you must </a:t>
            </a:r>
            <a:r>
              <a:rPr lang="en-US" sz="2000" b="1" i="0" dirty="0">
                <a:solidFill>
                  <a:srgbClr val="242021"/>
                </a:solidFill>
              </a:rPr>
              <a:t>use indirect measures</a:t>
            </a:r>
            <a:r>
              <a:rPr lang="en-US" sz="2000" b="0" i="0" dirty="0">
                <a:solidFill>
                  <a:srgbClr val="242021"/>
                </a:solidFill>
              </a:rPr>
              <a:t>.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A simple time-oriented metric is </a:t>
            </a:r>
            <a:r>
              <a:rPr lang="en-US" sz="2000" b="0" i="1" dirty="0">
                <a:solidFill>
                  <a:srgbClr val="C00000"/>
                </a:solidFill>
              </a:rPr>
              <a:t>mean-time-to-change </a:t>
            </a:r>
            <a:r>
              <a:rPr lang="en-US" sz="2000" b="0" i="0" dirty="0">
                <a:solidFill>
                  <a:srgbClr val="C00000"/>
                </a:solidFill>
              </a:rPr>
              <a:t>(MTTC)</a:t>
            </a:r>
            <a:r>
              <a:rPr lang="en-US" sz="2000" b="0" i="0" dirty="0">
                <a:solidFill>
                  <a:srgbClr val="242021"/>
                </a:solidFill>
              </a:rPr>
              <a:t>, the time it takes to analyze the change request, design an appropriate modification, implement the change, test it, and distribute the change to all users. On average, programs that are </a:t>
            </a:r>
            <a:r>
              <a:rPr lang="en-US" sz="2000" b="1" i="0" dirty="0">
                <a:solidFill>
                  <a:srgbClr val="242021"/>
                </a:solidFill>
              </a:rPr>
              <a:t>maintainable will have a lower MTTC.</a:t>
            </a:r>
            <a:endParaRPr b="1"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b="0" i="0" dirty="0">
              <a:solidFill>
                <a:srgbClr val="2B2A2A"/>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Measures of Software Quality</a:t>
            </a:r>
            <a:endParaRPr/>
          </a:p>
        </p:txBody>
      </p:sp>
      <p:sp>
        <p:nvSpPr>
          <p:cNvPr id="251" name="Google Shape;251;p3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
        <p:nvSpPr>
          <p:cNvPr id="252" name="Google Shape;252;p30"/>
          <p:cNvSpPr txBox="1">
            <a:spLocks noGrp="1"/>
          </p:cNvSpPr>
          <p:nvPr>
            <p:ph type="body" idx="1"/>
          </p:nvPr>
        </p:nvSpPr>
        <p:spPr>
          <a:xfrm>
            <a:off x="457200" y="1042988"/>
            <a:ext cx="8229600" cy="542925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Font typeface="Calibri"/>
              <a:buAutoNum type="arabicPeriod" startAt="3"/>
            </a:pPr>
            <a:r>
              <a:rPr lang="en-US" sz="2000" b="1" i="1" dirty="0">
                <a:solidFill>
                  <a:srgbClr val="C00000"/>
                </a:solidFill>
              </a:rPr>
              <a:t>Integrity: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This attribute measures a </a:t>
            </a:r>
            <a:r>
              <a:rPr lang="en-US" sz="2000" b="1" i="0" dirty="0">
                <a:solidFill>
                  <a:srgbClr val="242021"/>
                </a:solidFill>
              </a:rPr>
              <a:t>system’s ability to withstand attacks </a:t>
            </a:r>
            <a:r>
              <a:rPr lang="en-US" sz="2000" b="0" i="0" dirty="0">
                <a:solidFill>
                  <a:srgbClr val="242021"/>
                </a:solidFill>
              </a:rPr>
              <a:t>(both accidental and intentional) to its security.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Attacks can be made on all three components of software: </a:t>
            </a:r>
            <a:r>
              <a:rPr lang="en-US" sz="2000" b="0" i="1" dirty="0">
                <a:solidFill>
                  <a:srgbClr val="242021"/>
                </a:solidFill>
              </a:rPr>
              <a:t>programs</a:t>
            </a:r>
            <a:r>
              <a:rPr lang="en-US" sz="2000" b="0" i="0" dirty="0">
                <a:solidFill>
                  <a:srgbClr val="242021"/>
                </a:solidFill>
              </a:rPr>
              <a:t>, </a:t>
            </a:r>
            <a:r>
              <a:rPr lang="en-US" sz="2000" b="0" i="1" dirty="0">
                <a:solidFill>
                  <a:srgbClr val="242021"/>
                </a:solidFill>
              </a:rPr>
              <a:t>data</a:t>
            </a:r>
            <a:r>
              <a:rPr lang="en-US" sz="2000" b="0" i="0" dirty="0">
                <a:solidFill>
                  <a:srgbClr val="242021"/>
                </a:solidFill>
              </a:rPr>
              <a:t>, and </a:t>
            </a:r>
            <a:r>
              <a:rPr lang="en-US" sz="2000" b="0" i="1" dirty="0">
                <a:solidFill>
                  <a:srgbClr val="242021"/>
                </a:solidFill>
              </a:rPr>
              <a:t>documentation</a:t>
            </a:r>
            <a:r>
              <a:rPr lang="en-US" sz="2000" b="0" i="0" dirty="0">
                <a:solidFill>
                  <a:srgbClr val="242021"/>
                </a:solidFill>
              </a:rPr>
              <a:t>.</a:t>
            </a:r>
            <a:endParaRPr dirty="0"/>
          </a:p>
          <a:p>
            <a:pPr marL="342900" lvl="0" indent="-342900" algn="just" rtl="0">
              <a:lnSpc>
                <a:spcPct val="150000"/>
              </a:lnSpc>
              <a:spcBef>
                <a:spcPts val="400"/>
              </a:spcBef>
              <a:spcAft>
                <a:spcPts val="0"/>
              </a:spcAft>
              <a:buClr>
                <a:srgbClr val="242021"/>
              </a:buClr>
              <a:buSzPts val="2000"/>
              <a:buChar char="•"/>
            </a:pPr>
            <a:r>
              <a:rPr lang="en-US" sz="2000" dirty="0">
                <a:solidFill>
                  <a:srgbClr val="242021"/>
                </a:solidFill>
              </a:rPr>
              <a:t>To measure integrity, two additional attributes must be defined: </a:t>
            </a:r>
            <a:r>
              <a:rPr lang="en-US" sz="2000" i="1" dirty="0">
                <a:solidFill>
                  <a:srgbClr val="242021"/>
                </a:solidFill>
              </a:rPr>
              <a:t>threat</a:t>
            </a:r>
            <a:r>
              <a:rPr lang="en-US" sz="2000" dirty="0">
                <a:solidFill>
                  <a:srgbClr val="242021"/>
                </a:solidFill>
              </a:rPr>
              <a:t> and </a:t>
            </a:r>
            <a:r>
              <a:rPr lang="en-US" sz="2000" i="1" dirty="0">
                <a:solidFill>
                  <a:srgbClr val="242021"/>
                </a:solidFill>
              </a:rPr>
              <a:t>security</a:t>
            </a:r>
            <a:r>
              <a:rPr lang="en-US" sz="2000" dirty="0">
                <a:solidFill>
                  <a:srgbClr val="242021"/>
                </a:solidFill>
              </a:rPr>
              <a:t>. </a:t>
            </a:r>
            <a:endParaRPr dirty="0"/>
          </a:p>
          <a:p>
            <a:pPr marL="742950" lvl="1" indent="-285750" algn="just" rtl="0">
              <a:lnSpc>
                <a:spcPct val="150000"/>
              </a:lnSpc>
              <a:spcBef>
                <a:spcPts val="400"/>
              </a:spcBef>
              <a:spcAft>
                <a:spcPts val="0"/>
              </a:spcAft>
              <a:buClr>
                <a:srgbClr val="00B0F0"/>
              </a:buClr>
              <a:buSzPts val="2000"/>
              <a:buChar char="–"/>
            </a:pPr>
            <a:r>
              <a:rPr lang="en-US" sz="2000" b="1" i="1" dirty="0">
                <a:solidFill>
                  <a:srgbClr val="00B0F0"/>
                </a:solidFill>
              </a:rPr>
              <a:t>Threat</a:t>
            </a:r>
            <a:r>
              <a:rPr lang="en-US" sz="2000" dirty="0">
                <a:solidFill>
                  <a:srgbClr val="242021"/>
                </a:solidFill>
              </a:rPr>
              <a:t> is </a:t>
            </a:r>
            <a:r>
              <a:rPr lang="en-US" sz="2000" b="1" dirty="0">
                <a:solidFill>
                  <a:srgbClr val="242021"/>
                </a:solidFill>
              </a:rPr>
              <a:t>the probability that an attack </a:t>
            </a:r>
            <a:r>
              <a:rPr lang="en-US" sz="2000" dirty="0">
                <a:solidFill>
                  <a:srgbClr val="242021"/>
                </a:solidFill>
              </a:rPr>
              <a:t>of a specific type </a:t>
            </a:r>
            <a:r>
              <a:rPr lang="en-US" sz="2000" b="1" dirty="0">
                <a:solidFill>
                  <a:srgbClr val="242021"/>
                </a:solidFill>
              </a:rPr>
              <a:t>will occur </a:t>
            </a:r>
            <a:r>
              <a:rPr lang="en-US" sz="2000" dirty="0">
                <a:solidFill>
                  <a:srgbClr val="242021"/>
                </a:solidFill>
              </a:rPr>
              <a:t>within a given time.</a:t>
            </a:r>
            <a:endParaRPr dirty="0"/>
          </a:p>
          <a:p>
            <a:pPr marL="742950" lvl="1" indent="-285750" algn="just" rtl="0">
              <a:lnSpc>
                <a:spcPct val="150000"/>
              </a:lnSpc>
              <a:spcBef>
                <a:spcPts val="400"/>
              </a:spcBef>
              <a:spcAft>
                <a:spcPts val="0"/>
              </a:spcAft>
              <a:buClr>
                <a:srgbClr val="00B0F0"/>
              </a:buClr>
              <a:buSzPts val="2000"/>
              <a:buChar char="–"/>
            </a:pPr>
            <a:r>
              <a:rPr lang="en-US" sz="2000" b="1" i="1" dirty="0">
                <a:solidFill>
                  <a:srgbClr val="00B0F0"/>
                </a:solidFill>
              </a:rPr>
              <a:t>Security</a:t>
            </a:r>
            <a:r>
              <a:rPr lang="en-US" sz="2000" dirty="0">
                <a:solidFill>
                  <a:srgbClr val="242021"/>
                </a:solidFill>
              </a:rPr>
              <a:t> is the </a:t>
            </a:r>
            <a:r>
              <a:rPr lang="en-US" sz="2000" b="1" dirty="0">
                <a:solidFill>
                  <a:srgbClr val="242021"/>
                </a:solidFill>
              </a:rPr>
              <a:t>probability that the attack </a:t>
            </a:r>
            <a:r>
              <a:rPr lang="en-US" sz="2000" dirty="0">
                <a:solidFill>
                  <a:srgbClr val="242021"/>
                </a:solidFill>
              </a:rPr>
              <a:t>of a specific type will be </a:t>
            </a:r>
            <a:r>
              <a:rPr lang="en-US" sz="2000" b="1" dirty="0">
                <a:solidFill>
                  <a:srgbClr val="242021"/>
                </a:solidFill>
              </a:rPr>
              <a:t>repelled. </a:t>
            </a:r>
            <a:endParaRPr b="1" dirty="0"/>
          </a:p>
          <a:p>
            <a:pPr marL="457200" lvl="1" indent="0" algn="just" rtl="0">
              <a:lnSpc>
                <a:spcPct val="150000"/>
              </a:lnSpc>
              <a:spcBef>
                <a:spcPts val="400"/>
              </a:spcBef>
              <a:spcAft>
                <a:spcPts val="0"/>
              </a:spcAft>
              <a:buClr>
                <a:schemeClr val="dk1"/>
              </a:buClr>
              <a:buSzPts val="2000"/>
              <a:buNone/>
            </a:pPr>
            <a:r>
              <a:rPr lang="en-US" sz="2000" dirty="0"/>
              <a:t/>
            </a:r>
            <a:br>
              <a:rPr lang="en-US" sz="2000" dirty="0"/>
            </a:br>
            <a:r>
              <a:rPr lang="en-US" sz="2000" dirty="0"/>
              <a:t/>
            </a:r>
            <a:br>
              <a:rPr lang="en-US" sz="2000" dirty="0"/>
            </a:br>
            <a:endParaRPr sz="2000" dirty="0">
              <a:solidFill>
                <a:srgbClr val="30303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Measures of Software Quality</a:t>
            </a:r>
            <a:endParaRPr/>
          </a:p>
        </p:txBody>
      </p:sp>
      <p:sp>
        <p:nvSpPr>
          <p:cNvPr id="258" name="Google Shape;258;p3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
        <p:nvSpPr>
          <p:cNvPr id="259" name="Google Shape;259;p31"/>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Font typeface="Calibri"/>
              <a:buAutoNum type="arabicPeriod" startAt="3"/>
            </a:pPr>
            <a:r>
              <a:rPr lang="en-US" sz="2000" b="1" i="1" dirty="0">
                <a:solidFill>
                  <a:srgbClr val="C00000"/>
                </a:solidFill>
              </a:rPr>
              <a:t>Integrity (contd.):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The integrity of a system can then be defined as:</a:t>
            </a:r>
            <a:endParaRPr dirty="0"/>
          </a:p>
          <a:p>
            <a:pPr marL="342900" lvl="0" indent="-215900" algn="just" rtl="0">
              <a:lnSpc>
                <a:spcPct val="150000"/>
              </a:lnSpc>
              <a:spcBef>
                <a:spcPts val="400"/>
              </a:spcBef>
              <a:spcAft>
                <a:spcPts val="0"/>
              </a:spcAft>
              <a:buClr>
                <a:schemeClr val="dk1"/>
              </a:buClr>
              <a:buSzPts val="2000"/>
              <a:buNone/>
            </a:pPr>
            <a:endParaRPr sz="2000" dirty="0">
              <a:solidFill>
                <a:srgbClr val="242021"/>
              </a:solidFill>
            </a:endParaRPr>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For example, if threat (the probability that an attack will occur) is 0.25 and security (the likelihood of repelling an attack) is 0.95, the integrity of the system is 0.9875 (very high). </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If, on the other hand, the threat probability is 0.50 and the likelihood of repelling an attack is only 0.25, the integrity of the system is 0.625 (unacceptably low).</a:t>
            </a:r>
            <a:endParaRPr dirty="0"/>
          </a:p>
          <a:p>
            <a:pPr marL="0" lvl="0" indent="0" algn="just" rtl="0">
              <a:lnSpc>
                <a:spcPct val="150000"/>
              </a:lnSpc>
              <a:spcBef>
                <a:spcPts val="400"/>
              </a:spcBef>
              <a:spcAft>
                <a:spcPts val="0"/>
              </a:spcAft>
              <a:buClr>
                <a:schemeClr val="dk1"/>
              </a:buClr>
              <a:buSzPts val="2000"/>
              <a:buNone/>
            </a:pPr>
            <a:r>
              <a:rPr lang="en-US" sz="2000" dirty="0"/>
              <a:t> </a:t>
            </a:r>
            <a:br>
              <a:rPr lang="en-US" sz="2000" dirty="0"/>
            </a:br>
            <a:r>
              <a:rPr lang="en-US" sz="2000" dirty="0"/>
              <a:t> </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solidFill>
                <a:srgbClr val="303030"/>
              </a:solidFill>
            </a:endParaRPr>
          </a:p>
        </p:txBody>
      </p:sp>
      <p:pic>
        <p:nvPicPr>
          <p:cNvPr id="260" name="Google Shape;260;p31"/>
          <p:cNvPicPr preferRelativeResize="0"/>
          <p:nvPr/>
        </p:nvPicPr>
        <p:blipFill rotWithShape="1">
          <a:blip r:embed="rId3">
            <a:alphaModFix/>
          </a:blip>
          <a:srcRect/>
          <a:stretch/>
        </p:blipFill>
        <p:spPr>
          <a:xfrm>
            <a:off x="2162175" y="2428875"/>
            <a:ext cx="4314825" cy="3524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Measures of Software Quality</a:t>
            </a:r>
            <a:endParaRPr/>
          </a:p>
        </p:txBody>
      </p:sp>
      <p:sp>
        <p:nvSpPr>
          <p:cNvPr id="266" name="Google Shape;266;p3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
        <p:nvSpPr>
          <p:cNvPr id="267" name="Google Shape;267;p32"/>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Font typeface="Calibri"/>
              <a:buAutoNum type="arabicPeriod" startAt="4"/>
            </a:pPr>
            <a:r>
              <a:rPr lang="en-US" sz="2000" b="1" i="1" dirty="0">
                <a:solidFill>
                  <a:srgbClr val="C00000"/>
                </a:solidFill>
              </a:rPr>
              <a:t>Usability</a:t>
            </a:r>
            <a:endParaRPr dirty="0"/>
          </a:p>
          <a:p>
            <a:pPr marL="342900" lvl="0" indent="-342900" algn="just" rtl="0">
              <a:lnSpc>
                <a:spcPct val="150000"/>
              </a:lnSpc>
              <a:spcBef>
                <a:spcPts val="400"/>
              </a:spcBef>
              <a:spcAft>
                <a:spcPts val="0"/>
              </a:spcAft>
              <a:buClr>
                <a:srgbClr val="242021"/>
              </a:buClr>
              <a:buSzPts val="2000"/>
              <a:buChar char="•"/>
            </a:pPr>
            <a:r>
              <a:rPr lang="en-US" sz="2000" b="0" i="0" dirty="0">
                <a:solidFill>
                  <a:srgbClr val="242021"/>
                </a:solidFill>
              </a:rPr>
              <a:t>If a program is not easy to use, it is often doomed to failure, even if the functions that it performs are valuable.</a:t>
            </a:r>
            <a:r>
              <a:rPr lang="en-US" sz="2000" dirty="0"/>
              <a:t> </a:t>
            </a:r>
            <a:endParaRPr dirty="0"/>
          </a:p>
          <a:p>
            <a:pPr marL="342900" lvl="0" indent="-342900" algn="just" rtl="0">
              <a:lnSpc>
                <a:spcPct val="150000"/>
              </a:lnSpc>
              <a:spcBef>
                <a:spcPts val="400"/>
              </a:spcBef>
              <a:spcAft>
                <a:spcPts val="0"/>
              </a:spcAft>
              <a:buClr>
                <a:schemeClr val="dk1"/>
              </a:buClr>
              <a:buSzPts val="2000"/>
              <a:buChar char="•"/>
            </a:pPr>
            <a:r>
              <a:rPr lang="en-US" sz="2000" b="1" dirty="0"/>
              <a:t>Usability is </a:t>
            </a:r>
            <a:r>
              <a:rPr lang="en-US" sz="2000" b="1" i="0" dirty="0">
                <a:solidFill>
                  <a:srgbClr val="2B2A2A"/>
                </a:solidFill>
              </a:rPr>
              <a:t>an attempt to quantify “user friendliness”.</a:t>
            </a:r>
            <a:r>
              <a:rPr lang="en-US" sz="2000" b="0" i="0" dirty="0">
                <a:solidFill>
                  <a:srgbClr val="2B2A2A"/>
                </a:solidFill>
              </a:rPr>
              <a:t> </a:t>
            </a:r>
            <a:endParaRPr dirty="0"/>
          </a:p>
          <a:p>
            <a:pPr marL="457200" lvl="1" indent="0" algn="just" rtl="0">
              <a:lnSpc>
                <a:spcPct val="150000"/>
              </a:lnSpc>
              <a:spcBef>
                <a:spcPts val="400"/>
              </a:spcBef>
              <a:spcAft>
                <a:spcPts val="0"/>
              </a:spcAft>
              <a:buClr>
                <a:schemeClr val="dk1"/>
              </a:buClr>
              <a:buSzPts val="2000"/>
              <a:buNone/>
            </a:pPr>
            <a:r>
              <a:rPr lang="en-US" sz="2000" dirty="0"/>
              <a:t> </a:t>
            </a:r>
            <a:br>
              <a:rPr lang="en-US" sz="2000" dirty="0"/>
            </a:br>
            <a:r>
              <a:rPr lang="en-US" sz="2000" dirty="0"/>
              <a:t> </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solidFill>
                <a:srgbClr val="30303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Defect Removal Efficiency</a:t>
            </a:r>
            <a:endParaRPr/>
          </a:p>
        </p:txBody>
      </p:sp>
      <p:sp>
        <p:nvSpPr>
          <p:cNvPr id="273" name="Google Shape;273;p3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
        <p:nvSpPr>
          <p:cNvPr id="274" name="Google Shape;274;p33"/>
          <p:cNvSpPr txBox="1">
            <a:spLocks noGrp="1"/>
          </p:cNvSpPr>
          <p:nvPr>
            <p:ph type="body" idx="1"/>
          </p:nvPr>
        </p:nvSpPr>
        <p:spPr>
          <a:xfrm>
            <a:off x="457200" y="838200"/>
            <a:ext cx="8229600" cy="57912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42021"/>
              </a:buClr>
              <a:buSzPts val="2000"/>
              <a:buChar char="•"/>
            </a:pPr>
            <a:r>
              <a:rPr lang="en-US" sz="1900" b="0" i="0" dirty="0">
                <a:solidFill>
                  <a:srgbClr val="242021"/>
                </a:solidFill>
              </a:rPr>
              <a:t>A quality metric that provides benefit at both the project and process level is </a:t>
            </a:r>
            <a:r>
              <a:rPr lang="en-US" sz="1900" b="0" i="1" dirty="0">
                <a:solidFill>
                  <a:srgbClr val="242021"/>
                </a:solidFill>
              </a:rPr>
              <a:t>defect removal efficiency </a:t>
            </a:r>
            <a:r>
              <a:rPr lang="en-US" sz="1900" b="0" i="0" dirty="0">
                <a:solidFill>
                  <a:srgbClr val="242021"/>
                </a:solidFill>
              </a:rPr>
              <a:t>(DRE). </a:t>
            </a:r>
            <a:endParaRPr sz="1900" dirty="0"/>
          </a:p>
          <a:p>
            <a:pPr marL="342900" lvl="0" indent="-342900" algn="just" rtl="0">
              <a:lnSpc>
                <a:spcPct val="150000"/>
              </a:lnSpc>
              <a:spcBef>
                <a:spcPts val="400"/>
              </a:spcBef>
              <a:spcAft>
                <a:spcPts val="0"/>
              </a:spcAft>
              <a:buClr>
                <a:srgbClr val="242021"/>
              </a:buClr>
              <a:buSzPts val="2000"/>
              <a:buChar char="•"/>
            </a:pPr>
            <a:r>
              <a:rPr lang="en-US" sz="1900" b="0" i="0" dirty="0">
                <a:solidFill>
                  <a:srgbClr val="242021"/>
                </a:solidFill>
              </a:rPr>
              <a:t>In essence, DRE is a </a:t>
            </a:r>
            <a:r>
              <a:rPr lang="en-US" sz="1900" b="1" i="0" dirty="0">
                <a:solidFill>
                  <a:srgbClr val="242021"/>
                </a:solidFill>
              </a:rPr>
              <a:t>measure of the filtering ability of quality assurance and control actions </a:t>
            </a:r>
            <a:r>
              <a:rPr lang="en-US" sz="1900" b="0" i="0" dirty="0">
                <a:solidFill>
                  <a:srgbClr val="242021"/>
                </a:solidFill>
              </a:rPr>
              <a:t>as they are applied throughout all process framework activities.</a:t>
            </a:r>
            <a:r>
              <a:rPr lang="en-US" sz="1900" dirty="0"/>
              <a:t> </a:t>
            </a:r>
            <a:endParaRPr sz="1900" dirty="0"/>
          </a:p>
          <a:p>
            <a:pPr marL="342900" lvl="0" indent="-342900" algn="just" rtl="0">
              <a:lnSpc>
                <a:spcPct val="150000"/>
              </a:lnSpc>
              <a:spcBef>
                <a:spcPts val="400"/>
              </a:spcBef>
              <a:spcAft>
                <a:spcPts val="0"/>
              </a:spcAft>
              <a:buClr>
                <a:srgbClr val="242021"/>
              </a:buClr>
              <a:buSzPts val="2000"/>
              <a:buChar char="•"/>
            </a:pPr>
            <a:r>
              <a:rPr lang="en-US" sz="1900" b="0" i="0" dirty="0">
                <a:solidFill>
                  <a:srgbClr val="242021"/>
                </a:solidFill>
              </a:rPr>
              <a:t>When considered for a project as a whole, DRE is defined in the following manner:</a:t>
            </a:r>
            <a:endParaRPr sz="1900" dirty="0"/>
          </a:p>
          <a:p>
            <a:pPr marL="0" lvl="0" indent="0" algn="just" rtl="0">
              <a:lnSpc>
                <a:spcPct val="150000"/>
              </a:lnSpc>
              <a:spcBef>
                <a:spcPts val="400"/>
              </a:spcBef>
              <a:spcAft>
                <a:spcPts val="0"/>
              </a:spcAft>
              <a:buClr>
                <a:schemeClr val="dk1"/>
              </a:buClr>
              <a:buSzPts val="2000"/>
              <a:buNone/>
            </a:pPr>
            <a:endParaRPr sz="1900" b="0" i="0" dirty="0">
              <a:solidFill>
                <a:srgbClr val="242021"/>
              </a:solidFill>
            </a:endParaRPr>
          </a:p>
          <a:p>
            <a:pPr marL="342900" lvl="0" indent="-342900" algn="just" rtl="0">
              <a:lnSpc>
                <a:spcPct val="150000"/>
              </a:lnSpc>
              <a:spcBef>
                <a:spcPts val="400"/>
              </a:spcBef>
              <a:spcAft>
                <a:spcPts val="0"/>
              </a:spcAft>
              <a:buClr>
                <a:srgbClr val="242021"/>
              </a:buClr>
              <a:buSzPts val="2000"/>
              <a:buChar char="•"/>
            </a:pPr>
            <a:r>
              <a:rPr lang="en-US" sz="1900" dirty="0">
                <a:solidFill>
                  <a:srgbClr val="242021"/>
                </a:solidFill>
              </a:rPr>
              <a:t>Here,</a:t>
            </a:r>
            <a:r>
              <a:rPr lang="en-US" sz="1900" b="0" i="0" dirty="0">
                <a:solidFill>
                  <a:srgbClr val="242021"/>
                </a:solidFill>
              </a:rPr>
              <a:t> </a:t>
            </a:r>
            <a:r>
              <a:rPr lang="en-US" sz="1900" b="0" i="1" dirty="0">
                <a:solidFill>
                  <a:srgbClr val="242021"/>
                </a:solidFill>
              </a:rPr>
              <a:t>E </a:t>
            </a:r>
            <a:r>
              <a:rPr lang="en-US" sz="1900" b="0" i="0" dirty="0">
                <a:solidFill>
                  <a:srgbClr val="242021"/>
                </a:solidFill>
              </a:rPr>
              <a:t>is </a:t>
            </a:r>
            <a:r>
              <a:rPr lang="en-US" sz="1900" b="1" i="0" dirty="0">
                <a:solidFill>
                  <a:srgbClr val="242021"/>
                </a:solidFill>
              </a:rPr>
              <a:t>the number of errors found before delivery </a:t>
            </a:r>
            <a:r>
              <a:rPr lang="en-US" sz="1900" b="0" i="0" dirty="0">
                <a:solidFill>
                  <a:srgbClr val="242021"/>
                </a:solidFill>
              </a:rPr>
              <a:t>of the software to the end user and </a:t>
            </a:r>
            <a:r>
              <a:rPr lang="en-US" sz="1900" b="0" i="1" dirty="0">
                <a:solidFill>
                  <a:srgbClr val="242021"/>
                </a:solidFill>
              </a:rPr>
              <a:t>D </a:t>
            </a:r>
            <a:r>
              <a:rPr lang="en-US" sz="1900" b="0" i="0" dirty="0">
                <a:solidFill>
                  <a:srgbClr val="242021"/>
                </a:solidFill>
              </a:rPr>
              <a:t>is the number of </a:t>
            </a:r>
            <a:r>
              <a:rPr lang="en-US" sz="1900" b="1" i="0" dirty="0">
                <a:solidFill>
                  <a:srgbClr val="242021"/>
                </a:solidFill>
              </a:rPr>
              <a:t>defects found after delivery</a:t>
            </a:r>
            <a:r>
              <a:rPr lang="en-US" sz="1900" b="0" i="0" dirty="0">
                <a:solidFill>
                  <a:srgbClr val="242021"/>
                </a:solidFill>
              </a:rPr>
              <a:t>.</a:t>
            </a:r>
            <a:r>
              <a:rPr lang="en-US" sz="1900" dirty="0"/>
              <a:t> </a:t>
            </a:r>
            <a:endParaRPr sz="1900" dirty="0"/>
          </a:p>
          <a:p>
            <a:pPr marL="342900" lvl="0" indent="-342900" algn="just" rtl="0">
              <a:lnSpc>
                <a:spcPct val="150000"/>
              </a:lnSpc>
              <a:spcBef>
                <a:spcPts val="400"/>
              </a:spcBef>
              <a:spcAft>
                <a:spcPts val="0"/>
              </a:spcAft>
              <a:buClr>
                <a:srgbClr val="000000"/>
              </a:buClr>
              <a:buSzPts val="2000"/>
              <a:buFont typeface="Arial"/>
              <a:buChar char="•"/>
            </a:pPr>
            <a:r>
              <a:rPr lang="en-US" sz="1900" b="0" i="0" u="none" strike="noStrike" dirty="0">
                <a:solidFill>
                  <a:srgbClr val="000000"/>
                </a:solidFill>
                <a:sym typeface="Times New Roman"/>
              </a:rPr>
              <a:t>As D </a:t>
            </a:r>
            <a:r>
              <a:rPr lang="en-US" sz="1900" b="0" i="0" u="sng" strike="noStrike" dirty="0">
                <a:solidFill>
                  <a:srgbClr val="000000"/>
                </a:solidFill>
                <a:sym typeface="Times New Roman"/>
              </a:rPr>
              <a:t>increases</a:t>
            </a:r>
            <a:r>
              <a:rPr lang="en-US" sz="1900" b="0" i="0" u="none" strike="noStrike" dirty="0">
                <a:solidFill>
                  <a:srgbClr val="000000"/>
                </a:solidFill>
                <a:sym typeface="Times New Roman"/>
              </a:rPr>
              <a:t>, DRE </a:t>
            </a:r>
            <a:r>
              <a:rPr lang="en-US" sz="1900" b="0" i="0" u="sng" strike="noStrike" dirty="0">
                <a:solidFill>
                  <a:srgbClr val="000000"/>
                </a:solidFill>
                <a:sym typeface="Times New Roman"/>
              </a:rPr>
              <a:t>decreases</a:t>
            </a:r>
            <a:r>
              <a:rPr lang="en-US" sz="1900" b="0" i="0" u="none" strike="noStrike" dirty="0">
                <a:solidFill>
                  <a:srgbClr val="000000"/>
                </a:solidFill>
                <a:sym typeface="Times New Roman"/>
              </a:rPr>
              <a:t> (i.e., becomes a smaller and smaller fraction)</a:t>
            </a:r>
            <a:endParaRPr sz="1900" dirty="0"/>
          </a:p>
          <a:p>
            <a:pPr marL="342900" lvl="0" indent="-342900" algn="just" rtl="0">
              <a:lnSpc>
                <a:spcPct val="150000"/>
              </a:lnSpc>
              <a:spcBef>
                <a:spcPts val="400"/>
              </a:spcBef>
              <a:spcAft>
                <a:spcPts val="0"/>
              </a:spcAft>
              <a:buClr>
                <a:srgbClr val="000000"/>
              </a:buClr>
              <a:buSzPts val="2000"/>
              <a:buFont typeface="Arial"/>
              <a:buChar char="•"/>
            </a:pPr>
            <a:r>
              <a:rPr lang="en-US" sz="1900" b="0" i="0" u="none" strike="noStrike" dirty="0">
                <a:solidFill>
                  <a:srgbClr val="000000"/>
                </a:solidFill>
                <a:sym typeface="Times New Roman"/>
              </a:rPr>
              <a:t>The ideal value of DRE is 1, which means no defects are found after delivery.</a:t>
            </a:r>
            <a:r>
              <a:rPr lang="en-US" sz="1900" dirty="0"/>
              <a:t/>
            </a:r>
            <a:br>
              <a:rPr lang="en-US" sz="1900" dirty="0"/>
            </a:br>
            <a:r>
              <a:rPr lang="en-US" sz="1900" dirty="0"/>
              <a:t/>
            </a:r>
            <a:br>
              <a:rPr lang="en-US" sz="1900" dirty="0"/>
            </a:br>
            <a:r>
              <a:rPr lang="en-US" sz="1900" dirty="0"/>
              <a:t> </a:t>
            </a:r>
            <a:br>
              <a:rPr lang="en-US" sz="1900" dirty="0"/>
            </a:br>
            <a:r>
              <a:rPr lang="en-US" sz="1900" dirty="0"/>
              <a:t> </a:t>
            </a:r>
            <a:endParaRPr sz="1900" dirty="0"/>
          </a:p>
          <a:p>
            <a:pPr marL="0" lvl="0" indent="0" algn="just" rtl="0">
              <a:lnSpc>
                <a:spcPct val="150000"/>
              </a:lnSpc>
              <a:spcBef>
                <a:spcPts val="400"/>
              </a:spcBef>
              <a:spcAft>
                <a:spcPts val="0"/>
              </a:spcAft>
              <a:buClr>
                <a:schemeClr val="dk1"/>
              </a:buClr>
              <a:buSzPts val="2000"/>
              <a:buNone/>
            </a:pPr>
            <a:r>
              <a:rPr lang="en-US" sz="1900" dirty="0"/>
              <a:t/>
            </a:r>
            <a:br>
              <a:rPr lang="en-US" sz="1900" dirty="0"/>
            </a:br>
            <a:endParaRPr sz="1900" dirty="0">
              <a:solidFill>
                <a:srgbClr val="303030"/>
              </a:solidFill>
            </a:endParaRPr>
          </a:p>
        </p:txBody>
      </p:sp>
      <p:pic>
        <p:nvPicPr>
          <p:cNvPr id="275" name="Google Shape;275;p33"/>
          <p:cNvPicPr preferRelativeResize="0"/>
          <p:nvPr/>
        </p:nvPicPr>
        <p:blipFill rotWithShape="1">
          <a:blip r:embed="rId3">
            <a:alphaModFix/>
          </a:blip>
          <a:srcRect/>
          <a:stretch/>
        </p:blipFill>
        <p:spPr>
          <a:xfrm>
            <a:off x="2100262" y="3843338"/>
            <a:ext cx="1543050" cy="638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4"/>
          <p:cNvSpPr txBox="1"/>
          <p:nvPr/>
        </p:nvSpPr>
        <p:spPr>
          <a:xfrm>
            <a:off x="152400" y="914400"/>
            <a:ext cx="8763000" cy="4038600"/>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5400" b="1">
                <a:solidFill>
                  <a:srgbClr val="3A30FA"/>
                </a:solidFill>
                <a:latin typeface="Times New Roman"/>
                <a:ea typeface="Times New Roman"/>
                <a:cs typeface="Times New Roman"/>
                <a:sym typeface="Times New Roman"/>
              </a:rPr>
              <a:t>Product Metrics</a:t>
            </a:r>
            <a:endParaRPr/>
          </a:p>
        </p:txBody>
      </p:sp>
      <p:sp>
        <p:nvSpPr>
          <p:cNvPr id="282" name="Google Shape;282;p3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Measures, Metrics and Indicators</a:t>
            </a:r>
            <a:endParaRPr/>
          </a:p>
        </p:txBody>
      </p:sp>
      <p:sp>
        <p:nvSpPr>
          <p:cNvPr id="288" name="Google Shape;288;p3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
        <p:nvSpPr>
          <p:cNvPr id="289" name="Google Shape;289;p35"/>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2000" dirty="0"/>
              <a:t>A</a:t>
            </a:r>
            <a:r>
              <a:rPr lang="en-US" sz="2000" dirty="0">
                <a:solidFill>
                  <a:schemeClr val="folHlink"/>
                </a:solidFill>
              </a:rPr>
              <a:t> </a:t>
            </a:r>
            <a:r>
              <a:rPr lang="en-US" sz="2000" i="1" dirty="0">
                <a:solidFill>
                  <a:srgbClr val="C00000"/>
                </a:solidFill>
              </a:rPr>
              <a:t>measure</a:t>
            </a:r>
            <a:r>
              <a:rPr lang="en-US" sz="2000" dirty="0"/>
              <a:t> provides a </a:t>
            </a:r>
            <a:r>
              <a:rPr lang="en-US" sz="2000" b="1" dirty="0"/>
              <a:t>quantitative indication of the extent, amount, dimension, capacity, or size of some attribute </a:t>
            </a:r>
            <a:r>
              <a:rPr lang="en-US" sz="2000" dirty="0"/>
              <a:t>of a product or process.</a:t>
            </a:r>
            <a:endParaRPr dirty="0"/>
          </a:p>
          <a:p>
            <a:pPr marL="0" lvl="0" indent="0" algn="just" rtl="0">
              <a:lnSpc>
                <a:spcPct val="150000"/>
              </a:lnSpc>
              <a:spcBef>
                <a:spcPts val="200"/>
              </a:spcBef>
              <a:spcAft>
                <a:spcPts val="0"/>
              </a:spcAft>
              <a:buClr>
                <a:schemeClr val="dk1"/>
              </a:buClr>
              <a:buSzPts val="1000"/>
              <a:buNone/>
            </a:pPr>
            <a:endParaRPr sz="1000" dirty="0"/>
          </a:p>
          <a:p>
            <a:pPr marL="342900" lvl="0" indent="-342900" algn="just" rtl="0">
              <a:lnSpc>
                <a:spcPct val="150000"/>
              </a:lnSpc>
              <a:spcBef>
                <a:spcPts val="400"/>
              </a:spcBef>
              <a:spcAft>
                <a:spcPts val="0"/>
              </a:spcAft>
              <a:buClr>
                <a:schemeClr val="dk1"/>
              </a:buClr>
              <a:buSzPts val="2000"/>
              <a:buChar char="•"/>
            </a:pPr>
            <a:r>
              <a:rPr lang="en-US" sz="2000" dirty="0"/>
              <a:t>IEEE defines</a:t>
            </a:r>
            <a:r>
              <a:rPr lang="en-US" sz="2000" i="1" dirty="0">
                <a:solidFill>
                  <a:schemeClr val="folHlink"/>
                </a:solidFill>
              </a:rPr>
              <a:t> </a:t>
            </a:r>
            <a:r>
              <a:rPr lang="en-US" sz="2000" i="1" dirty="0">
                <a:solidFill>
                  <a:srgbClr val="C00000"/>
                </a:solidFill>
              </a:rPr>
              <a:t>metric</a:t>
            </a:r>
            <a:r>
              <a:rPr lang="en-US" sz="2000" dirty="0">
                <a:solidFill>
                  <a:schemeClr val="folHlink"/>
                </a:solidFill>
              </a:rPr>
              <a:t> </a:t>
            </a:r>
            <a:r>
              <a:rPr lang="en-US" sz="2000" dirty="0"/>
              <a:t>as “a quantitative measure of the degree to which a system, component, or </a:t>
            </a:r>
            <a:r>
              <a:rPr lang="en-US" sz="2000" b="1" dirty="0"/>
              <a:t>process possesses a given attribute</a:t>
            </a:r>
            <a:r>
              <a:rPr lang="en-US" sz="2000" dirty="0"/>
              <a:t>.”</a:t>
            </a:r>
            <a:endParaRPr dirty="0"/>
          </a:p>
          <a:p>
            <a:pPr marL="0" lvl="0" indent="0" algn="just" rtl="0">
              <a:lnSpc>
                <a:spcPct val="150000"/>
              </a:lnSpc>
              <a:spcBef>
                <a:spcPts val="200"/>
              </a:spcBef>
              <a:spcAft>
                <a:spcPts val="0"/>
              </a:spcAft>
              <a:buClr>
                <a:schemeClr val="dk1"/>
              </a:buClr>
              <a:buSzPts val="1000"/>
              <a:buNone/>
            </a:pPr>
            <a:endParaRPr sz="1000" dirty="0"/>
          </a:p>
          <a:p>
            <a:pPr marL="342900" lvl="0" indent="-342900" algn="just" rtl="0">
              <a:lnSpc>
                <a:spcPct val="150000"/>
              </a:lnSpc>
              <a:spcBef>
                <a:spcPts val="400"/>
              </a:spcBef>
              <a:spcAft>
                <a:spcPts val="0"/>
              </a:spcAft>
              <a:buClr>
                <a:schemeClr val="dk1"/>
              </a:buClr>
              <a:buSzPts val="2000"/>
              <a:buChar char="•"/>
            </a:pPr>
            <a:r>
              <a:rPr lang="en-US" sz="2000" dirty="0"/>
              <a:t>An </a:t>
            </a:r>
            <a:r>
              <a:rPr lang="en-US" sz="2000" i="1" dirty="0">
                <a:solidFill>
                  <a:srgbClr val="C00000"/>
                </a:solidFill>
              </a:rPr>
              <a:t>indicator</a:t>
            </a:r>
            <a:r>
              <a:rPr lang="en-US" sz="2000" dirty="0">
                <a:solidFill>
                  <a:srgbClr val="C00000"/>
                </a:solidFill>
              </a:rPr>
              <a:t> </a:t>
            </a:r>
            <a:r>
              <a:rPr lang="en-US" sz="2000" dirty="0"/>
              <a:t>is a metric or combination of metrics that </a:t>
            </a:r>
            <a:r>
              <a:rPr lang="en-US" sz="2000" b="1" dirty="0"/>
              <a:t>provide insight into the software process</a:t>
            </a:r>
            <a:r>
              <a:rPr lang="en-US" sz="2000" dirty="0"/>
              <a:t>, a software project, or the product itself. </a:t>
            </a:r>
            <a:endParaRPr dirty="0"/>
          </a:p>
          <a:p>
            <a:pPr marL="0" lvl="0" indent="0" algn="just" rtl="0">
              <a:lnSpc>
                <a:spcPct val="150000"/>
              </a:lnSpc>
              <a:spcBef>
                <a:spcPts val="200"/>
              </a:spcBef>
              <a:spcAft>
                <a:spcPts val="0"/>
              </a:spcAft>
              <a:buClr>
                <a:schemeClr val="dk1"/>
              </a:buClr>
              <a:buSzPts val="1000"/>
              <a:buNone/>
            </a:pPr>
            <a:endParaRPr sz="1000" dirty="0"/>
          </a:p>
          <a:p>
            <a:pPr marL="342900" lvl="0" indent="-342900" algn="just" rtl="0">
              <a:lnSpc>
                <a:spcPct val="150000"/>
              </a:lnSpc>
              <a:spcBef>
                <a:spcPts val="400"/>
              </a:spcBef>
              <a:spcAft>
                <a:spcPts val="0"/>
              </a:spcAft>
              <a:buClr>
                <a:schemeClr val="dk1"/>
              </a:buClr>
              <a:buSzPts val="2000"/>
              <a:buChar char="•"/>
            </a:pPr>
            <a:r>
              <a:rPr lang="en-US" sz="2000" dirty="0"/>
              <a:t>An indicator provides insight that enables the project manager or software engineers to adjust the process, the project, or the product to make things better. </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Measurement Process</a:t>
            </a:r>
            <a:endParaRPr/>
          </a:p>
        </p:txBody>
      </p:sp>
      <p:sp>
        <p:nvSpPr>
          <p:cNvPr id="295" name="Google Shape;295;p3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
        <p:nvSpPr>
          <p:cNvPr id="296" name="Google Shape;296;p36"/>
          <p:cNvSpPr txBox="1">
            <a:spLocks noGrp="1"/>
          </p:cNvSpPr>
          <p:nvPr>
            <p:ph type="body" idx="1"/>
          </p:nvPr>
        </p:nvSpPr>
        <p:spPr>
          <a:xfrm>
            <a:off x="457200" y="1214437"/>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242021"/>
              </a:buClr>
              <a:buSzPts val="2000"/>
              <a:buNone/>
            </a:pPr>
            <a:r>
              <a:rPr lang="en-US" sz="2000" dirty="0">
                <a:solidFill>
                  <a:srgbClr val="242021"/>
                </a:solidFill>
              </a:rPr>
              <a:t>A </a:t>
            </a:r>
            <a:r>
              <a:rPr lang="en-US" sz="2000" b="0" i="0" dirty="0">
                <a:solidFill>
                  <a:srgbClr val="242021"/>
                </a:solidFill>
              </a:rPr>
              <a:t>measurement process can be characterized by five activities:</a:t>
            </a:r>
            <a:endParaRPr dirty="0"/>
          </a:p>
          <a:p>
            <a:pPr marL="457200" lvl="0" indent="-457200" algn="just" rtl="0">
              <a:lnSpc>
                <a:spcPct val="150000"/>
              </a:lnSpc>
              <a:spcBef>
                <a:spcPts val="300"/>
              </a:spcBef>
              <a:spcAft>
                <a:spcPts val="0"/>
              </a:spcAft>
              <a:buClr>
                <a:srgbClr val="C00000"/>
              </a:buClr>
              <a:buSzPts val="2000"/>
              <a:buFont typeface="Calibri"/>
              <a:buAutoNum type="arabicPeriod"/>
            </a:pPr>
            <a:r>
              <a:rPr lang="en-US" sz="2000" i="1" dirty="0">
                <a:solidFill>
                  <a:srgbClr val="C00000"/>
                </a:solidFill>
              </a:rPr>
              <a:t>Formulation.</a:t>
            </a:r>
            <a:r>
              <a:rPr lang="en-US" sz="2000" dirty="0">
                <a:solidFill>
                  <a:srgbClr val="C00000"/>
                </a:solidFill>
              </a:rPr>
              <a:t> </a:t>
            </a:r>
            <a:r>
              <a:rPr lang="en-US" sz="2000" dirty="0"/>
              <a:t>The </a:t>
            </a:r>
            <a:r>
              <a:rPr lang="en-US" sz="2000" b="1" dirty="0"/>
              <a:t>derivation of software measures and metrics </a:t>
            </a:r>
            <a:r>
              <a:rPr lang="en-US" sz="2000" dirty="0"/>
              <a:t>appropriate for the representation of the software that is being considered.</a:t>
            </a:r>
            <a:endParaRPr dirty="0"/>
          </a:p>
          <a:p>
            <a:pPr marL="457200" lvl="0" indent="-457200" algn="just" rtl="0">
              <a:lnSpc>
                <a:spcPct val="150000"/>
              </a:lnSpc>
              <a:spcBef>
                <a:spcPts val="400"/>
              </a:spcBef>
              <a:spcAft>
                <a:spcPts val="0"/>
              </a:spcAft>
              <a:buClr>
                <a:srgbClr val="C00000"/>
              </a:buClr>
              <a:buSzPts val="2000"/>
              <a:buFont typeface="Calibri"/>
              <a:buAutoNum type="arabicPeriod"/>
            </a:pPr>
            <a:r>
              <a:rPr lang="en-US" sz="2000" i="1" dirty="0">
                <a:solidFill>
                  <a:srgbClr val="C00000"/>
                </a:solidFill>
              </a:rPr>
              <a:t>Collection.</a:t>
            </a:r>
            <a:r>
              <a:rPr lang="en-US" sz="2000" dirty="0">
                <a:solidFill>
                  <a:srgbClr val="C00000"/>
                </a:solidFill>
              </a:rPr>
              <a:t> </a:t>
            </a:r>
            <a:r>
              <a:rPr lang="en-US" sz="2000" dirty="0"/>
              <a:t>The mechanism used </a:t>
            </a:r>
            <a:r>
              <a:rPr lang="en-US" sz="2000" b="1" dirty="0"/>
              <a:t>to accumulate data required </a:t>
            </a:r>
            <a:r>
              <a:rPr lang="en-US" sz="2000" dirty="0"/>
              <a:t>to derive the formulated metrics.</a:t>
            </a:r>
            <a:endParaRPr dirty="0"/>
          </a:p>
          <a:p>
            <a:pPr marL="457200" lvl="0" indent="-457200" algn="just" rtl="0">
              <a:lnSpc>
                <a:spcPct val="150000"/>
              </a:lnSpc>
              <a:spcBef>
                <a:spcPts val="400"/>
              </a:spcBef>
              <a:spcAft>
                <a:spcPts val="0"/>
              </a:spcAft>
              <a:buClr>
                <a:srgbClr val="C00000"/>
              </a:buClr>
              <a:buSzPts val="2000"/>
              <a:buFont typeface="Calibri"/>
              <a:buAutoNum type="arabicPeriod"/>
            </a:pPr>
            <a:r>
              <a:rPr lang="en-US" sz="2000" i="1" dirty="0">
                <a:solidFill>
                  <a:srgbClr val="C00000"/>
                </a:solidFill>
              </a:rPr>
              <a:t>Analysis. </a:t>
            </a:r>
            <a:r>
              <a:rPr lang="en-US" sz="2000" dirty="0"/>
              <a:t>The </a:t>
            </a:r>
            <a:r>
              <a:rPr lang="en-US" sz="2000" b="1" dirty="0"/>
              <a:t>computation of metrics </a:t>
            </a:r>
            <a:r>
              <a:rPr lang="en-US" sz="2000" dirty="0"/>
              <a:t>and the application of mathematical tools.</a:t>
            </a:r>
            <a:endParaRPr dirty="0"/>
          </a:p>
          <a:p>
            <a:pPr marL="457200" lvl="0" indent="-457200" algn="just" rtl="0">
              <a:lnSpc>
                <a:spcPct val="150000"/>
              </a:lnSpc>
              <a:spcBef>
                <a:spcPts val="400"/>
              </a:spcBef>
              <a:spcAft>
                <a:spcPts val="0"/>
              </a:spcAft>
              <a:buClr>
                <a:srgbClr val="C00000"/>
              </a:buClr>
              <a:buSzPts val="2000"/>
              <a:buFont typeface="Calibri"/>
              <a:buAutoNum type="arabicPeriod"/>
            </a:pPr>
            <a:r>
              <a:rPr lang="en-US" sz="2000" i="1" dirty="0">
                <a:solidFill>
                  <a:srgbClr val="C00000"/>
                </a:solidFill>
              </a:rPr>
              <a:t>Interpretation.</a:t>
            </a:r>
            <a:r>
              <a:rPr lang="en-US" sz="2000" dirty="0">
                <a:solidFill>
                  <a:srgbClr val="C00000"/>
                </a:solidFill>
              </a:rPr>
              <a:t> </a:t>
            </a:r>
            <a:r>
              <a:rPr lang="en-US" sz="2000" dirty="0"/>
              <a:t>The </a:t>
            </a:r>
            <a:r>
              <a:rPr lang="en-US" sz="2000" b="1" dirty="0"/>
              <a:t>evaluation of metrics </a:t>
            </a:r>
            <a:r>
              <a:rPr lang="en-US" sz="2000" dirty="0"/>
              <a:t>results in an effort to gain insight into the quality of the representation.</a:t>
            </a:r>
            <a:endParaRPr dirty="0"/>
          </a:p>
          <a:p>
            <a:pPr marL="457200" lvl="0" indent="-457200" algn="just" rtl="0">
              <a:lnSpc>
                <a:spcPct val="150000"/>
              </a:lnSpc>
              <a:spcBef>
                <a:spcPts val="400"/>
              </a:spcBef>
              <a:spcAft>
                <a:spcPts val="0"/>
              </a:spcAft>
              <a:buClr>
                <a:srgbClr val="C00000"/>
              </a:buClr>
              <a:buSzPts val="2000"/>
              <a:buFont typeface="Calibri"/>
              <a:buAutoNum type="arabicPeriod"/>
            </a:pPr>
            <a:r>
              <a:rPr lang="en-US" sz="2000" i="1" dirty="0">
                <a:solidFill>
                  <a:srgbClr val="C00000"/>
                </a:solidFill>
              </a:rPr>
              <a:t>Feedback.</a:t>
            </a:r>
            <a:r>
              <a:rPr lang="en-US" sz="2000" dirty="0">
                <a:solidFill>
                  <a:srgbClr val="C00000"/>
                </a:solidFill>
              </a:rPr>
              <a:t> </a:t>
            </a:r>
            <a:r>
              <a:rPr lang="en-US" sz="2000" b="1" dirty="0"/>
              <a:t>Recommendations derived from the interpretation </a:t>
            </a:r>
            <a:r>
              <a:rPr lang="en-US" sz="2000" dirty="0"/>
              <a:t>of product</a:t>
            </a:r>
            <a:r>
              <a:rPr lang="en-US" sz="2000" b="1" dirty="0"/>
              <a:t> </a:t>
            </a:r>
            <a:r>
              <a:rPr lang="en-US" sz="2000" dirty="0"/>
              <a:t>metrics transmitted to the software team.</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Measurement Principles</a:t>
            </a:r>
            <a:endParaRPr/>
          </a:p>
        </p:txBody>
      </p:sp>
      <p:sp>
        <p:nvSpPr>
          <p:cNvPr id="302" name="Google Shape;302;p3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
        <p:nvSpPr>
          <p:cNvPr id="303" name="Google Shape;303;p37"/>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2000" dirty="0"/>
              <a:t>The objectives of measurement should be established </a:t>
            </a:r>
            <a:r>
              <a:rPr lang="en-US" sz="2000" b="1" dirty="0"/>
              <a:t>before data collection begins.</a:t>
            </a:r>
            <a:endParaRPr b="1" dirty="0"/>
          </a:p>
          <a:p>
            <a:pPr marL="342900" lvl="0" indent="-342900" algn="just" rtl="0">
              <a:lnSpc>
                <a:spcPct val="150000"/>
              </a:lnSpc>
              <a:spcBef>
                <a:spcPts val="400"/>
              </a:spcBef>
              <a:spcAft>
                <a:spcPts val="0"/>
              </a:spcAft>
              <a:buClr>
                <a:schemeClr val="dk1"/>
              </a:buClr>
              <a:buSzPts val="2000"/>
              <a:buChar char="•"/>
            </a:pPr>
            <a:r>
              <a:rPr lang="en-US" sz="2000" dirty="0"/>
              <a:t>Each </a:t>
            </a:r>
            <a:r>
              <a:rPr lang="en-US" sz="2000" b="1" dirty="0"/>
              <a:t>technical metric should be defined </a:t>
            </a:r>
            <a:r>
              <a:rPr lang="en-US" sz="2000" dirty="0"/>
              <a:t>in an unambiguous manner.</a:t>
            </a:r>
            <a:endParaRPr dirty="0"/>
          </a:p>
          <a:p>
            <a:pPr marL="342900" lvl="0" indent="-342900" algn="just" rtl="0">
              <a:lnSpc>
                <a:spcPct val="150000"/>
              </a:lnSpc>
              <a:spcBef>
                <a:spcPts val="400"/>
              </a:spcBef>
              <a:spcAft>
                <a:spcPts val="0"/>
              </a:spcAft>
              <a:buClr>
                <a:schemeClr val="dk1"/>
              </a:buClr>
              <a:buSzPts val="2000"/>
              <a:buChar char="•"/>
            </a:pPr>
            <a:r>
              <a:rPr lang="en-US" sz="2000" b="1" dirty="0"/>
              <a:t>Metrics should be derived </a:t>
            </a:r>
            <a:r>
              <a:rPr lang="en-US" sz="2000" dirty="0"/>
              <a:t>based on a theory that is valid for the domain of application (e.g., metrics for design should draw upon basic design concepts and principles and attempt to provide an indication of the presence of an attribute that is deemed desirable).</a:t>
            </a:r>
            <a:endParaRPr dirty="0"/>
          </a:p>
          <a:p>
            <a:pPr marL="342900" lvl="0" indent="-342900" algn="just" rtl="0">
              <a:lnSpc>
                <a:spcPct val="150000"/>
              </a:lnSpc>
              <a:spcBef>
                <a:spcPts val="400"/>
              </a:spcBef>
              <a:spcAft>
                <a:spcPts val="0"/>
              </a:spcAft>
              <a:buClr>
                <a:schemeClr val="dk1"/>
              </a:buClr>
              <a:buSzPts val="2000"/>
              <a:buChar char="•"/>
            </a:pPr>
            <a:r>
              <a:rPr lang="en-US" sz="2000" b="1" dirty="0"/>
              <a:t>Metrics should be tailored </a:t>
            </a:r>
            <a:r>
              <a:rPr lang="en-US" sz="2000" dirty="0"/>
              <a:t>to best accommodate specific products and processes.</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Goal Oriented Software Measurement</a:t>
            </a:r>
            <a:endParaRPr/>
          </a:p>
        </p:txBody>
      </p:sp>
      <p:sp>
        <p:nvSpPr>
          <p:cNvPr id="309" name="Google Shape;309;p3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38</a:t>
            </a:fld>
            <a:endParaRPr/>
          </a:p>
        </p:txBody>
      </p:sp>
      <p:sp>
        <p:nvSpPr>
          <p:cNvPr id="310" name="Google Shape;310;p38"/>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2000" dirty="0"/>
              <a:t>The </a:t>
            </a:r>
            <a:r>
              <a:rPr lang="en-US" sz="2000" dirty="0">
                <a:solidFill>
                  <a:srgbClr val="C00000"/>
                </a:solidFill>
              </a:rPr>
              <a:t>Goal/Question/Metric (GQM) Paradigm </a:t>
            </a:r>
            <a:r>
              <a:rPr lang="en-US" sz="2000" dirty="0"/>
              <a:t>has been developed as a </a:t>
            </a:r>
            <a:r>
              <a:rPr lang="en-US" sz="2000" b="1" dirty="0"/>
              <a:t>technique for identifying meaningful metrics </a:t>
            </a:r>
            <a:r>
              <a:rPr lang="en-US" sz="2000" dirty="0"/>
              <a:t>for any part of the software process. </a:t>
            </a:r>
            <a:endParaRPr dirty="0"/>
          </a:p>
          <a:p>
            <a:pPr marL="342900" lvl="0" indent="-342900" algn="just" rtl="0">
              <a:lnSpc>
                <a:spcPct val="150000"/>
              </a:lnSpc>
              <a:spcBef>
                <a:spcPts val="400"/>
              </a:spcBef>
              <a:spcAft>
                <a:spcPts val="0"/>
              </a:spcAft>
              <a:buClr>
                <a:schemeClr val="dk1"/>
              </a:buClr>
              <a:buSzPts val="2000"/>
              <a:buChar char="•"/>
            </a:pPr>
            <a:r>
              <a:rPr lang="en-US" sz="2000" dirty="0"/>
              <a:t>GQM emphasizes the need to:</a:t>
            </a:r>
            <a:endParaRPr dirty="0"/>
          </a:p>
          <a:p>
            <a:pPr marL="457200" lvl="1" indent="0" algn="just" rtl="0">
              <a:lnSpc>
                <a:spcPct val="150000"/>
              </a:lnSpc>
              <a:spcBef>
                <a:spcPts val="400"/>
              </a:spcBef>
              <a:spcAft>
                <a:spcPts val="0"/>
              </a:spcAft>
              <a:buClr>
                <a:schemeClr val="dk1"/>
              </a:buClr>
              <a:buSzPts val="2000"/>
              <a:buNone/>
            </a:pPr>
            <a:r>
              <a:rPr lang="en-US" sz="2000" dirty="0"/>
              <a:t>(1) establish an explicit measurement</a:t>
            </a:r>
            <a:r>
              <a:rPr lang="en-US" sz="2000" dirty="0">
                <a:solidFill>
                  <a:schemeClr val="folHlink"/>
                </a:solidFill>
              </a:rPr>
              <a:t> </a:t>
            </a:r>
            <a:r>
              <a:rPr lang="en-US" sz="2000" i="1" dirty="0">
                <a:solidFill>
                  <a:srgbClr val="C00000"/>
                </a:solidFill>
              </a:rPr>
              <a:t>goal</a:t>
            </a:r>
            <a:r>
              <a:rPr lang="en-US" sz="2000" dirty="0">
                <a:solidFill>
                  <a:srgbClr val="C00000"/>
                </a:solidFill>
              </a:rPr>
              <a:t> </a:t>
            </a:r>
            <a:r>
              <a:rPr lang="en-US" sz="2000" dirty="0"/>
              <a:t>that is specific to the process activity or product characteristic that is to be assessed</a:t>
            </a:r>
            <a:endParaRPr dirty="0"/>
          </a:p>
          <a:p>
            <a:pPr marL="457200" lvl="1" indent="0" algn="just" rtl="0">
              <a:lnSpc>
                <a:spcPct val="150000"/>
              </a:lnSpc>
              <a:spcBef>
                <a:spcPts val="400"/>
              </a:spcBef>
              <a:spcAft>
                <a:spcPts val="0"/>
              </a:spcAft>
              <a:buClr>
                <a:schemeClr val="dk1"/>
              </a:buClr>
              <a:buSzPts val="2000"/>
              <a:buNone/>
            </a:pPr>
            <a:r>
              <a:rPr lang="en-US" sz="2000" dirty="0"/>
              <a:t>(2) define a set of</a:t>
            </a:r>
            <a:r>
              <a:rPr lang="en-US" sz="2000" dirty="0">
                <a:solidFill>
                  <a:schemeClr val="folHlink"/>
                </a:solidFill>
              </a:rPr>
              <a:t> </a:t>
            </a:r>
            <a:r>
              <a:rPr lang="en-US" sz="2000" i="1" dirty="0">
                <a:solidFill>
                  <a:srgbClr val="C00000"/>
                </a:solidFill>
              </a:rPr>
              <a:t>questions</a:t>
            </a:r>
            <a:r>
              <a:rPr lang="en-US" sz="2000" dirty="0"/>
              <a:t> that must be answered in order to achieve the goal, and </a:t>
            </a:r>
            <a:endParaRPr dirty="0"/>
          </a:p>
          <a:p>
            <a:pPr marL="457200" lvl="1" indent="0" algn="just" rtl="0">
              <a:lnSpc>
                <a:spcPct val="150000"/>
              </a:lnSpc>
              <a:spcBef>
                <a:spcPts val="300"/>
              </a:spcBef>
              <a:spcAft>
                <a:spcPts val="0"/>
              </a:spcAft>
              <a:buClr>
                <a:schemeClr val="dk1"/>
              </a:buClr>
              <a:buSzPts val="2000"/>
              <a:buNone/>
            </a:pPr>
            <a:r>
              <a:rPr lang="en-US" sz="2000" dirty="0"/>
              <a:t>(3) identify well-formulated</a:t>
            </a:r>
            <a:r>
              <a:rPr lang="en-US" sz="2000" dirty="0">
                <a:solidFill>
                  <a:srgbClr val="F3FF07"/>
                </a:solidFill>
              </a:rPr>
              <a:t> </a:t>
            </a:r>
            <a:r>
              <a:rPr lang="en-US" sz="2000" i="1" dirty="0">
                <a:solidFill>
                  <a:srgbClr val="C00000"/>
                </a:solidFill>
              </a:rPr>
              <a:t>metrics</a:t>
            </a:r>
            <a:r>
              <a:rPr lang="en-US" sz="2000" dirty="0"/>
              <a:t> that help to answer these questions.</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Goal Oriented Software Measurement</a:t>
            </a:r>
            <a:endParaRPr/>
          </a:p>
        </p:txBody>
      </p:sp>
      <p:sp>
        <p:nvSpPr>
          <p:cNvPr id="316" name="Google Shape;316;p3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39</a:t>
            </a:fld>
            <a:endParaRPr/>
          </a:p>
        </p:txBody>
      </p:sp>
      <p:sp>
        <p:nvSpPr>
          <p:cNvPr id="317" name="Google Shape;317;p39"/>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300"/>
              </a:spcBef>
              <a:spcAft>
                <a:spcPts val="0"/>
              </a:spcAft>
              <a:buClr>
                <a:schemeClr val="dk1"/>
              </a:buClr>
              <a:buSzPts val="2000"/>
              <a:buChar char="•"/>
            </a:pPr>
            <a:r>
              <a:rPr lang="en-US" sz="2000" dirty="0"/>
              <a:t>Goal definition template can be used to define each measurement goal. The template takes the form:</a:t>
            </a:r>
            <a:endParaRPr sz="2000" dirty="0"/>
          </a:p>
          <a:p>
            <a:pPr marL="742950" lvl="1" indent="-285750" algn="just" rtl="0">
              <a:lnSpc>
                <a:spcPct val="150000"/>
              </a:lnSpc>
              <a:spcBef>
                <a:spcPts val="400"/>
              </a:spcBef>
              <a:spcAft>
                <a:spcPts val="0"/>
              </a:spcAft>
              <a:buClr>
                <a:srgbClr val="C00000"/>
              </a:buClr>
              <a:buSzPts val="2000"/>
              <a:buChar char="–"/>
            </a:pPr>
            <a:r>
              <a:rPr lang="en-US" sz="2000" dirty="0">
                <a:solidFill>
                  <a:srgbClr val="C00000"/>
                </a:solidFill>
              </a:rPr>
              <a:t>Analyze</a:t>
            </a:r>
            <a:r>
              <a:rPr lang="en-US" sz="2000" dirty="0"/>
              <a:t> {the </a:t>
            </a:r>
            <a:r>
              <a:rPr lang="en-US" sz="2000" b="1" dirty="0"/>
              <a:t>name of activity </a:t>
            </a:r>
            <a:r>
              <a:rPr lang="en-US" sz="2000" dirty="0"/>
              <a:t>or attribute to be measured} </a:t>
            </a:r>
            <a:r>
              <a:rPr lang="en-US" sz="2000" dirty="0">
                <a:solidFill>
                  <a:srgbClr val="C00000"/>
                </a:solidFill>
              </a:rPr>
              <a:t>for the purpose of </a:t>
            </a:r>
            <a:r>
              <a:rPr lang="en-US" sz="2000" dirty="0"/>
              <a:t>{the </a:t>
            </a:r>
            <a:r>
              <a:rPr lang="en-US" sz="2000" b="1" dirty="0"/>
              <a:t>overall objective </a:t>
            </a:r>
            <a:r>
              <a:rPr lang="en-US" sz="2000" dirty="0"/>
              <a:t>of the analysis} </a:t>
            </a:r>
            <a:r>
              <a:rPr lang="en-US" sz="2000" dirty="0">
                <a:solidFill>
                  <a:srgbClr val="C00000"/>
                </a:solidFill>
              </a:rPr>
              <a:t>with respect to </a:t>
            </a:r>
            <a:r>
              <a:rPr lang="en-US" sz="2000" dirty="0"/>
              <a:t>{the </a:t>
            </a:r>
            <a:r>
              <a:rPr lang="en-US" sz="2000" b="1" dirty="0"/>
              <a:t>aspect of the activity </a:t>
            </a:r>
            <a:r>
              <a:rPr lang="en-US" sz="2000" dirty="0"/>
              <a:t>or attribute that is considered} </a:t>
            </a:r>
            <a:r>
              <a:rPr lang="en-US" sz="2000" dirty="0">
                <a:solidFill>
                  <a:srgbClr val="C00000"/>
                </a:solidFill>
              </a:rPr>
              <a:t>from the viewpoint of </a:t>
            </a:r>
            <a:r>
              <a:rPr lang="en-US" sz="2000" dirty="0"/>
              <a:t>{the </a:t>
            </a:r>
            <a:r>
              <a:rPr lang="en-US" sz="2000" b="1" dirty="0"/>
              <a:t>people</a:t>
            </a:r>
            <a:r>
              <a:rPr lang="en-US" sz="2000" dirty="0"/>
              <a:t> who have an interest in the measurement}</a:t>
            </a:r>
            <a:r>
              <a:rPr lang="en-US" sz="2000" dirty="0">
                <a:solidFill>
                  <a:srgbClr val="C00000"/>
                </a:solidFill>
              </a:rPr>
              <a:t>in the context of </a:t>
            </a:r>
            <a:r>
              <a:rPr lang="en-US" sz="2000" dirty="0"/>
              <a:t>{the </a:t>
            </a:r>
            <a:r>
              <a:rPr lang="en-US" sz="2000" b="1" dirty="0"/>
              <a:t>environment</a:t>
            </a:r>
            <a:r>
              <a:rPr lang="en-US" sz="2000" dirty="0"/>
              <a:t> in which the measurement takes place}.</a:t>
            </a:r>
            <a:endParaRP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Attributes of Effective Software Metrics</a:t>
            </a:r>
            <a:endParaRPr/>
          </a:p>
        </p:txBody>
      </p:sp>
      <p:sp>
        <p:nvSpPr>
          <p:cNvPr id="323" name="Google Shape;323;p4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40</a:t>
            </a:fld>
            <a:endParaRPr/>
          </a:p>
        </p:txBody>
      </p:sp>
      <p:sp>
        <p:nvSpPr>
          <p:cNvPr id="324" name="Google Shape;324;p40"/>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242021"/>
              </a:buClr>
              <a:buSzPts val="2000"/>
              <a:buNone/>
            </a:pPr>
            <a:r>
              <a:rPr lang="en-US" sz="2000" b="0" i="0" dirty="0">
                <a:solidFill>
                  <a:srgbClr val="242021"/>
                </a:solidFill>
              </a:rPr>
              <a:t>A set of attributes that should be encompassed by effective software metrics:</a:t>
            </a:r>
            <a:endParaRPr dirty="0"/>
          </a:p>
          <a:p>
            <a:pPr marL="342900" lvl="0" indent="-342900" algn="just" rtl="0">
              <a:lnSpc>
                <a:spcPct val="150000"/>
              </a:lnSpc>
              <a:spcBef>
                <a:spcPts val="400"/>
              </a:spcBef>
              <a:spcAft>
                <a:spcPts val="0"/>
              </a:spcAft>
              <a:buClr>
                <a:srgbClr val="C00000"/>
              </a:buClr>
              <a:buSzPts val="2000"/>
              <a:buChar char="•"/>
            </a:pPr>
            <a:r>
              <a:rPr lang="en-US" sz="2000" i="1" dirty="0">
                <a:solidFill>
                  <a:srgbClr val="C00000"/>
                </a:solidFill>
              </a:rPr>
              <a:t>Simple and computable.</a:t>
            </a:r>
            <a:r>
              <a:rPr lang="en-US" sz="2000" dirty="0">
                <a:solidFill>
                  <a:srgbClr val="C00000"/>
                </a:solidFill>
              </a:rPr>
              <a:t> </a:t>
            </a:r>
            <a:r>
              <a:rPr lang="en-US" sz="2000" dirty="0"/>
              <a:t>It should be relatively easy to learn how to derive the metric, and its computation should not demand inordinate effort or time</a:t>
            </a:r>
            <a:endParaRPr dirty="0"/>
          </a:p>
          <a:p>
            <a:pPr marL="342900" lvl="0" indent="-342900" algn="just" rtl="0">
              <a:lnSpc>
                <a:spcPct val="150000"/>
              </a:lnSpc>
              <a:spcBef>
                <a:spcPts val="400"/>
              </a:spcBef>
              <a:spcAft>
                <a:spcPts val="0"/>
              </a:spcAft>
              <a:buClr>
                <a:srgbClr val="C00000"/>
              </a:buClr>
              <a:buSzPts val="2000"/>
              <a:buChar char="•"/>
            </a:pPr>
            <a:r>
              <a:rPr lang="en-US" sz="2000" i="1" dirty="0">
                <a:solidFill>
                  <a:srgbClr val="C00000"/>
                </a:solidFill>
              </a:rPr>
              <a:t>Empirically and intuitively persuasive.</a:t>
            </a:r>
            <a:r>
              <a:rPr lang="en-US" sz="2000" dirty="0">
                <a:solidFill>
                  <a:srgbClr val="C00000"/>
                </a:solidFill>
              </a:rPr>
              <a:t> </a:t>
            </a:r>
            <a:r>
              <a:rPr lang="en-US" sz="2000" dirty="0"/>
              <a:t>The metric should </a:t>
            </a:r>
            <a:r>
              <a:rPr lang="en-US" sz="2000" b="1" dirty="0"/>
              <a:t>satisfy the engineer’s intuitive notions</a:t>
            </a:r>
            <a:r>
              <a:rPr lang="en-US" sz="2000" dirty="0"/>
              <a:t> about the product attribute under consideration</a:t>
            </a:r>
            <a:endParaRPr dirty="0"/>
          </a:p>
          <a:p>
            <a:pPr marL="342900" lvl="0" indent="-342900" algn="just" rtl="0">
              <a:lnSpc>
                <a:spcPct val="150000"/>
              </a:lnSpc>
              <a:spcBef>
                <a:spcPts val="400"/>
              </a:spcBef>
              <a:spcAft>
                <a:spcPts val="0"/>
              </a:spcAft>
              <a:buClr>
                <a:srgbClr val="C00000"/>
              </a:buClr>
              <a:buSzPts val="2000"/>
              <a:buChar char="•"/>
            </a:pPr>
            <a:r>
              <a:rPr lang="en-US" sz="2000" i="1" dirty="0">
                <a:solidFill>
                  <a:srgbClr val="C00000"/>
                </a:solidFill>
              </a:rPr>
              <a:t>Consistent and objective.</a:t>
            </a:r>
            <a:r>
              <a:rPr lang="en-US" sz="2000" dirty="0">
                <a:solidFill>
                  <a:srgbClr val="C00000"/>
                </a:solidFill>
              </a:rPr>
              <a:t>  </a:t>
            </a:r>
            <a:r>
              <a:rPr lang="en-US" sz="2000" dirty="0"/>
              <a:t>The metric should always yield results that are unambiguous. </a:t>
            </a:r>
            <a:endParaRPr dirty="0"/>
          </a:p>
          <a:p>
            <a:pPr marL="0" lvl="0" indent="0" algn="just" rtl="0">
              <a:lnSpc>
                <a:spcPct val="150000"/>
              </a:lnSpc>
              <a:spcBef>
                <a:spcPts val="400"/>
              </a:spcBef>
              <a:spcAft>
                <a:spcPts val="0"/>
              </a:spcAft>
              <a:buClr>
                <a:schemeClr val="dk1"/>
              </a:buClr>
              <a:buSzPts val="2000"/>
              <a:buNone/>
            </a:pPr>
            <a:r>
              <a:rPr lang="en-US" sz="2000" dirty="0"/>
              <a:t/>
            </a:r>
            <a:br>
              <a:rPr lang="en-US" sz="2000" dirty="0"/>
            </a:br>
            <a:endParaRPr sz="20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Attributes of Effective Software Metrics</a:t>
            </a:r>
            <a:endParaRPr/>
          </a:p>
        </p:txBody>
      </p:sp>
      <p:sp>
        <p:nvSpPr>
          <p:cNvPr id="330" name="Google Shape;330;p4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41</a:t>
            </a:fld>
            <a:endParaRPr/>
          </a:p>
        </p:txBody>
      </p:sp>
      <p:sp>
        <p:nvSpPr>
          <p:cNvPr id="331" name="Google Shape;331;p41"/>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C00000"/>
              </a:buClr>
              <a:buSzPts val="2000"/>
              <a:buChar char="•"/>
            </a:pPr>
            <a:r>
              <a:rPr lang="en-US" sz="2000" i="1">
                <a:solidFill>
                  <a:srgbClr val="C00000"/>
                </a:solidFill>
              </a:rPr>
              <a:t>Consistent in its use of units and dimensions.</a:t>
            </a:r>
            <a:r>
              <a:rPr lang="en-US" sz="2000">
                <a:solidFill>
                  <a:srgbClr val="C00000"/>
                </a:solidFill>
              </a:rPr>
              <a:t> </a:t>
            </a:r>
            <a:r>
              <a:rPr lang="en-US" sz="2000"/>
              <a:t>The mathematical computation of the metric should use measures that do not lead to bizarre combinations of unit. </a:t>
            </a:r>
            <a:endParaRPr/>
          </a:p>
          <a:p>
            <a:pPr marL="342900" lvl="0" indent="-342900" algn="just" rtl="0">
              <a:lnSpc>
                <a:spcPct val="150000"/>
              </a:lnSpc>
              <a:spcBef>
                <a:spcPts val="400"/>
              </a:spcBef>
              <a:spcAft>
                <a:spcPts val="0"/>
              </a:spcAft>
              <a:buClr>
                <a:srgbClr val="C00000"/>
              </a:buClr>
              <a:buSzPts val="2000"/>
              <a:buChar char="•"/>
            </a:pPr>
            <a:r>
              <a:rPr lang="en-US" sz="2000" i="1">
                <a:solidFill>
                  <a:srgbClr val="C00000"/>
                </a:solidFill>
              </a:rPr>
              <a:t>Programming language independent.</a:t>
            </a:r>
            <a:r>
              <a:rPr lang="en-US" sz="2000">
                <a:solidFill>
                  <a:srgbClr val="C00000"/>
                </a:solidFill>
              </a:rPr>
              <a:t>  </a:t>
            </a:r>
            <a:r>
              <a:rPr lang="en-US" sz="2000"/>
              <a:t>Metrics should be based on the analysis model, the design model, or the structure of the program itself. </a:t>
            </a:r>
            <a:endParaRPr/>
          </a:p>
          <a:p>
            <a:pPr marL="342900" lvl="0" indent="-342900" algn="just" rtl="0">
              <a:lnSpc>
                <a:spcPct val="150000"/>
              </a:lnSpc>
              <a:spcBef>
                <a:spcPts val="400"/>
              </a:spcBef>
              <a:spcAft>
                <a:spcPts val="0"/>
              </a:spcAft>
              <a:buClr>
                <a:srgbClr val="C00000"/>
              </a:buClr>
              <a:buSzPts val="2000"/>
              <a:buChar char="•"/>
            </a:pPr>
            <a:r>
              <a:rPr lang="en-US" sz="2000" i="1">
                <a:solidFill>
                  <a:srgbClr val="C00000"/>
                </a:solidFill>
              </a:rPr>
              <a:t>Effective mechanism for quality feedback.</a:t>
            </a:r>
            <a:r>
              <a:rPr lang="en-US" sz="2000">
                <a:solidFill>
                  <a:srgbClr val="C00000"/>
                </a:solidFill>
              </a:rPr>
              <a:t> </a:t>
            </a:r>
            <a:r>
              <a:rPr lang="en-US" sz="2000"/>
              <a:t>That is, the metric should provide a software engineer with information that can lead to a higher quality end product</a:t>
            </a:r>
            <a:endParaRPr/>
          </a:p>
          <a:p>
            <a:pPr marL="0" lvl="0" indent="0" algn="just" rtl="0">
              <a:lnSpc>
                <a:spcPct val="150000"/>
              </a:lnSpc>
              <a:spcBef>
                <a:spcPts val="400"/>
              </a:spcBef>
              <a:spcAft>
                <a:spcPts val="0"/>
              </a:spcAft>
              <a:buClr>
                <a:schemeClr val="dk1"/>
              </a:buClr>
              <a:buSzPts val="2000"/>
              <a:buNone/>
            </a:pPr>
            <a:r>
              <a:rPr lang="en-US" sz="2000"/>
              <a:t/>
            </a:r>
            <a:br>
              <a:rPr lang="en-US" sz="2000"/>
            </a:br>
            <a:endParaRPr sz="200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Requirement Model</a:t>
            </a:r>
            <a:endParaRPr/>
          </a:p>
        </p:txBody>
      </p:sp>
      <p:sp>
        <p:nvSpPr>
          <p:cNvPr id="337" name="Google Shape;337;p4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42</a:t>
            </a:fld>
            <a:endParaRPr/>
          </a:p>
        </p:txBody>
      </p:sp>
      <p:sp>
        <p:nvSpPr>
          <p:cNvPr id="338" name="Google Shape;338;p42"/>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2000" dirty="0"/>
              <a:t>Technical work in software engineering begins with the creation of the requirements model.</a:t>
            </a:r>
            <a:endParaRPr dirty="0"/>
          </a:p>
          <a:p>
            <a:pPr marL="342900" lvl="0" indent="-342900" algn="just" rtl="0">
              <a:lnSpc>
                <a:spcPct val="150000"/>
              </a:lnSpc>
              <a:spcBef>
                <a:spcPts val="400"/>
              </a:spcBef>
              <a:spcAft>
                <a:spcPts val="0"/>
              </a:spcAft>
              <a:buClr>
                <a:schemeClr val="dk1"/>
              </a:buClr>
              <a:buSzPts val="2000"/>
              <a:buChar char="•"/>
            </a:pPr>
            <a:r>
              <a:rPr lang="en-US" sz="2000" dirty="0"/>
              <a:t>It is at this stage that requirements are derived and a foundation for design is established. </a:t>
            </a:r>
            <a:endParaRPr dirty="0"/>
          </a:p>
          <a:p>
            <a:pPr marL="342900" lvl="0" indent="-342900" algn="just" rtl="0">
              <a:lnSpc>
                <a:spcPct val="150000"/>
              </a:lnSpc>
              <a:spcBef>
                <a:spcPts val="400"/>
              </a:spcBef>
              <a:spcAft>
                <a:spcPts val="0"/>
              </a:spcAft>
              <a:buClr>
                <a:schemeClr val="dk1"/>
              </a:buClr>
              <a:buSzPts val="2000"/>
              <a:buChar char="•"/>
            </a:pPr>
            <a:r>
              <a:rPr lang="en-US" sz="2000" dirty="0"/>
              <a:t>Therefore, </a:t>
            </a:r>
            <a:r>
              <a:rPr lang="en-US" sz="2000" b="1" dirty="0"/>
              <a:t>product metrics that provide insight into the quality of the analysis model are desirable.</a:t>
            </a:r>
            <a:endParaRPr b="1" dirty="0"/>
          </a:p>
          <a:p>
            <a:pPr marL="0" lvl="0" indent="0" algn="just" rtl="0">
              <a:lnSpc>
                <a:spcPct val="150000"/>
              </a:lnSpc>
              <a:spcBef>
                <a:spcPts val="360"/>
              </a:spcBef>
              <a:spcAft>
                <a:spcPts val="0"/>
              </a:spcAft>
              <a:buClr>
                <a:schemeClr val="dk1"/>
              </a:buClr>
              <a:buSzPts val="1800"/>
              <a:buNone/>
            </a:pPr>
            <a:r>
              <a:rPr lang="en-US" sz="1800" dirty="0"/>
              <a:t/>
            </a:r>
            <a:br>
              <a:rPr lang="en-US" sz="1800" dirty="0"/>
            </a:br>
            <a:endParaRPr sz="18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Metrics for Requirement Model – Function Point (FP) Metrics</a:t>
            </a:r>
            <a:endParaRPr/>
          </a:p>
        </p:txBody>
      </p:sp>
      <p:sp>
        <p:nvSpPr>
          <p:cNvPr id="344" name="Google Shape;344;p4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43</a:t>
            </a:fld>
            <a:endParaRPr/>
          </a:p>
        </p:txBody>
      </p:sp>
      <p:sp>
        <p:nvSpPr>
          <p:cNvPr id="345" name="Google Shape;345;p43"/>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242021"/>
              </a:buClr>
              <a:buSzPts val="1800"/>
              <a:buChar char="•"/>
            </a:pPr>
            <a:r>
              <a:rPr lang="en-US" sz="1800" b="0" i="0" dirty="0">
                <a:solidFill>
                  <a:srgbClr val="242021"/>
                </a:solidFill>
              </a:rPr>
              <a:t>The </a:t>
            </a:r>
            <a:r>
              <a:rPr lang="en-US" sz="1800" b="0" i="1" dirty="0">
                <a:solidFill>
                  <a:srgbClr val="C00000"/>
                </a:solidFill>
              </a:rPr>
              <a:t>function point </a:t>
            </a:r>
            <a:r>
              <a:rPr lang="en-US" sz="1800" b="0" i="0" dirty="0">
                <a:solidFill>
                  <a:srgbClr val="C00000"/>
                </a:solidFill>
              </a:rPr>
              <a:t>(FP) </a:t>
            </a:r>
            <a:r>
              <a:rPr lang="en-US" sz="1800" b="0" i="1" dirty="0">
                <a:solidFill>
                  <a:srgbClr val="C00000"/>
                </a:solidFill>
              </a:rPr>
              <a:t>metric </a:t>
            </a:r>
            <a:r>
              <a:rPr lang="en-US" sz="1800" b="0" i="0" dirty="0">
                <a:solidFill>
                  <a:srgbClr val="242021"/>
                </a:solidFill>
              </a:rPr>
              <a:t>can be used effectively as a means for measuring the functionality delivered by a system.</a:t>
            </a:r>
            <a:endParaRPr dirty="0"/>
          </a:p>
          <a:p>
            <a:pPr marL="342900" lvl="0" indent="-342900" algn="just" rtl="0">
              <a:lnSpc>
                <a:spcPct val="150000"/>
              </a:lnSpc>
              <a:spcBef>
                <a:spcPts val="360"/>
              </a:spcBef>
              <a:spcAft>
                <a:spcPts val="0"/>
              </a:spcAft>
              <a:buClr>
                <a:srgbClr val="242021"/>
              </a:buClr>
              <a:buSzPts val="1800"/>
              <a:buChar char="•"/>
            </a:pPr>
            <a:r>
              <a:rPr lang="en-US" sz="1800" dirty="0">
                <a:solidFill>
                  <a:srgbClr val="242021"/>
                </a:solidFill>
              </a:rPr>
              <a:t>T</a:t>
            </a:r>
            <a:r>
              <a:rPr lang="en-US" sz="1800" b="0" i="0" dirty="0">
                <a:solidFill>
                  <a:srgbClr val="242021"/>
                </a:solidFill>
              </a:rPr>
              <a:t>he FP metric can then be used to </a:t>
            </a:r>
            <a:endParaRPr dirty="0"/>
          </a:p>
          <a:p>
            <a:pPr marL="742950" lvl="1" indent="-285750" algn="just" rtl="0">
              <a:lnSpc>
                <a:spcPct val="150000"/>
              </a:lnSpc>
              <a:spcBef>
                <a:spcPts val="360"/>
              </a:spcBef>
              <a:spcAft>
                <a:spcPts val="0"/>
              </a:spcAft>
              <a:buClr>
                <a:srgbClr val="242021"/>
              </a:buClr>
              <a:buSzPts val="1800"/>
              <a:buChar char="–"/>
            </a:pPr>
            <a:r>
              <a:rPr lang="en-US" sz="1800" b="1" i="0" dirty="0">
                <a:solidFill>
                  <a:srgbClr val="242021"/>
                </a:solidFill>
              </a:rPr>
              <a:t>estimate the cost or effort </a:t>
            </a:r>
            <a:r>
              <a:rPr lang="en-US" sz="1800" b="0" i="0" dirty="0">
                <a:solidFill>
                  <a:srgbClr val="242021"/>
                </a:solidFill>
              </a:rPr>
              <a:t>required to design, code, and test the software; </a:t>
            </a:r>
            <a:endParaRPr dirty="0"/>
          </a:p>
          <a:p>
            <a:pPr marL="742950" lvl="1" indent="-285750" algn="just" rtl="0">
              <a:lnSpc>
                <a:spcPct val="150000"/>
              </a:lnSpc>
              <a:spcBef>
                <a:spcPts val="360"/>
              </a:spcBef>
              <a:spcAft>
                <a:spcPts val="0"/>
              </a:spcAft>
              <a:buClr>
                <a:srgbClr val="242021"/>
              </a:buClr>
              <a:buSzPts val="1800"/>
              <a:buChar char="–"/>
            </a:pPr>
            <a:r>
              <a:rPr lang="en-US" sz="1800" b="1" i="0" dirty="0">
                <a:solidFill>
                  <a:srgbClr val="242021"/>
                </a:solidFill>
              </a:rPr>
              <a:t>predict the number of errors </a:t>
            </a:r>
            <a:r>
              <a:rPr lang="en-US" sz="1800" b="0" i="0" dirty="0">
                <a:solidFill>
                  <a:srgbClr val="242021"/>
                </a:solidFill>
              </a:rPr>
              <a:t>that will be encountered during testing; and </a:t>
            </a:r>
            <a:endParaRPr dirty="0"/>
          </a:p>
          <a:p>
            <a:pPr marL="742950" lvl="1" indent="-285750" algn="just" rtl="0">
              <a:lnSpc>
                <a:spcPct val="150000"/>
              </a:lnSpc>
              <a:spcBef>
                <a:spcPts val="360"/>
              </a:spcBef>
              <a:spcAft>
                <a:spcPts val="0"/>
              </a:spcAft>
              <a:buClr>
                <a:srgbClr val="242021"/>
              </a:buClr>
              <a:buSzPts val="1800"/>
              <a:buChar char="–"/>
            </a:pPr>
            <a:r>
              <a:rPr lang="en-US" sz="1800" b="1" i="0" dirty="0">
                <a:solidFill>
                  <a:srgbClr val="242021"/>
                </a:solidFill>
              </a:rPr>
              <a:t>forecast the number of components </a:t>
            </a:r>
            <a:r>
              <a:rPr lang="en-US" sz="1800" b="0" i="0" dirty="0">
                <a:solidFill>
                  <a:srgbClr val="242021"/>
                </a:solidFill>
              </a:rPr>
              <a:t>and/or the number of projected source lines in the implemented system.</a:t>
            </a:r>
            <a:endParaRPr dirty="0"/>
          </a:p>
          <a:p>
            <a:pPr marL="342900" lvl="0" indent="-342900" algn="just" rtl="0">
              <a:lnSpc>
                <a:spcPct val="150000"/>
              </a:lnSpc>
              <a:spcBef>
                <a:spcPts val="360"/>
              </a:spcBef>
              <a:spcAft>
                <a:spcPts val="0"/>
              </a:spcAft>
              <a:buClr>
                <a:srgbClr val="242021"/>
              </a:buClr>
              <a:buSzPts val="1800"/>
              <a:buChar char="•"/>
            </a:pPr>
            <a:r>
              <a:rPr lang="en-US" sz="1800" b="0" i="0" dirty="0">
                <a:solidFill>
                  <a:srgbClr val="242021"/>
                </a:solidFill>
              </a:rPr>
              <a:t>Function points are derived using an empirical relationship based </a:t>
            </a:r>
            <a:r>
              <a:rPr lang="en-US" sz="1800" b="1" i="0" dirty="0">
                <a:solidFill>
                  <a:srgbClr val="242021"/>
                </a:solidFill>
              </a:rPr>
              <a:t>on countable </a:t>
            </a:r>
            <a:r>
              <a:rPr lang="en-US" sz="1800" b="0" i="0" dirty="0">
                <a:solidFill>
                  <a:srgbClr val="242021"/>
                </a:solidFill>
              </a:rPr>
              <a:t>(direct) </a:t>
            </a:r>
            <a:r>
              <a:rPr lang="en-US" sz="1800" b="1" i="0" dirty="0">
                <a:solidFill>
                  <a:srgbClr val="242021"/>
                </a:solidFill>
              </a:rPr>
              <a:t>measures of software’s information domain  </a:t>
            </a:r>
            <a:r>
              <a:rPr lang="en-US" sz="1800" b="0" i="0" dirty="0">
                <a:solidFill>
                  <a:srgbClr val="242021"/>
                </a:solidFill>
              </a:rPr>
              <a:t>value and qualitative </a:t>
            </a:r>
            <a:r>
              <a:rPr lang="en-US" sz="1800" b="1" i="0" dirty="0">
                <a:solidFill>
                  <a:srgbClr val="242021"/>
                </a:solidFill>
              </a:rPr>
              <a:t>assessments of software complexity.</a:t>
            </a:r>
            <a:r>
              <a:rPr lang="en-US" sz="1800" b="1" dirty="0"/>
              <a:t> </a:t>
            </a:r>
            <a:endParaRPr b="1" dirty="0"/>
          </a:p>
          <a:p>
            <a:pPr marL="0" lvl="0" indent="0" algn="just" rtl="0">
              <a:lnSpc>
                <a:spcPct val="150000"/>
              </a:lnSpc>
              <a:spcBef>
                <a:spcPts val="360"/>
              </a:spcBef>
              <a:spcAft>
                <a:spcPts val="0"/>
              </a:spcAft>
              <a:buClr>
                <a:schemeClr val="dk1"/>
              </a:buClr>
              <a:buSzPts val="1800"/>
              <a:buNone/>
            </a:pPr>
            <a:r>
              <a:rPr lang="en-US" sz="1800" b="1" dirty="0"/>
              <a:t/>
            </a:r>
            <a:br>
              <a:rPr lang="en-US" sz="1800" b="1" dirty="0"/>
            </a:br>
            <a:r>
              <a:rPr lang="en-US" sz="1800" dirty="0"/>
              <a:t/>
            </a:r>
            <a:br>
              <a:rPr lang="en-US" sz="1800" dirty="0"/>
            </a:br>
            <a:endParaRPr sz="18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Metrics for Requirement Model – Function Point (FP) Metrics</a:t>
            </a:r>
            <a:endParaRPr/>
          </a:p>
        </p:txBody>
      </p:sp>
      <p:sp>
        <p:nvSpPr>
          <p:cNvPr id="351" name="Google Shape;351;p4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44</a:t>
            </a:fld>
            <a:endParaRPr/>
          </a:p>
        </p:txBody>
      </p:sp>
      <p:sp>
        <p:nvSpPr>
          <p:cNvPr id="352" name="Google Shape;352;p44"/>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242021"/>
              </a:buClr>
              <a:buSzPts val="1800"/>
              <a:buNone/>
            </a:pPr>
            <a:r>
              <a:rPr lang="en-US" sz="2100" b="0" i="0" dirty="0">
                <a:solidFill>
                  <a:srgbClr val="242021"/>
                </a:solidFill>
              </a:rPr>
              <a:t>Information domain values are defined in the following manner:</a:t>
            </a:r>
            <a:endParaRPr sz="2500" dirty="0"/>
          </a:p>
          <a:p>
            <a:pPr marL="342900" lvl="0" indent="-361950" algn="just" rtl="0">
              <a:lnSpc>
                <a:spcPct val="150000"/>
              </a:lnSpc>
              <a:spcBef>
                <a:spcPts val="360"/>
              </a:spcBef>
              <a:spcAft>
                <a:spcPts val="0"/>
              </a:spcAft>
              <a:buClr>
                <a:srgbClr val="C00000"/>
              </a:buClr>
              <a:buSzPts val="2100"/>
              <a:buChar char="•"/>
            </a:pPr>
            <a:r>
              <a:rPr lang="en-US" sz="2100" b="1" i="0" dirty="0">
                <a:solidFill>
                  <a:srgbClr val="C00000"/>
                </a:solidFill>
              </a:rPr>
              <a:t>Number of external inputs (EIs). </a:t>
            </a:r>
            <a:r>
              <a:rPr lang="en-US" sz="2100" b="1" i="0" dirty="0">
                <a:solidFill>
                  <a:srgbClr val="242021"/>
                </a:solidFill>
              </a:rPr>
              <a:t>Each </a:t>
            </a:r>
            <a:r>
              <a:rPr lang="en-US" sz="2100" b="1" i="1" dirty="0">
                <a:solidFill>
                  <a:srgbClr val="242021"/>
                </a:solidFill>
              </a:rPr>
              <a:t>external input </a:t>
            </a:r>
            <a:r>
              <a:rPr lang="en-US" sz="2100" b="1" i="0" dirty="0">
                <a:solidFill>
                  <a:srgbClr val="242021"/>
                </a:solidFill>
              </a:rPr>
              <a:t>originates from a user or is transmitted from another application </a:t>
            </a:r>
            <a:r>
              <a:rPr lang="en-US" sz="2100" b="0" i="0" dirty="0">
                <a:solidFill>
                  <a:srgbClr val="242021"/>
                </a:solidFill>
              </a:rPr>
              <a:t>and provides distinct application-oriented data or control information. Inputs are often used to update </a:t>
            </a:r>
            <a:r>
              <a:rPr lang="en-US" sz="2100" b="0" i="1" dirty="0">
                <a:solidFill>
                  <a:srgbClr val="242021"/>
                </a:solidFill>
              </a:rPr>
              <a:t>internal logical files </a:t>
            </a:r>
            <a:r>
              <a:rPr lang="en-US" sz="2100" b="0" i="0" dirty="0">
                <a:solidFill>
                  <a:srgbClr val="242021"/>
                </a:solidFill>
              </a:rPr>
              <a:t>(ILFs). Inputs should be distinguished from inquiries, which are counted separately.</a:t>
            </a:r>
            <a:endParaRPr sz="2500" dirty="0"/>
          </a:p>
          <a:p>
            <a:pPr marL="342900" lvl="0" indent="-361950" algn="just" rtl="0">
              <a:lnSpc>
                <a:spcPct val="150000"/>
              </a:lnSpc>
              <a:spcBef>
                <a:spcPts val="360"/>
              </a:spcBef>
              <a:spcAft>
                <a:spcPts val="0"/>
              </a:spcAft>
              <a:buClr>
                <a:srgbClr val="C00000"/>
              </a:buClr>
              <a:buSzPts val="2100"/>
              <a:buChar char="•"/>
            </a:pPr>
            <a:r>
              <a:rPr lang="en-US" sz="2100" b="1" i="0" dirty="0">
                <a:solidFill>
                  <a:srgbClr val="C00000"/>
                </a:solidFill>
              </a:rPr>
              <a:t>Number of external outputs (EOs). </a:t>
            </a:r>
            <a:r>
              <a:rPr lang="en-US" sz="2100" b="0" i="0" dirty="0">
                <a:solidFill>
                  <a:srgbClr val="242021"/>
                </a:solidFill>
              </a:rPr>
              <a:t>Each </a:t>
            </a:r>
            <a:r>
              <a:rPr lang="en-US" sz="2100" b="1" i="1" dirty="0">
                <a:solidFill>
                  <a:srgbClr val="242021"/>
                </a:solidFill>
              </a:rPr>
              <a:t>external output </a:t>
            </a:r>
            <a:r>
              <a:rPr lang="en-US" sz="2100" b="1" i="0" dirty="0">
                <a:solidFill>
                  <a:srgbClr val="242021"/>
                </a:solidFill>
              </a:rPr>
              <a:t>is derived data within the application that provides information to the user</a:t>
            </a:r>
            <a:r>
              <a:rPr lang="en-US" sz="2100" b="0" i="0" dirty="0">
                <a:solidFill>
                  <a:srgbClr val="242021"/>
                </a:solidFill>
              </a:rPr>
              <a:t>. In this context external output refers to reports, screens, error messages, etc. </a:t>
            </a:r>
            <a:endParaRPr sz="21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Metrics for Requirement Model – Function Point (FP) Metrics</a:t>
            </a:r>
            <a:endParaRPr/>
          </a:p>
        </p:txBody>
      </p:sp>
      <p:sp>
        <p:nvSpPr>
          <p:cNvPr id="359" name="Google Shape;359;p4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45</a:t>
            </a:fld>
            <a:endParaRPr/>
          </a:p>
        </p:txBody>
      </p:sp>
      <p:sp>
        <p:nvSpPr>
          <p:cNvPr id="360" name="Google Shape;360;p45"/>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342900" lvl="0" indent="-361950" algn="just" rtl="0">
              <a:lnSpc>
                <a:spcPct val="150000"/>
              </a:lnSpc>
              <a:spcBef>
                <a:spcPts val="0"/>
              </a:spcBef>
              <a:spcAft>
                <a:spcPts val="0"/>
              </a:spcAft>
              <a:buClr>
                <a:srgbClr val="C00000"/>
              </a:buClr>
              <a:buSzPts val="2100"/>
              <a:buChar char="•"/>
            </a:pPr>
            <a:r>
              <a:rPr lang="en-US" sz="2100" b="1" i="0" dirty="0">
                <a:solidFill>
                  <a:srgbClr val="C00000"/>
                </a:solidFill>
              </a:rPr>
              <a:t>Number of external inquiries (EQs). </a:t>
            </a:r>
            <a:r>
              <a:rPr lang="en-US" sz="2100" b="0" i="0" dirty="0">
                <a:solidFill>
                  <a:srgbClr val="242021"/>
                </a:solidFill>
              </a:rPr>
              <a:t>An </a:t>
            </a:r>
            <a:r>
              <a:rPr lang="en-US" sz="2100" b="0" i="1" dirty="0">
                <a:solidFill>
                  <a:srgbClr val="242021"/>
                </a:solidFill>
              </a:rPr>
              <a:t>external inquiry </a:t>
            </a:r>
            <a:r>
              <a:rPr lang="en-US" sz="2100" b="0" i="0" dirty="0">
                <a:solidFill>
                  <a:srgbClr val="242021"/>
                </a:solidFill>
              </a:rPr>
              <a:t>is defined as an online input </a:t>
            </a:r>
            <a:r>
              <a:rPr lang="en-US" sz="2100" b="1" i="0" dirty="0">
                <a:solidFill>
                  <a:srgbClr val="242021"/>
                </a:solidFill>
              </a:rPr>
              <a:t>that </a:t>
            </a:r>
            <a:r>
              <a:rPr lang="en-US" sz="2100" b="1" i="1" dirty="0">
                <a:solidFill>
                  <a:srgbClr val="242021"/>
                </a:solidFill>
              </a:rPr>
              <a:t>results in the generation of some immediate software response</a:t>
            </a:r>
            <a:r>
              <a:rPr lang="en-US" sz="2100" b="0" i="1" dirty="0">
                <a:solidFill>
                  <a:srgbClr val="242021"/>
                </a:solidFill>
              </a:rPr>
              <a:t> </a:t>
            </a:r>
            <a:r>
              <a:rPr lang="en-US" sz="2100" b="0" i="0" dirty="0">
                <a:solidFill>
                  <a:srgbClr val="242021"/>
                </a:solidFill>
              </a:rPr>
              <a:t>in the form of an online output (often retrieved from an ILF).</a:t>
            </a:r>
            <a:endParaRPr sz="2100" dirty="0"/>
          </a:p>
          <a:p>
            <a:pPr marL="342900" lvl="0" indent="-361950" algn="just" rtl="0">
              <a:lnSpc>
                <a:spcPct val="150000"/>
              </a:lnSpc>
              <a:spcBef>
                <a:spcPts val="360"/>
              </a:spcBef>
              <a:spcAft>
                <a:spcPts val="0"/>
              </a:spcAft>
              <a:buClr>
                <a:srgbClr val="C00000"/>
              </a:buClr>
              <a:buSzPts val="2100"/>
              <a:buChar char="•"/>
            </a:pPr>
            <a:r>
              <a:rPr lang="en-US" sz="2100" b="1" i="0" dirty="0">
                <a:solidFill>
                  <a:srgbClr val="C00000"/>
                </a:solidFill>
              </a:rPr>
              <a:t>Number of internal logical files (ILFs). </a:t>
            </a:r>
            <a:r>
              <a:rPr lang="en-US" sz="2100" b="0" i="0" dirty="0">
                <a:solidFill>
                  <a:srgbClr val="242021"/>
                </a:solidFill>
              </a:rPr>
              <a:t>Each </a:t>
            </a:r>
            <a:r>
              <a:rPr lang="en-US" sz="2100" b="0" i="1" dirty="0">
                <a:solidFill>
                  <a:srgbClr val="242021"/>
                </a:solidFill>
              </a:rPr>
              <a:t>internal logical file </a:t>
            </a:r>
            <a:r>
              <a:rPr lang="en-US" sz="2100" b="0" i="0" dirty="0">
                <a:solidFill>
                  <a:srgbClr val="242021"/>
                </a:solidFill>
              </a:rPr>
              <a:t>is a logical grouping of data that </a:t>
            </a:r>
            <a:r>
              <a:rPr lang="en-US" sz="2100" b="1" i="0" dirty="0">
                <a:solidFill>
                  <a:srgbClr val="242021"/>
                </a:solidFill>
              </a:rPr>
              <a:t>resides within the application’s boundary </a:t>
            </a:r>
            <a:r>
              <a:rPr lang="en-US" sz="2100" b="0" i="0" dirty="0">
                <a:solidFill>
                  <a:srgbClr val="242021"/>
                </a:solidFill>
              </a:rPr>
              <a:t>and </a:t>
            </a:r>
            <a:r>
              <a:rPr lang="en-US" sz="2100" b="1" i="1" dirty="0">
                <a:solidFill>
                  <a:srgbClr val="242021"/>
                </a:solidFill>
              </a:rPr>
              <a:t>is maintained via external inputs.</a:t>
            </a:r>
            <a:endParaRPr sz="2100" b="1" i="1" dirty="0"/>
          </a:p>
          <a:p>
            <a:pPr marL="342900" lvl="0" indent="-361950" algn="just" rtl="0">
              <a:lnSpc>
                <a:spcPct val="150000"/>
              </a:lnSpc>
              <a:spcBef>
                <a:spcPts val="360"/>
              </a:spcBef>
              <a:spcAft>
                <a:spcPts val="0"/>
              </a:spcAft>
              <a:buClr>
                <a:srgbClr val="C00000"/>
              </a:buClr>
              <a:buSzPts val="2100"/>
              <a:buChar char="•"/>
            </a:pPr>
            <a:r>
              <a:rPr lang="en-US" sz="2100" b="1" i="0" dirty="0">
                <a:solidFill>
                  <a:srgbClr val="C00000"/>
                </a:solidFill>
              </a:rPr>
              <a:t>Number of external interface files (EIFs). </a:t>
            </a:r>
            <a:r>
              <a:rPr lang="en-US" sz="2100" b="0" i="0" dirty="0">
                <a:solidFill>
                  <a:srgbClr val="242021"/>
                </a:solidFill>
              </a:rPr>
              <a:t>Each </a:t>
            </a:r>
            <a:r>
              <a:rPr lang="en-US" sz="2100" b="0" i="1" dirty="0">
                <a:solidFill>
                  <a:srgbClr val="242021"/>
                </a:solidFill>
              </a:rPr>
              <a:t>external interface file </a:t>
            </a:r>
            <a:r>
              <a:rPr lang="en-US" sz="2100" b="0" i="0" dirty="0">
                <a:solidFill>
                  <a:srgbClr val="242021"/>
                </a:solidFill>
              </a:rPr>
              <a:t>is a logical grouping of data that </a:t>
            </a:r>
            <a:r>
              <a:rPr lang="en-US" sz="2100" b="1" i="0" dirty="0">
                <a:solidFill>
                  <a:srgbClr val="242021"/>
                </a:solidFill>
              </a:rPr>
              <a:t>resides external to the application </a:t>
            </a:r>
            <a:r>
              <a:rPr lang="en-US" sz="2100" b="0" i="0" dirty="0">
                <a:solidFill>
                  <a:srgbClr val="242021"/>
                </a:solidFill>
              </a:rPr>
              <a:t>but provides information that may be of use to the application.</a:t>
            </a:r>
            <a:endParaRPr sz="2100" dirty="0"/>
          </a:p>
          <a:p>
            <a:pPr marL="0" lvl="0" indent="0" algn="just" rtl="0">
              <a:lnSpc>
                <a:spcPct val="150000"/>
              </a:lnSpc>
              <a:spcBef>
                <a:spcPts val="360"/>
              </a:spcBef>
              <a:spcAft>
                <a:spcPts val="0"/>
              </a:spcAft>
              <a:buClr>
                <a:schemeClr val="dk1"/>
              </a:buClr>
              <a:buSzPts val="1800"/>
              <a:buNone/>
            </a:pPr>
            <a:r>
              <a:rPr lang="en-US" sz="2100" dirty="0"/>
              <a:t> </a:t>
            </a:r>
            <a:endParaRPr sz="21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Metrics for Requirement Model – Function Point (FP) Metrics</a:t>
            </a:r>
            <a:endParaRPr/>
          </a:p>
        </p:txBody>
      </p:sp>
      <p:sp>
        <p:nvSpPr>
          <p:cNvPr id="366" name="Google Shape;366;p4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46</a:t>
            </a:fld>
            <a:endParaRPr/>
          </a:p>
        </p:txBody>
      </p:sp>
      <p:sp>
        <p:nvSpPr>
          <p:cNvPr id="367" name="Google Shape;367;p46"/>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800"/>
              <a:buNone/>
            </a:pPr>
            <a:endParaRPr sz="1800" b="0" i="0" dirty="0">
              <a:solidFill>
                <a:srgbClr val="242021"/>
              </a:solidFill>
            </a:endParaRPr>
          </a:p>
          <a:p>
            <a:pPr marL="0" lvl="0" indent="0" algn="just" rtl="0">
              <a:lnSpc>
                <a:spcPct val="150000"/>
              </a:lnSpc>
              <a:spcBef>
                <a:spcPts val="360"/>
              </a:spcBef>
              <a:spcAft>
                <a:spcPts val="0"/>
              </a:spcAft>
              <a:buClr>
                <a:schemeClr val="dk1"/>
              </a:buClr>
              <a:buSzPts val="1800"/>
              <a:buNone/>
            </a:pPr>
            <a:endParaRPr sz="1800" dirty="0">
              <a:solidFill>
                <a:srgbClr val="242021"/>
              </a:solidFill>
            </a:endParaRPr>
          </a:p>
          <a:p>
            <a:pPr marL="0" lvl="0" indent="0" algn="just" rtl="0">
              <a:lnSpc>
                <a:spcPct val="150000"/>
              </a:lnSpc>
              <a:spcBef>
                <a:spcPts val="360"/>
              </a:spcBef>
              <a:spcAft>
                <a:spcPts val="0"/>
              </a:spcAft>
              <a:buClr>
                <a:schemeClr val="dk1"/>
              </a:buClr>
              <a:buSzPts val="1800"/>
              <a:buNone/>
            </a:pPr>
            <a:endParaRPr sz="1800" b="0" i="0" dirty="0">
              <a:solidFill>
                <a:srgbClr val="242021"/>
              </a:solidFill>
            </a:endParaRPr>
          </a:p>
          <a:p>
            <a:pPr marL="0" lvl="0" indent="0" algn="just" rtl="0">
              <a:lnSpc>
                <a:spcPct val="150000"/>
              </a:lnSpc>
              <a:spcBef>
                <a:spcPts val="360"/>
              </a:spcBef>
              <a:spcAft>
                <a:spcPts val="0"/>
              </a:spcAft>
              <a:buClr>
                <a:schemeClr val="dk1"/>
              </a:buClr>
              <a:buSzPts val="1800"/>
              <a:buNone/>
            </a:pPr>
            <a:endParaRPr sz="1800" dirty="0">
              <a:solidFill>
                <a:srgbClr val="242021"/>
              </a:solidFill>
            </a:endParaRPr>
          </a:p>
          <a:p>
            <a:pPr marL="0" lvl="0" indent="0" algn="just" rtl="0">
              <a:lnSpc>
                <a:spcPct val="150000"/>
              </a:lnSpc>
              <a:spcBef>
                <a:spcPts val="360"/>
              </a:spcBef>
              <a:spcAft>
                <a:spcPts val="0"/>
              </a:spcAft>
              <a:buClr>
                <a:schemeClr val="dk1"/>
              </a:buClr>
              <a:buSzPts val="1800"/>
              <a:buNone/>
            </a:pPr>
            <a:endParaRPr sz="1800" b="0" i="0" dirty="0">
              <a:solidFill>
                <a:srgbClr val="242021"/>
              </a:solidFill>
            </a:endParaRPr>
          </a:p>
          <a:p>
            <a:pPr marL="0" lvl="0" indent="0" algn="just" rtl="0">
              <a:lnSpc>
                <a:spcPct val="150000"/>
              </a:lnSpc>
              <a:spcBef>
                <a:spcPts val="360"/>
              </a:spcBef>
              <a:spcAft>
                <a:spcPts val="0"/>
              </a:spcAft>
              <a:buClr>
                <a:schemeClr val="dk1"/>
              </a:buClr>
              <a:buSzPts val="1800"/>
              <a:buNone/>
            </a:pPr>
            <a:endParaRPr sz="1800" dirty="0">
              <a:solidFill>
                <a:srgbClr val="242021"/>
              </a:solidFill>
            </a:endParaRPr>
          </a:p>
          <a:p>
            <a:pPr marL="0" lvl="0" indent="0" algn="ctr" rtl="0">
              <a:lnSpc>
                <a:spcPct val="150000"/>
              </a:lnSpc>
              <a:spcBef>
                <a:spcPts val="360"/>
              </a:spcBef>
              <a:spcAft>
                <a:spcPts val="0"/>
              </a:spcAft>
              <a:buClr>
                <a:srgbClr val="242021"/>
              </a:buClr>
              <a:buSzPts val="1800"/>
              <a:buNone/>
            </a:pPr>
            <a:r>
              <a:rPr lang="en-US" sz="1800" b="0" i="0" dirty="0" smtClean="0">
                <a:solidFill>
                  <a:srgbClr val="242021"/>
                </a:solidFill>
              </a:rPr>
              <a:t>Figure </a:t>
            </a:r>
            <a:r>
              <a:rPr lang="en-US" sz="1800" b="0" i="0" dirty="0">
                <a:solidFill>
                  <a:srgbClr val="242021"/>
                </a:solidFill>
              </a:rPr>
              <a:t>2: </a:t>
            </a:r>
            <a:r>
              <a:rPr lang="en-US" sz="1800" b="0" i="0" dirty="0" err="1">
                <a:solidFill>
                  <a:srgbClr val="242021"/>
                </a:solidFill>
              </a:rPr>
              <a:t>SafeHome</a:t>
            </a:r>
            <a:r>
              <a:rPr lang="en-US" sz="1800" b="0" i="0" dirty="0">
                <a:solidFill>
                  <a:srgbClr val="242021"/>
                </a:solidFill>
              </a:rPr>
              <a:t> software data flow model example</a:t>
            </a:r>
            <a:endParaRPr dirty="0"/>
          </a:p>
          <a:p>
            <a:pPr marL="342900" lvl="0" indent="-342900" algn="just" rtl="0">
              <a:spcBef>
                <a:spcPts val="360"/>
              </a:spcBef>
              <a:spcAft>
                <a:spcPts val="0"/>
              </a:spcAft>
              <a:buClr>
                <a:srgbClr val="242021"/>
              </a:buClr>
              <a:buSzPts val="1800"/>
              <a:buFont typeface="Noto Sans Symbols"/>
              <a:buChar char="✔"/>
            </a:pPr>
            <a:r>
              <a:rPr lang="en-US" sz="1800" b="0" i="0" dirty="0">
                <a:solidFill>
                  <a:srgbClr val="242021"/>
                </a:solidFill>
              </a:rPr>
              <a:t>Three external inputs (EIs) - </a:t>
            </a:r>
            <a:r>
              <a:rPr lang="en-US" sz="1800" i="1" dirty="0">
                <a:solidFill>
                  <a:srgbClr val="C00000"/>
                </a:solidFill>
              </a:rPr>
              <a:t>password, panic button</a:t>
            </a:r>
            <a:r>
              <a:rPr lang="en-US" sz="1800" b="0" i="0" dirty="0">
                <a:solidFill>
                  <a:srgbClr val="242021"/>
                </a:solidFill>
              </a:rPr>
              <a:t>, and </a:t>
            </a:r>
            <a:r>
              <a:rPr lang="en-US" sz="1800" i="1" dirty="0">
                <a:solidFill>
                  <a:srgbClr val="C00000"/>
                </a:solidFill>
              </a:rPr>
              <a:t>activate/deactivate</a:t>
            </a:r>
            <a:endParaRPr dirty="0"/>
          </a:p>
          <a:p>
            <a:pPr marL="342900" lvl="0" indent="-342900" algn="just" rtl="0">
              <a:spcBef>
                <a:spcPts val="360"/>
              </a:spcBef>
              <a:spcAft>
                <a:spcPts val="0"/>
              </a:spcAft>
              <a:buClr>
                <a:srgbClr val="242021"/>
              </a:buClr>
              <a:buSzPts val="1800"/>
              <a:buFont typeface="Noto Sans Symbols"/>
              <a:buChar char="✔"/>
            </a:pPr>
            <a:r>
              <a:rPr lang="en-US" sz="1800" dirty="0">
                <a:solidFill>
                  <a:srgbClr val="242021"/>
                </a:solidFill>
              </a:rPr>
              <a:t>T</a:t>
            </a:r>
            <a:r>
              <a:rPr lang="en-US" sz="1800" b="0" i="0" dirty="0">
                <a:solidFill>
                  <a:srgbClr val="242021"/>
                </a:solidFill>
              </a:rPr>
              <a:t>wo external inquiries (EQs) - </a:t>
            </a:r>
            <a:r>
              <a:rPr lang="en-US" sz="1800" i="1" dirty="0">
                <a:solidFill>
                  <a:srgbClr val="C00000"/>
                </a:solidFill>
              </a:rPr>
              <a:t>zone inquiry </a:t>
            </a:r>
            <a:r>
              <a:rPr lang="en-US" sz="1800" b="0" i="0" dirty="0">
                <a:solidFill>
                  <a:srgbClr val="242021"/>
                </a:solidFill>
              </a:rPr>
              <a:t>and </a:t>
            </a:r>
            <a:r>
              <a:rPr lang="en-US" sz="1800" i="1" dirty="0">
                <a:solidFill>
                  <a:srgbClr val="C00000"/>
                </a:solidFill>
              </a:rPr>
              <a:t>sensor inquiry</a:t>
            </a:r>
            <a:r>
              <a:rPr lang="en-US" sz="1800" b="0" i="0" dirty="0">
                <a:solidFill>
                  <a:srgbClr val="242021"/>
                </a:solidFill>
              </a:rPr>
              <a:t>. </a:t>
            </a:r>
            <a:endParaRPr dirty="0"/>
          </a:p>
          <a:p>
            <a:pPr marL="342900" lvl="0" indent="-342900" algn="just" rtl="0">
              <a:spcBef>
                <a:spcPts val="360"/>
              </a:spcBef>
              <a:spcAft>
                <a:spcPts val="0"/>
              </a:spcAft>
              <a:buClr>
                <a:srgbClr val="242021"/>
              </a:buClr>
              <a:buSzPts val="1800"/>
              <a:buFont typeface="Noto Sans Symbols"/>
              <a:buChar char="✔"/>
            </a:pPr>
            <a:r>
              <a:rPr lang="en-US" sz="1800" b="0" i="0" dirty="0">
                <a:solidFill>
                  <a:srgbClr val="242021"/>
                </a:solidFill>
              </a:rPr>
              <a:t>One internal logical file (ILF) - </a:t>
            </a:r>
            <a:r>
              <a:rPr lang="en-US" sz="1800" i="1" dirty="0">
                <a:solidFill>
                  <a:srgbClr val="C00000"/>
                </a:solidFill>
              </a:rPr>
              <a:t>system configuration file</a:t>
            </a:r>
            <a:r>
              <a:rPr lang="en-US" sz="1800" b="0" i="0" dirty="0">
                <a:solidFill>
                  <a:srgbClr val="242021"/>
                </a:solidFill>
              </a:rPr>
              <a:t>.</a:t>
            </a:r>
            <a:endParaRPr dirty="0"/>
          </a:p>
          <a:p>
            <a:pPr marL="342900" lvl="0" indent="-342900" algn="just" rtl="0">
              <a:spcBef>
                <a:spcPts val="360"/>
              </a:spcBef>
              <a:spcAft>
                <a:spcPts val="0"/>
              </a:spcAft>
              <a:buClr>
                <a:srgbClr val="242021"/>
              </a:buClr>
              <a:buSzPts val="1800"/>
              <a:buFont typeface="Noto Sans Symbols"/>
              <a:buChar char="✔"/>
            </a:pPr>
            <a:r>
              <a:rPr lang="en-US" sz="1800" b="0" i="0" dirty="0">
                <a:solidFill>
                  <a:srgbClr val="242021"/>
                </a:solidFill>
              </a:rPr>
              <a:t>Two external outputs (EOs) - </a:t>
            </a:r>
            <a:r>
              <a:rPr lang="en-US" sz="1800" i="1" dirty="0">
                <a:solidFill>
                  <a:srgbClr val="C00000"/>
                </a:solidFill>
              </a:rPr>
              <a:t>messages and sensor status</a:t>
            </a:r>
            <a:r>
              <a:rPr lang="en-US" sz="1800" dirty="0">
                <a:solidFill>
                  <a:srgbClr val="242021"/>
                </a:solidFill>
              </a:rPr>
              <a:t>.</a:t>
            </a:r>
            <a:endParaRPr sz="1800" b="0" i="0" dirty="0">
              <a:solidFill>
                <a:srgbClr val="242021"/>
              </a:solidFill>
            </a:endParaRPr>
          </a:p>
          <a:p>
            <a:pPr marL="342900" lvl="0" indent="-342900" algn="just" rtl="0">
              <a:spcBef>
                <a:spcPts val="360"/>
              </a:spcBef>
              <a:spcAft>
                <a:spcPts val="0"/>
              </a:spcAft>
              <a:buClr>
                <a:srgbClr val="242021"/>
              </a:buClr>
              <a:buSzPts val="1800"/>
              <a:buFont typeface="Noto Sans Symbols"/>
              <a:buChar char="✔"/>
            </a:pPr>
            <a:r>
              <a:rPr lang="en-US" sz="1800" dirty="0">
                <a:solidFill>
                  <a:srgbClr val="242021"/>
                </a:solidFill>
              </a:rPr>
              <a:t>F</a:t>
            </a:r>
            <a:r>
              <a:rPr lang="en-US" sz="1800" b="0" i="0" dirty="0">
                <a:solidFill>
                  <a:srgbClr val="242021"/>
                </a:solidFill>
              </a:rPr>
              <a:t>our external interface files (EIFs) - </a:t>
            </a:r>
            <a:r>
              <a:rPr lang="en-US" sz="1800" i="1" dirty="0">
                <a:solidFill>
                  <a:srgbClr val="C00000"/>
                </a:solidFill>
              </a:rPr>
              <a:t>test sensor, zone setting, activate/deactivate</a:t>
            </a:r>
            <a:r>
              <a:rPr lang="en-US" sz="1800" b="1" i="0" dirty="0">
                <a:solidFill>
                  <a:srgbClr val="242021"/>
                </a:solidFill>
              </a:rPr>
              <a:t>, </a:t>
            </a:r>
            <a:r>
              <a:rPr lang="en-US" sz="1800" b="0" i="0" dirty="0">
                <a:solidFill>
                  <a:srgbClr val="242021"/>
                </a:solidFill>
              </a:rPr>
              <a:t>and </a:t>
            </a:r>
            <a:r>
              <a:rPr lang="en-US" sz="1800" i="1" dirty="0">
                <a:solidFill>
                  <a:srgbClr val="C00000"/>
                </a:solidFill>
              </a:rPr>
              <a:t>alarm alert.</a:t>
            </a:r>
            <a:endParaRPr dirty="0"/>
          </a:p>
          <a:p>
            <a:pPr marL="0" lvl="0" indent="0" algn="just" rtl="0">
              <a:spcBef>
                <a:spcPts val="360"/>
              </a:spcBef>
              <a:spcAft>
                <a:spcPts val="0"/>
              </a:spcAft>
              <a:buClr>
                <a:srgbClr val="242021"/>
              </a:buClr>
              <a:buSzPts val="1800"/>
              <a:buNone/>
            </a:pPr>
            <a:r>
              <a:rPr lang="en-US" sz="1800" b="0" i="0" dirty="0">
                <a:solidFill>
                  <a:srgbClr val="242021"/>
                </a:solidFill>
              </a:rPr>
              <a:t> </a:t>
            </a:r>
            <a:r>
              <a:rPr lang="en-US" sz="1800" dirty="0"/>
              <a:t/>
            </a:r>
            <a:br>
              <a:rPr lang="en-US" sz="1800" dirty="0"/>
            </a:br>
            <a:endParaRPr sz="1800" dirty="0">
              <a:solidFill>
                <a:srgbClr val="242021"/>
              </a:solidFill>
            </a:endParaRPr>
          </a:p>
        </p:txBody>
      </p:sp>
      <p:pic>
        <p:nvPicPr>
          <p:cNvPr id="368" name="Google Shape;368;p46"/>
          <p:cNvPicPr preferRelativeResize="0"/>
          <p:nvPr/>
        </p:nvPicPr>
        <p:blipFill rotWithShape="1">
          <a:blip r:embed="rId3">
            <a:alphaModFix/>
          </a:blip>
          <a:srcRect/>
          <a:stretch/>
        </p:blipFill>
        <p:spPr>
          <a:xfrm>
            <a:off x="2031771" y="914400"/>
            <a:ext cx="5537657" cy="2857704"/>
          </a:xfrm>
          <a:prstGeom prst="rect">
            <a:avLst/>
          </a:prstGeom>
          <a:noFill/>
          <a:ln>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Metrics for Requirement Model – Function Point (FP) Metrics</a:t>
            </a:r>
            <a:endParaRPr/>
          </a:p>
        </p:txBody>
      </p:sp>
      <p:sp>
        <p:nvSpPr>
          <p:cNvPr id="374" name="Google Shape;374;p4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47</a:t>
            </a:fld>
            <a:endParaRPr/>
          </a:p>
        </p:txBody>
      </p:sp>
      <p:sp>
        <p:nvSpPr>
          <p:cNvPr id="375" name="Google Shape;375;p47"/>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800"/>
              <a:buNone/>
            </a:pPr>
            <a:endParaRPr sz="1800" b="0" i="0">
              <a:solidFill>
                <a:srgbClr val="242021"/>
              </a:solidFill>
            </a:endParaRPr>
          </a:p>
          <a:p>
            <a:pPr marL="0" lvl="0" indent="0" algn="just" rtl="0">
              <a:lnSpc>
                <a:spcPct val="150000"/>
              </a:lnSpc>
              <a:spcBef>
                <a:spcPts val="360"/>
              </a:spcBef>
              <a:spcAft>
                <a:spcPts val="0"/>
              </a:spcAft>
              <a:buClr>
                <a:schemeClr val="dk1"/>
              </a:buClr>
              <a:buSzPts val="1800"/>
              <a:buNone/>
            </a:pPr>
            <a:endParaRPr sz="1800">
              <a:solidFill>
                <a:srgbClr val="242021"/>
              </a:solidFill>
            </a:endParaRPr>
          </a:p>
          <a:p>
            <a:pPr marL="0" lvl="0" indent="0" algn="just" rtl="0">
              <a:lnSpc>
                <a:spcPct val="150000"/>
              </a:lnSpc>
              <a:spcBef>
                <a:spcPts val="360"/>
              </a:spcBef>
              <a:spcAft>
                <a:spcPts val="0"/>
              </a:spcAft>
              <a:buClr>
                <a:schemeClr val="dk1"/>
              </a:buClr>
              <a:buSzPts val="1800"/>
              <a:buNone/>
            </a:pPr>
            <a:endParaRPr sz="1800" b="0" i="0">
              <a:solidFill>
                <a:srgbClr val="242021"/>
              </a:solidFill>
            </a:endParaRPr>
          </a:p>
          <a:p>
            <a:pPr marL="0" lvl="0" indent="0" algn="just" rtl="0">
              <a:lnSpc>
                <a:spcPct val="150000"/>
              </a:lnSpc>
              <a:spcBef>
                <a:spcPts val="360"/>
              </a:spcBef>
              <a:spcAft>
                <a:spcPts val="0"/>
              </a:spcAft>
              <a:buClr>
                <a:schemeClr val="dk1"/>
              </a:buClr>
              <a:buSzPts val="1800"/>
              <a:buNone/>
            </a:pPr>
            <a:endParaRPr sz="1800">
              <a:solidFill>
                <a:srgbClr val="242021"/>
              </a:solidFill>
            </a:endParaRPr>
          </a:p>
          <a:p>
            <a:pPr marL="0" lvl="0" indent="0" algn="just" rtl="0">
              <a:lnSpc>
                <a:spcPct val="150000"/>
              </a:lnSpc>
              <a:spcBef>
                <a:spcPts val="360"/>
              </a:spcBef>
              <a:spcAft>
                <a:spcPts val="0"/>
              </a:spcAft>
              <a:buClr>
                <a:schemeClr val="dk1"/>
              </a:buClr>
              <a:buSzPts val="1800"/>
              <a:buNone/>
            </a:pPr>
            <a:endParaRPr sz="1800" b="0" i="0">
              <a:solidFill>
                <a:srgbClr val="242021"/>
              </a:solidFill>
            </a:endParaRPr>
          </a:p>
          <a:p>
            <a:pPr marL="0" lvl="0" indent="0" algn="just" rtl="0">
              <a:lnSpc>
                <a:spcPct val="150000"/>
              </a:lnSpc>
              <a:spcBef>
                <a:spcPts val="360"/>
              </a:spcBef>
              <a:spcAft>
                <a:spcPts val="0"/>
              </a:spcAft>
              <a:buClr>
                <a:schemeClr val="dk1"/>
              </a:buClr>
              <a:buSzPts val="1800"/>
              <a:buNone/>
            </a:pPr>
            <a:endParaRPr sz="1800">
              <a:solidFill>
                <a:srgbClr val="242021"/>
              </a:solidFill>
            </a:endParaRPr>
          </a:p>
          <a:p>
            <a:pPr marL="0" lvl="0" indent="0" algn="ctr" rtl="0">
              <a:lnSpc>
                <a:spcPct val="150000"/>
              </a:lnSpc>
              <a:spcBef>
                <a:spcPts val="360"/>
              </a:spcBef>
              <a:spcAft>
                <a:spcPts val="0"/>
              </a:spcAft>
              <a:buClr>
                <a:srgbClr val="242021"/>
              </a:buClr>
              <a:buSzPts val="1800"/>
              <a:buNone/>
            </a:pPr>
            <a:endParaRPr sz="1800">
              <a:solidFill>
                <a:srgbClr val="242021"/>
              </a:solidFill>
            </a:endParaRPr>
          </a:p>
          <a:p>
            <a:pPr marL="0" lvl="0" indent="0" algn="ctr" rtl="0">
              <a:lnSpc>
                <a:spcPct val="150000"/>
              </a:lnSpc>
              <a:spcBef>
                <a:spcPts val="360"/>
              </a:spcBef>
              <a:spcAft>
                <a:spcPts val="0"/>
              </a:spcAft>
              <a:buClr>
                <a:srgbClr val="242021"/>
              </a:buClr>
              <a:buSzPts val="1800"/>
              <a:buNone/>
            </a:pPr>
            <a:r>
              <a:rPr lang="en-US" sz="1800" b="0" i="0">
                <a:solidFill>
                  <a:srgbClr val="242021"/>
                </a:solidFill>
              </a:rPr>
              <a:t>Figure</a:t>
            </a:r>
            <a:r>
              <a:rPr lang="en-US" sz="1800">
                <a:solidFill>
                  <a:srgbClr val="242021"/>
                </a:solidFill>
              </a:rPr>
              <a:t> </a:t>
            </a:r>
            <a:r>
              <a:rPr lang="en-US" sz="1800" b="0" i="0">
                <a:solidFill>
                  <a:srgbClr val="242021"/>
                </a:solidFill>
              </a:rPr>
              <a:t>3: Computing function points</a:t>
            </a:r>
            <a:endParaRPr/>
          </a:p>
          <a:p>
            <a:pPr marL="342900" lvl="0" indent="-342900" algn="just" rtl="0">
              <a:lnSpc>
                <a:spcPct val="150000"/>
              </a:lnSpc>
              <a:spcBef>
                <a:spcPts val="360"/>
              </a:spcBef>
              <a:spcAft>
                <a:spcPts val="0"/>
              </a:spcAft>
              <a:buClr>
                <a:srgbClr val="242021"/>
              </a:buClr>
              <a:buSzPts val="1800"/>
              <a:buChar char="•"/>
            </a:pPr>
            <a:r>
              <a:rPr lang="en-US" sz="1800">
                <a:solidFill>
                  <a:srgbClr val="242021"/>
                </a:solidFill>
              </a:rPr>
              <a:t>To compute function points (FP), the following relationship is used: </a:t>
            </a:r>
            <a:endParaRPr/>
          </a:p>
          <a:p>
            <a:pPr marL="342900" lvl="0" indent="-228600" algn="just" rtl="0">
              <a:lnSpc>
                <a:spcPct val="150000"/>
              </a:lnSpc>
              <a:spcBef>
                <a:spcPts val="360"/>
              </a:spcBef>
              <a:spcAft>
                <a:spcPts val="0"/>
              </a:spcAft>
              <a:buClr>
                <a:schemeClr val="dk1"/>
              </a:buClr>
              <a:buSzPts val="1800"/>
              <a:buNone/>
            </a:pPr>
            <a:endParaRPr sz="1800">
              <a:solidFill>
                <a:srgbClr val="242021"/>
              </a:solidFill>
            </a:endParaRPr>
          </a:p>
          <a:p>
            <a:pPr marL="342900" lvl="0" indent="-342900" algn="just" rtl="0">
              <a:lnSpc>
                <a:spcPct val="150000"/>
              </a:lnSpc>
              <a:spcBef>
                <a:spcPts val="360"/>
              </a:spcBef>
              <a:spcAft>
                <a:spcPts val="0"/>
              </a:spcAft>
              <a:buClr>
                <a:srgbClr val="242021"/>
              </a:buClr>
              <a:buSzPts val="1800"/>
              <a:buChar char="•"/>
            </a:pPr>
            <a:r>
              <a:rPr lang="en-US" sz="1800">
                <a:solidFill>
                  <a:srgbClr val="242021"/>
                </a:solidFill>
              </a:rPr>
              <a:t>Where count total is the sum of all FP entries obtained from the above table.</a:t>
            </a:r>
            <a:endParaRPr sz="1800">
              <a:solidFill>
                <a:srgbClr val="242021"/>
              </a:solidFill>
            </a:endParaRPr>
          </a:p>
        </p:txBody>
      </p:sp>
      <p:pic>
        <p:nvPicPr>
          <p:cNvPr id="376" name="Google Shape;376;p47"/>
          <p:cNvPicPr preferRelativeResize="0"/>
          <p:nvPr/>
        </p:nvPicPr>
        <p:blipFill rotWithShape="1">
          <a:blip r:embed="rId3">
            <a:alphaModFix/>
          </a:blip>
          <a:srcRect/>
          <a:stretch/>
        </p:blipFill>
        <p:spPr>
          <a:xfrm>
            <a:off x="609600" y="1143000"/>
            <a:ext cx="7768690" cy="2777004"/>
          </a:xfrm>
          <a:prstGeom prst="rect">
            <a:avLst/>
          </a:prstGeom>
          <a:noFill/>
          <a:ln>
            <a:noFill/>
          </a:ln>
        </p:spPr>
      </p:pic>
      <p:pic>
        <p:nvPicPr>
          <p:cNvPr id="377" name="Google Shape;377;p47"/>
          <p:cNvPicPr preferRelativeResize="0"/>
          <p:nvPr/>
        </p:nvPicPr>
        <p:blipFill rotWithShape="1">
          <a:blip r:embed="rId4">
            <a:alphaModFix/>
          </a:blip>
          <a:srcRect/>
          <a:stretch/>
        </p:blipFill>
        <p:spPr>
          <a:xfrm>
            <a:off x="2165128" y="5181600"/>
            <a:ext cx="4311872" cy="311166"/>
          </a:xfrm>
          <a:prstGeom prst="rect">
            <a:avLst/>
          </a:prstGeom>
          <a:noFill/>
          <a:ln>
            <a:noFill/>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Metrics for Requirement Model – Function Point (FP) Metrics</a:t>
            </a:r>
            <a:endParaRPr/>
          </a:p>
        </p:txBody>
      </p:sp>
      <p:sp>
        <p:nvSpPr>
          <p:cNvPr id="383" name="Google Shape;383;p4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48</a:t>
            </a:fld>
            <a:endParaRPr/>
          </a:p>
        </p:txBody>
      </p:sp>
      <p:sp>
        <p:nvSpPr>
          <p:cNvPr id="384" name="Google Shape;384;p48"/>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C00000"/>
              </a:buClr>
              <a:buSzPts val="1700"/>
              <a:buNone/>
            </a:pPr>
            <a:r>
              <a:rPr lang="en-US" sz="1700" b="0" i="0">
                <a:solidFill>
                  <a:srgbClr val="C00000"/>
                </a:solidFill>
              </a:rPr>
              <a:t>The </a:t>
            </a:r>
            <a:r>
              <a:rPr lang="en-US" sz="1700" b="0" i="1">
                <a:solidFill>
                  <a:srgbClr val="C00000"/>
                </a:solidFill>
              </a:rPr>
              <a:t>Fi </a:t>
            </a:r>
            <a:r>
              <a:rPr lang="en-US" sz="1700" b="0" i="0">
                <a:solidFill>
                  <a:srgbClr val="C00000"/>
                </a:solidFill>
              </a:rPr>
              <a:t>(</a:t>
            </a:r>
            <a:r>
              <a:rPr lang="en-US" sz="1700" b="0" i="1">
                <a:solidFill>
                  <a:srgbClr val="C00000"/>
                </a:solidFill>
              </a:rPr>
              <a:t>i </a:t>
            </a:r>
            <a:r>
              <a:rPr lang="en-US" sz="1700">
                <a:solidFill>
                  <a:srgbClr val="C00000"/>
                </a:solidFill>
              </a:rPr>
              <a:t>=</a:t>
            </a:r>
            <a:r>
              <a:rPr lang="en-US" sz="1700" b="0" i="0">
                <a:solidFill>
                  <a:srgbClr val="C00000"/>
                </a:solidFill>
              </a:rPr>
              <a:t> 1 to 14) are </a:t>
            </a:r>
            <a:r>
              <a:rPr lang="en-US" sz="1700" b="0" i="1">
                <a:solidFill>
                  <a:srgbClr val="C00000"/>
                </a:solidFill>
              </a:rPr>
              <a:t>value adjustment factors </a:t>
            </a:r>
            <a:r>
              <a:rPr lang="en-US" sz="1700" b="0" i="0">
                <a:solidFill>
                  <a:srgbClr val="C00000"/>
                </a:solidFill>
              </a:rPr>
              <a:t>(VAF) based on responses to the following questions:</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Does the system require reliable backup and recovery?</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Are specialized data communications required to transfer information to or from the application?</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Are there distributed processing functions?</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Is performance critical?</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Will the system run in an existing, heavily utilized operational environment?</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Does the system require online data entry?</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Does the online data entry require the input transaction to be built over multiple screens or operations?</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Are the ILFs updated online?</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Are the inputs, outputs, files, or inquiries complex?</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Is the internal processing complex?</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Is the code designed to be reusable?</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Are conversion and installation included in the design?</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Is the system designed for multiple installations in different organizations?</a:t>
            </a:r>
            <a:r>
              <a:rPr lang="en-US" sz="1700" b="1" i="0">
                <a:solidFill>
                  <a:srgbClr val="EC028D"/>
                </a:solidFill>
              </a:rPr>
              <a:t> </a:t>
            </a:r>
            <a:endParaRPr/>
          </a:p>
          <a:p>
            <a:pPr marL="342900" lvl="0" indent="-342900" algn="l" rtl="0">
              <a:spcBef>
                <a:spcPts val="340"/>
              </a:spcBef>
              <a:spcAft>
                <a:spcPts val="0"/>
              </a:spcAft>
              <a:buClr>
                <a:srgbClr val="242021"/>
              </a:buClr>
              <a:buSzPts val="1700"/>
              <a:buFont typeface="Calibri"/>
              <a:buAutoNum type="arabicPeriod"/>
            </a:pPr>
            <a:r>
              <a:rPr lang="en-US" sz="1700" b="0" i="0">
                <a:solidFill>
                  <a:srgbClr val="242021"/>
                </a:solidFill>
              </a:rPr>
              <a:t>Is the application designed to facilitate change and ease of use by the user?</a:t>
            </a:r>
            <a:r>
              <a:rPr lang="en-US" sz="1700"/>
              <a:t> </a:t>
            </a:r>
            <a:endParaRPr sz="1700"/>
          </a:p>
        </p:txBody>
      </p:sp>
      <p:sp>
        <p:nvSpPr>
          <p:cNvPr id="385" name="Google Shape;385;p48"/>
          <p:cNvSpPr txBox="1"/>
          <p:nvPr/>
        </p:nvSpPr>
        <p:spPr>
          <a:xfrm>
            <a:off x="6743700" y="4512705"/>
            <a:ext cx="2286000"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dirty="0">
                <a:solidFill>
                  <a:srgbClr val="FF6600"/>
                </a:solidFill>
                <a:latin typeface="Times New Roman"/>
                <a:ea typeface="Times New Roman"/>
                <a:cs typeface="Times New Roman"/>
                <a:sym typeface="Times New Roman"/>
              </a:rPr>
              <a:t>Each of these questions is answered using a scale that ranges from 0 (not important or applicable) to 5 (absolutely essential).</a:t>
            </a:r>
            <a:r>
              <a:rPr lang="en-US" sz="1400" dirty="0">
                <a:solidFill>
                  <a:srgbClr val="FF6600"/>
                </a:solidFill>
                <a:latin typeface="Times New Roman"/>
                <a:ea typeface="Times New Roman"/>
                <a:cs typeface="Times New Roman"/>
                <a:sym typeface="Times New Roman"/>
              </a:rPr>
              <a:t> </a:t>
            </a:r>
            <a:br>
              <a:rPr lang="en-US" sz="1400" dirty="0">
                <a:solidFill>
                  <a:srgbClr val="FF6600"/>
                </a:solidFill>
                <a:latin typeface="Times New Roman"/>
                <a:ea typeface="Times New Roman"/>
                <a:cs typeface="Times New Roman"/>
                <a:sym typeface="Times New Roman"/>
              </a:rPr>
            </a:br>
            <a:endParaRPr sz="1400" dirty="0">
              <a:solidFill>
                <a:srgbClr val="FF66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Metrics for Requirement Model – Function Point (FP) Metrics</a:t>
            </a:r>
            <a:endParaRPr/>
          </a:p>
        </p:txBody>
      </p:sp>
      <p:sp>
        <p:nvSpPr>
          <p:cNvPr id="383" name="Google Shape;383;p4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49</a:t>
            </a:fld>
            <a:endParaRPr/>
          </a:p>
        </p:txBody>
      </p:sp>
      <p:sp>
        <p:nvSpPr>
          <p:cNvPr id="384" name="Google Shape;384;p48"/>
          <p:cNvSpPr txBox="1">
            <a:spLocks noGrp="1"/>
          </p:cNvSpPr>
          <p:nvPr>
            <p:ph type="body" idx="1"/>
          </p:nvPr>
        </p:nvSpPr>
        <p:spPr>
          <a:xfrm>
            <a:off x="457200" y="1042988"/>
            <a:ext cx="8229600" cy="4854712"/>
          </a:xfrm>
          <a:prstGeom prst="rect">
            <a:avLst/>
          </a:prstGeom>
          <a:noFill/>
          <a:ln>
            <a:noFill/>
          </a:ln>
        </p:spPr>
        <p:txBody>
          <a:bodyPr spcFirstLastPara="1" wrap="square" lIns="91425" tIns="45700" rIns="91425" bIns="45700" anchor="t" anchorCtr="0">
            <a:noAutofit/>
          </a:bodyPr>
          <a:lstStyle/>
          <a:p>
            <a:pPr marL="0" lvl="0" indent="0">
              <a:spcBef>
                <a:spcPts val="0"/>
              </a:spcBef>
              <a:buClr>
                <a:srgbClr val="C00000"/>
              </a:buClr>
              <a:buSzPts val="1700"/>
              <a:buNone/>
            </a:pPr>
            <a:r>
              <a:rPr lang="en-US" sz="1700" b="1" dirty="0"/>
              <a:t>Example of </a:t>
            </a:r>
            <a:r>
              <a:rPr lang="en-US" sz="1700" b="1" dirty="0" smtClean="0"/>
              <a:t>Function </a:t>
            </a:r>
            <a:r>
              <a:rPr lang="en-US" sz="1700" b="1" dirty="0"/>
              <a:t>Point Analysis </a:t>
            </a:r>
            <a:r>
              <a:rPr lang="en-US" sz="1700" b="1" dirty="0" smtClean="0"/>
              <a:t>Computation</a:t>
            </a:r>
          </a:p>
          <a:p>
            <a:pPr marL="0" lvl="0" indent="0">
              <a:spcBef>
                <a:spcPts val="0"/>
              </a:spcBef>
              <a:buClr>
                <a:srgbClr val="C00000"/>
              </a:buClr>
              <a:buSzPts val="1700"/>
              <a:buNone/>
            </a:pPr>
            <a:endParaRPr lang="en-US" sz="1700" b="1" dirty="0" smtClean="0"/>
          </a:p>
          <a:p>
            <a:pPr marL="0" lvl="0" indent="0">
              <a:spcBef>
                <a:spcPts val="0"/>
              </a:spcBef>
              <a:buClr>
                <a:srgbClr val="C00000"/>
              </a:buClr>
              <a:buSzPts val="1700"/>
              <a:buNone/>
            </a:pPr>
            <a:r>
              <a:rPr lang="en-IN" sz="1700" dirty="0"/>
              <a:t>Assume a system has the following</a:t>
            </a:r>
            <a:r>
              <a:rPr lang="en-IN" sz="1700" dirty="0" smtClean="0"/>
              <a:t>:</a:t>
            </a:r>
          </a:p>
          <a:p>
            <a:pPr marL="0" lvl="0" indent="0">
              <a:spcBef>
                <a:spcPts val="0"/>
              </a:spcBef>
              <a:buClr>
                <a:srgbClr val="C00000"/>
              </a:buClr>
              <a:buSzPts val="1700"/>
              <a:buNone/>
            </a:pPr>
            <a:r>
              <a:rPr lang="en-IN" sz="1700" dirty="0" smtClean="0"/>
              <a:t>3 </a:t>
            </a:r>
            <a:r>
              <a:rPr lang="en-IN" sz="1700" dirty="0"/>
              <a:t>External Inputs (EI</a:t>
            </a:r>
            <a:r>
              <a:rPr lang="en-IN" sz="1700" dirty="0" smtClean="0"/>
              <a:t>), 4 </a:t>
            </a:r>
            <a:r>
              <a:rPr lang="en-IN" sz="1700" dirty="0"/>
              <a:t>External Outputs (EO</a:t>
            </a:r>
            <a:r>
              <a:rPr lang="en-IN" sz="1700" dirty="0" smtClean="0"/>
              <a:t>), 2 </a:t>
            </a:r>
            <a:r>
              <a:rPr lang="en-IN" sz="1700" dirty="0"/>
              <a:t>External Inquiries (EQ</a:t>
            </a:r>
            <a:r>
              <a:rPr lang="en-IN" sz="1700" dirty="0" smtClean="0"/>
              <a:t>), 5 </a:t>
            </a:r>
            <a:r>
              <a:rPr lang="en-IN" sz="1700" dirty="0"/>
              <a:t>Internal Logical Files (ILF</a:t>
            </a:r>
            <a:r>
              <a:rPr lang="en-IN" sz="1700" dirty="0" smtClean="0"/>
              <a:t>), 3 </a:t>
            </a:r>
            <a:r>
              <a:rPr lang="en-IN" sz="1700" dirty="0"/>
              <a:t>External Interface Files (EIF</a:t>
            </a:r>
            <a:r>
              <a:rPr lang="en-IN" sz="1700" dirty="0" smtClean="0"/>
              <a:t>)</a:t>
            </a:r>
          </a:p>
          <a:p>
            <a:pPr marL="0" lvl="0" indent="0">
              <a:spcBef>
                <a:spcPts val="0"/>
              </a:spcBef>
              <a:buClr>
                <a:srgbClr val="C00000"/>
              </a:buClr>
              <a:buSzPts val="1700"/>
              <a:buNone/>
            </a:pPr>
            <a:endParaRPr lang="en-IN" sz="1700" dirty="0" smtClean="0"/>
          </a:p>
          <a:p>
            <a:pPr marL="0" lvl="0" indent="0">
              <a:spcBef>
                <a:spcPts val="0"/>
              </a:spcBef>
              <a:buClr>
                <a:srgbClr val="C00000"/>
              </a:buClr>
              <a:buSzPts val="1700"/>
              <a:buNone/>
            </a:pPr>
            <a:r>
              <a:rPr lang="en-IN" sz="1700" b="1" dirty="0" smtClean="0"/>
              <a:t>Assign </a:t>
            </a:r>
            <a:r>
              <a:rPr lang="en-IN" sz="1700" b="1" dirty="0"/>
              <a:t>Function </a:t>
            </a:r>
            <a:r>
              <a:rPr lang="en-IN" sz="1700" b="1" dirty="0" smtClean="0"/>
              <a:t>Weights</a:t>
            </a:r>
          </a:p>
          <a:p>
            <a:pPr marL="0" lvl="0" indent="0">
              <a:spcBef>
                <a:spcPts val="0"/>
              </a:spcBef>
              <a:buClr>
                <a:srgbClr val="C00000"/>
              </a:buClr>
              <a:buSzPts val="1700"/>
              <a:buNone/>
            </a:pPr>
            <a:endParaRPr lang="en-IN" sz="1700" b="1" dirty="0" smtClean="0"/>
          </a:p>
        </p:txBody>
      </p:sp>
      <p:graphicFrame>
        <p:nvGraphicFramePr>
          <p:cNvPr id="6" name="Table 5"/>
          <p:cNvGraphicFramePr>
            <a:graphicFrameLocks noGrp="1"/>
          </p:cNvGraphicFramePr>
          <p:nvPr>
            <p:extLst>
              <p:ext uri="{D42A27DB-BD31-4B8C-83A1-F6EECF244321}">
                <p14:modId xmlns:p14="http://schemas.microsoft.com/office/powerpoint/2010/main" val="1600113014"/>
              </p:ext>
            </p:extLst>
          </p:nvPr>
        </p:nvGraphicFramePr>
        <p:xfrm>
          <a:off x="457200" y="3294607"/>
          <a:ext cx="8229600" cy="2255520"/>
        </p:xfrm>
        <a:graphic>
          <a:graphicData uri="http://schemas.openxmlformats.org/drawingml/2006/table">
            <a:tbl>
              <a:tblPr/>
              <a:tblGrid>
                <a:gridCol w="2057400"/>
                <a:gridCol w="2057400"/>
                <a:gridCol w="2057400"/>
                <a:gridCol w="2057400"/>
              </a:tblGrid>
              <a:tr h="0">
                <a:tc>
                  <a:txBody>
                    <a:bodyPr/>
                    <a:lstStyle/>
                    <a:p>
                      <a:r>
                        <a:rPr lang="en-IN" dirty="0">
                          <a:latin typeface="Times New Roman" panose="02020603050405020304" pitchFamily="18" charset="0"/>
                          <a:cs typeface="Times New Roman" panose="02020603050405020304" pitchFamily="18" charset="0"/>
                        </a:rPr>
                        <a:t>Function Type</a:t>
                      </a:r>
                    </a:p>
                  </a:txBody>
                  <a:tcPr anchor="ctr">
                    <a:lnL>
                      <a:noFill/>
                    </a:lnL>
                    <a:lnR>
                      <a:noFill/>
                    </a:lnR>
                    <a:lnT>
                      <a:noFill/>
                    </a:lnT>
                    <a:lnB>
                      <a:noFill/>
                    </a:lnB>
                  </a:tcPr>
                </a:tc>
                <a:tc>
                  <a:txBody>
                    <a:bodyPr/>
                    <a:lstStyle/>
                    <a:p>
                      <a:r>
                        <a:rPr lang="en-IN" dirty="0">
                          <a:latin typeface="Times New Roman" panose="02020603050405020304" pitchFamily="18" charset="0"/>
                          <a:cs typeface="Times New Roman" panose="02020603050405020304" pitchFamily="18" charset="0"/>
                        </a:rPr>
                        <a:t>Low Complexity</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Average Complexity</a:t>
                      </a:r>
                    </a:p>
                  </a:txBody>
                  <a:tcPr anchor="ctr">
                    <a:lnL>
                      <a:noFill/>
                    </a:lnL>
                    <a:lnR>
                      <a:noFill/>
                    </a:lnR>
                    <a:lnT>
                      <a:noFill/>
                    </a:lnT>
                    <a:lnB>
                      <a:noFill/>
                    </a:lnB>
                  </a:tcPr>
                </a:tc>
                <a:tc>
                  <a:txBody>
                    <a:bodyPr/>
                    <a:lstStyle/>
                    <a:p>
                      <a:r>
                        <a:rPr lang="en-IN" dirty="0">
                          <a:latin typeface="Times New Roman" panose="02020603050405020304" pitchFamily="18" charset="0"/>
                          <a:cs typeface="Times New Roman" panose="02020603050405020304" pitchFamily="18" charset="0"/>
                        </a:rPr>
                        <a:t>High Complexity</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External Inputs (EI)</a:t>
                      </a:r>
                    </a:p>
                  </a:txBody>
                  <a:tcPr anchor="ctr">
                    <a:lnL>
                      <a:noFill/>
                    </a:lnL>
                    <a:lnR>
                      <a:noFill/>
                    </a:lnR>
                    <a:lnT>
                      <a:noFill/>
                    </a:lnT>
                    <a:lnB>
                      <a:noFill/>
                    </a:lnB>
                  </a:tcPr>
                </a:tc>
                <a:tc>
                  <a:txBody>
                    <a:bodyPr/>
                    <a:lstStyle/>
                    <a:p>
                      <a:r>
                        <a:rPr lang="en-IN" dirty="0">
                          <a:latin typeface="Times New Roman" panose="02020603050405020304" pitchFamily="18" charset="0"/>
                          <a:cs typeface="Times New Roman" panose="02020603050405020304" pitchFamily="18" charset="0"/>
                        </a:rPr>
                        <a:t>3</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4</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6</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External Outputs (EO)</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4</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5</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7</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External Inquiries (EQ)</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3</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4</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6</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Internal Logical Files (ILF)</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7</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10</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15</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External Interface Files (EIF)</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5</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7</a:t>
                      </a:r>
                    </a:p>
                  </a:txBody>
                  <a:tcPr anchor="ctr">
                    <a:lnL>
                      <a:noFill/>
                    </a:lnL>
                    <a:lnR>
                      <a:noFill/>
                    </a:lnR>
                    <a:lnT>
                      <a:noFill/>
                    </a:lnT>
                    <a:lnB>
                      <a:noFill/>
                    </a:lnB>
                  </a:tcPr>
                </a:tc>
                <a:tc>
                  <a:txBody>
                    <a:bodyPr/>
                    <a:lstStyle/>
                    <a:p>
                      <a:r>
                        <a:rPr lang="en-IN" dirty="0">
                          <a:latin typeface="Times New Roman" panose="02020603050405020304" pitchFamily="18" charset="0"/>
                          <a:cs typeface="Times New Roman" panose="02020603050405020304" pitchFamily="18" charset="0"/>
                        </a:rPr>
                        <a:t>10</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94539139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Metrics for Requirement Model – Function Point (FP) Metrics</a:t>
            </a:r>
            <a:endParaRPr/>
          </a:p>
        </p:txBody>
      </p:sp>
      <p:sp>
        <p:nvSpPr>
          <p:cNvPr id="383" name="Google Shape;383;p4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50</a:t>
            </a:fld>
            <a:endParaRPr/>
          </a:p>
        </p:txBody>
      </p:sp>
      <p:sp>
        <p:nvSpPr>
          <p:cNvPr id="384" name="Google Shape;384;p48"/>
          <p:cNvSpPr txBox="1">
            <a:spLocks noGrp="1"/>
          </p:cNvSpPr>
          <p:nvPr>
            <p:ph type="body" idx="1"/>
          </p:nvPr>
        </p:nvSpPr>
        <p:spPr>
          <a:xfrm>
            <a:off x="457200" y="838200"/>
            <a:ext cx="8229600" cy="5029200"/>
          </a:xfrm>
          <a:prstGeom prst="rect">
            <a:avLst/>
          </a:prstGeom>
          <a:noFill/>
          <a:ln>
            <a:noFill/>
          </a:ln>
        </p:spPr>
        <p:txBody>
          <a:bodyPr spcFirstLastPara="1" wrap="square" lIns="91425" tIns="45700" rIns="91425" bIns="45700" anchor="t" anchorCtr="0">
            <a:noAutofit/>
          </a:bodyPr>
          <a:lstStyle/>
          <a:p>
            <a:pPr marL="88900" indent="0">
              <a:buNone/>
            </a:pPr>
            <a:r>
              <a:rPr lang="en-US" sz="1800" dirty="0" smtClean="0"/>
              <a:t>Assume </a:t>
            </a:r>
            <a:r>
              <a:rPr lang="en-US" sz="1800" dirty="0"/>
              <a:t>all functions have </a:t>
            </a:r>
            <a:r>
              <a:rPr lang="en-US" sz="1800" b="1" dirty="0"/>
              <a:t>average complexity</a:t>
            </a:r>
            <a:r>
              <a:rPr lang="en-US" sz="1800" dirty="0"/>
              <a:t>, so:</a:t>
            </a:r>
          </a:p>
          <a:p>
            <a:r>
              <a:rPr lang="en-US" sz="1800" dirty="0"/>
              <a:t>EI: </a:t>
            </a:r>
            <a:r>
              <a:rPr lang="en-US" sz="1800" dirty="0" smtClean="0"/>
              <a:t>3×4=12</a:t>
            </a:r>
            <a:endParaRPr lang="en-US" sz="1800" dirty="0"/>
          </a:p>
          <a:p>
            <a:r>
              <a:rPr lang="en-US" sz="1800" dirty="0"/>
              <a:t>EO: </a:t>
            </a:r>
            <a:r>
              <a:rPr lang="en-US" sz="1800" dirty="0" smtClean="0"/>
              <a:t>4×5=20</a:t>
            </a:r>
            <a:endParaRPr lang="en-US" sz="1800" dirty="0"/>
          </a:p>
          <a:p>
            <a:r>
              <a:rPr lang="en-US" sz="1800" dirty="0"/>
              <a:t>EQ: </a:t>
            </a:r>
            <a:r>
              <a:rPr lang="en-US" sz="1800" dirty="0" smtClean="0"/>
              <a:t>2×4=8</a:t>
            </a:r>
            <a:endParaRPr lang="en-US" sz="1800" dirty="0"/>
          </a:p>
          <a:p>
            <a:r>
              <a:rPr lang="en-US" sz="1800" dirty="0"/>
              <a:t>ILF: </a:t>
            </a:r>
            <a:r>
              <a:rPr lang="en-US" sz="1800" dirty="0" smtClean="0"/>
              <a:t>5×10=50</a:t>
            </a:r>
            <a:endParaRPr lang="en-US" sz="1800" dirty="0"/>
          </a:p>
          <a:p>
            <a:r>
              <a:rPr lang="en-US" sz="1800" dirty="0"/>
              <a:t>EIF: </a:t>
            </a:r>
            <a:r>
              <a:rPr lang="en-US" sz="1800" dirty="0" smtClean="0"/>
              <a:t>3×7=21</a:t>
            </a:r>
            <a:endParaRPr lang="en-IN" sz="1700" dirty="0" smtClean="0"/>
          </a:p>
          <a:p>
            <a:pPr marL="0" lvl="0" indent="0">
              <a:spcBef>
                <a:spcPts val="0"/>
              </a:spcBef>
              <a:buClr>
                <a:srgbClr val="C00000"/>
              </a:buClr>
              <a:buSzPts val="1700"/>
              <a:buNone/>
            </a:pPr>
            <a:r>
              <a:rPr lang="en-US" sz="1700" b="1" dirty="0" smtClean="0"/>
              <a:t>Now, Compute </a:t>
            </a:r>
            <a:r>
              <a:rPr lang="en-US" sz="1700" b="1" dirty="0" err="1" smtClean="0"/>
              <a:t>count_total</a:t>
            </a:r>
            <a:r>
              <a:rPr lang="en-US" sz="1700" b="1" dirty="0" smtClean="0"/>
              <a:t>:</a:t>
            </a:r>
          </a:p>
          <a:p>
            <a:pPr marL="0" lvl="0" indent="0">
              <a:spcBef>
                <a:spcPts val="0"/>
              </a:spcBef>
              <a:buClr>
                <a:srgbClr val="C00000"/>
              </a:buClr>
              <a:buSzPts val="1700"/>
              <a:buNone/>
            </a:pPr>
            <a:r>
              <a:rPr lang="en-US" sz="1700" b="1" dirty="0"/>
              <a:t> </a:t>
            </a:r>
            <a:r>
              <a:rPr lang="en-US" sz="1700" b="1" dirty="0" err="1" smtClean="0"/>
              <a:t>count_total</a:t>
            </a:r>
            <a:r>
              <a:rPr lang="en-US" sz="1700" b="1" dirty="0"/>
              <a:t> </a:t>
            </a:r>
            <a:r>
              <a:rPr lang="en-IN" sz="1800" dirty="0" smtClean="0"/>
              <a:t>= 12+20+8+50+21=111</a:t>
            </a:r>
          </a:p>
          <a:p>
            <a:pPr marL="0" lvl="0" indent="0">
              <a:spcBef>
                <a:spcPts val="0"/>
              </a:spcBef>
              <a:buClr>
                <a:srgbClr val="C00000"/>
              </a:buClr>
              <a:buSzPts val="1700"/>
              <a:buNone/>
            </a:pPr>
            <a:endParaRPr lang="en-IN" sz="1800" dirty="0" smtClean="0"/>
          </a:p>
          <a:p>
            <a:pPr marL="0" lvl="0" indent="0">
              <a:spcBef>
                <a:spcPts val="0"/>
              </a:spcBef>
              <a:buClr>
                <a:srgbClr val="C00000"/>
              </a:buClr>
              <a:buSzPts val="1700"/>
              <a:buNone/>
            </a:pPr>
            <a:r>
              <a:rPr lang="en-IN" sz="1700" b="1" dirty="0"/>
              <a:t>Adjust for Complexity </a:t>
            </a:r>
            <a:r>
              <a:rPr lang="en-IN" sz="1700" b="1" dirty="0" smtClean="0"/>
              <a:t>Factors</a:t>
            </a:r>
          </a:p>
          <a:p>
            <a:pPr marL="0" lvl="0" indent="0">
              <a:spcBef>
                <a:spcPts val="0"/>
              </a:spcBef>
              <a:buClr>
                <a:srgbClr val="C00000"/>
              </a:buClr>
              <a:buSzPts val="1700"/>
              <a:buNone/>
            </a:pPr>
            <a:r>
              <a:rPr lang="en-IN" sz="1700" dirty="0" smtClean="0"/>
              <a:t>There are 14 General System Characteristics (GSC) that impact function points, each rated from 0 (no influence) to 5 (strong influence). Suppose the total GSC score is 35.</a:t>
            </a:r>
          </a:p>
          <a:p>
            <a:pPr marL="0" lvl="0" indent="0">
              <a:spcBef>
                <a:spcPts val="0"/>
              </a:spcBef>
              <a:buClr>
                <a:srgbClr val="C00000"/>
              </a:buClr>
              <a:buSzPts val="1700"/>
              <a:buNone/>
            </a:pPr>
            <a:endParaRPr lang="en-IN" sz="1700" dirty="0" smtClean="0"/>
          </a:p>
          <a:p>
            <a:pPr marL="0" lvl="0" indent="0">
              <a:spcBef>
                <a:spcPts val="0"/>
              </a:spcBef>
              <a:buClr>
                <a:srgbClr val="C00000"/>
              </a:buClr>
              <a:buSzPts val="1700"/>
              <a:buNone/>
            </a:pPr>
            <a:r>
              <a:rPr lang="en-IN" sz="1700" b="1" dirty="0" smtClean="0"/>
              <a:t>The Value Adjustment Factor (VAF) is calculated as:</a:t>
            </a:r>
            <a:endParaRPr lang="en-IN" sz="1700" dirty="0" smtClean="0"/>
          </a:p>
          <a:p>
            <a:pPr marL="0" lvl="0" indent="0">
              <a:spcBef>
                <a:spcPts val="0"/>
              </a:spcBef>
              <a:buClr>
                <a:srgbClr val="C00000"/>
              </a:buClr>
              <a:buSzPts val="1700"/>
              <a:buNone/>
            </a:pPr>
            <a:r>
              <a:rPr lang="en-IN" sz="1700" dirty="0" smtClean="0"/>
              <a:t>VAF=0.65+(0.01×count_total)</a:t>
            </a:r>
          </a:p>
          <a:p>
            <a:pPr marL="0" lvl="0" indent="0">
              <a:spcBef>
                <a:spcPts val="0"/>
              </a:spcBef>
              <a:buClr>
                <a:srgbClr val="C00000"/>
              </a:buClr>
              <a:buSzPts val="1700"/>
              <a:buNone/>
            </a:pPr>
            <a:r>
              <a:rPr lang="en-IN" sz="1700" dirty="0" smtClean="0"/>
              <a:t>VAF=0.65+(0.01×35)=1.00</a:t>
            </a:r>
          </a:p>
          <a:p>
            <a:pPr marL="88900" indent="0">
              <a:buNone/>
            </a:pPr>
            <a:r>
              <a:rPr lang="en-IN" sz="1800" b="1" dirty="0"/>
              <a:t>Compute Adjusted Function Points</a:t>
            </a:r>
          </a:p>
          <a:p>
            <a:pPr marL="88900" indent="0">
              <a:buNone/>
            </a:pPr>
            <a:r>
              <a:rPr lang="en-IN" sz="1800" dirty="0"/>
              <a:t>FP= </a:t>
            </a:r>
            <a:r>
              <a:rPr lang="en-IN" sz="1800" dirty="0" err="1"/>
              <a:t>count_total</a:t>
            </a:r>
            <a:r>
              <a:rPr lang="en-IN" sz="1800" dirty="0"/>
              <a:t> × VAF</a:t>
            </a:r>
          </a:p>
          <a:p>
            <a:pPr marL="88900" indent="0">
              <a:buNone/>
            </a:pPr>
            <a:r>
              <a:rPr lang="en-IN" sz="1800" dirty="0"/>
              <a:t>FP = 111×1.00=111</a:t>
            </a:r>
          </a:p>
          <a:p>
            <a:pPr marL="0" lvl="0" indent="0">
              <a:spcBef>
                <a:spcPts val="0"/>
              </a:spcBef>
              <a:buClr>
                <a:srgbClr val="C00000"/>
              </a:buClr>
              <a:buSzPts val="1700"/>
              <a:buNone/>
            </a:pPr>
            <a:endParaRPr lang="en-IN" sz="1700" dirty="0" smtClean="0"/>
          </a:p>
        </p:txBody>
      </p:sp>
    </p:spTree>
    <p:extLst>
      <p:ext uri="{BB962C8B-B14F-4D97-AF65-F5344CB8AC3E}">
        <p14:creationId xmlns:p14="http://schemas.microsoft.com/office/powerpoint/2010/main" val="370724876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391" name="Google Shape;391;p4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51</a:t>
            </a:fld>
            <a:endParaRPr/>
          </a:p>
        </p:txBody>
      </p:sp>
      <p:sp>
        <p:nvSpPr>
          <p:cNvPr id="392" name="Google Shape;392;p49"/>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dirty="0">
                <a:solidFill>
                  <a:srgbClr val="C00000"/>
                </a:solidFill>
              </a:rPr>
              <a:t>1. Architectural Design Metrics:</a:t>
            </a:r>
            <a:endParaRPr dirty="0"/>
          </a:p>
          <a:p>
            <a:pPr marL="342900" lvl="0" indent="-342900" algn="just" rtl="0">
              <a:lnSpc>
                <a:spcPct val="150000"/>
              </a:lnSpc>
              <a:spcBef>
                <a:spcPts val="360"/>
              </a:spcBef>
              <a:spcAft>
                <a:spcPts val="0"/>
              </a:spcAft>
              <a:buClr>
                <a:srgbClr val="242021"/>
              </a:buClr>
              <a:buSzPts val="1800"/>
              <a:buChar char="•"/>
            </a:pPr>
            <a:r>
              <a:rPr lang="en-US" sz="1800" b="0" i="0" dirty="0">
                <a:solidFill>
                  <a:srgbClr val="242021"/>
                </a:solidFill>
              </a:rPr>
              <a:t>Architectural design metrics focus on </a:t>
            </a:r>
            <a:r>
              <a:rPr lang="en-US" sz="1800" b="1" i="0" dirty="0">
                <a:solidFill>
                  <a:srgbClr val="242021"/>
                </a:solidFill>
              </a:rPr>
              <a:t>characteristics of the program architecture with an emphasis on the architectural structure</a:t>
            </a:r>
            <a:r>
              <a:rPr lang="en-US" sz="1800" b="0" i="0" dirty="0">
                <a:solidFill>
                  <a:srgbClr val="242021"/>
                </a:solidFill>
              </a:rPr>
              <a:t> and the effectiveness of modules or components within the architecture.</a:t>
            </a:r>
            <a:endParaRPr dirty="0"/>
          </a:p>
          <a:p>
            <a:pPr marL="342900" lvl="0" indent="-342900" algn="just" rtl="0">
              <a:lnSpc>
                <a:spcPct val="150000"/>
              </a:lnSpc>
              <a:spcBef>
                <a:spcPts val="360"/>
              </a:spcBef>
              <a:spcAft>
                <a:spcPts val="0"/>
              </a:spcAft>
              <a:buClr>
                <a:srgbClr val="242021"/>
              </a:buClr>
              <a:buSzPts val="1800"/>
              <a:buChar char="•"/>
            </a:pPr>
            <a:r>
              <a:rPr lang="en-US" sz="1800" dirty="0">
                <a:solidFill>
                  <a:srgbClr val="242021"/>
                </a:solidFill>
              </a:rPr>
              <a:t>There are th</a:t>
            </a:r>
            <a:r>
              <a:rPr lang="en-US" sz="1800" b="0" i="0" dirty="0">
                <a:solidFill>
                  <a:srgbClr val="242021"/>
                </a:solidFill>
              </a:rPr>
              <a:t>ree software design complexity measures: </a:t>
            </a:r>
            <a:r>
              <a:rPr lang="en-US" sz="1800" b="0" i="1" dirty="0">
                <a:solidFill>
                  <a:srgbClr val="C00000"/>
                </a:solidFill>
              </a:rPr>
              <a:t>structural complexity</a:t>
            </a:r>
            <a:r>
              <a:rPr lang="en-US" sz="1800" b="0" i="0" dirty="0">
                <a:solidFill>
                  <a:srgbClr val="242021"/>
                </a:solidFill>
              </a:rPr>
              <a:t>, </a:t>
            </a:r>
            <a:r>
              <a:rPr lang="en-US" sz="1800" b="0" i="1" dirty="0">
                <a:solidFill>
                  <a:srgbClr val="C00000"/>
                </a:solidFill>
              </a:rPr>
              <a:t>data complexity</a:t>
            </a:r>
            <a:r>
              <a:rPr lang="en-US" sz="1800" b="0" i="0" dirty="0">
                <a:solidFill>
                  <a:srgbClr val="242021"/>
                </a:solidFill>
              </a:rPr>
              <a:t>, and </a:t>
            </a:r>
            <a:r>
              <a:rPr lang="en-US" sz="1800" b="0" i="1" dirty="0">
                <a:solidFill>
                  <a:srgbClr val="C00000"/>
                </a:solidFill>
              </a:rPr>
              <a:t>system complexity</a:t>
            </a:r>
            <a:r>
              <a:rPr lang="en-US" sz="1800" b="0" i="0" dirty="0">
                <a:solidFill>
                  <a:srgbClr val="242021"/>
                </a:solidFill>
              </a:rPr>
              <a:t>.</a:t>
            </a:r>
            <a:endParaRPr dirty="0"/>
          </a:p>
          <a:p>
            <a:pPr marL="342900" lvl="0" indent="-342900" algn="just" rtl="0">
              <a:lnSpc>
                <a:spcPct val="150000"/>
              </a:lnSpc>
              <a:spcBef>
                <a:spcPts val="360"/>
              </a:spcBef>
              <a:spcAft>
                <a:spcPts val="0"/>
              </a:spcAft>
              <a:buClr>
                <a:srgbClr val="242021"/>
              </a:buClr>
              <a:buSzPts val="1800"/>
              <a:buChar char="•"/>
            </a:pPr>
            <a:r>
              <a:rPr lang="en-US" sz="1800" b="0" i="0" dirty="0">
                <a:solidFill>
                  <a:srgbClr val="242021"/>
                </a:solidFill>
              </a:rPr>
              <a:t>For hierarchical architectures (e.g., call-and-return architectures), </a:t>
            </a:r>
            <a:r>
              <a:rPr lang="en-US" sz="1800" b="0" i="1" dirty="0">
                <a:solidFill>
                  <a:srgbClr val="C00000"/>
                </a:solidFill>
              </a:rPr>
              <a:t>structural complexity </a:t>
            </a:r>
            <a:r>
              <a:rPr lang="en-US" sz="1800" b="0" i="0" dirty="0">
                <a:solidFill>
                  <a:srgbClr val="242021"/>
                </a:solidFill>
              </a:rPr>
              <a:t>of a module </a:t>
            </a:r>
            <a:r>
              <a:rPr lang="en-US" sz="1800" b="0" i="1" dirty="0" err="1">
                <a:solidFill>
                  <a:srgbClr val="242021"/>
                </a:solidFill>
              </a:rPr>
              <a:t>i</a:t>
            </a:r>
            <a:r>
              <a:rPr lang="en-US" sz="1800" b="0" i="1" dirty="0">
                <a:solidFill>
                  <a:srgbClr val="242021"/>
                </a:solidFill>
              </a:rPr>
              <a:t> </a:t>
            </a:r>
            <a:r>
              <a:rPr lang="en-US" sz="1800" b="0" i="0" dirty="0">
                <a:solidFill>
                  <a:srgbClr val="242021"/>
                </a:solidFill>
              </a:rPr>
              <a:t>is defined in the following manner:</a:t>
            </a:r>
            <a:endParaRPr dirty="0"/>
          </a:p>
          <a:p>
            <a:pPr marL="342900" lvl="0" indent="-228600" algn="just" rtl="0">
              <a:lnSpc>
                <a:spcPct val="150000"/>
              </a:lnSpc>
              <a:spcBef>
                <a:spcPts val="360"/>
              </a:spcBef>
              <a:spcAft>
                <a:spcPts val="0"/>
              </a:spcAft>
              <a:buClr>
                <a:schemeClr val="dk1"/>
              </a:buClr>
              <a:buSzPts val="1800"/>
              <a:buNone/>
            </a:pPr>
            <a:endParaRPr sz="1800" b="0" i="0" dirty="0">
              <a:solidFill>
                <a:srgbClr val="242021"/>
              </a:solidFill>
            </a:endParaRPr>
          </a:p>
          <a:p>
            <a:pPr marL="357188" lvl="0" indent="-357188" algn="just" defTabSz="357188">
              <a:lnSpc>
                <a:spcPct val="150000"/>
              </a:lnSpc>
              <a:spcBef>
                <a:spcPts val="360"/>
              </a:spcBef>
              <a:buClr>
                <a:srgbClr val="242021"/>
              </a:buClr>
              <a:buSzPts val="1800"/>
              <a:buNone/>
            </a:pPr>
            <a:r>
              <a:rPr lang="en-US" sz="1800" dirty="0">
                <a:solidFill>
                  <a:srgbClr val="242021"/>
                </a:solidFill>
              </a:rPr>
              <a:t>       </a:t>
            </a:r>
            <a:r>
              <a:rPr lang="en-US" sz="1800" b="0" i="0" dirty="0">
                <a:solidFill>
                  <a:srgbClr val="242021"/>
                </a:solidFill>
              </a:rPr>
              <a:t>where </a:t>
            </a:r>
            <a:r>
              <a:rPr lang="en-US" sz="1800" b="0" i="1" dirty="0" err="1">
                <a:solidFill>
                  <a:srgbClr val="242021"/>
                </a:solidFill>
              </a:rPr>
              <a:t>f</a:t>
            </a:r>
            <a:r>
              <a:rPr lang="en-US" sz="1800" b="0" i="0" dirty="0" err="1">
                <a:solidFill>
                  <a:srgbClr val="242021"/>
                </a:solidFill>
              </a:rPr>
              <a:t>out</a:t>
            </a:r>
            <a:r>
              <a:rPr lang="en-US" sz="1800" b="0" i="0" dirty="0">
                <a:solidFill>
                  <a:srgbClr val="242021"/>
                </a:solidFill>
              </a:rPr>
              <a:t>(</a:t>
            </a:r>
            <a:r>
              <a:rPr lang="en-US" sz="1800" b="0" i="1" dirty="0" err="1">
                <a:solidFill>
                  <a:srgbClr val="242021"/>
                </a:solidFill>
              </a:rPr>
              <a:t>i</a:t>
            </a:r>
            <a:r>
              <a:rPr lang="en-US" sz="1800" b="0" i="0" dirty="0">
                <a:solidFill>
                  <a:srgbClr val="242021"/>
                </a:solidFill>
              </a:rPr>
              <a:t>) is the fan-out of module </a:t>
            </a:r>
            <a:r>
              <a:rPr lang="en-US" sz="1800" b="0" i="1" dirty="0" err="1">
                <a:solidFill>
                  <a:srgbClr val="242021"/>
                </a:solidFill>
              </a:rPr>
              <a:t>i</a:t>
            </a:r>
            <a:r>
              <a:rPr lang="en-US" sz="1800" dirty="0"/>
              <a:t> , refers to the number of other modules or components that a specific module or component calls or uses.</a:t>
            </a:r>
            <a:endParaRPr dirty="0"/>
          </a:p>
          <a:p>
            <a:pPr marL="0" lvl="0" indent="0" algn="just" rtl="0">
              <a:lnSpc>
                <a:spcPct val="150000"/>
              </a:lnSpc>
              <a:spcBef>
                <a:spcPts val="360"/>
              </a:spcBef>
              <a:spcAft>
                <a:spcPts val="0"/>
              </a:spcAft>
              <a:buClr>
                <a:schemeClr val="dk1"/>
              </a:buClr>
              <a:buSzPts val="1800"/>
              <a:buNone/>
            </a:pPr>
            <a:r>
              <a:rPr lang="en-US" sz="1800" dirty="0"/>
              <a:t/>
            </a:r>
            <a:br>
              <a:rPr lang="en-US" sz="1800" dirty="0"/>
            </a:br>
            <a:endParaRPr sz="1800" dirty="0"/>
          </a:p>
          <a:p>
            <a:pPr marL="0" lvl="0" indent="0" algn="just" rtl="0">
              <a:lnSpc>
                <a:spcPct val="150000"/>
              </a:lnSpc>
              <a:spcBef>
                <a:spcPts val="360"/>
              </a:spcBef>
              <a:spcAft>
                <a:spcPts val="0"/>
              </a:spcAft>
              <a:buClr>
                <a:schemeClr val="dk1"/>
              </a:buClr>
              <a:buSzPts val="1800"/>
              <a:buNone/>
            </a:pPr>
            <a:r>
              <a:rPr lang="en-US" sz="1800" dirty="0"/>
              <a:t/>
            </a:r>
            <a:br>
              <a:rPr lang="en-US" sz="1800" dirty="0"/>
            </a:br>
            <a:endParaRPr sz="1800" dirty="0"/>
          </a:p>
        </p:txBody>
      </p:sp>
      <p:pic>
        <p:nvPicPr>
          <p:cNvPr id="393" name="Google Shape;393;p49"/>
          <p:cNvPicPr preferRelativeResize="0"/>
          <p:nvPr/>
        </p:nvPicPr>
        <p:blipFill rotWithShape="1">
          <a:blip r:embed="rId3">
            <a:alphaModFix/>
          </a:blip>
          <a:srcRect/>
          <a:stretch/>
        </p:blipFill>
        <p:spPr>
          <a:xfrm>
            <a:off x="3933792" y="4981575"/>
            <a:ext cx="1276416" cy="330217"/>
          </a:xfrm>
          <a:prstGeom prst="rect">
            <a:avLst/>
          </a:prstGeom>
          <a:noFill/>
          <a:ln>
            <a:noFill/>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399" name="Google Shape;399;p5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52</a:t>
            </a:fld>
            <a:endParaRPr/>
          </a:p>
        </p:txBody>
      </p:sp>
      <p:sp>
        <p:nvSpPr>
          <p:cNvPr id="400" name="Google Shape;400;p50"/>
          <p:cNvSpPr txBox="1">
            <a:spLocks noGrp="1"/>
          </p:cNvSpPr>
          <p:nvPr>
            <p:ph type="body" idx="1"/>
          </p:nvPr>
        </p:nvSpPr>
        <p:spPr>
          <a:xfrm>
            <a:off x="457200" y="8382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dirty="0" smtClean="0">
                <a:solidFill>
                  <a:srgbClr val="C00000"/>
                </a:solidFill>
              </a:rPr>
              <a:t>1. </a:t>
            </a:r>
            <a:r>
              <a:rPr lang="en-US" sz="2000" b="1" dirty="0">
                <a:solidFill>
                  <a:srgbClr val="C00000"/>
                </a:solidFill>
              </a:rPr>
              <a:t>Architectural Design Metrics (contd.):</a:t>
            </a:r>
            <a:endParaRPr dirty="0"/>
          </a:p>
          <a:p>
            <a:pPr marL="342900" lvl="0" indent="-342900" algn="just" rtl="0">
              <a:lnSpc>
                <a:spcPct val="150000"/>
              </a:lnSpc>
              <a:spcBef>
                <a:spcPts val="360"/>
              </a:spcBef>
              <a:spcAft>
                <a:spcPts val="0"/>
              </a:spcAft>
              <a:buClr>
                <a:srgbClr val="C00000"/>
              </a:buClr>
              <a:buSzPts val="1800"/>
              <a:buChar char="•"/>
            </a:pPr>
            <a:r>
              <a:rPr lang="en-US" sz="1800" b="0" i="1" dirty="0">
                <a:solidFill>
                  <a:srgbClr val="C00000"/>
                </a:solidFill>
              </a:rPr>
              <a:t>Data complexity </a:t>
            </a:r>
            <a:r>
              <a:rPr lang="en-US" sz="1800" b="0" i="0" dirty="0">
                <a:solidFill>
                  <a:srgbClr val="242021"/>
                </a:solidFill>
              </a:rPr>
              <a:t>provides an indication of the complexity in the internal interface for a module </a:t>
            </a:r>
            <a:r>
              <a:rPr lang="en-US" sz="1800" b="0" i="1" dirty="0" err="1">
                <a:solidFill>
                  <a:srgbClr val="242021"/>
                </a:solidFill>
              </a:rPr>
              <a:t>i</a:t>
            </a:r>
            <a:r>
              <a:rPr lang="en-US" sz="1800" b="0" i="1" dirty="0">
                <a:solidFill>
                  <a:srgbClr val="242021"/>
                </a:solidFill>
              </a:rPr>
              <a:t> </a:t>
            </a:r>
            <a:r>
              <a:rPr lang="en-US" sz="1800" b="0" i="0" dirty="0">
                <a:solidFill>
                  <a:srgbClr val="242021"/>
                </a:solidFill>
              </a:rPr>
              <a:t>and is defined as</a:t>
            </a:r>
            <a:endParaRPr dirty="0"/>
          </a:p>
          <a:p>
            <a:pPr marL="0" lvl="0" indent="0" algn="just" rtl="0">
              <a:lnSpc>
                <a:spcPct val="150000"/>
              </a:lnSpc>
              <a:spcBef>
                <a:spcPts val="360"/>
              </a:spcBef>
              <a:spcAft>
                <a:spcPts val="0"/>
              </a:spcAft>
              <a:buClr>
                <a:schemeClr val="dk1"/>
              </a:buClr>
              <a:buSzPts val="1800"/>
              <a:buNone/>
            </a:pPr>
            <a:r>
              <a:rPr lang="en-US" sz="1800" dirty="0"/>
              <a:t> </a:t>
            </a:r>
            <a:br>
              <a:rPr lang="en-US" sz="1800" dirty="0"/>
            </a:br>
            <a:r>
              <a:rPr lang="en-US" sz="1800" b="0" i="0" dirty="0">
                <a:solidFill>
                  <a:srgbClr val="242021"/>
                </a:solidFill>
              </a:rPr>
              <a:t>where </a:t>
            </a:r>
            <a:r>
              <a:rPr lang="en-US" sz="1800" b="0" i="1" dirty="0">
                <a:solidFill>
                  <a:srgbClr val="242021"/>
                </a:solidFill>
              </a:rPr>
              <a:t>v</a:t>
            </a:r>
            <a:r>
              <a:rPr lang="en-US" sz="1800" b="0" i="0" dirty="0">
                <a:solidFill>
                  <a:srgbClr val="242021"/>
                </a:solidFill>
              </a:rPr>
              <a:t>(</a:t>
            </a:r>
            <a:r>
              <a:rPr lang="en-US" sz="1800" b="0" i="1" dirty="0" err="1">
                <a:solidFill>
                  <a:srgbClr val="242021"/>
                </a:solidFill>
              </a:rPr>
              <a:t>i</a:t>
            </a:r>
            <a:r>
              <a:rPr lang="en-US" sz="1800" b="0" i="0" dirty="0">
                <a:solidFill>
                  <a:srgbClr val="242021"/>
                </a:solidFill>
              </a:rPr>
              <a:t>) is the number of input and output variables that are passed to and from module </a:t>
            </a:r>
            <a:r>
              <a:rPr lang="en-US" sz="1800" b="0" i="1" dirty="0" err="1">
                <a:solidFill>
                  <a:srgbClr val="242021"/>
                </a:solidFill>
              </a:rPr>
              <a:t>i</a:t>
            </a:r>
            <a:r>
              <a:rPr lang="en-US" sz="1800" dirty="0"/>
              <a:t> </a:t>
            </a:r>
            <a:endParaRPr dirty="0"/>
          </a:p>
          <a:p>
            <a:pPr marL="342900" lvl="0" indent="-342900" algn="just" rtl="0">
              <a:lnSpc>
                <a:spcPct val="150000"/>
              </a:lnSpc>
              <a:spcBef>
                <a:spcPts val="360"/>
              </a:spcBef>
              <a:spcAft>
                <a:spcPts val="0"/>
              </a:spcAft>
              <a:buClr>
                <a:srgbClr val="242021"/>
              </a:buClr>
              <a:buSzPts val="1800"/>
              <a:buChar char="•"/>
            </a:pPr>
            <a:r>
              <a:rPr lang="en-US" sz="1800" b="0" i="0" dirty="0">
                <a:solidFill>
                  <a:srgbClr val="242021"/>
                </a:solidFill>
              </a:rPr>
              <a:t>Finally, </a:t>
            </a:r>
            <a:r>
              <a:rPr lang="en-US" sz="1800" b="0" i="1" dirty="0">
                <a:solidFill>
                  <a:srgbClr val="C00000"/>
                </a:solidFill>
              </a:rPr>
              <a:t>system complexity </a:t>
            </a:r>
            <a:r>
              <a:rPr lang="en-US" sz="1800" b="0" i="0" dirty="0">
                <a:solidFill>
                  <a:srgbClr val="242021"/>
                </a:solidFill>
              </a:rPr>
              <a:t>is defined as the sum of structural and data complexity, specified as</a:t>
            </a:r>
            <a:endParaRPr dirty="0"/>
          </a:p>
          <a:p>
            <a:pPr marL="342900" lvl="0" indent="-228600" algn="just" rtl="0">
              <a:lnSpc>
                <a:spcPct val="150000"/>
              </a:lnSpc>
              <a:spcBef>
                <a:spcPts val="360"/>
              </a:spcBef>
              <a:spcAft>
                <a:spcPts val="0"/>
              </a:spcAft>
              <a:buClr>
                <a:schemeClr val="dk1"/>
              </a:buClr>
              <a:buSzPts val="1800"/>
              <a:buNone/>
            </a:pPr>
            <a:endParaRPr sz="1800" dirty="0">
              <a:solidFill>
                <a:srgbClr val="242021"/>
              </a:solidFill>
            </a:endParaRPr>
          </a:p>
          <a:p>
            <a:pPr marL="342900" lvl="0" indent="-342900" algn="just" rtl="0">
              <a:lnSpc>
                <a:spcPct val="150000"/>
              </a:lnSpc>
              <a:spcBef>
                <a:spcPts val="360"/>
              </a:spcBef>
              <a:spcAft>
                <a:spcPts val="0"/>
              </a:spcAft>
              <a:buClr>
                <a:srgbClr val="242021"/>
              </a:buClr>
              <a:buSzPts val="1800"/>
              <a:buChar char="•"/>
            </a:pPr>
            <a:r>
              <a:rPr lang="en-US" sz="1800" b="0" i="0" dirty="0">
                <a:solidFill>
                  <a:srgbClr val="242021"/>
                </a:solidFill>
              </a:rPr>
              <a:t>As each of these complexity values increases, the overall architectural complexity of the system also increases. This leads to a </a:t>
            </a:r>
            <a:r>
              <a:rPr lang="en-US" sz="1800" b="1" i="0" dirty="0">
                <a:solidFill>
                  <a:srgbClr val="242021"/>
                </a:solidFill>
              </a:rPr>
              <a:t>greater likelihood that integration and testing effort will also increase.</a:t>
            </a:r>
            <a:endParaRPr sz="1800" b="1" dirty="0"/>
          </a:p>
          <a:p>
            <a:pPr marL="0" lvl="0" indent="0" algn="just" rtl="0">
              <a:lnSpc>
                <a:spcPct val="150000"/>
              </a:lnSpc>
              <a:spcBef>
                <a:spcPts val="360"/>
              </a:spcBef>
              <a:spcAft>
                <a:spcPts val="0"/>
              </a:spcAft>
              <a:buClr>
                <a:schemeClr val="dk1"/>
              </a:buClr>
              <a:buSzPts val="1800"/>
              <a:buNone/>
            </a:pPr>
            <a:r>
              <a:rPr lang="en-US" sz="1800" dirty="0"/>
              <a:t/>
            </a:r>
            <a:br>
              <a:rPr lang="en-US" sz="1800" dirty="0"/>
            </a:br>
            <a:endParaRPr sz="1800" dirty="0"/>
          </a:p>
        </p:txBody>
      </p:sp>
      <p:pic>
        <p:nvPicPr>
          <p:cNvPr id="401" name="Google Shape;401;p50"/>
          <p:cNvPicPr preferRelativeResize="0"/>
          <p:nvPr/>
        </p:nvPicPr>
        <p:blipFill rotWithShape="1">
          <a:blip r:embed="rId3">
            <a:alphaModFix/>
          </a:blip>
          <a:srcRect/>
          <a:stretch/>
        </p:blipFill>
        <p:spPr>
          <a:xfrm>
            <a:off x="3631902" y="2124075"/>
            <a:ext cx="1729090" cy="685800"/>
          </a:xfrm>
          <a:prstGeom prst="rect">
            <a:avLst/>
          </a:prstGeom>
          <a:noFill/>
          <a:ln>
            <a:noFill/>
          </a:ln>
        </p:spPr>
      </p:pic>
      <p:pic>
        <p:nvPicPr>
          <p:cNvPr id="402" name="Google Shape;402;p50"/>
          <p:cNvPicPr preferRelativeResize="0"/>
          <p:nvPr/>
        </p:nvPicPr>
        <p:blipFill rotWithShape="1">
          <a:blip r:embed="rId4">
            <a:alphaModFix/>
          </a:blip>
          <a:srcRect/>
          <a:stretch/>
        </p:blipFill>
        <p:spPr>
          <a:xfrm>
            <a:off x="3565530" y="4191000"/>
            <a:ext cx="1809750" cy="381000"/>
          </a:xfrm>
          <a:prstGeom prst="rect">
            <a:avLst/>
          </a:prstGeom>
          <a:noFill/>
          <a:ln>
            <a:noFill/>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08" name="Google Shape;408;p5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53</a:t>
            </a:fld>
            <a:endParaRPr/>
          </a:p>
        </p:txBody>
      </p:sp>
      <p:sp>
        <p:nvSpPr>
          <p:cNvPr id="409" name="Google Shape;409;p51"/>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2. Methods for Object Oriented Design</a:t>
            </a:r>
            <a:endParaRPr/>
          </a:p>
          <a:p>
            <a:pPr marL="342900" lvl="0" indent="-342900" algn="just" rtl="0">
              <a:lnSpc>
                <a:spcPct val="90000"/>
              </a:lnSpc>
              <a:spcBef>
                <a:spcPts val="360"/>
              </a:spcBef>
              <a:spcAft>
                <a:spcPts val="0"/>
              </a:spcAft>
              <a:buClr>
                <a:schemeClr val="dk1"/>
              </a:buClr>
              <a:buSzPts val="1800"/>
              <a:buChar char="•"/>
            </a:pPr>
            <a:r>
              <a:rPr lang="en-US" sz="1800"/>
              <a:t>There are nine distinct and measurable characteristics of an OO design:</a:t>
            </a:r>
            <a:endParaRPr/>
          </a:p>
          <a:p>
            <a:pPr marL="742950" lvl="1" indent="-285750" algn="just" rtl="0">
              <a:lnSpc>
                <a:spcPct val="90000"/>
              </a:lnSpc>
              <a:spcBef>
                <a:spcPts val="360"/>
              </a:spcBef>
              <a:spcAft>
                <a:spcPts val="0"/>
              </a:spcAft>
              <a:buClr>
                <a:srgbClr val="C00000"/>
              </a:buClr>
              <a:buSzPts val="1800"/>
              <a:buChar char="–"/>
            </a:pPr>
            <a:r>
              <a:rPr lang="en-US" sz="1800">
                <a:solidFill>
                  <a:srgbClr val="C00000"/>
                </a:solidFill>
              </a:rPr>
              <a:t>Size</a:t>
            </a:r>
            <a:endParaRPr/>
          </a:p>
          <a:p>
            <a:pPr marL="1143000" lvl="2" indent="-228600" algn="just" rtl="0">
              <a:lnSpc>
                <a:spcPct val="90000"/>
              </a:lnSpc>
              <a:spcBef>
                <a:spcPts val="360"/>
              </a:spcBef>
              <a:spcAft>
                <a:spcPts val="0"/>
              </a:spcAft>
              <a:buClr>
                <a:schemeClr val="dk1"/>
              </a:buClr>
              <a:buSzPts val="1800"/>
              <a:buChar char="•"/>
            </a:pPr>
            <a:r>
              <a:rPr lang="en-US" sz="1800"/>
              <a:t>Size is defined in terms of four views: population, volume, length, and functionality</a:t>
            </a:r>
            <a:endParaRPr/>
          </a:p>
          <a:p>
            <a:pPr marL="742950" lvl="1" indent="-285750" algn="just" rtl="0">
              <a:lnSpc>
                <a:spcPct val="90000"/>
              </a:lnSpc>
              <a:spcBef>
                <a:spcPts val="360"/>
              </a:spcBef>
              <a:spcAft>
                <a:spcPts val="0"/>
              </a:spcAft>
              <a:buClr>
                <a:srgbClr val="C00000"/>
              </a:buClr>
              <a:buSzPts val="1800"/>
              <a:buChar char="–"/>
            </a:pPr>
            <a:r>
              <a:rPr lang="en-US" sz="1800">
                <a:solidFill>
                  <a:srgbClr val="C00000"/>
                </a:solidFill>
              </a:rPr>
              <a:t>Complexity</a:t>
            </a:r>
            <a:endParaRPr/>
          </a:p>
          <a:p>
            <a:pPr marL="1143000" lvl="2" indent="-228600" algn="just" rtl="0">
              <a:lnSpc>
                <a:spcPct val="90000"/>
              </a:lnSpc>
              <a:spcBef>
                <a:spcPts val="360"/>
              </a:spcBef>
              <a:spcAft>
                <a:spcPts val="0"/>
              </a:spcAft>
              <a:buClr>
                <a:schemeClr val="dk1"/>
              </a:buClr>
              <a:buSzPts val="1800"/>
              <a:buChar char="•"/>
            </a:pPr>
            <a:r>
              <a:rPr lang="en-US" sz="1800"/>
              <a:t>How classes of an OO design are interrelated to one another</a:t>
            </a:r>
            <a:endParaRPr/>
          </a:p>
          <a:p>
            <a:pPr marL="742950" lvl="1" indent="-285750" algn="just" rtl="0">
              <a:lnSpc>
                <a:spcPct val="90000"/>
              </a:lnSpc>
              <a:spcBef>
                <a:spcPts val="360"/>
              </a:spcBef>
              <a:spcAft>
                <a:spcPts val="0"/>
              </a:spcAft>
              <a:buClr>
                <a:srgbClr val="C00000"/>
              </a:buClr>
              <a:buSzPts val="1800"/>
              <a:buChar char="–"/>
            </a:pPr>
            <a:r>
              <a:rPr lang="en-US" sz="1800">
                <a:solidFill>
                  <a:srgbClr val="C00000"/>
                </a:solidFill>
              </a:rPr>
              <a:t>Coupling</a:t>
            </a:r>
            <a:endParaRPr/>
          </a:p>
          <a:p>
            <a:pPr marL="1143000" lvl="2" indent="-228600" algn="just" rtl="0">
              <a:lnSpc>
                <a:spcPct val="90000"/>
              </a:lnSpc>
              <a:spcBef>
                <a:spcPts val="360"/>
              </a:spcBef>
              <a:spcAft>
                <a:spcPts val="0"/>
              </a:spcAft>
              <a:buClr>
                <a:schemeClr val="dk1"/>
              </a:buClr>
              <a:buSzPts val="1800"/>
              <a:buChar char="•"/>
            </a:pPr>
            <a:r>
              <a:rPr lang="en-US" sz="1800"/>
              <a:t>The physical connections between elements of the OO design</a:t>
            </a:r>
            <a:endParaRPr/>
          </a:p>
          <a:p>
            <a:pPr marL="742950" lvl="1" indent="-285750" algn="just" rtl="0">
              <a:lnSpc>
                <a:spcPct val="90000"/>
              </a:lnSpc>
              <a:spcBef>
                <a:spcPts val="360"/>
              </a:spcBef>
              <a:spcAft>
                <a:spcPts val="0"/>
              </a:spcAft>
              <a:buClr>
                <a:srgbClr val="C00000"/>
              </a:buClr>
              <a:buSzPts val="1800"/>
              <a:buChar char="–"/>
            </a:pPr>
            <a:r>
              <a:rPr lang="en-US" sz="1800">
                <a:solidFill>
                  <a:srgbClr val="C00000"/>
                </a:solidFill>
              </a:rPr>
              <a:t>Sufficiency</a:t>
            </a:r>
            <a:endParaRPr/>
          </a:p>
          <a:p>
            <a:pPr marL="1143000" lvl="2" indent="-228600" algn="just" rtl="0">
              <a:lnSpc>
                <a:spcPct val="90000"/>
              </a:lnSpc>
              <a:spcBef>
                <a:spcPts val="360"/>
              </a:spcBef>
              <a:spcAft>
                <a:spcPts val="0"/>
              </a:spcAft>
              <a:buClr>
                <a:schemeClr val="dk1"/>
              </a:buClr>
              <a:buSzPts val="1800"/>
              <a:buChar char="•"/>
            </a:pPr>
            <a:r>
              <a:rPr lang="en-US" sz="1800"/>
              <a:t>“the degree to which an abstraction possesses the features required of it, or the degree to which a design component possesses features in its abstraction, from the point of view of the current application.”</a:t>
            </a:r>
            <a:endParaRPr/>
          </a:p>
          <a:p>
            <a:pPr marL="742950" lvl="1" indent="-285750" algn="just" rtl="0">
              <a:lnSpc>
                <a:spcPct val="90000"/>
              </a:lnSpc>
              <a:spcBef>
                <a:spcPts val="360"/>
              </a:spcBef>
              <a:spcAft>
                <a:spcPts val="0"/>
              </a:spcAft>
              <a:buClr>
                <a:srgbClr val="C00000"/>
              </a:buClr>
              <a:buSzPts val="1800"/>
              <a:buChar char="–"/>
            </a:pPr>
            <a:r>
              <a:rPr lang="en-US" sz="1800">
                <a:solidFill>
                  <a:srgbClr val="C00000"/>
                </a:solidFill>
              </a:rPr>
              <a:t>Completeness</a:t>
            </a:r>
            <a:endParaRPr/>
          </a:p>
          <a:p>
            <a:pPr marL="1143000" lvl="2" indent="-228600" algn="just" rtl="0">
              <a:lnSpc>
                <a:spcPct val="90000"/>
              </a:lnSpc>
              <a:spcBef>
                <a:spcPts val="360"/>
              </a:spcBef>
              <a:spcAft>
                <a:spcPts val="0"/>
              </a:spcAft>
              <a:buClr>
                <a:schemeClr val="dk1"/>
              </a:buClr>
              <a:buSzPts val="1800"/>
              <a:buChar char="•"/>
            </a:pPr>
            <a:r>
              <a:rPr lang="en-US" sz="1800"/>
              <a:t>An indirect implication about the degree to which the abstraction or design component can be reused</a:t>
            </a:r>
            <a:endParaRPr/>
          </a:p>
          <a:p>
            <a:pPr marL="0" lvl="0" indent="0" algn="just" rtl="0">
              <a:lnSpc>
                <a:spcPct val="150000"/>
              </a:lnSpc>
              <a:spcBef>
                <a:spcPts val="360"/>
              </a:spcBef>
              <a:spcAft>
                <a:spcPts val="0"/>
              </a:spcAft>
              <a:buClr>
                <a:schemeClr val="dk1"/>
              </a:buClr>
              <a:buSzPts val="1800"/>
              <a:buNone/>
            </a:pPr>
            <a:r>
              <a:rPr lang="en-US" sz="1800"/>
              <a:t/>
            </a:r>
            <a:br>
              <a:rPr lang="en-US" sz="1800"/>
            </a:br>
            <a:endParaRPr sz="1800"/>
          </a:p>
          <a:p>
            <a:pPr marL="0" lvl="0" indent="0" algn="just" rtl="0">
              <a:lnSpc>
                <a:spcPct val="150000"/>
              </a:lnSpc>
              <a:spcBef>
                <a:spcPts val="360"/>
              </a:spcBef>
              <a:spcAft>
                <a:spcPts val="0"/>
              </a:spcAft>
              <a:buClr>
                <a:schemeClr val="dk1"/>
              </a:buClr>
              <a:buSzPts val="1800"/>
              <a:buNone/>
            </a:pPr>
            <a:r>
              <a:rPr lang="en-US" sz="1800"/>
              <a:t/>
            </a:r>
            <a:br>
              <a:rPr lang="en-US" sz="1800"/>
            </a:br>
            <a:endParaRPr sz="180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15" name="Google Shape;415;p5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54</a:t>
            </a:fld>
            <a:endParaRPr/>
          </a:p>
        </p:txBody>
      </p:sp>
      <p:sp>
        <p:nvSpPr>
          <p:cNvPr id="416" name="Google Shape;416;p52"/>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2. Methods for Object Oriented Design (contd.)</a:t>
            </a:r>
            <a:endParaRPr/>
          </a:p>
          <a:p>
            <a:pPr marL="742950" lvl="1" indent="-285750" algn="just" rtl="0">
              <a:spcBef>
                <a:spcPts val="400"/>
              </a:spcBef>
              <a:spcAft>
                <a:spcPts val="0"/>
              </a:spcAft>
              <a:buClr>
                <a:srgbClr val="C00000"/>
              </a:buClr>
              <a:buSzPts val="2000"/>
              <a:buChar char="–"/>
            </a:pPr>
            <a:r>
              <a:rPr lang="en-US" sz="2000">
                <a:solidFill>
                  <a:srgbClr val="C00000"/>
                </a:solidFill>
              </a:rPr>
              <a:t>Cohesion</a:t>
            </a:r>
            <a:endParaRPr/>
          </a:p>
          <a:p>
            <a:pPr marL="1143000" lvl="2" indent="-228600" algn="just" rtl="0">
              <a:spcBef>
                <a:spcPts val="400"/>
              </a:spcBef>
              <a:spcAft>
                <a:spcPts val="0"/>
              </a:spcAft>
              <a:buClr>
                <a:schemeClr val="dk1"/>
              </a:buClr>
              <a:buSzPts val="2000"/>
              <a:buChar char="•"/>
            </a:pPr>
            <a:r>
              <a:rPr lang="en-US" sz="2000"/>
              <a:t>The degree to which all operations working together to achieve a single, well-defined purpose</a:t>
            </a:r>
            <a:endParaRPr/>
          </a:p>
          <a:p>
            <a:pPr marL="742950" lvl="1" indent="-285750" algn="just" rtl="0">
              <a:spcBef>
                <a:spcPts val="400"/>
              </a:spcBef>
              <a:spcAft>
                <a:spcPts val="0"/>
              </a:spcAft>
              <a:buClr>
                <a:srgbClr val="C00000"/>
              </a:buClr>
              <a:buSzPts val="2000"/>
              <a:buChar char="–"/>
            </a:pPr>
            <a:r>
              <a:rPr lang="en-US" sz="2000">
                <a:solidFill>
                  <a:srgbClr val="C00000"/>
                </a:solidFill>
              </a:rPr>
              <a:t>Primitiveness</a:t>
            </a:r>
            <a:endParaRPr/>
          </a:p>
          <a:p>
            <a:pPr marL="1143000" lvl="2" indent="-228600" algn="just" rtl="0">
              <a:spcBef>
                <a:spcPts val="400"/>
              </a:spcBef>
              <a:spcAft>
                <a:spcPts val="0"/>
              </a:spcAft>
              <a:buClr>
                <a:schemeClr val="dk1"/>
              </a:buClr>
              <a:buSzPts val="2000"/>
              <a:buChar char="•"/>
            </a:pPr>
            <a:r>
              <a:rPr lang="en-US" sz="2000"/>
              <a:t>Applied to both operations and classes, the degree to which an operation is atomic</a:t>
            </a:r>
            <a:endParaRPr/>
          </a:p>
          <a:p>
            <a:pPr marL="742950" lvl="1" indent="-285750" algn="just" rtl="0">
              <a:spcBef>
                <a:spcPts val="400"/>
              </a:spcBef>
              <a:spcAft>
                <a:spcPts val="0"/>
              </a:spcAft>
              <a:buClr>
                <a:srgbClr val="C00000"/>
              </a:buClr>
              <a:buSzPts val="2000"/>
              <a:buChar char="–"/>
            </a:pPr>
            <a:r>
              <a:rPr lang="en-US" sz="2000">
                <a:solidFill>
                  <a:srgbClr val="C00000"/>
                </a:solidFill>
              </a:rPr>
              <a:t>Similarity</a:t>
            </a:r>
            <a:endParaRPr/>
          </a:p>
          <a:p>
            <a:pPr marL="1143000" lvl="2" indent="-228600" algn="just" rtl="0">
              <a:spcBef>
                <a:spcPts val="400"/>
              </a:spcBef>
              <a:spcAft>
                <a:spcPts val="0"/>
              </a:spcAft>
              <a:buClr>
                <a:schemeClr val="dk1"/>
              </a:buClr>
              <a:buSzPts val="2000"/>
              <a:buChar char="•"/>
            </a:pPr>
            <a:r>
              <a:rPr lang="en-US" sz="2000"/>
              <a:t>The degree to which two or more classes are similar in terms of their structure, function, behavior, or purpose</a:t>
            </a:r>
            <a:endParaRPr/>
          </a:p>
          <a:p>
            <a:pPr marL="742950" lvl="1" indent="-285750" algn="just" rtl="0">
              <a:spcBef>
                <a:spcPts val="400"/>
              </a:spcBef>
              <a:spcAft>
                <a:spcPts val="0"/>
              </a:spcAft>
              <a:buClr>
                <a:srgbClr val="C00000"/>
              </a:buClr>
              <a:buSzPts val="2000"/>
              <a:buChar char="–"/>
            </a:pPr>
            <a:r>
              <a:rPr lang="en-US" sz="2000">
                <a:solidFill>
                  <a:srgbClr val="C00000"/>
                </a:solidFill>
              </a:rPr>
              <a:t>Volatility</a:t>
            </a:r>
            <a:endParaRPr/>
          </a:p>
          <a:p>
            <a:pPr marL="1143000" lvl="2" indent="-228600" algn="just" rtl="0">
              <a:spcBef>
                <a:spcPts val="400"/>
              </a:spcBef>
              <a:spcAft>
                <a:spcPts val="0"/>
              </a:spcAft>
              <a:buClr>
                <a:schemeClr val="dk1"/>
              </a:buClr>
              <a:buSzPts val="2000"/>
              <a:buChar char="•"/>
            </a:pPr>
            <a:r>
              <a:rPr lang="en-US" sz="2000"/>
              <a:t>Measures the likelihood that a change will occur</a:t>
            </a:r>
            <a:endParaRPr/>
          </a:p>
          <a:p>
            <a:pPr marL="0" lvl="0" indent="0" algn="just" rtl="0">
              <a:lnSpc>
                <a:spcPct val="150000"/>
              </a:lnSpc>
              <a:spcBef>
                <a:spcPts val="360"/>
              </a:spcBef>
              <a:spcAft>
                <a:spcPts val="0"/>
              </a:spcAft>
              <a:buClr>
                <a:schemeClr val="dk1"/>
              </a:buClr>
              <a:buSzPts val="1800"/>
              <a:buNone/>
            </a:pPr>
            <a:r>
              <a:rPr lang="en-US" sz="1800"/>
              <a:t/>
            </a:r>
            <a:br>
              <a:rPr lang="en-US" sz="1800"/>
            </a:br>
            <a:endParaRPr sz="1800"/>
          </a:p>
          <a:p>
            <a:pPr marL="0" lvl="0" indent="0" algn="just" rtl="0">
              <a:lnSpc>
                <a:spcPct val="150000"/>
              </a:lnSpc>
              <a:spcBef>
                <a:spcPts val="360"/>
              </a:spcBef>
              <a:spcAft>
                <a:spcPts val="0"/>
              </a:spcAft>
              <a:buClr>
                <a:schemeClr val="dk1"/>
              </a:buClr>
              <a:buSzPts val="1800"/>
              <a:buNone/>
            </a:pPr>
            <a:r>
              <a:rPr lang="en-US" sz="1800"/>
              <a:t/>
            </a:r>
            <a:br>
              <a:rPr lang="en-US" sz="1800"/>
            </a:br>
            <a:endParaRPr sz="180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420"/>
        <p:cNvGrpSpPr/>
        <p:nvPr/>
      </p:nvGrpSpPr>
      <p:grpSpPr>
        <a:xfrm>
          <a:off x="0" y="0"/>
          <a:ext cx="0" cy="0"/>
          <a:chOff x="0" y="0"/>
          <a:chExt cx="0" cy="0"/>
        </a:xfrm>
      </p:grpSpPr>
      <p:sp>
        <p:nvSpPr>
          <p:cNvPr id="421" name="Google Shape;421;p5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22" name="Google Shape;422;p5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55</a:t>
            </a:fld>
            <a:endParaRPr/>
          </a:p>
        </p:txBody>
      </p:sp>
      <p:sp>
        <p:nvSpPr>
          <p:cNvPr id="423" name="Google Shape;423;p53"/>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dirty="0">
                <a:solidFill>
                  <a:srgbClr val="C00000"/>
                </a:solidFill>
              </a:rPr>
              <a:t>3. Class Oriented Metrics – The CK Metrics Suite:</a:t>
            </a:r>
            <a:endParaRPr dirty="0"/>
          </a:p>
          <a:p>
            <a:pPr marL="0" lvl="0" indent="0" algn="l" rtl="0">
              <a:lnSpc>
                <a:spcPct val="150000"/>
              </a:lnSpc>
              <a:spcBef>
                <a:spcPts val="360"/>
              </a:spcBef>
              <a:spcAft>
                <a:spcPts val="0"/>
              </a:spcAft>
              <a:buClr>
                <a:srgbClr val="242021"/>
              </a:buClr>
              <a:buSzPts val="1800"/>
              <a:buNone/>
            </a:pPr>
            <a:r>
              <a:rPr lang="en-US" sz="1800" dirty="0">
                <a:solidFill>
                  <a:srgbClr val="242021"/>
                </a:solidFill>
              </a:rPr>
              <a:t>Authors </a:t>
            </a:r>
            <a:r>
              <a:rPr lang="en-US" sz="1800" dirty="0" err="1">
                <a:solidFill>
                  <a:srgbClr val="242021"/>
                </a:solidFill>
              </a:rPr>
              <a:t>Chidamber</a:t>
            </a:r>
            <a:r>
              <a:rPr lang="en-US" sz="1800" dirty="0">
                <a:solidFill>
                  <a:srgbClr val="242021"/>
                </a:solidFill>
              </a:rPr>
              <a:t> and </a:t>
            </a:r>
            <a:r>
              <a:rPr lang="en-US" sz="1800" dirty="0" err="1">
                <a:solidFill>
                  <a:srgbClr val="242021"/>
                </a:solidFill>
              </a:rPr>
              <a:t>Kemerer</a:t>
            </a:r>
            <a:r>
              <a:rPr lang="en-US" sz="1800" dirty="0">
                <a:solidFill>
                  <a:srgbClr val="242021"/>
                </a:solidFill>
              </a:rPr>
              <a:t>  </a:t>
            </a:r>
            <a:r>
              <a:rPr lang="en-US" sz="1800" b="0" i="0" dirty="0">
                <a:solidFill>
                  <a:srgbClr val="242021"/>
                </a:solidFill>
              </a:rPr>
              <a:t>have proposed six class-based design metrics for OO systems:</a:t>
            </a:r>
            <a:endParaRPr dirty="0"/>
          </a:p>
          <a:p>
            <a:pPr marL="400050" lvl="0" indent="-400050" algn="l" rtl="0">
              <a:lnSpc>
                <a:spcPct val="150000"/>
              </a:lnSpc>
              <a:spcBef>
                <a:spcPts val="360"/>
              </a:spcBef>
              <a:spcAft>
                <a:spcPts val="0"/>
              </a:spcAft>
              <a:buClr>
                <a:srgbClr val="3A30FA"/>
              </a:buClr>
              <a:buSzPts val="1800"/>
              <a:buFont typeface="Calibri"/>
              <a:buAutoNum type="romanLcPeriod"/>
            </a:pPr>
            <a:r>
              <a:rPr lang="en-US" sz="1800" b="1" dirty="0">
                <a:solidFill>
                  <a:srgbClr val="3A30FA"/>
                </a:solidFill>
              </a:rPr>
              <a:t>Weighted Methods per Class (WMC) - </a:t>
            </a:r>
            <a:r>
              <a:rPr lang="en-US" sz="1800" b="0" i="0" dirty="0">
                <a:solidFill>
                  <a:srgbClr val="242021"/>
                </a:solidFill>
              </a:rPr>
              <a:t>Assume that </a:t>
            </a:r>
            <a:r>
              <a:rPr lang="en-US" sz="1800" b="0" i="1" dirty="0">
                <a:solidFill>
                  <a:srgbClr val="242021"/>
                </a:solidFill>
              </a:rPr>
              <a:t>n </a:t>
            </a:r>
            <a:r>
              <a:rPr lang="en-US" sz="1800" b="0" i="0" dirty="0">
                <a:solidFill>
                  <a:srgbClr val="242021"/>
                </a:solidFill>
              </a:rPr>
              <a:t>methods of complexity </a:t>
            </a:r>
            <a:r>
              <a:rPr lang="en-US" sz="1800" b="0" i="1" dirty="0">
                <a:solidFill>
                  <a:srgbClr val="242021"/>
                </a:solidFill>
              </a:rPr>
              <a:t>c</a:t>
            </a:r>
            <a:r>
              <a:rPr lang="en-US" sz="1800" b="0" i="0" dirty="0">
                <a:solidFill>
                  <a:srgbClr val="242021"/>
                </a:solidFill>
              </a:rPr>
              <a:t>1, </a:t>
            </a:r>
            <a:r>
              <a:rPr lang="en-US" sz="1800" b="0" i="1" dirty="0">
                <a:solidFill>
                  <a:srgbClr val="242021"/>
                </a:solidFill>
              </a:rPr>
              <a:t>c</a:t>
            </a:r>
            <a:r>
              <a:rPr lang="en-US" sz="1800" b="0" i="0" dirty="0">
                <a:solidFill>
                  <a:srgbClr val="242021"/>
                </a:solidFill>
              </a:rPr>
              <a:t>2, . . . , </a:t>
            </a:r>
            <a:r>
              <a:rPr lang="en-US" sz="1800" b="0" i="1" dirty="0" err="1">
                <a:solidFill>
                  <a:srgbClr val="242021"/>
                </a:solidFill>
              </a:rPr>
              <a:t>cn</a:t>
            </a:r>
            <a:r>
              <a:rPr lang="en-US" sz="1800" b="0" i="1" dirty="0">
                <a:solidFill>
                  <a:srgbClr val="242021"/>
                </a:solidFill>
              </a:rPr>
              <a:t> </a:t>
            </a:r>
            <a:r>
              <a:rPr lang="en-US" sz="1800" b="0" i="0" dirty="0">
                <a:solidFill>
                  <a:srgbClr val="242021"/>
                </a:solidFill>
              </a:rPr>
              <a:t>are defined for a class </a:t>
            </a:r>
            <a:r>
              <a:rPr lang="en-US" sz="1800" b="1" i="0" dirty="0">
                <a:solidFill>
                  <a:srgbClr val="242021"/>
                </a:solidFill>
              </a:rPr>
              <a:t>C</a:t>
            </a:r>
            <a:r>
              <a:rPr lang="en-US" sz="1800" b="0" i="0" dirty="0">
                <a:solidFill>
                  <a:srgbClr val="242021"/>
                </a:solidFill>
              </a:rPr>
              <a:t>. </a:t>
            </a:r>
            <a:r>
              <a:rPr lang="en-US" sz="1800" dirty="0">
                <a:solidFill>
                  <a:srgbClr val="242021"/>
                </a:solidFill>
              </a:rPr>
              <a:t>F</a:t>
            </a:r>
            <a:r>
              <a:rPr lang="en-US" sz="1800" b="0" i="0" dirty="0">
                <a:solidFill>
                  <a:srgbClr val="242021"/>
                </a:solidFill>
              </a:rPr>
              <a:t>or </a:t>
            </a:r>
            <a:r>
              <a:rPr lang="en-US" sz="1800" b="0" i="1" dirty="0" err="1">
                <a:solidFill>
                  <a:srgbClr val="242021"/>
                </a:solidFill>
              </a:rPr>
              <a:t>i</a:t>
            </a:r>
            <a:r>
              <a:rPr lang="en-US" sz="1800" b="0" i="1" dirty="0">
                <a:solidFill>
                  <a:srgbClr val="242021"/>
                </a:solidFill>
              </a:rPr>
              <a:t> </a:t>
            </a:r>
            <a:r>
              <a:rPr lang="en-US" sz="1800" dirty="0">
                <a:solidFill>
                  <a:srgbClr val="242021"/>
                </a:solidFill>
              </a:rPr>
              <a:t>=</a:t>
            </a:r>
            <a:r>
              <a:rPr lang="en-US" sz="1800" b="0" i="0" dirty="0">
                <a:solidFill>
                  <a:srgbClr val="242021"/>
                </a:solidFill>
              </a:rPr>
              <a:t> 1 to </a:t>
            </a:r>
            <a:r>
              <a:rPr lang="en-US" sz="1800" b="0" i="1" dirty="0">
                <a:solidFill>
                  <a:srgbClr val="242021"/>
                </a:solidFill>
              </a:rPr>
              <a:t>n</a:t>
            </a:r>
            <a:r>
              <a:rPr lang="en-US" sz="1800" b="0" i="0" dirty="0">
                <a:solidFill>
                  <a:srgbClr val="242021"/>
                </a:solidFill>
              </a:rPr>
              <a:t>. </a:t>
            </a:r>
            <a:endParaRPr dirty="0"/>
          </a:p>
          <a:p>
            <a:pPr marL="342900" lvl="0" indent="-228600" algn="l" rtl="0">
              <a:lnSpc>
                <a:spcPct val="150000"/>
              </a:lnSpc>
              <a:spcBef>
                <a:spcPts val="360"/>
              </a:spcBef>
              <a:spcAft>
                <a:spcPts val="0"/>
              </a:spcAft>
              <a:buClr>
                <a:schemeClr val="dk1"/>
              </a:buClr>
              <a:buSzPts val="1800"/>
              <a:buNone/>
            </a:pPr>
            <a:endParaRPr sz="1800" b="0" i="0" dirty="0">
              <a:solidFill>
                <a:srgbClr val="242021"/>
              </a:solidFill>
            </a:endParaRPr>
          </a:p>
          <a:p>
            <a:pPr marL="742950" lvl="1" indent="-285750" algn="just" rtl="0">
              <a:lnSpc>
                <a:spcPct val="150000"/>
              </a:lnSpc>
              <a:spcBef>
                <a:spcPts val="360"/>
              </a:spcBef>
              <a:spcAft>
                <a:spcPts val="0"/>
              </a:spcAft>
              <a:buClr>
                <a:srgbClr val="242021"/>
              </a:buClr>
              <a:buSzPts val="1800"/>
              <a:buChar char="–"/>
            </a:pPr>
            <a:r>
              <a:rPr lang="en-US" sz="1800" dirty="0">
                <a:solidFill>
                  <a:srgbClr val="242021"/>
                </a:solidFill>
              </a:rPr>
              <a:t>T</a:t>
            </a:r>
            <a:r>
              <a:rPr lang="en-US" sz="1800" b="0" i="0" dirty="0">
                <a:solidFill>
                  <a:srgbClr val="242021"/>
                </a:solidFill>
              </a:rPr>
              <a:t>he larger the number of methods, the more complex is the inheritance tree (all subclasses inherit the methods of their parents). </a:t>
            </a:r>
            <a:endParaRPr dirty="0"/>
          </a:p>
          <a:p>
            <a:pPr marL="742950" lvl="1" indent="-285750" algn="just" rtl="0">
              <a:lnSpc>
                <a:spcPct val="150000"/>
              </a:lnSpc>
              <a:spcBef>
                <a:spcPts val="360"/>
              </a:spcBef>
              <a:spcAft>
                <a:spcPts val="0"/>
              </a:spcAft>
              <a:buClr>
                <a:srgbClr val="242021"/>
              </a:buClr>
              <a:buSzPts val="1800"/>
              <a:buChar char="–"/>
            </a:pPr>
            <a:r>
              <a:rPr lang="en-US" sz="1800" dirty="0">
                <a:solidFill>
                  <a:srgbClr val="242021"/>
                </a:solidFill>
              </a:rPr>
              <a:t>A</a:t>
            </a:r>
            <a:r>
              <a:rPr lang="en-US" sz="1800" b="0" i="0" dirty="0">
                <a:solidFill>
                  <a:srgbClr val="242021"/>
                </a:solidFill>
              </a:rPr>
              <a:t>s the number of methods grows for a given class, it is likely to become more and more application specific, thereby limiting potential reuse. </a:t>
            </a:r>
            <a:endParaRPr dirty="0"/>
          </a:p>
          <a:p>
            <a:pPr marL="742950" lvl="1" indent="-285750" algn="just" rtl="0">
              <a:lnSpc>
                <a:spcPct val="150000"/>
              </a:lnSpc>
              <a:spcBef>
                <a:spcPts val="360"/>
              </a:spcBef>
              <a:spcAft>
                <a:spcPts val="0"/>
              </a:spcAft>
              <a:buClr>
                <a:srgbClr val="242021"/>
              </a:buClr>
              <a:buSzPts val="1800"/>
              <a:buChar char="–"/>
            </a:pPr>
            <a:r>
              <a:rPr lang="en-US" sz="1800" b="0" i="0" dirty="0">
                <a:solidFill>
                  <a:srgbClr val="242021"/>
                </a:solidFill>
              </a:rPr>
              <a:t>For all of these reasons, WMC should be kept as low as is reasonable.</a:t>
            </a:r>
            <a:endParaRPr dirty="0"/>
          </a:p>
          <a:p>
            <a:pPr marL="0" lvl="0" indent="0" algn="just" rtl="0">
              <a:lnSpc>
                <a:spcPct val="150000"/>
              </a:lnSpc>
              <a:spcBef>
                <a:spcPts val="360"/>
              </a:spcBef>
              <a:spcAft>
                <a:spcPts val="0"/>
              </a:spcAft>
              <a:buClr>
                <a:schemeClr val="dk1"/>
              </a:buClr>
              <a:buSzPts val="1100"/>
              <a:buNone/>
            </a:pPr>
            <a:r>
              <a:rPr lang="en-US" sz="1100" dirty="0"/>
              <a:t> </a:t>
            </a:r>
            <a:br>
              <a:rPr lang="en-US" sz="1100" dirty="0"/>
            </a:br>
            <a:r>
              <a:rPr lang="en-US" sz="1400" dirty="0"/>
              <a:t/>
            </a:r>
            <a:br>
              <a:rPr lang="en-US" sz="1400" dirty="0"/>
            </a:br>
            <a:r>
              <a:rPr lang="en-US" sz="1800" dirty="0"/>
              <a:t/>
            </a:r>
            <a:br>
              <a:rPr lang="en-US" sz="1800" dirty="0"/>
            </a:br>
            <a:endParaRPr sz="1800" dirty="0"/>
          </a:p>
          <a:p>
            <a:pPr marL="0" lvl="0" indent="0" algn="just" rtl="0">
              <a:lnSpc>
                <a:spcPct val="150000"/>
              </a:lnSpc>
              <a:spcBef>
                <a:spcPts val="360"/>
              </a:spcBef>
              <a:spcAft>
                <a:spcPts val="0"/>
              </a:spcAft>
              <a:buClr>
                <a:schemeClr val="dk1"/>
              </a:buClr>
              <a:buSzPts val="1800"/>
              <a:buNone/>
            </a:pPr>
            <a:r>
              <a:rPr lang="en-US" sz="1800" dirty="0"/>
              <a:t/>
            </a:r>
            <a:br>
              <a:rPr lang="en-US" sz="1800" dirty="0"/>
            </a:br>
            <a:endParaRPr sz="1800" dirty="0"/>
          </a:p>
        </p:txBody>
      </p:sp>
      <p:pic>
        <p:nvPicPr>
          <p:cNvPr id="424" name="Google Shape;424;p53"/>
          <p:cNvPicPr preferRelativeResize="0"/>
          <p:nvPr/>
        </p:nvPicPr>
        <p:blipFill rotWithShape="1">
          <a:blip r:embed="rId3">
            <a:alphaModFix/>
          </a:blip>
          <a:srcRect/>
          <a:stretch/>
        </p:blipFill>
        <p:spPr>
          <a:xfrm>
            <a:off x="3556034" y="3568837"/>
            <a:ext cx="1605770" cy="6007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428"/>
        <p:cNvGrpSpPr/>
        <p:nvPr/>
      </p:nvGrpSpPr>
      <p:grpSpPr>
        <a:xfrm>
          <a:off x="0" y="0"/>
          <a:ext cx="0" cy="0"/>
          <a:chOff x="0" y="0"/>
          <a:chExt cx="0" cy="0"/>
        </a:xfrm>
      </p:grpSpPr>
      <p:sp>
        <p:nvSpPr>
          <p:cNvPr id="429" name="Google Shape;429;p5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30" name="Google Shape;430;p5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56</a:t>
            </a:fld>
            <a:endParaRPr/>
          </a:p>
        </p:txBody>
      </p:sp>
      <p:sp>
        <p:nvSpPr>
          <p:cNvPr id="431" name="Google Shape;431;p54"/>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3. Class Oriented Metrics – The CK Metrics Suite (contd.):</a:t>
            </a:r>
            <a:endParaRPr/>
          </a:p>
          <a:p>
            <a:pPr marL="400050" lvl="0" indent="-400050" algn="just" rtl="0">
              <a:lnSpc>
                <a:spcPct val="150000"/>
              </a:lnSpc>
              <a:spcBef>
                <a:spcPts val="360"/>
              </a:spcBef>
              <a:spcAft>
                <a:spcPts val="0"/>
              </a:spcAft>
              <a:buClr>
                <a:srgbClr val="3A30FA"/>
              </a:buClr>
              <a:buSzPts val="1800"/>
              <a:buFont typeface="Calibri"/>
              <a:buAutoNum type="romanLcPeriod" startAt="2"/>
            </a:pPr>
            <a:r>
              <a:rPr lang="en-US" sz="1800" b="1">
                <a:solidFill>
                  <a:srgbClr val="3A30FA"/>
                </a:solidFill>
              </a:rPr>
              <a:t>Depth of the inheritance tree (DIT) -</a:t>
            </a:r>
            <a:r>
              <a:rPr lang="en-US" sz="1100" b="1">
                <a:solidFill>
                  <a:srgbClr val="3A30FA"/>
                </a:solidFill>
              </a:rPr>
              <a:t> </a:t>
            </a:r>
            <a:r>
              <a:rPr lang="en-US" sz="1800" b="0" i="0">
                <a:solidFill>
                  <a:srgbClr val="242021"/>
                </a:solidFill>
              </a:rPr>
              <a:t>This metric is “</a:t>
            </a:r>
            <a:r>
              <a:rPr lang="en-US" sz="1800" b="0" i="1">
                <a:solidFill>
                  <a:srgbClr val="242021"/>
                </a:solidFill>
              </a:rPr>
              <a:t>the maximum length from the node to the root of the tree”</a:t>
            </a:r>
            <a:r>
              <a:rPr lang="en-US" sz="1800" b="0" i="0">
                <a:solidFill>
                  <a:srgbClr val="242021"/>
                </a:solidFill>
              </a:rPr>
              <a:t>. As DIT grows, it is likely that lower-level classes will inherit many methods. This leads to potential difficulties when attempting to predict the behavior of a class. A deep class hierarchy (DIT is large) also leads to greater design complexity. </a:t>
            </a:r>
            <a:endParaRPr/>
          </a:p>
          <a:p>
            <a:pPr marL="400050" lvl="0" indent="-400050" algn="just" rtl="0">
              <a:lnSpc>
                <a:spcPct val="150000"/>
              </a:lnSpc>
              <a:spcBef>
                <a:spcPts val="360"/>
              </a:spcBef>
              <a:spcAft>
                <a:spcPts val="0"/>
              </a:spcAft>
              <a:buClr>
                <a:schemeClr val="dk1"/>
              </a:buClr>
              <a:buSzPts val="1100"/>
              <a:buFont typeface="Calibri"/>
              <a:buAutoNum type="romanLcPeriod" startAt="2"/>
            </a:pPr>
            <a:r>
              <a:rPr lang="en-US" sz="1100"/>
              <a:t/>
            </a:r>
            <a:br>
              <a:rPr lang="en-US" sz="1100"/>
            </a:br>
            <a:r>
              <a:rPr lang="en-US" sz="1400"/>
              <a:t/>
            </a:r>
            <a:br>
              <a:rPr lang="en-US" sz="1400"/>
            </a:br>
            <a:r>
              <a:rPr lang="en-US" sz="1800"/>
              <a:t/>
            </a:r>
            <a:br>
              <a:rPr lang="en-US" sz="1800"/>
            </a:br>
            <a:r>
              <a:rPr lang="en-US" sz="1800"/>
              <a:t>						</a:t>
            </a:r>
            <a:endParaRPr/>
          </a:p>
          <a:p>
            <a:pPr marL="457200" lvl="1" indent="0" algn="just" rtl="0">
              <a:lnSpc>
                <a:spcPct val="150000"/>
              </a:lnSpc>
              <a:spcBef>
                <a:spcPts val="360"/>
              </a:spcBef>
              <a:spcAft>
                <a:spcPts val="0"/>
              </a:spcAft>
              <a:buClr>
                <a:schemeClr val="dk1"/>
              </a:buClr>
              <a:buSzPts val="1800"/>
              <a:buNone/>
            </a:pPr>
            <a:r>
              <a:rPr lang="en-US" sz="1800"/>
              <a:t>						   </a:t>
            </a:r>
            <a:endParaRPr sz="1800"/>
          </a:p>
          <a:p>
            <a:pPr marL="457200" lvl="1" indent="0" algn="just" rtl="0">
              <a:lnSpc>
                <a:spcPct val="150000"/>
              </a:lnSpc>
              <a:spcBef>
                <a:spcPts val="360"/>
              </a:spcBef>
              <a:spcAft>
                <a:spcPts val="0"/>
              </a:spcAft>
              <a:buClr>
                <a:schemeClr val="dk1"/>
              </a:buClr>
              <a:buSzPts val="1800"/>
              <a:buNone/>
            </a:pPr>
            <a:endParaRPr sz="1800"/>
          </a:p>
          <a:p>
            <a:pPr marL="1828800" lvl="1" indent="457200" algn="just" rtl="0">
              <a:lnSpc>
                <a:spcPct val="150000"/>
              </a:lnSpc>
              <a:spcBef>
                <a:spcPts val="360"/>
              </a:spcBef>
              <a:spcAft>
                <a:spcPts val="0"/>
              </a:spcAft>
              <a:buClr>
                <a:schemeClr val="dk1"/>
              </a:buClr>
              <a:buSzPts val="1800"/>
              <a:buNone/>
            </a:pPr>
            <a:r>
              <a:rPr lang="en-US" sz="1800"/>
              <a:t>        Figure 4: A class hierarchy</a:t>
            </a:r>
            <a:endParaRPr/>
          </a:p>
          <a:p>
            <a:pPr marL="0" lvl="0" indent="0" algn="just" rtl="0">
              <a:lnSpc>
                <a:spcPct val="150000"/>
              </a:lnSpc>
              <a:spcBef>
                <a:spcPts val="360"/>
              </a:spcBef>
              <a:spcAft>
                <a:spcPts val="0"/>
              </a:spcAft>
              <a:buClr>
                <a:schemeClr val="dk1"/>
              </a:buClr>
              <a:buSzPts val="1800"/>
              <a:buNone/>
            </a:pPr>
            <a:r>
              <a:rPr lang="en-US" sz="1800"/>
              <a:t/>
            </a:r>
            <a:br>
              <a:rPr lang="en-US" sz="1800"/>
            </a:br>
            <a:endParaRPr sz="1800"/>
          </a:p>
        </p:txBody>
      </p:sp>
      <p:pic>
        <p:nvPicPr>
          <p:cNvPr id="432" name="Google Shape;432;p54"/>
          <p:cNvPicPr preferRelativeResize="0"/>
          <p:nvPr/>
        </p:nvPicPr>
        <p:blipFill rotWithShape="1">
          <a:blip r:embed="rId3">
            <a:alphaModFix/>
          </a:blip>
          <a:srcRect/>
          <a:stretch/>
        </p:blipFill>
        <p:spPr>
          <a:xfrm>
            <a:off x="1413225" y="3715625"/>
            <a:ext cx="5663750" cy="1920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Shape 436"/>
        <p:cNvGrpSpPr/>
        <p:nvPr/>
      </p:nvGrpSpPr>
      <p:grpSpPr>
        <a:xfrm>
          <a:off x="0" y="0"/>
          <a:ext cx="0" cy="0"/>
          <a:chOff x="0" y="0"/>
          <a:chExt cx="0" cy="0"/>
        </a:xfrm>
      </p:grpSpPr>
      <p:sp>
        <p:nvSpPr>
          <p:cNvPr id="437" name="Google Shape;437;p5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38" name="Google Shape;438;p5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57</a:t>
            </a:fld>
            <a:endParaRPr/>
          </a:p>
        </p:txBody>
      </p:sp>
      <p:sp>
        <p:nvSpPr>
          <p:cNvPr id="439" name="Google Shape;439;p55"/>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3. Class Oriented Metrics – The CK Metrics Suite (contd.):</a:t>
            </a:r>
            <a:endParaRPr/>
          </a:p>
          <a:p>
            <a:pPr marL="400050" lvl="0" indent="-400050" algn="just" rtl="0">
              <a:lnSpc>
                <a:spcPct val="150000"/>
              </a:lnSpc>
              <a:spcBef>
                <a:spcPts val="360"/>
              </a:spcBef>
              <a:spcAft>
                <a:spcPts val="0"/>
              </a:spcAft>
              <a:buClr>
                <a:srgbClr val="3A30FA"/>
              </a:buClr>
              <a:buSzPts val="1800"/>
              <a:buFont typeface="Calibri"/>
              <a:buAutoNum type="romanLcPeriod" startAt="3"/>
            </a:pPr>
            <a:r>
              <a:rPr lang="en-US" sz="1800" b="1">
                <a:solidFill>
                  <a:srgbClr val="3A30FA"/>
                </a:solidFill>
              </a:rPr>
              <a:t>Number of children (NOC) - </a:t>
            </a:r>
            <a:r>
              <a:rPr lang="en-US" sz="1800" b="0" i="0">
                <a:solidFill>
                  <a:srgbClr val="242021"/>
                </a:solidFill>
              </a:rPr>
              <a:t>The subclasses that are immediately subordinate to a class in the class hierarchy are termed its children. Referring to Figure 2, class </a:t>
            </a:r>
            <a:r>
              <a:rPr lang="en-US" sz="1800" b="1" i="0">
                <a:solidFill>
                  <a:srgbClr val="242021"/>
                </a:solidFill>
              </a:rPr>
              <a:t>C2 </a:t>
            </a:r>
            <a:r>
              <a:rPr lang="en-US" sz="1800" b="0" i="0">
                <a:solidFill>
                  <a:srgbClr val="242021"/>
                </a:solidFill>
              </a:rPr>
              <a:t>has three children—subclasses </a:t>
            </a:r>
            <a:r>
              <a:rPr lang="en-US" sz="1800" b="1" i="0">
                <a:solidFill>
                  <a:srgbClr val="242021"/>
                </a:solidFill>
              </a:rPr>
              <a:t>C21</a:t>
            </a:r>
            <a:r>
              <a:rPr lang="en-US" sz="1800" b="0" i="0">
                <a:solidFill>
                  <a:srgbClr val="242021"/>
                </a:solidFill>
              </a:rPr>
              <a:t>, </a:t>
            </a:r>
            <a:r>
              <a:rPr lang="en-US" sz="1800" b="1" i="0">
                <a:solidFill>
                  <a:srgbClr val="242021"/>
                </a:solidFill>
              </a:rPr>
              <a:t>C22</a:t>
            </a:r>
            <a:r>
              <a:rPr lang="en-US" sz="1800" b="0" i="0">
                <a:solidFill>
                  <a:srgbClr val="242021"/>
                </a:solidFill>
              </a:rPr>
              <a:t>, and </a:t>
            </a:r>
            <a:r>
              <a:rPr lang="en-US" sz="1800" b="1" i="0">
                <a:solidFill>
                  <a:srgbClr val="242021"/>
                </a:solidFill>
              </a:rPr>
              <a:t>C23</a:t>
            </a:r>
            <a:r>
              <a:rPr lang="en-US" sz="1800" b="0" i="0">
                <a:solidFill>
                  <a:srgbClr val="242021"/>
                </a:solidFill>
              </a:rPr>
              <a:t>. As the number of children grows, reuse increases, but also, as NOC increases, the amount of testing will also increase.</a:t>
            </a:r>
            <a:endParaRPr/>
          </a:p>
          <a:p>
            <a:pPr marL="0" lvl="0" indent="0" algn="just" rtl="0">
              <a:lnSpc>
                <a:spcPct val="150000"/>
              </a:lnSpc>
              <a:spcBef>
                <a:spcPts val="360"/>
              </a:spcBef>
              <a:spcAft>
                <a:spcPts val="0"/>
              </a:spcAft>
              <a:buClr>
                <a:schemeClr val="dk1"/>
              </a:buClr>
              <a:buSzPts val="1800"/>
              <a:buNone/>
            </a:pPr>
            <a:r>
              <a:rPr lang="en-US" sz="1800"/>
              <a:t> </a:t>
            </a:r>
            <a:br>
              <a:rPr lang="en-US" sz="1800"/>
            </a:br>
            <a:r>
              <a:rPr lang="en-US" sz="1800"/>
              <a:t/>
            </a:r>
            <a:br>
              <a:rPr lang="en-US" sz="1800"/>
            </a:br>
            <a:r>
              <a:rPr lang="en-US" sz="1800"/>
              <a:t/>
            </a:r>
            <a:br>
              <a:rPr lang="en-US" sz="1800"/>
            </a:br>
            <a:r>
              <a:rPr lang="en-US" sz="1800"/>
              <a:t/>
            </a:r>
            <a:br>
              <a:rPr lang="en-US" sz="1800"/>
            </a:br>
            <a:r>
              <a:rPr lang="en-US" sz="1800"/>
              <a:t>						</a:t>
            </a:r>
            <a:endParaRPr/>
          </a:p>
          <a:p>
            <a:pPr marL="457200" lvl="1" indent="0" algn="just" rtl="0">
              <a:lnSpc>
                <a:spcPct val="150000"/>
              </a:lnSpc>
              <a:spcBef>
                <a:spcPts val="360"/>
              </a:spcBef>
              <a:spcAft>
                <a:spcPts val="0"/>
              </a:spcAft>
              <a:buClr>
                <a:schemeClr val="dk1"/>
              </a:buClr>
              <a:buSzPts val="1800"/>
              <a:buNone/>
            </a:pPr>
            <a:r>
              <a:rPr lang="en-US" sz="1800"/>
              <a:t>						   </a:t>
            </a:r>
            <a:endParaRPr sz="1800"/>
          </a:p>
          <a:p>
            <a:pPr marL="2286000" lvl="1" indent="457200" algn="just" rtl="0">
              <a:lnSpc>
                <a:spcPct val="150000"/>
              </a:lnSpc>
              <a:spcBef>
                <a:spcPts val="360"/>
              </a:spcBef>
              <a:spcAft>
                <a:spcPts val="0"/>
              </a:spcAft>
              <a:buClr>
                <a:schemeClr val="dk1"/>
              </a:buClr>
              <a:buSzPts val="1800"/>
              <a:buNone/>
            </a:pPr>
            <a:r>
              <a:rPr lang="en-US" sz="1800"/>
              <a:t>Figure 5: A class hierarchy</a:t>
            </a:r>
            <a:endParaRPr/>
          </a:p>
          <a:p>
            <a:pPr marL="0" lvl="0" indent="0" algn="just" rtl="0">
              <a:lnSpc>
                <a:spcPct val="150000"/>
              </a:lnSpc>
              <a:spcBef>
                <a:spcPts val="360"/>
              </a:spcBef>
              <a:spcAft>
                <a:spcPts val="0"/>
              </a:spcAft>
              <a:buClr>
                <a:schemeClr val="dk1"/>
              </a:buClr>
              <a:buSzPts val="1800"/>
              <a:buNone/>
            </a:pPr>
            <a:r>
              <a:rPr lang="en-US" sz="1800"/>
              <a:t/>
            </a:r>
            <a:br>
              <a:rPr lang="en-US" sz="1800"/>
            </a:br>
            <a:endParaRPr sz="1800"/>
          </a:p>
        </p:txBody>
      </p:sp>
      <p:pic>
        <p:nvPicPr>
          <p:cNvPr id="440" name="Google Shape;440;p55"/>
          <p:cNvPicPr preferRelativeResize="0"/>
          <p:nvPr/>
        </p:nvPicPr>
        <p:blipFill rotWithShape="1">
          <a:blip r:embed="rId3">
            <a:alphaModFix/>
          </a:blip>
          <a:srcRect/>
          <a:stretch/>
        </p:blipFill>
        <p:spPr>
          <a:xfrm>
            <a:off x="2196975" y="3276600"/>
            <a:ext cx="4620125" cy="2186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Shape 444"/>
        <p:cNvGrpSpPr/>
        <p:nvPr/>
      </p:nvGrpSpPr>
      <p:grpSpPr>
        <a:xfrm>
          <a:off x="0" y="0"/>
          <a:ext cx="0" cy="0"/>
          <a:chOff x="0" y="0"/>
          <a:chExt cx="0" cy="0"/>
        </a:xfrm>
      </p:grpSpPr>
      <p:sp>
        <p:nvSpPr>
          <p:cNvPr id="445" name="Google Shape;445;p5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46" name="Google Shape;446;p5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58</a:t>
            </a:fld>
            <a:endParaRPr/>
          </a:p>
        </p:txBody>
      </p:sp>
      <p:sp>
        <p:nvSpPr>
          <p:cNvPr id="447" name="Google Shape;447;p56"/>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3. Class Oriented Metrics – The CK Metrics Suite (contd.):</a:t>
            </a:r>
            <a:endParaRPr/>
          </a:p>
          <a:p>
            <a:pPr marL="400050" lvl="0" indent="-400050" algn="just" rtl="0">
              <a:lnSpc>
                <a:spcPct val="150000"/>
              </a:lnSpc>
              <a:spcBef>
                <a:spcPts val="360"/>
              </a:spcBef>
              <a:spcAft>
                <a:spcPts val="0"/>
              </a:spcAft>
              <a:buClr>
                <a:srgbClr val="3A30FA"/>
              </a:buClr>
              <a:buSzPts val="1800"/>
              <a:buFont typeface="Calibri"/>
              <a:buAutoNum type="romanLcPeriod" startAt="4"/>
            </a:pPr>
            <a:r>
              <a:rPr lang="en-US" sz="1800" b="1">
                <a:solidFill>
                  <a:srgbClr val="3A30FA"/>
                </a:solidFill>
              </a:rPr>
              <a:t>Coupling between object classes (CBO) - </a:t>
            </a:r>
            <a:r>
              <a:rPr lang="en-US" sz="1800" b="0" i="0">
                <a:solidFill>
                  <a:srgbClr val="242021"/>
                </a:solidFill>
              </a:rPr>
              <a:t>CBO is the number of collaborations listed for a class. As CBO increases, it is likely that the reusability of a class will decrease. High values of CBO also complicate modifications and the testing that ensues when modifications are made. In general, the CBO values for each class should be kept as low as is reasonable.</a:t>
            </a:r>
            <a:r>
              <a:rPr lang="en-US" sz="1800"/>
              <a:t> </a:t>
            </a:r>
            <a:endParaRPr/>
          </a:p>
          <a:p>
            <a:pPr marL="0" lvl="0" indent="0" algn="just" rtl="0">
              <a:lnSpc>
                <a:spcPct val="150000"/>
              </a:lnSpc>
              <a:spcBef>
                <a:spcPts val="240"/>
              </a:spcBef>
              <a:spcAft>
                <a:spcPts val="0"/>
              </a:spcAft>
              <a:buClr>
                <a:schemeClr val="dk1"/>
              </a:buClr>
              <a:buSzPts val="1200"/>
              <a:buNone/>
            </a:pPr>
            <a:endParaRPr sz="1200"/>
          </a:p>
          <a:p>
            <a:pPr marL="400050" lvl="0" indent="-400050" algn="just" rtl="0">
              <a:lnSpc>
                <a:spcPct val="150000"/>
              </a:lnSpc>
              <a:spcBef>
                <a:spcPts val="360"/>
              </a:spcBef>
              <a:spcAft>
                <a:spcPts val="0"/>
              </a:spcAft>
              <a:buClr>
                <a:srgbClr val="3A30FA"/>
              </a:buClr>
              <a:buSzPts val="1800"/>
              <a:buFont typeface="Calibri"/>
              <a:buAutoNum type="romanLcPeriod" startAt="4"/>
            </a:pPr>
            <a:r>
              <a:rPr lang="en-US" sz="1800" b="1">
                <a:solidFill>
                  <a:srgbClr val="3A30FA"/>
                </a:solidFill>
              </a:rPr>
              <a:t>Response for a class (RFC) - </a:t>
            </a:r>
            <a:r>
              <a:rPr lang="en-US" sz="1800" b="0" i="0">
                <a:solidFill>
                  <a:srgbClr val="242021"/>
                </a:solidFill>
              </a:rPr>
              <a:t>The response set of a class is </a:t>
            </a:r>
            <a:r>
              <a:rPr lang="en-US" sz="1800" b="0" i="1">
                <a:solidFill>
                  <a:srgbClr val="242021"/>
                </a:solidFill>
              </a:rPr>
              <a:t>“a set of methods that can potentially be executed in response to a message received by an object of that class.” </a:t>
            </a:r>
            <a:r>
              <a:rPr lang="en-US" sz="1800" b="0" i="0">
                <a:solidFill>
                  <a:srgbClr val="242021"/>
                </a:solidFill>
              </a:rPr>
              <a:t>As RFC increases, the effort required for testing also increases because the test sequence grows. It also follows that, as RFC increases, the overall design complexity of the class increases.</a:t>
            </a:r>
            <a:r>
              <a:rPr lang="en-US" sz="1800"/>
              <a:t> </a:t>
            </a:r>
            <a:endParaRPr/>
          </a:p>
          <a:p>
            <a:pPr marL="0" lvl="0" indent="0" algn="just" rtl="0">
              <a:lnSpc>
                <a:spcPct val="150000"/>
              </a:lnSpc>
              <a:spcBef>
                <a:spcPts val="360"/>
              </a:spcBef>
              <a:spcAft>
                <a:spcPts val="0"/>
              </a:spcAft>
              <a:buClr>
                <a:schemeClr val="dk1"/>
              </a:buClr>
              <a:buSzPts val="1800"/>
              <a:buNone/>
            </a:pPr>
            <a:r>
              <a:rPr lang="en-US" sz="1800"/>
              <a:t>			</a:t>
            </a:r>
            <a:br>
              <a:rPr lang="en-US" sz="1800"/>
            </a:br>
            <a:endParaRPr sz="18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451"/>
        <p:cNvGrpSpPr/>
        <p:nvPr/>
      </p:nvGrpSpPr>
      <p:grpSpPr>
        <a:xfrm>
          <a:off x="0" y="0"/>
          <a:ext cx="0" cy="0"/>
          <a:chOff x="0" y="0"/>
          <a:chExt cx="0" cy="0"/>
        </a:xfrm>
      </p:grpSpPr>
      <p:sp>
        <p:nvSpPr>
          <p:cNvPr id="452" name="Google Shape;452;p5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53" name="Google Shape;453;p5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59</a:t>
            </a:fld>
            <a:endParaRPr/>
          </a:p>
        </p:txBody>
      </p:sp>
      <p:sp>
        <p:nvSpPr>
          <p:cNvPr id="454" name="Google Shape;454;p57"/>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3. Class Oriented Metrics – The CK Metrics Suite (contd.):</a:t>
            </a:r>
            <a:endParaRPr/>
          </a:p>
          <a:p>
            <a:pPr marL="400050" lvl="0" indent="-400050" algn="just" rtl="0">
              <a:lnSpc>
                <a:spcPct val="150000"/>
              </a:lnSpc>
              <a:spcBef>
                <a:spcPts val="360"/>
              </a:spcBef>
              <a:spcAft>
                <a:spcPts val="0"/>
              </a:spcAft>
              <a:buClr>
                <a:srgbClr val="3A30FA"/>
              </a:buClr>
              <a:buSzPts val="1800"/>
              <a:buFont typeface="Calibri"/>
              <a:buAutoNum type="romanLcPeriod" startAt="6"/>
            </a:pPr>
            <a:r>
              <a:rPr lang="en-US" sz="1800" b="1">
                <a:solidFill>
                  <a:srgbClr val="3A30FA"/>
                </a:solidFill>
              </a:rPr>
              <a:t>Lack of cohesion in methods (LCOM). </a:t>
            </a:r>
            <a:r>
              <a:rPr lang="en-US" sz="1800" b="0" i="0">
                <a:solidFill>
                  <a:srgbClr val="242021"/>
                </a:solidFill>
              </a:rPr>
              <a:t>Each method within a class </a:t>
            </a:r>
            <a:r>
              <a:rPr lang="en-US" sz="1800" b="1" i="0">
                <a:solidFill>
                  <a:srgbClr val="242021"/>
                </a:solidFill>
              </a:rPr>
              <a:t>C </a:t>
            </a:r>
            <a:r>
              <a:rPr lang="en-US" sz="1800" b="0" i="0">
                <a:solidFill>
                  <a:srgbClr val="242021"/>
                </a:solidFill>
              </a:rPr>
              <a:t>accesses one or more attributes (also called instance variables). LCOM is the number of methods that access one or more of the same attributes. If no methods access the same attributes, then LCOM = 0. </a:t>
            </a:r>
            <a:endParaRPr/>
          </a:p>
          <a:p>
            <a:pPr marL="685800" lvl="1" indent="-285750" algn="just" rtl="0">
              <a:lnSpc>
                <a:spcPct val="150000"/>
              </a:lnSpc>
              <a:spcBef>
                <a:spcPts val="360"/>
              </a:spcBef>
              <a:spcAft>
                <a:spcPts val="0"/>
              </a:spcAft>
              <a:buClr>
                <a:srgbClr val="242021"/>
              </a:buClr>
              <a:buSzPts val="1800"/>
              <a:buFont typeface="Noto Sans Symbols"/>
              <a:buChar char="✔"/>
            </a:pPr>
            <a:r>
              <a:rPr lang="en-US" sz="1800" b="0" i="0">
                <a:solidFill>
                  <a:srgbClr val="242021"/>
                </a:solidFill>
              </a:rPr>
              <a:t>To illustrate the case where LCOM ≠ 0, consider a class with six methods. Four of the methods have one or more attributes in common (i.e., they access common attributes). Therefore, LCOM = 4. </a:t>
            </a:r>
            <a:endParaRPr/>
          </a:p>
          <a:p>
            <a:pPr marL="685800" lvl="1" indent="-285750" algn="just" rtl="0">
              <a:lnSpc>
                <a:spcPct val="150000"/>
              </a:lnSpc>
              <a:spcBef>
                <a:spcPts val="360"/>
              </a:spcBef>
              <a:spcAft>
                <a:spcPts val="0"/>
              </a:spcAft>
              <a:buClr>
                <a:srgbClr val="242021"/>
              </a:buClr>
              <a:buSzPts val="1800"/>
              <a:buFont typeface="Noto Sans Symbols"/>
              <a:buChar char="✔"/>
            </a:pPr>
            <a:r>
              <a:rPr lang="en-US" sz="1800" b="0" i="0">
                <a:solidFill>
                  <a:srgbClr val="242021"/>
                </a:solidFill>
              </a:rPr>
              <a:t>If LCOM is high, methods may be coupled to one another via attributes. This increases the complexity of the class design. </a:t>
            </a:r>
            <a:endParaRPr/>
          </a:p>
          <a:p>
            <a:pPr marL="685800" lvl="1" indent="-285750" algn="just" rtl="0">
              <a:lnSpc>
                <a:spcPct val="150000"/>
              </a:lnSpc>
              <a:spcBef>
                <a:spcPts val="360"/>
              </a:spcBef>
              <a:spcAft>
                <a:spcPts val="0"/>
              </a:spcAft>
              <a:buClr>
                <a:srgbClr val="242021"/>
              </a:buClr>
              <a:buSzPts val="1800"/>
              <a:buFont typeface="Noto Sans Symbols"/>
              <a:buChar char="✔"/>
            </a:pPr>
            <a:r>
              <a:rPr lang="en-US" sz="1800">
                <a:solidFill>
                  <a:srgbClr val="242021"/>
                </a:solidFill>
              </a:rPr>
              <a:t>I</a:t>
            </a:r>
            <a:r>
              <a:rPr lang="en-US" sz="1800" b="0" i="0">
                <a:solidFill>
                  <a:srgbClr val="242021"/>
                </a:solidFill>
              </a:rPr>
              <a:t>t is desirable to keep cohesion high, that is, keep LCOM low.</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458"/>
        <p:cNvGrpSpPr/>
        <p:nvPr/>
      </p:nvGrpSpPr>
      <p:grpSpPr>
        <a:xfrm>
          <a:off x="0" y="0"/>
          <a:ext cx="0" cy="0"/>
          <a:chOff x="0" y="0"/>
          <a:chExt cx="0" cy="0"/>
        </a:xfrm>
      </p:grpSpPr>
      <p:sp>
        <p:nvSpPr>
          <p:cNvPr id="459" name="Google Shape;459;p5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60" name="Google Shape;460;p5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60</a:t>
            </a:fld>
            <a:endParaRPr/>
          </a:p>
        </p:txBody>
      </p:sp>
      <p:sp>
        <p:nvSpPr>
          <p:cNvPr id="461" name="Google Shape;461;p58"/>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rgbClr val="C00000"/>
              </a:buClr>
              <a:buSzPts val="2000"/>
              <a:buNone/>
            </a:pPr>
            <a:r>
              <a:rPr lang="en-US" sz="2000" b="1">
                <a:solidFill>
                  <a:srgbClr val="C00000"/>
                </a:solidFill>
              </a:rPr>
              <a:t>4. Class Oriented Metrics – The MOOD Metrics Suite:</a:t>
            </a:r>
            <a:endParaRPr/>
          </a:p>
          <a:p>
            <a:pPr marL="0" lvl="0" indent="0" algn="just" rtl="0">
              <a:spcBef>
                <a:spcPts val="240"/>
              </a:spcBef>
              <a:spcAft>
                <a:spcPts val="0"/>
              </a:spcAft>
              <a:buClr>
                <a:schemeClr val="dk1"/>
              </a:buClr>
              <a:buSzPts val="1200"/>
              <a:buNone/>
            </a:pPr>
            <a:endParaRPr sz="1200" b="1">
              <a:solidFill>
                <a:srgbClr val="C00000"/>
              </a:solidFill>
            </a:endParaRPr>
          </a:p>
          <a:p>
            <a:pPr marL="400050" lvl="0" indent="-400050" algn="just" rtl="0">
              <a:spcBef>
                <a:spcPts val="360"/>
              </a:spcBef>
              <a:spcAft>
                <a:spcPts val="0"/>
              </a:spcAft>
              <a:buClr>
                <a:srgbClr val="3A30FA"/>
              </a:buClr>
              <a:buSzPts val="1800"/>
              <a:buFont typeface="Calibri"/>
              <a:buAutoNum type="romanLcPeriod"/>
            </a:pPr>
            <a:r>
              <a:rPr lang="en-US" sz="1800" b="1">
                <a:solidFill>
                  <a:srgbClr val="3A30FA"/>
                </a:solidFill>
              </a:rPr>
              <a:t>Method Inheritance Factor (MIF) - </a:t>
            </a:r>
            <a:r>
              <a:rPr lang="en-US" sz="1800" b="0" i="0">
                <a:solidFill>
                  <a:srgbClr val="242021"/>
                </a:solidFill>
              </a:rPr>
              <a:t>The degree to which the class architecture of an OO system makes use of inheritance for both methods (operations) and attributes is defined as</a:t>
            </a:r>
            <a:endParaRPr/>
          </a:p>
          <a:p>
            <a:pPr marL="0" lvl="0" indent="0" algn="just" rtl="0">
              <a:spcBef>
                <a:spcPts val="360"/>
              </a:spcBef>
              <a:spcAft>
                <a:spcPts val="0"/>
              </a:spcAft>
              <a:buClr>
                <a:schemeClr val="dk1"/>
              </a:buClr>
              <a:buSzPts val="1800"/>
              <a:buNone/>
            </a:pPr>
            <a:r>
              <a:rPr lang="en-US" sz="1800"/>
              <a:t> </a:t>
            </a:r>
            <a:br>
              <a:rPr lang="en-US" sz="1800"/>
            </a:br>
            <a:endParaRPr sz="1800"/>
          </a:p>
          <a:p>
            <a:pPr marL="0" lvl="0" indent="0" algn="just" rtl="0">
              <a:spcBef>
                <a:spcPts val="360"/>
              </a:spcBef>
              <a:spcAft>
                <a:spcPts val="0"/>
              </a:spcAft>
              <a:buClr>
                <a:srgbClr val="242021"/>
              </a:buClr>
              <a:buSzPts val="1800"/>
              <a:buNone/>
            </a:pPr>
            <a:r>
              <a:rPr lang="en-US" sz="1800" b="0" i="0">
                <a:solidFill>
                  <a:srgbClr val="242021"/>
                </a:solidFill>
              </a:rPr>
              <a:t>where the summation occurs over </a:t>
            </a:r>
            <a:r>
              <a:rPr lang="en-US" sz="1800" b="0" i="1">
                <a:solidFill>
                  <a:srgbClr val="242021"/>
                </a:solidFill>
              </a:rPr>
              <a:t>i </a:t>
            </a:r>
            <a:r>
              <a:rPr lang="en-US" sz="1800">
                <a:solidFill>
                  <a:srgbClr val="242021"/>
                </a:solidFill>
              </a:rPr>
              <a:t>=</a:t>
            </a:r>
            <a:r>
              <a:rPr lang="en-US" sz="1800" b="0" i="0">
                <a:solidFill>
                  <a:srgbClr val="242021"/>
                </a:solidFill>
              </a:rPr>
              <a:t> 1 to TC. TC is defined as the total number of classes in the architecture, </a:t>
            </a:r>
            <a:r>
              <a:rPr lang="en-US" sz="1800" b="0" i="1">
                <a:solidFill>
                  <a:srgbClr val="242021"/>
                </a:solidFill>
              </a:rPr>
              <a:t>Ci </a:t>
            </a:r>
            <a:r>
              <a:rPr lang="en-US" sz="1800" b="0" i="0">
                <a:solidFill>
                  <a:srgbClr val="242021"/>
                </a:solidFill>
              </a:rPr>
              <a:t>is a class within the architecture, and</a:t>
            </a:r>
            <a:endParaRPr/>
          </a:p>
          <a:p>
            <a:pPr marL="0" lvl="0" indent="0" algn="just" rtl="0">
              <a:spcBef>
                <a:spcPts val="360"/>
              </a:spcBef>
              <a:spcAft>
                <a:spcPts val="0"/>
              </a:spcAft>
              <a:buClr>
                <a:schemeClr val="dk1"/>
              </a:buClr>
              <a:buSzPts val="1800"/>
              <a:buNone/>
            </a:pPr>
            <a:endParaRPr sz="1800"/>
          </a:p>
          <a:p>
            <a:pPr marL="0" lvl="0" indent="0" algn="just" rtl="0">
              <a:spcBef>
                <a:spcPts val="360"/>
              </a:spcBef>
              <a:spcAft>
                <a:spcPts val="0"/>
              </a:spcAft>
              <a:buClr>
                <a:schemeClr val="dk1"/>
              </a:buClr>
              <a:buSzPts val="1800"/>
              <a:buNone/>
            </a:pPr>
            <a:endParaRPr sz="1800"/>
          </a:p>
          <a:p>
            <a:pPr marL="0" lvl="0" indent="0" algn="just" rtl="0">
              <a:spcBef>
                <a:spcPts val="360"/>
              </a:spcBef>
              <a:spcAft>
                <a:spcPts val="0"/>
              </a:spcAft>
              <a:buClr>
                <a:srgbClr val="242021"/>
              </a:buClr>
              <a:buSzPts val="1800"/>
              <a:buNone/>
            </a:pPr>
            <a:r>
              <a:rPr lang="en-US" sz="1800" b="0" i="0">
                <a:solidFill>
                  <a:srgbClr val="242021"/>
                </a:solidFill>
              </a:rPr>
              <a:t>Where, </a:t>
            </a:r>
            <a:endParaRPr/>
          </a:p>
          <a:p>
            <a:pPr marL="742950" lvl="1" indent="-285750" algn="just" rtl="0">
              <a:spcBef>
                <a:spcPts val="360"/>
              </a:spcBef>
              <a:spcAft>
                <a:spcPts val="0"/>
              </a:spcAft>
              <a:buClr>
                <a:srgbClr val="242021"/>
              </a:buClr>
              <a:buSzPts val="1800"/>
              <a:buChar char="–"/>
            </a:pPr>
            <a:r>
              <a:rPr lang="en-US" sz="1800" b="0" i="1">
                <a:solidFill>
                  <a:srgbClr val="242021"/>
                </a:solidFill>
              </a:rPr>
              <a:t>Ma</a:t>
            </a:r>
            <a:r>
              <a:rPr lang="en-US" sz="1800" b="0" i="0">
                <a:solidFill>
                  <a:srgbClr val="242021"/>
                </a:solidFill>
              </a:rPr>
              <a:t>(</a:t>
            </a:r>
            <a:r>
              <a:rPr lang="en-US" sz="1800" b="0" i="1">
                <a:solidFill>
                  <a:srgbClr val="242021"/>
                </a:solidFill>
              </a:rPr>
              <a:t>Ci</a:t>
            </a:r>
            <a:r>
              <a:rPr lang="en-US" sz="1800" b="0" i="0">
                <a:solidFill>
                  <a:srgbClr val="242021"/>
                </a:solidFill>
              </a:rPr>
              <a:t>) is number of methods that can be invoked in association with </a:t>
            </a:r>
            <a:r>
              <a:rPr lang="en-US" sz="1800" b="0" i="1">
                <a:solidFill>
                  <a:srgbClr val="242021"/>
                </a:solidFill>
              </a:rPr>
              <a:t>Ci </a:t>
            </a:r>
            <a:endParaRPr/>
          </a:p>
          <a:p>
            <a:pPr marL="742950" lvl="1" indent="-285750" algn="just" rtl="0">
              <a:spcBef>
                <a:spcPts val="360"/>
              </a:spcBef>
              <a:spcAft>
                <a:spcPts val="0"/>
              </a:spcAft>
              <a:buClr>
                <a:srgbClr val="242021"/>
              </a:buClr>
              <a:buSzPts val="1800"/>
              <a:buChar char="–"/>
            </a:pPr>
            <a:r>
              <a:rPr lang="en-US" sz="1800" b="0" i="1">
                <a:solidFill>
                  <a:srgbClr val="242021"/>
                </a:solidFill>
              </a:rPr>
              <a:t>Md</a:t>
            </a:r>
            <a:r>
              <a:rPr lang="en-US" sz="1800" b="0" i="0">
                <a:solidFill>
                  <a:srgbClr val="242021"/>
                </a:solidFill>
              </a:rPr>
              <a:t>(</a:t>
            </a:r>
            <a:r>
              <a:rPr lang="en-US" sz="1800" b="0" i="1">
                <a:solidFill>
                  <a:srgbClr val="242021"/>
                </a:solidFill>
              </a:rPr>
              <a:t>Ci</a:t>
            </a:r>
            <a:r>
              <a:rPr lang="en-US" sz="1800" b="0" i="0">
                <a:solidFill>
                  <a:srgbClr val="242021"/>
                </a:solidFill>
              </a:rPr>
              <a:t>) is number of methods declared in the class </a:t>
            </a:r>
            <a:r>
              <a:rPr lang="en-US" sz="1800" b="0" i="1">
                <a:solidFill>
                  <a:srgbClr val="242021"/>
                </a:solidFill>
              </a:rPr>
              <a:t>Ci</a:t>
            </a:r>
            <a:endParaRPr/>
          </a:p>
          <a:p>
            <a:pPr marL="742950" lvl="1" indent="-285750" algn="just" rtl="0">
              <a:spcBef>
                <a:spcPts val="360"/>
              </a:spcBef>
              <a:spcAft>
                <a:spcPts val="0"/>
              </a:spcAft>
              <a:buClr>
                <a:srgbClr val="242021"/>
              </a:buClr>
              <a:buSzPts val="1800"/>
              <a:buChar char="–"/>
            </a:pPr>
            <a:r>
              <a:rPr lang="en-US" sz="1800" b="0" i="1">
                <a:solidFill>
                  <a:srgbClr val="242021"/>
                </a:solidFill>
              </a:rPr>
              <a:t>Mi</a:t>
            </a:r>
            <a:r>
              <a:rPr lang="en-US" sz="1800" b="0" i="0">
                <a:solidFill>
                  <a:srgbClr val="242021"/>
                </a:solidFill>
              </a:rPr>
              <a:t>(</a:t>
            </a:r>
            <a:r>
              <a:rPr lang="en-US" sz="1800" b="0" i="1">
                <a:solidFill>
                  <a:srgbClr val="242021"/>
                </a:solidFill>
              </a:rPr>
              <a:t>Ci</a:t>
            </a:r>
            <a:r>
              <a:rPr lang="en-US" sz="1800" b="0" i="0">
                <a:solidFill>
                  <a:srgbClr val="242021"/>
                </a:solidFill>
              </a:rPr>
              <a:t>) is number of methods inherited (and not overridden) in </a:t>
            </a:r>
            <a:r>
              <a:rPr lang="en-US" sz="1800" b="0" i="1">
                <a:solidFill>
                  <a:srgbClr val="242021"/>
                </a:solidFill>
              </a:rPr>
              <a:t>Ci</a:t>
            </a:r>
            <a:endParaRPr/>
          </a:p>
          <a:p>
            <a:pPr marL="0" lvl="0" indent="0" algn="just" rtl="0">
              <a:spcBef>
                <a:spcPts val="280"/>
              </a:spcBef>
              <a:spcAft>
                <a:spcPts val="0"/>
              </a:spcAft>
              <a:buClr>
                <a:schemeClr val="dk1"/>
              </a:buClr>
              <a:buSzPts val="1400"/>
              <a:buNone/>
            </a:pPr>
            <a:endParaRPr sz="1400" b="0" i="0">
              <a:solidFill>
                <a:srgbClr val="242021"/>
              </a:solidFill>
            </a:endParaRPr>
          </a:p>
          <a:p>
            <a:pPr marL="342900" lvl="0" indent="-342900" algn="just" rtl="0">
              <a:spcBef>
                <a:spcPts val="360"/>
              </a:spcBef>
              <a:spcAft>
                <a:spcPts val="0"/>
              </a:spcAft>
              <a:buClr>
                <a:srgbClr val="242021"/>
              </a:buClr>
              <a:buSzPts val="1800"/>
              <a:buChar char="•"/>
            </a:pPr>
            <a:r>
              <a:rPr lang="en-US" sz="1800" b="0" i="0">
                <a:solidFill>
                  <a:srgbClr val="242021"/>
                </a:solidFill>
              </a:rPr>
              <a:t>The value of MIF provides an indication of the impact of inheritance on the OO software.</a:t>
            </a:r>
            <a:r>
              <a:rPr lang="en-US" sz="1800"/>
              <a:t> </a:t>
            </a:r>
            <a:endParaRPr/>
          </a:p>
          <a:p>
            <a:pPr marL="0" lvl="0" indent="0" algn="just" rtl="0">
              <a:spcBef>
                <a:spcPts val="360"/>
              </a:spcBef>
              <a:spcAft>
                <a:spcPts val="0"/>
              </a:spcAft>
              <a:buClr>
                <a:schemeClr val="dk1"/>
              </a:buClr>
              <a:buSzPts val="1800"/>
              <a:buNone/>
            </a:pPr>
            <a:r>
              <a:rPr lang="en-US" sz="1800"/>
              <a:t/>
            </a:r>
            <a:br>
              <a:rPr lang="en-US" sz="1800"/>
            </a:br>
            <a:endParaRPr sz="1800"/>
          </a:p>
        </p:txBody>
      </p:sp>
      <p:pic>
        <p:nvPicPr>
          <p:cNvPr id="462" name="Google Shape;462;p58"/>
          <p:cNvPicPr preferRelativeResize="0"/>
          <p:nvPr/>
        </p:nvPicPr>
        <p:blipFill rotWithShape="1">
          <a:blip r:embed="rId3">
            <a:alphaModFix/>
          </a:blip>
          <a:srcRect/>
          <a:stretch/>
        </p:blipFill>
        <p:spPr>
          <a:xfrm>
            <a:off x="3387871" y="2715391"/>
            <a:ext cx="1875097" cy="685800"/>
          </a:xfrm>
          <a:prstGeom prst="rect">
            <a:avLst/>
          </a:prstGeom>
          <a:noFill/>
          <a:ln>
            <a:noFill/>
          </a:ln>
        </p:spPr>
      </p:pic>
      <p:pic>
        <p:nvPicPr>
          <p:cNvPr id="463" name="Google Shape;463;p58"/>
          <p:cNvPicPr preferRelativeResize="0"/>
          <p:nvPr/>
        </p:nvPicPr>
        <p:blipFill rotWithShape="1">
          <a:blip r:embed="rId4">
            <a:alphaModFix/>
          </a:blip>
          <a:srcRect/>
          <a:stretch/>
        </p:blipFill>
        <p:spPr>
          <a:xfrm>
            <a:off x="2971798" y="4172236"/>
            <a:ext cx="2707241" cy="47720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467"/>
        <p:cNvGrpSpPr/>
        <p:nvPr/>
      </p:nvGrpSpPr>
      <p:grpSpPr>
        <a:xfrm>
          <a:off x="0" y="0"/>
          <a:ext cx="0" cy="0"/>
          <a:chOff x="0" y="0"/>
          <a:chExt cx="0" cy="0"/>
        </a:xfrm>
      </p:grpSpPr>
      <p:sp>
        <p:nvSpPr>
          <p:cNvPr id="468" name="Google Shape;468;p5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t>Metrics for Design Model</a:t>
            </a:r>
            <a:endParaRPr/>
          </a:p>
        </p:txBody>
      </p:sp>
      <p:sp>
        <p:nvSpPr>
          <p:cNvPr id="469" name="Google Shape;469;p5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61</a:t>
            </a:fld>
            <a:endParaRPr/>
          </a:p>
        </p:txBody>
      </p:sp>
      <p:sp>
        <p:nvSpPr>
          <p:cNvPr id="470" name="Google Shape;470;p59"/>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rgbClr val="C00000"/>
              </a:buClr>
              <a:buSzPts val="2000"/>
              <a:buNone/>
            </a:pPr>
            <a:r>
              <a:rPr lang="en-US" sz="2000" b="1">
                <a:solidFill>
                  <a:srgbClr val="C00000"/>
                </a:solidFill>
              </a:rPr>
              <a:t>4. Class Oriented Metrics – The MOOD Metrics Suite (contd.):</a:t>
            </a:r>
            <a:endParaRPr/>
          </a:p>
          <a:p>
            <a:pPr marL="0" lvl="0" indent="0" algn="just" rtl="0">
              <a:spcBef>
                <a:spcPts val="240"/>
              </a:spcBef>
              <a:spcAft>
                <a:spcPts val="0"/>
              </a:spcAft>
              <a:buClr>
                <a:schemeClr val="dk1"/>
              </a:buClr>
              <a:buSzPts val="1200"/>
              <a:buNone/>
            </a:pPr>
            <a:endParaRPr sz="1200" b="1">
              <a:solidFill>
                <a:srgbClr val="C00000"/>
              </a:solidFill>
            </a:endParaRPr>
          </a:p>
          <a:p>
            <a:pPr marL="400050" lvl="0" indent="-400050" algn="just" rtl="0">
              <a:lnSpc>
                <a:spcPct val="150000"/>
              </a:lnSpc>
              <a:spcBef>
                <a:spcPts val="360"/>
              </a:spcBef>
              <a:spcAft>
                <a:spcPts val="0"/>
              </a:spcAft>
              <a:buClr>
                <a:srgbClr val="3A30FA"/>
              </a:buClr>
              <a:buSzPts val="1800"/>
              <a:buFont typeface="Calibri"/>
              <a:buAutoNum type="romanLcPeriod" startAt="2"/>
            </a:pPr>
            <a:r>
              <a:rPr lang="en-US" sz="1800" b="1">
                <a:solidFill>
                  <a:srgbClr val="3A30FA"/>
                </a:solidFill>
              </a:rPr>
              <a:t>Coupling Factor (CF) - </a:t>
            </a:r>
            <a:r>
              <a:rPr lang="en-US" sz="1800">
                <a:solidFill>
                  <a:srgbClr val="242021"/>
                </a:solidFill>
              </a:rPr>
              <a:t>C</a:t>
            </a:r>
            <a:r>
              <a:rPr lang="en-US" sz="1800" b="0" i="0">
                <a:solidFill>
                  <a:srgbClr val="242021"/>
                </a:solidFill>
              </a:rPr>
              <a:t>oupling is an indication of the connections between elements of the OO design. The MOOD metrics suite defines coupling in the following way:</a:t>
            </a:r>
            <a:endParaRPr/>
          </a:p>
          <a:p>
            <a:pPr marL="400050" lvl="0" indent="-285750" algn="just" rtl="0">
              <a:lnSpc>
                <a:spcPct val="150000"/>
              </a:lnSpc>
              <a:spcBef>
                <a:spcPts val="360"/>
              </a:spcBef>
              <a:spcAft>
                <a:spcPts val="0"/>
              </a:spcAft>
              <a:buClr>
                <a:schemeClr val="dk1"/>
              </a:buClr>
              <a:buSzPts val="1800"/>
              <a:buFont typeface="Calibri"/>
              <a:buNone/>
            </a:pPr>
            <a:endParaRPr sz="1800">
              <a:solidFill>
                <a:srgbClr val="242021"/>
              </a:solidFill>
            </a:endParaRPr>
          </a:p>
          <a:p>
            <a:pPr marL="0" lvl="0" indent="0" algn="just" rtl="0">
              <a:lnSpc>
                <a:spcPct val="150000"/>
              </a:lnSpc>
              <a:spcBef>
                <a:spcPts val="360"/>
              </a:spcBef>
              <a:spcAft>
                <a:spcPts val="0"/>
              </a:spcAft>
              <a:buClr>
                <a:srgbClr val="242021"/>
              </a:buClr>
              <a:buSzPts val="1800"/>
              <a:buNone/>
            </a:pPr>
            <a:r>
              <a:rPr lang="en-US" sz="1800">
                <a:solidFill>
                  <a:srgbClr val="242021"/>
                </a:solidFill>
              </a:rPr>
              <a:t>       </a:t>
            </a:r>
            <a:r>
              <a:rPr lang="en-US" sz="1800" b="0" i="0">
                <a:solidFill>
                  <a:srgbClr val="242021"/>
                </a:solidFill>
              </a:rPr>
              <a:t>where the summations occur over </a:t>
            </a:r>
            <a:r>
              <a:rPr lang="en-US" sz="1800" b="0" i="1">
                <a:solidFill>
                  <a:srgbClr val="242021"/>
                </a:solidFill>
              </a:rPr>
              <a:t>i </a:t>
            </a:r>
            <a:r>
              <a:rPr lang="en-US" sz="1800">
                <a:solidFill>
                  <a:srgbClr val="242021"/>
                </a:solidFill>
              </a:rPr>
              <a:t>=</a:t>
            </a:r>
            <a:r>
              <a:rPr lang="en-US" sz="1800" b="0" i="0">
                <a:solidFill>
                  <a:srgbClr val="242021"/>
                </a:solidFill>
              </a:rPr>
              <a:t> 1 to </a:t>
            </a:r>
            <a:r>
              <a:rPr lang="en-US" sz="1800" b="0" i="1">
                <a:solidFill>
                  <a:srgbClr val="242021"/>
                </a:solidFill>
              </a:rPr>
              <a:t>Tc </a:t>
            </a:r>
            <a:r>
              <a:rPr lang="en-US" sz="1800" b="0" i="0">
                <a:solidFill>
                  <a:srgbClr val="242021"/>
                </a:solidFill>
              </a:rPr>
              <a:t>and </a:t>
            </a:r>
            <a:r>
              <a:rPr lang="en-US" sz="1800" b="0" i="1">
                <a:solidFill>
                  <a:srgbClr val="242021"/>
                </a:solidFill>
              </a:rPr>
              <a:t>j </a:t>
            </a:r>
            <a:r>
              <a:rPr lang="en-US" sz="1800">
                <a:solidFill>
                  <a:srgbClr val="242021"/>
                </a:solidFill>
              </a:rPr>
              <a:t>=</a:t>
            </a:r>
            <a:r>
              <a:rPr lang="en-US" sz="1800" b="0" i="0">
                <a:solidFill>
                  <a:srgbClr val="242021"/>
                </a:solidFill>
              </a:rPr>
              <a:t> 1 to </a:t>
            </a:r>
            <a:r>
              <a:rPr lang="en-US" sz="1800" b="0" i="1">
                <a:solidFill>
                  <a:srgbClr val="242021"/>
                </a:solidFill>
              </a:rPr>
              <a:t>Tc</a:t>
            </a:r>
            <a:r>
              <a:rPr lang="en-US" sz="1800" b="0" i="0">
                <a:solidFill>
                  <a:srgbClr val="242021"/>
                </a:solidFill>
              </a:rPr>
              <a:t>. </a:t>
            </a:r>
            <a:endParaRPr/>
          </a:p>
          <a:p>
            <a:pPr marL="0" lvl="0" indent="0" algn="just" rtl="0">
              <a:lnSpc>
                <a:spcPct val="150000"/>
              </a:lnSpc>
              <a:spcBef>
                <a:spcPts val="360"/>
              </a:spcBef>
              <a:spcAft>
                <a:spcPts val="0"/>
              </a:spcAft>
              <a:buClr>
                <a:schemeClr val="dk1"/>
              </a:buClr>
              <a:buSzPts val="1800"/>
              <a:buNone/>
            </a:pPr>
            <a:endParaRPr sz="1800">
              <a:solidFill>
                <a:srgbClr val="242021"/>
              </a:solidFill>
            </a:endParaRPr>
          </a:p>
          <a:p>
            <a:pPr marL="0" lvl="0" indent="0" algn="just" rtl="0">
              <a:lnSpc>
                <a:spcPct val="150000"/>
              </a:lnSpc>
              <a:spcBef>
                <a:spcPts val="360"/>
              </a:spcBef>
              <a:spcAft>
                <a:spcPts val="0"/>
              </a:spcAft>
              <a:buClr>
                <a:schemeClr val="dk1"/>
              </a:buClr>
              <a:buSzPts val="1800"/>
              <a:buNone/>
            </a:pPr>
            <a:endParaRPr sz="1800">
              <a:solidFill>
                <a:srgbClr val="242021"/>
              </a:solidFill>
            </a:endParaRPr>
          </a:p>
          <a:p>
            <a:pPr marL="342900" lvl="0" indent="-228600" algn="just" rtl="0">
              <a:lnSpc>
                <a:spcPct val="150000"/>
              </a:lnSpc>
              <a:spcBef>
                <a:spcPts val="360"/>
              </a:spcBef>
              <a:spcAft>
                <a:spcPts val="0"/>
              </a:spcAft>
              <a:buClr>
                <a:schemeClr val="dk1"/>
              </a:buClr>
              <a:buSzPts val="1800"/>
              <a:buNone/>
            </a:pPr>
            <a:endParaRPr sz="1800">
              <a:solidFill>
                <a:srgbClr val="242021"/>
              </a:solidFill>
            </a:endParaRPr>
          </a:p>
          <a:p>
            <a:pPr marL="342900" lvl="0" indent="-342900" algn="just" rtl="0">
              <a:lnSpc>
                <a:spcPct val="150000"/>
              </a:lnSpc>
              <a:spcBef>
                <a:spcPts val="360"/>
              </a:spcBef>
              <a:spcAft>
                <a:spcPts val="0"/>
              </a:spcAft>
              <a:buClr>
                <a:srgbClr val="242021"/>
              </a:buClr>
              <a:buSzPts val="1800"/>
              <a:buChar char="•"/>
            </a:pPr>
            <a:r>
              <a:rPr lang="en-US" sz="1800">
                <a:solidFill>
                  <a:srgbClr val="242021"/>
                </a:solidFill>
              </a:rPr>
              <a:t>I</a:t>
            </a:r>
            <a:r>
              <a:rPr lang="en-US" sz="1800" b="0" i="0">
                <a:solidFill>
                  <a:srgbClr val="242021"/>
                </a:solidFill>
              </a:rPr>
              <a:t>t is reasonable to conclude that as the value for CF increases, the complexity of the OO software will also increase and understandability, maintainability, and the potential for reuse may suffer as a result.</a:t>
            </a:r>
            <a:endParaRPr/>
          </a:p>
          <a:p>
            <a:pPr marL="0" lvl="0" indent="0" algn="just" rtl="0">
              <a:spcBef>
                <a:spcPts val="360"/>
              </a:spcBef>
              <a:spcAft>
                <a:spcPts val="0"/>
              </a:spcAft>
              <a:buClr>
                <a:schemeClr val="dk1"/>
              </a:buClr>
              <a:buSzPts val="1400"/>
              <a:buNone/>
            </a:pPr>
            <a:r>
              <a:rPr lang="en-US" sz="1400"/>
              <a:t> </a:t>
            </a:r>
            <a:br>
              <a:rPr lang="en-US" sz="1400"/>
            </a:br>
            <a:r>
              <a:rPr lang="en-US" sz="1800"/>
              <a:t> </a:t>
            </a:r>
            <a:br>
              <a:rPr lang="en-US" sz="1800"/>
            </a:br>
            <a:endParaRPr sz="1800"/>
          </a:p>
          <a:p>
            <a:pPr marL="0" lvl="0" indent="0" algn="just" rtl="0">
              <a:spcBef>
                <a:spcPts val="360"/>
              </a:spcBef>
              <a:spcAft>
                <a:spcPts val="0"/>
              </a:spcAft>
              <a:buClr>
                <a:schemeClr val="dk1"/>
              </a:buClr>
              <a:buSzPts val="1800"/>
              <a:buNone/>
            </a:pPr>
            <a:r>
              <a:rPr lang="en-US" sz="1800"/>
              <a:t/>
            </a:r>
            <a:br>
              <a:rPr lang="en-US" sz="1800"/>
            </a:br>
            <a:endParaRPr sz="1800"/>
          </a:p>
        </p:txBody>
      </p:sp>
      <p:pic>
        <p:nvPicPr>
          <p:cNvPr id="471" name="Google Shape;471;p59"/>
          <p:cNvPicPr preferRelativeResize="0"/>
          <p:nvPr/>
        </p:nvPicPr>
        <p:blipFill rotWithShape="1">
          <a:blip r:embed="rId3">
            <a:alphaModFix/>
          </a:blip>
          <a:srcRect/>
          <a:stretch/>
        </p:blipFill>
        <p:spPr>
          <a:xfrm>
            <a:off x="1143000" y="3962400"/>
            <a:ext cx="7080411" cy="829173"/>
          </a:xfrm>
          <a:prstGeom prst="rect">
            <a:avLst/>
          </a:prstGeom>
          <a:noFill/>
          <a:ln>
            <a:noFill/>
          </a:ln>
        </p:spPr>
      </p:pic>
      <p:pic>
        <p:nvPicPr>
          <p:cNvPr id="472" name="Google Shape;472;p59"/>
          <p:cNvPicPr preferRelativeResize="0"/>
          <p:nvPr/>
        </p:nvPicPr>
        <p:blipFill rotWithShape="1">
          <a:blip r:embed="rId4">
            <a:alphaModFix/>
          </a:blip>
          <a:srcRect/>
          <a:stretch/>
        </p:blipFill>
        <p:spPr>
          <a:xfrm>
            <a:off x="2895599" y="2514600"/>
            <a:ext cx="3429001" cy="77619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Shape 476"/>
        <p:cNvGrpSpPr/>
        <p:nvPr/>
      </p:nvGrpSpPr>
      <p:grpSpPr>
        <a:xfrm>
          <a:off x="0" y="0"/>
          <a:ext cx="0" cy="0"/>
          <a:chOff x="0" y="0"/>
          <a:chExt cx="0" cy="0"/>
        </a:xfrm>
      </p:grpSpPr>
      <p:sp>
        <p:nvSpPr>
          <p:cNvPr id="477" name="Google Shape;477;p6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78" name="Google Shape;478;p6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62</a:t>
            </a:fld>
            <a:endParaRPr/>
          </a:p>
        </p:txBody>
      </p:sp>
      <p:sp>
        <p:nvSpPr>
          <p:cNvPr id="479" name="Google Shape;479;p60"/>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5. Operation Oriented Metrics</a:t>
            </a:r>
            <a:endParaRPr/>
          </a:p>
          <a:p>
            <a:pPr marL="400050" lvl="0" indent="-400050" algn="just" rtl="0">
              <a:lnSpc>
                <a:spcPct val="150000"/>
              </a:lnSpc>
              <a:spcBef>
                <a:spcPts val="360"/>
              </a:spcBef>
              <a:spcAft>
                <a:spcPts val="0"/>
              </a:spcAft>
              <a:buClr>
                <a:srgbClr val="3A30FA"/>
              </a:buClr>
              <a:buSzPts val="1800"/>
              <a:buFont typeface="Calibri"/>
              <a:buAutoNum type="romanLcPeriod"/>
            </a:pPr>
            <a:r>
              <a:rPr lang="en-US" sz="1800" b="1" i="0">
                <a:solidFill>
                  <a:srgbClr val="3A30FA"/>
                </a:solidFill>
              </a:rPr>
              <a:t>Average operation size (OSavg). </a:t>
            </a:r>
            <a:r>
              <a:rPr lang="en-US" sz="1800" b="0" i="0">
                <a:solidFill>
                  <a:srgbClr val="242021"/>
                </a:solidFill>
              </a:rPr>
              <a:t>Size can be determined by counting the number of lines of code or the number of messages sent by the operation. As the number of messages sent by a single operation increases, it is likely that responsibilities have not been well allocated within a class.</a:t>
            </a:r>
            <a:endParaRPr/>
          </a:p>
          <a:p>
            <a:pPr marL="400050" lvl="0" indent="-400050" algn="just" rtl="0">
              <a:lnSpc>
                <a:spcPct val="150000"/>
              </a:lnSpc>
              <a:spcBef>
                <a:spcPts val="360"/>
              </a:spcBef>
              <a:spcAft>
                <a:spcPts val="0"/>
              </a:spcAft>
              <a:buClr>
                <a:srgbClr val="3A30FA"/>
              </a:buClr>
              <a:buSzPts val="1800"/>
              <a:buFont typeface="Calibri"/>
              <a:buAutoNum type="romanLcPeriod"/>
            </a:pPr>
            <a:r>
              <a:rPr lang="en-US" sz="1800" b="1" i="0">
                <a:solidFill>
                  <a:srgbClr val="3A30FA"/>
                </a:solidFill>
              </a:rPr>
              <a:t>Operation complexity (OC). </a:t>
            </a:r>
            <a:r>
              <a:rPr lang="en-US" sz="1800" b="0" i="0">
                <a:solidFill>
                  <a:srgbClr val="242021"/>
                </a:solidFill>
              </a:rPr>
              <a:t>The complexity of an operation can be computed using any of the complexity metrics proposed for conventional software. Because operations should be limited to a specific responsibility, the designer should strive to keep OC as low as possible.</a:t>
            </a:r>
            <a:endParaRPr/>
          </a:p>
          <a:p>
            <a:pPr marL="400050" lvl="0" indent="-400050" algn="just" rtl="0">
              <a:lnSpc>
                <a:spcPct val="150000"/>
              </a:lnSpc>
              <a:spcBef>
                <a:spcPts val="360"/>
              </a:spcBef>
              <a:spcAft>
                <a:spcPts val="0"/>
              </a:spcAft>
              <a:buClr>
                <a:srgbClr val="3A30FA"/>
              </a:buClr>
              <a:buSzPts val="1800"/>
              <a:buFont typeface="Calibri"/>
              <a:buAutoNum type="romanLcPeriod"/>
            </a:pPr>
            <a:r>
              <a:rPr lang="en-US" sz="1800" b="1" i="0">
                <a:solidFill>
                  <a:srgbClr val="3A30FA"/>
                </a:solidFill>
              </a:rPr>
              <a:t>Average number of parameters per operation (NPavg). </a:t>
            </a:r>
            <a:r>
              <a:rPr lang="en-US" sz="1800" b="0" i="0">
                <a:solidFill>
                  <a:srgbClr val="242021"/>
                </a:solidFill>
              </a:rPr>
              <a:t>The larger the number of operation parameters, the more complex the collaboration between objects. In general, NPavg should be kept as low as possible.</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Shape 483"/>
        <p:cNvGrpSpPr/>
        <p:nvPr/>
      </p:nvGrpSpPr>
      <p:grpSpPr>
        <a:xfrm>
          <a:off x="0" y="0"/>
          <a:ext cx="0" cy="0"/>
          <a:chOff x="0" y="0"/>
          <a:chExt cx="0" cy="0"/>
        </a:xfrm>
      </p:grpSpPr>
      <p:sp>
        <p:nvSpPr>
          <p:cNvPr id="484" name="Google Shape;484;p6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85" name="Google Shape;485;p6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63</a:t>
            </a:fld>
            <a:endParaRPr/>
          </a:p>
        </p:txBody>
      </p:sp>
      <p:sp>
        <p:nvSpPr>
          <p:cNvPr id="486" name="Google Shape;486;p61"/>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6. User Interface Design Metrics</a:t>
            </a:r>
            <a:endParaRPr/>
          </a:p>
          <a:p>
            <a:pPr marL="342900" lvl="0" indent="-342900" algn="just" rtl="0">
              <a:lnSpc>
                <a:spcPct val="150000"/>
              </a:lnSpc>
              <a:spcBef>
                <a:spcPts val="360"/>
              </a:spcBef>
              <a:spcAft>
                <a:spcPts val="0"/>
              </a:spcAft>
              <a:buClr>
                <a:srgbClr val="3A30FA"/>
              </a:buClr>
              <a:buSzPts val="1800"/>
              <a:buChar char="•"/>
            </a:pPr>
            <a:r>
              <a:rPr lang="en-US" sz="1800" b="1" i="1">
                <a:solidFill>
                  <a:srgbClr val="3A30FA"/>
                </a:solidFill>
              </a:rPr>
              <a:t>Layout appropriateness (LA)</a:t>
            </a:r>
            <a:r>
              <a:rPr lang="en-US" sz="1800" b="1" i="0">
                <a:solidFill>
                  <a:srgbClr val="242021"/>
                </a:solidFill>
              </a:rPr>
              <a:t> </a:t>
            </a:r>
            <a:r>
              <a:rPr lang="en-US" sz="1800" b="0" i="0">
                <a:solidFill>
                  <a:srgbClr val="242021"/>
                </a:solidFill>
              </a:rPr>
              <a:t>is a worthwhile design metric for human/computer interfaces. </a:t>
            </a:r>
            <a:endParaRPr/>
          </a:p>
          <a:p>
            <a:pPr marL="342900" lvl="0" indent="-342900" algn="just" rtl="0">
              <a:lnSpc>
                <a:spcPct val="150000"/>
              </a:lnSpc>
              <a:spcBef>
                <a:spcPts val="360"/>
              </a:spcBef>
              <a:spcAft>
                <a:spcPts val="0"/>
              </a:spcAft>
              <a:buClr>
                <a:srgbClr val="242021"/>
              </a:buClr>
              <a:buSzPts val="1800"/>
              <a:buChar char="•"/>
            </a:pPr>
            <a:r>
              <a:rPr lang="en-US" sz="1800" b="0" i="0">
                <a:solidFill>
                  <a:srgbClr val="242021"/>
                </a:solidFill>
              </a:rPr>
              <a:t>A typical GUI uses layout entities—graphic icons, text, menus, windows, and the like—to assist the user in completing tasks. </a:t>
            </a:r>
            <a:endParaRPr/>
          </a:p>
          <a:p>
            <a:pPr marL="342900" lvl="0" indent="-342900" algn="just" rtl="0">
              <a:lnSpc>
                <a:spcPct val="150000"/>
              </a:lnSpc>
              <a:spcBef>
                <a:spcPts val="360"/>
              </a:spcBef>
              <a:spcAft>
                <a:spcPts val="0"/>
              </a:spcAft>
              <a:buClr>
                <a:srgbClr val="242021"/>
              </a:buClr>
              <a:buSzPts val="1800"/>
              <a:buChar char="•"/>
            </a:pPr>
            <a:r>
              <a:rPr lang="en-US" sz="1800" b="0" i="0">
                <a:solidFill>
                  <a:srgbClr val="242021"/>
                </a:solidFill>
              </a:rPr>
              <a:t>To accomplish a given task using a GUI, the user must move from one layout entity to the next. </a:t>
            </a:r>
            <a:endParaRPr/>
          </a:p>
          <a:p>
            <a:pPr marL="342900" lvl="0" indent="-342900" algn="just" rtl="0">
              <a:lnSpc>
                <a:spcPct val="150000"/>
              </a:lnSpc>
              <a:spcBef>
                <a:spcPts val="360"/>
              </a:spcBef>
              <a:spcAft>
                <a:spcPts val="0"/>
              </a:spcAft>
              <a:buClr>
                <a:srgbClr val="242021"/>
              </a:buClr>
              <a:buSzPts val="1800"/>
              <a:buChar char="•"/>
            </a:pPr>
            <a:r>
              <a:rPr lang="en-US" sz="1800" b="0" i="0">
                <a:solidFill>
                  <a:srgbClr val="242021"/>
                </a:solidFill>
              </a:rPr>
              <a:t>The absolute and relative position of each layout entity, the frequency with which it is used, and the “cost” of the transition from one layout entity to the next all contribute to the appropriateness of the interface.</a:t>
            </a:r>
            <a:endParaRPr/>
          </a:p>
          <a:p>
            <a:pPr marL="0" lvl="0" indent="0" algn="just" rtl="0">
              <a:lnSpc>
                <a:spcPct val="150000"/>
              </a:lnSpc>
              <a:spcBef>
                <a:spcPts val="360"/>
              </a:spcBef>
              <a:spcAft>
                <a:spcPts val="0"/>
              </a:spcAft>
              <a:buClr>
                <a:schemeClr val="dk1"/>
              </a:buClr>
              <a:buSzPts val="1800"/>
              <a:buNone/>
            </a:pPr>
            <a:r>
              <a:rPr lang="en-US" sz="1800"/>
              <a:t/>
            </a:r>
            <a:br>
              <a:rPr lang="en-US" sz="1800"/>
            </a:br>
            <a:endParaRPr sz="1800" b="1">
              <a:solidFill>
                <a:srgbClr val="C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Shape 490"/>
        <p:cNvGrpSpPr/>
        <p:nvPr/>
      </p:nvGrpSpPr>
      <p:grpSpPr>
        <a:xfrm>
          <a:off x="0" y="0"/>
          <a:ext cx="0" cy="0"/>
          <a:chOff x="0" y="0"/>
          <a:chExt cx="0" cy="0"/>
        </a:xfrm>
      </p:grpSpPr>
      <p:sp>
        <p:nvSpPr>
          <p:cNvPr id="491" name="Google Shape;491;p62"/>
          <p:cNvSpPr txBox="1">
            <a:spLocks noGrp="1"/>
          </p:cNvSpPr>
          <p:nvPr>
            <p:ph type="title"/>
          </p:nvPr>
        </p:nvSpPr>
        <p:spPr>
          <a:xfrm>
            <a:off x="0" y="-74476"/>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92" name="Google Shape;492;p6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64</a:t>
            </a:fld>
            <a:endParaRPr/>
          </a:p>
        </p:txBody>
      </p:sp>
      <p:sp>
        <p:nvSpPr>
          <p:cNvPr id="493" name="Google Shape;493;p62"/>
          <p:cNvSpPr txBox="1">
            <a:spLocks noGrp="1"/>
          </p:cNvSpPr>
          <p:nvPr>
            <p:ph type="body" idx="1"/>
          </p:nvPr>
        </p:nvSpPr>
        <p:spPr>
          <a:xfrm>
            <a:off x="457200" y="763724"/>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dirty="0">
                <a:solidFill>
                  <a:srgbClr val="C00000"/>
                </a:solidFill>
              </a:rPr>
              <a:t>7. Component Level Design Metrics</a:t>
            </a:r>
            <a:endParaRPr dirty="0"/>
          </a:p>
          <a:p>
            <a:pPr marL="400050" lvl="0" indent="0" algn="just" rtl="0">
              <a:lnSpc>
                <a:spcPct val="150000"/>
              </a:lnSpc>
              <a:spcBef>
                <a:spcPts val="360"/>
              </a:spcBef>
              <a:spcAft>
                <a:spcPts val="0"/>
              </a:spcAft>
              <a:buNone/>
            </a:pPr>
            <a:r>
              <a:rPr lang="en-US" sz="1800" b="0" i="0" dirty="0">
                <a:solidFill>
                  <a:srgbClr val="242021"/>
                </a:solidFill>
              </a:rPr>
              <a:t>Component-level design metrics for conventional software components focus on internal characteristics of a software component and include measures of the</a:t>
            </a:r>
            <a:r>
              <a:rPr lang="en-US" sz="1800" dirty="0"/>
              <a:t> </a:t>
            </a:r>
            <a:br>
              <a:rPr lang="en-US" sz="1800" dirty="0"/>
            </a:br>
            <a:r>
              <a:rPr lang="en-US" sz="1800" b="0" i="0" dirty="0">
                <a:solidFill>
                  <a:srgbClr val="242021"/>
                </a:solidFill>
              </a:rPr>
              <a:t>“three Cs”—module cohesion, coupling, and complexity. </a:t>
            </a:r>
            <a:endParaRPr dirty="0"/>
          </a:p>
          <a:p>
            <a:pPr marL="400050" lvl="0" indent="-400050" algn="just" rtl="0">
              <a:lnSpc>
                <a:spcPct val="150000"/>
              </a:lnSpc>
              <a:spcBef>
                <a:spcPts val="360"/>
              </a:spcBef>
              <a:spcAft>
                <a:spcPts val="0"/>
              </a:spcAft>
              <a:buClr>
                <a:srgbClr val="3A30FA"/>
              </a:buClr>
              <a:buSzPts val="1800"/>
              <a:buFont typeface="Calibri"/>
              <a:buAutoNum type="romanLcPeriod"/>
            </a:pPr>
            <a:r>
              <a:rPr lang="en-US" sz="1800" b="1" i="0" dirty="0">
                <a:solidFill>
                  <a:srgbClr val="3A30FA"/>
                </a:solidFill>
              </a:rPr>
              <a:t>Cohesion metrics. </a:t>
            </a:r>
            <a:r>
              <a:rPr lang="en-US" sz="1800" b="0" i="0" dirty="0">
                <a:solidFill>
                  <a:srgbClr val="242021"/>
                </a:solidFill>
              </a:rPr>
              <a:t>The metrics are defined in terms of five concepts and measures:</a:t>
            </a:r>
            <a:endParaRPr dirty="0"/>
          </a:p>
          <a:p>
            <a:pPr marL="742950" lvl="1" indent="-285750" algn="just" rtl="0">
              <a:lnSpc>
                <a:spcPct val="150000"/>
              </a:lnSpc>
              <a:spcBef>
                <a:spcPts val="360"/>
              </a:spcBef>
              <a:spcAft>
                <a:spcPts val="0"/>
              </a:spcAft>
              <a:buClr>
                <a:srgbClr val="C00000"/>
              </a:buClr>
              <a:buSzPts val="1800"/>
              <a:buChar char="–"/>
            </a:pPr>
            <a:r>
              <a:rPr lang="en-US" sz="1800" b="0" i="1" dirty="0">
                <a:solidFill>
                  <a:srgbClr val="C00000"/>
                </a:solidFill>
              </a:rPr>
              <a:t>Data slice. </a:t>
            </a:r>
            <a:r>
              <a:rPr lang="en-US" sz="1800" b="0" i="0" dirty="0">
                <a:solidFill>
                  <a:srgbClr val="242021"/>
                </a:solidFill>
              </a:rPr>
              <a:t>Stated simply, a data slice is a backward walk through a module that looks for data values that affect the module location at which the walk began. </a:t>
            </a:r>
            <a:endParaRPr dirty="0"/>
          </a:p>
          <a:p>
            <a:pPr marL="742950" lvl="1" indent="-285750" algn="just" rtl="0">
              <a:lnSpc>
                <a:spcPct val="150000"/>
              </a:lnSpc>
              <a:spcBef>
                <a:spcPts val="360"/>
              </a:spcBef>
              <a:spcAft>
                <a:spcPts val="0"/>
              </a:spcAft>
              <a:buClr>
                <a:srgbClr val="C00000"/>
              </a:buClr>
              <a:buSzPts val="1800"/>
              <a:buChar char="–"/>
            </a:pPr>
            <a:r>
              <a:rPr lang="en-US" sz="1800" i="1" dirty="0">
                <a:solidFill>
                  <a:srgbClr val="C00000"/>
                </a:solidFill>
              </a:rPr>
              <a:t>Data tokens. </a:t>
            </a:r>
            <a:r>
              <a:rPr lang="en-US" sz="1800" b="0" i="0" dirty="0">
                <a:solidFill>
                  <a:srgbClr val="242021"/>
                </a:solidFill>
              </a:rPr>
              <a:t>The variables defined for a module can be defined as data tokens</a:t>
            </a:r>
            <a:endParaRPr dirty="0"/>
          </a:p>
          <a:p>
            <a:pPr marL="742950" lvl="1" indent="-285750" algn="just" rtl="0">
              <a:lnSpc>
                <a:spcPct val="150000"/>
              </a:lnSpc>
              <a:spcBef>
                <a:spcPts val="360"/>
              </a:spcBef>
              <a:spcAft>
                <a:spcPts val="0"/>
              </a:spcAft>
              <a:buClr>
                <a:srgbClr val="C00000"/>
              </a:buClr>
              <a:buSzPts val="1800"/>
              <a:buChar char="–"/>
            </a:pPr>
            <a:r>
              <a:rPr lang="en-US" sz="1800" i="1" dirty="0">
                <a:solidFill>
                  <a:srgbClr val="C00000"/>
                </a:solidFill>
              </a:rPr>
              <a:t>Glue tokens. </a:t>
            </a:r>
            <a:r>
              <a:rPr lang="en-US" sz="1800" b="0" i="0" dirty="0">
                <a:solidFill>
                  <a:srgbClr val="242021"/>
                </a:solidFill>
              </a:rPr>
              <a:t>This set of data tokens lies on one or more data slice.</a:t>
            </a:r>
            <a:endParaRPr dirty="0"/>
          </a:p>
          <a:p>
            <a:pPr marL="742950" lvl="1" indent="-285750" algn="just" rtl="0">
              <a:lnSpc>
                <a:spcPct val="150000"/>
              </a:lnSpc>
              <a:spcBef>
                <a:spcPts val="360"/>
              </a:spcBef>
              <a:spcAft>
                <a:spcPts val="0"/>
              </a:spcAft>
              <a:buClr>
                <a:srgbClr val="C00000"/>
              </a:buClr>
              <a:buSzPts val="1800"/>
              <a:buChar char="–"/>
            </a:pPr>
            <a:r>
              <a:rPr lang="en-US" sz="1800" i="1" dirty="0">
                <a:solidFill>
                  <a:srgbClr val="C00000"/>
                </a:solidFill>
              </a:rPr>
              <a:t>Superglue tokens. </a:t>
            </a:r>
            <a:r>
              <a:rPr lang="en-US" sz="1800" b="0" i="0" dirty="0">
                <a:solidFill>
                  <a:srgbClr val="242021"/>
                </a:solidFill>
              </a:rPr>
              <a:t>These data tokens are common to every data slice in a module.</a:t>
            </a:r>
            <a:endParaRPr dirty="0"/>
          </a:p>
          <a:p>
            <a:pPr marL="742950" lvl="1" indent="-285750" algn="just" rtl="0">
              <a:lnSpc>
                <a:spcPct val="150000"/>
              </a:lnSpc>
              <a:spcBef>
                <a:spcPts val="360"/>
              </a:spcBef>
              <a:spcAft>
                <a:spcPts val="0"/>
              </a:spcAft>
              <a:buClr>
                <a:srgbClr val="C00000"/>
              </a:buClr>
              <a:buSzPts val="1800"/>
              <a:buChar char="–"/>
            </a:pPr>
            <a:r>
              <a:rPr lang="en-US" sz="1800" i="1" dirty="0">
                <a:solidFill>
                  <a:srgbClr val="C00000"/>
                </a:solidFill>
              </a:rPr>
              <a:t>Stickiness. </a:t>
            </a:r>
            <a:r>
              <a:rPr lang="en-US" sz="1800" b="0" i="0" dirty="0">
                <a:solidFill>
                  <a:srgbClr val="242021"/>
                </a:solidFill>
              </a:rPr>
              <a:t>The relative stickiness of a glue token is directly proportional to the number of data slices that it binds.</a:t>
            </a:r>
            <a:endParaRPr dirty="0"/>
          </a:p>
          <a:p>
            <a:pPr marL="457200" lvl="1" indent="0" algn="just" rtl="0">
              <a:spcBef>
                <a:spcPts val="360"/>
              </a:spcBef>
              <a:spcAft>
                <a:spcPts val="0"/>
              </a:spcAft>
              <a:buClr>
                <a:schemeClr val="dk1"/>
              </a:buClr>
              <a:buSzPts val="1400"/>
              <a:buNone/>
            </a:pPr>
            <a:r>
              <a:rPr lang="en-US" sz="1400" dirty="0"/>
              <a:t/>
            </a:r>
            <a:br>
              <a:rPr lang="en-US" sz="1400" dirty="0"/>
            </a:br>
            <a:r>
              <a:rPr lang="en-US" sz="1800" dirty="0"/>
              <a:t> </a:t>
            </a:r>
            <a:br>
              <a:rPr lang="en-US" sz="1800" dirty="0"/>
            </a:br>
            <a:r>
              <a:rPr lang="en-US" sz="1800" dirty="0"/>
              <a:t/>
            </a:r>
            <a:br>
              <a:rPr lang="en-US" sz="1800" dirty="0"/>
            </a:br>
            <a:endParaRPr sz="1800" b="1" dirty="0">
              <a:solidFill>
                <a:srgbClr val="C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Shape 497"/>
        <p:cNvGrpSpPr/>
        <p:nvPr/>
      </p:nvGrpSpPr>
      <p:grpSpPr>
        <a:xfrm>
          <a:off x="0" y="0"/>
          <a:ext cx="0" cy="0"/>
          <a:chOff x="0" y="0"/>
          <a:chExt cx="0" cy="0"/>
        </a:xfrm>
      </p:grpSpPr>
      <p:sp>
        <p:nvSpPr>
          <p:cNvPr id="498" name="Google Shape;498;p6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Design Model</a:t>
            </a:r>
            <a:endParaRPr/>
          </a:p>
        </p:txBody>
      </p:sp>
      <p:sp>
        <p:nvSpPr>
          <p:cNvPr id="499" name="Google Shape;499;p6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65</a:t>
            </a:fld>
            <a:endParaRPr/>
          </a:p>
        </p:txBody>
      </p:sp>
      <p:sp>
        <p:nvSpPr>
          <p:cNvPr id="500" name="Google Shape;500;p63"/>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7. Component Level Design Metrics (contd.)</a:t>
            </a:r>
            <a:endParaRPr/>
          </a:p>
          <a:p>
            <a:pPr marL="400050" lvl="0" indent="-400050" algn="just" rtl="0">
              <a:lnSpc>
                <a:spcPct val="150000"/>
              </a:lnSpc>
              <a:spcBef>
                <a:spcPts val="360"/>
              </a:spcBef>
              <a:spcAft>
                <a:spcPts val="0"/>
              </a:spcAft>
              <a:buClr>
                <a:srgbClr val="3A30FA"/>
              </a:buClr>
              <a:buSzPts val="1800"/>
              <a:buFont typeface="Calibri"/>
              <a:buAutoNum type="romanLcPeriod" startAt="2"/>
            </a:pPr>
            <a:r>
              <a:rPr lang="en-US" sz="1800" b="1" i="0">
                <a:solidFill>
                  <a:srgbClr val="3A30FA"/>
                </a:solidFill>
              </a:rPr>
              <a:t>Coupling metrics. </a:t>
            </a:r>
            <a:r>
              <a:rPr lang="en-US" sz="1800" b="0" i="0">
                <a:solidFill>
                  <a:srgbClr val="242021"/>
                </a:solidFill>
              </a:rPr>
              <a:t>Module coupling provides an indication of the “connectedness” of a module to other modules, global data, and the outside environment. </a:t>
            </a:r>
            <a:endParaRPr/>
          </a:p>
          <a:p>
            <a:pPr marL="400050" lvl="0" indent="-330200" algn="just" rtl="0">
              <a:lnSpc>
                <a:spcPct val="150000"/>
              </a:lnSpc>
              <a:spcBef>
                <a:spcPts val="220"/>
              </a:spcBef>
              <a:spcAft>
                <a:spcPts val="0"/>
              </a:spcAft>
              <a:buClr>
                <a:schemeClr val="dk1"/>
              </a:buClr>
              <a:buSzPts val="1100"/>
              <a:buFont typeface="Calibri"/>
              <a:buNone/>
            </a:pPr>
            <a:endParaRPr sz="1100" b="0" i="0">
              <a:solidFill>
                <a:srgbClr val="242021"/>
              </a:solidFill>
            </a:endParaRPr>
          </a:p>
          <a:p>
            <a:pPr marL="400050" lvl="0" indent="-400050" algn="just" rtl="0">
              <a:lnSpc>
                <a:spcPct val="150000"/>
              </a:lnSpc>
              <a:spcBef>
                <a:spcPts val="360"/>
              </a:spcBef>
              <a:spcAft>
                <a:spcPts val="0"/>
              </a:spcAft>
              <a:buClr>
                <a:srgbClr val="3A30FA"/>
              </a:buClr>
              <a:buSzPts val="1800"/>
              <a:buFont typeface="Calibri"/>
              <a:buAutoNum type="romanLcPeriod" startAt="2"/>
            </a:pPr>
            <a:r>
              <a:rPr lang="en-US" sz="1800" b="1" i="0">
                <a:solidFill>
                  <a:srgbClr val="3A30FA"/>
                </a:solidFill>
              </a:rPr>
              <a:t>Complexity metrics. </a:t>
            </a:r>
            <a:r>
              <a:rPr lang="en-US" sz="1800" b="0" i="0">
                <a:solidFill>
                  <a:srgbClr val="242021"/>
                </a:solidFill>
              </a:rPr>
              <a:t>They can be used to predict critical information about reliability and maintainability of software systems from automatic analysis of source code. </a:t>
            </a:r>
            <a:endParaRPr/>
          </a:p>
          <a:p>
            <a:pPr marL="742950" lvl="1" indent="-285750" algn="just" rtl="0">
              <a:lnSpc>
                <a:spcPct val="150000"/>
              </a:lnSpc>
              <a:spcBef>
                <a:spcPts val="360"/>
              </a:spcBef>
              <a:spcAft>
                <a:spcPts val="0"/>
              </a:spcAft>
              <a:buClr>
                <a:srgbClr val="242021"/>
              </a:buClr>
              <a:buSzPts val="1800"/>
              <a:buChar char="–"/>
            </a:pPr>
            <a:r>
              <a:rPr lang="en-US" sz="1800" b="0" i="0">
                <a:solidFill>
                  <a:srgbClr val="242021"/>
                </a:solidFill>
              </a:rPr>
              <a:t>Complexity metrics also provide feedback during the software project to help control the design activity. </a:t>
            </a:r>
            <a:endParaRPr/>
          </a:p>
          <a:p>
            <a:pPr marL="742950" lvl="1" indent="-285750" algn="just" rtl="0">
              <a:lnSpc>
                <a:spcPct val="150000"/>
              </a:lnSpc>
              <a:spcBef>
                <a:spcPts val="360"/>
              </a:spcBef>
              <a:spcAft>
                <a:spcPts val="0"/>
              </a:spcAft>
              <a:buClr>
                <a:srgbClr val="242021"/>
              </a:buClr>
              <a:buSzPts val="1800"/>
              <a:buChar char="–"/>
            </a:pPr>
            <a:r>
              <a:rPr lang="en-US" sz="1800" b="0" i="0">
                <a:solidFill>
                  <a:srgbClr val="242021"/>
                </a:solidFill>
              </a:rPr>
              <a:t>During testing and maintenance, they provide detailed information about software modules to help pinpoint areas of potential instability.</a:t>
            </a:r>
            <a:endParaRPr/>
          </a:p>
          <a:p>
            <a:pPr marL="742950" lvl="1" indent="-285750" algn="just" rtl="0">
              <a:lnSpc>
                <a:spcPct val="150000"/>
              </a:lnSpc>
              <a:spcBef>
                <a:spcPts val="360"/>
              </a:spcBef>
              <a:spcAft>
                <a:spcPts val="0"/>
              </a:spcAft>
              <a:buClr>
                <a:srgbClr val="242021"/>
              </a:buClr>
              <a:buSzPts val="1800"/>
              <a:buChar char="–"/>
            </a:pPr>
            <a:r>
              <a:rPr lang="en-US" sz="1800" b="0" i="0">
                <a:solidFill>
                  <a:srgbClr val="242021"/>
                </a:solidFill>
              </a:rPr>
              <a:t>The most widely used (and debated) complexity metric for computer software is </a:t>
            </a:r>
            <a:r>
              <a:rPr lang="en-US" sz="1800" b="0" i="1">
                <a:solidFill>
                  <a:srgbClr val="C00000"/>
                </a:solidFill>
              </a:rPr>
              <a:t>cyclomatic complexity</a:t>
            </a:r>
            <a:r>
              <a:rPr lang="en-US" sz="1800">
                <a:solidFill>
                  <a:srgbClr val="242021"/>
                </a:solidFill>
              </a:rPr>
              <a:t> (lower value desirable for being less error prone).</a:t>
            </a:r>
            <a:endParaRPr sz="1800" b="0" i="0">
              <a:solidFill>
                <a:srgbClr val="242021"/>
              </a:solidFill>
            </a:endParaRPr>
          </a:p>
          <a:p>
            <a:pPr marL="457200" lvl="1" indent="0" algn="just" rtl="0">
              <a:lnSpc>
                <a:spcPct val="150000"/>
              </a:lnSpc>
              <a:spcBef>
                <a:spcPts val="360"/>
              </a:spcBef>
              <a:spcAft>
                <a:spcPts val="0"/>
              </a:spcAft>
              <a:buClr>
                <a:schemeClr val="dk1"/>
              </a:buClr>
              <a:buSzPts val="1100"/>
              <a:buNone/>
            </a:pPr>
            <a:r>
              <a:rPr lang="en-US" sz="1100"/>
              <a:t> </a:t>
            </a:r>
            <a:br>
              <a:rPr lang="en-US" sz="1100"/>
            </a:br>
            <a:r>
              <a:rPr lang="en-US" sz="1400"/>
              <a:t/>
            </a:r>
            <a:br>
              <a:rPr lang="en-US" sz="1400"/>
            </a:br>
            <a:r>
              <a:rPr lang="en-US" sz="1800"/>
              <a:t> </a:t>
            </a:r>
            <a:br>
              <a:rPr lang="en-US" sz="1800"/>
            </a:br>
            <a:r>
              <a:rPr lang="en-US" sz="1800"/>
              <a:t/>
            </a:r>
            <a:br>
              <a:rPr lang="en-US" sz="1800"/>
            </a:br>
            <a:endParaRPr sz="1800" b="1">
              <a:solidFill>
                <a:srgbClr val="C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6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Testing</a:t>
            </a:r>
            <a:endParaRPr/>
          </a:p>
        </p:txBody>
      </p:sp>
      <p:sp>
        <p:nvSpPr>
          <p:cNvPr id="506" name="Google Shape;506;p6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66</a:t>
            </a:fld>
            <a:endParaRPr/>
          </a:p>
        </p:txBody>
      </p:sp>
      <p:sp>
        <p:nvSpPr>
          <p:cNvPr id="507" name="Google Shape;507;p64"/>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AutoNum type="arabicPeriod"/>
            </a:pPr>
            <a:r>
              <a:rPr lang="en-US" sz="2000" b="1" dirty="0">
                <a:solidFill>
                  <a:srgbClr val="C00000"/>
                </a:solidFill>
              </a:rPr>
              <a:t>Halstead Metrics Applied to Testing:</a:t>
            </a:r>
            <a:endParaRPr dirty="0"/>
          </a:p>
          <a:p>
            <a:pPr marL="0" lvl="0" indent="0" algn="just" rtl="0">
              <a:lnSpc>
                <a:spcPct val="150000"/>
              </a:lnSpc>
              <a:spcBef>
                <a:spcPts val="360"/>
              </a:spcBef>
              <a:spcAft>
                <a:spcPts val="0"/>
              </a:spcAft>
              <a:buClr>
                <a:srgbClr val="242021"/>
              </a:buClr>
              <a:buSzPts val="1800"/>
              <a:buNone/>
            </a:pPr>
            <a:r>
              <a:rPr lang="en-US" sz="1800" b="0" i="0" dirty="0">
                <a:solidFill>
                  <a:srgbClr val="242021"/>
                </a:solidFill>
              </a:rPr>
              <a:t>Using the definitions for program volume </a:t>
            </a:r>
            <a:r>
              <a:rPr lang="en-US" sz="1800" b="0" i="1" dirty="0">
                <a:solidFill>
                  <a:srgbClr val="242021"/>
                </a:solidFill>
              </a:rPr>
              <a:t>V </a:t>
            </a:r>
            <a:r>
              <a:rPr lang="en-US" sz="1800" b="0" i="0" dirty="0">
                <a:solidFill>
                  <a:srgbClr val="242021"/>
                </a:solidFill>
              </a:rPr>
              <a:t>and program level </a:t>
            </a:r>
            <a:r>
              <a:rPr lang="en-US" sz="1800" b="0" i="1" dirty="0">
                <a:solidFill>
                  <a:srgbClr val="242021"/>
                </a:solidFill>
              </a:rPr>
              <a:t>PL, </a:t>
            </a:r>
            <a:r>
              <a:rPr lang="en-US" sz="1800" b="0" i="0" dirty="0">
                <a:solidFill>
                  <a:srgbClr val="242021"/>
                </a:solidFill>
              </a:rPr>
              <a:t>Halstead effort </a:t>
            </a:r>
            <a:r>
              <a:rPr lang="en-US" sz="1800" b="0" i="1" dirty="0">
                <a:solidFill>
                  <a:srgbClr val="242021"/>
                </a:solidFill>
              </a:rPr>
              <a:t>e </a:t>
            </a:r>
            <a:r>
              <a:rPr lang="en-US" sz="1800" b="0" i="0" dirty="0">
                <a:solidFill>
                  <a:srgbClr val="242021"/>
                </a:solidFill>
              </a:rPr>
              <a:t>can be computed as:</a:t>
            </a:r>
            <a:endParaRPr dirty="0"/>
          </a:p>
          <a:p>
            <a:pPr marL="0" lvl="0" indent="0" algn="just" rtl="0">
              <a:lnSpc>
                <a:spcPct val="150000"/>
              </a:lnSpc>
              <a:spcBef>
                <a:spcPts val="360"/>
              </a:spcBef>
              <a:spcAft>
                <a:spcPts val="0"/>
              </a:spcAft>
              <a:buClr>
                <a:schemeClr val="dk1"/>
              </a:buClr>
              <a:buSzPts val="1800"/>
              <a:buNone/>
            </a:pPr>
            <a:r>
              <a:rPr lang="en-US" sz="1800" dirty="0"/>
              <a:t/>
            </a:r>
            <a:br>
              <a:rPr lang="en-US" sz="1800" dirty="0"/>
            </a:br>
            <a:endParaRPr sz="1800" dirty="0"/>
          </a:p>
          <a:p>
            <a:pPr marL="0" lvl="0" indent="0" algn="just" rtl="0">
              <a:lnSpc>
                <a:spcPct val="150000"/>
              </a:lnSpc>
              <a:spcBef>
                <a:spcPts val="360"/>
              </a:spcBef>
              <a:spcAft>
                <a:spcPts val="0"/>
              </a:spcAft>
              <a:buClr>
                <a:srgbClr val="242021"/>
              </a:buClr>
              <a:buSzPts val="1800"/>
              <a:buNone/>
            </a:pPr>
            <a:r>
              <a:rPr lang="en-US" sz="1800" b="0" i="0" dirty="0">
                <a:solidFill>
                  <a:srgbClr val="242021"/>
                </a:solidFill>
              </a:rPr>
              <a:t>The percentage of </a:t>
            </a:r>
            <a:r>
              <a:rPr lang="en-US" sz="1800" b="1" i="0" dirty="0">
                <a:solidFill>
                  <a:srgbClr val="242021"/>
                </a:solidFill>
              </a:rPr>
              <a:t>overall testing effort to be allocated to a module </a:t>
            </a:r>
            <a:r>
              <a:rPr lang="en-US" sz="1800" b="1" i="1" dirty="0">
                <a:solidFill>
                  <a:srgbClr val="242021"/>
                </a:solidFill>
              </a:rPr>
              <a:t>k </a:t>
            </a:r>
            <a:r>
              <a:rPr lang="en-US" sz="1800" b="0" i="0" dirty="0">
                <a:solidFill>
                  <a:srgbClr val="242021"/>
                </a:solidFill>
              </a:rPr>
              <a:t>can be estimated using the following relationship:</a:t>
            </a:r>
            <a:endParaRPr dirty="0"/>
          </a:p>
          <a:p>
            <a:pPr marL="0" lvl="0" indent="0" algn="just" rtl="0">
              <a:lnSpc>
                <a:spcPct val="150000"/>
              </a:lnSpc>
              <a:spcBef>
                <a:spcPts val="360"/>
              </a:spcBef>
              <a:spcAft>
                <a:spcPts val="0"/>
              </a:spcAft>
              <a:buClr>
                <a:schemeClr val="dk1"/>
              </a:buClr>
              <a:buSzPts val="1800"/>
              <a:buNone/>
            </a:pPr>
            <a:endParaRPr sz="1800" dirty="0">
              <a:solidFill>
                <a:srgbClr val="242021"/>
              </a:solidFill>
            </a:endParaRPr>
          </a:p>
          <a:p>
            <a:pPr marL="0" lvl="0" indent="0" algn="just" rtl="0">
              <a:lnSpc>
                <a:spcPct val="150000"/>
              </a:lnSpc>
              <a:spcBef>
                <a:spcPts val="180"/>
              </a:spcBef>
              <a:spcAft>
                <a:spcPts val="0"/>
              </a:spcAft>
              <a:buClr>
                <a:schemeClr val="dk1"/>
              </a:buClr>
              <a:buSzPts val="900"/>
              <a:buNone/>
            </a:pPr>
            <a:endParaRPr sz="900" b="0" i="0" dirty="0">
              <a:solidFill>
                <a:srgbClr val="242021"/>
              </a:solidFill>
            </a:endParaRPr>
          </a:p>
          <a:p>
            <a:pPr marL="0" lvl="0" indent="0" algn="just" rtl="0">
              <a:lnSpc>
                <a:spcPct val="150000"/>
              </a:lnSpc>
              <a:spcBef>
                <a:spcPts val="360"/>
              </a:spcBef>
              <a:spcAft>
                <a:spcPts val="0"/>
              </a:spcAft>
              <a:buClr>
                <a:srgbClr val="242021"/>
              </a:buClr>
              <a:buSzPts val="1800"/>
              <a:buNone/>
            </a:pPr>
            <a:r>
              <a:rPr lang="en-US" sz="1800" b="0" i="0" dirty="0">
                <a:solidFill>
                  <a:srgbClr val="242021"/>
                </a:solidFill>
              </a:rPr>
              <a:t>where </a:t>
            </a:r>
            <a:r>
              <a:rPr lang="en-US" sz="1800" b="0" i="1" dirty="0">
                <a:solidFill>
                  <a:srgbClr val="242021"/>
                </a:solidFill>
              </a:rPr>
              <a:t>e</a:t>
            </a:r>
            <a:r>
              <a:rPr lang="en-US" sz="1800" b="0" i="0" dirty="0">
                <a:solidFill>
                  <a:srgbClr val="242021"/>
                </a:solidFill>
              </a:rPr>
              <a:t>(</a:t>
            </a:r>
            <a:r>
              <a:rPr lang="en-US" sz="1800" b="0" i="1" dirty="0">
                <a:solidFill>
                  <a:srgbClr val="242021"/>
                </a:solidFill>
              </a:rPr>
              <a:t>k</a:t>
            </a:r>
            <a:r>
              <a:rPr lang="en-US" sz="1800" b="0" i="0" dirty="0">
                <a:solidFill>
                  <a:srgbClr val="242021"/>
                </a:solidFill>
              </a:rPr>
              <a:t>) is computed for module </a:t>
            </a:r>
            <a:r>
              <a:rPr lang="en-US" sz="1800" b="0" i="1" dirty="0">
                <a:solidFill>
                  <a:srgbClr val="242021"/>
                </a:solidFill>
              </a:rPr>
              <a:t>k</a:t>
            </a:r>
            <a:r>
              <a:rPr lang="en-US" sz="1800" b="0" i="0" dirty="0">
                <a:solidFill>
                  <a:srgbClr val="242021"/>
                </a:solidFill>
              </a:rPr>
              <a:t> and the summation in the denominator is the sum of Halstead effort across all modules of the system.</a:t>
            </a:r>
            <a:endParaRPr dirty="0"/>
          </a:p>
          <a:p>
            <a:pPr marL="0" lvl="0" indent="0" algn="just" rtl="0">
              <a:lnSpc>
                <a:spcPct val="150000"/>
              </a:lnSpc>
              <a:spcBef>
                <a:spcPts val="360"/>
              </a:spcBef>
              <a:spcAft>
                <a:spcPts val="0"/>
              </a:spcAft>
              <a:buClr>
                <a:schemeClr val="dk1"/>
              </a:buClr>
              <a:buSzPts val="1800"/>
              <a:buNone/>
            </a:pPr>
            <a:endParaRPr sz="1800" dirty="0"/>
          </a:p>
        </p:txBody>
      </p:sp>
      <p:pic>
        <p:nvPicPr>
          <p:cNvPr id="508" name="Google Shape;508;p64"/>
          <p:cNvPicPr preferRelativeResize="0"/>
          <p:nvPr/>
        </p:nvPicPr>
        <p:blipFill rotWithShape="1">
          <a:blip r:embed="rId3">
            <a:alphaModFix/>
          </a:blip>
          <a:srcRect/>
          <a:stretch/>
        </p:blipFill>
        <p:spPr>
          <a:xfrm>
            <a:off x="3238500" y="2464174"/>
            <a:ext cx="2048333" cy="1170476"/>
          </a:xfrm>
          <a:prstGeom prst="rect">
            <a:avLst/>
          </a:prstGeom>
          <a:noFill/>
          <a:ln>
            <a:noFill/>
          </a:ln>
        </p:spPr>
      </p:pic>
      <p:pic>
        <p:nvPicPr>
          <p:cNvPr id="509" name="Google Shape;509;p64"/>
          <p:cNvPicPr preferRelativeResize="0"/>
          <p:nvPr/>
        </p:nvPicPr>
        <p:blipFill rotWithShape="1">
          <a:blip r:embed="rId4">
            <a:alphaModFix/>
          </a:blip>
          <a:srcRect/>
          <a:stretch/>
        </p:blipFill>
        <p:spPr>
          <a:xfrm>
            <a:off x="2471965" y="4453137"/>
            <a:ext cx="3581401" cy="548173"/>
          </a:xfrm>
          <a:prstGeom prst="rect">
            <a:avLst/>
          </a:prstGeom>
          <a:noFill/>
          <a:ln>
            <a:noFill/>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6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Testing</a:t>
            </a:r>
            <a:endParaRPr/>
          </a:p>
        </p:txBody>
      </p:sp>
      <p:sp>
        <p:nvSpPr>
          <p:cNvPr id="515" name="Google Shape;515;p6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67</a:t>
            </a:fld>
            <a:endParaRPr/>
          </a:p>
        </p:txBody>
      </p:sp>
      <p:sp>
        <p:nvSpPr>
          <p:cNvPr id="516" name="Google Shape;516;p65"/>
          <p:cNvSpPr txBox="1">
            <a:spLocks noGrp="1"/>
          </p:cNvSpPr>
          <p:nvPr>
            <p:ph type="body" idx="1"/>
          </p:nvPr>
        </p:nvSpPr>
        <p:spPr>
          <a:xfrm>
            <a:off x="457200" y="1124534"/>
            <a:ext cx="8229600" cy="4526100"/>
          </a:xfrm>
          <a:prstGeom prst="rect">
            <a:avLst/>
          </a:prstGeom>
          <a:noFill/>
          <a:ln>
            <a:noFill/>
          </a:ln>
        </p:spPr>
        <p:txBody>
          <a:bodyPr spcFirstLastPara="1" wrap="square" lIns="91425" tIns="45700" rIns="91425" bIns="45700" anchor="t" anchorCtr="0">
            <a:noAutofit/>
          </a:bodyPr>
          <a:lstStyle/>
          <a:p>
            <a:pPr marL="457200" lvl="0" indent="-457200" algn="just" rtl="0">
              <a:lnSpc>
                <a:spcPct val="150000"/>
              </a:lnSpc>
              <a:spcBef>
                <a:spcPts val="0"/>
              </a:spcBef>
              <a:spcAft>
                <a:spcPts val="0"/>
              </a:spcAft>
              <a:buClr>
                <a:srgbClr val="C00000"/>
              </a:buClr>
              <a:buSzPts val="2000"/>
              <a:buAutoNum type="arabicPeriod"/>
            </a:pPr>
            <a:r>
              <a:rPr lang="en-US" sz="2000" b="1" dirty="0">
                <a:solidFill>
                  <a:srgbClr val="C00000"/>
                </a:solidFill>
              </a:rPr>
              <a:t>Halstead Metrics Applied to Testing (contd.):</a:t>
            </a:r>
            <a:endParaRPr dirty="0"/>
          </a:p>
          <a:p>
            <a:pPr marL="0" lvl="0" indent="0" algn="just" rtl="0">
              <a:lnSpc>
                <a:spcPct val="150000"/>
              </a:lnSpc>
              <a:spcBef>
                <a:spcPts val="360"/>
              </a:spcBef>
              <a:spcAft>
                <a:spcPts val="0"/>
              </a:spcAft>
              <a:buClr>
                <a:schemeClr val="dk1"/>
              </a:buClr>
              <a:buSzPts val="1800"/>
              <a:buNone/>
            </a:pPr>
            <a:endParaRPr sz="1800" b="0" i="0" dirty="0">
              <a:solidFill>
                <a:srgbClr val="242021"/>
              </a:solidFill>
              <a:latin typeface="Arial"/>
              <a:ea typeface="Arial"/>
              <a:cs typeface="Arial"/>
              <a:sym typeface="Arial"/>
            </a:endParaRPr>
          </a:p>
          <a:p>
            <a:pPr marL="0" lvl="0" indent="0" algn="just" rtl="0">
              <a:lnSpc>
                <a:spcPct val="150000"/>
              </a:lnSpc>
              <a:spcBef>
                <a:spcPts val="360"/>
              </a:spcBef>
              <a:spcAft>
                <a:spcPts val="0"/>
              </a:spcAft>
              <a:buClr>
                <a:schemeClr val="dk1"/>
              </a:buClr>
              <a:buSzPts val="1800"/>
              <a:buNone/>
            </a:pPr>
            <a:endParaRPr sz="1800" dirty="0">
              <a:solidFill>
                <a:srgbClr val="242021"/>
              </a:solidFill>
              <a:latin typeface="Arial"/>
              <a:ea typeface="Arial"/>
              <a:cs typeface="Arial"/>
              <a:sym typeface="Arial"/>
            </a:endParaRPr>
          </a:p>
          <a:p>
            <a:pPr marL="0" lvl="0" indent="0" algn="just" rtl="0">
              <a:lnSpc>
                <a:spcPct val="150000"/>
              </a:lnSpc>
              <a:spcBef>
                <a:spcPts val="360"/>
              </a:spcBef>
              <a:spcAft>
                <a:spcPts val="0"/>
              </a:spcAft>
              <a:buClr>
                <a:schemeClr val="dk1"/>
              </a:buClr>
              <a:buSzPts val="1800"/>
              <a:buNone/>
            </a:pPr>
            <a:endParaRPr sz="1800" b="0" i="0" dirty="0">
              <a:solidFill>
                <a:srgbClr val="242021"/>
              </a:solidFill>
              <a:latin typeface="Arial"/>
              <a:ea typeface="Arial"/>
              <a:cs typeface="Arial"/>
              <a:sym typeface="Arial"/>
            </a:endParaRPr>
          </a:p>
          <a:p>
            <a:pPr marL="0" lvl="0" indent="0" algn="just" rtl="0">
              <a:lnSpc>
                <a:spcPct val="150000"/>
              </a:lnSpc>
              <a:spcBef>
                <a:spcPts val="360"/>
              </a:spcBef>
              <a:spcAft>
                <a:spcPts val="0"/>
              </a:spcAft>
              <a:buClr>
                <a:schemeClr val="dk1"/>
              </a:buClr>
              <a:buSzPts val="1800"/>
              <a:buNone/>
            </a:pPr>
            <a:endParaRPr sz="1800" dirty="0">
              <a:solidFill>
                <a:srgbClr val="242021"/>
              </a:solidFill>
              <a:latin typeface="Arial"/>
              <a:ea typeface="Arial"/>
              <a:cs typeface="Arial"/>
              <a:sym typeface="Arial"/>
            </a:endParaRPr>
          </a:p>
          <a:p>
            <a:pPr marL="0" lvl="0" indent="0" algn="just" rtl="0">
              <a:lnSpc>
                <a:spcPct val="150000"/>
              </a:lnSpc>
              <a:spcBef>
                <a:spcPts val="360"/>
              </a:spcBef>
              <a:spcAft>
                <a:spcPts val="0"/>
              </a:spcAft>
              <a:buClr>
                <a:schemeClr val="dk1"/>
              </a:buClr>
              <a:buSzPts val="1800"/>
              <a:buNone/>
            </a:pPr>
            <a:endParaRPr sz="1800" b="0" i="0" dirty="0">
              <a:solidFill>
                <a:srgbClr val="242021"/>
              </a:solidFill>
              <a:latin typeface="Arial"/>
              <a:ea typeface="Arial"/>
              <a:cs typeface="Arial"/>
              <a:sym typeface="Arial"/>
            </a:endParaRPr>
          </a:p>
          <a:p>
            <a:pPr marL="0" lvl="0" indent="0" algn="just" rtl="0">
              <a:lnSpc>
                <a:spcPct val="150000"/>
              </a:lnSpc>
              <a:spcBef>
                <a:spcPts val="360"/>
              </a:spcBef>
              <a:spcAft>
                <a:spcPts val="0"/>
              </a:spcAft>
              <a:buClr>
                <a:schemeClr val="dk1"/>
              </a:buClr>
              <a:buSzPts val="1800"/>
              <a:buNone/>
            </a:pPr>
            <a:endParaRPr sz="1800" dirty="0">
              <a:solidFill>
                <a:srgbClr val="242021"/>
              </a:solidFill>
              <a:latin typeface="Arial"/>
              <a:ea typeface="Arial"/>
              <a:cs typeface="Arial"/>
              <a:sym typeface="Arial"/>
            </a:endParaRPr>
          </a:p>
          <a:p>
            <a:pPr marL="0" lvl="0" indent="0" algn="just" rtl="0">
              <a:lnSpc>
                <a:spcPct val="150000"/>
              </a:lnSpc>
              <a:spcBef>
                <a:spcPts val="360"/>
              </a:spcBef>
              <a:spcAft>
                <a:spcPts val="0"/>
              </a:spcAft>
              <a:buClr>
                <a:schemeClr val="dk1"/>
              </a:buClr>
              <a:buSzPts val="1800"/>
              <a:buNone/>
            </a:pPr>
            <a:endParaRPr sz="1800" b="0" i="0" dirty="0">
              <a:solidFill>
                <a:srgbClr val="242021"/>
              </a:solidFill>
              <a:latin typeface="Arial"/>
              <a:ea typeface="Arial"/>
              <a:cs typeface="Arial"/>
              <a:sym typeface="Arial"/>
            </a:endParaRPr>
          </a:p>
          <a:p>
            <a:pPr marL="0" lvl="0" indent="0" algn="just" rtl="0">
              <a:spcBef>
                <a:spcPts val="360"/>
              </a:spcBef>
              <a:spcAft>
                <a:spcPts val="0"/>
              </a:spcAft>
              <a:buClr>
                <a:srgbClr val="242021"/>
              </a:buClr>
              <a:buSzPts val="1800"/>
              <a:buNone/>
            </a:pPr>
            <a:r>
              <a:rPr lang="en-US" sz="1800" b="0" i="0" dirty="0">
                <a:solidFill>
                  <a:srgbClr val="242021"/>
                </a:solidFill>
              </a:rPr>
              <a:t>Halstead defines a volume ratio </a:t>
            </a:r>
            <a:r>
              <a:rPr lang="en-US" sz="1800" b="0" i="1" dirty="0">
                <a:solidFill>
                  <a:srgbClr val="242021"/>
                </a:solidFill>
              </a:rPr>
              <a:t>L </a:t>
            </a:r>
            <a:r>
              <a:rPr lang="en-US" sz="1800" b="0" i="0" dirty="0">
                <a:solidFill>
                  <a:srgbClr val="242021"/>
                </a:solidFill>
              </a:rPr>
              <a:t>as the ratio of volume of the most compact form of a program to the volume of the actual program. In actuality, </a:t>
            </a:r>
            <a:r>
              <a:rPr lang="en-US" sz="1800" b="0" i="1" dirty="0">
                <a:solidFill>
                  <a:srgbClr val="242021"/>
                </a:solidFill>
              </a:rPr>
              <a:t>L </a:t>
            </a:r>
            <a:r>
              <a:rPr lang="en-US" sz="1800" b="0" i="0" dirty="0">
                <a:solidFill>
                  <a:srgbClr val="242021"/>
                </a:solidFill>
              </a:rPr>
              <a:t>must always be less than 1.</a:t>
            </a:r>
            <a:r>
              <a:rPr lang="en-US" sz="1800" dirty="0"/>
              <a:t> </a:t>
            </a:r>
            <a:br>
              <a:rPr lang="en-US" sz="1800" dirty="0"/>
            </a:br>
            <a:endParaRPr sz="1800" dirty="0">
              <a:solidFill>
                <a:srgbClr val="242021"/>
              </a:solidFill>
            </a:endParaRPr>
          </a:p>
          <a:p>
            <a:pPr marL="0" lvl="0" indent="0" algn="just" rtl="0">
              <a:lnSpc>
                <a:spcPct val="150000"/>
              </a:lnSpc>
              <a:spcBef>
                <a:spcPts val="180"/>
              </a:spcBef>
              <a:spcAft>
                <a:spcPts val="0"/>
              </a:spcAft>
              <a:buClr>
                <a:schemeClr val="dk1"/>
              </a:buClr>
              <a:buSzPts val="900"/>
              <a:buNone/>
            </a:pPr>
            <a:endParaRPr sz="900" b="0" i="0" dirty="0">
              <a:solidFill>
                <a:srgbClr val="242021"/>
              </a:solidFill>
            </a:endParaRPr>
          </a:p>
          <a:p>
            <a:pPr marL="0" lvl="0" indent="0" algn="just" rtl="0">
              <a:lnSpc>
                <a:spcPct val="150000"/>
              </a:lnSpc>
              <a:spcBef>
                <a:spcPts val="360"/>
              </a:spcBef>
              <a:spcAft>
                <a:spcPts val="0"/>
              </a:spcAft>
              <a:buClr>
                <a:schemeClr val="dk1"/>
              </a:buClr>
              <a:buSzPts val="1800"/>
              <a:buNone/>
            </a:pPr>
            <a:endParaRPr sz="1800" dirty="0"/>
          </a:p>
        </p:txBody>
      </p:sp>
      <p:pic>
        <p:nvPicPr>
          <p:cNvPr id="517" name="Google Shape;517;p65"/>
          <p:cNvPicPr preferRelativeResize="0"/>
          <p:nvPr/>
        </p:nvPicPr>
        <p:blipFill rotWithShape="1">
          <a:blip r:embed="rId3">
            <a:alphaModFix/>
          </a:blip>
          <a:srcRect/>
          <a:stretch/>
        </p:blipFill>
        <p:spPr>
          <a:xfrm>
            <a:off x="489358" y="1691026"/>
            <a:ext cx="5726883" cy="1253580"/>
          </a:xfrm>
          <a:prstGeom prst="rect">
            <a:avLst/>
          </a:prstGeom>
          <a:noFill/>
          <a:ln>
            <a:noFill/>
          </a:ln>
        </p:spPr>
      </p:pic>
      <p:pic>
        <p:nvPicPr>
          <p:cNvPr id="518" name="Google Shape;518;p65"/>
          <p:cNvPicPr preferRelativeResize="0"/>
          <p:nvPr/>
        </p:nvPicPr>
        <p:blipFill rotWithShape="1">
          <a:blip r:embed="rId4">
            <a:alphaModFix/>
          </a:blip>
          <a:srcRect/>
          <a:stretch/>
        </p:blipFill>
        <p:spPr>
          <a:xfrm>
            <a:off x="1981200" y="3076693"/>
            <a:ext cx="5014914" cy="1631099"/>
          </a:xfrm>
          <a:prstGeom prst="rect">
            <a:avLst/>
          </a:prstGeom>
          <a:noFill/>
          <a:ln>
            <a:noFill/>
          </a:ln>
        </p:spPr>
      </p:pic>
      <p:pic>
        <p:nvPicPr>
          <p:cNvPr id="519" name="Google Shape;519;p65"/>
          <p:cNvPicPr preferRelativeResize="0"/>
          <p:nvPr/>
        </p:nvPicPr>
        <p:blipFill rotWithShape="1">
          <a:blip r:embed="rId5">
            <a:alphaModFix/>
          </a:blip>
          <a:srcRect/>
          <a:stretch/>
        </p:blipFill>
        <p:spPr>
          <a:xfrm>
            <a:off x="3352800" y="5650634"/>
            <a:ext cx="1323976" cy="521566"/>
          </a:xfrm>
          <a:prstGeom prst="rect">
            <a:avLst/>
          </a:prstGeom>
          <a:noFill/>
          <a:ln>
            <a:noFill/>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Shape 523"/>
        <p:cNvGrpSpPr/>
        <p:nvPr/>
      </p:nvGrpSpPr>
      <p:grpSpPr>
        <a:xfrm>
          <a:off x="0" y="0"/>
          <a:ext cx="0" cy="0"/>
          <a:chOff x="0" y="0"/>
          <a:chExt cx="0" cy="0"/>
        </a:xfrm>
      </p:grpSpPr>
      <p:sp>
        <p:nvSpPr>
          <p:cNvPr id="524" name="Google Shape;524;p6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Testing</a:t>
            </a:r>
            <a:endParaRPr/>
          </a:p>
        </p:txBody>
      </p:sp>
      <p:sp>
        <p:nvSpPr>
          <p:cNvPr id="525" name="Google Shape;525;p6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68</a:t>
            </a:fld>
            <a:endParaRPr/>
          </a:p>
        </p:txBody>
      </p:sp>
      <p:sp>
        <p:nvSpPr>
          <p:cNvPr id="526" name="Google Shape;526;p66"/>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2. Metrics for Object-Oriented Testing: </a:t>
            </a:r>
            <a:endParaRPr/>
          </a:p>
          <a:p>
            <a:pPr marL="400050" lvl="0" indent="-400050" algn="just" rtl="0">
              <a:lnSpc>
                <a:spcPct val="150000"/>
              </a:lnSpc>
              <a:spcBef>
                <a:spcPts val="360"/>
              </a:spcBef>
              <a:spcAft>
                <a:spcPts val="0"/>
              </a:spcAft>
              <a:buClr>
                <a:srgbClr val="3A30FA"/>
              </a:buClr>
              <a:buSzPts val="1800"/>
              <a:buFont typeface="Calibri"/>
              <a:buAutoNum type="romanLcPeriod"/>
            </a:pPr>
            <a:r>
              <a:rPr lang="en-US" sz="1800" b="1" i="0">
                <a:solidFill>
                  <a:srgbClr val="3A30FA"/>
                </a:solidFill>
              </a:rPr>
              <a:t>Lack of cohesion in methods (LCOM).</a:t>
            </a:r>
            <a:r>
              <a:rPr lang="en-US" sz="1800" b="0" i="0">
                <a:solidFill>
                  <a:srgbClr val="3A30FA"/>
                </a:solidFill>
              </a:rPr>
              <a:t> </a:t>
            </a:r>
            <a:r>
              <a:rPr lang="en-US" sz="1800" b="0" i="0">
                <a:solidFill>
                  <a:srgbClr val="242021"/>
                </a:solidFill>
              </a:rPr>
              <a:t>The higher the value of LCOM, the more states must be tested to ensure that methods do not generate side effects.</a:t>
            </a:r>
            <a:endParaRPr/>
          </a:p>
          <a:p>
            <a:pPr marL="400050" lvl="0" indent="-400050" algn="just" rtl="0">
              <a:lnSpc>
                <a:spcPct val="150000"/>
              </a:lnSpc>
              <a:spcBef>
                <a:spcPts val="360"/>
              </a:spcBef>
              <a:spcAft>
                <a:spcPts val="0"/>
              </a:spcAft>
              <a:buClr>
                <a:srgbClr val="3A30FA"/>
              </a:buClr>
              <a:buSzPts val="1800"/>
              <a:buFont typeface="Calibri"/>
              <a:buAutoNum type="romanLcPeriod"/>
            </a:pPr>
            <a:r>
              <a:rPr lang="en-US" sz="1800" b="1" i="0">
                <a:solidFill>
                  <a:srgbClr val="3A30FA"/>
                </a:solidFill>
              </a:rPr>
              <a:t>Percent public and protected (PAP). </a:t>
            </a:r>
            <a:endParaRPr/>
          </a:p>
          <a:p>
            <a:pPr marL="742950" lvl="1" indent="-285750" algn="just" rtl="0">
              <a:lnSpc>
                <a:spcPct val="150000"/>
              </a:lnSpc>
              <a:spcBef>
                <a:spcPts val="360"/>
              </a:spcBef>
              <a:spcAft>
                <a:spcPts val="0"/>
              </a:spcAft>
              <a:buClr>
                <a:srgbClr val="242021"/>
              </a:buClr>
              <a:buSzPts val="1800"/>
              <a:buChar char="–"/>
            </a:pPr>
            <a:r>
              <a:rPr lang="en-US" sz="1800" b="0" i="0">
                <a:solidFill>
                  <a:srgbClr val="242021"/>
                </a:solidFill>
              </a:rPr>
              <a:t>Public attributes are inherited from other classes and therefore are visible to those classes. </a:t>
            </a:r>
            <a:endParaRPr/>
          </a:p>
          <a:p>
            <a:pPr marL="742950" lvl="1" indent="-285750" algn="just" rtl="0">
              <a:lnSpc>
                <a:spcPct val="150000"/>
              </a:lnSpc>
              <a:spcBef>
                <a:spcPts val="360"/>
              </a:spcBef>
              <a:spcAft>
                <a:spcPts val="0"/>
              </a:spcAft>
              <a:buClr>
                <a:srgbClr val="242021"/>
              </a:buClr>
              <a:buSzPts val="1800"/>
              <a:buChar char="–"/>
            </a:pPr>
            <a:r>
              <a:rPr lang="en-US" sz="1800" b="0" i="0">
                <a:solidFill>
                  <a:srgbClr val="242021"/>
                </a:solidFill>
              </a:rPr>
              <a:t>Protected attributes are accessible to methods in subclasses. </a:t>
            </a:r>
            <a:endParaRPr/>
          </a:p>
          <a:p>
            <a:pPr marL="742950" lvl="1" indent="-285750" algn="just" rtl="0">
              <a:lnSpc>
                <a:spcPct val="150000"/>
              </a:lnSpc>
              <a:spcBef>
                <a:spcPts val="360"/>
              </a:spcBef>
              <a:spcAft>
                <a:spcPts val="0"/>
              </a:spcAft>
              <a:buClr>
                <a:srgbClr val="242021"/>
              </a:buClr>
              <a:buSzPts val="1800"/>
              <a:buChar char="–"/>
            </a:pPr>
            <a:r>
              <a:rPr lang="en-US" sz="1800" b="0" i="0">
                <a:solidFill>
                  <a:srgbClr val="242021"/>
                </a:solidFill>
              </a:rPr>
              <a:t>This metric indicates the percentage of class attributes that are public or protected. </a:t>
            </a:r>
            <a:endParaRPr/>
          </a:p>
          <a:p>
            <a:pPr marL="742950" lvl="1" indent="-285750" algn="just" rtl="0">
              <a:lnSpc>
                <a:spcPct val="150000"/>
              </a:lnSpc>
              <a:spcBef>
                <a:spcPts val="360"/>
              </a:spcBef>
              <a:spcAft>
                <a:spcPts val="0"/>
              </a:spcAft>
              <a:buClr>
                <a:srgbClr val="242021"/>
              </a:buClr>
              <a:buSzPts val="1800"/>
              <a:buChar char="–"/>
            </a:pPr>
            <a:r>
              <a:rPr lang="en-US" sz="1800" b="0" i="0">
                <a:solidFill>
                  <a:srgbClr val="242021"/>
                </a:solidFill>
              </a:rPr>
              <a:t>High values for PAP increase the likelihood of side effects among classes because public and protected attributes lead to high potential for coupling. </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Shape 530"/>
        <p:cNvGrpSpPr/>
        <p:nvPr/>
      </p:nvGrpSpPr>
      <p:grpSpPr>
        <a:xfrm>
          <a:off x="0" y="0"/>
          <a:ext cx="0" cy="0"/>
          <a:chOff x="0" y="0"/>
          <a:chExt cx="0" cy="0"/>
        </a:xfrm>
      </p:grpSpPr>
      <p:sp>
        <p:nvSpPr>
          <p:cNvPr id="531" name="Google Shape;531;p6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Testing</a:t>
            </a:r>
            <a:endParaRPr/>
          </a:p>
        </p:txBody>
      </p:sp>
      <p:sp>
        <p:nvSpPr>
          <p:cNvPr id="532" name="Google Shape;532;p6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69</a:t>
            </a:fld>
            <a:endParaRPr/>
          </a:p>
        </p:txBody>
      </p:sp>
      <p:sp>
        <p:nvSpPr>
          <p:cNvPr id="533" name="Google Shape;533;p67"/>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2. Metrics for Object-Oriented Testing (contd.): </a:t>
            </a:r>
            <a:endParaRPr/>
          </a:p>
          <a:p>
            <a:pPr marL="400050" lvl="0" indent="-400050" algn="just" rtl="0">
              <a:lnSpc>
                <a:spcPct val="150000"/>
              </a:lnSpc>
              <a:spcBef>
                <a:spcPts val="360"/>
              </a:spcBef>
              <a:spcAft>
                <a:spcPts val="0"/>
              </a:spcAft>
              <a:buClr>
                <a:srgbClr val="3A30FA"/>
              </a:buClr>
              <a:buSzPts val="1800"/>
              <a:buFont typeface="Calibri"/>
              <a:buAutoNum type="romanLcPeriod" startAt="3"/>
            </a:pPr>
            <a:r>
              <a:rPr lang="en-US" sz="1800" b="1" i="0">
                <a:solidFill>
                  <a:srgbClr val="3A30FA"/>
                </a:solidFill>
              </a:rPr>
              <a:t>Public access to data members (PAD). </a:t>
            </a:r>
            <a:r>
              <a:rPr lang="en-US" sz="1800" b="0" i="0">
                <a:solidFill>
                  <a:srgbClr val="242021"/>
                </a:solidFill>
              </a:rPr>
              <a:t>This metric indicates the number of classes (or methods) that can access another class’s attributes, a violation of encapsulation. High values for PAD lead to the potential for side effects among classes. Tests must be designed to ensure that such side effects are uncovered.</a:t>
            </a:r>
            <a:endParaRPr/>
          </a:p>
          <a:p>
            <a:pPr marL="400050" lvl="0" indent="-285750" algn="just" rtl="0">
              <a:lnSpc>
                <a:spcPct val="150000"/>
              </a:lnSpc>
              <a:spcBef>
                <a:spcPts val="360"/>
              </a:spcBef>
              <a:spcAft>
                <a:spcPts val="0"/>
              </a:spcAft>
              <a:buClr>
                <a:schemeClr val="dk1"/>
              </a:buClr>
              <a:buSzPts val="1800"/>
              <a:buFont typeface="Calibri"/>
              <a:buNone/>
            </a:pPr>
            <a:endParaRPr sz="1800" b="0" i="0">
              <a:solidFill>
                <a:srgbClr val="242021"/>
              </a:solidFill>
            </a:endParaRPr>
          </a:p>
          <a:p>
            <a:pPr marL="400050" lvl="0" indent="-400050" algn="just" rtl="0">
              <a:lnSpc>
                <a:spcPct val="150000"/>
              </a:lnSpc>
              <a:spcBef>
                <a:spcPts val="360"/>
              </a:spcBef>
              <a:spcAft>
                <a:spcPts val="0"/>
              </a:spcAft>
              <a:buClr>
                <a:srgbClr val="3A30FA"/>
              </a:buClr>
              <a:buSzPts val="1800"/>
              <a:buFont typeface="Calibri"/>
              <a:buAutoNum type="romanLcPeriod" startAt="3"/>
            </a:pPr>
            <a:r>
              <a:rPr lang="en-US" sz="1800" b="1" i="0">
                <a:solidFill>
                  <a:srgbClr val="3A30FA"/>
                </a:solidFill>
              </a:rPr>
              <a:t>Number of root classes (NOR). </a:t>
            </a:r>
            <a:r>
              <a:rPr lang="en-US" sz="1800" b="0" i="0">
                <a:solidFill>
                  <a:srgbClr val="242021"/>
                </a:solidFill>
              </a:rPr>
              <a:t>This metric is a count of the distinct class hierarchies that are described in the design model. Test suites for each root class and the corresponding class hierarchy must be developed. As NOR increases, testing effort also increases.</a:t>
            </a:r>
            <a:endParaRPr/>
          </a:p>
          <a:p>
            <a:pPr marL="0" lvl="0" indent="0" algn="just" rtl="0">
              <a:lnSpc>
                <a:spcPct val="150000"/>
              </a:lnSpc>
              <a:spcBef>
                <a:spcPts val="280"/>
              </a:spcBef>
              <a:spcAft>
                <a:spcPts val="0"/>
              </a:spcAft>
              <a:buClr>
                <a:schemeClr val="dk1"/>
              </a:buClr>
              <a:buSzPts val="1400"/>
              <a:buNone/>
            </a:pPr>
            <a:r>
              <a:rPr lang="en-US" sz="1400"/>
              <a:t/>
            </a:r>
            <a:br>
              <a:rPr lang="en-US" sz="1400"/>
            </a:br>
            <a:endParaRPr sz="1800" b="0" i="0">
              <a:solidFill>
                <a:srgbClr val="24202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Shape 537"/>
        <p:cNvGrpSpPr/>
        <p:nvPr/>
      </p:nvGrpSpPr>
      <p:grpSpPr>
        <a:xfrm>
          <a:off x="0" y="0"/>
          <a:ext cx="0" cy="0"/>
          <a:chOff x="0" y="0"/>
          <a:chExt cx="0" cy="0"/>
        </a:xfrm>
      </p:grpSpPr>
      <p:sp>
        <p:nvSpPr>
          <p:cNvPr id="538" name="Google Shape;538;p6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Metrics for Testing</a:t>
            </a:r>
            <a:endParaRPr/>
          </a:p>
        </p:txBody>
      </p:sp>
      <p:sp>
        <p:nvSpPr>
          <p:cNvPr id="539" name="Google Shape;539;p6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70</a:t>
            </a:fld>
            <a:endParaRPr/>
          </a:p>
        </p:txBody>
      </p:sp>
      <p:sp>
        <p:nvSpPr>
          <p:cNvPr id="540" name="Google Shape;540;p68"/>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2. Metrics for Object-Oriented Testing (contd.): </a:t>
            </a:r>
            <a:endParaRPr/>
          </a:p>
          <a:p>
            <a:pPr marL="400050" lvl="0" indent="-400050" algn="just" rtl="0">
              <a:lnSpc>
                <a:spcPct val="150000"/>
              </a:lnSpc>
              <a:spcBef>
                <a:spcPts val="360"/>
              </a:spcBef>
              <a:spcAft>
                <a:spcPts val="0"/>
              </a:spcAft>
              <a:buClr>
                <a:srgbClr val="3A30FA"/>
              </a:buClr>
              <a:buSzPts val="1800"/>
              <a:buFont typeface="Calibri"/>
              <a:buAutoNum type="romanLcPeriod" startAt="5"/>
            </a:pPr>
            <a:r>
              <a:rPr lang="en-US" sz="1800" b="1" i="0">
                <a:solidFill>
                  <a:srgbClr val="3A30FA"/>
                </a:solidFill>
              </a:rPr>
              <a:t>Fan-in (FIN). </a:t>
            </a:r>
            <a:r>
              <a:rPr lang="en-US" sz="1800" b="0" i="0">
                <a:solidFill>
                  <a:srgbClr val="242021"/>
                </a:solidFill>
              </a:rPr>
              <a:t>When used in the OO context, fan-in in the inheritance hierarchy is an indication of multiple inheritance. FIN &gt; 1 indicates that a class inherits its attributes and operations from more than one root class. FIN &gt; 1 should be avoided when possible.</a:t>
            </a:r>
            <a:r>
              <a:rPr lang="en-US" sz="1800"/>
              <a:t> </a:t>
            </a:r>
            <a:endParaRPr/>
          </a:p>
          <a:p>
            <a:pPr marL="400050" lvl="0" indent="-400050" algn="just" rtl="0">
              <a:lnSpc>
                <a:spcPct val="150000"/>
              </a:lnSpc>
              <a:spcBef>
                <a:spcPts val="360"/>
              </a:spcBef>
              <a:spcAft>
                <a:spcPts val="0"/>
              </a:spcAft>
              <a:buClr>
                <a:srgbClr val="3A30FA"/>
              </a:buClr>
              <a:buSzPts val="1800"/>
              <a:buFont typeface="Calibri"/>
              <a:buAutoNum type="romanLcPeriod" startAt="5"/>
            </a:pPr>
            <a:r>
              <a:rPr lang="en-US" sz="1800" b="1">
                <a:solidFill>
                  <a:srgbClr val="3A30FA"/>
                </a:solidFill>
              </a:rPr>
              <a:t>Depth of the inheritance tree (DIT). </a:t>
            </a:r>
            <a:r>
              <a:rPr lang="en-US" sz="1800" b="0" i="0">
                <a:solidFill>
                  <a:srgbClr val="242021"/>
                </a:solidFill>
              </a:rPr>
              <a:t>This metric is “</a:t>
            </a:r>
            <a:r>
              <a:rPr lang="en-US" sz="1800" b="0" i="1">
                <a:solidFill>
                  <a:srgbClr val="242021"/>
                </a:solidFill>
              </a:rPr>
              <a:t>the maximum length from the node to the root of the tree”</a:t>
            </a:r>
            <a:r>
              <a:rPr lang="en-US" sz="1800" b="0" i="0">
                <a:solidFill>
                  <a:srgbClr val="242021"/>
                </a:solidFill>
              </a:rPr>
              <a:t>. As DIT grows, it is likely that lower-level classes will inherit many methods</a:t>
            </a:r>
            <a:endParaRPr/>
          </a:p>
          <a:p>
            <a:pPr marL="400050" lvl="0" indent="-400050" algn="just" rtl="0">
              <a:lnSpc>
                <a:spcPct val="150000"/>
              </a:lnSpc>
              <a:spcBef>
                <a:spcPts val="360"/>
              </a:spcBef>
              <a:spcAft>
                <a:spcPts val="0"/>
              </a:spcAft>
              <a:buClr>
                <a:srgbClr val="3A30FA"/>
              </a:buClr>
              <a:buSzPts val="1800"/>
              <a:buFont typeface="Calibri"/>
              <a:buAutoNum type="romanLcPeriod" startAt="5"/>
            </a:pPr>
            <a:r>
              <a:rPr lang="en-US" sz="1800" b="1">
                <a:solidFill>
                  <a:srgbClr val="3A30FA"/>
                </a:solidFill>
              </a:rPr>
              <a:t>Number of children (NOC). </a:t>
            </a:r>
            <a:r>
              <a:rPr lang="en-US" sz="1800" b="0" i="0">
                <a:solidFill>
                  <a:srgbClr val="242021"/>
                </a:solidFill>
              </a:rPr>
              <a:t>The subclasses that are immediately subordinate to a class in the class hierarchy are termed its children. As the number of children grows, reuse increases, but also, as NOC increases, the amount of testing will also increase.</a:t>
            </a:r>
            <a:endParaRPr/>
          </a:p>
          <a:p>
            <a:pPr marL="342900" lvl="0" indent="-273050" algn="l" rtl="0">
              <a:spcBef>
                <a:spcPts val="220"/>
              </a:spcBef>
              <a:spcAft>
                <a:spcPts val="0"/>
              </a:spcAft>
              <a:buClr>
                <a:schemeClr val="dk1"/>
              </a:buClr>
              <a:buSzPts val="1100"/>
              <a:buNone/>
            </a:pPr>
            <a:endParaRPr sz="1100" b="0" i="0">
              <a:solidFill>
                <a:srgbClr val="242021"/>
              </a:solidFill>
            </a:endParaRPr>
          </a:p>
          <a:p>
            <a:pPr marL="342900" lvl="0" indent="-342900" algn="l" rtl="0">
              <a:spcBef>
                <a:spcPts val="280"/>
              </a:spcBef>
              <a:spcAft>
                <a:spcPts val="0"/>
              </a:spcAft>
              <a:buClr>
                <a:schemeClr val="dk1"/>
              </a:buClr>
              <a:buSzPts val="1100"/>
              <a:buChar char="•"/>
            </a:pPr>
            <a:r>
              <a:rPr lang="en-US" sz="1100"/>
              <a:t/>
            </a:r>
            <a:br>
              <a:rPr lang="en-US" sz="1100"/>
            </a:br>
            <a:r>
              <a:rPr lang="en-US" sz="1400"/>
              <a:t/>
            </a:r>
            <a:br>
              <a:rPr lang="en-US" sz="1400"/>
            </a:br>
            <a:endParaRPr sz="1800" b="0" i="0">
              <a:solidFill>
                <a:srgbClr val="24202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Shape 537"/>
        <p:cNvGrpSpPr/>
        <p:nvPr/>
      </p:nvGrpSpPr>
      <p:grpSpPr>
        <a:xfrm>
          <a:off x="0" y="0"/>
          <a:ext cx="0" cy="0"/>
          <a:chOff x="0" y="0"/>
          <a:chExt cx="0" cy="0"/>
        </a:xfrm>
      </p:grpSpPr>
      <p:sp>
        <p:nvSpPr>
          <p:cNvPr id="538" name="Google Shape;538;p6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dirty="0">
                <a:latin typeface="Times"/>
                <a:ea typeface="Times"/>
                <a:cs typeface="Times"/>
                <a:sym typeface="Times"/>
              </a:rPr>
              <a:t>Metrics for Testing</a:t>
            </a:r>
            <a:endParaRPr dirty="0"/>
          </a:p>
        </p:txBody>
      </p:sp>
      <p:sp>
        <p:nvSpPr>
          <p:cNvPr id="539" name="Google Shape;539;p6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71</a:t>
            </a:fld>
            <a:endParaRPr/>
          </a:p>
        </p:txBody>
      </p:sp>
      <p:sp>
        <p:nvSpPr>
          <p:cNvPr id="540" name="Google Shape;540;p68"/>
          <p:cNvSpPr txBox="1">
            <a:spLocks noGrp="1"/>
          </p:cNvSpPr>
          <p:nvPr>
            <p:ph type="body" idx="1"/>
          </p:nvPr>
        </p:nvSpPr>
        <p:spPr>
          <a:xfrm>
            <a:off x="457200" y="1371600"/>
            <a:ext cx="8229600" cy="45261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rgbClr val="C00000"/>
              </a:buClr>
              <a:buSzPts val="2000"/>
              <a:buNone/>
            </a:pPr>
            <a:r>
              <a:rPr lang="en-US" sz="2000" b="1">
                <a:solidFill>
                  <a:srgbClr val="C00000"/>
                </a:solidFill>
              </a:rPr>
              <a:t>2. Metrics for Object-Oriented Testing (contd.): </a:t>
            </a:r>
            <a:endParaRPr/>
          </a:p>
          <a:p>
            <a:pPr marL="400050" lvl="0" indent="-400050" algn="just" rtl="0">
              <a:lnSpc>
                <a:spcPct val="150000"/>
              </a:lnSpc>
              <a:spcBef>
                <a:spcPts val="360"/>
              </a:spcBef>
              <a:spcAft>
                <a:spcPts val="0"/>
              </a:spcAft>
              <a:buClr>
                <a:srgbClr val="3A30FA"/>
              </a:buClr>
              <a:buSzPts val="1800"/>
              <a:buFont typeface="Calibri"/>
              <a:buAutoNum type="romanLcPeriod" startAt="5"/>
            </a:pPr>
            <a:r>
              <a:rPr lang="en-US" sz="1800" b="1" i="0">
                <a:solidFill>
                  <a:srgbClr val="3A30FA"/>
                </a:solidFill>
              </a:rPr>
              <a:t>Fan-in (FIN). </a:t>
            </a:r>
            <a:r>
              <a:rPr lang="en-US" sz="1800" b="0" i="0">
                <a:solidFill>
                  <a:srgbClr val="242021"/>
                </a:solidFill>
              </a:rPr>
              <a:t>When used in the OO context, fan-in in the inheritance hierarchy is an indication of multiple inheritance. FIN &gt; 1 indicates that a class inherits its attributes and operations from more than one root class. FIN &gt; 1 should be avoided when possible.</a:t>
            </a:r>
            <a:r>
              <a:rPr lang="en-US" sz="1800"/>
              <a:t> </a:t>
            </a:r>
            <a:endParaRPr/>
          </a:p>
          <a:p>
            <a:pPr marL="400050" lvl="0" indent="-400050" algn="just" rtl="0">
              <a:lnSpc>
                <a:spcPct val="150000"/>
              </a:lnSpc>
              <a:spcBef>
                <a:spcPts val="360"/>
              </a:spcBef>
              <a:spcAft>
                <a:spcPts val="0"/>
              </a:spcAft>
              <a:buClr>
                <a:srgbClr val="3A30FA"/>
              </a:buClr>
              <a:buSzPts val="1800"/>
              <a:buFont typeface="Calibri"/>
              <a:buAutoNum type="romanLcPeriod" startAt="5"/>
            </a:pPr>
            <a:r>
              <a:rPr lang="en-US" sz="1800" b="1">
                <a:solidFill>
                  <a:srgbClr val="3A30FA"/>
                </a:solidFill>
              </a:rPr>
              <a:t>Depth of the inheritance tree (DIT). </a:t>
            </a:r>
            <a:r>
              <a:rPr lang="en-US" sz="1800" b="0" i="0">
                <a:solidFill>
                  <a:srgbClr val="242021"/>
                </a:solidFill>
              </a:rPr>
              <a:t>This metric is “</a:t>
            </a:r>
            <a:r>
              <a:rPr lang="en-US" sz="1800" b="0" i="1">
                <a:solidFill>
                  <a:srgbClr val="242021"/>
                </a:solidFill>
              </a:rPr>
              <a:t>the maximum length from the node to the root of the tree”</a:t>
            </a:r>
            <a:r>
              <a:rPr lang="en-US" sz="1800" b="0" i="0">
                <a:solidFill>
                  <a:srgbClr val="242021"/>
                </a:solidFill>
              </a:rPr>
              <a:t>. As DIT grows, it is likely that lower-level classes will inherit many methods</a:t>
            </a:r>
            <a:endParaRPr/>
          </a:p>
          <a:p>
            <a:pPr marL="400050" lvl="0" indent="-400050" algn="just" rtl="0">
              <a:lnSpc>
                <a:spcPct val="150000"/>
              </a:lnSpc>
              <a:spcBef>
                <a:spcPts val="360"/>
              </a:spcBef>
              <a:spcAft>
                <a:spcPts val="0"/>
              </a:spcAft>
              <a:buClr>
                <a:srgbClr val="3A30FA"/>
              </a:buClr>
              <a:buSzPts val="1800"/>
              <a:buFont typeface="Calibri"/>
              <a:buAutoNum type="romanLcPeriod" startAt="5"/>
            </a:pPr>
            <a:r>
              <a:rPr lang="en-US" sz="1800" b="1">
                <a:solidFill>
                  <a:srgbClr val="3A30FA"/>
                </a:solidFill>
              </a:rPr>
              <a:t>Number of children (NOC). </a:t>
            </a:r>
            <a:r>
              <a:rPr lang="en-US" sz="1800" b="0" i="0">
                <a:solidFill>
                  <a:srgbClr val="242021"/>
                </a:solidFill>
              </a:rPr>
              <a:t>The subclasses that are immediately subordinate to a class in the class hierarchy are termed its children. As the number of children grows, reuse increases, but also, as NOC increases, the amount of testing will also increase.</a:t>
            </a:r>
            <a:endParaRPr/>
          </a:p>
          <a:p>
            <a:pPr marL="342900" lvl="0" indent="-273050" algn="l" rtl="0">
              <a:spcBef>
                <a:spcPts val="220"/>
              </a:spcBef>
              <a:spcAft>
                <a:spcPts val="0"/>
              </a:spcAft>
              <a:buClr>
                <a:schemeClr val="dk1"/>
              </a:buClr>
              <a:buSzPts val="1100"/>
              <a:buNone/>
            </a:pPr>
            <a:endParaRPr sz="1100" b="0" i="0">
              <a:solidFill>
                <a:srgbClr val="242021"/>
              </a:solidFill>
            </a:endParaRPr>
          </a:p>
          <a:p>
            <a:pPr marL="342900" lvl="0" indent="-342900" algn="l" rtl="0">
              <a:spcBef>
                <a:spcPts val="280"/>
              </a:spcBef>
              <a:spcAft>
                <a:spcPts val="0"/>
              </a:spcAft>
              <a:buClr>
                <a:schemeClr val="dk1"/>
              </a:buClr>
              <a:buSzPts val="1100"/>
              <a:buChar char="•"/>
            </a:pPr>
            <a:r>
              <a:rPr lang="en-US" sz="1100"/>
              <a:t/>
            </a:r>
            <a:br>
              <a:rPr lang="en-US" sz="1100"/>
            </a:br>
            <a:r>
              <a:rPr lang="en-US" sz="1400"/>
              <a:t/>
            </a:r>
            <a:br>
              <a:rPr lang="en-US" sz="1400"/>
            </a:br>
            <a:endParaRPr sz="1800" b="0" i="0">
              <a:solidFill>
                <a:srgbClr val="242021"/>
              </a:solidFill>
            </a:endParaRPr>
          </a:p>
        </p:txBody>
      </p:sp>
    </p:spTree>
    <p:extLst>
      <p:ext uri="{BB962C8B-B14F-4D97-AF65-F5344CB8AC3E}">
        <p14:creationId xmlns:p14="http://schemas.microsoft.com/office/powerpoint/2010/main" val="13301705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6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dirty="0">
                <a:latin typeface="Times"/>
                <a:cs typeface="Times"/>
                <a:sym typeface="Times"/>
              </a:rPr>
              <a:t>Practice Questions</a:t>
            </a:r>
            <a:endParaRPr dirty="0"/>
          </a:p>
        </p:txBody>
      </p:sp>
      <p:sp>
        <p:nvSpPr>
          <p:cNvPr id="539" name="Google Shape;539;p6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72</a:t>
            </a:fld>
            <a:endParaRPr/>
          </a:p>
        </p:txBody>
      </p:sp>
      <p:sp>
        <p:nvSpPr>
          <p:cNvPr id="3" name="Text Placeholder 2">
            <a:extLst>
              <a:ext uri="{FF2B5EF4-FFF2-40B4-BE49-F238E27FC236}">
                <a16:creationId xmlns:a16="http://schemas.microsoft.com/office/drawing/2014/main" xmlns="" id="{0CD6347E-B7C7-113A-0B05-7E7BD93EFBAC}"/>
              </a:ext>
            </a:extLst>
          </p:cNvPr>
          <p:cNvSpPr>
            <a:spLocks noGrp="1"/>
          </p:cNvSpPr>
          <p:nvPr>
            <p:ph type="body" idx="1"/>
          </p:nvPr>
        </p:nvSpPr>
        <p:spPr>
          <a:xfrm>
            <a:off x="128587" y="1428750"/>
            <a:ext cx="8229600" cy="4525963"/>
          </a:xfrm>
        </p:spPr>
        <p:txBody>
          <a:bodyPr/>
          <a:lstStyle/>
          <a:p>
            <a:pPr marL="88900" indent="0">
              <a:buNone/>
            </a:pPr>
            <a:r>
              <a:rPr lang="en-US" sz="1600" dirty="0"/>
              <a:t>1. What are the four P’s of the management spectrum in software engineering?</a:t>
            </a:r>
          </a:p>
          <a:p>
            <a:pPr marL="88900" indent="0">
              <a:buNone/>
            </a:pPr>
            <a:r>
              <a:rPr lang="en-US" sz="1600" dirty="0"/>
              <a:t>a) Planning, People, Process, Product</a:t>
            </a:r>
            <a:br>
              <a:rPr lang="en-US" sz="1600" dirty="0"/>
            </a:br>
            <a:r>
              <a:rPr lang="en-US" sz="1600" dirty="0"/>
              <a:t>b) People, Process, Product, Project</a:t>
            </a:r>
            <a:br>
              <a:rPr lang="en-US" sz="1600" dirty="0"/>
            </a:br>
            <a:r>
              <a:rPr lang="en-US" sz="1600" dirty="0"/>
              <a:t>c) People, Planning, Performance, Process</a:t>
            </a:r>
            <a:br>
              <a:rPr lang="en-US" sz="1600" dirty="0"/>
            </a:br>
            <a:r>
              <a:rPr lang="en-US" sz="1600" dirty="0"/>
              <a:t>d) Project, Process, Productivity, People</a:t>
            </a:r>
          </a:p>
          <a:p>
            <a:pPr marL="88900" indent="0">
              <a:buNone/>
            </a:pPr>
            <a:r>
              <a:rPr lang="en-US" sz="1600" dirty="0"/>
              <a:t>Answer: b) People, Process, Product, Project</a:t>
            </a:r>
          </a:p>
          <a:p>
            <a:pPr marL="88900" indent="0">
              <a:buNone/>
            </a:pPr>
            <a:endParaRPr lang="en-US" sz="1600" dirty="0"/>
          </a:p>
          <a:p>
            <a:pPr marL="88900" indent="0">
              <a:buNone/>
            </a:pPr>
            <a:r>
              <a:rPr lang="en-US" sz="1600" dirty="0"/>
              <a:t>2. What is the main goal of software metrics?</a:t>
            </a:r>
          </a:p>
          <a:p>
            <a:pPr marL="88900" indent="0">
              <a:buNone/>
            </a:pPr>
            <a:r>
              <a:rPr lang="en-US" sz="1600" dirty="0"/>
              <a:t>a) To make programming languages easier to learn</a:t>
            </a:r>
            <a:br>
              <a:rPr lang="en-US" sz="1600" dirty="0"/>
            </a:br>
            <a:r>
              <a:rPr lang="en-US" sz="1600" dirty="0"/>
              <a:t>b) To improve software quality and process efficiency</a:t>
            </a:r>
            <a:br>
              <a:rPr lang="en-US" sz="1600" dirty="0"/>
            </a:br>
            <a:r>
              <a:rPr lang="en-US" sz="1600" dirty="0"/>
              <a:t>c) To increase hardware speed</a:t>
            </a:r>
            <a:br>
              <a:rPr lang="en-US" sz="1600" dirty="0"/>
            </a:br>
            <a:r>
              <a:rPr lang="en-US" sz="1600" dirty="0"/>
              <a:t>d) To reduce software costs only</a:t>
            </a:r>
          </a:p>
          <a:p>
            <a:pPr marL="88900" indent="0">
              <a:buNone/>
            </a:pPr>
            <a:r>
              <a:rPr lang="en-US" sz="1600" dirty="0"/>
              <a:t>Answer: b) To improve software </a:t>
            </a:r>
            <a:r>
              <a:rPr lang="en-US" sz="1600" dirty="0" err="1" smtClean="0"/>
              <a:t>qual</a:t>
            </a:r>
            <a:endParaRPr lang="en-US" sz="1600" dirty="0"/>
          </a:p>
          <a:p>
            <a:pPr marL="88900" indent="0">
              <a:buNone/>
            </a:pPr>
            <a:endParaRPr lang="en-US" sz="1600" dirty="0"/>
          </a:p>
          <a:p>
            <a:pPr marL="88900" indent="0">
              <a:buNone/>
            </a:pPr>
            <a:endParaRPr lang="en-US" sz="1600" dirty="0"/>
          </a:p>
          <a:p>
            <a:endParaRPr lang="en-IN" dirty="0"/>
          </a:p>
        </p:txBody>
      </p:sp>
      <p:sp>
        <p:nvSpPr>
          <p:cNvPr id="2" name="TextBox 1"/>
          <p:cNvSpPr txBox="1"/>
          <p:nvPr/>
        </p:nvSpPr>
        <p:spPr>
          <a:xfrm>
            <a:off x="1014413" y="2843213"/>
            <a:ext cx="3057525" cy="307777"/>
          </a:xfrm>
          <a:prstGeom prst="rect">
            <a:avLst/>
          </a:prstGeom>
          <a:solidFill>
            <a:schemeClr val="bg1"/>
          </a:solidFill>
        </p:spPr>
        <p:txBody>
          <a:bodyPr wrap="square" rtlCol="0">
            <a:spAutoFit/>
          </a:bodyPr>
          <a:lstStyle/>
          <a:p>
            <a:endParaRPr lang="en-IN" dirty="0">
              <a:noFill/>
            </a:endParaRPr>
          </a:p>
        </p:txBody>
      </p:sp>
      <p:sp>
        <p:nvSpPr>
          <p:cNvPr id="6" name="TextBox 5"/>
          <p:cNvSpPr txBox="1"/>
          <p:nvPr/>
        </p:nvSpPr>
        <p:spPr>
          <a:xfrm>
            <a:off x="1014412" y="4724400"/>
            <a:ext cx="3057525" cy="307777"/>
          </a:xfrm>
          <a:prstGeom prst="rect">
            <a:avLst/>
          </a:prstGeom>
          <a:solidFill>
            <a:schemeClr val="bg1"/>
          </a:solidFill>
        </p:spPr>
        <p:txBody>
          <a:bodyPr wrap="square" rtlCol="0">
            <a:spAutoFit/>
          </a:bodyPr>
          <a:lstStyle/>
          <a:p>
            <a:endParaRPr lang="en-IN" dirty="0">
              <a:noFill/>
            </a:endParaRPr>
          </a:p>
        </p:txBody>
      </p:sp>
    </p:spTree>
    <p:extLst>
      <p:ext uri="{BB962C8B-B14F-4D97-AF65-F5344CB8AC3E}">
        <p14:creationId xmlns:p14="http://schemas.microsoft.com/office/powerpoint/2010/main" val="239031101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6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dirty="0">
                <a:latin typeface="Times"/>
                <a:cs typeface="Times"/>
                <a:sym typeface="Times"/>
              </a:rPr>
              <a:t>Practice Questions</a:t>
            </a:r>
            <a:endParaRPr dirty="0"/>
          </a:p>
        </p:txBody>
      </p:sp>
      <p:sp>
        <p:nvSpPr>
          <p:cNvPr id="539" name="Google Shape;539;p6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73</a:t>
            </a:fld>
            <a:endParaRPr/>
          </a:p>
        </p:txBody>
      </p:sp>
      <p:sp>
        <p:nvSpPr>
          <p:cNvPr id="3" name="Text Placeholder 2">
            <a:extLst>
              <a:ext uri="{FF2B5EF4-FFF2-40B4-BE49-F238E27FC236}">
                <a16:creationId xmlns:a16="http://schemas.microsoft.com/office/drawing/2014/main" xmlns="" id="{0CD6347E-B7C7-113A-0B05-7E7BD93EFBAC}"/>
              </a:ext>
            </a:extLst>
          </p:cNvPr>
          <p:cNvSpPr>
            <a:spLocks noGrp="1"/>
          </p:cNvSpPr>
          <p:nvPr>
            <p:ph type="body" idx="1"/>
          </p:nvPr>
        </p:nvSpPr>
        <p:spPr>
          <a:xfrm>
            <a:off x="128587" y="1428750"/>
            <a:ext cx="8229600" cy="4525963"/>
          </a:xfrm>
        </p:spPr>
        <p:txBody>
          <a:bodyPr/>
          <a:lstStyle/>
          <a:p>
            <a:pPr marL="88900" indent="0">
              <a:buNone/>
            </a:pPr>
            <a:r>
              <a:rPr lang="en-US" sz="1600" dirty="0"/>
              <a:t>3. What does DRE (Defect Removal Efficiency) measure?</a:t>
            </a:r>
          </a:p>
          <a:p>
            <a:pPr marL="88900" indent="0">
              <a:buNone/>
            </a:pPr>
            <a:r>
              <a:rPr lang="en-US" sz="1600" dirty="0"/>
              <a:t>a) The number of users</a:t>
            </a:r>
            <a:br>
              <a:rPr lang="en-US" sz="1600" dirty="0"/>
            </a:br>
            <a:r>
              <a:rPr lang="en-US" sz="1600" dirty="0"/>
              <a:t>b) The speed of the software</a:t>
            </a:r>
            <a:br>
              <a:rPr lang="en-US" sz="1600" dirty="0"/>
            </a:br>
            <a:r>
              <a:rPr lang="en-US" sz="1600" dirty="0"/>
              <a:t>c) The ability to remove defects before delivery</a:t>
            </a:r>
            <a:br>
              <a:rPr lang="en-US" sz="1600" dirty="0"/>
            </a:br>
            <a:r>
              <a:rPr lang="en-US" sz="1600" dirty="0"/>
              <a:t>d) The cost of software development</a:t>
            </a:r>
          </a:p>
          <a:p>
            <a:pPr marL="88900" indent="0">
              <a:buNone/>
            </a:pPr>
            <a:r>
              <a:rPr lang="en-US" sz="1600" dirty="0"/>
              <a:t>Answer: c) The ability to remove defects before delivery</a:t>
            </a:r>
          </a:p>
          <a:p>
            <a:pPr marL="88900" indent="0">
              <a:buNone/>
            </a:pPr>
            <a:endParaRPr lang="en-US" sz="1600" dirty="0"/>
          </a:p>
          <a:p>
            <a:pPr marL="88900" indent="0">
              <a:buNone/>
            </a:pPr>
            <a:r>
              <a:rPr lang="en-US" sz="1600" dirty="0"/>
              <a:t>4. What is another name for "Problem Decomposition"?</a:t>
            </a:r>
          </a:p>
          <a:p>
            <a:pPr marL="88900" indent="0">
              <a:buNone/>
            </a:pPr>
            <a:r>
              <a:rPr lang="en-US" sz="1600" dirty="0"/>
              <a:t>a) Partitioning</a:t>
            </a:r>
            <a:br>
              <a:rPr lang="en-US" sz="1600" dirty="0"/>
            </a:br>
            <a:r>
              <a:rPr lang="en-US" sz="1600" dirty="0"/>
              <a:t>b) Integration</a:t>
            </a:r>
            <a:br>
              <a:rPr lang="en-US" sz="1600" dirty="0"/>
            </a:br>
            <a:r>
              <a:rPr lang="en-US" sz="1600" dirty="0"/>
              <a:t>c) Debugging</a:t>
            </a:r>
            <a:br>
              <a:rPr lang="en-US" sz="1600" dirty="0"/>
            </a:br>
            <a:r>
              <a:rPr lang="en-US" sz="1600" dirty="0"/>
              <a:t>d) Testing</a:t>
            </a:r>
          </a:p>
          <a:p>
            <a:pPr marL="88900" indent="0">
              <a:buNone/>
            </a:pPr>
            <a:r>
              <a:rPr lang="en-US" sz="1600" dirty="0"/>
              <a:t>Answer: a) Partitioning</a:t>
            </a:r>
          </a:p>
          <a:p>
            <a:pPr marL="88900" indent="0">
              <a:buNone/>
            </a:pPr>
            <a:endParaRPr lang="en-US" sz="1600" dirty="0"/>
          </a:p>
          <a:p>
            <a:pPr marL="88900" indent="0">
              <a:buNone/>
            </a:pPr>
            <a:endParaRPr lang="en-US" sz="1600" dirty="0"/>
          </a:p>
          <a:p>
            <a:endParaRPr lang="en-IN" dirty="0"/>
          </a:p>
        </p:txBody>
      </p:sp>
      <p:sp>
        <p:nvSpPr>
          <p:cNvPr id="5" name="TextBox 4"/>
          <p:cNvSpPr txBox="1"/>
          <p:nvPr/>
        </p:nvSpPr>
        <p:spPr>
          <a:xfrm>
            <a:off x="1014413" y="2843213"/>
            <a:ext cx="4014787" cy="257175"/>
          </a:xfrm>
          <a:prstGeom prst="rect">
            <a:avLst/>
          </a:prstGeom>
          <a:solidFill>
            <a:schemeClr val="bg1"/>
          </a:solidFill>
        </p:spPr>
        <p:txBody>
          <a:bodyPr wrap="square" rtlCol="0">
            <a:spAutoFit/>
          </a:bodyPr>
          <a:lstStyle/>
          <a:p>
            <a:endParaRPr lang="en-IN" dirty="0">
              <a:noFill/>
            </a:endParaRPr>
          </a:p>
        </p:txBody>
      </p:sp>
      <p:sp>
        <p:nvSpPr>
          <p:cNvPr id="6" name="TextBox 5"/>
          <p:cNvSpPr txBox="1"/>
          <p:nvPr/>
        </p:nvSpPr>
        <p:spPr>
          <a:xfrm>
            <a:off x="1014413" y="4757738"/>
            <a:ext cx="3057525" cy="307777"/>
          </a:xfrm>
          <a:prstGeom prst="rect">
            <a:avLst/>
          </a:prstGeom>
          <a:solidFill>
            <a:schemeClr val="bg1"/>
          </a:solidFill>
        </p:spPr>
        <p:txBody>
          <a:bodyPr wrap="square" rtlCol="0">
            <a:spAutoFit/>
          </a:bodyPr>
          <a:lstStyle/>
          <a:p>
            <a:endParaRPr lang="en-IN" dirty="0">
              <a:noFill/>
            </a:endParaRPr>
          </a:p>
        </p:txBody>
      </p:sp>
    </p:spTree>
    <p:extLst>
      <p:ext uri="{BB962C8B-B14F-4D97-AF65-F5344CB8AC3E}">
        <p14:creationId xmlns:p14="http://schemas.microsoft.com/office/powerpoint/2010/main" val="62685221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63500" algn="ctr" rtl="0">
              <a:spcBef>
                <a:spcPts val="0"/>
              </a:spcBef>
              <a:spcAft>
                <a:spcPts val="0"/>
              </a:spcAft>
              <a:buClr>
                <a:schemeClr val="dk1"/>
              </a:buClr>
              <a:buSzPts val="4400"/>
              <a:buNone/>
            </a:pPr>
            <a:endParaRPr sz="4400"/>
          </a:p>
          <a:p>
            <a:pPr marL="342900" lvl="0" indent="-63500" algn="ctr" rtl="0">
              <a:spcBef>
                <a:spcPts val="880"/>
              </a:spcBef>
              <a:spcAft>
                <a:spcPts val="0"/>
              </a:spcAft>
              <a:buClr>
                <a:schemeClr val="dk1"/>
              </a:buClr>
              <a:buSzPts val="4400"/>
              <a:buNone/>
            </a:pPr>
            <a:endParaRPr sz="4400"/>
          </a:p>
          <a:p>
            <a:pPr marL="0" lvl="0" indent="0" algn="ctr" rtl="0">
              <a:spcBef>
                <a:spcPts val="880"/>
              </a:spcBef>
              <a:spcAft>
                <a:spcPts val="0"/>
              </a:spcAft>
              <a:buClr>
                <a:schemeClr val="dk1"/>
              </a:buClr>
              <a:buSzPts val="4400"/>
              <a:buNone/>
            </a:pPr>
            <a:r>
              <a:rPr lang="en-US" sz="4400"/>
              <a:t>THANKS</a:t>
            </a:r>
            <a:endParaRPr/>
          </a:p>
        </p:txBody>
      </p:sp>
      <p:sp>
        <p:nvSpPr>
          <p:cNvPr id="546" name="Google Shape;546;p6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74</a:t>
            </a:fld>
            <a:endParaRPr/>
          </a:p>
        </p:txBody>
      </p:sp>
      <p:sp>
        <p:nvSpPr>
          <p:cNvPr id="547" name="Google Shape;547;p69"/>
          <p:cNvSpPr txBox="1">
            <a:spLocks noGrp="1"/>
          </p:cNvSpPr>
          <p:nvPr>
            <p:ph type="title"/>
          </p:nvPr>
        </p:nvSpPr>
        <p:spPr>
          <a:xfrm>
            <a:off x="0" y="0"/>
            <a:ext cx="6477000" cy="838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TotalTime>
  <Words>6319</Words>
  <Application>Microsoft Office PowerPoint</Application>
  <PresentationFormat>On-screen Show (4:3)</PresentationFormat>
  <Paragraphs>693</Paragraphs>
  <Slides>74</Slides>
  <Notes>74</Notes>
  <HiddenSlides>16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Noto Sans Symbols</vt:lpstr>
      <vt:lpstr>Times</vt:lpstr>
      <vt:lpstr>Times New Roman</vt:lpstr>
      <vt:lpstr>Office Theme</vt:lpstr>
      <vt:lpstr>PowerPoint Presentation</vt:lpstr>
      <vt:lpstr>Management Spectrum</vt:lpstr>
      <vt:lpstr>First P - People</vt:lpstr>
      <vt:lpstr>First P - People</vt:lpstr>
      <vt:lpstr>People - Stakeholders</vt:lpstr>
      <vt:lpstr>People – Team Leaders</vt:lpstr>
      <vt:lpstr>People – Software Team</vt:lpstr>
      <vt:lpstr>Second P - Product</vt:lpstr>
      <vt:lpstr>Product/Software Scope</vt:lpstr>
      <vt:lpstr>Problem Decomposition</vt:lpstr>
      <vt:lpstr>Third P - Process</vt:lpstr>
      <vt:lpstr>Third P – Process (contd.)</vt:lpstr>
      <vt:lpstr>Fourth P - Project</vt:lpstr>
      <vt:lpstr>Common Sense Approaches to Projects</vt:lpstr>
      <vt:lpstr>Common Sense Approaches to Projects</vt:lpstr>
      <vt:lpstr>PowerPoint Presentation</vt:lpstr>
      <vt:lpstr>Introduction</vt:lpstr>
      <vt:lpstr>Process Metrics and Software Process Improvement</vt:lpstr>
      <vt:lpstr>Process Metrics and Software Process Improvement (contd.)</vt:lpstr>
      <vt:lpstr>Process Metrics and Software Process Improvement (contd.)</vt:lpstr>
      <vt:lpstr>Process Metrics and Software Process Improvement (contd.)</vt:lpstr>
      <vt:lpstr>Process Metrics and Software Process Improvement (contd.)</vt:lpstr>
      <vt:lpstr>Process Metrics and Software Process Improvement (contd.)</vt:lpstr>
      <vt:lpstr>Project Metrics</vt:lpstr>
      <vt:lpstr>Project Metrics (contd.)</vt:lpstr>
      <vt:lpstr>Project Metrices (contd.)</vt:lpstr>
      <vt:lpstr>PowerPoint Presentation</vt:lpstr>
      <vt:lpstr>Measures of Software Quality</vt:lpstr>
      <vt:lpstr>Measures of Software Quality</vt:lpstr>
      <vt:lpstr>Measures of Software Quality</vt:lpstr>
      <vt:lpstr>Measures of Software Quality</vt:lpstr>
      <vt:lpstr>Measures of Software Quality</vt:lpstr>
      <vt:lpstr>Defect Removal Efficiency</vt:lpstr>
      <vt:lpstr>PowerPoint Presentation</vt:lpstr>
      <vt:lpstr>Measures, Metrics and Indicators</vt:lpstr>
      <vt:lpstr>Measurement Process</vt:lpstr>
      <vt:lpstr>Measurement Principles</vt:lpstr>
      <vt:lpstr>Goal Oriented Software Measurement</vt:lpstr>
      <vt:lpstr>Goal Oriented Software Measurement</vt:lpstr>
      <vt:lpstr>Attributes of Effective Software Metrics</vt:lpstr>
      <vt:lpstr>Attributes of Effective Software Metrics</vt:lpstr>
      <vt:lpstr>Metrics for Requirement Model</vt:lpstr>
      <vt:lpstr>Metrics for Requirement Model – Function Point (FP) Metrics</vt:lpstr>
      <vt:lpstr>Metrics for Requirement Model – Function Point (FP) Metrics</vt:lpstr>
      <vt:lpstr>Metrics for Requirement Model – Function Point (FP) Metrics</vt:lpstr>
      <vt:lpstr>Metrics for Requirement Model – Function Point (FP) Metrics</vt:lpstr>
      <vt:lpstr>Metrics for Requirement Model – Function Point (FP) Metrics</vt:lpstr>
      <vt:lpstr>Metrics for Requirement Model – Function Point (FP) Metrics</vt:lpstr>
      <vt:lpstr>Metrics for Requirement Model – Function Point (FP) Metrics</vt:lpstr>
      <vt:lpstr>Metrics for Requirement Model – Function Point (FP) Metrics</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Design Model</vt:lpstr>
      <vt:lpstr>Metrics for Testing</vt:lpstr>
      <vt:lpstr>Metrics for Testing</vt:lpstr>
      <vt:lpstr>Metrics for Testing</vt:lpstr>
      <vt:lpstr>Metrics for Testing</vt:lpstr>
      <vt:lpstr>Metrics for Testing</vt:lpstr>
      <vt:lpstr>Metrics for Testing</vt:lpstr>
      <vt:lpstr>Practice Questions</vt:lpstr>
      <vt:lpstr>Practice Questions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dell</cp:lastModifiedBy>
  <cp:revision>37</cp:revision>
  <dcterms:created xsi:type="dcterms:W3CDTF">2021-07-05T10:09:00Z</dcterms:created>
  <dcterms:modified xsi:type="dcterms:W3CDTF">2025-03-26T04:08:25Z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C66E8A929365439D9183C5235316B3C9</vt:lpwstr>
  </property>
</Properties>
</file>