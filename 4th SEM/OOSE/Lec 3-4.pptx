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6"/>
  </p:notesMasterIdLst>
  <p:sldIdLst>
    <p:sldId id="256" r:id="rId2"/>
    <p:sldId id="257" r:id="rId3"/>
    <p:sldId id="258" r:id="rId4"/>
    <p:sldId id="259" r:id="rId5"/>
    <p:sldId id="277" r:id="rId6"/>
    <p:sldId id="260" r:id="rId7"/>
    <p:sldId id="261" r:id="rId8"/>
    <p:sldId id="262" r:id="rId9"/>
    <p:sldId id="263" r:id="rId10"/>
    <p:sldId id="278" r:id="rId11"/>
    <p:sldId id="279" r:id="rId12"/>
    <p:sldId id="264" r:id="rId13"/>
    <p:sldId id="265" r:id="rId14"/>
    <p:sldId id="266" r:id="rId15"/>
    <p:sldId id="280" r:id="rId16"/>
    <p:sldId id="267" r:id="rId17"/>
    <p:sldId id="268" r:id="rId18"/>
    <p:sldId id="269" r:id="rId19"/>
    <p:sldId id="270" r:id="rId20"/>
    <p:sldId id="271" r:id="rId21"/>
    <p:sldId id="272" r:id="rId22"/>
    <p:sldId id="273" r:id="rId23"/>
    <p:sldId id="275" r:id="rId24"/>
    <p:sldId id="276" r:id="rId25"/>
  </p:sldIdLst>
  <p:sldSz cx="9144000" cy="6858000" type="screen4x3"/>
  <p:notesSz cx="7559675" cy="10691813"/>
  <p:embeddedFontLst>
    <p:embeddedFont>
      <p:font typeface="Inter" panose="020B0604020202020204" charset="0"/>
      <p:regular r:id="rId27"/>
      <p:bold r:id="rId28"/>
      <p:italic r:id="rId29"/>
      <p:boldItalic r:id="rId30"/>
    </p:embeddedFont>
    <p:embeddedFont>
      <p:font typeface="Times" panose="02020603050405020304" pitchFamily="18" charset="0"/>
      <p:regular r:id="rId31"/>
      <p:bold r:id="rId32"/>
      <p:italic r:id="rId33"/>
      <p:boldItalic r:id="rId3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5" roundtripDataSignature="AMtx7min+o6MrWA5LcsfYYTvIh9Syl154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498" y="3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7.fntdata"/><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6.fntdata"/><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2.fntdata"/><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1.fntdata"/><Relationship Id="rId30" Type="http://schemas.openxmlformats.org/officeDocument/2006/relationships/font" Target="fonts/font4.fntdata"/><Relationship Id="rId35" Type="http://customschemas.google.com/relationships/presentationmetadata" Target="metadata"/><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3276600" cy="536575"/>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4281488" y="0"/>
            <a:ext cx="3276600" cy="536575"/>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10155238"/>
            <a:ext cx="3276600" cy="536575"/>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6"/>
        <p:cNvGrpSpPr/>
        <p:nvPr/>
      </p:nvGrpSpPr>
      <p:grpSpPr>
        <a:xfrm>
          <a:off x="0" y="0"/>
          <a:ext cx="0" cy="0"/>
          <a:chOff x="0" y="0"/>
          <a:chExt cx="0" cy="0"/>
        </a:xfrm>
      </p:grpSpPr>
      <p:sp>
        <p:nvSpPr>
          <p:cNvPr id="87" name="Google Shape;87;p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8" name="Google Shape;88;p4: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4" name="Google Shape;94;p6: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7: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1" name="Google Shape;101;p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8: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a:extLst>
            <a:ext uri="{FF2B5EF4-FFF2-40B4-BE49-F238E27FC236}">
              <a16:creationId xmlns:a16="http://schemas.microsoft.com/office/drawing/2014/main" id="{4A38E212-2846-34E8-5FDA-AD7CD946606F}"/>
            </a:ext>
          </a:extLst>
        </p:cNvPr>
        <p:cNvGrpSpPr/>
        <p:nvPr/>
      </p:nvGrpSpPr>
      <p:grpSpPr>
        <a:xfrm>
          <a:off x="0" y="0"/>
          <a:ext cx="0" cy="0"/>
          <a:chOff x="0" y="0"/>
          <a:chExt cx="0" cy="0"/>
        </a:xfrm>
      </p:grpSpPr>
      <p:sp>
        <p:nvSpPr>
          <p:cNvPr id="106" name="Google Shape;106;p8:notes">
            <a:extLst>
              <a:ext uri="{FF2B5EF4-FFF2-40B4-BE49-F238E27FC236}">
                <a16:creationId xmlns:a16="http://schemas.microsoft.com/office/drawing/2014/main" id="{04AFBEDC-DD90-207D-EDA1-E3E939548138}"/>
              </a:ext>
            </a:extLst>
          </p:cNvPr>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7" name="Google Shape;107;p8:notes">
            <a:extLst>
              <a:ext uri="{FF2B5EF4-FFF2-40B4-BE49-F238E27FC236}">
                <a16:creationId xmlns:a16="http://schemas.microsoft.com/office/drawing/2014/main" id="{55AF5DB5-EDB6-1F77-0BC1-717969428F07}"/>
              </a:ext>
            </a:extLst>
          </p:cNvPr>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314696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9: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10: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3" name="Google Shape;123;p1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11: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0" name="Google Shape;130;p1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12: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1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8D7124F7-AC5D-C7B8-4C1F-18DBAC95C767}"/>
            </a:ext>
          </a:extLst>
        </p:cNvPr>
        <p:cNvGrpSpPr/>
        <p:nvPr/>
      </p:nvGrpSpPr>
      <p:grpSpPr>
        <a:xfrm>
          <a:off x="0" y="0"/>
          <a:ext cx="0" cy="0"/>
          <a:chOff x="0" y="0"/>
          <a:chExt cx="0" cy="0"/>
        </a:xfrm>
      </p:grpSpPr>
      <p:sp>
        <p:nvSpPr>
          <p:cNvPr id="135" name="Google Shape;135;p12:notes">
            <a:extLst>
              <a:ext uri="{FF2B5EF4-FFF2-40B4-BE49-F238E27FC236}">
                <a16:creationId xmlns:a16="http://schemas.microsoft.com/office/drawing/2014/main" id="{7DAEE3EA-0F8A-D2C8-AD5D-F7F271937510}"/>
              </a:ext>
            </a:extLst>
          </p:cNvPr>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12:notes">
            <a:extLst>
              <a:ext uri="{FF2B5EF4-FFF2-40B4-BE49-F238E27FC236}">
                <a16:creationId xmlns:a16="http://schemas.microsoft.com/office/drawing/2014/main" id="{253DFBF9-EBE1-978C-6B67-8A059A9617A5}"/>
              </a:ext>
            </a:extLst>
          </p:cNvPr>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5723397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a:extLst>
            <a:ext uri="{FF2B5EF4-FFF2-40B4-BE49-F238E27FC236}">
              <a16:creationId xmlns:a16="http://schemas.microsoft.com/office/drawing/2014/main" id="{A45B37AF-53F9-39B6-5C65-CD630D5A2B62}"/>
            </a:ext>
          </a:extLst>
        </p:cNvPr>
        <p:cNvGrpSpPr/>
        <p:nvPr/>
      </p:nvGrpSpPr>
      <p:grpSpPr>
        <a:xfrm>
          <a:off x="0" y="0"/>
          <a:ext cx="0" cy="0"/>
          <a:chOff x="0" y="0"/>
          <a:chExt cx="0" cy="0"/>
        </a:xfrm>
      </p:grpSpPr>
      <p:sp>
        <p:nvSpPr>
          <p:cNvPr id="135" name="Google Shape;135;p12:notes">
            <a:extLst>
              <a:ext uri="{FF2B5EF4-FFF2-40B4-BE49-F238E27FC236}">
                <a16:creationId xmlns:a16="http://schemas.microsoft.com/office/drawing/2014/main" id="{720F4583-6A93-AF1A-A1C9-613E86863D89}"/>
              </a:ext>
            </a:extLst>
          </p:cNvPr>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6" name="Google Shape;136;p12:notes">
            <a:extLst>
              <a:ext uri="{FF2B5EF4-FFF2-40B4-BE49-F238E27FC236}">
                <a16:creationId xmlns:a16="http://schemas.microsoft.com/office/drawing/2014/main" id="{53C416CD-2F0E-431B-0993-903C5CC112FA}"/>
              </a:ext>
            </a:extLst>
          </p:cNvPr>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9252604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p13: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4" name="Google Shape;144;p13: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14: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4: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p:cNvGrpSpPr/>
        <p:nvPr/>
      </p:nvGrpSpPr>
      <p:grpSpPr>
        <a:xfrm>
          <a:off x="0" y="0"/>
          <a:ext cx="0" cy="0"/>
          <a:chOff x="0" y="0"/>
          <a:chExt cx="0" cy="0"/>
        </a:xfrm>
      </p:grpSpPr>
      <p:sp>
        <p:nvSpPr>
          <p:cNvPr id="156" name="Google Shape;156;p15: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15: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a:t>Reference: https://www.google.co.in/search?q=waterfall+model+in+software+engineering&amp;source=lnms&amp;tbm=isch&amp;sa=X&amp;ved=0ahUKEwiw4fipo-feAhVygUsFHZtXA-UQ_AUIDygC&amp;biw=1366&amp;bih=657#imgrc=Vp6OG-z3LtobqM:</a:t>
            </a:r>
            <a:endParaRPr/>
          </a:p>
        </p:txBody>
      </p:sp>
      <p:sp>
        <p:nvSpPr>
          <p:cNvPr id="158" name="Google Shape;158;p15:notes"/>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
          <a:extLst>
            <a:ext uri="{FF2B5EF4-FFF2-40B4-BE49-F238E27FC236}">
              <a16:creationId xmlns:a16="http://schemas.microsoft.com/office/drawing/2014/main" id="{099BD826-D526-8D23-249E-06B80D01CCAB}"/>
            </a:ext>
          </a:extLst>
        </p:cNvPr>
        <p:cNvGrpSpPr/>
        <p:nvPr/>
      </p:nvGrpSpPr>
      <p:grpSpPr>
        <a:xfrm>
          <a:off x="0" y="0"/>
          <a:ext cx="0" cy="0"/>
          <a:chOff x="0" y="0"/>
          <a:chExt cx="0" cy="0"/>
        </a:xfrm>
      </p:grpSpPr>
      <p:sp>
        <p:nvSpPr>
          <p:cNvPr id="156" name="Google Shape;156;p15:notes">
            <a:extLst>
              <a:ext uri="{FF2B5EF4-FFF2-40B4-BE49-F238E27FC236}">
                <a16:creationId xmlns:a16="http://schemas.microsoft.com/office/drawing/2014/main" id="{C9B4DF08-B803-4619-8CA9-E408B5892520}"/>
              </a:ext>
            </a:extLst>
          </p:cNvPr>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7" name="Google Shape;157;p15:notes">
            <a:extLst>
              <a:ext uri="{FF2B5EF4-FFF2-40B4-BE49-F238E27FC236}">
                <a16:creationId xmlns:a16="http://schemas.microsoft.com/office/drawing/2014/main" id="{277935B7-501C-5C8D-DFB7-9AD4CDE51330}"/>
              </a:ext>
            </a:extLst>
          </p:cNvPr>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Clr>
                <a:srgbClr val="000000"/>
              </a:buClr>
              <a:buSzPts val="1400"/>
              <a:buFont typeface="Arial"/>
              <a:buNone/>
            </a:pPr>
            <a:r>
              <a:rPr lang="en-US"/>
              <a:t>Reference: https://www.google.co.in/search?q=waterfall+model+in+software+engineering&amp;source=lnms&amp;tbm=isch&amp;sa=X&amp;ved=0ahUKEwiw4fipo-feAhVygUsFHZtXA-UQ_AUIDygC&amp;biw=1366&amp;bih=657#imgrc=Vp6OG-z3LtobqM:</a:t>
            </a:r>
            <a:endParaRPr/>
          </a:p>
        </p:txBody>
      </p:sp>
      <p:sp>
        <p:nvSpPr>
          <p:cNvPr id="158" name="Google Shape;158;p15:notes">
            <a:extLst>
              <a:ext uri="{FF2B5EF4-FFF2-40B4-BE49-F238E27FC236}">
                <a16:creationId xmlns:a16="http://schemas.microsoft.com/office/drawing/2014/main" id="{35FD4A93-46FE-EB69-27F6-6DD74C138BFA}"/>
              </a:ext>
            </a:extLst>
          </p:cNvPr>
          <p:cNvSpPr txBox="1">
            <a:spLocks noGrp="1"/>
          </p:cNvSpPr>
          <p:nvPr>
            <p:ph type="sldNum" idx="12"/>
          </p:nvPr>
        </p:nvSpPr>
        <p:spPr>
          <a:xfrm>
            <a:off x="4281488" y="10155238"/>
            <a:ext cx="3276600" cy="536575"/>
          </a:xfrm>
          <a:prstGeom prst="rect">
            <a:avLst/>
          </a:prstGeom>
          <a:noFill/>
          <a:ln>
            <a:noFill/>
          </a:ln>
        </p:spPr>
        <p:txBody>
          <a:bodyPr spcFirstLastPara="1" wrap="square" lIns="91425" tIns="45700" rIns="91425" bIns="45700" anchor="b" anchorCtr="0">
            <a:noAutofit/>
          </a:bodyPr>
          <a:lstStyle/>
          <a:p>
            <a:pPr marL="0" lvl="0" indent="0" algn="l" rtl="0">
              <a:lnSpc>
                <a:spcPct val="100000"/>
              </a:lnSpc>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14834878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4"/>
        <p:cNvGrpSpPr/>
        <p:nvPr/>
      </p:nvGrpSpPr>
      <p:grpSpPr>
        <a:xfrm>
          <a:off x="0" y="0"/>
          <a:ext cx="0" cy="0"/>
          <a:chOff x="0" y="0"/>
          <a:chExt cx="0" cy="0"/>
        </a:xfrm>
      </p:grpSpPr>
      <p:sp>
        <p:nvSpPr>
          <p:cNvPr id="165" name="Google Shape;165;p16: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6" name="Google Shape;166;p16: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17: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2" name="Google Shape;172;p1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
        <p:cNvGrpSpPr/>
        <p:nvPr/>
      </p:nvGrpSpPr>
      <p:grpSpPr>
        <a:xfrm>
          <a:off x="0" y="0"/>
          <a:ext cx="0" cy="0"/>
          <a:chOff x="0" y="0"/>
          <a:chExt cx="0" cy="0"/>
        </a:xfrm>
      </p:grpSpPr>
      <p:sp>
        <p:nvSpPr>
          <p:cNvPr id="177" name="Google Shape;177;p18: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8" name="Google Shape;178;p18: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4"/>
        <p:cNvGrpSpPr/>
        <p:nvPr/>
      </p:nvGrpSpPr>
      <p:grpSpPr>
        <a:xfrm>
          <a:off x="0" y="0"/>
          <a:ext cx="0" cy="0"/>
          <a:chOff x="0" y="0"/>
          <a:chExt cx="0" cy="0"/>
        </a:xfrm>
      </p:grpSpPr>
      <p:sp>
        <p:nvSpPr>
          <p:cNvPr id="185" name="Google Shape;185;p19: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86" name="Google Shape;186;p19: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20: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4" name="Google Shape;194;p20: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21: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2" name="Google Shape;202;p2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p22: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22: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91:notes"/>
          <p:cNvSpPr txBox="1">
            <a:spLocks noGrp="1"/>
          </p:cNvSpPr>
          <p:nvPr>
            <p:ph type="body" idx="1"/>
          </p:nvPr>
        </p:nvSpPr>
        <p:spPr>
          <a:xfrm>
            <a:off x="755650" y="5145088"/>
            <a:ext cx="6048375" cy="421005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91: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27:notes"/>
          <p:cNvSpPr txBox="1">
            <a:spLocks noGrp="1"/>
          </p:cNvSpPr>
          <p:nvPr>
            <p:ph type="body" idx="1"/>
          </p:nvPr>
        </p:nvSpPr>
        <p:spPr>
          <a:xfrm>
            <a:off x="755650" y="5145088"/>
            <a:ext cx="6048375" cy="42100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2" name="Google Shape;232;p27:notes"/>
          <p:cNvSpPr>
            <a:spLocks noGrp="1" noRot="1" noChangeAspect="1"/>
          </p:cNvSpPr>
          <p:nvPr>
            <p:ph type="sldImg" idx="2"/>
          </p:nvPr>
        </p:nvSpPr>
        <p:spPr>
          <a:xfrm>
            <a:off x="1374775" y="1336675"/>
            <a:ext cx="4810125" cy="3608388"/>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Slide">
  <p:cSld name="Blank Slide">
    <p:spTree>
      <p:nvGrpSpPr>
        <p:cNvPr id="1" name="Shape 28"/>
        <p:cNvGrpSpPr/>
        <p:nvPr/>
      </p:nvGrpSpPr>
      <p:grpSpPr>
        <a:xfrm>
          <a:off x="0" y="0"/>
          <a:ext cx="0" cy="0"/>
          <a:chOff x="0" y="0"/>
          <a:chExt cx="0" cy="0"/>
        </a:xfrm>
      </p:grpSpPr>
      <p:sp>
        <p:nvSpPr>
          <p:cNvPr id="29" name="Google Shape;29;p29"/>
          <p:cNvSpPr txBox="1">
            <a:spLocks noGrp="1"/>
          </p:cNvSpPr>
          <p:nvPr>
            <p:ph type="ftr" idx="11"/>
          </p:nvPr>
        </p:nvSpPr>
        <p:spPr>
          <a:xfrm>
            <a:off x="457559" y="6356520"/>
            <a:ext cx="8499154"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solidFill>
                  <a:srgbClr val="0070C0"/>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Content" type="obj">
  <p:cSld name="OBJECT">
    <p:spTree>
      <p:nvGrpSpPr>
        <p:cNvPr id="1" name="Shape 30"/>
        <p:cNvGrpSpPr/>
        <p:nvPr/>
      </p:nvGrpSpPr>
      <p:grpSpPr>
        <a:xfrm>
          <a:off x="0" y="0"/>
          <a:ext cx="0" cy="0"/>
          <a:chOff x="0" y="0"/>
          <a:chExt cx="0" cy="0"/>
        </a:xfrm>
      </p:grpSpPr>
      <p:sp>
        <p:nvSpPr>
          <p:cNvPr id="31" name="Google Shape;31;p3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30"/>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30"/>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34"/>
        <p:cNvGrpSpPr/>
        <p:nvPr/>
      </p:nvGrpSpPr>
      <p:grpSpPr>
        <a:xfrm>
          <a:off x="0" y="0"/>
          <a:ext cx="0" cy="0"/>
          <a:chOff x="0" y="0"/>
          <a:chExt cx="0" cy="0"/>
        </a:xfrm>
      </p:grpSpPr>
      <p:sp>
        <p:nvSpPr>
          <p:cNvPr id="35" name="Google Shape;35;p32"/>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6" name="Google Shape;36;p32"/>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x">
  <p:cSld name="TITLE_AND_BODY">
    <p:spTree>
      <p:nvGrpSpPr>
        <p:cNvPr id="1" name="Shape 37"/>
        <p:cNvGrpSpPr/>
        <p:nvPr/>
      </p:nvGrpSpPr>
      <p:grpSpPr>
        <a:xfrm>
          <a:off x="0" y="0"/>
          <a:ext cx="0" cy="0"/>
          <a:chOff x="0" y="0"/>
          <a:chExt cx="0" cy="0"/>
        </a:xfrm>
      </p:grpSpPr>
      <p:sp>
        <p:nvSpPr>
          <p:cNvPr id="38" name="Google Shape;38;p33"/>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33"/>
          <p:cNvSpPr txBox="1">
            <a:spLocks noGrp="1"/>
          </p:cNvSpPr>
          <p:nvPr>
            <p:ph type="subTitle" idx="1"/>
          </p:nvPr>
        </p:nvSpPr>
        <p:spPr>
          <a:xfrm>
            <a:off x="457200" y="1604520"/>
            <a:ext cx="8229240" cy="3977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0" name="Google Shape;40;p33"/>
          <p:cNvSpPr txBox="1">
            <a:spLocks noGrp="1"/>
          </p:cNvSpPr>
          <p:nvPr>
            <p:ph type="ftr" idx="11"/>
          </p:nvPr>
        </p:nvSpPr>
        <p:spPr>
          <a:xfrm>
            <a:off x="457199" y="6356520"/>
            <a:ext cx="8229239"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1"/>
        <p:cNvGrpSpPr/>
        <p:nvPr/>
      </p:nvGrpSpPr>
      <p:grpSpPr>
        <a:xfrm>
          <a:off x="0" y="0"/>
          <a:ext cx="0" cy="0"/>
          <a:chOff x="0" y="0"/>
          <a:chExt cx="0" cy="0"/>
        </a:xfrm>
      </p:grpSpPr>
      <p:sp>
        <p:nvSpPr>
          <p:cNvPr id="42" name="Google Shape;42;p34"/>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34"/>
          <p:cNvSpPr txBox="1">
            <a:spLocks noGrp="1"/>
          </p:cNvSpPr>
          <p:nvPr>
            <p:ph type="ftr" idx="11"/>
          </p:nvPr>
        </p:nvSpPr>
        <p:spPr>
          <a:xfrm>
            <a:off x="352540" y="6356520"/>
            <a:ext cx="8361802" cy="36468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sz="1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entered Text">
  <p:cSld name="Centered Text">
    <p:spTree>
      <p:nvGrpSpPr>
        <p:cNvPr id="1" name="Shape 44"/>
        <p:cNvGrpSpPr/>
        <p:nvPr/>
      </p:nvGrpSpPr>
      <p:grpSpPr>
        <a:xfrm>
          <a:off x="0" y="0"/>
          <a:ext cx="0" cy="0"/>
          <a:chOff x="0" y="0"/>
          <a:chExt cx="0" cy="0"/>
        </a:xfrm>
      </p:grpSpPr>
      <p:sp>
        <p:nvSpPr>
          <p:cNvPr id="45" name="Google Shape;45;p35"/>
          <p:cNvSpPr txBox="1">
            <a:spLocks noGrp="1"/>
          </p:cNvSpPr>
          <p:nvPr>
            <p:ph type="subTitle" idx="1"/>
          </p:nvPr>
        </p:nvSpPr>
        <p:spPr>
          <a:xfrm>
            <a:off x="0" y="0"/>
            <a:ext cx="5486040" cy="4238280"/>
          </a:xfrm>
          <a:prstGeom prst="rect">
            <a:avLst/>
          </a:prstGeom>
          <a:noFill/>
          <a:ln>
            <a:noFill/>
          </a:ln>
        </p:spPr>
        <p:txBody>
          <a:bodyPr spcFirstLastPara="1" wrap="square" lIns="0" tIns="0" rIns="0" bIns="0" anchor="ctr" anchorCtr="0">
            <a:noAutofit/>
          </a:bodyPr>
          <a:lstStyle>
            <a:lvl1pPr lvl="0" algn="l">
              <a:lnSpc>
                <a:spcPct val="90000"/>
              </a:lnSpc>
              <a:spcBef>
                <a:spcPts val="1000"/>
              </a:spcBef>
              <a:spcAft>
                <a:spcPts val="0"/>
              </a:spcAft>
              <a:buClr>
                <a:schemeClr val="dk1"/>
              </a:buClr>
              <a:buSzPts val="1800"/>
              <a:buChar char="•"/>
              <a:defRPr/>
            </a:lvl1pPr>
            <a:lvl2pPr lvl="1" algn="l">
              <a:lnSpc>
                <a:spcPct val="90000"/>
              </a:lnSpc>
              <a:spcBef>
                <a:spcPts val="500"/>
              </a:spcBef>
              <a:spcAft>
                <a:spcPts val="0"/>
              </a:spcAft>
              <a:buClr>
                <a:schemeClr val="dk1"/>
              </a:buClr>
              <a:buSzPts val="1800"/>
              <a:buChar char="•"/>
              <a:defRPr/>
            </a:lvl2pPr>
            <a:lvl3pPr lvl="2" algn="l">
              <a:lnSpc>
                <a:spcPct val="90000"/>
              </a:lnSpc>
              <a:spcBef>
                <a:spcPts val="500"/>
              </a:spcBef>
              <a:spcAft>
                <a:spcPts val="0"/>
              </a:spcAft>
              <a:buClr>
                <a:schemeClr val="dk1"/>
              </a:buClr>
              <a:buSzPts val="1800"/>
              <a:buChar char="•"/>
              <a:defRPr/>
            </a:lvl3pPr>
            <a:lvl4pPr lvl="3" algn="l">
              <a:lnSpc>
                <a:spcPct val="90000"/>
              </a:lnSpc>
              <a:spcBef>
                <a:spcPts val="500"/>
              </a:spcBef>
              <a:spcAft>
                <a:spcPts val="0"/>
              </a:spcAft>
              <a:buClr>
                <a:schemeClr val="dk1"/>
              </a:buClr>
              <a:buSzPts val="1800"/>
              <a:buChar char="•"/>
              <a:defRPr/>
            </a:lvl4pPr>
            <a:lvl5pPr lvl="4" algn="l">
              <a:lnSpc>
                <a:spcPct val="90000"/>
              </a:lnSpc>
              <a:spcBef>
                <a:spcPts val="500"/>
              </a:spcBef>
              <a:spcAft>
                <a:spcPts val="0"/>
              </a:spcAft>
              <a:buClr>
                <a:schemeClr val="dk1"/>
              </a:buClr>
              <a:buSzPts val="1800"/>
              <a:buChar char="•"/>
              <a:defRPr/>
            </a:lvl5pPr>
            <a:lvl6pPr lvl="5" algn="l">
              <a:lnSpc>
                <a:spcPct val="90000"/>
              </a:lnSpc>
              <a:spcBef>
                <a:spcPts val="500"/>
              </a:spcBef>
              <a:spcAft>
                <a:spcPts val="0"/>
              </a:spcAft>
              <a:buClr>
                <a:schemeClr val="dk1"/>
              </a:buClr>
              <a:buSzPts val="1800"/>
              <a:buChar char="•"/>
              <a:defRPr/>
            </a:lvl6pPr>
            <a:lvl7pPr lvl="6" algn="l">
              <a:lnSpc>
                <a:spcPct val="90000"/>
              </a:lnSpc>
              <a:spcBef>
                <a:spcPts val="500"/>
              </a:spcBef>
              <a:spcAft>
                <a:spcPts val="0"/>
              </a:spcAft>
              <a:buClr>
                <a:schemeClr val="dk1"/>
              </a:buClr>
              <a:buSzPts val="1800"/>
              <a:buChar char="•"/>
              <a:defRPr/>
            </a:lvl7pPr>
            <a:lvl8pPr lvl="7" algn="l">
              <a:lnSpc>
                <a:spcPct val="90000"/>
              </a:lnSpc>
              <a:spcBef>
                <a:spcPts val="500"/>
              </a:spcBef>
              <a:spcAft>
                <a:spcPts val="0"/>
              </a:spcAft>
              <a:buClr>
                <a:schemeClr val="dk1"/>
              </a:buClr>
              <a:buSzPts val="1800"/>
              <a:buChar char="•"/>
              <a:defRPr/>
            </a:lvl8pPr>
            <a:lvl9pPr lvl="8" algn="l">
              <a:lnSpc>
                <a:spcPct val="90000"/>
              </a:lnSpc>
              <a:spcBef>
                <a:spcPts val="500"/>
              </a:spcBef>
              <a:spcAft>
                <a:spcPts val="0"/>
              </a:spcAft>
              <a:buClr>
                <a:schemeClr val="dk1"/>
              </a:buClr>
              <a:buSzPts val="1800"/>
              <a:buChar char="•"/>
              <a:defRPr/>
            </a:lvl9pPr>
          </a:lstStyle>
          <a:p>
            <a:endParaRPr/>
          </a:p>
        </p:txBody>
      </p:sp>
      <p:sp>
        <p:nvSpPr>
          <p:cNvPr id="46" name="Google Shape;46;p35"/>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2 Content and Content" type="twoObjAndObj">
  <p:cSld name="TWO_OBJECTS_AND_OBJECT">
    <p:spTree>
      <p:nvGrpSpPr>
        <p:cNvPr id="1" name="Shape 47"/>
        <p:cNvGrpSpPr/>
        <p:nvPr/>
      </p:nvGrpSpPr>
      <p:grpSpPr>
        <a:xfrm>
          <a:off x="0" y="0"/>
          <a:ext cx="0" cy="0"/>
          <a:chOff x="0" y="0"/>
          <a:chExt cx="0" cy="0"/>
        </a:xfrm>
      </p:grpSpPr>
      <p:sp>
        <p:nvSpPr>
          <p:cNvPr id="48" name="Google Shape;48;p3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36"/>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0" name="Google Shape;50;p36"/>
          <p:cNvSpPr txBox="1">
            <a:spLocks noGrp="1"/>
          </p:cNvSpPr>
          <p:nvPr>
            <p:ph type="body" idx="2"/>
          </p:nvPr>
        </p:nvSpPr>
        <p:spPr>
          <a:xfrm>
            <a:off x="467424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36"/>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36"/>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Content and 2 Content" type="objAndTwoObj">
  <p:cSld name="OBJECT_AND_TWO_OBJECTS">
    <p:spTree>
      <p:nvGrpSpPr>
        <p:cNvPr id="1" name="Shape 53"/>
        <p:cNvGrpSpPr/>
        <p:nvPr/>
      </p:nvGrpSpPr>
      <p:grpSpPr>
        <a:xfrm>
          <a:off x="0" y="0"/>
          <a:ext cx="0" cy="0"/>
          <a:chOff x="0" y="0"/>
          <a:chExt cx="0" cy="0"/>
        </a:xfrm>
      </p:grpSpPr>
      <p:sp>
        <p:nvSpPr>
          <p:cNvPr id="54" name="Google Shape;54;p3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37"/>
          <p:cNvSpPr txBox="1">
            <a:spLocks noGrp="1"/>
          </p:cNvSpPr>
          <p:nvPr>
            <p:ph type="body" idx="1"/>
          </p:nvPr>
        </p:nvSpPr>
        <p:spPr>
          <a:xfrm>
            <a:off x="457200" y="1604520"/>
            <a:ext cx="4015800" cy="397728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6" name="Google Shape;56;p37"/>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7" name="Google Shape;57;p37"/>
          <p:cNvSpPr txBox="1">
            <a:spLocks noGrp="1"/>
          </p:cNvSpPr>
          <p:nvPr>
            <p:ph type="body" idx="3"/>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8" name="Google Shape;58;p37"/>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2 Content over Content" type="twoObjOverTx">
  <p:cSld name="TWO_OBJECTS_OVER_TEXT">
    <p:spTree>
      <p:nvGrpSpPr>
        <p:cNvPr id="1" name="Shape 59"/>
        <p:cNvGrpSpPr/>
        <p:nvPr/>
      </p:nvGrpSpPr>
      <p:grpSpPr>
        <a:xfrm>
          <a:off x="0" y="0"/>
          <a:ext cx="0" cy="0"/>
          <a:chOff x="0" y="0"/>
          <a:chExt cx="0" cy="0"/>
        </a:xfrm>
      </p:grpSpPr>
      <p:sp>
        <p:nvSpPr>
          <p:cNvPr id="60" name="Google Shape;60;p3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1" name="Google Shape;61;p38"/>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2" name="Google Shape;62;p38"/>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3" name="Google Shape;63;p38"/>
          <p:cNvSpPr txBox="1">
            <a:spLocks noGrp="1"/>
          </p:cNvSpPr>
          <p:nvPr>
            <p:ph type="body" idx="3"/>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4" name="Google Shape;64;p3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Content over Content" type="objOverTx">
  <p:cSld name="OBJECT_OVER_TEXT">
    <p:spTree>
      <p:nvGrpSpPr>
        <p:cNvPr id="1" name="Shape 65"/>
        <p:cNvGrpSpPr/>
        <p:nvPr/>
      </p:nvGrpSpPr>
      <p:grpSpPr>
        <a:xfrm>
          <a:off x="0" y="0"/>
          <a:ext cx="0" cy="0"/>
          <a:chOff x="0" y="0"/>
          <a:chExt cx="0" cy="0"/>
        </a:xfrm>
      </p:grpSpPr>
      <p:sp>
        <p:nvSpPr>
          <p:cNvPr id="66" name="Google Shape;66;p3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39"/>
          <p:cNvSpPr txBox="1">
            <a:spLocks noGrp="1"/>
          </p:cNvSpPr>
          <p:nvPr>
            <p:ph type="body" idx="1"/>
          </p:nvPr>
        </p:nvSpPr>
        <p:spPr>
          <a:xfrm>
            <a:off x="457200" y="160452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8" name="Google Shape;68;p39"/>
          <p:cNvSpPr txBox="1">
            <a:spLocks noGrp="1"/>
          </p:cNvSpPr>
          <p:nvPr>
            <p:ph type="body" idx="2"/>
          </p:nvPr>
        </p:nvSpPr>
        <p:spPr>
          <a:xfrm>
            <a:off x="457200" y="3682080"/>
            <a:ext cx="822924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69" name="Google Shape;69;p39"/>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4 Content" type="fourObj">
  <p:cSld name="FOUR_OBJECTS">
    <p:spTree>
      <p:nvGrpSpPr>
        <p:cNvPr id="1" name="Shape 70"/>
        <p:cNvGrpSpPr/>
        <p:nvPr/>
      </p:nvGrpSpPr>
      <p:grpSpPr>
        <a:xfrm>
          <a:off x="0" y="0"/>
          <a:ext cx="0" cy="0"/>
          <a:chOff x="0" y="0"/>
          <a:chExt cx="0" cy="0"/>
        </a:xfrm>
      </p:grpSpPr>
      <p:sp>
        <p:nvSpPr>
          <p:cNvPr id="71" name="Google Shape;71;p4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40"/>
          <p:cNvSpPr txBox="1">
            <a:spLocks noGrp="1"/>
          </p:cNvSpPr>
          <p:nvPr>
            <p:ph type="body" idx="1"/>
          </p:nvPr>
        </p:nvSpPr>
        <p:spPr>
          <a:xfrm>
            <a:off x="45720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3" name="Google Shape;73;p40"/>
          <p:cNvSpPr txBox="1">
            <a:spLocks noGrp="1"/>
          </p:cNvSpPr>
          <p:nvPr>
            <p:ph type="body" idx="2"/>
          </p:nvPr>
        </p:nvSpPr>
        <p:spPr>
          <a:xfrm>
            <a:off x="4674240" y="160452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4" name="Google Shape;74;p40"/>
          <p:cNvSpPr txBox="1">
            <a:spLocks noGrp="1"/>
          </p:cNvSpPr>
          <p:nvPr>
            <p:ph type="body" idx="3"/>
          </p:nvPr>
        </p:nvSpPr>
        <p:spPr>
          <a:xfrm>
            <a:off x="45720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5" name="Google Shape;75;p40"/>
          <p:cNvSpPr txBox="1">
            <a:spLocks noGrp="1"/>
          </p:cNvSpPr>
          <p:nvPr>
            <p:ph type="body" idx="4"/>
          </p:nvPr>
        </p:nvSpPr>
        <p:spPr>
          <a:xfrm>
            <a:off x="4674240" y="3682080"/>
            <a:ext cx="40158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6" name="Google Shape;76;p40"/>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6 Content">
  <p:cSld name="BLANK 2">
    <p:spTree>
      <p:nvGrpSpPr>
        <p:cNvPr id="1" name="Shape 77"/>
        <p:cNvGrpSpPr/>
        <p:nvPr/>
      </p:nvGrpSpPr>
      <p:grpSpPr>
        <a:xfrm>
          <a:off x="0" y="0"/>
          <a:ext cx="0" cy="0"/>
          <a:chOff x="0" y="0"/>
          <a:chExt cx="0" cy="0"/>
        </a:xfrm>
      </p:grpSpPr>
      <p:sp>
        <p:nvSpPr>
          <p:cNvPr id="78" name="Google Shape;78;p4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41"/>
          <p:cNvSpPr txBox="1">
            <a:spLocks noGrp="1"/>
          </p:cNvSpPr>
          <p:nvPr>
            <p:ph type="body" idx="1"/>
          </p:nvPr>
        </p:nvSpPr>
        <p:spPr>
          <a:xfrm>
            <a:off x="45720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0" name="Google Shape;80;p41"/>
          <p:cNvSpPr txBox="1">
            <a:spLocks noGrp="1"/>
          </p:cNvSpPr>
          <p:nvPr>
            <p:ph type="body" idx="2"/>
          </p:nvPr>
        </p:nvSpPr>
        <p:spPr>
          <a:xfrm>
            <a:off x="323964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1" name="Google Shape;81;p41"/>
          <p:cNvSpPr txBox="1">
            <a:spLocks noGrp="1"/>
          </p:cNvSpPr>
          <p:nvPr>
            <p:ph type="body" idx="3"/>
          </p:nvPr>
        </p:nvSpPr>
        <p:spPr>
          <a:xfrm>
            <a:off x="6022080" y="160452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2" name="Google Shape;82;p41"/>
          <p:cNvSpPr txBox="1">
            <a:spLocks noGrp="1"/>
          </p:cNvSpPr>
          <p:nvPr>
            <p:ph type="body" idx="4"/>
          </p:nvPr>
        </p:nvSpPr>
        <p:spPr>
          <a:xfrm>
            <a:off x="45720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3" name="Google Shape;83;p41"/>
          <p:cNvSpPr txBox="1">
            <a:spLocks noGrp="1"/>
          </p:cNvSpPr>
          <p:nvPr>
            <p:ph type="body" idx="5"/>
          </p:nvPr>
        </p:nvSpPr>
        <p:spPr>
          <a:xfrm>
            <a:off x="323964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4" name="Google Shape;84;p41"/>
          <p:cNvSpPr txBox="1">
            <a:spLocks noGrp="1"/>
          </p:cNvSpPr>
          <p:nvPr>
            <p:ph type="body" idx="6"/>
          </p:nvPr>
        </p:nvSpPr>
        <p:spPr>
          <a:xfrm>
            <a:off x="6022080" y="3682080"/>
            <a:ext cx="2649600" cy="1896840"/>
          </a:xfrm>
          <a:prstGeom prst="rect">
            <a:avLst/>
          </a:prstGeom>
          <a:noFill/>
          <a:ln>
            <a:noFill/>
          </a:ln>
        </p:spPr>
        <p:txBody>
          <a:bodyPr spcFirstLastPara="1" wrap="square" lIns="0" tIns="0" rIns="0" bIns="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85" name="Google Shape;85;p41"/>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jp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9"/>
        <p:cNvGrpSpPr/>
        <p:nvPr/>
      </p:nvGrpSpPr>
      <p:grpSpPr>
        <a:xfrm>
          <a:off x="0" y="0"/>
          <a:ext cx="0" cy="0"/>
          <a:chOff x="0" y="0"/>
          <a:chExt cx="0" cy="0"/>
        </a:xfrm>
      </p:grpSpPr>
      <p:sp>
        <p:nvSpPr>
          <p:cNvPr id="10" name="Google Shape;10;p28"/>
          <p:cNvSpPr/>
          <p:nvPr/>
        </p:nvSpPr>
        <p:spPr>
          <a:xfrm>
            <a:off x="0" y="0"/>
            <a:ext cx="914364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 name="Google Shape;11;p28"/>
          <p:cNvSpPr/>
          <p:nvPr/>
        </p:nvSpPr>
        <p:spPr>
          <a:xfrm rot="10800000" flipH="1">
            <a:off x="0" y="6704640"/>
            <a:ext cx="9143640" cy="197640"/>
          </a:xfrm>
          <a:prstGeom prst="rect">
            <a:avLst/>
          </a:prstGeom>
          <a:solidFill>
            <a:srgbClr val="FF00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2" name="Google Shape;12;p28"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pic>
        <p:nvPicPr>
          <p:cNvPr id="13" name="Google Shape;13;p28"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grpSp>
        <p:nvGrpSpPr>
          <p:cNvPr id="14" name="Google Shape;14;p28"/>
          <p:cNvGrpSpPr/>
          <p:nvPr/>
        </p:nvGrpSpPr>
        <p:grpSpPr>
          <a:xfrm>
            <a:off x="6146640" y="0"/>
            <a:ext cx="2997000" cy="875880"/>
            <a:chOff x="6146640" y="0"/>
            <a:chExt cx="2997000" cy="875880"/>
          </a:xfrm>
        </p:grpSpPr>
        <p:sp>
          <p:nvSpPr>
            <p:cNvPr id="15" name="Google Shape;15;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 name="Google Shape;16;p28"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17" name="Google Shape;17;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18" name="Google Shape;18;p28" descr="logo.jpg"/>
          <p:cNvPicPr preferRelativeResize="0"/>
          <p:nvPr/>
        </p:nvPicPr>
        <p:blipFill rotWithShape="1">
          <a:blip r:embed="rId15">
            <a:alphaModFix/>
          </a:blip>
          <a:srcRect/>
          <a:stretch/>
        </p:blipFill>
        <p:spPr>
          <a:xfrm>
            <a:off x="6553080" y="228600"/>
            <a:ext cx="1920600" cy="609120"/>
          </a:xfrm>
          <a:prstGeom prst="rect">
            <a:avLst/>
          </a:prstGeom>
          <a:noFill/>
          <a:ln>
            <a:noFill/>
          </a:ln>
        </p:spPr>
      </p:pic>
      <p:pic>
        <p:nvPicPr>
          <p:cNvPr id="19" name="Google Shape;19;p28"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grpSp>
        <p:nvGrpSpPr>
          <p:cNvPr id="20" name="Google Shape;20;p28"/>
          <p:cNvGrpSpPr/>
          <p:nvPr/>
        </p:nvGrpSpPr>
        <p:grpSpPr>
          <a:xfrm>
            <a:off x="6146640" y="0"/>
            <a:ext cx="2997000" cy="875880"/>
            <a:chOff x="6146640" y="0"/>
            <a:chExt cx="2997000" cy="875880"/>
          </a:xfrm>
        </p:grpSpPr>
        <p:sp>
          <p:nvSpPr>
            <p:cNvPr id="21" name="Google Shape;21;p28"/>
            <p:cNvSpPr/>
            <p:nvPr/>
          </p:nvSpPr>
          <p:spPr>
            <a:xfrm>
              <a:off x="6146640" y="0"/>
              <a:ext cx="2997000" cy="837720"/>
            </a:xfrm>
            <a:prstGeom prst="rect">
              <a:avLst/>
            </a:prstGeom>
            <a:solidFill>
              <a:srgbClr val="FF3300"/>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2" name="Google Shape;22;p28" descr="LOGO.gif"/>
            <p:cNvPicPr preferRelativeResize="0"/>
            <p:nvPr/>
          </p:nvPicPr>
          <p:blipFill rotWithShape="1">
            <a:blip r:embed="rId14">
              <a:alphaModFix/>
            </a:blip>
            <a:srcRect b="10718"/>
            <a:stretch/>
          </p:blipFill>
          <p:spPr>
            <a:xfrm>
              <a:off x="6553080" y="228600"/>
              <a:ext cx="2057040" cy="634680"/>
            </a:xfrm>
            <a:prstGeom prst="rect">
              <a:avLst/>
            </a:prstGeom>
            <a:noFill/>
            <a:ln>
              <a:noFill/>
            </a:ln>
          </p:spPr>
        </p:pic>
        <p:sp>
          <p:nvSpPr>
            <p:cNvPr id="23" name="Google Shape;23;p28"/>
            <p:cNvSpPr/>
            <p:nvPr/>
          </p:nvSpPr>
          <p:spPr>
            <a:xfrm>
              <a:off x="6527880" y="190440"/>
              <a:ext cx="2076120" cy="685440"/>
            </a:xfrm>
            <a:prstGeom prst="rect">
              <a:avLst/>
            </a:prstGeom>
            <a:solidFill>
              <a:schemeClr val="l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pic>
        <p:nvPicPr>
          <p:cNvPr id="24" name="Google Shape;24;p28" descr="logo.jpg"/>
          <p:cNvPicPr preferRelativeResize="0"/>
          <p:nvPr/>
        </p:nvPicPr>
        <p:blipFill rotWithShape="1">
          <a:blip r:embed="rId15">
            <a:alphaModFix/>
          </a:blip>
          <a:srcRect/>
          <a:stretch/>
        </p:blipFill>
        <p:spPr>
          <a:xfrm>
            <a:off x="6553080" y="228600"/>
            <a:ext cx="1920600" cy="609120"/>
          </a:xfrm>
          <a:prstGeom prst="rect">
            <a:avLst/>
          </a:prstGeom>
          <a:noFill/>
          <a:ln>
            <a:noFill/>
          </a:ln>
        </p:spPr>
      </p:pic>
      <p:sp>
        <p:nvSpPr>
          <p:cNvPr id="25" name="Google Shape;25;p28"/>
          <p:cNvSpPr txBox="1">
            <a:spLocks noGrp="1"/>
          </p:cNvSpPr>
          <p:nvPr>
            <p:ph type="title"/>
          </p:nvPr>
        </p:nvSpPr>
        <p:spPr>
          <a:xfrm>
            <a:off x="0" y="0"/>
            <a:ext cx="6476760" cy="837720"/>
          </a:xfrm>
          <a:prstGeom prst="rect">
            <a:avLst/>
          </a:prstGeom>
          <a:noFill/>
          <a:ln>
            <a:noFill/>
          </a:ln>
        </p:spPr>
        <p:txBody>
          <a:bodyPr spcFirstLastPara="1" wrap="square" lIns="91425" tIns="45700" rIns="91425" bIns="45700" anchor="ctr" anchorCtr="0">
            <a:noAutofit/>
          </a:bodyPr>
          <a:lstStyle>
            <a:lvl1pPr marR="0" lvl="0" algn="l" rtl="0">
              <a:lnSpc>
                <a:spcPct val="90000"/>
              </a:lnSpc>
              <a:spcBef>
                <a:spcPts val="0"/>
              </a:spcBef>
              <a:spcAft>
                <a:spcPts val="0"/>
              </a:spcAft>
              <a:buClr>
                <a:schemeClr val="dk1"/>
              </a:buClr>
              <a:buSzPts val="2800"/>
              <a:buFont typeface="Times New Roman"/>
              <a:buNone/>
              <a:defRPr sz="2800" b="0" i="0" u="none" strike="noStrike" cap="none">
                <a:solidFill>
                  <a:schemeClr val="dk1"/>
                </a:solidFill>
                <a:latin typeface="Times New Roman"/>
                <a:ea typeface="Times New Roman"/>
                <a:cs typeface="Times New Roman"/>
                <a:sym typeface="Times New Roman"/>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26" name="Google Shape;26;p28"/>
          <p:cNvSpPr txBox="1">
            <a:spLocks noGrp="1"/>
          </p:cNvSpPr>
          <p:nvPr>
            <p:ph type="body" idx="1"/>
          </p:nvPr>
        </p:nvSpPr>
        <p:spPr>
          <a:xfrm>
            <a:off x="457200" y="1371600"/>
            <a:ext cx="8229240" cy="4525560"/>
          </a:xfrm>
          <a:prstGeom prst="rect">
            <a:avLst/>
          </a:prstGeom>
          <a:noFill/>
          <a:ln>
            <a:noFill/>
          </a:ln>
        </p:spPr>
        <p:txBody>
          <a:bodyPr spcFirstLastPara="1" wrap="square" lIns="91425" tIns="45700" rIns="91425" bIns="45700" anchor="t" anchorCtr="0">
            <a:noAutofit/>
          </a:bodyPr>
          <a:lstStyle>
            <a:lvl1pPr marL="457200" marR="0" lvl="0" indent="-330200" algn="l" rtl="0">
              <a:lnSpc>
                <a:spcPct val="90000"/>
              </a:lnSpc>
              <a:spcBef>
                <a:spcPts val="10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1pPr>
            <a:lvl2pPr marL="914400" marR="0" lvl="1" indent="-317500" algn="l" rtl="0">
              <a:lnSpc>
                <a:spcPct val="90000"/>
              </a:lnSpc>
              <a:spcBef>
                <a:spcPts val="5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04800" algn="l" rtl="0">
              <a:lnSpc>
                <a:spcPct val="90000"/>
              </a:lnSpc>
              <a:spcBef>
                <a:spcPts val="500"/>
              </a:spcBef>
              <a:spcAft>
                <a:spcPts val="0"/>
              </a:spcAft>
              <a:buClr>
                <a:schemeClr val="dk1"/>
              </a:buClr>
              <a:buSzPts val="1200"/>
              <a:buFont typeface="Arial"/>
              <a:buChar char="•"/>
              <a:defRPr sz="1200" b="0" i="0" u="none" strike="noStrike" cap="none">
                <a:solidFill>
                  <a:schemeClr val="dk1"/>
                </a:solidFill>
                <a:latin typeface="Arial"/>
                <a:ea typeface="Arial"/>
                <a:cs typeface="Arial"/>
                <a:sym typeface="Arial"/>
              </a:defRPr>
            </a:lvl4pPr>
            <a:lvl5pPr marL="2286000" marR="0" lvl="4" indent="-292100" algn="l" rtl="0">
              <a:lnSpc>
                <a:spcPct val="90000"/>
              </a:lnSpc>
              <a:spcBef>
                <a:spcPts val="500"/>
              </a:spcBef>
              <a:spcAft>
                <a:spcPts val="0"/>
              </a:spcAft>
              <a:buClr>
                <a:schemeClr val="dk1"/>
              </a:buClr>
              <a:buSzPts val="1000"/>
              <a:buFont typeface="Arial"/>
              <a:buChar char="•"/>
              <a:defRPr sz="10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27" name="Google Shape;27;p28"/>
          <p:cNvSpPr txBox="1">
            <a:spLocks noGrp="1"/>
          </p:cNvSpPr>
          <p:nvPr>
            <p:ph type="ftr" idx="11"/>
          </p:nvPr>
        </p:nvSpPr>
        <p:spPr>
          <a:xfrm>
            <a:off x="374573" y="6356350"/>
            <a:ext cx="8482988"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hyperlink" Target="https://www.tutorialspoint.com/software_engineering/" TargetMode="External"/><Relationship Id="rId7" Type="http://schemas.openxmlformats.org/officeDocument/2006/relationships/hyperlink" Target="https://www.geeksforgeeks.org/software-engineering-sdlc-v-model/" TargetMode="Externa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hyperlink" Target="https://www.geeksforgeeks.org/software-engineering-spiral-model/" TargetMode="External"/><Relationship Id="rId5" Type="http://schemas.openxmlformats.org/officeDocument/2006/relationships/hyperlink" Target="https://www.tutorialspoint.com/sdlc/sdlc_waterfall_model.htm" TargetMode="External"/><Relationship Id="rId4" Type="http://schemas.openxmlformats.org/officeDocument/2006/relationships/hyperlink" Target="https://courses.cs.vt.edu/csonline/SE/Lessons/Qualities/index.html" TargetMode="External"/></Relationships>
</file>

<file path=ppt/slides/_rels/slide24.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9"/>
        <p:cNvGrpSpPr/>
        <p:nvPr/>
      </p:nvGrpSpPr>
      <p:grpSpPr>
        <a:xfrm>
          <a:off x="0" y="0"/>
          <a:ext cx="0" cy="0"/>
          <a:chOff x="0" y="0"/>
          <a:chExt cx="0" cy="0"/>
        </a:xfrm>
      </p:grpSpPr>
      <p:sp>
        <p:nvSpPr>
          <p:cNvPr id="90" name="Google Shape;90;p4"/>
          <p:cNvSpPr txBox="1"/>
          <p:nvPr/>
        </p:nvSpPr>
        <p:spPr>
          <a:xfrm>
            <a:off x="947786" y="2932386"/>
            <a:ext cx="7564618" cy="2940513"/>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0000"/>
              </a:buClr>
              <a:buSzPts val="2000"/>
              <a:buFont typeface="Arial"/>
              <a:buNone/>
            </a:pPr>
            <a:endParaRPr sz="2000" b="1" i="0" u="none" strike="noStrike" cap="none" dirty="0">
              <a:solidFill>
                <a:schemeClr val="dk1"/>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r>
              <a:rPr lang="en-US" sz="2400" b="1" i="0" u="none" strike="noStrike" cap="none" dirty="0">
                <a:solidFill>
                  <a:srgbClr val="0070C0"/>
                </a:solidFill>
                <a:latin typeface="Times New Roman"/>
                <a:ea typeface="Times New Roman"/>
                <a:cs typeface="Times New Roman"/>
                <a:sym typeface="Times New Roman"/>
              </a:rPr>
              <a:t>Software Process and SDLC Models</a:t>
            </a:r>
            <a:endParaRPr dirty="0"/>
          </a:p>
          <a:p>
            <a:pPr marL="0" marR="0" lvl="0" indent="0" algn="ctr" rtl="0">
              <a:lnSpc>
                <a:spcPct val="100000"/>
              </a:lnSpc>
              <a:spcBef>
                <a:spcPts val="400"/>
              </a:spcBef>
              <a:spcAft>
                <a:spcPts val="0"/>
              </a:spcAft>
              <a:buClr>
                <a:srgbClr val="000000"/>
              </a:buClr>
              <a:buSzPts val="2000"/>
              <a:buFont typeface="Arial"/>
              <a:buNone/>
            </a:pPr>
            <a:r>
              <a:rPr lang="en-US" sz="2400" b="1" i="0" u="none" strike="noStrike" cap="none" dirty="0">
                <a:solidFill>
                  <a:srgbClr val="0070C0"/>
                </a:solidFill>
                <a:latin typeface="Times New Roman"/>
                <a:ea typeface="Times New Roman"/>
                <a:cs typeface="Times New Roman"/>
                <a:sym typeface="Times New Roman"/>
              </a:rPr>
              <a:t>Prepared by </a:t>
            </a:r>
            <a:endParaRPr dirty="0"/>
          </a:p>
          <a:p>
            <a:pPr marL="0" marR="0" lvl="0" indent="0" algn="ctr" rtl="0">
              <a:lnSpc>
                <a:spcPct val="100000"/>
              </a:lnSpc>
              <a:spcBef>
                <a:spcPts val="400"/>
              </a:spcBef>
              <a:spcAft>
                <a:spcPts val="0"/>
              </a:spcAft>
              <a:buClr>
                <a:srgbClr val="000000"/>
              </a:buClr>
              <a:buSzPts val="2000"/>
              <a:buFont typeface="Arial"/>
              <a:buNone/>
            </a:pPr>
            <a:r>
              <a:rPr lang="en-US" sz="2400" b="1" i="0" u="none" strike="noStrike" cap="none" dirty="0">
                <a:solidFill>
                  <a:srgbClr val="0070C0"/>
                </a:solidFill>
                <a:latin typeface="Times New Roman"/>
                <a:ea typeface="Times New Roman"/>
                <a:cs typeface="Times New Roman"/>
                <a:sym typeface="Times New Roman"/>
              </a:rPr>
              <a:t>Dr. Suvarna Sharma</a:t>
            </a:r>
            <a:endParaRPr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4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36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00000"/>
              </a:lnSpc>
              <a:spcBef>
                <a:spcPts val="400"/>
              </a:spcBef>
              <a:spcAft>
                <a:spcPts val="0"/>
              </a:spcAft>
              <a:buClr>
                <a:srgbClr val="000000"/>
              </a:buClr>
              <a:buSzPts val="2000"/>
              <a:buFont typeface="Arial"/>
              <a:buNone/>
            </a:pPr>
            <a:endParaRPr sz="2000" b="1" i="0" u="none" strike="noStrike" cap="none" dirty="0">
              <a:solidFill>
                <a:srgbClr val="0070C0"/>
              </a:solidFill>
              <a:latin typeface="Times New Roman"/>
              <a:ea typeface="Times New Roman"/>
              <a:cs typeface="Times New Roman"/>
              <a:sym typeface="Times New Roman"/>
            </a:endParaRPr>
          </a:p>
          <a:p>
            <a:pPr marL="0" marR="0" lvl="0" indent="0" algn="ctr" rtl="0">
              <a:lnSpc>
                <a:spcPct val="150000"/>
              </a:lnSpc>
              <a:spcBef>
                <a:spcPts val="400"/>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a:p>
            <a:pPr marL="0" marR="0" lvl="0" indent="0" algn="l" rtl="0">
              <a:lnSpc>
                <a:spcPct val="100000"/>
              </a:lnSpc>
              <a:spcBef>
                <a:spcPts val="641"/>
              </a:spcBef>
              <a:spcAft>
                <a:spcPts val="0"/>
              </a:spcAft>
              <a:buClr>
                <a:srgbClr val="000000"/>
              </a:buClr>
              <a:buSzPts val="2000"/>
              <a:buFont typeface="Arial"/>
              <a:buNone/>
            </a:pPr>
            <a:endParaRPr sz="2000" b="0" i="0" u="none" strike="noStrike" cap="none" dirty="0">
              <a:solidFill>
                <a:srgbClr val="000000"/>
              </a:solidFill>
              <a:latin typeface="Calibri"/>
              <a:ea typeface="Calibri"/>
              <a:cs typeface="Calibri"/>
              <a:sym typeface="Calibri"/>
            </a:endParaRPr>
          </a:p>
        </p:txBody>
      </p:sp>
      <p:sp>
        <p:nvSpPr>
          <p:cNvPr id="91" name="Google Shape;91;p4"/>
          <p:cNvSpPr txBox="1"/>
          <p:nvPr/>
        </p:nvSpPr>
        <p:spPr>
          <a:xfrm>
            <a:off x="1398799" y="2102069"/>
            <a:ext cx="6346401" cy="1436291"/>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2000"/>
              <a:buFont typeface="Arial"/>
              <a:buNone/>
            </a:pPr>
            <a:r>
              <a:rPr lang="en-US" sz="2800" b="1" i="0" u="none" strike="noStrike" cap="none">
                <a:solidFill>
                  <a:schemeClr val="dk1"/>
                </a:solidFill>
                <a:latin typeface="Times New Roman"/>
                <a:ea typeface="Times New Roman"/>
                <a:cs typeface="Times New Roman"/>
                <a:sym typeface="Times New Roman"/>
              </a:rPr>
              <a:t>Object Oriented Software Engineering (OOSE)</a:t>
            </a:r>
            <a:endParaRPr/>
          </a:p>
          <a:p>
            <a:pPr marL="0" marR="0" lvl="0" indent="0" algn="ctr" rtl="0">
              <a:lnSpc>
                <a:spcPct val="100000"/>
              </a:lnSpc>
              <a:spcBef>
                <a:spcPts val="400"/>
              </a:spcBef>
              <a:spcAft>
                <a:spcPts val="0"/>
              </a:spcAft>
              <a:buClr>
                <a:srgbClr val="000000"/>
              </a:buClr>
              <a:buSzPts val="2000"/>
              <a:buFont typeface="Arial"/>
              <a:buNone/>
            </a:pPr>
            <a:r>
              <a:rPr lang="en-US" sz="2800" b="1" i="0" u="none" strike="noStrike" cap="none">
                <a:solidFill>
                  <a:schemeClr val="dk1"/>
                </a:solidFill>
                <a:latin typeface="Times New Roman"/>
                <a:ea typeface="Times New Roman"/>
                <a:cs typeface="Times New Roman"/>
                <a:sym typeface="Times New Roman"/>
              </a:rPr>
              <a:t>22CS017</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5"/>
        <p:cNvGrpSpPr/>
        <p:nvPr/>
      </p:nvGrpSpPr>
      <p:grpSpPr>
        <a:xfrm>
          <a:off x="0" y="0"/>
          <a:ext cx="0" cy="0"/>
          <a:chOff x="0" y="0"/>
          <a:chExt cx="0" cy="0"/>
        </a:xfrm>
      </p:grpSpPr>
      <p:sp>
        <p:nvSpPr>
          <p:cNvPr id="96" name="Google Shape;96;p6"/>
          <p:cNvSpPr txBox="1"/>
          <p:nvPr/>
        </p:nvSpPr>
        <p:spPr>
          <a:xfrm>
            <a:off x="381786" y="292407"/>
            <a:ext cx="6019560" cy="89764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000"/>
              <a:buFont typeface="Arial"/>
              <a:buNone/>
            </a:pPr>
            <a:r>
              <a:rPr lang="en-US" sz="3200" b="1" i="0" u="none" strike="noStrike" cap="none">
                <a:solidFill>
                  <a:srgbClr val="000000"/>
                </a:solidFill>
                <a:latin typeface="Times New Roman"/>
                <a:ea typeface="Times New Roman"/>
                <a:cs typeface="Times New Roman"/>
                <a:sym typeface="Times New Roman"/>
              </a:rPr>
              <a:t>Index</a:t>
            </a:r>
            <a:endParaRPr/>
          </a:p>
          <a:p>
            <a:pPr marL="0" marR="0" lvl="0" indent="0" algn="l" rtl="0">
              <a:lnSpc>
                <a:spcPct val="100000"/>
              </a:lnSpc>
              <a:spcBef>
                <a:spcPts val="0"/>
              </a:spcBef>
              <a:spcAft>
                <a:spcPts val="0"/>
              </a:spcAft>
              <a:buClr>
                <a:srgbClr val="000000"/>
              </a:buClr>
              <a:buSzPts val="3000"/>
              <a:buFont typeface="Arial"/>
              <a:buNone/>
            </a:pPr>
            <a:endParaRPr sz="3200" b="0" i="0" u="none" strike="noStrike" cap="none">
              <a:solidFill>
                <a:srgbClr val="000000"/>
              </a:solidFill>
              <a:latin typeface="Arial"/>
              <a:ea typeface="Arial"/>
              <a:cs typeface="Arial"/>
              <a:sym typeface="Arial"/>
            </a:endParaRPr>
          </a:p>
        </p:txBody>
      </p:sp>
      <p:sp>
        <p:nvSpPr>
          <p:cNvPr id="97" name="Google Shape;97;p6"/>
          <p:cNvSpPr txBox="1"/>
          <p:nvPr/>
        </p:nvSpPr>
        <p:spPr>
          <a:xfrm>
            <a:off x="168990" y="963516"/>
            <a:ext cx="8838720" cy="4945966"/>
          </a:xfrm>
          <a:prstGeom prst="rect">
            <a:avLst/>
          </a:prstGeom>
          <a:noFill/>
          <a:ln>
            <a:noFill/>
          </a:ln>
        </p:spPr>
        <p:txBody>
          <a:bodyPr spcFirstLastPara="1" wrap="square" lIns="91425" tIns="45700" rIns="91425" bIns="45700" anchor="t" anchorCtr="0">
            <a:noAutofit/>
          </a:bodyPr>
          <a:lstStyle/>
          <a:p>
            <a:pPr marL="342900" marR="0" lvl="0" indent="-222250" algn="l" rtl="0">
              <a:lnSpc>
                <a:spcPct val="150000"/>
              </a:lnSpc>
              <a:spcBef>
                <a:spcPts val="0"/>
              </a:spcBef>
              <a:spcAft>
                <a:spcPts val="0"/>
              </a:spcAft>
              <a:buClr>
                <a:schemeClr val="dk1"/>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5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a:p>
            <a:pPr marL="0" marR="0" lvl="0" indent="0" algn="l" rtl="0">
              <a:lnSpc>
                <a:spcPct val="100000"/>
              </a:lnSpc>
              <a:spcBef>
                <a:spcPts val="400"/>
              </a:spcBef>
              <a:spcAft>
                <a:spcPts val="0"/>
              </a:spcAft>
              <a:buClr>
                <a:srgbClr val="000000"/>
              </a:buClr>
              <a:buSzPts val="1900"/>
              <a:buFont typeface="Arial"/>
              <a:buNone/>
            </a:pPr>
            <a:endParaRPr sz="1900" b="0" i="0" u="none" strike="noStrike" cap="none">
              <a:solidFill>
                <a:srgbClr val="000000"/>
              </a:solidFill>
              <a:latin typeface="Calibri"/>
              <a:ea typeface="Calibri"/>
              <a:cs typeface="Calibri"/>
              <a:sym typeface="Calibri"/>
            </a:endParaRPr>
          </a:p>
        </p:txBody>
      </p:sp>
      <p:sp>
        <p:nvSpPr>
          <p:cNvPr id="98" name="Google Shape;98;p6"/>
          <p:cNvSpPr txBox="1">
            <a:spLocks noGrp="1"/>
          </p:cNvSpPr>
          <p:nvPr>
            <p:ph type="body" idx="1"/>
          </p:nvPr>
        </p:nvSpPr>
        <p:spPr>
          <a:xfrm>
            <a:off x="675349" y="1633111"/>
            <a:ext cx="7826002" cy="4039737"/>
          </a:xfrm>
          <a:prstGeom prst="rect">
            <a:avLst/>
          </a:prstGeom>
          <a:noFill/>
          <a:ln>
            <a:noFill/>
          </a:ln>
        </p:spPr>
        <p:txBody>
          <a:bodyPr spcFirstLastPara="1" wrap="square" lIns="0" tIns="0" rIns="0" bIns="0" anchor="t" anchorCtr="0">
            <a:noAutofit/>
          </a:bodyPr>
          <a:lstStyle/>
          <a:p>
            <a:pPr marL="342900" lvl="0" indent="-342900" algn="l" rtl="0">
              <a:lnSpc>
                <a:spcPct val="150000"/>
              </a:lnSpc>
              <a:spcBef>
                <a:spcPts val="0"/>
              </a:spcBef>
              <a:spcAft>
                <a:spcPts val="0"/>
              </a:spcAft>
              <a:buSzPts val="2800"/>
              <a:buChar char="•"/>
            </a:pPr>
            <a:r>
              <a:rPr lang="en-US" sz="2000" b="1" i="0" u="none" strike="noStrike" cap="none" dirty="0">
                <a:solidFill>
                  <a:schemeClr val="dk1"/>
                </a:solidFill>
                <a:latin typeface="Times"/>
                <a:ea typeface="Times"/>
                <a:cs typeface="Times"/>
                <a:sym typeface="Times"/>
              </a:rPr>
              <a:t>Software Process</a:t>
            </a:r>
            <a:endParaRPr dirty="0"/>
          </a:p>
          <a:p>
            <a:pPr marL="342900" lvl="0" indent="-342900" algn="l" rtl="0">
              <a:lnSpc>
                <a:spcPct val="150000"/>
              </a:lnSpc>
              <a:spcBef>
                <a:spcPts val="0"/>
              </a:spcBef>
              <a:spcAft>
                <a:spcPts val="0"/>
              </a:spcAft>
              <a:buSzPts val="2800"/>
              <a:buChar char="•"/>
            </a:pPr>
            <a:r>
              <a:rPr lang="en-US" sz="2000" b="1" i="0" u="none" strike="noStrike" cap="none" dirty="0">
                <a:solidFill>
                  <a:schemeClr val="dk1"/>
                </a:solidFill>
                <a:latin typeface="Times"/>
                <a:ea typeface="Times"/>
                <a:cs typeface="Times"/>
                <a:sym typeface="Times"/>
              </a:rPr>
              <a:t>Software Process </a:t>
            </a:r>
            <a:r>
              <a:rPr lang="en-US" sz="2000" b="1" dirty="0">
                <a:latin typeface="Times"/>
                <a:ea typeface="Times"/>
                <a:cs typeface="Times"/>
                <a:sym typeface="Times"/>
              </a:rPr>
              <a:t>M</a:t>
            </a:r>
            <a:r>
              <a:rPr lang="en-US" sz="2000" b="1" i="0" u="none" strike="noStrike" cap="none" dirty="0">
                <a:solidFill>
                  <a:schemeClr val="dk1"/>
                </a:solidFill>
                <a:latin typeface="Times"/>
                <a:ea typeface="Times"/>
                <a:cs typeface="Times"/>
                <a:sym typeface="Times"/>
              </a:rPr>
              <a:t>odel</a:t>
            </a:r>
            <a:endParaRPr dirty="0"/>
          </a:p>
          <a:p>
            <a:pPr marL="342900" lvl="0" indent="-342900" algn="l" rtl="0">
              <a:lnSpc>
                <a:spcPct val="150000"/>
              </a:lnSpc>
              <a:spcBef>
                <a:spcPts val="0"/>
              </a:spcBef>
              <a:spcAft>
                <a:spcPts val="0"/>
              </a:spcAft>
              <a:buSzPts val="2800"/>
              <a:buChar char="•"/>
            </a:pPr>
            <a:r>
              <a:rPr lang="en-US" sz="2000" b="1" i="0" u="none" strike="noStrike" cap="none" dirty="0">
                <a:solidFill>
                  <a:schemeClr val="dk1"/>
                </a:solidFill>
                <a:latin typeface="Times"/>
                <a:ea typeface="Times"/>
                <a:cs typeface="Times"/>
                <a:sym typeface="Times"/>
              </a:rPr>
              <a:t>Need of Software Process </a:t>
            </a:r>
            <a:r>
              <a:rPr lang="en-US" sz="2000" b="1" dirty="0">
                <a:latin typeface="Times"/>
                <a:ea typeface="Times"/>
                <a:cs typeface="Times"/>
                <a:sym typeface="Times"/>
              </a:rPr>
              <a:t>M</a:t>
            </a:r>
            <a:r>
              <a:rPr lang="en-US" sz="2000" b="1" i="0" u="none" strike="noStrike" cap="none" dirty="0">
                <a:solidFill>
                  <a:schemeClr val="dk1"/>
                </a:solidFill>
                <a:latin typeface="Times"/>
                <a:ea typeface="Times"/>
                <a:cs typeface="Times"/>
                <a:sym typeface="Times"/>
              </a:rPr>
              <a:t>odel</a:t>
            </a:r>
            <a:endParaRPr dirty="0"/>
          </a:p>
          <a:p>
            <a:pPr marL="342900" lvl="0" indent="-342900" algn="l" rtl="0">
              <a:lnSpc>
                <a:spcPct val="150000"/>
              </a:lnSpc>
              <a:spcBef>
                <a:spcPts val="0"/>
              </a:spcBef>
              <a:spcAft>
                <a:spcPts val="0"/>
              </a:spcAft>
              <a:buSzPts val="2800"/>
              <a:buChar char="•"/>
            </a:pPr>
            <a:r>
              <a:rPr lang="en-US" sz="2000" b="1" i="0" dirty="0">
                <a:solidFill>
                  <a:schemeClr val="dk1"/>
                </a:solidFill>
                <a:latin typeface="Times"/>
                <a:ea typeface="Times"/>
                <a:cs typeface="Times"/>
                <a:sym typeface="Times"/>
              </a:rPr>
              <a:t>SDLC Model</a:t>
            </a:r>
            <a:endParaRPr dirty="0"/>
          </a:p>
          <a:p>
            <a:pPr marL="342900" lvl="0" indent="-342900" algn="l" rtl="0">
              <a:lnSpc>
                <a:spcPct val="150000"/>
              </a:lnSpc>
              <a:spcBef>
                <a:spcPts val="0"/>
              </a:spcBef>
              <a:spcAft>
                <a:spcPts val="0"/>
              </a:spcAft>
              <a:buSzPts val="2800"/>
              <a:buChar char="•"/>
            </a:pPr>
            <a:r>
              <a:rPr lang="en-US" sz="2000" b="1" i="0" dirty="0">
                <a:solidFill>
                  <a:schemeClr val="dk1"/>
                </a:solidFill>
                <a:latin typeface="Times"/>
                <a:ea typeface="Times"/>
                <a:cs typeface="Times"/>
                <a:sym typeface="Times"/>
              </a:rPr>
              <a:t>Types of SDLC Models</a:t>
            </a:r>
            <a:endParaRPr dirty="0"/>
          </a:p>
          <a:p>
            <a:pPr marL="342900" lvl="0" indent="-342900" algn="l" rtl="0">
              <a:lnSpc>
                <a:spcPct val="150000"/>
              </a:lnSpc>
              <a:spcBef>
                <a:spcPts val="0"/>
              </a:spcBef>
              <a:spcAft>
                <a:spcPts val="0"/>
              </a:spcAft>
              <a:buSzPts val="2800"/>
              <a:buChar char="•"/>
            </a:pPr>
            <a:r>
              <a:rPr lang="en-US" sz="2000" b="1" i="0" dirty="0">
                <a:solidFill>
                  <a:schemeClr val="dk1"/>
                </a:solidFill>
                <a:latin typeface="Times"/>
                <a:ea typeface="Times"/>
                <a:cs typeface="Times"/>
                <a:sym typeface="Times"/>
              </a:rPr>
              <a:t>Water Fall Model</a:t>
            </a:r>
            <a:endParaRPr dirty="0"/>
          </a:p>
          <a:p>
            <a:pPr marL="342900" lvl="0" indent="-342900" algn="l" rtl="0">
              <a:lnSpc>
                <a:spcPct val="150000"/>
              </a:lnSpc>
              <a:spcBef>
                <a:spcPts val="0"/>
              </a:spcBef>
              <a:spcAft>
                <a:spcPts val="0"/>
              </a:spcAft>
              <a:buSzPts val="2800"/>
              <a:buChar char="•"/>
            </a:pPr>
            <a:r>
              <a:rPr lang="en-US" sz="2000" b="1" dirty="0">
                <a:solidFill>
                  <a:schemeClr val="dk1"/>
                </a:solidFill>
                <a:latin typeface="Times"/>
                <a:ea typeface="Times"/>
                <a:cs typeface="Times"/>
                <a:sym typeface="Times"/>
              </a:rPr>
              <a:t>Practice Questions</a:t>
            </a:r>
            <a:endParaRPr dirty="0"/>
          </a:p>
          <a:p>
            <a:pPr marL="0" lvl="0" indent="0" algn="l" rtl="0">
              <a:lnSpc>
                <a:spcPct val="150000"/>
              </a:lnSpc>
              <a:spcBef>
                <a:spcPts val="0"/>
              </a:spcBef>
              <a:spcAft>
                <a:spcPts val="0"/>
              </a:spcAft>
              <a:buSzPts val="2800"/>
              <a:buNone/>
            </a:pPr>
            <a:r>
              <a:rPr lang="en-US" sz="2000" b="1" i="0" dirty="0">
                <a:solidFill>
                  <a:schemeClr val="dk1"/>
                </a:solidFill>
                <a:latin typeface="Times"/>
                <a:ea typeface="Times"/>
                <a:cs typeface="Times"/>
                <a:sym typeface="Times"/>
              </a:rPr>
              <a:t> </a:t>
            </a:r>
            <a:endParaRPr sz="2000" b="1" dirty="0">
              <a:solidFill>
                <a:schemeClr val="dk1"/>
              </a:solidFill>
              <a:latin typeface="Times"/>
              <a:ea typeface="Times"/>
              <a:cs typeface="Times"/>
              <a:sym typeface="Times"/>
            </a:endParaRPr>
          </a:p>
          <a:p>
            <a:pPr marL="342900" marR="0" lvl="0" indent="-165100" algn="l" rtl="0">
              <a:lnSpc>
                <a:spcPct val="150000"/>
              </a:lnSpc>
              <a:spcBef>
                <a:spcPts val="0"/>
              </a:spcBef>
              <a:spcAft>
                <a:spcPts val="0"/>
              </a:spcAft>
              <a:buClr>
                <a:schemeClr val="dk1"/>
              </a:buClr>
              <a:buSzPts val="2800"/>
              <a:buNone/>
            </a:pPr>
            <a:endParaRPr sz="1800" dirty="0">
              <a:latin typeface="Times New Roman"/>
              <a:ea typeface="Times New Roman"/>
              <a:cs typeface="Times New Roman"/>
              <a:sym typeface="Times New Roman"/>
            </a:endParaRPr>
          </a:p>
          <a:p>
            <a:pPr marL="342900" marR="0" lvl="0" indent="-165100" algn="l" rtl="0">
              <a:lnSpc>
                <a:spcPct val="150000"/>
              </a:lnSpc>
              <a:spcBef>
                <a:spcPts val="0"/>
              </a:spcBef>
              <a:spcAft>
                <a:spcPts val="0"/>
              </a:spcAft>
              <a:buClr>
                <a:schemeClr val="dk1"/>
              </a:buClr>
              <a:buSzPts val="2800"/>
              <a:buNone/>
            </a:pPr>
            <a:endParaRPr sz="1800" dirty="0">
              <a:latin typeface="Times New Roman"/>
              <a:ea typeface="Times New Roman"/>
              <a:cs typeface="Times New Roman"/>
              <a:sym typeface="Times New Roman"/>
            </a:endParaRPr>
          </a:p>
          <a:p>
            <a:pPr marL="342900" marR="0" lvl="0" indent="-165100" algn="l" rtl="0">
              <a:lnSpc>
                <a:spcPct val="150000"/>
              </a:lnSpc>
              <a:spcBef>
                <a:spcPts val="0"/>
              </a:spcBef>
              <a:spcAft>
                <a:spcPts val="0"/>
              </a:spcAft>
              <a:buClr>
                <a:schemeClr val="dk1"/>
              </a:buClr>
              <a:buSzPts val="2800"/>
              <a:buNone/>
            </a:pPr>
            <a:endParaRPr sz="1600" dirty="0">
              <a:latin typeface="Times"/>
              <a:ea typeface="Times"/>
              <a:cs typeface="Times"/>
              <a:sym typeface="Times"/>
            </a:endParaRPr>
          </a:p>
          <a:p>
            <a:pPr marL="342900" marR="0" lvl="0" indent="-165100" algn="l" rtl="0">
              <a:lnSpc>
                <a:spcPct val="150000"/>
              </a:lnSpc>
              <a:spcBef>
                <a:spcPts val="0"/>
              </a:spcBef>
              <a:spcAft>
                <a:spcPts val="0"/>
              </a:spcAft>
              <a:buClr>
                <a:schemeClr val="dk1"/>
              </a:buClr>
              <a:buSzPts val="2800"/>
              <a:buFont typeface="Times New Roman"/>
              <a:buNone/>
            </a:pPr>
            <a:endParaRPr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7"/>
          <p:cNvSpPr txBox="1">
            <a:spLocks noGrp="1"/>
          </p:cNvSpPr>
          <p:nvPr>
            <p:ph type="title"/>
          </p:nvPr>
        </p:nvSpPr>
        <p:spPr>
          <a:xfrm>
            <a:off x="45720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3600" b="1"/>
              <a:t>Software Process</a:t>
            </a:r>
            <a:endParaRPr/>
          </a:p>
        </p:txBody>
      </p:sp>
      <p:sp>
        <p:nvSpPr>
          <p:cNvPr id="104" name="Google Shape;104;p7"/>
          <p:cNvSpPr txBox="1">
            <a:spLocks noGrp="1"/>
          </p:cNvSpPr>
          <p:nvPr>
            <p:ph type="body" idx="1"/>
          </p:nvPr>
        </p:nvSpPr>
        <p:spPr>
          <a:xfrm>
            <a:off x="457200" y="1157288"/>
            <a:ext cx="8229240" cy="4424512"/>
          </a:xfrm>
          <a:prstGeom prst="rect">
            <a:avLst/>
          </a:prstGeom>
          <a:noFill/>
          <a:ln>
            <a:noFill/>
          </a:ln>
        </p:spPr>
        <p:txBody>
          <a:bodyPr spcFirstLastPara="1" wrap="square" lIns="0" tIns="0" rIns="0" bIns="0" anchor="t" anchorCtr="0">
            <a:normAutofit/>
          </a:bodyPr>
          <a:lstStyle/>
          <a:p>
            <a:pPr marL="114300" lvl="0" indent="0" algn="just" rtl="0">
              <a:lnSpc>
                <a:spcPct val="90000"/>
              </a:lnSpc>
              <a:spcBef>
                <a:spcPts val="1000"/>
              </a:spcBef>
              <a:spcAft>
                <a:spcPts val="0"/>
              </a:spcAft>
              <a:buSzPts val="1800"/>
              <a:buNone/>
            </a:pPr>
            <a:r>
              <a:rPr lang="en-US" sz="3200" b="1" i="0" dirty="0">
                <a:solidFill>
                  <a:schemeClr val="dk1"/>
                </a:solidFill>
                <a:latin typeface="Times"/>
                <a:ea typeface="Times"/>
                <a:cs typeface="Times"/>
                <a:sym typeface="Times"/>
              </a:rPr>
              <a:t>What is software process?</a:t>
            </a:r>
            <a:endParaRPr dirty="0"/>
          </a:p>
          <a:p>
            <a:pPr marL="114300" lvl="0" indent="0" algn="just" rtl="0">
              <a:lnSpc>
                <a:spcPct val="90000"/>
              </a:lnSpc>
              <a:spcBef>
                <a:spcPts val="1000"/>
              </a:spcBef>
              <a:spcAft>
                <a:spcPts val="0"/>
              </a:spcAft>
              <a:buSzPts val="1800"/>
              <a:buNone/>
            </a:pPr>
            <a:endParaRPr sz="1800" b="0" i="0" dirty="0">
              <a:solidFill>
                <a:srgbClr val="333333"/>
              </a:solidFill>
              <a:latin typeface="Times"/>
              <a:ea typeface="Times"/>
              <a:cs typeface="Times"/>
              <a:sym typeface="Times"/>
            </a:endParaRPr>
          </a:p>
          <a:p>
            <a:pPr marL="114300" lvl="0" indent="0" algn="just" rtl="0">
              <a:lnSpc>
                <a:spcPct val="90000"/>
              </a:lnSpc>
              <a:spcBef>
                <a:spcPts val="1000"/>
              </a:spcBef>
              <a:spcAft>
                <a:spcPts val="0"/>
              </a:spcAft>
              <a:buSzPts val="1800"/>
              <a:buNone/>
            </a:pPr>
            <a:r>
              <a:rPr lang="en-US" sz="1800" b="0" i="0" dirty="0">
                <a:solidFill>
                  <a:srgbClr val="333333"/>
                </a:solidFill>
                <a:latin typeface="Times"/>
                <a:ea typeface="Times"/>
                <a:cs typeface="Times"/>
                <a:sym typeface="Times"/>
              </a:rPr>
              <a:t>A software process is the set of activities and associated outcome that produce a software product. Software engineers mostly carry out these activities. These are four key process activities, which are common to all software processes. These activities are:</a:t>
            </a:r>
          </a:p>
          <a:p>
            <a:pPr marL="114300" lvl="0" indent="0" algn="just" rtl="0">
              <a:lnSpc>
                <a:spcPct val="90000"/>
              </a:lnSpc>
              <a:spcBef>
                <a:spcPts val="1000"/>
              </a:spcBef>
              <a:spcAft>
                <a:spcPts val="0"/>
              </a:spcAft>
              <a:buSzPts val="1800"/>
              <a:buNone/>
            </a:pPr>
            <a:endParaRPr dirty="0"/>
          </a:p>
          <a:p>
            <a:pPr marL="457200" lvl="0" indent="-342900" algn="just" rtl="0">
              <a:lnSpc>
                <a:spcPct val="90000"/>
              </a:lnSpc>
              <a:spcBef>
                <a:spcPts val="1000"/>
              </a:spcBef>
              <a:spcAft>
                <a:spcPts val="0"/>
              </a:spcAft>
              <a:buSzPts val="1800"/>
              <a:buFont typeface="Arial"/>
              <a:buAutoNum type="arabicPeriod"/>
            </a:pPr>
            <a:r>
              <a:rPr lang="en-US" sz="1800" b="1" i="0" dirty="0">
                <a:solidFill>
                  <a:srgbClr val="000000"/>
                </a:solidFill>
                <a:latin typeface="Times"/>
                <a:ea typeface="Times"/>
                <a:cs typeface="Times"/>
                <a:sym typeface="Times"/>
              </a:rPr>
              <a:t>Software specifications:</a:t>
            </a:r>
            <a:r>
              <a:rPr lang="en-US" sz="1800" b="0" i="0" dirty="0">
                <a:solidFill>
                  <a:srgbClr val="000000"/>
                </a:solidFill>
                <a:latin typeface="Times"/>
                <a:ea typeface="Times"/>
                <a:cs typeface="Times"/>
                <a:sym typeface="Times"/>
              </a:rPr>
              <a:t> The functionality of the software and constraints on its operation must be defined.</a:t>
            </a:r>
            <a:endParaRPr dirty="0"/>
          </a:p>
          <a:p>
            <a:pPr marL="457200" lvl="0" indent="-342900" algn="just" rtl="0">
              <a:lnSpc>
                <a:spcPct val="90000"/>
              </a:lnSpc>
              <a:spcBef>
                <a:spcPts val="1000"/>
              </a:spcBef>
              <a:spcAft>
                <a:spcPts val="0"/>
              </a:spcAft>
              <a:buSzPts val="1800"/>
              <a:buFont typeface="Arial"/>
              <a:buAutoNum type="arabicPeriod"/>
            </a:pPr>
            <a:r>
              <a:rPr lang="en-US" sz="1800" b="1" i="0" dirty="0">
                <a:solidFill>
                  <a:srgbClr val="000000"/>
                </a:solidFill>
                <a:latin typeface="Times"/>
                <a:ea typeface="Times"/>
                <a:cs typeface="Times"/>
                <a:sym typeface="Times"/>
              </a:rPr>
              <a:t>Software development:</a:t>
            </a:r>
            <a:r>
              <a:rPr lang="en-US" sz="1800" b="0" i="0" dirty="0">
                <a:solidFill>
                  <a:srgbClr val="000000"/>
                </a:solidFill>
                <a:latin typeface="Times"/>
                <a:ea typeface="Times"/>
                <a:cs typeface="Times"/>
                <a:sym typeface="Times"/>
              </a:rPr>
              <a:t> The software to meet the requirement must be produced.</a:t>
            </a:r>
            <a:endParaRPr dirty="0"/>
          </a:p>
          <a:p>
            <a:pPr marL="457200" lvl="0" indent="-342900" algn="just" rtl="0">
              <a:lnSpc>
                <a:spcPct val="90000"/>
              </a:lnSpc>
              <a:spcBef>
                <a:spcPts val="1000"/>
              </a:spcBef>
              <a:spcAft>
                <a:spcPts val="0"/>
              </a:spcAft>
              <a:buSzPts val="1800"/>
              <a:buFont typeface="Arial"/>
              <a:buAutoNum type="arabicPeriod"/>
            </a:pPr>
            <a:r>
              <a:rPr lang="en-US" sz="1800" b="1" i="0" dirty="0">
                <a:solidFill>
                  <a:srgbClr val="000000"/>
                </a:solidFill>
                <a:latin typeface="Times"/>
                <a:ea typeface="Times"/>
                <a:cs typeface="Times"/>
                <a:sym typeface="Times"/>
              </a:rPr>
              <a:t>Software validation:</a:t>
            </a:r>
            <a:r>
              <a:rPr lang="en-US" sz="1800" b="0" i="0" dirty="0">
                <a:solidFill>
                  <a:srgbClr val="000000"/>
                </a:solidFill>
                <a:latin typeface="Times"/>
                <a:ea typeface="Times"/>
                <a:cs typeface="Times"/>
                <a:sym typeface="Times"/>
              </a:rPr>
              <a:t> The software must be validated to ensure that it does what the customer wants.</a:t>
            </a:r>
            <a:endParaRPr dirty="0"/>
          </a:p>
          <a:p>
            <a:pPr marL="457200" lvl="0" indent="-342900" algn="just" rtl="0">
              <a:lnSpc>
                <a:spcPct val="90000"/>
              </a:lnSpc>
              <a:spcBef>
                <a:spcPts val="1000"/>
              </a:spcBef>
              <a:spcAft>
                <a:spcPts val="0"/>
              </a:spcAft>
              <a:buSzPts val="1800"/>
              <a:buFont typeface="Arial"/>
              <a:buAutoNum type="arabicPeriod"/>
            </a:pPr>
            <a:r>
              <a:rPr lang="en-US" sz="1800" b="1" i="0" dirty="0">
                <a:solidFill>
                  <a:srgbClr val="000000"/>
                </a:solidFill>
                <a:latin typeface="Times"/>
                <a:ea typeface="Times"/>
                <a:cs typeface="Times"/>
                <a:sym typeface="Times"/>
              </a:rPr>
              <a:t>Software evolution:</a:t>
            </a:r>
            <a:r>
              <a:rPr lang="en-US" sz="1800" b="0" i="0" dirty="0">
                <a:solidFill>
                  <a:srgbClr val="000000"/>
                </a:solidFill>
                <a:latin typeface="Times"/>
                <a:ea typeface="Times"/>
                <a:cs typeface="Times"/>
                <a:sym typeface="Times"/>
              </a:rPr>
              <a:t> The software must evolve to meet changing client needs.</a:t>
            </a:r>
            <a:endParaRPr dirty="0"/>
          </a:p>
          <a:p>
            <a:pPr marL="457200" lvl="0" indent="-228600" algn="l" rtl="0">
              <a:lnSpc>
                <a:spcPct val="90000"/>
              </a:lnSpc>
              <a:spcBef>
                <a:spcPts val="1000"/>
              </a:spcBef>
              <a:spcAft>
                <a:spcPts val="0"/>
              </a:spcAft>
              <a:buClr>
                <a:schemeClr val="dk1"/>
              </a:buClr>
              <a:buSzPts val="1800"/>
              <a:buNone/>
            </a:pPr>
            <a:endParaRPr sz="1800" dirty="0">
              <a:latin typeface="Times"/>
              <a:ea typeface="Times"/>
              <a:cs typeface="Times"/>
              <a:sym typeface="Time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b="1">
                <a:latin typeface="Times New Roman"/>
                <a:ea typeface="Times New Roman"/>
                <a:cs typeface="Times New Roman"/>
                <a:sym typeface="Times New Roman"/>
              </a:rPr>
              <a:t>Software Process Models</a:t>
            </a:r>
            <a:endParaRPr>
              <a:latin typeface="Times New Roman"/>
              <a:ea typeface="Times New Roman"/>
              <a:cs typeface="Times New Roman"/>
              <a:sym typeface="Times New Roman"/>
            </a:endParaRPr>
          </a:p>
        </p:txBody>
      </p:sp>
      <p:sp>
        <p:nvSpPr>
          <p:cNvPr id="111" name="Google Shape;111;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dirty="0">
                <a:solidFill>
                  <a:schemeClr val="lt1"/>
                </a:solidFill>
                <a:latin typeface="Arial"/>
                <a:ea typeface="Arial"/>
                <a:cs typeface="Arial"/>
                <a:sym typeface="Arial"/>
              </a:rPr>
              <a:t>30-11-2024</a:t>
            </a:r>
            <a:endParaRPr sz="1200" b="0" i="0" u="none" strike="noStrike" cap="none" dirty="0">
              <a:solidFill>
                <a:schemeClr val="lt1"/>
              </a:solidFill>
              <a:latin typeface="Arial"/>
              <a:ea typeface="Arial"/>
              <a:cs typeface="Arial"/>
              <a:sym typeface="Arial"/>
            </a:endParaRPr>
          </a:p>
        </p:txBody>
      </p:sp>
      <p:sp>
        <p:nvSpPr>
          <p:cNvPr id="112" name="Google Shape;112;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a:ea typeface="Arial"/>
                <a:cs typeface="Arial"/>
                <a:sym typeface="Arial"/>
              </a:rPr>
              <a:t>4</a:t>
            </a:fld>
            <a:endParaRPr sz="1200" b="0" i="0" u="none" strike="noStrike" cap="none">
              <a:solidFill>
                <a:schemeClr val="lt1"/>
              </a:solidFill>
              <a:latin typeface="Arial"/>
              <a:ea typeface="Arial"/>
              <a:cs typeface="Arial"/>
              <a:sym typeface="Arial"/>
            </a:endParaRPr>
          </a:p>
        </p:txBody>
      </p:sp>
      <p:sp>
        <p:nvSpPr>
          <p:cNvPr id="3" name="Text Placeholder 2">
            <a:extLst>
              <a:ext uri="{FF2B5EF4-FFF2-40B4-BE49-F238E27FC236}">
                <a16:creationId xmlns:a16="http://schemas.microsoft.com/office/drawing/2014/main" id="{227E3594-B2AB-A3BC-4469-A8BA868C1175}"/>
              </a:ext>
            </a:extLst>
          </p:cNvPr>
          <p:cNvSpPr>
            <a:spLocks noGrp="1"/>
          </p:cNvSpPr>
          <p:nvPr>
            <p:ph type="body" idx="1"/>
          </p:nvPr>
        </p:nvSpPr>
        <p:spPr>
          <a:xfrm>
            <a:off x="589174" y="1336664"/>
            <a:ext cx="8021425" cy="4809611"/>
          </a:xfrm>
        </p:spPr>
        <p:txBody>
          <a:bodyPr>
            <a:normAutofit/>
          </a:bodyPr>
          <a:lstStyle/>
          <a:p>
            <a:pPr marL="114300" indent="0" algn="just">
              <a:buNone/>
            </a:pPr>
            <a:r>
              <a:rPr lang="en-US" sz="1800" dirty="0">
                <a:latin typeface="Times" panose="02020603050405020304" pitchFamily="18" charset="0"/>
                <a:cs typeface="Times" panose="02020603050405020304" pitchFamily="18" charset="0"/>
              </a:rPr>
              <a:t>A software process model is an abstraction of the software development process. The models specify the stages and order of a process. So, think of this as a representation of the order of activities of the process and the sequence in which they are performed.</a:t>
            </a:r>
          </a:p>
          <a:p>
            <a:pPr marL="114300" indent="0" algn="just">
              <a:buNone/>
            </a:pPr>
            <a:endParaRPr lang="en-US" sz="1800" dirty="0">
              <a:latin typeface="Times" panose="02020603050405020304" pitchFamily="18" charset="0"/>
              <a:cs typeface="Times" panose="02020603050405020304" pitchFamily="18" charset="0"/>
            </a:endParaRPr>
          </a:p>
          <a:p>
            <a:pPr marL="114300" indent="0" algn="just">
              <a:buNone/>
            </a:pPr>
            <a:r>
              <a:rPr lang="en-US" sz="1800" dirty="0">
                <a:latin typeface="Times" panose="02020603050405020304" pitchFamily="18" charset="0"/>
                <a:cs typeface="Times" panose="02020603050405020304" pitchFamily="18" charset="0"/>
              </a:rPr>
              <a:t>A model will define the following:</a:t>
            </a:r>
          </a:p>
          <a:p>
            <a:pPr marL="114300" indent="0" algn="just">
              <a:buNone/>
            </a:pPr>
            <a:endParaRPr lang="en-US" sz="1800" dirty="0">
              <a:latin typeface="Times" panose="02020603050405020304" pitchFamily="18" charset="0"/>
              <a:cs typeface="Times" panose="02020603050405020304" pitchFamily="18" charset="0"/>
            </a:endParaRPr>
          </a:p>
          <a:p>
            <a:pPr algn="just"/>
            <a:r>
              <a:rPr lang="en-US" sz="1800" dirty="0">
                <a:latin typeface="Times" panose="02020603050405020304" pitchFamily="18" charset="0"/>
                <a:cs typeface="Times" panose="02020603050405020304" pitchFamily="18" charset="0"/>
              </a:rPr>
              <a:t>The tasks to be performed</a:t>
            </a:r>
          </a:p>
          <a:p>
            <a:pPr algn="just"/>
            <a:r>
              <a:rPr lang="en-US" sz="1800" dirty="0">
                <a:latin typeface="Times" panose="02020603050405020304" pitchFamily="18" charset="0"/>
                <a:cs typeface="Times" panose="02020603050405020304" pitchFamily="18" charset="0"/>
              </a:rPr>
              <a:t>The input and output of each task</a:t>
            </a:r>
          </a:p>
          <a:p>
            <a:pPr algn="just"/>
            <a:r>
              <a:rPr lang="en-US" sz="1800" dirty="0">
                <a:latin typeface="Times" panose="02020603050405020304" pitchFamily="18" charset="0"/>
                <a:cs typeface="Times" panose="02020603050405020304" pitchFamily="18" charset="0"/>
              </a:rPr>
              <a:t>The pre and post-conditions for each task</a:t>
            </a:r>
          </a:p>
          <a:p>
            <a:pPr algn="just"/>
            <a:r>
              <a:rPr lang="en-US" sz="1800" dirty="0">
                <a:latin typeface="Times" panose="02020603050405020304" pitchFamily="18" charset="0"/>
                <a:cs typeface="Times" panose="02020603050405020304" pitchFamily="18" charset="0"/>
              </a:rPr>
              <a:t>The flow and sequence of each task</a:t>
            </a:r>
          </a:p>
          <a:p>
            <a:pPr marL="114300" indent="0" algn="just">
              <a:buNone/>
            </a:pPr>
            <a:endParaRPr lang="en-US" sz="1800" dirty="0">
              <a:latin typeface="Times" panose="02020603050405020304" pitchFamily="18" charset="0"/>
              <a:cs typeface="Times" panose="02020603050405020304" pitchFamily="18" charset="0"/>
            </a:endParaRPr>
          </a:p>
          <a:p>
            <a:pPr marL="114300" indent="0" algn="just">
              <a:buNone/>
            </a:pPr>
            <a:r>
              <a:rPr lang="en-US" sz="1800" dirty="0">
                <a:latin typeface="Times" panose="02020603050405020304" pitchFamily="18" charset="0"/>
                <a:cs typeface="Times" panose="02020603050405020304" pitchFamily="18" charset="0"/>
              </a:rPr>
              <a:t>The goal of a software process model is to provide guidance for controlling and coordinating the tasks to achieve the end product and objectives as effectively as possible.</a:t>
            </a:r>
            <a:endParaRPr lang="en-IN" sz="1800" dirty="0">
              <a:latin typeface="Times" panose="02020603050405020304" pitchFamily="18" charset="0"/>
              <a:cs typeface="Times"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8">
          <a:extLst>
            <a:ext uri="{FF2B5EF4-FFF2-40B4-BE49-F238E27FC236}">
              <a16:creationId xmlns:a16="http://schemas.microsoft.com/office/drawing/2014/main" id="{84768FCA-9E22-DB1E-B94E-6D484BACEE06}"/>
            </a:ext>
          </a:extLst>
        </p:cNvPr>
        <p:cNvGrpSpPr/>
        <p:nvPr/>
      </p:nvGrpSpPr>
      <p:grpSpPr>
        <a:xfrm>
          <a:off x="0" y="0"/>
          <a:ext cx="0" cy="0"/>
          <a:chOff x="0" y="0"/>
          <a:chExt cx="0" cy="0"/>
        </a:xfrm>
      </p:grpSpPr>
      <p:sp>
        <p:nvSpPr>
          <p:cNvPr id="109" name="Google Shape;109;p8">
            <a:extLst>
              <a:ext uri="{FF2B5EF4-FFF2-40B4-BE49-F238E27FC236}">
                <a16:creationId xmlns:a16="http://schemas.microsoft.com/office/drawing/2014/main" id="{E4294ACC-CABC-E6FC-F1E3-58D1FB108A4F}"/>
              </a:ext>
            </a:extLst>
          </p:cNvPr>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b="1">
                <a:latin typeface="Times New Roman"/>
                <a:ea typeface="Times New Roman"/>
                <a:cs typeface="Times New Roman"/>
                <a:sym typeface="Times New Roman"/>
              </a:rPr>
              <a:t>Software Process Models</a:t>
            </a:r>
            <a:endParaRPr>
              <a:latin typeface="Times New Roman"/>
              <a:ea typeface="Times New Roman"/>
              <a:cs typeface="Times New Roman"/>
              <a:sym typeface="Times New Roman"/>
            </a:endParaRPr>
          </a:p>
        </p:txBody>
      </p:sp>
      <p:sp>
        <p:nvSpPr>
          <p:cNvPr id="110" name="Google Shape;110;p8">
            <a:extLst>
              <a:ext uri="{FF2B5EF4-FFF2-40B4-BE49-F238E27FC236}">
                <a16:creationId xmlns:a16="http://schemas.microsoft.com/office/drawing/2014/main" id="{9D2D7C04-38C3-FED1-70FD-094C76A35583}"/>
              </a:ext>
            </a:extLst>
          </p:cNvPr>
          <p:cNvSpPr txBox="1">
            <a:spLocks noGrp="1"/>
          </p:cNvSpPr>
          <p:nvPr>
            <p:ph type="body" idx="1"/>
          </p:nvPr>
        </p:nvSpPr>
        <p:spPr>
          <a:xfrm>
            <a:off x="487247" y="1359493"/>
            <a:ext cx="8014795" cy="4551404"/>
          </a:xfrm>
          <a:prstGeom prst="rect">
            <a:avLst/>
          </a:prstGeom>
          <a:noFill/>
          <a:ln>
            <a:noFill/>
          </a:ln>
        </p:spPr>
        <p:txBody>
          <a:bodyPr spcFirstLastPara="1" wrap="square" lIns="0" tIns="0" rIns="0" bIns="0" anchor="t" anchorCtr="0">
            <a:normAutofit fontScale="25000" lnSpcReduction="20000"/>
          </a:bodyPr>
          <a:lstStyle/>
          <a:p>
            <a:pPr marL="114300" lvl="0" indent="0" algn="just" rtl="0">
              <a:lnSpc>
                <a:spcPct val="120000"/>
              </a:lnSpc>
              <a:spcBef>
                <a:spcPts val="1000"/>
              </a:spcBef>
              <a:spcAft>
                <a:spcPts val="0"/>
              </a:spcAft>
              <a:buSzPct val="100000"/>
              <a:buNone/>
            </a:pPr>
            <a:r>
              <a:rPr lang="en-US" sz="7200" b="0" i="0" dirty="0">
                <a:solidFill>
                  <a:srgbClr val="333333"/>
                </a:solidFill>
                <a:latin typeface="Times"/>
                <a:ea typeface="Times"/>
                <a:cs typeface="Times"/>
                <a:sym typeface="Times"/>
              </a:rPr>
              <a:t>A software process model is a specified definition of a software process, which is presented from a particular perspective. Models, by their nature, are a simplification, so a software process model is an abstraction of the actual process, which is being described. Process models may contain activities, which are part of the software process, software product, and the roles of people involved in software engineering. </a:t>
            </a:r>
            <a:endParaRPr dirty="0"/>
          </a:p>
          <a:p>
            <a:pPr marL="457200" lvl="0" indent="-342900" algn="just" rtl="0">
              <a:lnSpc>
                <a:spcPct val="120000"/>
              </a:lnSpc>
              <a:spcBef>
                <a:spcPts val="1000"/>
              </a:spcBef>
              <a:spcAft>
                <a:spcPts val="0"/>
              </a:spcAft>
              <a:buSzPct val="100000"/>
              <a:buFont typeface="Arial"/>
              <a:buAutoNum type="arabicPeriod"/>
            </a:pPr>
            <a:r>
              <a:rPr lang="en-US" sz="7200" b="1" i="0" dirty="0">
                <a:solidFill>
                  <a:srgbClr val="000000"/>
                </a:solidFill>
                <a:latin typeface="Times"/>
                <a:ea typeface="Times"/>
                <a:cs typeface="Times"/>
                <a:sym typeface="Times"/>
              </a:rPr>
              <a:t>A workflow model:</a:t>
            </a:r>
            <a:r>
              <a:rPr lang="en-US" sz="7200" b="0" i="0" dirty="0">
                <a:solidFill>
                  <a:srgbClr val="000000"/>
                </a:solidFill>
                <a:latin typeface="Times"/>
                <a:ea typeface="Times"/>
                <a:cs typeface="Times"/>
                <a:sym typeface="Times"/>
              </a:rPr>
              <a:t> This shows the series of activities in the process along with their inputs, outputs and dependencies. The activities in this model perform human actions.</a:t>
            </a:r>
            <a:endParaRPr dirty="0"/>
          </a:p>
          <a:p>
            <a:pPr marL="457200" lvl="0" indent="-342900" algn="just" rtl="0">
              <a:lnSpc>
                <a:spcPct val="120000"/>
              </a:lnSpc>
              <a:spcBef>
                <a:spcPts val="1000"/>
              </a:spcBef>
              <a:spcAft>
                <a:spcPts val="0"/>
              </a:spcAft>
              <a:buSzPct val="100000"/>
              <a:buFont typeface="Arial"/>
              <a:buAutoNum type="arabicPeriod"/>
            </a:pPr>
            <a:r>
              <a:rPr lang="en-US" sz="7200" b="1" i="0" dirty="0">
                <a:solidFill>
                  <a:srgbClr val="000000"/>
                </a:solidFill>
                <a:latin typeface="Times"/>
                <a:ea typeface="Times"/>
                <a:cs typeface="Times"/>
                <a:sym typeface="Times"/>
              </a:rPr>
              <a:t>A dataflow or activity model:</a:t>
            </a:r>
            <a:r>
              <a:rPr lang="en-US" sz="7200" b="0" i="0" dirty="0">
                <a:solidFill>
                  <a:srgbClr val="000000"/>
                </a:solidFill>
                <a:latin typeface="Times"/>
                <a:ea typeface="Times"/>
                <a:cs typeface="Times"/>
                <a:sym typeface="Times"/>
              </a:rPr>
              <a:t> This represents the process as a set of activities, each of which carries out some data transformations. It shows how the input to the process, such as a specification is converted to an output such as a design. The activities here may be at a lower level than activities in a workflow model. They may perform transformations carried out by people or by computers.</a:t>
            </a:r>
            <a:endParaRPr dirty="0"/>
          </a:p>
          <a:p>
            <a:pPr marL="457200" lvl="0" indent="-342900" algn="just" rtl="0">
              <a:lnSpc>
                <a:spcPct val="120000"/>
              </a:lnSpc>
              <a:spcBef>
                <a:spcPts val="1000"/>
              </a:spcBef>
              <a:spcAft>
                <a:spcPts val="0"/>
              </a:spcAft>
              <a:buSzPct val="100000"/>
              <a:buFont typeface="Arial"/>
              <a:buAutoNum type="arabicPeriod"/>
            </a:pPr>
            <a:r>
              <a:rPr lang="en-US" sz="7200" b="1" i="0" dirty="0">
                <a:solidFill>
                  <a:srgbClr val="000000"/>
                </a:solidFill>
                <a:latin typeface="Times"/>
                <a:ea typeface="Times"/>
                <a:cs typeface="Times"/>
                <a:sym typeface="Times"/>
              </a:rPr>
              <a:t>A role/action model:</a:t>
            </a:r>
            <a:r>
              <a:rPr lang="en-US" sz="7200" b="0" i="0" dirty="0">
                <a:solidFill>
                  <a:srgbClr val="000000"/>
                </a:solidFill>
                <a:latin typeface="Times"/>
                <a:ea typeface="Times"/>
                <a:cs typeface="Times"/>
                <a:sym typeface="Times"/>
              </a:rPr>
              <a:t> This means the roles of the people involved in the software process and the activities for which they are responsible</a:t>
            </a:r>
            <a:endParaRPr sz="7200" dirty="0">
              <a:latin typeface="Times"/>
              <a:ea typeface="Times"/>
              <a:cs typeface="Times"/>
              <a:sym typeface="Times"/>
            </a:endParaRPr>
          </a:p>
          <a:p>
            <a:pPr marL="114300" lvl="0" indent="0" algn="just" rtl="0">
              <a:lnSpc>
                <a:spcPct val="120000"/>
              </a:lnSpc>
              <a:spcBef>
                <a:spcPts val="1000"/>
              </a:spcBef>
              <a:spcAft>
                <a:spcPts val="0"/>
              </a:spcAft>
              <a:buSzPct val="100000"/>
              <a:buNone/>
            </a:pPr>
            <a:endParaRPr sz="7200" b="0" i="0" dirty="0">
              <a:solidFill>
                <a:srgbClr val="333333"/>
              </a:solidFill>
              <a:latin typeface="Times"/>
              <a:ea typeface="Times"/>
              <a:cs typeface="Times"/>
              <a:sym typeface="Times"/>
            </a:endParaRPr>
          </a:p>
          <a:p>
            <a:pPr marL="114300" lvl="0" indent="0" algn="just" rtl="0">
              <a:lnSpc>
                <a:spcPct val="120000"/>
              </a:lnSpc>
              <a:spcBef>
                <a:spcPts val="1000"/>
              </a:spcBef>
              <a:spcAft>
                <a:spcPts val="0"/>
              </a:spcAft>
              <a:buSzPct val="100000"/>
              <a:buNone/>
            </a:pPr>
            <a:endParaRPr sz="7200" b="0" i="0" dirty="0">
              <a:solidFill>
                <a:srgbClr val="000000"/>
              </a:solidFill>
              <a:latin typeface="Times"/>
              <a:ea typeface="Times"/>
              <a:cs typeface="Times"/>
              <a:sym typeface="Times"/>
            </a:endParaRPr>
          </a:p>
        </p:txBody>
      </p:sp>
      <p:sp>
        <p:nvSpPr>
          <p:cNvPr id="111" name="Google Shape;111;p8">
            <a:extLst>
              <a:ext uri="{FF2B5EF4-FFF2-40B4-BE49-F238E27FC236}">
                <a16:creationId xmlns:a16="http://schemas.microsoft.com/office/drawing/2014/main" id="{59037D8A-60D6-BCF0-B7CF-39B2CB0D21B6}"/>
              </a:ext>
            </a:extLst>
          </p:cNvPr>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a:ea typeface="Arial"/>
                <a:cs typeface="Arial"/>
                <a:sym typeface="Arial"/>
              </a:rPr>
              <a:t>30-11-2024</a:t>
            </a:r>
            <a:endParaRPr sz="1200" b="0" i="0" u="none" strike="noStrike" cap="none">
              <a:solidFill>
                <a:schemeClr val="lt1"/>
              </a:solidFill>
              <a:latin typeface="Arial"/>
              <a:ea typeface="Arial"/>
              <a:cs typeface="Arial"/>
              <a:sym typeface="Arial"/>
            </a:endParaRPr>
          </a:p>
        </p:txBody>
      </p:sp>
      <p:sp>
        <p:nvSpPr>
          <p:cNvPr id="112" name="Google Shape;112;p8">
            <a:extLst>
              <a:ext uri="{FF2B5EF4-FFF2-40B4-BE49-F238E27FC236}">
                <a16:creationId xmlns:a16="http://schemas.microsoft.com/office/drawing/2014/main" id="{8BF6F971-7386-67FB-B250-194E55AC09DC}"/>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a:ea typeface="Arial"/>
                <a:cs typeface="Arial"/>
                <a:sym typeface="Arial"/>
              </a:rPr>
              <a:t>5</a:t>
            </a:fld>
            <a:endParaRPr sz="1200" b="0" i="0" u="none" strike="noStrike" cap="none">
              <a:solidFill>
                <a:schemeClr val="lt1"/>
              </a:solidFill>
              <a:latin typeface="Arial"/>
              <a:ea typeface="Arial"/>
              <a:cs typeface="Arial"/>
              <a:sym typeface="Arial"/>
            </a:endParaRPr>
          </a:p>
        </p:txBody>
      </p:sp>
    </p:spTree>
    <p:extLst>
      <p:ext uri="{BB962C8B-B14F-4D97-AF65-F5344CB8AC3E}">
        <p14:creationId xmlns:p14="http://schemas.microsoft.com/office/powerpoint/2010/main" val="1979321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600" b="1" i="0" dirty="0">
                <a:solidFill>
                  <a:schemeClr val="dk1"/>
                </a:solidFill>
                <a:latin typeface="Times"/>
                <a:ea typeface="Times"/>
                <a:cs typeface="Times"/>
                <a:sym typeface="Times"/>
              </a:rPr>
              <a:t>Need for Process Model</a:t>
            </a:r>
            <a:endParaRPr sz="3600" dirty="0">
              <a:latin typeface="Times"/>
              <a:ea typeface="Times"/>
              <a:cs typeface="Times"/>
              <a:sym typeface="Times"/>
            </a:endParaRPr>
          </a:p>
        </p:txBody>
      </p:sp>
      <p:sp>
        <p:nvSpPr>
          <p:cNvPr id="118" name="Google Shape;118;p9"/>
          <p:cNvSpPr txBox="1">
            <a:spLocks noGrp="1"/>
          </p:cNvSpPr>
          <p:nvPr>
            <p:ph type="body" idx="1"/>
          </p:nvPr>
        </p:nvSpPr>
        <p:spPr>
          <a:xfrm>
            <a:off x="259237" y="1123753"/>
            <a:ext cx="8573677" cy="3977280"/>
          </a:xfrm>
          <a:prstGeom prst="rect">
            <a:avLst/>
          </a:prstGeom>
          <a:noFill/>
          <a:ln>
            <a:noFill/>
          </a:ln>
        </p:spPr>
        <p:txBody>
          <a:bodyPr spcFirstLastPara="1" wrap="square" lIns="0" tIns="0" rIns="0" bIns="0" anchor="t" anchorCtr="0">
            <a:noAutofit/>
          </a:bodyPr>
          <a:lstStyle/>
          <a:p>
            <a:pPr marL="457200" lvl="0" indent="-342900" algn="just" rtl="0">
              <a:lnSpc>
                <a:spcPct val="150000"/>
              </a:lnSpc>
              <a:spcBef>
                <a:spcPts val="1000"/>
              </a:spcBef>
              <a:spcAft>
                <a:spcPts val="0"/>
              </a:spcAft>
              <a:buSzPts val="1800"/>
              <a:buChar char="•"/>
            </a:pPr>
            <a:r>
              <a:rPr lang="en-US" sz="1800" b="0" i="0" dirty="0">
                <a:solidFill>
                  <a:schemeClr val="dk1"/>
                </a:solidFill>
                <a:latin typeface="Times"/>
                <a:ea typeface="Times"/>
                <a:cs typeface="Times"/>
                <a:sym typeface="Times"/>
              </a:rPr>
              <a:t>The software development team must decide the process model that is to be used for software product development and then the entire team must adhere to it. This is necessary because the software product development can then be done systematically. Each team member will understand what is the next activity and how to do it. Thus process model will bring the definiteness and discipline in overall development process.  Every process model consists of definite entry and exit criteria for each phase. Hence the transition of the product through various phases is definite.</a:t>
            </a:r>
            <a:endParaRPr dirty="0"/>
          </a:p>
          <a:p>
            <a:pPr marL="457200" lvl="0" indent="-342900" algn="just" rtl="0">
              <a:lnSpc>
                <a:spcPct val="150000"/>
              </a:lnSpc>
              <a:spcBef>
                <a:spcPts val="1000"/>
              </a:spcBef>
              <a:spcAft>
                <a:spcPts val="0"/>
              </a:spcAft>
              <a:buSzPts val="1800"/>
              <a:buChar char="•"/>
            </a:pPr>
            <a:r>
              <a:rPr lang="en-US" sz="1800" b="0" i="0" dirty="0">
                <a:solidFill>
                  <a:schemeClr val="dk1"/>
                </a:solidFill>
                <a:latin typeface="Times"/>
                <a:ea typeface="Times"/>
                <a:cs typeface="Times"/>
                <a:sym typeface="Times"/>
              </a:rPr>
              <a:t>If the process model is not followed for software development then any team member can perform any software development activity, this will ultimately cause a chaos and software project will definitely fail without using process model, it is difficult to monitor the progress of software product. Thus process model plays an important rule in software engineering.</a:t>
            </a:r>
            <a:endParaRPr dirty="0"/>
          </a:p>
        </p:txBody>
      </p:sp>
      <p:sp>
        <p:nvSpPr>
          <p:cNvPr id="120" name="Google Shape;120;p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a:ea typeface="Arial"/>
                <a:cs typeface="Arial"/>
                <a:sym typeface="Arial"/>
              </a:rPr>
              <a:t>6</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10"/>
          <p:cNvSpPr txBox="1">
            <a:spLocks noGrp="1"/>
          </p:cNvSpPr>
          <p:nvPr>
            <p:ph type="title"/>
          </p:nvPr>
        </p:nvSpPr>
        <p:spPr>
          <a:xfrm>
            <a:off x="537025"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2800" b="1" i="0" dirty="0">
                <a:solidFill>
                  <a:schemeClr val="dk1"/>
                </a:solidFill>
                <a:latin typeface="Times"/>
                <a:ea typeface="Times"/>
                <a:cs typeface="Times"/>
                <a:sym typeface="Times"/>
              </a:rPr>
              <a:t>Need for Process Model</a:t>
            </a:r>
            <a:endParaRPr dirty="0"/>
          </a:p>
        </p:txBody>
      </p:sp>
      <p:sp>
        <p:nvSpPr>
          <p:cNvPr id="126" name="Google Shape;126;p10"/>
          <p:cNvSpPr txBox="1">
            <a:spLocks noGrp="1"/>
          </p:cNvSpPr>
          <p:nvPr>
            <p:ph type="body" idx="1"/>
          </p:nvPr>
        </p:nvSpPr>
        <p:spPr>
          <a:xfrm>
            <a:off x="334652" y="1557386"/>
            <a:ext cx="8229240" cy="3977280"/>
          </a:xfrm>
          <a:prstGeom prst="rect">
            <a:avLst/>
          </a:prstGeom>
          <a:noFill/>
          <a:ln>
            <a:noFill/>
          </a:ln>
        </p:spPr>
        <p:txBody>
          <a:bodyPr spcFirstLastPara="1" wrap="square" lIns="0" tIns="0" rIns="0" bIns="0" anchor="t" anchorCtr="0">
            <a:normAutofit/>
          </a:bodyPr>
          <a:lstStyle/>
          <a:p>
            <a:pPr algn="just">
              <a:lnSpc>
                <a:spcPct val="150000"/>
              </a:lnSpc>
            </a:pPr>
            <a:r>
              <a:rPr lang="en-US" dirty="0">
                <a:latin typeface="Times"/>
                <a:ea typeface="Times"/>
                <a:cs typeface="Times"/>
                <a:sym typeface="Times"/>
              </a:rPr>
              <a:t>Software processes provide structured methods for developing and maintaining software. They include approaches like Waterfall for linear projects, Agile for flexibility, Scrum for teamwork, and DevOps for automation and collaboration. Each has unique strengths, tailored to different project needs. Choosing the right process enhances efficiency and product quality.</a:t>
            </a:r>
            <a:endParaRPr dirty="0"/>
          </a:p>
          <a:p>
            <a:pPr marL="457200" lvl="0" indent="-228600" algn="l" rtl="0">
              <a:lnSpc>
                <a:spcPct val="90000"/>
              </a:lnSpc>
              <a:spcBef>
                <a:spcPts val="1000"/>
              </a:spcBef>
              <a:spcAft>
                <a:spcPts val="0"/>
              </a:spcAft>
              <a:buClr>
                <a:schemeClr val="dk1"/>
              </a:buClr>
              <a:buSzPts val="1800"/>
              <a:buNone/>
            </a:pPr>
            <a:endParaRPr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1"/>
          <p:cNvSpPr txBox="1">
            <a:spLocks noGrp="1"/>
          </p:cNvSpPr>
          <p:nvPr>
            <p:ph type="title"/>
          </p:nvPr>
        </p:nvSpPr>
        <p:spPr>
          <a:xfrm>
            <a:off x="636309" y="197963"/>
            <a:ext cx="5486040" cy="574675"/>
          </a:xfrm>
          <a:prstGeom prst="rect">
            <a:avLst/>
          </a:prstGeom>
          <a:noFill/>
          <a:ln>
            <a:noFill/>
          </a:ln>
        </p:spPr>
        <p:txBody>
          <a:bodyPr spcFirstLastPara="1" wrap="square" lIns="0" tIns="0" rIns="0" bIns="0" anchor="ctr" anchorCtr="0">
            <a:noAutofit/>
          </a:bodyPr>
          <a:lstStyle/>
          <a:p>
            <a:pPr marL="0" lvl="0" indent="0" rtl="0">
              <a:lnSpc>
                <a:spcPct val="90000"/>
              </a:lnSpc>
              <a:spcBef>
                <a:spcPts val="0"/>
              </a:spcBef>
              <a:spcAft>
                <a:spcPts val="0"/>
              </a:spcAft>
              <a:buSzPts val="1800"/>
              <a:buNone/>
            </a:pPr>
            <a:r>
              <a:rPr lang="en-US" sz="3600" b="1" i="0" dirty="0">
                <a:solidFill>
                  <a:srgbClr val="610B38"/>
                </a:solidFill>
                <a:latin typeface="Times"/>
                <a:ea typeface="Times"/>
                <a:cs typeface="Times"/>
                <a:sym typeface="Times"/>
              </a:rPr>
              <a:t>SDLC Models</a:t>
            </a:r>
            <a:endParaRPr sz="3600" b="1" dirty="0">
              <a:latin typeface="Times"/>
              <a:ea typeface="Times"/>
              <a:cs typeface="Times"/>
              <a:sym typeface="Times"/>
            </a:endParaRPr>
          </a:p>
        </p:txBody>
      </p:sp>
      <p:sp>
        <p:nvSpPr>
          <p:cNvPr id="133" name="Google Shape;133;p11"/>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342900" algn="just" rtl="0">
              <a:lnSpc>
                <a:spcPct val="90000"/>
              </a:lnSpc>
              <a:spcBef>
                <a:spcPts val="1000"/>
              </a:spcBef>
              <a:spcAft>
                <a:spcPts val="0"/>
              </a:spcAft>
              <a:buSzPts val="1800"/>
              <a:buChar char="•"/>
            </a:pPr>
            <a:r>
              <a:rPr lang="en-US" sz="1800" b="0" i="0" dirty="0">
                <a:solidFill>
                  <a:srgbClr val="333333"/>
                </a:solidFill>
                <a:latin typeface="Times"/>
                <a:ea typeface="Times"/>
                <a:cs typeface="Times"/>
                <a:sym typeface="Times"/>
              </a:rPr>
              <a:t>Software Development Life </a:t>
            </a:r>
            <a:r>
              <a:rPr lang="en-US" sz="1800" dirty="0">
                <a:solidFill>
                  <a:srgbClr val="333333"/>
                </a:solidFill>
                <a:latin typeface="Times"/>
                <a:ea typeface="Times"/>
                <a:cs typeface="Times"/>
                <a:sym typeface="Times"/>
              </a:rPr>
              <a:t>C</a:t>
            </a:r>
            <a:r>
              <a:rPr lang="en-US" sz="1800" b="0" i="0" dirty="0">
                <a:solidFill>
                  <a:srgbClr val="333333"/>
                </a:solidFill>
                <a:latin typeface="Times"/>
                <a:ea typeface="Times"/>
                <a:cs typeface="Times"/>
                <a:sym typeface="Times"/>
              </a:rPr>
              <a:t>ycle (SDLC) is a spiritual model used in project management that defines the stages include in an information system development project, from an initial feasibility study to the maintenance of the completed application.</a:t>
            </a:r>
            <a:endParaRPr dirty="0"/>
          </a:p>
          <a:p>
            <a:pPr marL="457200" lvl="0" indent="-342900" algn="just" rtl="0">
              <a:lnSpc>
                <a:spcPct val="90000"/>
              </a:lnSpc>
              <a:spcBef>
                <a:spcPts val="1000"/>
              </a:spcBef>
              <a:spcAft>
                <a:spcPts val="0"/>
              </a:spcAft>
              <a:buSzPts val="1800"/>
              <a:buChar char="•"/>
            </a:pPr>
            <a:r>
              <a:rPr lang="en-US" sz="1800" b="0" i="0" dirty="0">
                <a:solidFill>
                  <a:srgbClr val="333333"/>
                </a:solidFill>
                <a:latin typeface="Times"/>
                <a:ea typeface="Times"/>
                <a:cs typeface="Times"/>
                <a:sym typeface="Times"/>
              </a:rPr>
              <a:t>There are different software development life cycle models specify and design, which are followed during the software development phase. These models are also called "</a:t>
            </a:r>
            <a:r>
              <a:rPr lang="en-US" sz="1800" b="1" i="0" dirty="0">
                <a:solidFill>
                  <a:srgbClr val="333333"/>
                </a:solidFill>
                <a:latin typeface="Times"/>
                <a:ea typeface="Times"/>
                <a:cs typeface="Times"/>
                <a:sym typeface="Times"/>
              </a:rPr>
              <a:t>Software Development Process Models</a:t>
            </a:r>
            <a:r>
              <a:rPr lang="en-US" sz="1800" b="0" i="0" dirty="0">
                <a:solidFill>
                  <a:srgbClr val="333333"/>
                </a:solidFill>
                <a:latin typeface="Times"/>
                <a:ea typeface="Times"/>
                <a:cs typeface="Times"/>
                <a:sym typeface="Times"/>
              </a:rPr>
              <a:t>." Each process model follows a series of phase unique to its type to ensure success in the step of software development.</a:t>
            </a:r>
            <a:endParaRPr dirty="0"/>
          </a:p>
          <a:p>
            <a:pPr marL="457200" lvl="0" indent="-342900" algn="just" rtl="0">
              <a:lnSpc>
                <a:spcPct val="90000"/>
              </a:lnSpc>
              <a:spcBef>
                <a:spcPts val="1000"/>
              </a:spcBef>
              <a:spcAft>
                <a:spcPts val="0"/>
              </a:spcAft>
              <a:buSzPts val="1800"/>
              <a:buChar char="•"/>
            </a:pPr>
            <a:r>
              <a:rPr lang="en-US" sz="1800" b="1" i="0" dirty="0">
                <a:solidFill>
                  <a:srgbClr val="333333"/>
                </a:solidFill>
                <a:latin typeface="Times"/>
                <a:ea typeface="Times"/>
                <a:cs typeface="Times"/>
                <a:sym typeface="Times"/>
              </a:rPr>
              <a:t>Here, are some important phases of SDLC life cycle:</a:t>
            </a:r>
            <a:endParaRPr sz="1800" b="0" i="0" dirty="0">
              <a:solidFill>
                <a:srgbClr val="333333"/>
              </a:solidFill>
              <a:latin typeface="Times"/>
              <a:ea typeface="Times"/>
              <a:cs typeface="Times"/>
              <a:sym typeface="Times"/>
            </a:endParaRPr>
          </a:p>
          <a:p>
            <a:pPr marL="457200" lvl="0" indent="-228600" algn="l" rtl="0">
              <a:lnSpc>
                <a:spcPct val="90000"/>
              </a:lnSpc>
              <a:spcBef>
                <a:spcPts val="1000"/>
              </a:spcBef>
              <a:spcAft>
                <a:spcPts val="0"/>
              </a:spcAft>
              <a:buClr>
                <a:schemeClr val="dk1"/>
              </a:buClr>
              <a:buSzPts val="1800"/>
              <a:buNone/>
            </a:pPr>
            <a:endParaRPr sz="1800" dirty="0">
              <a:latin typeface="Times"/>
              <a:ea typeface="Times"/>
              <a:cs typeface="Times"/>
              <a:sym typeface="Time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40" name="Google Shape;140;p12"/>
          <p:cNvSpPr/>
          <p:nvPr/>
        </p:nvSpPr>
        <p:spPr>
          <a:xfrm>
            <a:off x="4014341" y="6048743"/>
            <a:ext cx="1372492" cy="30777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None/>
            </a:pPr>
            <a:r>
              <a:rPr lang="en-US" sz="1400" b="1" i="0" u="none" strike="noStrike" cap="none">
                <a:solidFill>
                  <a:srgbClr val="333333"/>
                </a:solidFill>
                <a:latin typeface="Times"/>
                <a:ea typeface="Times"/>
                <a:cs typeface="Times"/>
                <a:sym typeface="Times"/>
              </a:rPr>
              <a:t>SDLC life cycle</a:t>
            </a:r>
            <a:endParaRPr sz="1400" b="0" i="0" u="none" strike="noStrike" cap="none">
              <a:solidFill>
                <a:srgbClr val="000000"/>
              </a:solidFill>
              <a:latin typeface="Arial"/>
              <a:ea typeface="Arial"/>
              <a:cs typeface="Arial"/>
              <a:sym typeface="Arial"/>
            </a:endParaRPr>
          </a:p>
        </p:txBody>
      </p:sp>
      <p:pic>
        <p:nvPicPr>
          <p:cNvPr id="141" name="Google Shape;141;p12"/>
          <p:cNvPicPr preferRelativeResize="0"/>
          <p:nvPr/>
        </p:nvPicPr>
        <p:blipFill rotWithShape="1">
          <a:blip r:embed="rId3">
            <a:alphaModFix/>
          </a:blip>
          <a:srcRect/>
          <a:stretch/>
        </p:blipFill>
        <p:spPr>
          <a:xfrm>
            <a:off x="2047875" y="1252537"/>
            <a:ext cx="5048250" cy="4352925"/>
          </a:xfrm>
          <a:prstGeom prst="rect">
            <a:avLst/>
          </a:prstGeom>
          <a:noFill/>
          <a:ln>
            <a:noFill/>
          </a:ln>
        </p:spPr>
      </p:pic>
      <p:sp>
        <p:nvSpPr>
          <p:cNvPr id="2" name="Google Shape;132;p11">
            <a:extLst>
              <a:ext uri="{FF2B5EF4-FFF2-40B4-BE49-F238E27FC236}">
                <a16:creationId xmlns:a16="http://schemas.microsoft.com/office/drawing/2014/main" id="{A63AF146-5D29-C0F4-778C-A40B5853A77B}"/>
              </a:ext>
            </a:extLst>
          </p:cNvPr>
          <p:cNvSpPr txBox="1">
            <a:spLocks noGrp="1"/>
          </p:cNvSpPr>
          <p:nvPr>
            <p:ph type="title"/>
          </p:nvPr>
        </p:nvSpPr>
        <p:spPr>
          <a:xfrm>
            <a:off x="636309" y="197963"/>
            <a:ext cx="5486040" cy="574675"/>
          </a:xfrm>
          <a:prstGeom prst="rect">
            <a:avLst/>
          </a:prstGeom>
          <a:noFill/>
          <a:ln>
            <a:noFill/>
          </a:ln>
        </p:spPr>
        <p:txBody>
          <a:bodyPr spcFirstLastPara="1" wrap="square" lIns="0" tIns="0" rIns="0" bIns="0" anchor="ctr" anchorCtr="0">
            <a:noAutofit/>
          </a:bodyPr>
          <a:lstStyle/>
          <a:p>
            <a:pPr marL="0" lvl="0" indent="0" rtl="0">
              <a:lnSpc>
                <a:spcPct val="90000"/>
              </a:lnSpc>
              <a:spcBef>
                <a:spcPts val="0"/>
              </a:spcBef>
              <a:spcAft>
                <a:spcPts val="0"/>
              </a:spcAft>
              <a:buSzPts val="1800"/>
              <a:buNone/>
            </a:pPr>
            <a:r>
              <a:rPr lang="en-US" sz="3600" b="1" i="0" dirty="0">
                <a:solidFill>
                  <a:srgbClr val="610B38"/>
                </a:solidFill>
                <a:latin typeface="Times"/>
                <a:ea typeface="Times"/>
                <a:cs typeface="Times"/>
                <a:sym typeface="Times"/>
              </a:rPr>
              <a:t>SDLC Models</a:t>
            </a:r>
            <a:endParaRPr sz="3600" b="1" dirty="0">
              <a:latin typeface="Times"/>
              <a:ea typeface="Times"/>
              <a:cs typeface="Times"/>
              <a:sym typeface="Time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37">
          <a:extLst>
            <a:ext uri="{FF2B5EF4-FFF2-40B4-BE49-F238E27FC236}">
              <a16:creationId xmlns:a16="http://schemas.microsoft.com/office/drawing/2014/main" id="{6BE86ECE-589D-2755-AB6C-C813FEB824C4}"/>
            </a:ext>
          </a:extLst>
        </p:cNvPr>
        <p:cNvGrpSpPr/>
        <p:nvPr/>
      </p:nvGrpSpPr>
      <p:grpSpPr>
        <a:xfrm>
          <a:off x="0" y="0"/>
          <a:ext cx="0" cy="0"/>
          <a:chOff x="0" y="0"/>
          <a:chExt cx="0" cy="0"/>
        </a:xfrm>
      </p:grpSpPr>
      <p:sp>
        <p:nvSpPr>
          <p:cNvPr id="2" name="Google Shape;132;p11">
            <a:extLst>
              <a:ext uri="{FF2B5EF4-FFF2-40B4-BE49-F238E27FC236}">
                <a16:creationId xmlns:a16="http://schemas.microsoft.com/office/drawing/2014/main" id="{73C49E34-7228-A12B-42B9-A660F4EDEE21}"/>
              </a:ext>
            </a:extLst>
          </p:cNvPr>
          <p:cNvSpPr txBox="1">
            <a:spLocks noGrp="1"/>
          </p:cNvSpPr>
          <p:nvPr>
            <p:ph type="title"/>
          </p:nvPr>
        </p:nvSpPr>
        <p:spPr>
          <a:xfrm>
            <a:off x="80126" y="160256"/>
            <a:ext cx="7385903" cy="574675"/>
          </a:xfrm>
          <a:prstGeom prst="rect">
            <a:avLst/>
          </a:prstGeom>
          <a:noFill/>
          <a:ln>
            <a:noFill/>
          </a:ln>
        </p:spPr>
        <p:txBody>
          <a:bodyPr spcFirstLastPara="1" wrap="square" lIns="0" tIns="0" rIns="0" bIns="0" anchor="ctr" anchorCtr="0">
            <a:noAutofit/>
          </a:bodyPr>
          <a:lstStyle/>
          <a:p>
            <a:pPr marL="0" lvl="0" indent="0" rtl="0">
              <a:lnSpc>
                <a:spcPct val="90000"/>
              </a:lnSpc>
              <a:spcBef>
                <a:spcPts val="0"/>
              </a:spcBef>
              <a:spcAft>
                <a:spcPts val="0"/>
              </a:spcAft>
              <a:buSzPts val="1800"/>
              <a:buNone/>
            </a:pPr>
            <a:r>
              <a:rPr lang="en-US" sz="3500" b="1" i="0" dirty="0">
                <a:solidFill>
                  <a:srgbClr val="610B38"/>
                </a:solidFill>
                <a:latin typeface="Times"/>
                <a:ea typeface="Times"/>
                <a:cs typeface="Times"/>
                <a:sym typeface="Times"/>
              </a:rPr>
              <a:t>Factors </a:t>
            </a:r>
            <a:r>
              <a:rPr lang="en-US" sz="3500" b="1" dirty="0">
                <a:solidFill>
                  <a:srgbClr val="610B38"/>
                </a:solidFill>
                <a:latin typeface="Times"/>
                <a:ea typeface="Times"/>
                <a:cs typeface="Times"/>
                <a:sym typeface="Times"/>
              </a:rPr>
              <a:t>for Selecting </a:t>
            </a:r>
            <a:r>
              <a:rPr lang="en-US" sz="3500" b="1" i="0" dirty="0">
                <a:solidFill>
                  <a:srgbClr val="610B38"/>
                </a:solidFill>
                <a:latin typeface="Times"/>
                <a:ea typeface="Times"/>
                <a:cs typeface="Times"/>
                <a:sym typeface="Times"/>
              </a:rPr>
              <a:t>SDLC </a:t>
            </a:r>
            <a:br>
              <a:rPr lang="en-US" sz="3500" b="1" i="0" dirty="0">
                <a:solidFill>
                  <a:srgbClr val="610B38"/>
                </a:solidFill>
                <a:latin typeface="Times"/>
                <a:ea typeface="Times"/>
                <a:cs typeface="Times"/>
                <a:sym typeface="Times"/>
              </a:rPr>
            </a:br>
            <a:r>
              <a:rPr lang="en-US" sz="3500" b="1" i="0" dirty="0">
                <a:solidFill>
                  <a:srgbClr val="610B38"/>
                </a:solidFill>
                <a:latin typeface="Times"/>
                <a:ea typeface="Times"/>
                <a:cs typeface="Times"/>
                <a:sym typeface="Times"/>
              </a:rPr>
              <a:t>Models</a:t>
            </a:r>
            <a:endParaRPr lang="en-US" sz="3500" b="1" dirty="0">
              <a:latin typeface="Times"/>
              <a:ea typeface="Times"/>
              <a:cs typeface="Times"/>
              <a:sym typeface="Times"/>
            </a:endParaRPr>
          </a:p>
        </p:txBody>
      </p:sp>
      <p:sp>
        <p:nvSpPr>
          <p:cNvPr id="4" name="TextBox 3">
            <a:extLst>
              <a:ext uri="{FF2B5EF4-FFF2-40B4-BE49-F238E27FC236}">
                <a16:creationId xmlns:a16="http://schemas.microsoft.com/office/drawing/2014/main" id="{B436138D-A596-2062-095F-AB62028D08C5}"/>
              </a:ext>
            </a:extLst>
          </p:cNvPr>
          <p:cNvSpPr txBox="1"/>
          <p:nvPr/>
        </p:nvSpPr>
        <p:spPr>
          <a:xfrm>
            <a:off x="362343" y="1031670"/>
            <a:ext cx="8419314" cy="5593839"/>
          </a:xfrm>
          <a:prstGeom prst="rect">
            <a:avLst/>
          </a:prstGeom>
          <a:noFill/>
        </p:spPr>
        <p:txBody>
          <a:bodyPr wrap="square">
            <a:spAutoFit/>
          </a:bodyPr>
          <a:lstStyle/>
          <a:p>
            <a:pPr algn="just"/>
            <a:r>
              <a:rPr lang="en-US" sz="1900" b="0" i="0" dirty="0">
                <a:solidFill>
                  <a:srgbClr val="374151"/>
                </a:solidFill>
                <a:effectLst/>
                <a:latin typeface="Times" panose="02020603050405020304" pitchFamily="18" charset="0"/>
                <a:cs typeface="Times" panose="02020603050405020304" pitchFamily="18" charset="0"/>
              </a:rPr>
              <a:t>Choosing the right software process model for your project can be difficult. You need to keep the following factors in mind when selecting your software process model:</a:t>
            </a:r>
          </a:p>
          <a:p>
            <a:pPr algn="just">
              <a:spcBef>
                <a:spcPts val="2400"/>
              </a:spcBef>
              <a:spcAft>
                <a:spcPts val="450"/>
              </a:spcAft>
            </a:pPr>
            <a:r>
              <a:rPr lang="en-US" sz="1900" b="1" i="0" dirty="0">
                <a:effectLst/>
                <a:latin typeface="Times" panose="02020603050405020304" pitchFamily="18" charset="0"/>
                <a:cs typeface="Times" panose="02020603050405020304" pitchFamily="18" charset="0"/>
              </a:rPr>
              <a:t>Project requirements</a:t>
            </a:r>
          </a:p>
          <a:p>
            <a:pPr algn="just"/>
            <a:r>
              <a:rPr lang="en-US" sz="1900" b="0" i="0" dirty="0">
                <a:solidFill>
                  <a:srgbClr val="374151"/>
                </a:solidFill>
                <a:effectLst/>
                <a:latin typeface="Times" panose="02020603050405020304" pitchFamily="18" charset="0"/>
                <a:cs typeface="Times" panose="02020603050405020304" pitchFamily="18" charset="0"/>
              </a:rPr>
              <a:t>Before you choose a model, take some time to go through the project requirements and clarify them alongside your organization’s or team’s expectations. Will the user need to specify requirements in detail after each iterative session? Will the requirements </a:t>
            </a:r>
            <a:r>
              <a:rPr lang="en-US" sz="1900" b="0" i="1" dirty="0">
                <a:solidFill>
                  <a:srgbClr val="374151"/>
                </a:solidFill>
                <a:effectLst/>
                <a:latin typeface="Times" panose="02020603050405020304" pitchFamily="18" charset="0"/>
                <a:cs typeface="Times" panose="02020603050405020304" pitchFamily="18" charset="0"/>
              </a:rPr>
              <a:t>change</a:t>
            </a:r>
            <a:r>
              <a:rPr lang="en-US" sz="1900" b="0" i="0" dirty="0">
                <a:solidFill>
                  <a:srgbClr val="374151"/>
                </a:solidFill>
                <a:effectLst/>
                <a:latin typeface="Times" panose="02020603050405020304" pitchFamily="18" charset="0"/>
                <a:cs typeface="Times" panose="02020603050405020304" pitchFamily="18" charset="0"/>
              </a:rPr>
              <a:t> during the development process?</a:t>
            </a:r>
          </a:p>
          <a:p>
            <a:pPr algn="just">
              <a:spcBef>
                <a:spcPts val="2400"/>
              </a:spcBef>
              <a:spcAft>
                <a:spcPts val="450"/>
              </a:spcAft>
            </a:pPr>
            <a:r>
              <a:rPr lang="en-US" sz="1900" b="1" i="0" dirty="0">
                <a:effectLst/>
                <a:latin typeface="Times" panose="02020603050405020304" pitchFamily="18" charset="0"/>
                <a:cs typeface="Times" panose="02020603050405020304" pitchFamily="18" charset="0"/>
              </a:rPr>
              <a:t>Project size</a:t>
            </a:r>
          </a:p>
          <a:p>
            <a:pPr algn="just"/>
            <a:r>
              <a:rPr lang="en-US" sz="1900" b="0" i="0" dirty="0">
                <a:solidFill>
                  <a:srgbClr val="374151"/>
                </a:solidFill>
                <a:effectLst/>
                <a:latin typeface="Times" panose="02020603050405020304" pitchFamily="18" charset="0"/>
                <a:cs typeface="Times" panose="02020603050405020304" pitchFamily="18" charset="0"/>
              </a:rPr>
              <a:t>Consider the size of the project you will be working on. Larger projects mean bigger teams, so you’ll need more extensive and elaborate project management plans.</a:t>
            </a:r>
          </a:p>
          <a:p>
            <a:pPr algn="just">
              <a:spcBef>
                <a:spcPts val="2400"/>
              </a:spcBef>
              <a:spcAft>
                <a:spcPts val="450"/>
              </a:spcAft>
            </a:pPr>
            <a:r>
              <a:rPr lang="en-US" sz="1900" b="1" i="0" dirty="0">
                <a:effectLst/>
                <a:latin typeface="Times" panose="02020603050405020304" pitchFamily="18" charset="0"/>
                <a:cs typeface="Times" panose="02020603050405020304" pitchFamily="18" charset="0"/>
              </a:rPr>
              <a:t>Project complexity</a:t>
            </a:r>
          </a:p>
          <a:p>
            <a:pPr algn="just"/>
            <a:r>
              <a:rPr lang="en-US" sz="1900" b="0" i="0" dirty="0">
                <a:solidFill>
                  <a:srgbClr val="374151"/>
                </a:solidFill>
                <a:effectLst/>
                <a:latin typeface="Times" panose="02020603050405020304" pitchFamily="18" charset="0"/>
                <a:cs typeface="Times" panose="02020603050405020304" pitchFamily="18" charset="0"/>
              </a:rPr>
              <a:t>Complex projects may not have clear requirements. The requirements may change often, and the cost of delay is high. Ask yourself if the project requires constant monitoring or feedback from the client.</a:t>
            </a:r>
          </a:p>
        </p:txBody>
      </p:sp>
    </p:spTree>
    <p:extLst>
      <p:ext uri="{BB962C8B-B14F-4D97-AF65-F5344CB8AC3E}">
        <p14:creationId xmlns:p14="http://schemas.microsoft.com/office/powerpoint/2010/main" val="12054929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7">
          <a:extLst>
            <a:ext uri="{FF2B5EF4-FFF2-40B4-BE49-F238E27FC236}">
              <a16:creationId xmlns:a16="http://schemas.microsoft.com/office/drawing/2014/main" id="{3F1A7AD0-49C2-20BB-5089-5E181D48791D}"/>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0C3C8CB1-17E1-AD5E-BB8E-C2EC5CF9C63A}"/>
              </a:ext>
            </a:extLst>
          </p:cNvPr>
          <p:cNvSpPr txBox="1"/>
          <p:nvPr/>
        </p:nvSpPr>
        <p:spPr>
          <a:xfrm>
            <a:off x="525544" y="1402874"/>
            <a:ext cx="7640425" cy="4488408"/>
          </a:xfrm>
          <a:prstGeom prst="rect">
            <a:avLst/>
          </a:prstGeom>
          <a:noFill/>
        </p:spPr>
        <p:txBody>
          <a:bodyPr wrap="square">
            <a:spAutoFit/>
          </a:bodyPr>
          <a:lstStyle/>
          <a:p>
            <a:pPr algn="just">
              <a:spcBef>
                <a:spcPts val="2400"/>
              </a:spcBef>
              <a:spcAft>
                <a:spcPts val="450"/>
              </a:spcAft>
            </a:pPr>
            <a:r>
              <a:rPr lang="en-US" sz="1900" b="1" i="0" dirty="0">
                <a:effectLst/>
                <a:latin typeface="Times" panose="02020603050405020304" pitchFamily="18" charset="0"/>
                <a:cs typeface="Times" panose="02020603050405020304" pitchFamily="18" charset="0"/>
              </a:rPr>
              <a:t>Cost of delay</a:t>
            </a:r>
          </a:p>
          <a:p>
            <a:pPr algn="just"/>
            <a:r>
              <a:rPr lang="en-US" sz="1900" b="0" i="0" dirty="0">
                <a:solidFill>
                  <a:srgbClr val="374151"/>
                </a:solidFill>
                <a:effectLst/>
                <a:latin typeface="Times" panose="02020603050405020304" pitchFamily="18" charset="0"/>
                <a:cs typeface="Times" panose="02020603050405020304" pitchFamily="18" charset="0"/>
              </a:rPr>
              <a:t>Is the project highly time-bound with a huge cost of delay, or are the timelines flexible?</a:t>
            </a:r>
          </a:p>
          <a:p>
            <a:pPr algn="just">
              <a:spcBef>
                <a:spcPts val="2400"/>
              </a:spcBef>
              <a:spcAft>
                <a:spcPts val="450"/>
              </a:spcAft>
            </a:pPr>
            <a:r>
              <a:rPr lang="en-US" sz="1900" b="1" i="0" dirty="0">
                <a:effectLst/>
                <a:latin typeface="Times" panose="02020603050405020304" pitchFamily="18" charset="0"/>
                <a:cs typeface="Times" panose="02020603050405020304" pitchFamily="18" charset="0"/>
              </a:rPr>
              <a:t>Customer involvement</a:t>
            </a:r>
          </a:p>
          <a:p>
            <a:pPr algn="just"/>
            <a:r>
              <a:rPr lang="en-US" sz="1900" b="0" i="0" dirty="0">
                <a:solidFill>
                  <a:srgbClr val="374151"/>
                </a:solidFill>
                <a:effectLst/>
                <a:latin typeface="Times" panose="02020603050405020304" pitchFamily="18" charset="0"/>
                <a:cs typeface="Times" panose="02020603050405020304" pitchFamily="18" charset="0"/>
              </a:rPr>
              <a:t>Do you need to consult the customers during the process? Does the user need to participate in all phases?</a:t>
            </a:r>
          </a:p>
          <a:p>
            <a:pPr algn="just">
              <a:spcBef>
                <a:spcPts val="2400"/>
              </a:spcBef>
              <a:spcAft>
                <a:spcPts val="450"/>
              </a:spcAft>
            </a:pPr>
            <a:r>
              <a:rPr lang="en-US" sz="1900" b="1" i="0" dirty="0">
                <a:effectLst/>
                <a:latin typeface="Times" panose="02020603050405020304" pitchFamily="18" charset="0"/>
                <a:cs typeface="Times" panose="02020603050405020304" pitchFamily="18" charset="0"/>
              </a:rPr>
              <a:t>Familiarity with technology</a:t>
            </a:r>
          </a:p>
          <a:p>
            <a:pPr algn="just"/>
            <a:r>
              <a:rPr lang="en-US" sz="1900" b="0" i="0" dirty="0">
                <a:solidFill>
                  <a:srgbClr val="374151"/>
                </a:solidFill>
                <a:effectLst/>
                <a:latin typeface="Times" panose="02020603050405020304" pitchFamily="18" charset="0"/>
                <a:cs typeface="Times" panose="02020603050405020304" pitchFamily="18" charset="0"/>
              </a:rPr>
              <a:t>This involves the developers’ knowledge and experience with the project domain, software tools, language, and methods needed for development.</a:t>
            </a:r>
          </a:p>
          <a:p>
            <a:pPr algn="just">
              <a:spcBef>
                <a:spcPts val="2400"/>
              </a:spcBef>
              <a:spcAft>
                <a:spcPts val="450"/>
              </a:spcAft>
            </a:pPr>
            <a:r>
              <a:rPr lang="en-US" sz="1900" b="1" i="0" dirty="0">
                <a:effectLst/>
                <a:latin typeface="Times" panose="02020603050405020304" pitchFamily="18" charset="0"/>
                <a:cs typeface="Times" panose="02020603050405020304" pitchFamily="18" charset="0"/>
              </a:rPr>
              <a:t>Project resources</a:t>
            </a:r>
          </a:p>
          <a:p>
            <a:pPr algn="just"/>
            <a:r>
              <a:rPr lang="en-US" sz="1900" b="0" i="0" dirty="0">
                <a:solidFill>
                  <a:srgbClr val="374151"/>
                </a:solidFill>
                <a:effectLst/>
                <a:latin typeface="Times" panose="02020603050405020304" pitchFamily="18" charset="0"/>
                <a:cs typeface="Times" panose="02020603050405020304" pitchFamily="18" charset="0"/>
              </a:rPr>
              <a:t>This involves the amount and availability of funds, staff, and other resources.</a:t>
            </a:r>
          </a:p>
        </p:txBody>
      </p:sp>
      <p:sp>
        <p:nvSpPr>
          <p:cNvPr id="6" name="Google Shape;132;p11">
            <a:extLst>
              <a:ext uri="{FF2B5EF4-FFF2-40B4-BE49-F238E27FC236}">
                <a16:creationId xmlns:a16="http://schemas.microsoft.com/office/drawing/2014/main" id="{68F9C058-7225-18AD-B3EC-3F3D4B19BA83}"/>
              </a:ext>
            </a:extLst>
          </p:cNvPr>
          <p:cNvSpPr txBox="1">
            <a:spLocks noGrp="1"/>
          </p:cNvSpPr>
          <p:nvPr>
            <p:ph type="title"/>
          </p:nvPr>
        </p:nvSpPr>
        <p:spPr>
          <a:xfrm>
            <a:off x="80126" y="160256"/>
            <a:ext cx="7385903" cy="574675"/>
          </a:xfrm>
          <a:prstGeom prst="rect">
            <a:avLst/>
          </a:prstGeom>
          <a:noFill/>
          <a:ln>
            <a:noFill/>
          </a:ln>
        </p:spPr>
        <p:txBody>
          <a:bodyPr spcFirstLastPara="1" wrap="square" lIns="0" tIns="0" rIns="0" bIns="0" anchor="ctr" anchorCtr="0">
            <a:noAutofit/>
          </a:bodyPr>
          <a:lstStyle/>
          <a:p>
            <a:pPr marL="0" lvl="0" indent="0" rtl="0">
              <a:lnSpc>
                <a:spcPct val="90000"/>
              </a:lnSpc>
              <a:spcBef>
                <a:spcPts val="0"/>
              </a:spcBef>
              <a:spcAft>
                <a:spcPts val="0"/>
              </a:spcAft>
              <a:buSzPts val="1800"/>
              <a:buNone/>
            </a:pPr>
            <a:r>
              <a:rPr lang="en-US" sz="3500" b="1" i="0" dirty="0">
                <a:solidFill>
                  <a:srgbClr val="610B38"/>
                </a:solidFill>
                <a:latin typeface="Times"/>
                <a:ea typeface="Times"/>
                <a:cs typeface="Times"/>
                <a:sym typeface="Times"/>
              </a:rPr>
              <a:t>Factors </a:t>
            </a:r>
            <a:r>
              <a:rPr lang="en-US" sz="3500" b="1" dirty="0">
                <a:solidFill>
                  <a:srgbClr val="610B38"/>
                </a:solidFill>
                <a:latin typeface="Times"/>
                <a:ea typeface="Times"/>
                <a:cs typeface="Times"/>
                <a:sym typeface="Times"/>
              </a:rPr>
              <a:t>for Selecting </a:t>
            </a:r>
            <a:r>
              <a:rPr lang="en-US" sz="3500" b="1" i="0" dirty="0">
                <a:solidFill>
                  <a:srgbClr val="610B38"/>
                </a:solidFill>
                <a:latin typeface="Times"/>
                <a:ea typeface="Times"/>
                <a:cs typeface="Times"/>
                <a:sym typeface="Times"/>
              </a:rPr>
              <a:t>SDLC </a:t>
            </a:r>
            <a:br>
              <a:rPr lang="en-US" sz="3500" b="1" i="0" dirty="0">
                <a:solidFill>
                  <a:srgbClr val="610B38"/>
                </a:solidFill>
                <a:latin typeface="Times"/>
                <a:ea typeface="Times"/>
                <a:cs typeface="Times"/>
                <a:sym typeface="Times"/>
              </a:rPr>
            </a:br>
            <a:r>
              <a:rPr lang="en-US" sz="3500" b="1" i="0" dirty="0">
                <a:solidFill>
                  <a:srgbClr val="610B38"/>
                </a:solidFill>
                <a:latin typeface="Times"/>
                <a:ea typeface="Times"/>
                <a:cs typeface="Times"/>
                <a:sym typeface="Times"/>
              </a:rPr>
              <a:t>Models</a:t>
            </a:r>
            <a:endParaRPr lang="en-US" sz="3500" b="1" dirty="0">
              <a:latin typeface="Times"/>
              <a:ea typeface="Times"/>
              <a:cs typeface="Times"/>
              <a:sym typeface="Times"/>
            </a:endParaRPr>
          </a:p>
        </p:txBody>
      </p:sp>
    </p:spTree>
    <p:extLst>
      <p:ext uri="{BB962C8B-B14F-4D97-AF65-F5344CB8AC3E}">
        <p14:creationId xmlns:p14="http://schemas.microsoft.com/office/powerpoint/2010/main" val="9885699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5"/>
        <p:cNvGrpSpPr/>
        <p:nvPr/>
      </p:nvGrpSpPr>
      <p:grpSpPr>
        <a:xfrm>
          <a:off x="0" y="0"/>
          <a:ext cx="0" cy="0"/>
          <a:chOff x="0" y="0"/>
          <a:chExt cx="0" cy="0"/>
        </a:xfrm>
      </p:grpSpPr>
      <p:pic>
        <p:nvPicPr>
          <p:cNvPr id="146" name="Google Shape;146;p13" descr="Software Engineering SDLC Models"/>
          <p:cNvPicPr preferRelativeResize="0"/>
          <p:nvPr/>
        </p:nvPicPr>
        <p:blipFill rotWithShape="1">
          <a:blip r:embed="rId3">
            <a:alphaModFix/>
          </a:blip>
          <a:srcRect/>
          <a:stretch/>
        </p:blipFill>
        <p:spPr>
          <a:xfrm>
            <a:off x="989961" y="1081220"/>
            <a:ext cx="7164077" cy="4695560"/>
          </a:xfrm>
          <a:prstGeom prst="rect">
            <a:avLst/>
          </a:prstGeom>
          <a:noFill/>
          <a:ln>
            <a:noFill/>
          </a:ln>
        </p:spPr>
      </p:pic>
      <p:sp>
        <p:nvSpPr>
          <p:cNvPr id="147" name="Google Shape;147;p13"/>
          <p:cNvSpPr txBox="1">
            <a:spLocks noGrp="1"/>
          </p:cNvSpPr>
          <p:nvPr>
            <p:ph type="title"/>
          </p:nvPr>
        </p:nvSpPr>
        <p:spPr>
          <a:xfrm>
            <a:off x="-386501" y="280120"/>
            <a:ext cx="5486040" cy="574675"/>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600" b="1" i="0" dirty="0">
                <a:solidFill>
                  <a:srgbClr val="610B38"/>
                </a:solidFill>
                <a:latin typeface="Times"/>
                <a:ea typeface="Times"/>
                <a:cs typeface="Times"/>
                <a:sym typeface="Times"/>
              </a:rPr>
              <a:t>SDLC Models</a:t>
            </a:r>
            <a:endParaRPr sz="3600" b="1" dirty="0">
              <a:latin typeface="Times"/>
              <a:ea typeface="Times"/>
              <a:cs typeface="Times"/>
              <a:sym typeface="Times"/>
            </a:endParaRPr>
          </a:p>
        </p:txBody>
      </p:sp>
      <p:sp>
        <p:nvSpPr>
          <p:cNvPr id="148" name="Google Shape;148;p13"/>
          <p:cNvSpPr txBox="1"/>
          <p:nvPr/>
        </p:nvSpPr>
        <p:spPr>
          <a:xfrm>
            <a:off x="2028333" y="5715867"/>
            <a:ext cx="5486040" cy="574675"/>
          </a:xfrm>
          <a:prstGeom prst="rect">
            <a:avLst/>
          </a:prstGeom>
          <a:noFill/>
          <a:ln>
            <a:noFill/>
          </a:ln>
        </p:spPr>
        <p:txBody>
          <a:bodyPr spcFirstLastPara="1" wrap="square" lIns="0" tIns="0" rIns="0" bIns="0" anchor="ctr" anchorCtr="0">
            <a:noAutofit/>
          </a:bodyPr>
          <a:lstStyle/>
          <a:p>
            <a:pPr marL="0" marR="0" lvl="0" indent="0" algn="ctr" rtl="0">
              <a:lnSpc>
                <a:spcPct val="90000"/>
              </a:lnSpc>
              <a:spcBef>
                <a:spcPts val="0"/>
              </a:spcBef>
              <a:spcAft>
                <a:spcPts val="0"/>
              </a:spcAft>
              <a:buClr>
                <a:schemeClr val="dk1"/>
              </a:buClr>
              <a:buSzPts val="1800"/>
              <a:buFont typeface="Times New Roman"/>
              <a:buNone/>
            </a:pPr>
            <a:r>
              <a:rPr lang="en-US" sz="1600" b="1" i="0" u="none" strike="noStrike" cap="none">
                <a:solidFill>
                  <a:schemeClr val="dk1"/>
                </a:solidFill>
                <a:latin typeface="Times"/>
                <a:ea typeface="Times"/>
                <a:cs typeface="Times"/>
                <a:sym typeface="Times"/>
              </a:rPr>
              <a:t>Figure 1: -Types of SDLC Models</a:t>
            </a:r>
            <a:br>
              <a:rPr lang="en-US" sz="1600" b="1" i="0" u="none" strike="noStrike" cap="none">
                <a:solidFill>
                  <a:schemeClr val="dk1"/>
                </a:solidFill>
                <a:latin typeface="Times"/>
                <a:ea typeface="Times"/>
                <a:cs typeface="Times"/>
                <a:sym typeface="Times"/>
              </a:rPr>
            </a:br>
            <a:endParaRPr sz="1600" b="1" i="0" u="none" strike="noStrike" cap="none">
              <a:solidFill>
                <a:schemeClr val="dk1"/>
              </a:solidFill>
              <a:latin typeface="Times"/>
              <a:ea typeface="Times"/>
              <a:cs typeface="Times"/>
              <a:sym typeface="Time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4"/>
          <p:cNvSpPr txBox="1">
            <a:spLocks noGrp="1"/>
          </p:cNvSpPr>
          <p:nvPr>
            <p:ph type="body" idx="1"/>
          </p:nvPr>
        </p:nvSpPr>
        <p:spPr>
          <a:xfrm>
            <a:off x="457380" y="1440360"/>
            <a:ext cx="8229240" cy="3977280"/>
          </a:xfrm>
          <a:prstGeom prst="rect">
            <a:avLst/>
          </a:prstGeom>
          <a:noFill/>
          <a:ln>
            <a:noFill/>
          </a:ln>
        </p:spPr>
        <p:txBody>
          <a:bodyPr spcFirstLastPara="1" wrap="square" lIns="0" tIns="0" rIns="0" bIns="0" anchor="t" anchorCtr="0">
            <a:noAutofit/>
          </a:bodyPr>
          <a:lstStyle/>
          <a:p>
            <a:pPr marL="114300" lvl="0" indent="0" algn="just" rtl="0">
              <a:lnSpc>
                <a:spcPct val="90000"/>
              </a:lnSpc>
              <a:spcBef>
                <a:spcPts val="1000"/>
              </a:spcBef>
              <a:spcAft>
                <a:spcPts val="0"/>
              </a:spcAft>
              <a:buSzPts val="1800"/>
              <a:buNone/>
            </a:pPr>
            <a:r>
              <a:rPr lang="en-US" sz="2000" b="0" i="0" dirty="0">
                <a:solidFill>
                  <a:srgbClr val="333333"/>
                </a:solidFill>
                <a:latin typeface="Times"/>
                <a:ea typeface="Times"/>
                <a:cs typeface="Times"/>
                <a:sym typeface="Times"/>
              </a:rPr>
              <a:t>Winston Royce introduced the Waterfall Model in 1970.This model has five phases: </a:t>
            </a:r>
            <a:endParaRPr sz="2000" dirty="0"/>
          </a:p>
          <a:p>
            <a:pPr marL="914400" lvl="1" indent="-342900" algn="just" rtl="0">
              <a:lnSpc>
                <a:spcPct val="90000"/>
              </a:lnSpc>
              <a:spcBef>
                <a:spcPts val="500"/>
              </a:spcBef>
              <a:spcAft>
                <a:spcPts val="0"/>
              </a:spcAft>
              <a:buSzPts val="1800"/>
              <a:buChar char="•"/>
            </a:pPr>
            <a:r>
              <a:rPr lang="en-US" sz="2000" b="0" i="0" dirty="0">
                <a:solidFill>
                  <a:srgbClr val="333333"/>
                </a:solidFill>
                <a:latin typeface="Times"/>
                <a:ea typeface="Times"/>
                <a:cs typeface="Times"/>
                <a:sym typeface="Times"/>
              </a:rPr>
              <a:t>Requirements analysis and specification, </a:t>
            </a:r>
            <a:endParaRPr sz="2000" dirty="0"/>
          </a:p>
          <a:p>
            <a:pPr marL="914400" lvl="1" indent="-342900" algn="just" rtl="0">
              <a:lnSpc>
                <a:spcPct val="90000"/>
              </a:lnSpc>
              <a:spcBef>
                <a:spcPts val="500"/>
              </a:spcBef>
              <a:spcAft>
                <a:spcPts val="0"/>
              </a:spcAft>
              <a:buSzPts val="1800"/>
              <a:buChar char="•"/>
            </a:pPr>
            <a:r>
              <a:rPr lang="en-US" sz="2000" b="0" i="0" dirty="0">
                <a:solidFill>
                  <a:srgbClr val="333333"/>
                </a:solidFill>
                <a:latin typeface="Times"/>
                <a:ea typeface="Times"/>
                <a:cs typeface="Times"/>
                <a:sym typeface="Times"/>
              </a:rPr>
              <a:t>Design </a:t>
            </a:r>
            <a:endParaRPr sz="2000" dirty="0"/>
          </a:p>
          <a:p>
            <a:pPr marL="914400" lvl="1" indent="-342900" algn="just" rtl="0">
              <a:lnSpc>
                <a:spcPct val="90000"/>
              </a:lnSpc>
              <a:spcBef>
                <a:spcPts val="500"/>
              </a:spcBef>
              <a:spcAft>
                <a:spcPts val="0"/>
              </a:spcAft>
              <a:buSzPts val="1800"/>
              <a:buChar char="•"/>
            </a:pPr>
            <a:r>
              <a:rPr lang="en-US" sz="2000" b="0" i="0" dirty="0">
                <a:solidFill>
                  <a:srgbClr val="333333"/>
                </a:solidFill>
                <a:latin typeface="Times"/>
                <a:ea typeface="Times"/>
                <a:cs typeface="Times"/>
                <a:sym typeface="Times"/>
              </a:rPr>
              <a:t>Implementation</a:t>
            </a:r>
            <a:endParaRPr sz="2000" dirty="0"/>
          </a:p>
          <a:p>
            <a:pPr marL="914400" lvl="1" indent="-342900" algn="just" rtl="0">
              <a:lnSpc>
                <a:spcPct val="90000"/>
              </a:lnSpc>
              <a:spcBef>
                <a:spcPts val="500"/>
              </a:spcBef>
              <a:spcAft>
                <a:spcPts val="0"/>
              </a:spcAft>
              <a:buSzPts val="1800"/>
              <a:buChar char="•"/>
            </a:pPr>
            <a:r>
              <a:rPr lang="en-US" sz="2000" dirty="0">
                <a:solidFill>
                  <a:srgbClr val="333333"/>
                </a:solidFill>
                <a:latin typeface="Times"/>
                <a:ea typeface="Times"/>
                <a:cs typeface="Times"/>
                <a:sym typeface="Times"/>
              </a:rPr>
              <a:t>U</a:t>
            </a:r>
            <a:r>
              <a:rPr lang="en-US" sz="2000" b="0" i="0" dirty="0">
                <a:solidFill>
                  <a:srgbClr val="333333"/>
                </a:solidFill>
                <a:latin typeface="Times"/>
                <a:ea typeface="Times"/>
                <a:cs typeface="Times"/>
                <a:sym typeface="Times"/>
              </a:rPr>
              <a:t>nit testing</a:t>
            </a:r>
            <a:endParaRPr sz="2000" dirty="0"/>
          </a:p>
          <a:p>
            <a:pPr marL="914400" lvl="1" indent="-342900" algn="just" rtl="0">
              <a:lnSpc>
                <a:spcPct val="90000"/>
              </a:lnSpc>
              <a:spcBef>
                <a:spcPts val="500"/>
              </a:spcBef>
              <a:spcAft>
                <a:spcPts val="0"/>
              </a:spcAft>
              <a:buSzPts val="1800"/>
              <a:buChar char="•"/>
            </a:pPr>
            <a:r>
              <a:rPr lang="en-US" sz="2000" b="0" i="0" dirty="0">
                <a:solidFill>
                  <a:srgbClr val="333333"/>
                </a:solidFill>
                <a:latin typeface="Times"/>
                <a:ea typeface="Times"/>
                <a:cs typeface="Times"/>
                <a:sym typeface="Times"/>
              </a:rPr>
              <a:t>Integration and system testing</a:t>
            </a:r>
            <a:endParaRPr sz="2000" dirty="0"/>
          </a:p>
          <a:p>
            <a:pPr marL="914400" lvl="1" indent="-342900" algn="just" rtl="0">
              <a:lnSpc>
                <a:spcPct val="90000"/>
              </a:lnSpc>
              <a:spcBef>
                <a:spcPts val="500"/>
              </a:spcBef>
              <a:spcAft>
                <a:spcPts val="0"/>
              </a:spcAft>
              <a:buSzPts val="1800"/>
              <a:buChar char="•"/>
            </a:pPr>
            <a:r>
              <a:rPr lang="en-US" sz="2000" b="0" i="0" dirty="0">
                <a:solidFill>
                  <a:srgbClr val="333333"/>
                </a:solidFill>
                <a:latin typeface="Times"/>
                <a:ea typeface="Times"/>
                <a:cs typeface="Times"/>
                <a:sym typeface="Times"/>
              </a:rPr>
              <a:t>Operation and maintenance</a:t>
            </a:r>
          </a:p>
          <a:p>
            <a:pPr marL="457200" lvl="0" indent="-342900" algn="just" rtl="0">
              <a:lnSpc>
                <a:spcPct val="90000"/>
              </a:lnSpc>
              <a:spcBef>
                <a:spcPts val="1000"/>
              </a:spcBef>
              <a:spcAft>
                <a:spcPts val="0"/>
              </a:spcAft>
              <a:buClr>
                <a:schemeClr val="dk1"/>
              </a:buClr>
              <a:buSzPts val="1800"/>
              <a:buChar char="•"/>
            </a:pPr>
            <a:r>
              <a:rPr lang="en-US" sz="2000" b="0" i="0" dirty="0">
                <a:solidFill>
                  <a:srgbClr val="333333"/>
                </a:solidFill>
                <a:latin typeface="Times"/>
                <a:ea typeface="Times"/>
                <a:cs typeface="Times"/>
                <a:sym typeface="Times"/>
              </a:rPr>
              <a:t>The steps always follow in this order and do not overlap. The developer must complete every phase before the next phase begins. This model is named "</a:t>
            </a:r>
            <a:r>
              <a:rPr lang="en-US" sz="2000" b="1" i="0" dirty="0">
                <a:solidFill>
                  <a:srgbClr val="333333"/>
                </a:solidFill>
                <a:latin typeface="Times"/>
                <a:ea typeface="Times"/>
                <a:cs typeface="Times"/>
                <a:sym typeface="Times"/>
              </a:rPr>
              <a:t>Waterfall Model</a:t>
            </a:r>
            <a:r>
              <a:rPr lang="en-US" sz="2000" b="0" i="0" dirty="0">
                <a:solidFill>
                  <a:srgbClr val="333333"/>
                </a:solidFill>
                <a:latin typeface="Times"/>
                <a:ea typeface="Times"/>
                <a:cs typeface="Times"/>
                <a:sym typeface="Times"/>
              </a:rPr>
              <a:t>", because its diagrammatic representation resembles a cascade of waterfalls.</a:t>
            </a:r>
          </a:p>
          <a:p>
            <a:pPr marL="457200" lvl="0" indent="-342900" algn="just" rtl="0">
              <a:lnSpc>
                <a:spcPct val="90000"/>
              </a:lnSpc>
              <a:spcBef>
                <a:spcPts val="1000"/>
              </a:spcBef>
              <a:spcAft>
                <a:spcPts val="0"/>
              </a:spcAft>
              <a:buClr>
                <a:schemeClr val="dk1"/>
              </a:buClr>
              <a:buSzPts val="1800"/>
              <a:buChar char="•"/>
            </a:pPr>
            <a:r>
              <a:rPr lang="en-US" sz="2000" dirty="0">
                <a:latin typeface="Times"/>
                <a:ea typeface="Times"/>
                <a:cs typeface="Times"/>
                <a:sym typeface="Times"/>
              </a:rPr>
              <a:t>Each of these phases produces one or more documents that need to be approved before the next phase begins.</a:t>
            </a:r>
            <a:endParaRPr sz="2000" dirty="0">
              <a:latin typeface="Times"/>
              <a:ea typeface="Times"/>
              <a:cs typeface="Times"/>
              <a:sym typeface="Times"/>
            </a:endParaRPr>
          </a:p>
        </p:txBody>
      </p:sp>
      <p:sp>
        <p:nvSpPr>
          <p:cNvPr id="154" name="Google Shape;154;p14"/>
          <p:cNvSpPr txBox="1">
            <a:spLocks noGrp="1"/>
          </p:cNvSpPr>
          <p:nvPr>
            <p:ph type="title"/>
          </p:nvPr>
        </p:nvSpPr>
        <p:spPr>
          <a:xfrm>
            <a:off x="-245096" y="0"/>
            <a:ext cx="5486040" cy="914040"/>
          </a:xfrm>
          <a:prstGeom prst="rect">
            <a:avLst/>
          </a:prstGeom>
          <a:noFill/>
          <a:ln>
            <a:noFill/>
          </a:ln>
        </p:spPr>
        <p:txBody>
          <a:bodyPr spcFirstLastPara="1" wrap="square" lIns="0" tIns="0" rIns="0" bIns="0" anchor="ctr" anchorCtr="0">
            <a:normAutofit/>
          </a:bodyPr>
          <a:lstStyle/>
          <a:p>
            <a:pPr marL="0" lvl="0" indent="0" algn="ctr" rtl="0">
              <a:lnSpc>
                <a:spcPct val="90000"/>
              </a:lnSpc>
              <a:spcBef>
                <a:spcPts val="0"/>
              </a:spcBef>
              <a:spcAft>
                <a:spcPts val="0"/>
              </a:spcAft>
              <a:buSzPts val="1800"/>
              <a:buNone/>
            </a:pPr>
            <a:r>
              <a:rPr lang="en-US" sz="3600" b="1" dirty="0">
                <a:latin typeface="Times New Roman"/>
                <a:ea typeface="Times New Roman"/>
                <a:cs typeface="Times New Roman"/>
                <a:sym typeface="Times New Roman"/>
              </a:rPr>
              <a:t>Waterfall Model</a:t>
            </a:r>
            <a:endParaRPr sz="3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9"/>
        <p:cNvGrpSpPr/>
        <p:nvPr/>
      </p:nvGrpSpPr>
      <p:grpSpPr>
        <a:xfrm>
          <a:off x="0" y="0"/>
          <a:ext cx="0" cy="0"/>
          <a:chOff x="0" y="0"/>
          <a:chExt cx="0" cy="0"/>
        </a:xfrm>
      </p:grpSpPr>
      <p:sp>
        <p:nvSpPr>
          <p:cNvPr id="160" name="Google Shape;160;p15"/>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rmAutofit/>
          </a:bodyPr>
          <a:lstStyle/>
          <a:p>
            <a:pPr marL="0" lvl="0" indent="0" algn="ctr" rtl="0">
              <a:lnSpc>
                <a:spcPct val="90000"/>
              </a:lnSpc>
              <a:spcBef>
                <a:spcPts val="0"/>
              </a:spcBef>
              <a:spcAft>
                <a:spcPts val="0"/>
              </a:spcAft>
              <a:buSzPts val="1800"/>
              <a:buNone/>
            </a:pPr>
            <a:r>
              <a:rPr lang="en-US" sz="3600" b="1" dirty="0">
                <a:latin typeface="Times New Roman"/>
                <a:ea typeface="Times New Roman"/>
                <a:cs typeface="Times New Roman"/>
                <a:sym typeface="Times New Roman"/>
              </a:rPr>
              <a:t>Waterfall Model</a:t>
            </a:r>
            <a:endParaRPr sz="3600" dirty="0"/>
          </a:p>
        </p:txBody>
      </p:sp>
      <p:sp>
        <p:nvSpPr>
          <p:cNvPr id="161" name="Google Shape;161;p1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a:ea typeface="Arial"/>
                <a:cs typeface="Arial"/>
                <a:sym typeface="Arial"/>
              </a:rPr>
              <a:t>14</a:t>
            </a:fld>
            <a:endParaRPr sz="1200" b="0" i="0" u="none" strike="noStrike" cap="none">
              <a:solidFill>
                <a:schemeClr val="lt1"/>
              </a:solidFill>
              <a:latin typeface="Arial"/>
              <a:ea typeface="Arial"/>
              <a:cs typeface="Arial"/>
              <a:sym typeface="Arial"/>
            </a:endParaRPr>
          </a:p>
        </p:txBody>
      </p:sp>
      <p:pic>
        <p:nvPicPr>
          <p:cNvPr id="162" name="Google Shape;162;p15" descr="Waterfall model"/>
          <p:cNvPicPr preferRelativeResize="0"/>
          <p:nvPr/>
        </p:nvPicPr>
        <p:blipFill rotWithShape="1">
          <a:blip r:embed="rId3">
            <a:alphaModFix/>
          </a:blip>
          <a:srcRect/>
          <a:stretch/>
        </p:blipFill>
        <p:spPr>
          <a:xfrm>
            <a:off x="1003954" y="1299229"/>
            <a:ext cx="7136091" cy="4570027"/>
          </a:xfrm>
          <a:prstGeom prst="rect">
            <a:avLst/>
          </a:prstGeom>
          <a:noFill/>
          <a:ln>
            <a:noFill/>
          </a:ln>
        </p:spPr>
      </p:pic>
      <p:sp>
        <p:nvSpPr>
          <p:cNvPr id="163" name="Google Shape;163;p15"/>
          <p:cNvSpPr txBox="1"/>
          <p:nvPr/>
        </p:nvSpPr>
        <p:spPr>
          <a:xfrm>
            <a:off x="1859437" y="6334780"/>
            <a:ext cx="5679648"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a:solidFill>
                  <a:schemeClr val="dk1"/>
                </a:solidFill>
                <a:latin typeface="Times"/>
                <a:ea typeface="Times"/>
                <a:cs typeface="Times"/>
                <a:sym typeface="Times"/>
              </a:rPr>
              <a:t>Figure 2: -Water Fall Model</a:t>
            </a:r>
            <a:br>
              <a:rPr lang="en-US" sz="1400" b="1" i="0" u="none" strike="noStrike" cap="none">
                <a:solidFill>
                  <a:schemeClr val="dk1"/>
                </a:solidFill>
                <a:latin typeface="Times"/>
                <a:ea typeface="Times"/>
                <a:cs typeface="Times"/>
                <a:sym typeface="Times"/>
              </a:rPr>
            </a:br>
            <a:endParaRPr sz="1400" b="1" i="0" u="none" strike="noStrike" cap="none">
              <a:solidFill>
                <a:schemeClr val="dk1"/>
              </a:solidFill>
              <a:latin typeface="Times"/>
              <a:ea typeface="Times"/>
              <a:cs typeface="Times"/>
              <a:sym typeface="Time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9">
          <a:extLst>
            <a:ext uri="{FF2B5EF4-FFF2-40B4-BE49-F238E27FC236}">
              <a16:creationId xmlns:a16="http://schemas.microsoft.com/office/drawing/2014/main" id="{55861727-F871-027B-8105-E24CD955B1B6}"/>
            </a:ext>
          </a:extLst>
        </p:cNvPr>
        <p:cNvGrpSpPr/>
        <p:nvPr/>
      </p:nvGrpSpPr>
      <p:grpSpPr>
        <a:xfrm>
          <a:off x="0" y="0"/>
          <a:ext cx="0" cy="0"/>
          <a:chOff x="0" y="0"/>
          <a:chExt cx="0" cy="0"/>
        </a:xfrm>
      </p:grpSpPr>
      <p:sp>
        <p:nvSpPr>
          <p:cNvPr id="160" name="Google Shape;160;p15">
            <a:extLst>
              <a:ext uri="{FF2B5EF4-FFF2-40B4-BE49-F238E27FC236}">
                <a16:creationId xmlns:a16="http://schemas.microsoft.com/office/drawing/2014/main" id="{BAF38724-BBD6-54FE-9DFA-5BC7D16A5F36}"/>
              </a:ext>
            </a:extLst>
          </p:cNvPr>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rmAutofit/>
          </a:bodyPr>
          <a:lstStyle/>
          <a:p>
            <a:pPr marL="0" lvl="0" indent="0" algn="ctr" rtl="0">
              <a:lnSpc>
                <a:spcPct val="90000"/>
              </a:lnSpc>
              <a:spcBef>
                <a:spcPts val="0"/>
              </a:spcBef>
              <a:spcAft>
                <a:spcPts val="0"/>
              </a:spcAft>
              <a:buSzPts val="1800"/>
              <a:buNone/>
            </a:pPr>
            <a:r>
              <a:rPr lang="en-US" sz="3600" b="1" dirty="0">
                <a:latin typeface="Times New Roman"/>
                <a:ea typeface="Times New Roman"/>
                <a:cs typeface="Times New Roman"/>
                <a:sym typeface="Times New Roman"/>
              </a:rPr>
              <a:t>Waterfall Model</a:t>
            </a:r>
            <a:endParaRPr sz="3600" dirty="0"/>
          </a:p>
        </p:txBody>
      </p:sp>
      <p:sp>
        <p:nvSpPr>
          <p:cNvPr id="161" name="Google Shape;161;p15">
            <a:extLst>
              <a:ext uri="{FF2B5EF4-FFF2-40B4-BE49-F238E27FC236}">
                <a16:creationId xmlns:a16="http://schemas.microsoft.com/office/drawing/2014/main" id="{95A0F83B-9FD1-1D29-3270-895A1A1DD8A4}"/>
              </a:ext>
            </a:extLst>
          </p:cNvPr>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a:ea typeface="Arial"/>
                <a:cs typeface="Arial"/>
                <a:sym typeface="Arial"/>
              </a:rPr>
              <a:t>15</a:t>
            </a:fld>
            <a:endParaRPr sz="1200" b="0" i="0" u="none" strike="noStrike" cap="none">
              <a:solidFill>
                <a:schemeClr val="lt1"/>
              </a:solidFill>
              <a:latin typeface="Arial"/>
              <a:ea typeface="Arial"/>
              <a:cs typeface="Arial"/>
              <a:sym typeface="Arial"/>
            </a:endParaRPr>
          </a:p>
        </p:txBody>
      </p:sp>
      <p:sp>
        <p:nvSpPr>
          <p:cNvPr id="163" name="Google Shape;163;p15">
            <a:extLst>
              <a:ext uri="{FF2B5EF4-FFF2-40B4-BE49-F238E27FC236}">
                <a16:creationId xmlns:a16="http://schemas.microsoft.com/office/drawing/2014/main" id="{6249F511-278F-47B7-435C-881BDC87CD53}"/>
              </a:ext>
            </a:extLst>
          </p:cNvPr>
          <p:cNvSpPr txBox="1"/>
          <p:nvPr/>
        </p:nvSpPr>
        <p:spPr>
          <a:xfrm>
            <a:off x="1859437" y="6334780"/>
            <a:ext cx="5679648" cy="52322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None/>
            </a:pPr>
            <a:r>
              <a:rPr lang="en-US" sz="1400" b="1" i="0" u="none" strike="noStrike" cap="none" dirty="0">
                <a:solidFill>
                  <a:schemeClr val="dk1"/>
                </a:solidFill>
                <a:latin typeface="Times"/>
                <a:ea typeface="Times"/>
                <a:cs typeface="Times"/>
                <a:sym typeface="Times"/>
              </a:rPr>
              <a:t>Figure 3: -Water Fall Model</a:t>
            </a:r>
            <a:br>
              <a:rPr lang="en-US" sz="1400" b="1" i="0" u="none" strike="noStrike" cap="none" dirty="0">
                <a:solidFill>
                  <a:schemeClr val="dk1"/>
                </a:solidFill>
                <a:latin typeface="Times"/>
                <a:ea typeface="Times"/>
                <a:cs typeface="Times"/>
                <a:sym typeface="Times"/>
              </a:rPr>
            </a:br>
            <a:endParaRPr sz="1400" b="1" i="0" u="none" strike="noStrike" cap="none" dirty="0">
              <a:solidFill>
                <a:schemeClr val="dk1"/>
              </a:solidFill>
              <a:latin typeface="Times"/>
              <a:ea typeface="Times"/>
              <a:cs typeface="Times"/>
              <a:sym typeface="Times"/>
            </a:endParaRPr>
          </a:p>
        </p:txBody>
      </p:sp>
      <p:pic>
        <p:nvPicPr>
          <p:cNvPr id="3074" name="Picture 2" descr="waterfall model">
            <a:extLst>
              <a:ext uri="{FF2B5EF4-FFF2-40B4-BE49-F238E27FC236}">
                <a16:creationId xmlns:a16="http://schemas.microsoft.com/office/drawing/2014/main" id="{2F4F7EE7-5FBD-32B1-2E6F-0D41E9DF5F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40852" y="1577180"/>
            <a:ext cx="4835361" cy="409445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8751809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7"/>
        <p:cNvGrpSpPr/>
        <p:nvPr/>
      </p:nvGrpSpPr>
      <p:grpSpPr>
        <a:xfrm>
          <a:off x="0" y="0"/>
          <a:ext cx="0" cy="0"/>
          <a:chOff x="0" y="0"/>
          <a:chExt cx="0" cy="0"/>
        </a:xfrm>
      </p:grpSpPr>
      <p:sp>
        <p:nvSpPr>
          <p:cNvPr id="168" name="Google Shape;168;p16"/>
          <p:cNvSpPr txBox="1">
            <a:spLocks noGrp="1"/>
          </p:cNvSpPr>
          <p:nvPr>
            <p:ph type="body" idx="1"/>
          </p:nvPr>
        </p:nvSpPr>
        <p:spPr>
          <a:xfrm>
            <a:off x="426080" y="1610043"/>
            <a:ext cx="8291839" cy="3977280"/>
          </a:xfrm>
          <a:prstGeom prst="rect">
            <a:avLst/>
          </a:prstGeom>
          <a:noFill/>
          <a:ln>
            <a:noFill/>
          </a:ln>
        </p:spPr>
        <p:txBody>
          <a:bodyPr spcFirstLastPara="1" wrap="square" lIns="0" tIns="0" rIns="0" bIns="0" anchor="t" anchorCtr="0">
            <a:noAutofit/>
          </a:bodyPr>
          <a:lstStyle/>
          <a:p>
            <a:pPr marL="457200" lvl="0" indent="-342900" algn="just" rtl="0">
              <a:lnSpc>
                <a:spcPct val="120000"/>
              </a:lnSpc>
              <a:spcBef>
                <a:spcPts val="1000"/>
              </a:spcBef>
              <a:spcAft>
                <a:spcPts val="0"/>
              </a:spcAft>
              <a:buSzPts val="1800"/>
              <a:buChar char="•"/>
            </a:pPr>
            <a:r>
              <a:rPr lang="en-US" b="1" i="0" dirty="0">
                <a:solidFill>
                  <a:srgbClr val="333333"/>
                </a:solidFill>
                <a:latin typeface="Times"/>
                <a:ea typeface="Times"/>
                <a:cs typeface="Times"/>
                <a:sym typeface="Times"/>
              </a:rPr>
              <a:t>Requirements analysis and specification phase:</a:t>
            </a:r>
            <a:r>
              <a:rPr lang="en-US" b="0" i="0" dirty="0">
                <a:solidFill>
                  <a:srgbClr val="333333"/>
                </a:solidFill>
                <a:latin typeface="Times"/>
                <a:ea typeface="Times"/>
                <a:cs typeface="Times"/>
                <a:sym typeface="Times"/>
              </a:rPr>
              <a:t> The aim of this phase is to understand the exact requirements of the customer and to document them properly. Both the customer and the software developer work together so as to document all the functions, performance, and interfacing requirement of the software. It describes the "what" of the system to be produced and not "how". In this phase, a large document called </a:t>
            </a:r>
            <a:r>
              <a:rPr lang="en-US" b="1" i="0" dirty="0">
                <a:solidFill>
                  <a:srgbClr val="333333"/>
                </a:solidFill>
                <a:latin typeface="Times"/>
                <a:ea typeface="Times"/>
                <a:cs typeface="Times"/>
                <a:sym typeface="Times"/>
              </a:rPr>
              <a:t>Software Requirement Specification (SRS)</a:t>
            </a:r>
            <a:r>
              <a:rPr lang="en-US" b="0" i="0" dirty="0">
                <a:solidFill>
                  <a:srgbClr val="333333"/>
                </a:solidFill>
                <a:latin typeface="Times"/>
                <a:ea typeface="Times"/>
                <a:cs typeface="Times"/>
                <a:sym typeface="Times"/>
              </a:rPr>
              <a:t> document is created which contained a detailed description of what the system will do in the common language.</a:t>
            </a:r>
            <a:endParaRPr dirty="0"/>
          </a:p>
          <a:p>
            <a:pPr marL="457200" lvl="0" indent="-342900" algn="just" rtl="0">
              <a:lnSpc>
                <a:spcPct val="120000"/>
              </a:lnSpc>
              <a:spcBef>
                <a:spcPts val="1000"/>
              </a:spcBef>
              <a:spcAft>
                <a:spcPts val="0"/>
              </a:spcAft>
              <a:buSzPts val="1800"/>
              <a:buChar char="•"/>
            </a:pPr>
            <a:r>
              <a:rPr lang="en-US" b="1" i="0" dirty="0">
                <a:solidFill>
                  <a:srgbClr val="333333"/>
                </a:solidFill>
                <a:latin typeface="Times"/>
                <a:ea typeface="Times"/>
                <a:cs typeface="Times"/>
                <a:sym typeface="Times"/>
              </a:rPr>
              <a:t>Design Phase:</a:t>
            </a:r>
            <a:r>
              <a:rPr lang="en-US" b="0" i="0" dirty="0">
                <a:solidFill>
                  <a:srgbClr val="333333"/>
                </a:solidFill>
                <a:latin typeface="Times"/>
                <a:ea typeface="Times"/>
                <a:cs typeface="Times"/>
                <a:sym typeface="Times"/>
              </a:rPr>
              <a:t> This phase aims to transform the requirements gathered in the SRS into a suitable form which permits further coding in a programming language. It defines the overall software architecture together with high level and detailed design. All this work is documented as a </a:t>
            </a:r>
            <a:r>
              <a:rPr lang="en-US" b="1" i="0" dirty="0">
                <a:solidFill>
                  <a:srgbClr val="333333"/>
                </a:solidFill>
                <a:latin typeface="Times"/>
                <a:ea typeface="Times"/>
                <a:cs typeface="Times"/>
                <a:sym typeface="Times"/>
              </a:rPr>
              <a:t>Software Design Document (SDD)</a:t>
            </a:r>
            <a:r>
              <a:rPr lang="en-US" b="0" i="0" dirty="0">
                <a:solidFill>
                  <a:srgbClr val="333333"/>
                </a:solidFill>
                <a:latin typeface="Times"/>
                <a:ea typeface="Times"/>
                <a:cs typeface="Times"/>
                <a:sym typeface="Times"/>
              </a:rPr>
              <a:t>.</a:t>
            </a:r>
            <a:endParaRPr dirty="0"/>
          </a:p>
          <a:p>
            <a:pPr marL="114300" lvl="0" indent="0" algn="just" rtl="0">
              <a:lnSpc>
                <a:spcPct val="120000"/>
              </a:lnSpc>
              <a:spcBef>
                <a:spcPts val="1000"/>
              </a:spcBef>
              <a:spcAft>
                <a:spcPts val="0"/>
              </a:spcAft>
              <a:buSzPts val="1800"/>
              <a:buNone/>
            </a:pPr>
            <a:endParaRPr b="0" i="0" dirty="0">
              <a:solidFill>
                <a:srgbClr val="333333"/>
              </a:solidFill>
              <a:latin typeface="Times"/>
              <a:ea typeface="Times"/>
              <a:cs typeface="Times"/>
              <a:sym typeface="Times"/>
            </a:endParaRPr>
          </a:p>
          <a:p>
            <a:pPr marL="114300" lvl="0" indent="0" algn="l" rtl="0">
              <a:lnSpc>
                <a:spcPct val="120000"/>
              </a:lnSpc>
              <a:spcBef>
                <a:spcPts val="1000"/>
              </a:spcBef>
              <a:spcAft>
                <a:spcPts val="0"/>
              </a:spcAft>
              <a:buSzPts val="1800"/>
              <a:buNone/>
            </a:pPr>
            <a:br>
              <a:rPr lang="en-US" dirty="0">
                <a:latin typeface="Times"/>
                <a:ea typeface="Times"/>
                <a:cs typeface="Times"/>
                <a:sym typeface="Times"/>
              </a:rPr>
            </a:br>
            <a:endParaRPr dirty="0">
              <a:latin typeface="Times"/>
              <a:ea typeface="Times"/>
              <a:cs typeface="Times"/>
              <a:sym typeface="Times"/>
            </a:endParaRPr>
          </a:p>
        </p:txBody>
      </p:sp>
      <p:sp>
        <p:nvSpPr>
          <p:cNvPr id="169" name="Google Shape;169;p16"/>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rmAutofit/>
          </a:bodyPr>
          <a:lstStyle/>
          <a:p>
            <a:pPr marL="0" lvl="0" indent="0" algn="ctr" rtl="0">
              <a:lnSpc>
                <a:spcPct val="90000"/>
              </a:lnSpc>
              <a:spcBef>
                <a:spcPts val="0"/>
              </a:spcBef>
              <a:spcAft>
                <a:spcPts val="0"/>
              </a:spcAft>
              <a:buSzPts val="1800"/>
              <a:buNone/>
            </a:pPr>
            <a:r>
              <a:rPr lang="en-US" sz="3600" b="1" dirty="0">
                <a:latin typeface="Times New Roman"/>
                <a:ea typeface="Times New Roman"/>
                <a:cs typeface="Times New Roman"/>
                <a:sym typeface="Times New Roman"/>
              </a:rPr>
              <a:t>Waterfall Model</a:t>
            </a:r>
            <a:endParaRPr sz="3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173"/>
        <p:cNvGrpSpPr/>
        <p:nvPr/>
      </p:nvGrpSpPr>
      <p:grpSpPr>
        <a:xfrm>
          <a:off x="0" y="0"/>
          <a:ext cx="0" cy="0"/>
          <a:chOff x="0" y="0"/>
          <a:chExt cx="0" cy="0"/>
        </a:xfrm>
      </p:grpSpPr>
      <p:sp>
        <p:nvSpPr>
          <p:cNvPr id="174" name="Google Shape;174;p17"/>
          <p:cNvSpPr txBox="1">
            <a:spLocks noGrp="1"/>
          </p:cNvSpPr>
          <p:nvPr>
            <p:ph type="body" idx="1"/>
          </p:nvPr>
        </p:nvSpPr>
        <p:spPr>
          <a:xfrm>
            <a:off x="558625" y="1666517"/>
            <a:ext cx="8026749" cy="3977400"/>
          </a:xfrm>
          <a:prstGeom prst="rect">
            <a:avLst/>
          </a:prstGeom>
          <a:noFill/>
          <a:ln>
            <a:noFill/>
          </a:ln>
        </p:spPr>
        <p:txBody>
          <a:bodyPr spcFirstLastPara="1" wrap="square" lIns="0" tIns="0" rIns="0" bIns="0" anchor="t" anchorCtr="0">
            <a:normAutofit fontScale="92500"/>
          </a:bodyPr>
          <a:lstStyle/>
          <a:p>
            <a:pPr marL="457200" lvl="0" indent="-342900" algn="just" rtl="0">
              <a:lnSpc>
                <a:spcPct val="100000"/>
              </a:lnSpc>
              <a:spcBef>
                <a:spcPts val="1000"/>
              </a:spcBef>
              <a:spcAft>
                <a:spcPts val="0"/>
              </a:spcAft>
              <a:buSzPts val="1800"/>
              <a:buChar char="•"/>
            </a:pPr>
            <a:r>
              <a:rPr lang="en-US" sz="1800" b="1" i="0" dirty="0">
                <a:solidFill>
                  <a:srgbClr val="333333"/>
                </a:solidFill>
                <a:latin typeface="Times"/>
                <a:ea typeface="Times"/>
                <a:cs typeface="Times"/>
                <a:sym typeface="Times"/>
              </a:rPr>
              <a:t>Implementation and unit testing:</a:t>
            </a:r>
            <a:r>
              <a:rPr lang="en-US" sz="1800" b="0" i="0" dirty="0">
                <a:solidFill>
                  <a:srgbClr val="333333"/>
                </a:solidFill>
                <a:latin typeface="Times"/>
                <a:ea typeface="Times"/>
                <a:cs typeface="Times"/>
                <a:sym typeface="Times"/>
              </a:rPr>
              <a:t> During this phase, design is implemented. If the SDD is complete, the implementation or coding phase proceeds smoothly, because all the information needed by software developers is contained in the SDD. During testing, the code is thoroughly examined and modified. Small modules are tested in isolation initially. After that these modules are tested by writing some overhead code to check the interaction between these modules and the flow of intermediate output.</a:t>
            </a:r>
            <a:endParaRPr dirty="0"/>
          </a:p>
          <a:p>
            <a:pPr marL="457200" lvl="0" indent="-342900" algn="just" rtl="0">
              <a:lnSpc>
                <a:spcPct val="100000"/>
              </a:lnSpc>
              <a:spcBef>
                <a:spcPts val="1000"/>
              </a:spcBef>
              <a:spcAft>
                <a:spcPts val="0"/>
              </a:spcAft>
              <a:buSzPts val="1800"/>
              <a:buChar char="•"/>
            </a:pPr>
            <a:r>
              <a:rPr lang="en-US" sz="1800" b="1" i="0" dirty="0">
                <a:solidFill>
                  <a:srgbClr val="333333"/>
                </a:solidFill>
                <a:latin typeface="Times"/>
                <a:ea typeface="Times"/>
                <a:cs typeface="Times"/>
                <a:sym typeface="Times"/>
              </a:rPr>
              <a:t>Integration and System Testing:</a:t>
            </a:r>
            <a:r>
              <a:rPr lang="en-US" sz="1800" b="0" i="0" dirty="0">
                <a:solidFill>
                  <a:srgbClr val="333333"/>
                </a:solidFill>
                <a:latin typeface="Times"/>
                <a:ea typeface="Times"/>
                <a:cs typeface="Times"/>
                <a:sym typeface="Times"/>
              </a:rPr>
              <a:t> This phase is highly crucial as the quality of the end product is determined by the effectiveness of the testing carried out. The better output will lead to satisfied customers, lower maintenance costs, and accurate results. Unit testing determines the efficiency of individual modules. However, in this phase, the modules are tested for their interactions with each other and with the system.</a:t>
            </a:r>
            <a:endParaRPr dirty="0"/>
          </a:p>
          <a:p>
            <a:pPr marL="457200" lvl="0" indent="-342900" algn="just" rtl="0">
              <a:lnSpc>
                <a:spcPct val="100000"/>
              </a:lnSpc>
              <a:spcBef>
                <a:spcPts val="1000"/>
              </a:spcBef>
              <a:spcAft>
                <a:spcPts val="0"/>
              </a:spcAft>
              <a:buSzPts val="1800"/>
              <a:buChar char="•"/>
            </a:pPr>
            <a:r>
              <a:rPr lang="en-US" sz="1800" b="1" i="0" dirty="0">
                <a:solidFill>
                  <a:srgbClr val="333333"/>
                </a:solidFill>
                <a:latin typeface="Times"/>
                <a:ea typeface="Times"/>
                <a:cs typeface="Times"/>
                <a:sym typeface="Times"/>
              </a:rPr>
              <a:t>Operation and maintenance phase:</a:t>
            </a:r>
            <a:r>
              <a:rPr lang="en-US" sz="1800" b="0" i="0" dirty="0">
                <a:solidFill>
                  <a:srgbClr val="333333"/>
                </a:solidFill>
                <a:latin typeface="Times"/>
                <a:ea typeface="Times"/>
                <a:cs typeface="Times"/>
                <a:sym typeface="Times"/>
              </a:rPr>
              <a:t> Maintenance is the task performed by every user once the software has been delivered to the customer, installed, and operational.</a:t>
            </a:r>
            <a:endParaRPr dirty="0"/>
          </a:p>
          <a:p>
            <a:pPr marL="457200" lvl="0" indent="-228600" algn="l" rtl="0">
              <a:lnSpc>
                <a:spcPct val="100000"/>
              </a:lnSpc>
              <a:spcBef>
                <a:spcPts val="1000"/>
              </a:spcBef>
              <a:spcAft>
                <a:spcPts val="0"/>
              </a:spcAft>
              <a:buSzPts val="1800"/>
              <a:buNone/>
            </a:pPr>
            <a:endParaRPr sz="1800" dirty="0">
              <a:latin typeface="Times"/>
              <a:ea typeface="Times"/>
              <a:cs typeface="Times"/>
              <a:sym typeface="Times"/>
            </a:endParaRPr>
          </a:p>
        </p:txBody>
      </p:sp>
      <p:sp>
        <p:nvSpPr>
          <p:cNvPr id="175" name="Google Shape;175;p1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rmAutofit/>
          </a:bodyPr>
          <a:lstStyle/>
          <a:p>
            <a:pPr marL="0" lvl="0" indent="0" algn="ctr" rtl="0">
              <a:lnSpc>
                <a:spcPct val="90000"/>
              </a:lnSpc>
              <a:spcBef>
                <a:spcPts val="0"/>
              </a:spcBef>
              <a:spcAft>
                <a:spcPts val="0"/>
              </a:spcAft>
              <a:buSzPts val="1800"/>
              <a:buNone/>
            </a:pPr>
            <a:r>
              <a:rPr lang="en-US" sz="3600" b="1" dirty="0">
                <a:latin typeface="Times New Roman"/>
                <a:ea typeface="Times New Roman"/>
                <a:cs typeface="Times New Roman"/>
                <a:sym typeface="Times New Roman"/>
              </a:rPr>
              <a:t>Waterfall Model</a:t>
            </a:r>
            <a:endParaRPr sz="3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79"/>
        <p:cNvGrpSpPr/>
        <p:nvPr/>
      </p:nvGrpSpPr>
      <p:grpSpPr>
        <a:xfrm>
          <a:off x="0" y="0"/>
          <a:ext cx="0" cy="0"/>
          <a:chOff x="0" y="0"/>
          <a:chExt cx="0" cy="0"/>
        </a:xfrm>
      </p:grpSpPr>
      <p:sp>
        <p:nvSpPr>
          <p:cNvPr id="180" name="Google Shape;180;p18"/>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rmAutofit/>
          </a:bodyPr>
          <a:lstStyle/>
          <a:p>
            <a:pPr marL="0" lvl="0" indent="0" algn="ctr" rtl="0">
              <a:lnSpc>
                <a:spcPct val="90000"/>
              </a:lnSpc>
              <a:spcBef>
                <a:spcPts val="0"/>
              </a:spcBef>
              <a:spcAft>
                <a:spcPts val="0"/>
              </a:spcAft>
              <a:buSzPts val="1800"/>
              <a:buNone/>
            </a:pPr>
            <a:r>
              <a:rPr lang="en-US" sz="3600" b="1" dirty="0">
                <a:latin typeface="Times New Roman"/>
                <a:ea typeface="Times New Roman"/>
                <a:cs typeface="Times New Roman"/>
                <a:sym typeface="Times New Roman"/>
              </a:rPr>
              <a:t>Waterfall Model</a:t>
            </a:r>
            <a:endParaRPr sz="3600" dirty="0"/>
          </a:p>
        </p:txBody>
      </p:sp>
      <p:sp>
        <p:nvSpPr>
          <p:cNvPr id="181" name="Google Shape;181;p18"/>
          <p:cNvSpPr txBox="1">
            <a:spLocks noGrp="1"/>
          </p:cNvSpPr>
          <p:nvPr>
            <p:ph type="body" idx="1"/>
          </p:nvPr>
        </p:nvSpPr>
        <p:spPr>
          <a:xfrm>
            <a:off x="141402" y="1189740"/>
            <a:ext cx="8563892" cy="3977280"/>
          </a:xfrm>
          <a:prstGeom prst="rect">
            <a:avLst/>
          </a:prstGeom>
          <a:noFill/>
          <a:ln>
            <a:noFill/>
          </a:ln>
        </p:spPr>
        <p:txBody>
          <a:bodyPr spcFirstLastPara="1" wrap="square" lIns="0" tIns="0" rIns="0" bIns="0" anchor="t" anchorCtr="0">
            <a:noAutofit/>
          </a:bodyPr>
          <a:lstStyle/>
          <a:p>
            <a:pPr marL="457200" lvl="0" indent="-342900" algn="just" rtl="0">
              <a:lnSpc>
                <a:spcPct val="90000"/>
              </a:lnSpc>
              <a:spcBef>
                <a:spcPts val="1000"/>
              </a:spcBef>
              <a:spcAft>
                <a:spcPts val="0"/>
              </a:spcAft>
              <a:buSzPts val="1800"/>
              <a:buChar char="•"/>
            </a:pPr>
            <a:r>
              <a:rPr lang="en-US" sz="1800" b="1" dirty="0">
                <a:latin typeface="Times"/>
                <a:ea typeface="Times"/>
                <a:cs typeface="Times"/>
                <a:sym typeface="Times"/>
              </a:rPr>
              <a:t>ADVANTAGES:</a:t>
            </a:r>
            <a:endParaRPr dirty="0"/>
          </a:p>
          <a:p>
            <a:pPr marL="914400" lvl="1" indent="-342900" algn="just" rtl="0">
              <a:lnSpc>
                <a:spcPct val="90000"/>
              </a:lnSpc>
              <a:spcBef>
                <a:spcPts val="500"/>
              </a:spcBef>
              <a:spcAft>
                <a:spcPts val="0"/>
              </a:spcAft>
              <a:buSzPts val="1800"/>
              <a:buFont typeface="Arial"/>
              <a:buChar char="•"/>
            </a:pPr>
            <a:r>
              <a:rPr lang="en-US" sz="1800" dirty="0">
                <a:latin typeface="Times"/>
                <a:ea typeface="Times"/>
                <a:cs typeface="Times"/>
                <a:sym typeface="Times"/>
              </a:rPr>
              <a:t>Waterfall model works well for smaller projects where requirements are very well understood.</a:t>
            </a:r>
            <a:r>
              <a:rPr lang="en-US" sz="1800" b="0" i="0" dirty="0">
                <a:solidFill>
                  <a:srgbClr val="000000"/>
                </a:solidFill>
                <a:latin typeface="Times"/>
                <a:ea typeface="Times"/>
                <a:cs typeface="Times"/>
                <a:sym typeface="Times"/>
              </a:rPr>
              <a:t> This model is simple to implement also the number of resources that are required for it is minimal.</a:t>
            </a:r>
            <a:endParaRPr dirty="0"/>
          </a:p>
          <a:p>
            <a:pPr marL="914400" lvl="1" indent="-342900" algn="just" rtl="0">
              <a:lnSpc>
                <a:spcPct val="90000"/>
              </a:lnSpc>
              <a:spcBef>
                <a:spcPts val="500"/>
              </a:spcBef>
              <a:spcAft>
                <a:spcPts val="0"/>
              </a:spcAft>
              <a:buSzPts val="1800"/>
              <a:buFont typeface="Arial"/>
              <a:buChar char="•"/>
            </a:pPr>
            <a:r>
              <a:rPr lang="en-US" sz="1800" b="0" i="0" dirty="0">
                <a:solidFill>
                  <a:srgbClr val="000000"/>
                </a:solidFill>
                <a:latin typeface="Times"/>
                <a:ea typeface="Times"/>
                <a:cs typeface="Times"/>
                <a:sym typeface="Times"/>
              </a:rPr>
              <a:t>The requirements are simple and explicitly declared; they remain unchanged during the entire project development.</a:t>
            </a:r>
            <a:endParaRPr dirty="0"/>
          </a:p>
          <a:p>
            <a:pPr marL="914400" lvl="1" indent="-342900" algn="just" rtl="0">
              <a:lnSpc>
                <a:spcPct val="90000"/>
              </a:lnSpc>
              <a:spcBef>
                <a:spcPts val="500"/>
              </a:spcBef>
              <a:spcAft>
                <a:spcPts val="0"/>
              </a:spcAft>
              <a:buSzPts val="1800"/>
              <a:buFont typeface="Arial"/>
              <a:buChar char="•"/>
            </a:pPr>
            <a:r>
              <a:rPr lang="en-US" sz="1800" b="0" i="0" dirty="0">
                <a:solidFill>
                  <a:srgbClr val="000000"/>
                </a:solidFill>
                <a:latin typeface="Times"/>
                <a:ea typeface="Times"/>
                <a:cs typeface="Times"/>
                <a:sym typeface="Times"/>
              </a:rPr>
              <a:t>The start and end points for each phase is fixed, which makes it easy to cover progress.</a:t>
            </a:r>
            <a:endParaRPr dirty="0"/>
          </a:p>
          <a:p>
            <a:pPr marL="914400" lvl="1" indent="-342900" algn="just" rtl="0">
              <a:lnSpc>
                <a:spcPct val="90000"/>
              </a:lnSpc>
              <a:spcBef>
                <a:spcPts val="500"/>
              </a:spcBef>
              <a:spcAft>
                <a:spcPts val="0"/>
              </a:spcAft>
              <a:buSzPts val="1800"/>
              <a:buFont typeface="Arial"/>
              <a:buChar char="•"/>
            </a:pPr>
            <a:r>
              <a:rPr lang="en-US" sz="1800" b="0" i="0" dirty="0">
                <a:solidFill>
                  <a:srgbClr val="000000"/>
                </a:solidFill>
                <a:latin typeface="Times"/>
                <a:ea typeface="Times"/>
                <a:cs typeface="Times"/>
                <a:sym typeface="Times"/>
              </a:rPr>
              <a:t>The release date for the complete product, as well as its final cost, can be determined before development.</a:t>
            </a:r>
            <a:endParaRPr dirty="0"/>
          </a:p>
          <a:p>
            <a:pPr marL="914400" lvl="1" indent="-342900" algn="just" rtl="0">
              <a:lnSpc>
                <a:spcPct val="90000"/>
              </a:lnSpc>
              <a:spcBef>
                <a:spcPts val="500"/>
              </a:spcBef>
              <a:spcAft>
                <a:spcPts val="0"/>
              </a:spcAft>
              <a:buSzPts val="1800"/>
              <a:buFont typeface="Arial"/>
              <a:buChar char="•"/>
            </a:pPr>
            <a:r>
              <a:rPr lang="en-US" sz="1800" b="0" i="0" dirty="0">
                <a:solidFill>
                  <a:srgbClr val="000000"/>
                </a:solidFill>
                <a:latin typeface="Times"/>
                <a:ea typeface="Times"/>
                <a:cs typeface="Times"/>
                <a:sym typeface="Times"/>
              </a:rPr>
              <a:t>It gives easy to control and clarity for the customer due to a strict reporting system.</a:t>
            </a:r>
            <a:endParaRPr dirty="0"/>
          </a:p>
          <a:p>
            <a:pPr marL="914400" lvl="1" indent="-342900" algn="just" rtl="0">
              <a:lnSpc>
                <a:spcPct val="90000"/>
              </a:lnSpc>
              <a:spcBef>
                <a:spcPts val="500"/>
              </a:spcBef>
              <a:spcAft>
                <a:spcPts val="0"/>
              </a:spcAft>
              <a:buSzPts val="1800"/>
              <a:buFont typeface="Arial"/>
              <a:buChar char="•"/>
            </a:pPr>
            <a:r>
              <a:rPr lang="en-US" sz="1800" dirty="0">
                <a:solidFill>
                  <a:srgbClr val="000000"/>
                </a:solidFill>
                <a:latin typeface="Times"/>
                <a:ea typeface="Times"/>
                <a:cs typeface="Times"/>
                <a:sym typeface="Times"/>
              </a:rPr>
              <a:t>It is easy to manage due to the rigidity of the model – each phase has specific deliverables and a review process.</a:t>
            </a:r>
            <a:endParaRPr dirty="0"/>
          </a:p>
          <a:p>
            <a:pPr marL="914400" lvl="1" indent="-342900" algn="just" rtl="0">
              <a:lnSpc>
                <a:spcPct val="90000"/>
              </a:lnSpc>
              <a:spcBef>
                <a:spcPts val="500"/>
              </a:spcBef>
              <a:spcAft>
                <a:spcPts val="0"/>
              </a:spcAft>
              <a:buSzPts val="1800"/>
              <a:buFont typeface="Arial"/>
              <a:buChar char="•"/>
            </a:pPr>
            <a:r>
              <a:rPr lang="en-US" sz="1800" dirty="0">
                <a:solidFill>
                  <a:srgbClr val="000000"/>
                </a:solidFill>
                <a:latin typeface="Times"/>
                <a:ea typeface="Times"/>
                <a:cs typeface="Times"/>
                <a:sym typeface="Times"/>
              </a:rPr>
              <a:t>In this model phases are processed and completed one at a time. Phases do not overlap.</a:t>
            </a:r>
            <a:endParaRPr dirty="0"/>
          </a:p>
          <a:p>
            <a:pPr marL="914400" lvl="1" indent="-228600" algn="just" rtl="0">
              <a:lnSpc>
                <a:spcPct val="90000"/>
              </a:lnSpc>
              <a:spcBef>
                <a:spcPts val="500"/>
              </a:spcBef>
              <a:spcAft>
                <a:spcPts val="0"/>
              </a:spcAft>
              <a:buSzPts val="1800"/>
              <a:buFont typeface="Arial"/>
              <a:buNone/>
            </a:pPr>
            <a:endParaRPr sz="1800" dirty="0">
              <a:solidFill>
                <a:srgbClr val="000000"/>
              </a:solidFill>
              <a:latin typeface="Times"/>
              <a:ea typeface="Times"/>
              <a:cs typeface="Times"/>
              <a:sym typeface="Times"/>
            </a:endParaRPr>
          </a:p>
          <a:p>
            <a:pPr marL="914400" lvl="1" indent="-228600" algn="just" rtl="0">
              <a:lnSpc>
                <a:spcPct val="90000"/>
              </a:lnSpc>
              <a:spcBef>
                <a:spcPts val="500"/>
              </a:spcBef>
              <a:spcAft>
                <a:spcPts val="0"/>
              </a:spcAft>
              <a:buSzPts val="1800"/>
              <a:buNone/>
            </a:pPr>
            <a:endParaRPr sz="1800" dirty="0">
              <a:latin typeface="Times"/>
              <a:ea typeface="Times"/>
              <a:cs typeface="Times"/>
              <a:sym typeface="Times"/>
            </a:endParaRPr>
          </a:p>
          <a:p>
            <a:pPr marL="457200" lvl="0" indent="-228600" algn="just" rtl="0">
              <a:lnSpc>
                <a:spcPct val="90000"/>
              </a:lnSpc>
              <a:spcBef>
                <a:spcPts val="1000"/>
              </a:spcBef>
              <a:spcAft>
                <a:spcPts val="0"/>
              </a:spcAft>
              <a:buSzPts val="1800"/>
              <a:buNone/>
            </a:pPr>
            <a:endParaRPr sz="1800" dirty="0">
              <a:latin typeface="Times"/>
              <a:ea typeface="Times"/>
              <a:cs typeface="Times"/>
              <a:sym typeface="Times"/>
            </a:endParaRPr>
          </a:p>
        </p:txBody>
      </p:sp>
      <p:sp>
        <p:nvSpPr>
          <p:cNvPr id="182" name="Google Shape;182;p1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a:ea typeface="Arial"/>
                <a:cs typeface="Arial"/>
                <a:sym typeface="Arial"/>
              </a:rPr>
              <a:t>30-11-2024</a:t>
            </a:r>
            <a:endParaRPr sz="1200" b="0" i="0" u="none" strike="noStrike" cap="none">
              <a:solidFill>
                <a:schemeClr val="lt1"/>
              </a:solidFill>
              <a:latin typeface="Arial"/>
              <a:ea typeface="Arial"/>
              <a:cs typeface="Arial"/>
              <a:sym typeface="Arial"/>
            </a:endParaRPr>
          </a:p>
        </p:txBody>
      </p:sp>
      <p:sp>
        <p:nvSpPr>
          <p:cNvPr id="183" name="Google Shape;183;p1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a:ea typeface="Arial"/>
                <a:cs typeface="Arial"/>
                <a:sym typeface="Arial"/>
              </a:rPr>
              <a:t>18</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87"/>
        <p:cNvGrpSpPr/>
        <p:nvPr/>
      </p:nvGrpSpPr>
      <p:grpSpPr>
        <a:xfrm>
          <a:off x="0" y="0"/>
          <a:ext cx="0" cy="0"/>
          <a:chOff x="0" y="0"/>
          <a:chExt cx="0" cy="0"/>
        </a:xfrm>
      </p:grpSpPr>
      <p:sp>
        <p:nvSpPr>
          <p:cNvPr id="188" name="Google Shape;188;p19"/>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600" b="1" dirty="0">
                <a:latin typeface="Times New Roman"/>
                <a:ea typeface="Times New Roman"/>
                <a:cs typeface="Times New Roman"/>
                <a:sym typeface="Times New Roman"/>
              </a:rPr>
              <a:t>Waterfall Model</a:t>
            </a:r>
            <a:endParaRPr sz="3600" dirty="0"/>
          </a:p>
        </p:txBody>
      </p:sp>
      <p:sp>
        <p:nvSpPr>
          <p:cNvPr id="189" name="Google Shape;189;p19"/>
          <p:cNvSpPr txBox="1">
            <a:spLocks noGrp="1"/>
          </p:cNvSpPr>
          <p:nvPr>
            <p:ph type="body" idx="1"/>
          </p:nvPr>
        </p:nvSpPr>
        <p:spPr>
          <a:xfrm>
            <a:off x="136689" y="1038912"/>
            <a:ext cx="8229240" cy="3977280"/>
          </a:xfrm>
          <a:prstGeom prst="rect">
            <a:avLst/>
          </a:prstGeom>
          <a:noFill/>
          <a:ln>
            <a:noFill/>
          </a:ln>
        </p:spPr>
        <p:txBody>
          <a:bodyPr spcFirstLastPara="1" wrap="square" lIns="0" tIns="0" rIns="0" bIns="0" anchor="t" anchorCtr="0">
            <a:noAutofit/>
          </a:bodyPr>
          <a:lstStyle/>
          <a:p>
            <a:pPr marL="457200" lvl="0" indent="-342900" algn="just" rtl="0">
              <a:lnSpc>
                <a:spcPct val="90000"/>
              </a:lnSpc>
              <a:spcBef>
                <a:spcPts val="1000"/>
              </a:spcBef>
              <a:spcAft>
                <a:spcPts val="0"/>
              </a:spcAft>
              <a:buSzPts val="1800"/>
              <a:buChar char="•"/>
            </a:pPr>
            <a:r>
              <a:rPr lang="en-US" sz="1800" b="1" dirty="0">
                <a:latin typeface="Times New Roman"/>
                <a:ea typeface="Times New Roman"/>
                <a:cs typeface="Times New Roman"/>
                <a:sym typeface="Times New Roman"/>
              </a:rPr>
              <a:t>DISADVANTAGES:</a:t>
            </a:r>
            <a:r>
              <a:rPr lang="en-US" sz="1800" dirty="0">
                <a:latin typeface="Times New Roman"/>
                <a:ea typeface="Times New Roman"/>
                <a:cs typeface="Times New Roman"/>
                <a:sym typeface="Times New Roman"/>
              </a:rPr>
              <a:t> </a:t>
            </a:r>
            <a:endParaRPr dirty="0"/>
          </a:p>
          <a:p>
            <a:pPr marL="914400" lvl="1" indent="-342900" algn="just" rtl="0">
              <a:lnSpc>
                <a:spcPct val="90000"/>
              </a:lnSpc>
              <a:spcBef>
                <a:spcPts val="500"/>
              </a:spcBef>
              <a:spcAft>
                <a:spcPts val="0"/>
              </a:spcAft>
              <a:buSzPts val="1800"/>
              <a:buFont typeface="Arial"/>
              <a:buChar char="•"/>
            </a:pPr>
            <a:r>
              <a:rPr lang="en-US" sz="1800" dirty="0">
                <a:latin typeface="Times"/>
                <a:ea typeface="Times"/>
                <a:cs typeface="Times"/>
                <a:sym typeface="Times"/>
              </a:rPr>
              <a:t>Very less customer interaction is involved during the development of the product.</a:t>
            </a:r>
            <a:r>
              <a:rPr lang="en-US" sz="1800" b="0" i="0" dirty="0">
                <a:solidFill>
                  <a:srgbClr val="000000"/>
                </a:solidFill>
                <a:latin typeface="Times"/>
                <a:ea typeface="Times"/>
                <a:cs typeface="Times"/>
                <a:sym typeface="Times"/>
              </a:rPr>
              <a:t> In this model, the risk factor is higher, so this model is not suitable for more significant and complex projects.</a:t>
            </a:r>
            <a:endParaRPr dirty="0"/>
          </a:p>
          <a:p>
            <a:pPr marL="914400" lvl="1" indent="-342900" algn="just" rtl="0">
              <a:lnSpc>
                <a:spcPct val="90000"/>
              </a:lnSpc>
              <a:spcBef>
                <a:spcPts val="500"/>
              </a:spcBef>
              <a:spcAft>
                <a:spcPts val="0"/>
              </a:spcAft>
              <a:buSzPts val="1800"/>
              <a:buFont typeface="Arial"/>
              <a:buChar char="•"/>
            </a:pPr>
            <a:r>
              <a:rPr lang="en-US" sz="1800" b="0" i="0" dirty="0">
                <a:solidFill>
                  <a:srgbClr val="000000"/>
                </a:solidFill>
                <a:latin typeface="Times"/>
                <a:ea typeface="Times"/>
                <a:cs typeface="Times"/>
                <a:sym typeface="Times"/>
              </a:rPr>
              <a:t>This model cannot accept the changes in requirements during development.</a:t>
            </a:r>
            <a:endParaRPr dirty="0"/>
          </a:p>
          <a:p>
            <a:pPr marL="914400" lvl="1" indent="-342900" algn="just" rtl="0">
              <a:lnSpc>
                <a:spcPct val="90000"/>
              </a:lnSpc>
              <a:spcBef>
                <a:spcPts val="500"/>
              </a:spcBef>
              <a:spcAft>
                <a:spcPts val="0"/>
              </a:spcAft>
              <a:buSzPts val="1800"/>
              <a:buFont typeface="Arial"/>
              <a:buChar char="•"/>
            </a:pPr>
            <a:r>
              <a:rPr lang="en-US" sz="1800" b="0" i="0" dirty="0">
                <a:solidFill>
                  <a:srgbClr val="000000"/>
                </a:solidFill>
                <a:latin typeface="Times"/>
                <a:ea typeface="Times"/>
                <a:cs typeface="Times"/>
                <a:sym typeface="Times"/>
              </a:rPr>
              <a:t>It becomes tough to go back to the phase. For example, if the application has now shifted to the coding phase, and there is a change in requirement, It becomes tough to go back and change it.</a:t>
            </a:r>
            <a:endParaRPr dirty="0"/>
          </a:p>
          <a:p>
            <a:pPr marL="914400" lvl="1" indent="-342900" algn="just" rtl="0">
              <a:lnSpc>
                <a:spcPct val="90000"/>
              </a:lnSpc>
              <a:spcBef>
                <a:spcPts val="500"/>
              </a:spcBef>
              <a:spcAft>
                <a:spcPts val="0"/>
              </a:spcAft>
              <a:buSzPts val="1800"/>
              <a:buFont typeface="Arial"/>
              <a:buChar char="•"/>
            </a:pPr>
            <a:r>
              <a:rPr lang="en-US" sz="1800" b="0" i="0" dirty="0">
                <a:solidFill>
                  <a:srgbClr val="000000"/>
                </a:solidFill>
                <a:latin typeface="Times"/>
                <a:ea typeface="Times"/>
                <a:cs typeface="Times"/>
                <a:sym typeface="Times"/>
              </a:rPr>
              <a:t>Since the testing done at a later stage, it does not allow identifying the challenges and risks in the earlier phase, so the risk reduction strategy is difficult to prepare.</a:t>
            </a:r>
            <a:r>
              <a:rPr lang="en-US" sz="1800" dirty="0">
                <a:latin typeface="Times"/>
                <a:ea typeface="Times"/>
                <a:cs typeface="Times"/>
                <a:sym typeface="Times"/>
              </a:rPr>
              <a:t> Once an application is in the </a:t>
            </a:r>
            <a:r>
              <a:rPr lang="en-US" sz="1800" b="1" dirty="0">
                <a:latin typeface="Times"/>
                <a:ea typeface="Times"/>
                <a:cs typeface="Times"/>
                <a:sym typeface="Times"/>
              </a:rPr>
              <a:t>testing</a:t>
            </a:r>
            <a:r>
              <a:rPr lang="en-US" sz="1800" dirty="0">
                <a:latin typeface="Times"/>
                <a:ea typeface="Times"/>
                <a:cs typeface="Times"/>
                <a:sym typeface="Times"/>
              </a:rPr>
              <a:t> stage, it is very difficult to go back and change something that was not well-thought out in the concept stage.</a:t>
            </a:r>
            <a:endParaRPr dirty="0"/>
          </a:p>
          <a:p>
            <a:pPr marL="914400" lvl="1" indent="-342900" algn="just" rtl="0">
              <a:lnSpc>
                <a:spcPct val="90000"/>
              </a:lnSpc>
              <a:spcBef>
                <a:spcPts val="500"/>
              </a:spcBef>
              <a:spcAft>
                <a:spcPts val="0"/>
              </a:spcAft>
              <a:buSzPts val="1800"/>
              <a:buFont typeface="Arial"/>
              <a:buChar char="•"/>
            </a:pPr>
            <a:r>
              <a:rPr lang="en-US" sz="1800" dirty="0">
                <a:latin typeface="Times New Roman"/>
                <a:ea typeface="Times New Roman"/>
                <a:cs typeface="Times New Roman"/>
                <a:sym typeface="Times New Roman"/>
              </a:rPr>
              <a:t>No working software is produced until late during the life cycle.</a:t>
            </a:r>
            <a:endParaRPr dirty="0"/>
          </a:p>
          <a:p>
            <a:pPr marL="914400" lvl="1" indent="-342900" algn="just" rtl="0">
              <a:lnSpc>
                <a:spcPct val="90000"/>
              </a:lnSpc>
              <a:spcBef>
                <a:spcPts val="500"/>
              </a:spcBef>
              <a:spcAft>
                <a:spcPts val="0"/>
              </a:spcAft>
              <a:buSzPts val="1800"/>
              <a:buFont typeface="Arial"/>
              <a:buChar char="•"/>
            </a:pPr>
            <a:r>
              <a:rPr lang="en-US" sz="1800" dirty="0">
                <a:latin typeface="Times New Roman"/>
                <a:ea typeface="Times New Roman"/>
                <a:cs typeface="Times New Roman"/>
                <a:sym typeface="Times New Roman"/>
              </a:rPr>
              <a:t>High amounts of risk and uncertainty.</a:t>
            </a:r>
            <a:endParaRPr dirty="0"/>
          </a:p>
          <a:p>
            <a:pPr marL="914400" lvl="1" indent="-342900" algn="just" rtl="0">
              <a:lnSpc>
                <a:spcPct val="90000"/>
              </a:lnSpc>
              <a:spcBef>
                <a:spcPts val="500"/>
              </a:spcBef>
              <a:spcAft>
                <a:spcPts val="0"/>
              </a:spcAft>
              <a:buSzPts val="1800"/>
              <a:buFont typeface="Arial"/>
              <a:buChar char="•"/>
            </a:pPr>
            <a:r>
              <a:rPr lang="en-US" sz="1800" dirty="0">
                <a:latin typeface="Times New Roman"/>
                <a:ea typeface="Times New Roman"/>
                <a:cs typeface="Times New Roman"/>
                <a:sym typeface="Times New Roman"/>
              </a:rPr>
              <a:t>Poor model for big and complex projects.</a:t>
            </a:r>
            <a:endParaRPr dirty="0"/>
          </a:p>
          <a:p>
            <a:pPr marL="914400" lvl="1" indent="-342900" algn="just" rtl="0">
              <a:lnSpc>
                <a:spcPct val="90000"/>
              </a:lnSpc>
              <a:spcBef>
                <a:spcPts val="500"/>
              </a:spcBef>
              <a:spcAft>
                <a:spcPts val="0"/>
              </a:spcAft>
              <a:buSzPts val="1800"/>
              <a:buFont typeface="Arial"/>
              <a:buChar char="•"/>
            </a:pPr>
            <a:r>
              <a:rPr lang="en-US" sz="1800" dirty="0">
                <a:latin typeface="Times New Roman"/>
                <a:ea typeface="Times New Roman"/>
                <a:cs typeface="Times New Roman"/>
                <a:sym typeface="Times New Roman"/>
              </a:rPr>
              <a:t>Not suitable for the projects where requirements are at a moderate to high risk of changing.</a:t>
            </a:r>
            <a:endParaRPr dirty="0"/>
          </a:p>
          <a:p>
            <a:pPr marL="914400" lvl="1" indent="-228600" algn="just" rtl="0">
              <a:lnSpc>
                <a:spcPct val="90000"/>
              </a:lnSpc>
              <a:spcBef>
                <a:spcPts val="500"/>
              </a:spcBef>
              <a:spcAft>
                <a:spcPts val="0"/>
              </a:spcAft>
              <a:buSzPts val="1800"/>
              <a:buFont typeface="Arial"/>
              <a:buNone/>
            </a:pPr>
            <a:endParaRPr sz="1800" b="0" i="0" dirty="0">
              <a:solidFill>
                <a:srgbClr val="000000"/>
              </a:solidFill>
              <a:latin typeface="Inter"/>
              <a:ea typeface="Inter"/>
              <a:cs typeface="Inter"/>
              <a:sym typeface="Inter"/>
            </a:endParaRPr>
          </a:p>
          <a:p>
            <a:pPr marL="914400" lvl="1" indent="-228600" algn="just" rtl="0">
              <a:lnSpc>
                <a:spcPct val="90000"/>
              </a:lnSpc>
              <a:spcBef>
                <a:spcPts val="500"/>
              </a:spcBef>
              <a:spcAft>
                <a:spcPts val="0"/>
              </a:spcAft>
              <a:buSzPts val="1800"/>
              <a:buNone/>
            </a:pPr>
            <a:endParaRPr sz="1800" dirty="0">
              <a:latin typeface="Times New Roman"/>
              <a:ea typeface="Times New Roman"/>
              <a:cs typeface="Times New Roman"/>
              <a:sym typeface="Times New Roman"/>
            </a:endParaRPr>
          </a:p>
          <a:p>
            <a:pPr marL="914400" lvl="1" indent="-228600" algn="just" rtl="0">
              <a:lnSpc>
                <a:spcPct val="90000"/>
              </a:lnSpc>
              <a:spcBef>
                <a:spcPts val="500"/>
              </a:spcBef>
              <a:spcAft>
                <a:spcPts val="0"/>
              </a:spcAft>
              <a:buSzPts val="1800"/>
              <a:buNone/>
            </a:pPr>
            <a:endParaRPr sz="1800" dirty="0">
              <a:latin typeface="Times New Roman"/>
              <a:ea typeface="Times New Roman"/>
              <a:cs typeface="Times New Roman"/>
              <a:sym typeface="Times New Roman"/>
            </a:endParaRPr>
          </a:p>
          <a:p>
            <a:pPr marL="914400" lvl="1" indent="-228600" algn="just" rtl="0">
              <a:lnSpc>
                <a:spcPct val="90000"/>
              </a:lnSpc>
              <a:spcBef>
                <a:spcPts val="500"/>
              </a:spcBef>
              <a:spcAft>
                <a:spcPts val="0"/>
              </a:spcAft>
              <a:buSzPts val="1800"/>
              <a:buNone/>
            </a:pPr>
            <a:endParaRPr sz="1800" dirty="0">
              <a:latin typeface="Times New Roman"/>
              <a:ea typeface="Times New Roman"/>
              <a:cs typeface="Times New Roman"/>
              <a:sym typeface="Times New Roman"/>
            </a:endParaRPr>
          </a:p>
          <a:p>
            <a:pPr marL="457200" lvl="0" indent="-228600" algn="just" rtl="0">
              <a:lnSpc>
                <a:spcPct val="90000"/>
              </a:lnSpc>
              <a:spcBef>
                <a:spcPts val="1000"/>
              </a:spcBef>
              <a:spcAft>
                <a:spcPts val="0"/>
              </a:spcAft>
              <a:buSzPts val="1800"/>
              <a:buNone/>
            </a:pPr>
            <a:endParaRPr sz="1800" dirty="0">
              <a:latin typeface="Times New Roman"/>
              <a:ea typeface="Times New Roman"/>
              <a:cs typeface="Times New Roman"/>
              <a:sym typeface="Times New Roman"/>
            </a:endParaRPr>
          </a:p>
        </p:txBody>
      </p:sp>
      <p:sp>
        <p:nvSpPr>
          <p:cNvPr id="190" name="Google Shape;190;p1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a:ea typeface="Arial"/>
                <a:cs typeface="Arial"/>
                <a:sym typeface="Arial"/>
              </a:rPr>
              <a:t>30-11-2024</a:t>
            </a:r>
            <a:endParaRPr sz="1200" b="0" i="0" u="none" strike="noStrike" cap="none">
              <a:solidFill>
                <a:schemeClr val="lt1"/>
              </a:solidFill>
              <a:latin typeface="Arial"/>
              <a:ea typeface="Arial"/>
              <a:cs typeface="Arial"/>
              <a:sym typeface="Arial"/>
            </a:endParaRPr>
          </a:p>
        </p:txBody>
      </p:sp>
      <p:sp>
        <p:nvSpPr>
          <p:cNvPr id="191" name="Google Shape;191;p1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a:ea typeface="Arial"/>
                <a:cs typeface="Arial"/>
                <a:sym typeface="Arial"/>
              </a:rPr>
              <a:t>19</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95"/>
        <p:cNvGrpSpPr/>
        <p:nvPr/>
      </p:nvGrpSpPr>
      <p:grpSpPr>
        <a:xfrm>
          <a:off x="0" y="0"/>
          <a:ext cx="0" cy="0"/>
          <a:chOff x="0" y="0"/>
          <a:chExt cx="0" cy="0"/>
        </a:xfrm>
      </p:grpSpPr>
      <p:sp>
        <p:nvSpPr>
          <p:cNvPr id="196" name="Google Shape;196;p20"/>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ctr" rtl="0">
              <a:lnSpc>
                <a:spcPct val="90000"/>
              </a:lnSpc>
              <a:spcBef>
                <a:spcPts val="0"/>
              </a:spcBef>
              <a:spcAft>
                <a:spcPts val="0"/>
              </a:spcAft>
              <a:buSzPts val="1800"/>
              <a:buNone/>
            </a:pPr>
            <a:r>
              <a:rPr lang="en-US" sz="3600" b="1" dirty="0">
                <a:latin typeface="Times New Roman"/>
                <a:ea typeface="Times New Roman"/>
                <a:cs typeface="Times New Roman"/>
                <a:sym typeface="Times New Roman"/>
              </a:rPr>
              <a:t>Waterfall Model</a:t>
            </a:r>
            <a:endParaRPr sz="3600" dirty="0"/>
          </a:p>
        </p:txBody>
      </p:sp>
      <p:sp>
        <p:nvSpPr>
          <p:cNvPr id="197" name="Google Shape;197;p20"/>
          <p:cNvSpPr txBox="1">
            <a:spLocks noGrp="1"/>
          </p:cNvSpPr>
          <p:nvPr>
            <p:ph type="body" idx="1"/>
          </p:nvPr>
        </p:nvSpPr>
        <p:spPr>
          <a:xfrm>
            <a:off x="160256" y="1604520"/>
            <a:ext cx="8526184" cy="3977280"/>
          </a:xfrm>
          <a:prstGeom prst="rect">
            <a:avLst/>
          </a:prstGeom>
          <a:noFill/>
          <a:ln>
            <a:noFill/>
          </a:ln>
        </p:spPr>
        <p:txBody>
          <a:bodyPr spcFirstLastPara="1" wrap="square" lIns="0" tIns="0" rIns="0" bIns="0" anchor="t" anchorCtr="0">
            <a:normAutofit/>
          </a:bodyPr>
          <a:lstStyle/>
          <a:p>
            <a:pPr marL="457200" lvl="0" indent="-342900" algn="just" rtl="0">
              <a:lnSpc>
                <a:spcPct val="90000"/>
              </a:lnSpc>
              <a:spcBef>
                <a:spcPts val="1000"/>
              </a:spcBef>
              <a:spcAft>
                <a:spcPts val="0"/>
              </a:spcAft>
              <a:buSzPts val="1800"/>
              <a:buChar char="•"/>
            </a:pPr>
            <a:r>
              <a:rPr lang="en-US" sz="1800" b="1">
                <a:latin typeface="Times New Roman"/>
                <a:ea typeface="Times New Roman"/>
                <a:cs typeface="Times New Roman"/>
                <a:sym typeface="Times New Roman"/>
              </a:rPr>
              <a:t>When to use the waterfall model:</a:t>
            </a:r>
            <a:endParaRPr sz="1800">
              <a:latin typeface="Times New Roman"/>
              <a:ea typeface="Times New Roman"/>
              <a:cs typeface="Times New Roman"/>
              <a:sym typeface="Times New Roman"/>
            </a:endParaRPr>
          </a:p>
          <a:p>
            <a:pPr marL="914400" lvl="1" indent="-342900" algn="just" rtl="0">
              <a:lnSpc>
                <a:spcPct val="90000"/>
              </a:lnSpc>
              <a:spcBef>
                <a:spcPts val="500"/>
              </a:spcBef>
              <a:spcAft>
                <a:spcPts val="0"/>
              </a:spcAft>
              <a:buSzPts val="1800"/>
              <a:buChar char="•"/>
            </a:pPr>
            <a:r>
              <a:rPr lang="en-US" sz="1800">
                <a:latin typeface="Times New Roman"/>
                <a:ea typeface="Times New Roman"/>
                <a:cs typeface="Times New Roman"/>
                <a:sym typeface="Times New Roman"/>
              </a:rPr>
              <a:t>This model is used only when the requirements are very well known, clear and fixed.</a:t>
            </a:r>
            <a:endParaRPr/>
          </a:p>
          <a:p>
            <a:pPr marL="914400" lvl="1" indent="-342900" algn="just" rtl="0">
              <a:lnSpc>
                <a:spcPct val="90000"/>
              </a:lnSpc>
              <a:spcBef>
                <a:spcPts val="500"/>
              </a:spcBef>
              <a:spcAft>
                <a:spcPts val="0"/>
              </a:spcAft>
              <a:buSzPts val="1800"/>
              <a:buChar char="•"/>
            </a:pPr>
            <a:r>
              <a:rPr lang="en-US" sz="1800">
                <a:latin typeface="Times New Roman"/>
                <a:ea typeface="Times New Roman"/>
                <a:cs typeface="Times New Roman"/>
                <a:sym typeface="Times New Roman"/>
              </a:rPr>
              <a:t>Technology is understood.</a:t>
            </a:r>
            <a:endParaRPr/>
          </a:p>
          <a:p>
            <a:pPr marL="914400" lvl="1" indent="-342900" algn="just" rtl="0">
              <a:lnSpc>
                <a:spcPct val="90000"/>
              </a:lnSpc>
              <a:spcBef>
                <a:spcPts val="500"/>
              </a:spcBef>
              <a:spcAft>
                <a:spcPts val="0"/>
              </a:spcAft>
              <a:buSzPts val="1800"/>
              <a:buChar char="•"/>
            </a:pPr>
            <a:r>
              <a:rPr lang="en-US" sz="1800">
                <a:latin typeface="Times New Roman"/>
                <a:ea typeface="Times New Roman"/>
                <a:cs typeface="Times New Roman"/>
                <a:sym typeface="Times New Roman"/>
              </a:rPr>
              <a:t>There are no ambiguous requirements</a:t>
            </a:r>
            <a:endParaRPr/>
          </a:p>
          <a:p>
            <a:pPr marL="914400" lvl="1" indent="-342900" algn="just" rtl="0">
              <a:lnSpc>
                <a:spcPct val="90000"/>
              </a:lnSpc>
              <a:spcBef>
                <a:spcPts val="500"/>
              </a:spcBef>
              <a:spcAft>
                <a:spcPts val="0"/>
              </a:spcAft>
              <a:buSzPts val="1800"/>
              <a:buChar char="•"/>
            </a:pPr>
            <a:r>
              <a:rPr lang="en-US" sz="1800">
                <a:latin typeface="Times New Roman"/>
                <a:ea typeface="Times New Roman"/>
                <a:cs typeface="Times New Roman"/>
                <a:sym typeface="Times New Roman"/>
              </a:rPr>
              <a:t>Ample resources with required expertise are available freely</a:t>
            </a:r>
            <a:endParaRPr/>
          </a:p>
          <a:p>
            <a:pPr marL="914400" lvl="1" indent="-342900" algn="just" rtl="0">
              <a:lnSpc>
                <a:spcPct val="90000"/>
              </a:lnSpc>
              <a:spcBef>
                <a:spcPts val="500"/>
              </a:spcBef>
              <a:spcAft>
                <a:spcPts val="0"/>
              </a:spcAft>
              <a:buSzPts val="1800"/>
              <a:buChar char="•"/>
            </a:pPr>
            <a:r>
              <a:rPr lang="en-US" sz="1800">
                <a:latin typeface="Times New Roman"/>
                <a:ea typeface="Times New Roman"/>
                <a:cs typeface="Times New Roman"/>
                <a:sym typeface="Times New Roman"/>
              </a:rPr>
              <a:t>The project is short.</a:t>
            </a:r>
            <a:endParaRPr/>
          </a:p>
          <a:p>
            <a:pPr marL="457200" lvl="0" indent="-228600" algn="just" rtl="0">
              <a:lnSpc>
                <a:spcPct val="90000"/>
              </a:lnSpc>
              <a:spcBef>
                <a:spcPts val="1000"/>
              </a:spcBef>
              <a:spcAft>
                <a:spcPts val="0"/>
              </a:spcAft>
              <a:buSzPts val="1800"/>
              <a:buNone/>
            </a:pPr>
            <a:endParaRPr sz="1800">
              <a:latin typeface="Times New Roman"/>
              <a:ea typeface="Times New Roman"/>
              <a:cs typeface="Times New Roman"/>
              <a:sym typeface="Times New Roman"/>
            </a:endParaRPr>
          </a:p>
        </p:txBody>
      </p:sp>
      <p:sp>
        <p:nvSpPr>
          <p:cNvPr id="199" name="Google Shape;199;p2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a:ea typeface="Arial"/>
                <a:cs typeface="Arial"/>
                <a:sym typeface="Arial"/>
              </a:rPr>
              <a:t>20</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03"/>
        <p:cNvGrpSpPr/>
        <p:nvPr/>
      </p:nvGrpSpPr>
      <p:grpSpPr>
        <a:xfrm>
          <a:off x="0" y="0"/>
          <a:ext cx="0" cy="0"/>
          <a:chOff x="0" y="0"/>
          <a:chExt cx="0" cy="0"/>
        </a:xfrm>
      </p:grpSpPr>
      <p:sp>
        <p:nvSpPr>
          <p:cNvPr id="204" name="Google Shape;204;p21"/>
          <p:cNvSpPr txBox="1">
            <a:spLocks noGrp="1"/>
          </p:cNvSpPr>
          <p:nvPr>
            <p:ph type="title"/>
          </p:nvPr>
        </p:nvSpPr>
        <p:spPr>
          <a:xfrm>
            <a:off x="685800" y="42863"/>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3200" b="1"/>
              <a:t>Example of waterfall model</a:t>
            </a:r>
            <a:endParaRPr sz="3200" b="1"/>
          </a:p>
        </p:txBody>
      </p:sp>
      <p:sp>
        <p:nvSpPr>
          <p:cNvPr id="205" name="Google Shape;205;p21"/>
          <p:cNvSpPr txBox="1">
            <a:spLocks noGrp="1"/>
          </p:cNvSpPr>
          <p:nvPr>
            <p:ph type="body" idx="1"/>
          </p:nvPr>
        </p:nvSpPr>
        <p:spPr>
          <a:xfrm>
            <a:off x="352540" y="1185863"/>
            <a:ext cx="8333900" cy="4395937"/>
          </a:xfrm>
          <a:prstGeom prst="rect">
            <a:avLst/>
          </a:prstGeom>
          <a:noFill/>
          <a:ln>
            <a:noFill/>
          </a:ln>
        </p:spPr>
        <p:txBody>
          <a:bodyPr spcFirstLastPara="1" wrap="square" lIns="0" tIns="0" rIns="0" bIns="0" anchor="t" anchorCtr="0">
            <a:normAutofit fontScale="92500" lnSpcReduction="10000"/>
          </a:bodyPr>
          <a:lstStyle/>
          <a:p>
            <a:pPr marL="457200" lvl="0" indent="-342900" algn="just" rtl="0">
              <a:lnSpc>
                <a:spcPct val="150000"/>
              </a:lnSpc>
              <a:spcBef>
                <a:spcPts val="1000"/>
              </a:spcBef>
              <a:spcAft>
                <a:spcPts val="0"/>
              </a:spcAft>
              <a:buSzPct val="108108"/>
              <a:buChar char="•"/>
            </a:pPr>
            <a:r>
              <a:rPr lang="en-US" sz="1800">
                <a:latin typeface="Times"/>
                <a:ea typeface="Times"/>
                <a:cs typeface="Times"/>
                <a:sym typeface="Times"/>
              </a:rPr>
              <a:t>Example of the waterfall methodology is the construction of a building. The project starts with gathering requirements from the client, followed by the design phase, where blueprints and plans are created. Then, the construction phase begins, where the building is constructed according to the design. After completion, the building undergoes inspections and testing before it is finally handed over to the client.</a:t>
            </a:r>
            <a:endParaRPr/>
          </a:p>
          <a:p>
            <a:pPr marL="457200" lvl="0" indent="-342900" algn="just" rtl="0">
              <a:lnSpc>
                <a:spcPct val="150000"/>
              </a:lnSpc>
              <a:spcBef>
                <a:spcPts val="1000"/>
              </a:spcBef>
              <a:spcAft>
                <a:spcPts val="0"/>
              </a:spcAft>
              <a:buSzPct val="108108"/>
              <a:buChar char="•"/>
            </a:pPr>
            <a:r>
              <a:rPr lang="en-US" sz="1800">
                <a:latin typeface="Times"/>
                <a:ea typeface="Times"/>
                <a:cs typeface="Times"/>
                <a:sym typeface="Times"/>
              </a:rPr>
              <a:t>Another example is the development of a software application. The requirements are gathered from the client, followed by the design phase, where the system architecture and user interface are designed. Then, the development phase begins, where the code is written, and the software is built. After development, extensive testing is conducted to ensure the software functions as intended. Finally, the software is deployed to the end users.</a:t>
            </a:r>
            <a:endParaRPr/>
          </a:p>
          <a:p>
            <a:pPr marL="457200" lvl="0" indent="-228600" algn="l" rtl="0">
              <a:lnSpc>
                <a:spcPct val="90000"/>
              </a:lnSpc>
              <a:spcBef>
                <a:spcPts val="1000"/>
              </a:spcBef>
              <a:spcAft>
                <a:spcPts val="0"/>
              </a:spcAft>
              <a:buClr>
                <a:schemeClr val="dk1"/>
              </a:buClr>
              <a:buSzPct val="121621"/>
              <a:buNone/>
            </a:pPr>
            <a:endParaRPr/>
          </a:p>
        </p:txBody>
      </p:sp>
      <p:sp>
        <p:nvSpPr>
          <p:cNvPr id="206" name="Google Shape;206;p21"/>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Computer Networks               </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22"/>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Computer Networks               </a:t>
            </a:r>
            <a:endParaRPr/>
          </a:p>
        </p:txBody>
      </p:sp>
      <p:sp>
        <p:nvSpPr>
          <p:cNvPr id="212" name="Google Shape;212;p22"/>
          <p:cNvSpPr txBox="1">
            <a:spLocks noGrp="1"/>
          </p:cNvSpPr>
          <p:nvPr>
            <p:ph type="body" idx="1"/>
          </p:nvPr>
        </p:nvSpPr>
        <p:spPr>
          <a:xfrm>
            <a:off x="457200" y="1604963"/>
            <a:ext cx="8229600" cy="3976687"/>
          </a:xfrm>
          <a:prstGeom prst="rect">
            <a:avLst/>
          </a:prstGeom>
          <a:noFill/>
          <a:ln>
            <a:noFill/>
          </a:ln>
        </p:spPr>
        <p:txBody>
          <a:bodyPr spcFirstLastPara="1" wrap="square" lIns="0" tIns="0" rIns="0" bIns="0" anchor="t" anchorCtr="0">
            <a:normAutofit/>
          </a:bodyPr>
          <a:lstStyle/>
          <a:p>
            <a:pPr marL="457200" lvl="0" indent="-342900" algn="l" rtl="0">
              <a:lnSpc>
                <a:spcPct val="90000"/>
              </a:lnSpc>
              <a:spcBef>
                <a:spcPts val="1000"/>
              </a:spcBef>
              <a:spcAft>
                <a:spcPts val="0"/>
              </a:spcAft>
              <a:buClr>
                <a:schemeClr val="dk1"/>
              </a:buClr>
              <a:buSzPts val="1800"/>
              <a:buChar char="•"/>
            </a:pPr>
            <a:r>
              <a:rPr lang="en-US" b="1" i="0" dirty="0">
                <a:solidFill>
                  <a:schemeClr val="dk1"/>
                </a:solidFill>
                <a:latin typeface="Times"/>
                <a:ea typeface="Times"/>
                <a:cs typeface="Times"/>
                <a:sym typeface="Times"/>
              </a:rPr>
              <a:t>What is the importance of the SDLC process?</a:t>
            </a:r>
            <a:endParaRPr dirty="0"/>
          </a:p>
          <a:p>
            <a:pPr marL="457200" lvl="0" indent="-342900" algn="l" rtl="0">
              <a:lnSpc>
                <a:spcPct val="90000"/>
              </a:lnSpc>
              <a:spcBef>
                <a:spcPts val="1000"/>
              </a:spcBef>
              <a:spcAft>
                <a:spcPts val="0"/>
              </a:spcAft>
              <a:buClr>
                <a:schemeClr val="dk1"/>
              </a:buClr>
              <a:buSzPts val="1800"/>
              <a:buChar char="•"/>
            </a:pPr>
            <a:r>
              <a:rPr lang="en-US" b="1" i="0" dirty="0">
                <a:solidFill>
                  <a:schemeClr val="dk1"/>
                </a:solidFill>
                <a:latin typeface="Times"/>
                <a:ea typeface="Times"/>
                <a:cs typeface="Times"/>
                <a:sym typeface="Times"/>
              </a:rPr>
              <a:t>Explain the phases in a typical SDLC process briefly.</a:t>
            </a:r>
            <a:endParaRPr dirty="0"/>
          </a:p>
          <a:p>
            <a:pPr marL="457200" lvl="0" indent="-342900" algn="l" rtl="0">
              <a:lnSpc>
                <a:spcPct val="90000"/>
              </a:lnSpc>
              <a:spcBef>
                <a:spcPts val="1000"/>
              </a:spcBef>
              <a:spcAft>
                <a:spcPts val="0"/>
              </a:spcAft>
              <a:buClr>
                <a:schemeClr val="dk1"/>
              </a:buClr>
              <a:buSzPts val="1800"/>
              <a:buChar char="•"/>
            </a:pPr>
            <a:r>
              <a:rPr lang="en-US" b="1" i="0" dirty="0">
                <a:solidFill>
                  <a:schemeClr val="dk1"/>
                </a:solidFill>
                <a:latin typeface="Times"/>
                <a:ea typeface="Times"/>
                <a:cs typeface="Times"/>
                <a:sym typeface="Times"/>
              </a:rPr>
              <a:t>How does the Waterfall Methodology differ from other SDLC methodologies?</a:t>
            </a:r>
            <a:endParaRPr dirty="0"/>
          </a:p>
          <a:p>
            <a:pPr marL="457200" lvl="0" indent="-342900" algn="l" rtl="0">
              <a:lnSpc>
                <a:spcPct val="90000"/>
              </a:lnSpc>
              <a:spcBef>
                <a:spcPts val="1000"/>
              </a:spcBef>
              <a:spcAft>
                <a:spcPts val="0"/>
              </a:spcAft>
              <a:buClr>
                <a:schemeClr val="dk1"/>
              </a:buClr>
              <a:buSzPts val="1800"/>
              <a:buChar char="•"/>
            </a:pPr>
            <a:r>
              <a:rPr lang="en-US" b="1" i="0" dirty="0">
                <a:solidFill>
                  <a:schemeClr val="dk1"/>
                </a:solidFill>
                <a:latin typeface="Times"/>
                <a:ea typeface="Times"/>
                <a:cs typeface="Times"/>
                <a:sym typeface="Times"/>
              </a:rPr>
              <a:t>Can you explain each stage of the waterfall methodology?</a:t>
            </a:r>
            <a:endParaRPr dirty="0"/>
          </a:p>
          <a:p>
            <a:pPr marL="457200" lvl="0" indent="-342900" algn="l" rtl="0">
              <a:lnSpc>
                <a:spcPct val="90000"/>
              </a:lnSpc>
              <a:spcBef>
                <a:spcPts val="1000"/>
              </a:spcBef>
              <a:spcAft>
                <a:spcPts val="0"/>
              </a:spcAft>
              <a:buClr>
                <a:schemeClr val="dk1"/>
              </a:buClr>
              <a:buSzPts val="1800"/>
              <a:buChar char="•"/>
            </a:pPr>
            <a:r>
              <a:rPr lang="en-US" b="1" dirty="0">
                <a:solidFill>
                  <a:schemeClr val="dk1"/>
                </a:solidFill>
                <a:latin typeface="Times"/>
                <a:ea typeface="Times"/>
                <a:cs typeface="Times"/>
                <a:sym typeface="Times"/>
              </a:rPr>
              <a:t>What are the </a:t>
            </a:r>
            <a:r>
              <a:rPr lang="en-US" b="1" dirty="0">
                <a:latin typeface="Times"/>
                <a:ea typeface="Times"/>
                <a:cs typeface="Times"/>
                <a:sym typeface="Times"/>
              </a:rPr>
              <a:t>Applications of Waterfall Model?</a:t>
            </a:r>
            <a:endParaRPr dirty="0"/>
          </a:p>
          <a:p>
            <a:pPr marL="457200" lvl="0" indent="-342900" algn="l" rtl="0">
              <a:lnSpc>
                <a:spcPct val="90000"/>
              </a:lnSpc>
              <a:spcBef>
                <a:spcPts val="1000"/>
              </a:spcBef>
              <a:spcAft>
                <a:spcPts val="0"/>
              </a:spcAft>
              <a:buClr>
                <a:schemeClr val="dk1"/>
              </a:buClr>
              <a:buSzPts val="1800"/>
              <a:buChar char="•"/>
            </a:pPr>
            <a:r>
              <a:rPr lang="en-US" b="1" dirty="0">
                <a:solidFill>
                  <a:schemeClr val="dk1"/>
                </a:solidFill>
                <a:latin typeface="Times"/>
                <a:ea typeface="Times"/>
                <a:cs typeface="Times"/>
                <a:sym typeface="Times"/>
              </a:rPr>
              <a:t>Why waterfall is better than Agile?</a:t>
            </a:r>
            <a:endParaRPr dirty="0"/>
          </a:p>
          <a:p>
            <a:pPr marL="457200" lvl="0" indent="-342900" algn="l" rtl="0">
              <a:lnSpc>
                <a:spcPct val="90000"/>
              </a:lnSpc>
              <a:spcBef>
                <a:spcPts val="1000"/>
              </a:spcBef>
              <a:spcAft>
                <a:spcPts val="0"/>
              </a:spcAft>
              <a:buClr>
                <a:schemeClr val="dk1"/>
              </a:buClr>
              <a:buSzPts val="1800"/>
              <a:buChar char="•"/>
            </a:pPr>
            <a:r>
              <a:rPr lang="en-US" b="1" i="0" dirty="0">
                <a:solidFill>
                  <a:schemeClr val="dk1"/>
                </a:solidFill>
                <a:latin typeface="Times"/>
                <a:ea typeface="Times"/>
                <a:cs typeface="Times"/>
                <a:sym typeface="Times"/>
              </a:rPr>
              <a:t>Discuss various reasons for the failure of the waterfa</a:t>
            </a:r>
            <a:r>
              <a:rPr lang="en-US" b="1" dirty="0">
                <a:solidFill>
                  <a:schemeClr val="dk1"/>
                </a:solidFill>
                <a:latin typeface="Times"/>
                <a:ea typeface="Times"/>
                <a:cs typeface="Times"/>
                <a:sym typeface="Times"/>
              </a:rPr>
              <a:t>ll model.</a:t>
            </a:r>
            <a:endParaRPr b="1" i="0" dirty="0">
              <a:solidFill>
                <a:schemeClr val="dk1"/>
              </a:solidFill>
              <a:latin typeface="Times"/>
              <a:ea typeface="Times"/>
              <a:cs typeface="Times"/>
              <a:sym typeface="Times"/>
            </a:endParaRPr>
          </a:p>
          <a:p>
            <a:pPr marL="457200" lvl="0" indent="-342900" algn="l" rtl="0">
              <a:lnSpc>
                <a:spcPct val="90000"/>
              </a:lnSpc>
              <a:spcBef>
                <a:spcPts val="1000"/>
              </a:spcBef>
              <a:spcAft>
                <a:spcPts val="0"/>
              </a:spcAft>
              <a:buClr>
                <a:schemeClr val="dk1"/>
              </a:buClr>
              <a:buSzPts val="1800"/>
              <a:buChar char="•"/>
            </a:pPr>
            <a:r>
              <a:rPr lang="en-US" b="1" i="0" dirty="0">
                <a:solidFill>
                  <a:schemeClr val="dk1"/>
                </a:solidFill>
                <a:latin typeface="Times"/>
                <a:ea typeface="Times"/>
                <a:cs typeface="Times"/>
                <a:sym typeface="Times"/>
              </a:rPr>
              <a:t>What are some of the advantages and disadvantages of using the Spiral model?</a:t>
            </a:r>
            <a:endParaRPr dirty="0"/>
          </a:p>
          <a:p>
            <a:pPr marL="457200" lvl="0" indent="-342900" algn="l" rtl="0">
              <a:lnSpc>
                <a:spcPct val="90000"/>
              </a:lnSpc>
              <a:spcBef>
                <a:spcPts val="1000"/>
              </a:spcBef>
              <a:spcAft>
                <a:spcPts val="0"/>
              </a:spcAft>
              <a:buClr>
                <a:schemeClr val="dk1"/>
              </a:buClr>
              <a:buSzPts val="1800"/>
              <a:buChar char="•"/>
            </a:pPr>
            <a:r>
              <a:rPr lang="en-US" b="1" i="0" dirty="0">
                <a:solidFill>
                  <a:schemeClr val="dk1"/>
                </a:solidFill>
                <a:latin typeface="Times"/>
                <a:ea typeface="Times"/>
                <a:cs typeface="Times"/>
                <a:sym typeface="Times"/>
              </a:rPr>
              <a:t>Is it possible to go back to an earlier phase once the development team moves into the later phases? If yes, then how?</a:t>
            </a:r>
            <a:endParaRPr dirty="0"/>
          </a:p>
          <a:p>
            <a:pPr marL="457200" lvl="0" indent="-342900" algn="l" rtl="0">
              <a:lnSpc>
                <a:spcPct val="90000"/>
              </a:lnSpc>
              <a:spcBef>
                <a:spcPts val="1000"/>
              </a:spcBef>
              <a:spcAft>
                <a:spcPts val="0"/>
              </a:spcAft>
              <a:buClr>
                <a:schemeClr val="dk1"/>
              </a:buClr>
              <a:buSzPts val="1800"/>
              <a:buChar char="•"/>
            </a:pPr>
            <a:r>
              <a:rPr lang="en-US" b="1" i="0" dirty="0">
                <a:solidFill>
                  <a:schemeClr val="dk1"/>
                </a:solidFill>
                <a:latin typeface="Times"/>
                <a:ea typeface="Times"/>
                <a:cs typeface="Times"/>
                <a:sym typeface="Times"/>
              </a:rPr>
              <a:t>Do all projects require the same level of verification during each phase of the Waterfall Methodology?</a:t>
            </a:r>
            <a:endParaRPr dirty="0"/>
          </a:p>
          <a:p>
            <a:pPr marL="457200" lvl="0" indent="-228600" algn="l" rtl="0">
              <a:lnSpc>
                <a:spcPct val="90000"/>
              </a:lnSpc>
              <a:spcBef>
                <a:spcPts val="1000"/>
              </a:spcBef>
              <a:spcAft>
                <a:spcPts val="0"/>
              </a:spcAft>
              <a:buClr>
                <a:schemeClr val="dk1"/>
              </a:buClr>
              <a:buSzPts val="1800"/>
              <a:buNone/>
            </a:pPr>
            <a:endParaRPr b="1" i="0" dirty="0">
              <a:solidFill>
                <a:schemeClr val="dk1"/>
              </a:solidFill>
              <a:latin typeface="Times"/>
              <a:ea typeface="Times"/>
              <a:cs typeface="Times"/>
              <a:sym typeface="Times"/>
            </a:endParaRPr>
          </a:p>
          <a:p>
            <a:pPr marL="457200" lvl="0" indent="-228600" algn="l" rtl="0">
              <a:lnSpc>
                <a:spcPct val="90000"/>
              </a:lnSpc>
              <a:spcBef>
                <a:spcPts val="1000"/>
              </a:spcBef>
              <a:spcAft>
                <a:spcPts val="0"/>
              </a:spcAft>
              <a:buClr>
                <a:schemeClr val="dk1"/>
              </a:buClr>
              <a:buSzPts val="1800"/>
              <a:buNone/>
            </a:pPr>
            <a:endParaRPr b="1" dirty="0">
              <a:solidFill>
                <a:schemeClr val="dk1"/>
              </a:solidFill>
              <a:latin typeface="Times"/>
              <a:ea typeface="Times"/>
              <a:cs typeface="Times"/>
              <a:sym typeface="Times"/>
            </a:endParaRPr>
          </a:p>
        </p:txBody>
      </p:sp>
      <p:sp>
        <p:nvSpPr>
          <p:cNvPr id="213" name="Google Shape;213;p22"/>
          <p:cNvSpPr txBox="1">
            <a:spLocks noGrp="1"/>
          </p:cNvSpPr>
          <p:nvPr>
            <p:ph type="title"/>
          </p:nvPr>
        </p:nvSpPr>
        <p:spPr>
          <a:xfrm>
            <a:off x="1329178" y="0"/>
            <a:ext cx="4156861"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sz="3600" b="1"/>
              <a:t>Practice Questions</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91"/>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1800"/>
              <a:buNone/>
            </a:pPr>
            <a:r>
              <a:rPr lang="en-US" b="1">
                <a:latin typeface="Times New Roman"/>
                <a:ea typeface="Times New Roman"/>
                <a:cs typeface="Times New Roman"/>
                <a:sym typeface="Times New Roman"/>
              </a:rPr>
              <a:t>Bibliography</a:t>
            </a:r>
            <a:endParaRPr/>
          </a:p>
        </p:txBody>
      </p:sp>
      <p:sp>
        <p:nvSpPr>
          <p:cNvPr id="227" name="Google Shape;227;p91"/>
          <p:cNvSpPr txBox="1">
            <a:spLocks noGrp="1"/>
          </p:cNvSpPr>
          <p:nvPr>
            <p:ph type="body" idx="1"/>
          </p:nvPr>
        </p:nvSpPr>
        <p:spPr>
          <a:xfrm>
            <a:off x="457200" y="1604520"/>
            <a:ext cx="8229240" cy="3977280"/>
          </a:xfrm>
          <a:prstGeom prst="rect">
            <a:avLst/>
          </a:prstGeom>
          <a:noFill/>
          <a:ln>
            <a:noFill/>
          </a:ln>
        </p:spPr>
        <p:txBody>
          <a:bodyPr spcFirstLastPara="1" wrap="square" lIns="0" tIns="0" rIns="0" bIns="0" anchor="t" anchorCtr="0">
            <a:normAutofit/>
          </a:bodyPr>
          <a:lstStyle/>
          <a:p>
            <a:pPr marL="457200" lvl="0" indent="-342900" algn="l" rtl="0">
              <a:lnSpc>
                <a:spcPct val="90000"/>
              </a:lnSpc>
              <a:spcBef>
                <a:spcPts val="1000"/>
              </a:spcBef>
              <a:spcAft>
                <a:spcPts val="0"/>
              </a:spcAft>
              <a:buClr>
                <a:schemeClr val="dk1"/>
              </a:buClr>
              <a:buSzPts val="1800"/>
              <a:buChar char="•"/>
            </a:pPr>
            <a:r>
              <a:rPr lang="en-US" u="sng">
                <a:solidFill>
                  <a:schemeClr val="hlink"/>
                </a:solidFill>
                <a:latin typeface="Times New Roman"/>
                <a:ea typeface="Times New Roman"/>
                <a:cs typeface="Times New Roman"/>
                <a:sym typeface="Times New Roman"/>
                <a:hlinkClick r:id="rId3"/>
              </a:rPr>
              <a:t>https://www.tutorialspoint.com/software_engineering/</a:t>
            </a:r>
            <a:endParaRPr>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u="sng">
                <a:solidFill>
                  <a:schemeClr val="hlink"/>
                </a:solidFill>
                <a:latin typeface="Times New Roman"/>
                <a:ea typeface="Times New Roman"/>
                <a:cs typeface="Times New Roman"/>
                <a:sym typeface="Times New Roman"/>
                <a:hlinkClick r:id="rId4"/>
              </a:rPr>
              <a:t>https://courses.cs.vt.edu/csonline/SE/Lessons/Qualities/index.html</a:t>
            </a:r>
            <a:endParaRPr>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u="sng">
                <a:solidFill>
                  <a:schemeClr val="hlink"/>
                </a:solidFill>
                <a:latin typeface="Times New Roman"/>
                <a:ea typeface="Times New Roman"/>
                <a:cs typeface="Times New Roman"/>
                <a:sym typeface="Times New Roman"/>
                <a:hlinkClick r:id="rId5"/>
              </a:rPr>
              <a:t>https://www.tutorialspoint.com/sdlc/sdlc_waterfall_model.htm</a:t>
            </a:r>
            <a:endParaRPr>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u="sng">
                <a:solidFill>
                  <a:schemeClr val="hlink"/>
                </a:solidFill>
                <a:latin typeface="Times New Roman"/>
                <a:ea typeface="Times New Roman"/>
                <a:cs typeface="Times New Roman"/>
                <a:sym typeface="Times New Roman"/>
                <a:hlinkClick r:id="rId6"/>
              </a:rPr>
              <a:t>https://www.geeksforgeeks.org/software-engineering-spiral-model/</a:t>
            </a:r>
            <a:endParaRPr>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u="sng">
                <a:solidFill>
                  <a:schemeClr val="hlink"/>
                </a:solidFill>
                <a:latin typeface="Times New Roman"/>
                <a:ea typeface="Times New Roman"/>
                <a:cs typeface="Times New Roman"/>
                <a:sym typeface="Times New Roman"/>
                <a:hlinkClick r:id="rId7"/>
              </a:rPr>
              <a:t>https://www.geeksforgeeks.org/software-engineering-sdlc-v-model/</a:t>
            </a:r>
            <a:endParaRPr>
              <a:latin typeface="Times New Roman"/>
              <a:ea typeface="Times New Roman"/>
              <a:cs typeface="Times New Roman"/>
              <a:sym typeface="Times New Roman"/>
            </a:endParaRPr>
          </a:p>
          <a:p>
            <a:pPr marL="457200" lvl="0" indent="-228600" algn="l" rtl="0">
              <a:lnSpc>
                <a:spcPct val="90000"/>
              </a:lnSpc>
              <a:spcBef>
                <a:spcPts val="1000"/>
              </a:spcBef>
              <a:spcAft>
                <a:spcPts val="0"/>
              </a:spcAft>
              <a:buClr>
                <a:schemeClr val="dk1"/>
              </a:buClr>
              <a:buSzPts val="1800"/>
              <a:buNone/>
            </a:pPr>
            <a:endParaRPr>
              <a:latin typeface="Times New Roman"/>
              <a:ea typeface="Times New Roman"/>
              <a:cs typeface="Times New Roman"/>
              <a:sym typeface="Times New Roman"/>
            </a:endParaRPr>
          </a:p>
        </p:txBody>
      </p:sp>
      <p:sp>
        <p:nvSpPr>
          <p:cNvPr id="228" name="Google Shape;228;p9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r>
              <a:rPr lang="en-US" sz="1200" b="0" i="0" u="none" strike="noStrike" cap="none">
                <a:solidFill>
                  <a:schemeClr val="lt1"/>
                </a:solidFill>
                <a:latin typeface="Arial"/>
                <a:ea typeface="Arial"/>
                <a:cs typeface="Arial"/>
                <a:sym typeface="Arial"/>
              </a:rPr>
              <a:t>30-11-2024</a:t>
            </a:r>
            <a:endParaRPr sz="1200" b="0" i="0" u="none" strike="noStrike" cap="none">
              <a:solidFill>
                <a:schemeClr val="lt1"/>
              </a:solidFill>
              <a:latin typeface="Arial"/>
              <a:ea typeface="Arial"/>
              <a:cs typeface="Arial"/>
              <a:sym typeface="Arial"/>
            </a:endParaRPr>
          </a:p>
        </p:txBody>
      </p:sp>
      <p:sp>
        <p:nvSpPr>
          <p:cNvPr id="229" name="Google Shape;229;p9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None/>
            </a:pPr>
            <a:fld id="{00000000-1234-1234-1234-123412341234}" type="slidenum">
              <a:rPr lang="en-US" sz="1200" b="0" i="0" u="none" strike="noStrike" cap="none">
                <a:solidFill>
                  <a:schemeClr val="lt1"/>
                </a:solidFill>
                <a:latin typeface="Arial"/>
                <a:ea typeface="Arial"/>
                <a:cs typeface="Arial"/>
                <a:sym typeface="Arial"/>
              </a:rPr>
              <a:t>23</a:t>
            </a:fld>
            <a:endParaRPr sz="1200" b="0" i="0" u="none" strike="noStrike" cap="none">
              <a:solidFill>
                <a:schemeClr val="lt1"/>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27"/>
          <p:cNvSpPr txBox="1">
            <a:spLocks noGrp="1"/>
          </p:cNvSpPr>
          <p:nvPr>
            <p:ph type="title"/>
          </p:nvPr>
        </p:nvSpPr>
        <p:spPr>
          <a:xfrm>
            <a:off x="0" y="0"/>
            <a:ext cx="5486040" cy="914040"/>
          </a:xfrm>
          <a:prstGeom prst="rect">
            <a:avLst/>
          </a:prstGeom>
          <a:noFill/>
          <a:ln>
            <a:noFill/>
          </a:ln>
        </p:spPr>
        <p:txBody>
          <a:bodyPr spcFirstLastPara="1" wrap="square" lIns="0" tIns="0" rIns="0" bIns="0" anchor="ctr" anchorCtr="0">
            <a:noAutofit/>
          </a:bodyPr>
          <a:lstStyle/>
          <a:p>
            <a:pPr marL="0" lvl="0" indent="0" algn="l" rtl="0">
              <a:lnSpc>
                <a:spcPct val="90000"/>
              </a:lnSpc>
              <a:spcBef>
                <a:spcPts val="0"/>
              </a:spcBef>
              <a:spcAft>
                <a:spcPts val="0"/>
              </a:spcAft>
              <a:buClr>
                <a:schemeClr val="dk1"/>
              </a:buClr>
              <a:buSzPts val="2800"/>
              <a:buFont typeface="Times New Roman"/>
              <a:buNone/>
            </a:pPr>
            <a:endParaRPr/>
          </a:p>
        </p:txBody>
      </p:sp>
      <p:sp>
        <p:nvSpPr>
          <p:cNvPr id="235" name="Google Shape;235;p27"/>
          <p:cNvSpPr txBox="1">
            <a:spLocks noGrp="1"/>
          </p:cNvSpPr>
          <p:nvPr>
            <p:ph type="ftr" idx="11"/>
          </p:nvPr>
        </p:nvSpPr>
        <p:spPr>
          <a:xfrm>
            <a:off x="352540" y="6356520"/>
            <a:ext cx="8333900" cy="36468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latin typeface="Times New Roman"/>
                <a:ea typeface="Times New Roman"/>
                <a:cs typeface="Times New Roman"/>
                <a:sym typeface="Times New Roman"/>
              </a:rPr>
              <a:t>Computer Networks               </a:t>
            </a:r>
            <a:endParaRPr>
              <a:latin typeface="Times New Roman"/>
              <a:ea typeface="Times New Roman"/>
              <a:cs typeface="Times New Roman"/>
              <a:sym typeface="Times New Roman"/>
            </a:endParaRPr>
          </a:p>
        </p:txBody>
      </p:sp>
      <p:pic>
        <p:nvPicPr>
          <p:cNvPr id="236" name="Google Shape;236;p27" descr="See the source image"/>
          <p:cNvPicPr preferRelativeResize="0"/>
          <p:nvPr/>
        </p:nvPicPr>
        <p:blipFill rotWithShape="1">
          <a:blip r:embed="rId3">
            <a:alphaModFix/>
          </a:blip>
          <a:srcRect/>
          <a:stretch/>
        </p:blipFill>
        <p:spPr>
          <a:xfrm>
            <a:off x="0" y="163513"/>
            <a:ext cx="9144000" cy="6530975"/>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476</TotalTime>
  <Words>2420</Words>
  <Application>Microsoft Office PowerPoint</Application>
  <PresentationFormat>On-screen Show (4:3)</PresentationFormat>
  <Paragraphs>181</Paragraphs>
  <Slides>24</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Inter</vt:lpstr>
      <vt:lpstr>Times</vt:lpstr>
      <vt:lpstr>Times New Roman</vt:lpstr>
      <vt:lpstr>Calibri</vt:lpstr>
      <vt:lpstr>Arial</vt:lpstr>
      <vt:lpstr>Office Theme</vt:lpstr>
      <vt:lpstr>PowerPoint Presentation</vt:lpstr>
      <vt:lpstr>PowerPoint Presentation</vt:lpstr>
      <vt:lpstr>Software Process</vt:lpstr>
      <vt:lpstr>Software Process Models</vt:lpstr>
      <vt:lpstr>Software Process Models</vt:lpstr>
      <vt:lpstr>Need for Process Model</vt:lpstr>
      <vt:lpstr>Need for Process Model</vt:lpstr>
      <vt:lpstr>SDLC Models</vt:lpstr>
      <vt:lpstr>SDLC Models</vt:lpstr>
      <vt:lpstr>Factors for Selecting SDLC  Models</vt:lpstr>
      <vt:lpstr>Factors for Selecting SDLC  Models</vt:lpstr>
      <vt:lpstr>SDLC Models</vt:lpstr>
      <vt:lpstr>Waterfall Model</vt:lpstr>
      <vt:lpstr>Waterfall Model</vt:lpstr>
      <vt:lpstr>Waterfall Model</vt:lpstr>
      <vt:lpstr>Waterfall Model</vt:lpstr>
      <vt:lpstr>Waterfall Model</vt:lpstr>
      <vt:lpstr>Waterfall Model</vt:lpstr>
      <vt:lpstr>Waterfall Model</vt:lpstr>
      <vt:lpstr>Waterfall Model</vt:lpstr>
      <vt:lpstr>Example of waterfall model</vt:lpstr>
      <vt:lpstr>Practice Questions</vt:lpstr>
      <vt:lpstr>Bibliography</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ABC</dc:creator>
  <cp:lastModifiedBy>Suvi Sharma</cp:lastModifiedBy>
  <cp:revision>10</cp:revision>
  <dcterms:created xsi:type="dcterms:W3CDTF">2010-04-09T07:36:15Z</dcterms:created>
  <dcterms:modified xsi:type="dcterms:W3CDTF">2024-12-06T07:56:11Z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CCC</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0</vt:i4>
  </property>
  <property fmtid="{D5CDD505-2E9C-101B-9397-08002B2CF9AE}" pid="9" name="PresentationFormat">
    <vt:lpwstr>On-screen Show (4:3)</vt:lpwstr>
  </property>
  <property fmtid="{D5CDD505-2E9C-101B-9397-08002B2CF9AE}" pid="10" name="ScaleCrop">
    <vt:bool>false</vt:bool>
  </property>
  <property fmtid="{D5CDD505-2E9C-101B-9397-08002B2CF9AE}" pid="11" name="ShareDoc">
    <vt:bool>false</vt:bool>
  </property>
  <property fmtid="{D5CDD505-2E9C-101B-9397-08002B2CF9AE}" pid="12" name="Slides">
    <vt:i4>37</vt:i4>
  </property>
</Properties>
</file>