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1"/>
  </p:notesMasterIdLst>
  <p:sldIdLst>
    <p:sldId id="256" r:id="rId2"/>
    <p:sldId id="257" r:id="rId3"/>
    <p:sldId id="258" r:id="rId4"/>
    <p:sldId id="263" r:id="rId5"/>
    <p:sldId id="264" r:id="rId6"/>
    <p:sldId id="265" r:id="rId7"/>
    <p:sldId id="266" r:id="rId8"/>
    <p:sldId id="267" r:id="rId9"/>
    <p:sldId id="268" r:id="rId10"/>
    <p:sldId id="269" r:id="rId11"/>
    <p:sldId id="270" r:id="rId12"/>
    <p:sldId id="271" r:id="rId13"/>
    <p:sldId id="272" r:id="rId14"/>
    <p:sldId id="273"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59" r:id="rId33"/>
    <p:sldId id="260" r:id="rId34"/>
    <p:sldId id="261" r:id="rId35"/>
    <p:sldId id="262" r:id="rId36"/>
    <p:sldId id="292" r:id="rId37"/>
    <p:sldId id="295" r:id="rId38"/>
    <p:sldId id="293" r:id="rId39"/>
    <p:sldId id="294" r:id="rId40"/>
  </p:sldIdLst>
  <p:sldSz cx="9144000" cy="6858000" type="screen4x3"/>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jMgkPJ0yyUYe2uD0lUHEWTogIt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3</a:t>
            </a:fld>
            <a:endParaRPr/>
          </a:p>
        </p:txBody>
      </p:sp>
      <p:sp>
        <p:nvSpPr>
          <p:cNvPr id="103" name="Google Shape;103;p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 name="Google Shape;104;p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3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 name="Google Shape;140;p3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4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43: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p4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2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p2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44: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8</a:t>
            </a:fld>
            <a:endParaRPr/>
          </a:p>
        </p:txBody>
      </p:sp>
      <p:sp>
        <p:nvSpPr>
          <p:cNvPr id="165" name="Google Shape;165;p4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6" name="Google Shape;166;p4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22: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9</a:t>
            </a:fld>
            <a:endParaRPr/>
          </a:p>
        </p:txBody>
      </p:sp>
      <p:sp>
        <p:nvSpPr>
          <p:cNvPr id="173" name="Google Shape;173;p2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4" name="Google Shape;174;p2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45: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4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4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4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47: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12</a:t>
            </a:fld>
            <a:endParaRPr/>
          </a:p>
        </p:txBody>
      </p:sp>
      <p:sp>
        <p:nvSpPr>
          <p:cNvPr id="193" name="Google Shape;193;p4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4" name="Google Shape;194;p4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4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p4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4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p4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50: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p5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8: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16</a:t>
            </a:fld>
            <a:endParaRPr/>
          </a:p>
        </p:txBody>
      </p:sp>
      <p:sp>
        <p:nvSpPr>
          <p:cNvPr id="226" name="Google Shape;226;p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7" name="Google Shape;227;p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9: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17</a:t>
            </a:fld>
            <a:endParaRPr/>
          </a:p>
        </p:txBody>
      </p:sp>
      <p:sp>
        <p:nvSpPr>
          <p:cNvPr id="235" name="Google Shape;235;p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6" name="Google Shape;236;p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0: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18</a:t>
            </a:fld>
            <a:endParaRPr/>
          </a:p>
        </p:txBody>
      </p:sp>
      <p:sp>
        <p:nvSpPr>
          <p:cNvPr id="244" name="Google Shape;244;p1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5" name="Google Shape;245;p10: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19</a:t>
            </a:fld>
            <a:endParaRPr/>
          </a:p>
        </p:txBody>
      </p:sp>
      <p:sp>
        <p:nvSpPr>
          <p:cNvPr id="253" name="Google Shape;253;p1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4" name="Google Shape;254;p1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2: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20</a:t>
            </a:fld>
            <a:endParaRPr/>
          </a:p>
        </p:txBody>
      </p:sp>
      <p:sp>
        <p:nvSpPr>
          <p:cNvPr id="261" name="Google Shape;261;p1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2" name="Google Shape;262;p1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5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5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2ca142a1044_0_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g2ca142a1044_0_1:notes"/>
          <p:cNvSpPr txBox="1">
            <a:spLocks noGrp="1"/>
          </p:cNvSpPr>
          <p:nvPr>
            <p:ph type="body" idx="1"/>
          </p:nvPr>
        </p:nvSpPr>
        <p:spPr>
          <a:xfrm>
            <a:off x="755650" y="5145088"/>
            <a:ext cx="6048300" cy="4210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g2ca142a1044_0_1:notes"/>
          <p:cNvSpPr txBox="1">
            <a:spLocks noGrp="1"/>
          </p:cNvSpPr>
          <p:nvPr>
            <p:ph type="sldNum" idx="12"/>
          </p:nvPr>
        </p:nvSpPr>
        <p:spPr>
          <a:xfrm>
            <a:off x="4281488" y="10155238"/>
            <a:ext cx="3276600" cy="536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3: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23</a:t>
            </a:fld>
            <a:endParaRPr/>
          </a:p>
        </p:txBody>
      </p:sp>
      <p:sp>
        <p:nvSpPr>
          <p:cNvPr id="282" name="Google Shape;282;p1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3" name="Google Shape;283;p13: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4: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24</a:t>
            </a:fld>
            <a:endParaRPr/>
          </a:p>
        </p:txBody>
      </p:sp>
      <p:sp>
        <p:nvSpPr>
          <p:cNvPr id="291" name="Google Shape;291;p1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2" name="Google Shape;292;p1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5: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25</a:t>
            </a:fld>
            <a:endParaRPr/>
          </a:p>
        </p:txBody>
      </p:sp>
      <p:sp>
        <p:nvSpPr>
          <p:cNvPr id="300" name="Google Shape;300;p1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1" name="Google Shape;301;p15: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6: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26</a:t>
            </a:fld>
            <a:endParaRPr/>
          </a:p>
        </p:txBody>
      </p:sp>
      <p:sp>
        <p:nvSpPr>
          <p:cNvPr id="310" name="Google Shape;310;p1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1" name="Google Shape;311;p1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7: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27</a:t>
            </a:fld>
            <a:endParaRPr/>
          </a:p>
        </p:txBody>
      </p:sp>
      <p:sp>
        <p:nvSpPr>
          <p:cNvPr id="319" name="Google Shape;319;p1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0" name="Google Shape;320;p1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8: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28</a:t>
            </a:fld>
            <a:endParaRPr/>
          </a:p>
        </p:txBody>
      </p:sp>
      <p:sp>
        <p:nvSpPr>
          <p:cNvPr id="329" name="Google Shape;329;p1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0" name="Google Shape;330;p1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9: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29</a:t>
            </a:fld>
            <a:endParaRPr/>
          </a:p>
        </p:txBody>
      </p:sp>
      <p:sp>
        <p:nvSpPr>
          <p:cNvPr id="338" name="Google Shape;338;p1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9" name="Google Shape;339;p1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26d91322fbf_0_0:notes"/>
          <p:cNvSpPr>
            <a:spLocks noGrp="1" noRot="1" noChangeAspect="1"/>
          </p:cNvSpPr>
          <p:nvPr>
            <p:ph type="sldImg" idx="2"/>
          </p:nvPr>
        </p:nvSpPr>
        <p:spPr>
          <a:xfrm>
            <a:off x="1374775" y="1336675"/>
            <a:ext cx="4810200" cy="3608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8" name="Google Shape;348;g26d91322fbf_0_0:notes"/>
          <p:cNvSpPr txBox="1">
            <a:spLocks noGrp="1"/>
          </p:cNvSpPr>
          <p:nvPr>
            <p:ph type="body" idx="1"/>
          </p:nvPr>
        </p:nvSpPr>
        <p:spPr>
          <a:xfrm>
            <a:off x="755650" y="5145088"/>
            <a:ext cx="6048300" cy="4210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9" name="Google Shape;349;g26d91322fbf_0_0:notes"/>
          <p:cNvSpPr txBox="1">
            <a:spLocks noGrp="1"/>
          </p:cNvSpPr>
          <p:nvPr>
            <p:ph type="sldNum" idx="12"/>
          </p:nvPr>
        </p:nvSpPr>
        <p:spPr>
          <a:xfrm>
            <a:off x="4281488" y="10155238"/>
            <a:ext cx="3276600" cy="536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0: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31</a:t>
            </a:fld>
            <a:endParaRPr/>
          </a:p>
        </p:txBody>
      </p:sp>
      <p:sp>
        <p:nvSpPr>
          <p:cNvPr id="355" name="Google Shape;355;p2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6" name="Google Shape;356;p20: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32</a:t>
            </a:fld>
            <a:endParaRPr/>
          </a:p>
        </p:txBody>
      </p:sp>
      <p:sp>
        <p:nvSpPr>
          <p:cNvPr id="112" name="Google Shape;112;p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3" name="Google Shape;113;p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3102344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7: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US"/>
              <a:t>33</a:t>
            </a:fld>
            <a:endParaRPr/>
          </a:p>
        </p:txBody>
      </p:sp>
      <p:sp>
        <p:nvSpPr>
          <p:cNvPr id="120" name="Google Shape;120;p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1" name="Google Shape;121;p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5638766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3: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p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360359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5: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 name="Google Shape;134;p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74620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9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p9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a:extLst>
            <a:ext uri="{FF2B5EF4-FFF2-40B4-BE49-F238E27FC236}">
              <a16:creationId xmlns:a16="http://schemas.microsoft.com/office/drawing/2014/main" id="{E9404F26-F824-3A7E-9608-CC2F10A82982}"/>
            </a:ext>
          </a:extLst>
        </p:cNvPr>
        <p:cNvGrpSpPr/>
        <p:nvPr/>
      </p:nvGrpSpPr>
      <p:grpSpPr>
        <a:xfrm>
          <a:off x="0" y="0"/>
          <a:ext cx="0" cy="0"/>
          <a:chOff x="0" y="0"/>
          <a:chExt cx="0" cy="0"/>
        </a:xfrm>
      </p:grpSpPr>
      <p:sp>
        <p:nvSpPr>
          <p:cNvPr id="366" name="Google Shape;366;p98:notes">
            <a:extLst>
              <a:ext uri="{FF2B5EF4-FFF2-40B4-BE49-F238E27FC236}">
                <a16:creationId xmlns:a16="http://schemas.microsoft.com/office/drawing/2014/main" id="{B052C5A8-6DEA-E0BA-EB56-3A6D1F65131E}"/>
              </a:ext>
            </a:extLst>
          </p:cNvPr>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p98:notes">
            <a:extLst>
              <a:ext uri="{FF2B5EF4-FFF2-40B4-BE49-F238E27FC236}">
                <a16:creationId xmlns:a16="http://schemas.microsoft.com/office/drawing/2014/main" id="{6A6B80AC-B016-A8E9-9D1E-3D2707332D9A}"/>
              </a:ext>
            </a:extLst>
          </p:cNvPr>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402619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99: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3" name="Google Shape;373;p9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9" name="Google Shape;379;p2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28"/>
        <p:cNvGrpSpPr/>
        <p:nvPr/>
      </p:nvGrpSpPr>
      <p:grpSpPr>
        <a:xfrm>
          <a:off x="0" y="0"/>
          <a:ext cx="0" cy="0"/>
          <a:chOff x="0" y="0"/>
          <a:chExt cx="0" cy="0"/>
        </a:xfrm>
      </p:grpSpPr>
      <p:sp>
        <p:nvSpPr>
          <p:cNvPr id="29" name="Google Shape;29;p29"/>
          <p:cNvSpPr txBox="1">
            <a:spLocks noGrp="1"/>
          </p:cNvSpPr>
          <p:nvPr>
            <p:ph type="ftr" idx="11"/>
          </p:nvPr>
        </p:nvSpPr>
        <p:spPr>
          <a:xfrm>
            <a:off x="457559" y="6356520"/>
            <a:ext cx="8499154"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0"/>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0"/>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100"/>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p32"/>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2"/>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9"/>
        <p:cNvGrpSpPr/>
        <p:nvPr/>
      </p:nvGrpSpPr>
      <p:grpSpPr>
        <a:xfrm>
          <a:off x="0" y="0"/>
          <a:ext cx="0" cy="0"/>
          <a:chOff x="0" y="0"/>
          <a:chExt cx="0" cy="0"/>
        </a:xfrm>
      </p:grpSpPr>
      <p:sp>
        <p:nvSpPr>
          <p:cNvPr id="40" name="Google Shape;40;p3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3"/>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2" name="Google Shape;42;p33"/>
          <p:cNvSpPr txBox="1">
            <a:spLocks noGrp="1"/>
          </p:cNvSpPr>
          <p:nvPr>
            <p:ph type="ftr" idx="11"/>
          </p:nvPr>
        </p:nvSpPr>
        <p:spPr>
          <a:xfrm>
            <a:off x="457199" y="6356520"/>
            <a:ext cx="8229239"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3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4"/>
          <p:cNvSpPr txBox="1">
            <a:spLocks noGrp="1"/>
          </p:cNvSpPr>
          <p:nvPr>
            <p:ph type="ftr" idx="11"/>
          </p:nvPr>
        </p:nvSpPr>
        <p:spPr>
          <a:xfrm>
            <a:off x="352540" y="6356520"/>
            <a:ext cx="8361802"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entered Text">
  <p:cSld name="Centered Text">
    <p:spTree>
      <p:nvGrpSpPr>
        <p:cNvPr id="1" name="Shape 46"/>
        <p:cNvGrpSpPr/>
        <p:nvPr/>
      </p:nvGrpSpPr>
      <p:grpSpPr>
        <a:xfrm>
          <a:off x="0" y="0"/>
          <a:ext cx="0" cy="0"/>
          <a:chOff x="0" y="0"/>
          <a:chExt cx="0" cy="0"/>
        </a:xfrm>
      </p:grpSpPr>
      <p:sp>
        <p:nvSpPr>
          <p:cNvPr id="47" name="Google Shape;47;p35"/>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8" name="Google Shape;48;p35"/>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9"/>
        <p:cNvGrpSpPr/>
        <p:nvPr/>
      </p:nvGrpSpPr>
      <p:grpSpPr>
        <a:xfrm>
          <a:off x="0" y="0"/>
          <a:ext cx="0" cy="0"/>
          <a:chOff x="0" y="0"/>
          <a:chExt cx="0" cy="0"/>
        </a:xfrm>
      </p:grpSpPr>
      <p:sp>
        <p:nvSpPr>
          <p:cNvPr id="50" name="Google Shape;50;p3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6"/>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36"/>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36"/>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36"/>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5"/>
        <p:cNvGrpSpPr/>
        <p:nvPr/>
      </p:nvGrpSpPr>
      <p:grpSpPr>
        <a:xfrm>
          <a:off x="0" y="0"/>
          <a:ext cx="0" cy="0"/>
          <a:chOff x="0" y="0"/>
          <a:chExt cx="0" cy="0"/>
        </a:xfrm>
      </p:grpSpPr>
      <p:sp>
        <p:nvSpPr>
          <p:cNvPr id="56" name="Google Shape;56;p3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7"/>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7"/>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37"/>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37"/>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61"/>
        <p:cNvGrpSpPr/>
        <p:nvPr/>
      </p:nvGrpSpPr>
      <p:grpSpPr>
        <a:xfrm>
          <a:off x="0" y="0"/>
          <a:ext cx="0" cy="0"/>
          <a:chOff x="0" y="0"/>
          <a:chExt cx="0" cy="0"/>
        </a:xfrm>
      </p:grpSpPr>
      <p:sp>
        <p:nvSpPr>
          <p:cNvPr id="62" name="Google Shape;62;p3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38"/>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8"/>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3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7"/>
        <p:cNvGrpSpPr/>
        <p:nvPr/>
      </p:nvGrpSpPr>
      <p:grpSpPr>
        <a:xfrm>
          <a:off x="0" y="0"/>
          <a:ext cx="0" cy="0"/>
          <a:chOff x="0" y="0"/>
          <a:chExt cx="0" cy="0"/>
        </a:xfrm>
      </p:grpSpPr>
      <p:sp>
        <p:nvSpPr>
          <p:cNvPr id="68" name="Google Shape;68;p3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9"/>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39"/>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9"/>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72"/>
        <p:cNvGrpSpPr/>
        <p:nvPr/>
      </p:nvGrpSpPr>
      <p:grpSpPr>
        <a:xfrm>
          <a:off x="0" y="0"/>
          <a:ext cx="0" cy="0"/>
          <a:chOff x="0" y="0"/>
          <a:chExt cx="0" cy="0"/>
        </a:xfrm>
      </p:grpSpPr>
      <p:sp>
        <p:nvSpPr>
          <p:cNvPr id="73" name="Google Shape;73;p4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40"/>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40"/>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40"/>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6 Content">
  <p:cSld name="BLANK 2">
    <p:spTree>
      <p:nvGrpSpPr>
        <p:cNvPr id="1" name="Shape 79"/>
        <p:cNvGrpSpPr/>
        <p:nvPr/>
      </p:nvGrpSpPr>
      <p:grpSpPr>
        <a:xfrm>
          <a:off x="0" y="0"/>
          <a:ext cx="0" cy="0"/>
          <a:chOff x="0" y="0"/>
          <a:chExt cx="0" cy="0"/>
        </a:xfrm>
      </p:grpSpPr>
      <p:sp>
        <p:nvSpPr>
          <p:cNvPr id="80" name="Google Shape;80;p4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1"/>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41"/>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41"/>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1"/>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41"/>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41"/>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41"/>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28"/>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8"/>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 name="Google Shape;1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pic>
        <p:nvPicPr>
          <p:cNvPr id="13" name="Google Shape;13;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14" name="Google Shape;14;p28"/>
          <p:cNvGrpSpPr/>
          <p:nvPr/>
        </p:nvGrpSpPr>
        <p:grpSpPr>
          <a:xfrm>
            <a:off x="6146640" y="0"/>
            <a:ext cx="2997000" cy="875880"/>
            <a:chOff x="6146640" y="0"/>
            <a:chExt cx="2997000" cy="875880"/>
          </a:xfrm>
        </p:grpSpPr>
        <p:sp>
          <p:nvSpPr>
            <p:cNvPr id="15" name="Google Shape;15;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 name="Google Shape;16;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17" name="Google Shape;17;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8" name="Google Shape;18;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pic>
        <p:nvPicPr>
          <p:cNvPr id="19" name="Google Shape;19;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20" name="Google Shape;20;p28"/>
          <p:cNvGrpSpPr/>
          <p:nvPr/>
        </p:nvGrpSpPr>
        <p:grpSpPr>
          <a:xfrm>
            <a:off x="6146640" y="0"/>
            <a:ext cx="2997000" cy="875880"/>
            <a:chOff x="6146640" y="0"/>
            <a:chExt cx="2997000" cy="875880"/>
          </a:xfrm>
        </p:grpSpPr>
        <p:sp>
          <p:nvSpPr>
            <p:cNvPr id="21" name="Google Shape;21;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 name="Google Shape;2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23" name="Google Shape;23;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4" name="Google Shape;24;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sp>
        <p:nvSpPr>
          <p:cNvPr id="25" name="Google Shape;25;p28"/>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2800"/>
              <a:buFont typeface="Times New Roman"/>
              <a:buNone/>
              <a:defRPr sz="28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28"/>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292100"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2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s://www.javatpoint.com/difference-between-object-oriented-testing-and-conventional-testing" TargetMode="External"/><Relationship Id="rId2" Type="http://schemas.openxmlformats.org/officeDocument/2006/relationships/notesSlide" Target="../notesSlides/notesSlide38.xml"/><Relationship Id="rId1" Type="http://schemas.openxmlformats.org/officeDocument/2006/relationships/slideLayout" Target="../slideLayouts/slideLayout3.xml"/><Relationship Id="rId6" Type="http://schemas.openxmlformats.org/officeDocument/2006/relationships/hyperlink" Target="https://www.techtarget.com/searchsoftwarequality/definition/integration-testing" TargetMode="External"/><Relationship Id="rId5" Type="http://schemas.openxmlformats.org/officeDocument/2006/relationships/hyperlink" Target="https://www.softwaretestinghelp.com/types-of-software-testing/" TargetMode="External"/><Relationship Id="rId4" Type="http://schemas.openxmlformats.org/officeDocument/2006/relationships/hyperlink" Target="https://www.tutorialspoint.com/object_oriented_analysis_design/ooad_testing_quality_assurance.htm"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
          <p:cNvSpPr txBox="1"/>
          <p:nvPr/>
        </p:nvSpPr>
        <p:spPr>
          <a:xfrm>
            <a:off x="789691" y="2644244"/>
            <a:ext cx="7564618" cy="345838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400"/>
              </a:spcBef>
              <a:spcAft>
                <a:spcPts val="0"/>
              </a:spcAft>
              <a:buClr>
                <a:srgbClr val="000000"/>
              </a:buClr>
              <a:buSzPts val="2000"/>
              <a:buFont typeface="Arial"/>
              <a:buNone/>
            </a:pPr>
            <a:endParaRPr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400"/>
              <a:buFont typeface="Arial"/>
              <a:buNone/>
            </a:pPr>
            <a:r>
              <a:rPr lang="en-US" sz="2400" b="1" i="0" u="none" strike="noStrike" cap="none" dirty="0">
                <a:solidFill>
                  <a:schemeClr val="dk1"/>
                </a:solidFill>
                <a:latin typeface="Times New Roman"/>
                <a:ea typeface="Times New Roman"/>
                <a:cs typeface="Times New Roman"/>
                <a:sym typeface="Times New Roman"/>
              </a:rPr>
              <a:t>Testing Object Oriented Applications</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2400"/>
              <a:buFont typeface="Arial"/>
              <a:buNone/>
            </a:pPr>
            <a:endParaRPr sz="24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400"/>
              <a:buFont typeface="Arial"/>
              <a:buNone/>
            </a:pPr>
            <a:endParaRPr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r>
              <a:rPr lang="en-US" sz="2400" b="1" i="0" u="none" strike="noStrike" cap="none" dirty="0">
                <a:solidFill>
                  <a:srgbClr val="0070C0"/>
                </a:solidFill>
                <a:latin typeface="Times New Roman"/>
                <a:ea typeface="Times New Roman"/>
                <a:cs typeface="Times New Roman"/>
                <a:sym typeface="Times New Roman"/>
              </a:rPr>
              <a:t>Lecture (Theory)</a:t>
            </a:r>
          </a:p>
          <a:p>
            <a:pPr algn="ctr">
              <a:spcBef>
                <a:spcPts val="400"/>
              </a:spcBef>
              <a:buSzPts val="2000"/>
            </a:pPr>
            <a:r>
              <a:rPr lang="en-US" sz="1400" b="1" i="0" u="none" strike="noStrike" cap="none" dirty="0">
                <a:solidFill>
                  <a:srgbClr val="0070C0"/>
                </a:solidFill>
                <a:latin typeface="Times New Roman"/>
                <a:ea typeface="Times New Roman"/>
                <a:cs typeface="Times New Roman"/>
                <a:sym typeface="Times New Roman"/>
              </a:rPr>
              <a:t>Prepared By Dr. Suvarna Sharma</a:t>
            </a:r>
            <a:endParaRPr lang="en-US" sz="3600" b="0" i="0" u="none" strike="noStrike" cap="none" dirty="0">
              <a:solidFill>
                <a:srgbClr val="000000"/>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2000"/>
              <a:buFont typeface="Arial"/>
              <a:buNone/>
            </a:pPr>
            <a:endParaRPr sz="1400" b="0" i="0" u="none" strike="noStrike" cap="none" dirty="0">
              <a:solidFill>
                <a:srgbClr val="000000"/>
              </a:solidFill>
              <a:latin typeface="Arial"/>
              <a:ea typeface="Arial"/>
              <a:cs typeface="Arial"/>
              <a:sym typeface="Arial"/>
            </a:endParaRPr>
          </a:p>
          <a:p>
            <a:pPr marL="0" marR="0" lvl="0" indent="0" algn="ctr" rtl="0">
              <a:lnSpc>
                <a:spcPct val="150000"/>
              </a:lnSpc>
              <a:spcBef>
                <a:spcPts val="400"/>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p:txBody>
      </p:sp>
      <p:sp>
        <p:nvSpPr>
          <p:cNvPr id="93" name="Google Shape;93;p1"/>
          <p:cNvSpPr txBox="1"/>
          <p:nvPr/>
        </p:nvSpPr>
        <p:spPr>
          <a:xfrm>
            <a:off x="1043975" y="1252879"/>
            <a:ext cx="7219951" cy="1436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800" b="1" i="0" u="none" strike="noStrike" cap="none">
                <a:solidFill>
                  <a:schemeClr val="dk1"/>
                </a:solidFill>
                <a:latin typeface="Times New Roman"/>
                <a:ea typeface="Times New Roman"/>
                <a:cs typeface="Times New Roman"/>
                <a:sym typeface="Times New Roman"/>
              </a:rPr>
              <a:t>Object Oriented Software Engineering (OOSE)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400"/>
              </a:spcBef>
              <a:spcAft>
                <a:spcPts val="0"/>
              </a:spcAft>
              <a:buClr>
                <a:srgbClr val="000000"/>
              </a:buClr>
              <a:buSzPts val="2000"/>
              <a:buFont typeface="Arial"/>
              <a:buNone/>
            </a:pPr>
            <a:r>
              <a:rPr lang="en-US" sz="2800" b="1" i="0" u="none" strike="noStrike" cap="none">
                <a:solidFill>
                  <a:schemeClr val="dk1"/>
                </a:solidFill>
                <a:latin typeface="Times New Roman"/>
                <a:ea typeface="Times New Roman"/>
                <a:cs typeface="Times New Roman"/>
                <a:sym typeface="Times New Roman"/>
              </a:rPr>
              <a:t>22CS017</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p:nvPr/>
        </p:nvSpPr>
        <p:spPr>
          <a:xfrm>
            <a:off x="178586" y="0"/>
            <a:ext cx="6019560" cy="89764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200" b="1" i="0" u="none" strike="noStrike" cap="none">
                <a:solidFill>
                  <a:srgbClr val="000000"/>
                </a:solidFill>
                <a:latin typeface="Times New Roman"/>
                <a:ea typeface="Times New Roman"/>
                <a:cs typeface="Times New Roman"/>
                <a:sym typeface="Times New Roman"/>
              </a:rPr>
              <a:t>Index</a:t>
            </a:r>
            <a:endParaRPr sz="1400" b="0" i="0" u="none" strike="noStrike" cap="none">
              <a:solidFill>
                <a:srgbClr val="000000"/>
              </a:solidFill>
              <a:latin typeface="Arial"/>
              <a:ea typeface="Arial"/>
              <a:cs typeface="Arial"/>
              <a:sym typeface="Arial"/>
            </a:endParaRPr>
          </a:p>
        </p:txBody>
      </p:sp>
      <p:sp>
        <p:nvSpPr>
          <p:cNvPr id="99" name="Google Shape;99;p2"/>
          <p:cNvSpPr txBox="1"/>
          <p:nvPr/>
        </p:nvSpPr>
        <p:spPr>
          <a:xfrm>
            <a:off x="178586" y="1071918"/>
            <a:ext cx="8343114" cy="4945966"/>
          </a:xfrm>
          <a:prstGeom prst="rect">
            <a:avLst/>
          </a:prstGeom>
          <a:noFill/>
          <a:ln>
            <a:noFill/>
          </a:ln>
        </p:spPr>
        <p:txBody>
          <a:bodyPr spcFirstLastPara="1" wrap="square" lIns="91425" tIns="45700" rIns="91425" bIns="45700" anchor="t" anchorCtr="0">
            <a:noAutofit/>
          </a:bodyPr>
          <a:lstStyle/>
          <a:p>
            <a:pPr marL="463550" marR="0" lvl="0" indent="-342900" algn="just" rtl="0">
              <a:lnSpc>
                <a:spcPct val="150000"/>
              </a:lnSpc>
              <a:spcBef>
                <a:spcPts val="0"/>
              </a:spcBef>
              <a:spcAft>
                <a:spcPts val="0"/>
              </a:spcAft>
              <a:buClr>
                <a:schemeClr val="dk1"/>
              </a:buClr>
              <a:buSzPts val="1900"/>
              <a:buFont typeface="Arial"/>
              <a:buChar char="•"/>
            </a:pPr>
            <a:r>
              <a:rPr lang="en-US" sz="2400" b="1" i="0" u="none" strike="noStrike" cap="none" dirty="0">
                <a:solidFill>
                  <a:srgbClr val="000000"/>
                </a:solidFill>
                <a:latin typeface="Times New Roman"/>
                <a:ea typeface="Times New Roman"/>
                <a:cs typeface="Times New Roman"/>
                <a:sym typeface="Times New Roman"/>
              </a:rPr>
              <a:t>Testing Object-Oriented Applications </a:t>
            </a:r>
            <a:endParaRPr sz="1400" b="0" i="0" u="none" strike="noStrike" cap="none" dirty="0">
              <a:solidFill>
                <a:srgbClr val="000000"/>
              </a:solidFill>
              <a:latin typeface="Arial"/>
              <a:ea typeface="Arial"/>
              <a:cs typeface="Arial"/>
              <a:sym typeface="Arial"/>
            </a:endParaRPr>
          </a:p>
          <a:p>
            <a:pPr marL="463550" marR="0" lvl="0" indent="-342900" algn="just" rtl="0">
              <a:lnSpc>
                <a:spcPct val="150000"/>
              </a:lnSpc>
              <a:spcBef>
                <a:spcPts val="0"/>
              </a:spcBef>
              <a:spcAft>
                <a:spcPts val="0"/>
              </a:spcAft>
              <a:buClr>
                <a:schemeClr val="dk1"/>
              </a:buClr>
              <a:buSzPts val="1900"/>
              <a:buFont typeface="Arial"/>
              <a:buChar char="•"/>
            </a:pPr>
            <a:r>
              <a:rPr lang="en-US" sz="2400" b="1" i="0" u="none" strike="noStrike" cap="none" dirty="0">
                <a:solidFill>
                  <a:srgbClr val="000000"/>
                </a:solidFill>
                <a:latin typeface="Times New Roman"/>
                <a:ea typeface="Times New Roman"/>
                <a:cs typeface="Times New Roman"/>
                <a:sym typeface="Times New Roman"/>
              </a:rPr>
              <a:t>Object Oriented Testing Strategies</a:t>
            </a:r>
            <a:endParaRPr lang="en-US" sz="1400" b="0" i="0" u="none" strike="noStrike" cap="none" dirty="0">
              <a:solidFill>
                <a:srgbClr val="000000"/>
              </a:solidFill>
              <a:latin typeface="Arial"/>
              <a:ea typeface="Arial"/>
              <a:cs typeface="Arial"/>
              <a:sym typeface="Arial"/>
            </a:endParaRPr>
          </a:p>
          <a:p>
            <a:pPr marL="463550" marR="0" lvl="0" indent="-342900" algn="just" rtl="0">
              <a:lnSpc>
                <a:spcPct val="150000"/>
              </a:lnSpc>
              <a:spcBef>
                <a:spcPts val="0"/>
              </a:spcBef>
              <a:spcAft>
                <a:spcPts val="0"/>
              </a:spcAft>
              <a:buClr>
                <a:schemeClr val="dk1"/>
              </a:buClr>
              <a:buSzPts val="1900"/>
              <a:buFont typeface="Arial"/>
              <a:buChar char="•"/>
            </a:pPr>
            <a:r>
              <a:rPr lang="en-US" sz="2400" b="1" i="0" u="none" strike="noStrike" cap="none" dirty="0">
                <a:solidFill>
                  <a:srgbClr val="000000"/>
                </a:solidFill>
                <a:latin typeface="Times New Roman"/>
                <a:ea typeface="Times New Roman"/>
                <a:cs typeface="Times New Roman"/>
                <a:sym typeface="Times New Roman"/>
              </a:rPr>
              <a:t>Object Oriented Testing Methods</a:t>
            </a:r>
            <a:endParaRPr lang="en-US" sz="1400" b="0" i="0" u="none" strike="noStrike" cap="none" dirty="0">
              <a:solidFill>
                <a:srgbClr val="000000"/>
              </a:solidFill>
              <a:latin typeface="Arial"/>
              <a:ea typeface="Arial"/>
              <a:cs typeface="Arial"/>
              <a:sym typeface="Arial"/>
            </a:endParaRPr>
          </a:p>
          <a:p>
            <a:pPr marL="463550" marR="0" lvl="0" indent="-342900" algn="just" rtl="0">
              <a:lnSpc>
                <a:spcPct val="150000"/>
              </a:lnSpc>
              <a:spcBef>
                <a:spcPts val="0"/>
              </a:spcBef>
              <a:spcAft>
                <a:spcPts val="0"/>
              </a:spcAft>
              <a:buClr>
                <a:schemeClr val="dk1"/>
              </a:buClr>
              <a:buSzPts val="1900"/>
              <a:buFont typeface="Arial"/>
              <a:buChar char="•"/>
            </a:pPr>
            <a:r>
              <a:rPr lang="en-US" sz="2400" b="1" i="0" u="none" strike="noStrike" cap="none" dirty="0">
                <a:solidFill>
                  <a:srgbClr val="000000"/>
                </a:solidFill>
                <a:latin typeface="Times New Roman"/>
                <a:ea typeface="Times New Roman"/>
                <a:cs typeface="Times New Roman"/>
                <a:sym typeface="Times New Roman"/>
              </a:rPr>
              <a:t>Testing OOA and OOD model</a:t>
            </a:r>
            <a:endParaRPr lang="en-US" sz="1400" b="0" i="0" u="none" strike="noStrike" cap="none" dirty="0">
              <a:solidFill>
                <a:srgbClr val="000000"/>
              </a:solidFill>
              <a:latin typeface="Arial"/>
              <a:ea typeface="Arial"/>
              <a:cs typeface="Arial"/>
              <a:sym typeface="Arial"/>
            </a:endParaRPr>
          </a:p>
        </p:txBody>
      </p:sp>
      <p:sp>
        <p:nvSpPr>
          <p:cNvPr id="100" name="Google Shape;100;p2"/>
          <p:cNvSpPr txBox="1">
            <a:spLocks noGrp="1"/>
          </p:cNvSpPr>
          <p:nvPr>
            <p:ph type="body" idx="1"/>
          </p:nvPr>
        </p:nvSpPr>
        <p:spPr>
          <a:xfrm>
            <a:off x="305280" y="5199418"/>
            <a:ext cx="9295614" cy="4039737"/>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chemeClr val="dk1"/>
              </a:buClr>
              <a:buSzPts val="2800"/>
              <a:buNone/>
            </a:pPr>
            <a:endParaRPr sz="2000">
              <a:latin typeface="Times New Roman"/>
              <a:ea typeface="Times New Roman"/>
              <a:cs typeface="Times New Roman"/>
              <a:sym typeface="Times New Roman"/>
            </a:endParaRPr>
          </a:p>
          <a:p>
            <a:pPr marL="0" marR="0" lvl="0" indent="0" algn="l" rtl="0">
              <a:lnSpc>
                <a:spcPct val="150000"/>
              </a:lnSpc>
              <a:spcBef>
                <a:spcPts val="0"/>
              </a:spcBef>
              <a:spcAft>
                <a:spcPts val="0"/>
              </a:spcAft>
              <a:buClr>
                <a:schemeClr val="dk1"/>
              </a:buClr>
              <a:buSzPts val="2800"/>
              <a:buNone/>
            </a:pPr>
            <a:endParaRPr sz="1800"/>
          </a:p>
          <a:p>
            <a:pPr marL="0" marR="0" lvl="0" indent="0" algn="l" rtl="0">
              <a:lnSpc>
                <a:spcPct val="150000"/>
              </a:lnSpc>
              <a:spcBef>
                <a:spcPts val="0"/>
              </a:spcBef>
              <a:spcAft>
                <a:spcPts val="0"/>
              </a:spcAft>
              <a:buClr>
                <a:schemeClr val="dk1"/>
              </a:buClr>
              <a:buSzPts val="2800"/>
              <a:buNone/>
            </a:pP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4"/>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fld id="{00000000-1234-1234-1234-123412341234}" type="slidenum">
              <a:rPr lang="en-US"/>
              <a:t>3</a:t>
            </a:fld>
            <a:endParaRPr/>
          </a:p>
        </p:txBody>
      </p:sp>
      <p:sp>
        <p:nvSpPr>
          <p:cNvPr id="107" name="Google Shape;107;p4"/>
          <p:cNvSpPr txBox="1"/>
          <p:nvPr/>
        </p:nvSpPr>
        <p:spPr>
          <a:xfrm>
            <a:off x="118490" y="156797"/>
            <a:ext cx="7069710"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rgbClr val="000000"/>
                </a:solidFill>
                <a:latin typeface="Times New Roman"/>
                <a:ea typeface="Times New Roman"/>
                <a:cs typeface="Times New Roman"/>
                <a:sym typeface="Times New Roman"/>
              </a:rPr>
              <a:t>Testing Object-Oriented Applications</a:t>
            </a:r>
            <a:endParaRPr sz="1400" b="0" i="0" u="none" strike="noStrike" cap="none">
              <a:solidFill>
                <a:srgbClr val="000000"/>
              </a:solidFill>
              <a:latin typeface="Arial"/>
              <a:ea typeface="Arial"/>
              <a:cs typeface="Arial"/>
              <a:sym typeface="Arial"/>
            </a:endParaRPr>
          </a:p>
        </p:txBody>
      </p:sp>
      <p:sp>
        <p:nvSpPr>
          <p:cNvPr id="108" name="Google Shape;108;p4"/>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 name="Google Shape;109;p4"/>
          <p:cNvSpPr/>
          <p:nvPr/>
        </p:nvSpPr>
        <p:spPr>
          <a:xfrm>
            <a:off x="241340" y="1308508"/>
            <a:ext cx="8661300" cy="3324000"/>
          </a:xfrm>
          <a:prstGeom prst="rect">
            <a:avLst/>
          </a:prstGeom>
          <a:noFill/>
          <a:ln>
            <a:noFill/>
          </a:ln>
        </p:spPr>
        <p:txBody>
          <a:bodyPr spcFirstLastPara="1" wrap="square" lIns="91425" tIns="45700" rIns="91425" bIns="45700" anchor="ctr" anchorCtr="0">
            <a:spAutoFit/>
          </a:bodyPr>
          <a:lstStyle/>
          <a:p>
            <a:pPr marL="285750" marR="0" lvl="0" indent="-285750" algn="just" rtl="0">
              <a:lnSpc>
                <a:spcPct val="150000"/>
              </a:lnSpc>
              <a:spcBef>
                <a:spcPts val="0"/>
              </a:spcBef>
              <a:spcAft>
                <a:spcPts val="0"/>
              </a:spcAft>
              <a:buClr>
                <a:srgbClr val="000000"/>
              </a:buClr>
              <a:buSzPts val="2000"/>
              <a:buFont typeface="Arial"/>
              <a:buChar char="•"/>
            </a:pPr>
            <a:r>
              <a:rPr lang="en-US" sz="2000" b="0" i="0" u="none" strike="noStrike" cap="none">
                <a:solidFill>
                  <a:srgbClr val="333333"/>
                </a:solidFill>
                <a:latin typeface="Times New Roman"/>
                <a:ea typeface="Times New Roman"/>
                <a:cs typeface="Times New Roman"/>
                <a:sym typeface="Times New Roman"/>
              </a:rPr>
              <a:t>Object-oriented testing is a type of software testing that focuses on verifying the behaviour of individual objects or classes in an object-oriented system. </a:t>
            </a:r>
            <a:endParaRPr sz="2000" b="0"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2000"/>
              <a:buFont typeface="Arial"/>
              <a:buChar char="•"/>
            </a:pPr>
            <a:r>
              <a:rPr lang="en-US" sz="2000" b="0" i="0" u="none" strike="noStrike" cap="none">
                <a:solidFill>
                  <a:srgbClr val="333333"/>
                </a:solidFill>
                <a:latin typeface="Times New Roman"/>
                <a:ea typeface="Times New Roman"/>
                <a:cs typeface="Times New Roman"/>
                <a:sym typeface="Times New Roman"/>
              </a:rPr>
              <a:t>The goal of OO testing is to ensure that each object or class in the system performs its functions correctly and interacts appropriately with other objects or classes.</a:t>
            </a:r>
            <a:endParaRPr sz="2000" b="0" i="0" u="none" strike="noStrike" cap="none">
              <a:solidFill>
                <a:srgbClr val="000000"/>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Clr>
                <a:srgbClr val="000000"/>
              </a:buClr>
              <a:buSzPts val="2000"/>
              <a:buFont typeface="Arial"/>
              <a:buNone/>
            </a:pPr>
            <a:br>
              <a:rPr lang="en-US" sz="2000" b="0" i="0" u="none" strike="noStrike" cap="none">
                <a:solidFill>
                  <a:srgbClr val="000000"/>
                </a:solidFill>
                <a:latin typeface="Times New Roman"/>
                <a:ea typeface="Times New Roman"/>
                <a:cs typeface="Times New Roman"/>
                <a:sym typeface="Times New Roman"/>
              </a:rPr>
            </a:br>
            <a:endParaRPr sz="20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p31"/>
          <p:cNvPicPr preferRelativeResize="0">
            <a:picLocks noGrp="1"/>
          </p:cNvPicPr>
          <p:nvPr>
            <p:ph type="body" idx="1"/>
          </p:nvPr>
        </p:nvPicPr>
        <p:blipFill rotWithShape="1">
          <a:blip r:embed="rId3">
            <a:alphaModFix/>
          </a:blip>
          <a:srcRect/>
          <a:stretch/>
        </p:blipFill>
        <p:spPr>
          <a:xfrm>
            <a:off x="190500" y="1810429"/>
            <a:ext cx="8762999" cy="3352204"/>
          </a:xfrm>
          <a:prstGeom prst="rect">
            <a:avLst/>
          </a:prstGeom>
          <a:noFill/>
          <a:ln>
            <a:noFill/>
          </a:ln>
        </p:spPr>
      </p:pic>
      <p:sp>
        <p:nvSpPr>
          <p:cNvPr id="143" name="Google Shape;143;p31"/>
          <p:cNvSpPr txBox="1"/>
          <p:nvPr/>
        </p:nvSpPr>
        <p:spPr>
          <a:xfrm>
            <a:off x="-2243328" y="0"/>
            <a:ext cx="8534400" cy="758952"/>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chemeClr val="dk1"/>
                </a:solidFill>
                <a:latin typeface="Times New Roman"/>
                <a:ea typeface="Times New Roman"/>
                <a:cs typeface="Times New Roman"/>
                <a:sym typeface="Times New Roman"/>
              </a:rPr>
              <a:t>Testing Strategies</a:t>
            </a:r>
            <a:endParaRPr sz="3600" b="0" i="0" u="none" strike="noStrike" cap="none">
              <a:solidFill>
                <a:schemeClr val="dk1"/>
              </a:solidFill>
              <a:latin typeface="Times New Roman"/>
              <a:ea typeface="Times New Roman"/>
              <a:cs typeface="Times New Roman"/>
              <a:sym typeface="Times New Roman"/>
            </a:endParaRPr>
          </a:p>
        </p:txBody>
      </p:sp>
      <p:sp>
        <p:nvSpPr>
          <p:cNvPr id="144" name="Google Shape;144;p31"/>
          <p:cNvSpPr txBox="1"/>
          <p:nvPr/>
        </p:nvSpPr>
        <p:spPr>
          <a:xfrm>
            <a:off x="3031650" y="5880450"/>
            <a:ext cx="34236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Fig 1: Levels of Testing</a:t>
            </a:r>
            <a:endParaRPr sz="1600" b="1" i="0" u="none" strike="noStrike" cap="non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2"/>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1800"/>
              <a:buNone/>
            </a:pPr>
            <a:r>
              <a:rPr lang="en-US" sz="3600" b="1"/>
              <a:t>Testing Strategies</a:t>
            </a:r>
            <a:endParaRPr sz="3600"/>
          </a:p>
        </p:txBody>
      </p:sp>
      <p:sp>
        <p:nvSpPr>
          <p:cNvPr id="150" name="Google Shape;150;p42"/>
          <p:cNvSpPr txBox="1">
            <a:spLocks noGrp="1"/>
          </p:cNvSpPr>
          <p:nvPr>
            <p:ph type="body" idx="1"/>
          </p:nvPr>
        </p:nvSpPr>
        <p:spPr>
          <a:xfrm>
            <a:off x="210312" y="1149858"/>
            <a:ext cx="8503920" cy="4873752"/>
          </a:xfrm>
          <a:prstGeom prst="rect">
            <a:avLst/>
          </a:prstGeom>
          <a:noFill/>
          <a:ln>
            <a:noFill/>
          </a:ln>
        </p:spPr>
        <p:txBody>
          <a:bodyPr spcFirstLastPara="1" wrap="square" lIns="0" tIns="0" rIns="0" bIns="0" anchor="t" anchorCtr="0">
            <a:noAutofit/>
          </a:bodyPr>
          <a:lstStyle/>
          <a:p>
            <a:pPr marL="0" lvl="0" indent="0" algn="just" rtl="0">
              <a:lnSpc>
                <a:spcPct val="90000"/>
              </a:lnSpc>
              <a:spcBef>
                <a:spcPts val="1000"/>
              </a:spcBef>
              <a:spcAft>
                <a:spcPts val="0"/>
              </a:spcAft>
              <a:buSzPts val="1800"/>
              <a:buNone/>
            </a:pPr>
            <a:r>
              <a:rPr lang="en-US" sz="2400" b="1" dirty="0">
                <a:latin typeface="Times New Roman"/>
                <a:ea typeface="Times New Roman"/>
                <a:cs typeface="Times New Roman"/>
                <a:sym typeface="Times New Roman"/>
              </a:rPr>
              <a:t>Unit Testing  :  </a:t>
            </a:r>
            <a:r>
              <a:rPr lang="en-US" sz="2400" dirty="0">
                <a:latin typeface="Times New Roman"/>
                <a:ea typeface="Times New Roman"/>
                <a:cs typeface="Times New Roman"/>
                <a:sym typeface="Times New Roman"/>
              </a:rPr>
              <a:t>It is a level of software testing where individual units/ components of a software are tested.</a:t>
            </a:r>
            <a:endParaRPr sz="2400" dirty="0">
              <a:latin typeface="Times New Roman"/>
              <a:ea typeface="Times New Roman"/>
              <a:cs typeface="Times New Roman"/>
              <a:sym typeface="Times New Roman"/>
            </a:endParaRPr>
          </a:p>
          <a:p>
            <a:pPr marL="457200" lvl="0" indent="-381000" algn="just" rtl="0">
              <a:lnSpc>
                <a:spcPct val="90000"/>
              </a:lnSpc>
              <a:spcBef>
                <a:spcPts val="1000"/>
              </a:spcBef>
              <a:spcAft>
                <a:spcPts val="0"/>
              </a:spcAft>
              <a:buSzPts val="2400"/>
              <a:buFont typeface="Times New Roman"/>
              <a:buChar char="•"/>
            </a:pPr>
            <a:r>
              <a:rPr lang="en-US" sz="2400" dirty="0">
                <a:latin typeface="Times New Roman"/>
                <a:ea typeface="Times New Roman"/>
                <a:cs typeface="Times New Roman"/>
                <a:sym typeface="Times New Roman"/>
              </a:rPr>
              <a:t>A unit is the smallest testable part of any software. </a:t>
            </a:r>
            <a:endParaRPr sz="2400" dirty="0">
              <a:latin typeface="Times New Roman"/>
              <a:ea typeface="Times New Roman"/>
              <a:cs typeface="Times New Roman"/>
              <a:sym typeface="Times New Roman"/>
            </a:endParaRPr>
          </a:p>
          <a:p>
            <a:pPr marL="457200" lvl="0" indent="-381000" algn="just" rtl="0">
              <a:lnSpc>
                <a:spcPct val="90000"/>
              </a:lnSpc>
              <a:spcBef>
                <a:spcPts val="1000"/>
              </a:spcBef>
              <a:spcAft>
                <a:spcPts val="0"/>
              </a:spcAft>
              <a:buSzPts val="2400"/>
              <a:buFont typeface="Times New Roman"/>
              <a:buChar char="•"/>
            </a:pPr>
            <a:r>
              <a:rPr lang="en-US" sz="2400" dirty="0">
                <a:latin typeface="Times New Roman"/>
                <a:ea typeface="Times New Roman"/>
                <a:cs typeface="Times New Roman"/>
                <a:sym typeface="Times New Roman"/>
              </a:rPr>
              <a:t>The purpose is to validate that each unit of the software performs as designed. </a:t>
            </a:r>
            <a:endParaRPr sz="2400" dirty="0">
              <a:latin typeface="Times New Roman"/>
              <a:ea typeface="Times New Roman"/>
              <a:cs typeface="Times New Roman"/>
              <a:sym typeface="Times New Roman"/>
            </a:endParaRPr>
          </a:p>
          <a:p>
            <a:pPr marL="457200" lvl="0" indent="-381000" algn="just" rtl="0">
              <a:lnSpc>
                <a:spcPct val="90000"/>
              </a:lnSpc>
              <a:spcBef>
                <a:spcPts val="1000"/>
              </a:spcBef>
              <a:spcAft>
                <a:spcPts val="0"/>
              </a:spcAft>
              <a:buSzPts val="2400"/>
              <a:buFont typeface="Times New Roman"/>
              <a:buChar char="•"/>
            </a:pPr>
            <a:r>
              <a:rPr lang="en-US" sz="2400" dirty="0">
                <a:latin typeface="Times New Roman"/>
                <a:ea typeface="Times New Roman"/>
                <a:cs typeface="Times New Roman"/>
                <a:sym typeface="Times New Roman"/>
              </a:rPr>
              <a:t>An encapsulated class is the focus of unit testing in object-oriented context.</a:t>
            </a:r>
            <a:endParaRPr sz="2400" dirty="0">
              <a:latin typeface="Times New Roman"/>
              <a:ea typeface="Times New Roman"/>
              <a:cs typeface="Times New Roman"/>
              <a:sym typeface="Times New Roman"/>
            </a:endParaRPr>
          </a:p>
          <a:p>
            <a:pPr marL="457200" lvl="0" indent="-381000" algn="just" rtl="0">
              <a:lnSpc>
                <a:spcPct val="90000"/>
              </a:lnSpc>
              <a:spcBef>
                <a:spcPts val="1000"/>
              </a:spcBef>
              <a:spcAft>
                <a:spcPts val="0"/>
              </a:spcAft>
              <a:buSzPts val="2400"/>
              <a:buFont typeface="Times New Roman"/>
              <a:buChar char="•"/>
            </a:pPr>
            <a:r>
              <a:rPr lang="en-US" sz="2400" dirty="0">
                <a:latin typeface="Times New Roman"/>
                <a:ea typeface="Times New Roman"/>
                <a:cs typeface="Times New Roman"/>
                <a:sym typeface="Times New Roman"/>
              </a:rPr>
              <a:t>Class testing for object-oriented software is analogous to module testing for conventional software.  It is not advisable to test operations in isolation.</a:t>
            </a:r>
            <a:endParaRPr sz="2400" dirty="0">
              <a:latin typeface="Times New Roman"/>
              <a:ea typeface="Times New Roman"/>
              <a:cs typeface="Times New Roman"/>
              <a:sym typeface="Times New Roman"/>
            </a:endParaRPr>
          </a:p>
          <a:p>
            <a:pPr marL="457200" lvl="0" indent="-228600" algn="just" rtl="0">
              <a:lnSpc>
                <a:spcPct val="90000"/>
              </a:lnSpc>
              <a:spcBef>
                <a:spcPts val="1000"/>
              </a:spcBef>
              <a:spcAft>
                <a:spcPts val="0"/>
              </a:spcAft>
              <a:buSzPts val="1800"/>
              <a:buNone/>
            </a:pPr>
            <a:endParaRPr sz="2400" dirty="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43"/>
          <p:cNvSpPr txBox="1"/>
          <p:nvPr/>
        </p:nvSpPr>
        <p:spPr>
          <a:xfrm>
            <a:off x="152400" y="1383149"/>
            <a:ext cx="8839200" cy="5170606"/>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000000"/>
              </a:buClr>
              <a:buSzPts val="1800"/>
              <a:buFont typeface="Noto Sans Symbols"/>
              <a:buChar char="❖"/>
            </a:pPr>
            <a:r>
              <a:rPr lang="en-US" sz="2000" b="0" i="0" u="none" strike="noStrike" cap="none" dirty="0">
                <a:solidFill>
                  <a:srgbClr val="000000"/>
                </a:solidFill>
                <a:latin typeface="Times New Roman"/>
                <a:ea typeface="Times New Roman"/>
                <a:cs typeface="Times New Roman"/>
                <a:sym typeface="Times New Roman"/>
              </a:rPr>
              <a:t>When object-oriented software is considered, the concept of the unit changes. </a:t>
            </a:r>
            <a:endParaRPr sz="2000" b="0" i="0" u="none" strike="noStrike" cap="none" dirty="0">
              <a:solidFill>
                <a:srgbClr val="000000"/>
              </a:solidFill>
              <a:latin typeface="Times New Roman"/>
              <a:ea typeface="Times New Roman"/>
              <a:cs typeface="Times New Roman"/>
              <a:sym typeface="Times New Roman"/>
            </a:endParaRPr>
          </a:p>
          <a:p>
            <a:pPr marL="342900" marR="0" lvl="0" indent="-342900" algn="just" rtl="0">
              <a:lnSpc>
                <a:spcPct val="150000"/>
              </a:lnSpc>
              <a:spcBef>
                <a:spcPts val="0"/>
              </a:spcBef>
              <a:spcAft>
                <a:spcPts val="0"/>
              </a:spcAft>
              <a:buClr>
                <a:srgbClr val="000000"/>
              </a:buClr>
              <a:buSzPts val="1800"/>
              <a:buFont typeface="Noto Sans Symbols"/>
              <a:buChar char="❖"/>
            </a:pPr>
            <a:r>
              <a:rPr lang="en-US" sz="2000" b="0" i="0" u="none" strike="noStrike" cap="none" dirty="0">
                <a:solidFill>
                  <a:srgbClr val="000000"/>
                </a:solidFill>
                <a:latin typeface="Times New Roman"/>
                <a:ea typeface="Times New Roman"/>
                <a:cs typeface="Times New Roman"/>
                <a:sym typeface="Times New Roman"/>
              </a:rPr>
              <a:t>Rather than testing an individual module, the smallest testable unit is the encapsulated class or object.</a:t>
            </a:r>
            <a:endParaRPr sz="2000" b="0" i="0" u="none" strike="noStrike" cap="none" dirty="0">
              <a:solidFill>
                <a:srgbClr val="000000"/>
              </a:solidFill>
              <a:latin typeface="Times New Roman"/>
              <a:ea typeface="Times New Roman"/>
              <a:cs typeface="Times New Roman"/>
              <a:sym typeface="Times New Roman"/>
            </a:endParaRPr>
          </a:p>
          <a:p>
            <a:pPr marL="342900" marR="0" lvl="0" indent="-342900" algn="just" rtl="0">
              <a:lnSpc>
                <a:spcPct val="150000"/>
              </a:lnSpc>
              <a:spcBef>
                <a:spcPts val="0"/>
              </a:spcBef>
              <a:spcAft>
                <a:spcPts val="0"/>
              </a:spcAft>
              <a:buClr>
                <a:srgbClr val="000000"/>
              </a:buClr>
              <a:buSzPts val="1800"/>
              <a:buFont typeface="Noto Sans Symbols"/>
              <a:buChar char="❖"/>
            </a:pPr>
            <a:r>
              <a:rPr lang="en-US" sz="2000" b="0" i="0" u="none" strike="noStrike" cap="none" dirty="0">
                <a:solidFill>
                  <a:srgbClr val="000000"/>
                </a:solidFill>
                <a:latin typeface="Times New Roman"/>
                <a:ea typeface="Times New Roman"/>
                <a:cs typeface="Times New Roman"/>
                <a:sym typeface="Times New Roman"/>
              </a:rPr>
              <a:t>To illustrate, consider a class hierarchy in which an operation X is defined for the superclass and is inherited by several subclasses. Each subclass uses operation X, but it is applied within the context of the private attributes and operations that have been defined for the subclass. Because the context in which operation X is used varies in subtle ways, it is necessary to test operation X in the context of each of the subclasses. This means that testing operation X in the traditional unit testing approach is ineffective in the object-oriented context.</a:t>
            </a:r>
            <a:endParaRPr sz="2000" b="0" i="0" u="none" strike="noStrike" cap="none" dirty="0">
              <a:solidFill>
                <a:srgbClr val="000000"/>
              </a:solidFill>
              <a:latin typeface="Times New Roman"/>
              <a:ea typeface="Times New Roman"/>
              <a:cs typeface="Times New Roman"/>
              <a:sym typeface="Times New Roman"/>
            </a:endParaRPr>
          </a:p>
          <a:p>
            <a:pPr marL="342900" marR="0" lvl="0" indent="-228600" algn="just" rtl="0">
              <a:lnSpc>
                <a:spcPct val="150000"/>
              </a:lnSpc>
              <a:spcBef>
                <a:spcPts val="0"/>
              </a:spcBef>
              <a:spcAft>
                <a:spcPts val="0"/>
              </a:spcAft>
              <a:buClr>
                <a:srgbClr val="000000"/>
              </a:buClr>
              <a:buSzPts val="1800"/>
              <a:buFont typeface="Noto Sans Symbols"/>
              <a:buNone/>
            </a:pPr>
            <a:endParaRPr sz="2000" b="0" i="0" u="none" strike="noStrike" cap="none" dirty="0">
              <a:solidFill>
                <a:srgbClr val="000000"/>
              </a:solidFill>
              <a:latin typeface="Times New Roman"/>
              <a:ea typeface="Times New Roman"/>
              <a:cs typeface="Times New Roman"/>
              <a:sym typeface="Times New Roman"/>
            </a:endParaRPr>
          </a:p>
        </p:txBody>
      </p:sp>
      <p:sp>
        <p:nvSpPr>
          <p:cNvPr id="156" name="Google Shape;156;p43"/>
          <p:cNvSpPr txBox="1"/>
          <p:nvPr/>
        </p:nvSpPr>
        <p:spPr>
          <a:xfrm>
            <a:off x="-977682" y="146785"/>
            <a:ext cx="810870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2800" b="1" i="0" u="none" strike="noStrike" cap="none" dirty="0">
                <a:solidFill>
                  <a:srgbClr val="000000"/>
                </a:solidFill>
                <a:latin typeface="Times New Roman"/>
                <a:ea typeface="Times New Roman"/>
                <a:cs typeface="Times New Roman"/>
                <a:sym typeface="Times New Roman"/>
              </a:rPr>
              <a:t> Unit Testing in the OO Context</a:t>
            </a:r>
            <a:endParaRPr sz="28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1"/>
          <p:cNvSpPr txBox="1"/>
          <p:nvPr/>
        </p:nvSpPr>
        <p:spPr>
          <a:xfrm>
            <a:off x="0" y="1238149"/>
            <a:ext cx="8839200" cy="4247276"/>
          </a:xfrm>
          <a:prstGeom prst="rect">
            <a:avLst/>
          </a:prstGeom>
          <a:noFill/>
          <a:ln>
            <a:noFill/>
          </a:ln>
        </p:spPr>
        <p:txBody>
          <a:bodyPr spcFirstLastPara="1" wrap="square" lIns="91425" tIns="45700" rIns="91425" bIns="45700" anchor="t" anchorCtr="0">
            <a:spAutoFit/>
          </a:bodyPr>
          <a:lstStyle/>
          <a:p>
            <a:pPr marL="457200" marR="0" lvl="0" indent="-342900" algn="just" rtl="0">
              <a:lnSpc>
                <a:spcPct val="150000"/>
              </a:lnSpc>
              <a:spcBef>
                <a:spcPts val="0"/>
              </a:spcBef>
              <a:spcAft>
                <a:spcPts val="0"/>
              </a:spcAft>
              <a:buClr>
                <a:schemeClr val="dk1"/>
              </a:buClr>
              <a:buSzPts val="1800"/>
              <a:buFont typeface="Noto Sans Symbols"/>
              <a:buChar char="❖"/>
            </a:pPr>
            <a:r>
              <a:rPr lang="en-US" sz="2000" b="0" i="0" u="none" strike="noStrike" cap="none" dirty="0">
                <a:solidFill>
                  <a:schemeClr val="dk1"/>
                </a:solidFill>
                <a:latin typeface="Times New Roman"/>
                <a:ea typeface="Times New Roman"/>
                <a:cs typeface="Times New Roman"/>
                <a:sym typeface="Times New Roman"/>
              </a:rPr>
              <a:t>Because a class can contain several different operations and a particular operation may exist as part of several different classes, the meaning of unit testing changes dramatically.</a:t>
            </a:r>
            <a:endParaRPr sz="2000" b="0" i="0" u="none" strike="noStrike" cap="none" dirty="0">
              <a:solidFill>
                <a:schemeClr val="dk1"/>
              </a:solidFill>
              <a:latin typeface="Times New Roman"/>
              <a:ea typeface="Times New Roman"/>
              <a:cs typeface="Times New Roman"/>
              <a:sym typeface="Times New Roman"/>
            </a:endParaRPr>
          </a:p>
          <a:p>
            <a:pPr marL="457200" marR="0" lvl="0" indent="-342900" algn="just" rtl="0">
              <a:lnSpc>
                <a:spcPct val="150000"/>
              </a:lnSpc>
              <a:spcBef>
                <a:spcPts val="0"/>
              </a:spcBef>
              <a:spcAft>
                <a:spcPts val="0"/>
              </a:spcAft>
              <a:buClr>
                <a:schemeClr val="dk1"/>
              </a:buClr>
              <a:buSzPts val="1800"/>
              <a:buFont typeface="Noto Sans Symbols"/>
              <a:buChar char="❖"/>
            </a:pPr>
            <a:r>
              <a:rPr lang="en-US" sz="2000" b="0" i="0" u="none" strike="noStrike" cap="none" dirty="0">
                <a:solidFill>
                  <a:srgbClr val="000000"/>
                </a:solidFill>
                <a:latin typeface="Times New Roman"/>
                <a:ea typeface="Times New Roman"/>
                <a:cs typeface="Times New Roman"/>
                <a:sym typeface="Times New Roman"/>
              </a:rPr>
              <a:t>Class testing for OO software is the equivalent of unit testing for conventional software. In class testing, every individual classes are tested for errors or bugs.</a:t>
            </a:r>
            <a:r>
              <a:rPr lang="en-US" sz="2000" b="0" i="0" u="none" strike="noStrike" cap="none" dirty="0">
                <a:solidFill>
                  <a:srgbClr val="212529"/>
                </a:solidFill>
                <a:latin typeface="Times New Roman"/>
                <a:ea typeface="Times New Roman"/>
                <a:cs typeface="Times New Roman"/>
                <a:sym typeface="Times New Roman"/>
              </a:rPr>
              <a:t> </a:t>
            </a:r>
            <a:endParaRPr sz="2000" b="0" i="0" u="none" strike="noStrike" cap="none" dirty="0">
              <a:solidFill>
                <a:srgbClr val="000000"/>
              </a:solidFill>
              <a:latin typeface="Times New Roman"/>
              <a:ea typeface="Times New Roman"/>
              <a:cs typeface="Times New Roman"/>
              <a:sym typeface="Times New Roman"/>
            </a:endParaRPr>
          </a:p>
          <a:p>
            <a:pPr marL="457200" marR="0" lvl="0" indent="-342900" algn="just" rtl="0">
              <a:lnSpc>
                <a:spcPct val="150000"/>
              </a:lnSpc>
              <a:spcBef>
                <a:spcPts val="0"/>
              </a:spcBef>
              <a:spcAft>
                <a:spcPts val="0"/>
              </a:spcAft>
              <a:buClr>
                <a:schemeClr val="dk1"/>
              </a:buClr>
              <a:buSzPts val="1800"/>
              <a:buFont typeface="Noto Sans Symbols"/>
              <a:buChar char="❖"/>
            </a:pPr>
            <a:r>
              <a:rPr lang="en-US" sz="2000" b="0" i="0" u="none" strike="noStrike" cap="none" dirty="0">
                <a:solidFill>
                  <a:srgbClr val="000000"/>
                </a:solidFill>
                <a:latin typeface="Times New Roman"/>
                <a:ea typeface="Times New Roman"/>
                <a:cs typeface="Times New Roman"/>
                <a:sym typeface="Times New Roman"/>
              </a:rPr>
              <a:t>Class testing ensures that the attributes of class are implemented as per the design and  specifications. It also checks whether the interfaces and methods are error free or not. </a:t>
            </a:r>
            <a:endParaRPr sz="2000" b="0" i="0" u="none" strike="noStrike" cap="none" dirty="0">
              <a:solidFill>
                <a:srgbClr val="000000"/>
              </a:solidFill>
              <a:latin typeface="Times New Roman"/>
              <a:ea typeface="Times New Roman"/>
              <a:cs typeface="Times New Roman"/>
              <a:sym typeface="Times New Roman"/>
            </a:endParaRPr>
          </a:p>
          <a:p>
            <a:pPr marL="342900" marR="0" lvl="0" indent="-228600" algn="just" rtl="0">
              <a:lnSpc>
                <a:spcPct val="150000"/>
              </a:lnSpc>
              <a:spcBef>
                <a:spcPts val="0"/>
              </a:spcBef>
              <a:spcAft>
                <a:spcPts val="0"/>
              </a:spcAft>
              <a:buClr>
                <a:srgbClr val="000000"/>
              </a:buClr>
              <a:buSzPts val="1800"/>
              <a:buFont typeface="Noto Sans Symbols"/>
              <a:buNone/>
            </a:pPr>
            <a:endParaRPr sz="2000" b="0" i="0" u="none" strike="noStrike" cap="none" dirty="0">
              <a:solidFill>
                <a:srgbClr val="000000"/>
              </a:solidFill>
              <a:latin typeface="Times New Roman"/>
              <a:ea typeface="Times New Roman"/>
              <a:cs typeface="Times New Roman"/>
              <a:sym typeface="Times New Roman"/>
            </a:endParaRPr>
          </a:p>
        </p:txBody>
      </p:sp>
      <p:sp>
        <p:nvSpPr>
          <p:cNvPr id="162" name="Google Shape;162;p21"/>
          <p:cNvSpPr txBox="1"/>
          <p:nvPr/>
        </p:nvSpPr>
        <p:spPr>
          <a:xfrm>
            <a:off x="0" y="177265"/>
            <a:ext cx="7029449"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2800" b="1" i="0" u="none" strike="noStrike" cap="none" dirty="0">
                <a:solidFill>
                  <a:srgbClr val="000000"/>
                </a:solidFill>
                <a:latin typeface="Times New Roman"/>
                <a:ea typeface="Times New Roman"/>
                <a:cs typeface="Times New Roman"/>
                <a:sym typeface="Times New Roman"/>
              </a:rPr>
              <a:t> Unit Testing in the OO Context(cont.)</a:t>
            </a:r>
            <a:endParaRPr sz="28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44"/>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9" name="Google Shape;169;p44"/>
          <p:cNvSpPr txBox="1"/>
          <p:nvPr/>
        </p:nvSpPr>
        <p:spPr>
          <a:xfrm>
            <a:off x="304800" y="1223645"/>
            <a:ext cx="8534400" cy="363270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rgbClr val="000000"/>
              </a:buClr>
              <a:buSzPts val="1800"/>
              <a:buFont typeface="Arial"/>
              <a:buNone/>
            </a:pPr>
            <a:r>
              <a:rPr lang="en-US" sz="2000" b="0" i="0" u="none" strike="noStrike" cap="none" dirty="0">
                <a:solidFill>
                  <a:srgbClr val="000000"/>
                </a:solidFill>
                <a:latin typeface="Times New Roman"/>
                <a:ea typeface="Times New Roman"/>
                <a:cs typeface="Times New Roman"/>
                <a:sym typeface="Times New Roman"/>
              </a:rPr>
              <a:t>Random testing and partitioning are methods that can be used to exercise a class during OO testing. </a:t>
            </a:r>
            <a:endParaRPr sz="20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Clr>
                <a:srgbClr val="000000"/>
              </a:buClr>
              <a:buSzPts val="1800"/>
              <a:buFont typeface="Arial"/>
              <a:buNone/>
            </a:pPr>
            <a:endParaRPr sz="20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Clr>
                <a:srgbClr val="000000"/>
              </a:buClr>
              <a:buSzPts val="1800"/>
              <a:buFont typeface="Arial"/>
              <a:buNone/>
            </a:pPr>
            <a:r>
              <a:rPr lang="en-US" sz="2000" b="1" i="0" u="sng" strike="noStrike" cap="none" dirty="0">
                <a:solidFill>
                  <a:srgbClr val="000000"/>
                </a:solidFill>
                <a:latin typeface="Times New Roman"/>
                <a:ea typeface="Times New Roman"/>
                <a:cs typeface="Times New Roman"/>
                <a:sym typeface="Times New Roman"/>
              </a:rPr>
              <a:t>Random Testing for OO Classes: </a:t>
            </a:r>
            <a:endParaRPr sz="2000" b="1" i="0" u="sng" strike="noStrike" cap="none" dirty="0">
              <a:solidFill>
                <a:srgbClr val="000000"/>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Clr>
                <a:srgbClr val="000000"/>
              </a:buClr>
              <a:buSzPts val="1800"/>
              <a:buFont typeface="Arial"/>
              <a:buNone/>
            </a:pPr>
            <a:r>
              <a:rPr lang="en-US" sz="2000" b="0" i="0" u="none" strike="noStrike" cap="none" dirty="0">
                <a:solidFill>
                  <a:srgbClr val="000000"/>
                </a:solidFill>
                <a:latin typeface="Times New Roman"/>
                <a:ea typeface="Times New Roman"/>
                <a:cs typeface="Times New Roman"/>
                <a:sym typeface="Times New Roman"/>
              </a:rPr>
              <a:t>▪ Identify operations applicable to a class </a:t>
            </a:r>
            <a:endParaRPr sz="20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Clr>
                <a:srgbClr val="000000"/>
              </a:buClr>
              <a:buSzPts val="1800"/>
              <a:buFont typeface="Arial"/>
              <a:buNone/>
            </a:pPr>
            <a:r>
              <a:rPr lang="en-US" sz="2000" b="0" i="0" u="none" strike="noStrike" cap="none" dirty="0">
                <a:solidFill>
                  <a:srgbClr val="000000"/>
                </a:solidFill>
                <a:latin typeface="Times New Roman"/>
                <a:ea typeface="Times New Roman"/>
                <a:cs typeface="Times New Roman"/>
                <a:sym typeface="Times New Roman"/>
              </a:rPr>
              <a:t>▪ Define constraints on their use </a:t>
            </a:r>
            <a:endParaRPr sz="20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Clr>
                <a:srgbClr val="000000"/>
              </a:buClr>
              <a:buSzPts val="1800"/>
              <a:buFont typeface="Arial"/>
              <a:buNone/>
            </a:pPr>
            <a:r>
              <a:rPr lang="en-US" sz="2000" b="0" i="0" u="none" strike="noStrike" cap="none" dirty="0">
                <a:solidFill>
                  <a:srgbClr val="000000"/>
                </a:solidFill>
                <a:latin typeface="Times New Roman"/>
                <a:ea typeface="Times New Roman"/>
                <a:cs typeface="Times New Roman"/>
                <a:sym typeface="Times New Roman"/>
              </a:rPr>
              <a:t>▪ Generate a variety of random test sequences. </a:t>
            </a:r>
            <a:endParaRPr sz="20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Clr>
                <a:srgbClr val="000000"/>
              </a:buClr>
              <a:buSzPts val="1800"/>
              <a:buFont typeface="Arial"/>
              <a:buNone/>
            </a:pPr>
            <a:endParaRPr sz="2000" b="0" i="0" u="none" strike="noStrike" cap="none" dirty="0">
              <a:solidFill>
                <a:srgbClr val="000000"/>
              </a:solidFill>
              <a:latin typeface="Times New Roman"/>
              <a:ea typeface="Times New Roman"/>
              <a:cs typeface="Times New Roman"/>
              <a:sym typeface="Times New Roman"/>
            </a:endParaRPr>
          </a:p>
        </p:txBody>
      </p:sp>
      <p:sp>
        <p:nvSpPr>
          <p:cNvPr id="170" name="Google Shape;170;p44"/>
          <p:cNvSpPr txBox="1"/>
          <p:nvPr/>
        </p:nvSpPr>
        <p:spPr>
          <a:xfrm>
            <a:off x="-1044206" y="125513"/>
            <a:ext cx="810873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2800" b="1" i="0" u="none" strike="noStrike" cap="none" dirty="0">
                <a:solidFill>
                  <a:srgbClr val="000000"/>
                </a:solidFill>
                <a:latin typeface="Times New Roman"/>
                <a:ea typeface="Times New Roman"/>
                <a:cs typeface="Times New Roman"/>
                <a:sym typeface="Times New Roman"/>
              </a:rPr>
              <a:t> Unit Testing in the OO Context</a:t>
            </a:r>
            <a:endParaRPr sz="28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2"/>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 name="Google Shape;177;p22"/>
          <p:cNvSpPr txBox="1"/>
          <p:nvPr/>
        </p:nvSpPr>
        <p:spPr>
          <a:xfrm>
            <a:off x="304800" y="893128"/>
            <a:ext cx="8534400" cy="5016718"/>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2000" b="1" i="0" u="sng" strike="noStrike" cap="none" dirty="0">
                <a:solidFill>
                  <a:srgbClr val="000000"/>
                </a:solidFill>
                <a:latin typeface="Times New Roman"/>
                <a:ea typeface="Times New Roman"/>
                <a:cs typeface="Times New Roman"/>
                <a:sym typeface="Times New Roman"/>
              </a:rPr>
              <a:t>Partition Testing at the Class Level: </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2000" b="1" i="0" u="sng"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2000" b="1" i="0" u="none" strike="noStrike" cap="none" dirty="0">
                <a:solidFill>
                  <a:srgbClr val="000000"/>
                </a:solidFill>
                <a:latin typeface="Times New Roman"/>
                <a:ea typeface="Times New Roman"/>
                <a:cs typeface="Times New Roman"/>
                <a:sym typeface="Times New Roman"/>
              </a:rPr>
              <a:t>▪ State-based partitioning: </a:t>
            </a:r>
            <a:endParaRPr sz="20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2000" b="0" i="0" u="none" strike="noStrike" cap="none" dirty="0">
                <a:solidFill>
                  <a:srgbClr val="000000"/>
                </a:solidFill>
                <a:latin typeface="Times New Roman"/>
                <a:ea typeface="Times New Roman"/>
                <a:cs typeface="Times New Roman"/>
                <a:sym typeface="Times New Roman"/>
              </a:rPr>
              <a:t>₋ It categorizes class operations based on their ability to change the state of the class. </a:t>
            </a:r>
            <a:endParaRPr sz="20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2000" b="0" i="0" u="none" strike="noStrike" cap="none" dirty="0">
                <a:solidFill>
                  <a:srgbClr val="000000"/>
                </a:solidFill>
                <a:latin typeface="Times New Roman"/>
                <a:ea typeface="Times New Roman"/>
                <a:cs typeface="Times New Roman"/>
                <a:sym typeface="Times New Roman"/>
              </a:rPr>
              <a:t>₋ Test designed in such a way that operations that cause state changes are tested separately from those that do not. </a:t>
            </a:r>
            <a:endParaRPr sz="20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2000" b="1" i="0" u="none" strike="noStrike" cap="none" dirty="0">
                <a:solidFill>
                  <a:srgbClr val="000000"/>
                </a:solidFill>
                <a:latin typeface="Times New Roman"/>
                <a:ea typeface="Times New Roman"/>
                <a:cs typeface="Times New Roman"/>
                <a:sym typeface="Times New Roman"/>
              </a:rPr>
              <a:t>▪ Attribute-based partitioning: </a:t>
            </a:r>
            <a:endParaRPr sz="20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2000" b="0" i="0" u="none" strike="noStrike" cap="none" dirty="0">
                <a:solidFill>
                  <a:srgbClr val="000000"/>
                </a:solidFill>
                <a:latin typeface="Times New Roman"/>
                <a:ea typeface="Times New Roman"/>
                <a:cs typeface="Times New Roman"/>
                <a:sym typeface="Times New Roman"/>
              </a:rPr>
              <a:t>₋ For each class attribute, operations are classified according to those that use the attribute, those that modify the attribute and those that do not use or modify the  attributes. </a:t>
            </a:r>
            <a:endParaRPr sz="20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2000" b="1" i="0" u="none" strike="noStrike" cap="none" dirty="0">
                <a:solidFill>
                  <a:srgbClr val="000000"/>
                </a:solidFill>
                <a:latin typeface="Times New Roman"/>
                <a:ea typeface="Times New Roman"/>
                <a:cs typeface="Times New Roman"/>
                <a:sym typeface="Times New Roman"/>
              </a:rPr>
              <a:t>▪ Category-based partitioning: </a:t>
            </a:r>
            <a:endParaRPr sz="2000" b="1"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2000" b="0" i="0" u="none" strike="noStrike" cap="none" dirty="0">
                <a:solidFill>
                  <a:srgbClr val="000000"/>
                </a:solidFill>
                <a:latin typeface="Times New Roman"/>
                <a:ea typeface="Times New Roman"/>
                <a:cs typeface="Times New Roman"/>
                <a:sym typeface="Times New Roman"/>
              </a:rPr>
              <a:t>₋ It categorizes class operations based on the generic function that each performs. </a:t>
            </a:r>
            <a:endParaRPr sz="20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2000" b="0" i="0" u="none" strike="noStrike" cap="none" dirty="0">
                <a:solidFill>
                  <a:srgbClr val="000000"/>
                </a:solidFill>
                <a:latin typeface="Times New Roman"/>
                <a:ea typeface="Times New Roman"/>
                <a:cs typeface="Times New Roman"/>
                <a:sym typeface="Times New Roman"/>
              </a:rPr>
              <a:t>₋ For example, operations in the Account class can be categorized in initialization  operations (open, setup), computational operations (deposit, withdraw), queries (balance, summarize), and termination operations (close). </a:t>
            </a:r>
            <a:endParaRPr sz="2000" b="0" i="0" u="none" strike="noStrike" cap="none" dirty="0">
              <a:solidFill>
                <a:srgbClr val="000000"/>
              </a:solidFill>
              <a:latin typeface="Times New Roman"/>
              <a:ea typeface="Times New Roman"/>
              <a:cs typeface="Times New Roman"/>
              <a:sym typeface="Times New Roman"/>
            </a:endParaRPr>
          </a:p>
        </p:txBody>
      </p:sp>
      <p:sp>
        <p:nvSpPr>
          <p:cNvPr id="178" name="Google Shape;178;p22"/>
          <p:cNvSpPr txBox="1"/>
          <p:nvPr/>
        </p:nvSpPr>
        <p:spPr>
          <a:xfrm>
            <a:off x="-922286" y="109806"/>
            <a:ext cx="810873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28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en-US" sz="28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Unit</a:t>
            </a:r>
            <a:r>
              <a:rPr lang="en-US" sz="2800" b="1" i="0" u="none" strike="noStrike" cap="none" dirty="0">
                <a:solidFill>
                  <a:srgbClr val="000000"/>
                </a:solidFill>
                <a:latin typeface="Times New Roman" panose="02020603050405020304" pitchFamily="18" charset="0"/>
                <a:cs typeface="Times New Roman" panose="02020603050405020304" pitchFamily="18" charset="0"/>
                <a:sym typeface="Arial"/>
              </a:rPr>
              <a:t> </a:t>
            </a:r>
            <a:r>
              <a:rPr lang="en-US" sz="28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Testing</a:t>
            </a:r>
            <a:r>
              <a:rPr lang="en-US" sz="2800" b="1" i="0" u="none" strike="noStrike" cap="none" dirty="0">
                <a:solidFill>
                  <a:srgbClr val="000000"/>
                </a:solidFill>
                <a:latin typeface="Times New Roman" panose="02020603050405020304" pitchFamily="18" charset="0"/>
                <a:cs typeface="Times New Roman" panose="02020603050405020304" pitchFamily="18" charset="0"/>
                <a:sym typeface="Arial"/>
              </a:rPr>
              <a:t> in the OO Context</a:t>
            </a:r>
            <a:endParaRPr sz="28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45"/>
          <p:cNvSpPr txBox="1">
            <a:spLocks noGrp="1"/>
          </p:cNvSpPr>
          <p:nvPr>
            <p:ph type="title"/>
          </p:nvPr>
        </p:nvSpPr>
        <p:spPr>
          <a:xfrm>
            <a:off x="137160" y="0"/>
            <a:ext cx="5486040" cy="914040"/>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1800"/>
              <a:buNone/>
            </a:pPr>
            <a:r>
              <a:rPr lang="en-US" b="1" dirty="0"/>
              <a:t>Testing Strategies (contd.)</a:t>
            </a:r>
            <a:endParaRPr dirty="0"/>
          </a:p>
        </p:txBody>
      </p:sp>
      <p:sp>
        <p:nvSpPr>
          <p:cNvPr id="184" name="Google Shape;184;p45"/>
          <p:cNvSpPr txBox="1">
            <a:spLocks noGrp="1"/>
          </p:cNvSpPr>
          <p:nvPr>
            <p:ph type="body" idx="1"/>
          </p:nvPr>
        </p:nvSpPr>
        <p:spPr>
          <a:xfrm>
            <a:off x="543560" y="1238758"/>
            <a:ext cx="8503920" cy="4873752"/>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1800"/>
              <a:buNone/>
            </a:pPr>
            <a:r>
              <a:rPr lang="en-US" sz="2400" b="1" dirty="0">
                <a:latin typeface="Times New Roman"/>
                <a:ea typeface="Times New Roman"/>
                <a:cs typeface="Times New Roman"/>
                <a:sym typeface="Times New Roman"/>
              </a:rPr>
              <a:t>Integration Testing </a:t>
            </a:r>
            <a:r>
              <a:rPr lang="en-US" sz="2400" dirty="0">
                <a:latin typeface="Times New Roman"/>
                <a:ea typeface="Times New Roman"/>
                <a:cs typeface="Times New Roman"/>
                <a:sym typeface="Times New Roman"/>
              </a:rPr>
              <a:t>: It is a level of software testing where individual units are combined and tested as a group. </a:t>
            </a:r>
            <a:endParaRPr sz="2400" dirty="0">
              <a:latin typeface="Times New Roman"/>
              <a:ea typeface="Times New Roman"/>
              <a:cs typeface="Times New Roman"/>
              <a:sym typeface="Times New Roman"/>
            </a:endParaRPr>
          </a:p>
          <a:p>
            <a:pPr marL="457200" lvl="0" indent="-381000" algn="l" rtl="0">
              <a:lnSpc>
                <a:spcPct val="90000"/>
              </a:lnSpc>
              <a:spcBef>
                <a:spcPts val="1000"/>
              </a:spcBef>
              <a:spcAft>
                <a:spcPts val="0"/>
              </a:spcAft>
              <a:buClr>
                <a:schemeClr val="dk1"/>
              </a:buClr>
              <a:buSzPts val="2400"/>
              <a:buFont typeface="Times New Roman"/>
              <a:buChar char="•"/>
            </a:pPr>
            <a:r>
              <a:rPr lang="en-US" sz="2400" dirty="0">
                <a:latin typeface="Times New Roman"/>
                <a:ea typeface="Times New Roman"/>
                <a:cs typeface="Times New Roman"/>
                <a:sym typeface="Times New Roman"/>
              </a:rPr>
              <a:t>It is used to expose faults in the interaction between integrated units.</a:t>
            </a:r>
            <a:endParaRPr sz="2400" dirty="0">
              <a:latin typeface="Times New Roman"/>
              <a:ea typeface="Times New Roman"/>
              <a:cs typeface="Times New Roman"/>
              <a:sym typeface="Times New Roman"/>
            </a:endParaRPr>
          </a:p>
          <a:p>
            <a:pPr marL="457200" lvl="0" indent="-381000" algn="l" rtl="0">
              <a:lnSpc>
                <a:spcPct val="90000"/>
              </a:lnSpc>
              <a:spcBef>
                <a:spcPts val="1000"/>
              </a:spcBef>
              <a:spcAft>
                <a:spcPts val="0"/>
              </a:spcAft>
              <a:buClr>
                <a:schemeClr val="dk1"/>
              </a:buClr>
              <a:buSzPts val="2400"/>
              <a:buFont typeface="Times New Roman"/>
              <a:buChar char="•"/>
            </a:pPr>
            <a:r>
              <a:rPr lang="en-US" sz="2400" b="1" u="sng" dirty="0">
                <a:latin typeface="Times New Roman"/>
                <a:ea typeface="Times New Roman"/>
                <a:cs typeface="Times New Roman"/>
                <a:sym typeface="Times New Roman"/>
              </a:rPr>
              <a:t>Also called as Interclass or subsystem testing. </a:t>
            </a:r>
            <a:endParaRPr sz="2400" b="1" dirty="0">
              <a:latin typeface="Times New Roman"/>
              <a:ea typeface="Times New Roman"/>
              <a:cs typeface="Times New Roman"/>
              <a:sym typeface="Times New Roman"/>
            </a:endParaRPr>
          </a:p>
          <a:p>
            <a:pPr marL="457200" lvl="0" indent="-228600" algn="l" rtl="0">
              <a:lnSpc>
                <a:spcPct val="90000"/>
              </a:lnSpc>
              <a:spcBef>
                <a:spcPts val="1000"/>
              </a:spcBef>
              <a:spcAft>
                <a:spcPts val="0"/>
              </a:spcAft>
              <a:buClr>
                <a:schemeClr val="dk1"/>
              </a:buClr>
              <a:buSzPts val="1800"/>
              <a:buNone/>
            </a:pPr>
            <a:endParaRPr sz="2400" dirty="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46"/>
          <p:cNvSpPr txBox="1"/>
          <p:nvPr/>
        </p:nvSpPr>
        <p:spPr>
          <a:xfrm>
            <a:off x="0" y="240030"/>
            <a:ext cx="629412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Times New Roman"/>
                <a:ea typeface="Times New Roman"/>
                <a:cs typeface="Times New Roman"/>
                <a:sym typeface="Times New Roman"/>
              </a:rPr>
              <a:t>Integration Testing in the OO Context </a:t>
            </a:r>
            <a:endParaRPr sz="2800" b="0" i="0" u="none" strike="noStrike" cap="none">
              <a:solidFill>
                <a:srgbClr val="000000"/>
              </a:solidFill>
              <a:latin typeface="Times New Roman"/>
              <a:ea typeface="Times New Roman"/>
              <a:cs typeface="Times New Roman"/>
              <a:sym typeface="Times New Roman"/>
            </a:endParaRPr>
          </a:p>
        </p:txBody>
      </p:sp>
      <p:sp>
        <p:nvSpPr>
          <p:cNvPr id="190" name="Google Shape;190;p46"/>
          <p:cNvSpPr txBox="1"/>
          <p:nvPr/>
        </p:nvSpPr>
        <p:spPr>
          <a:xfrm>
            <a:off x="304800" y="993694"/>
            <a:ext cx="8458200" cy="4357411"/>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15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Times New Roman"/>
                <a:ea typeface="Times New Roman"/>
                <a:cs typeface="Times New Roman"/>
                <a:sym typeface="Times New Roman"/>
              </a:rPr>
              <a:t>As object-oriented software does not have a hierarchical control structure, conventional top-down and bottom-up integration strategies have little meaning. </a:t>
            </a:r>
            <a:endParaRPr sz="1400" b="0" i="0" u="none" strike="noStrike" cap="none">
              <a:solidFill>
                <a:srgbClr val="000000"/>
              </a:solidFill>
              <a:latin typeface="Arial"/>
              <a:ea typeface="Arial"/>
              <a:cs typeface="Arial"/>
              <a:sym typeface="Arial"/>
            </a:endParaRPr>
          </a:p>
          <a:p>
            <a:pPr marL="342900" marR="0" lvl="0" indent="-342900" algn="just" rtl="0">
              <a:lnSpc>
                <a:spcPct val="115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Times New Roman"/>
                <a:ea typeface="Times New Roman"/>
                <a:cs typeface="Times New Roman"/>
                <a:sym typeface="Times New Roman"/>
              </a:rPr>
              <a:t>In addition, integrating operations one at a time into a class (the conventional incremental integration approach) is often impossible because of the “direct and indirect interactions of the components that make up the class”.</a:t>
            </a:r>
            <a:endParaRPr sz="2000" b="0" i="0" u="none" strike="noStrike" cap="none">
              <a:solidFill>
                <a:srgbClr val="000000"/>
              </a:solidFill>
              <a:latin typeface="Times New Roman"/>
              <a:ea typeface="Times New Roman"/>
              <a:cs typeface="Times New Roman"/>
              <a:sym typeface="Times New Roman"/>
            </a:endParaRPr>
          </a:p>
          <a:p>
            <a:pPr marL="342900" marR="0" lvl="0" indent="-215900" algn="just" rtl="0">
              <a:lnSpc>
                <a:spcPct val="115000"/>
              </a:lnSpc>
              <a:spcBef>
                <a:spcPts val="0"/>
              </a:spcBef>
              <a:spcAft>
                <a:spcPts val="0"/>
              </a:spcAft>
              <a:buClr>
                <a:srgbClr val="000000"/>
              </a:buClr>
              <a:buSzPts val="2000"/>
              <a:buFont typeface="Noto Sans Symbols"/>
              <a:buNone/>
            </a:pPr>
            <a:endParaRPr sz="2000" b="1" i="0" u="none" strike="noStrike" cap="none">
              <a:solidFill>
                <a:schemeClr val="dk1"/>
              </a:solidFill>
              <a:latin typeface="Times New Roman"/>
              <a:ea typeface="Times New Roman"/>
              <a:cs typeface="Times New Roman"/>
              <a:sym typeface="Times New Roman"/>
            </a:endParaRPr>
          </a:p>
          <a:p>
            <a:pPr marL="342900" marR="0" lvl="0" indent="-342900" algn="just" rtl="0">
              <a:lnSpc>
                <a:spcPct val="115000"/>
              </a:lnSpc>
              <a:spcBef>
                <a:spcPts val="0"/>
              </a:spcBef>
              <a:spcAft>
                <a:spcPts val="0"/>
              </a:spcAft>
              <a:buClr>
                <a:srgbClr val="000000"/>
              </a:buClr>
              <a:buSzPts val="2000"/>
              <a:buFont typeface="Noto Sans Symbols"/>
              <a:buChar char="❖"/>
            </a:pPr>
            <a:r>
              <a:rPr lang="en-US" sz="2000" b="1" i="0" u="none" strike="noStrike" cap="none">
                <a:solidFill>
                  <a:schemeClr val="dk1"/>
                </a:solidFill>
                <a:latin typeface="Times New Roman"/>
                <a:ea typeface="Times New Roman"/>
                <a:cs typeface="Times New Roman"/>
                <a:sym typeface="Times New Roman"/>
              </a:rPr>
              <a:t>Different strategies for integration testing of OO systems:</a:t>
            </a:r>
            <a:endParaRPr sz="2000" b="0" i="0" u="none" strike="noStrike" cap="none">
              <a:solidFill>
                <a:schemeClr val="dk1"/>
              </a:solidFill>
              <a:latin typeface="Times New Roman"/>
              <a:ea typeface="Times New Roman"/>
              <a:cs typeface="Times New Roman"/>
              <a:sym typeface="Times New Roman"/>
            </a:endParaRPr>
          </a:p>
          <a:p>
            <a:pPr marL="742950" marR="0" lvl="1" indent="-285750" algn="just" rtl="0">
              <a:lnSpc>
                <a:spcPct val="120000"/>
              </a:lnSpc>
              <a:spcBef>
                <a:spcPts val="0"/>
              </a:spcBef>
              <a:spcAft>
                <a:spcPts val="0"/>
              </a:spcAft>
              <a:buClr>
                <a:srgbClr val="000000"/>
              </a:buClr>
              <a:buSzPts val="1800"/>
              <a:buFont typeface="Arial"/>
              <a:buChar char="•"/>
            </a:pPr>
            <a:r>
              <a:rPr lang="en-US" sz="2000" b="0" i="0" u="none" strike="noStrike" cap="none">
                <a:solidFill>
                  <a:schemeClr val="dk1"/>
                </a:solidFill>
                <a:latin typeface="Times New Roman"/>
                <a:ea typeface="Times New Roman"/>
                <a:cs typeface="Times New Roman"/>
                <a:sym typeface="Times New Roman"/>
              </a:rPr>
              <a:t>Thread-based testing</a:t>
            </a:r>
            <a:endParaRPr sz="2000" b="0" i="0" u="none" strike="noStrike" cap="none">
              <a:solidFill>
                <a:srgbClr val="000000"/>
              </a:solidFill>
              <a:latin typeface="Times New Roman"/>
              <a:ea typeface="Times New Roman"/>
              <a:cs typeface="Times New Roman"/>
              <a:sym typeface="Times New Roman"/>
            </a:endParaRPr>
          </a:p>
          <a:p>
            <a:pPr marL="742950" marR="0" lvl="1" indent="-285750" algn="just" rtl="0">
              <a:lnSpc>
                <a:spcPct val="120000"/>
              </a:lnSpc>
              <a:spcBef>
                <a:spcPts val="0"/>
              </a:spcBef>
              <a:spcAft>
                <a:spcPts val="0"/>
              </a:spcAft>
              <a:buClr>
                <a:srgbClr val="000000"/>
              </a:buClr>
              <a:buSzPts val="1800"/>
              <a:buFont typeface="Arial"/>
              <a:buChar char="•"/>
            </a:pPr>
            <a:r>
              <a:rPr lang="en-US" sz="2000" b="0" i="0" u="none" strike="noStrike" cap="none">
                <a:solidFill>
                  <a:schemeClr val="dk1"/>
                </a:solidFill>
                <a:latin typeface="Times New Roman"/>
                <a:ea typeface="Times New Roman"/>
                <a:cs typeface="Times New Roman"/>
                <a:sym typeface="Times New Roman"/>
              </a:rPr>
              <a:t>Use-based testing </a:t>
            </a:r>
            <a:endParaRPr sz="2000" b="0" i="0" u="none" strike="noStrike" cap="none">
              <a:solidFill>
                <a:srgbClr val="000000"/>
              </a:solidFill>
              <a:latin typeface="Times New Roman"/>
              <a:ea typeface="Times New Roman"/>
              <a:cs typeface="Times New Roman"/>
              <a:sym typeface="Times New Roman"/>
            </a:endParaRPr>
          </a:p>
          <a:p>
            <a:pPr marL="742950" marR="0" lvl="1" indent="-285750" algn="just" rtl="0">
              <a:lnSpc>
                <a:spcPct val="120000"/>
              </a:lnSpc>
              <a:spcBef>
                <a:spcPts val="0"/>
              </a:spcBef>
              <a:spcAft>
                <a:spcPts val="0"/>
              </a:spcAft>
              <a:buClr>
                <a:srgbClr val="000000"/>
              </a:buClr>
              <a:buSzPts val="1800"/>
              <a:buFont typeface="Arial"/>
              <a:buChar char="•"/>
            </a:pPr>
            <a:r>
              <a:rPr lang="en-US" sz="2000" b="0" i="0" u="none" strike="noStrike" cap="none">
                <a:solidFill>
                  <a:schemeClr val="dk1"/>
                </a:solidFill>
                <a:latin typeface="Times New Roman"/>
                <a:ea typeface="Times New Roman"/>
                <a:cs typeface="Times New Roman"/>
                <a:sym typeface="Times New Roman"/>
              </a:rPr>
              <a:t>Cluster testing</a:t>
            </a:r>
            <a:endParaRPr sz="2000" b="0" i="0" u="none" strike="noStrike" cap="none">
              <a:solidFill>
                <a:srgbClr val="000000"/>
              </a:solidFill>
              <a:latin typeface="Times New Roman"/>
              <a:ea typeface="Times New Roman"/>
              <a:cs typeface="Times New Roman"/>
              <a:sym typeface="Times New Roman"/>
            </a:endParaRPr>
          </a:p>
          <a:p>
            <a:pPr marL="342900" marR="0" lvl="0" indent="-215900" algn="just" rtl="0">
              <a:lnSpc>
                <a:spcPct val="115000"/>
              </a:lnSpc>
              <a:spcBef>
                <a:spcPts val="0"/>
              </a:spcBef>
              <a:spcAft>
                <a:spcPts val="0"/>
              </a:spcAft>
              <a:buClr>
                <a:srgbClr val="000000"/>
              </a:buClr>
              <a:buSzPts val="2000"/>
              <a:buFont typeface="Noto Sans Symbols"/>
              <a:buNone/>
            </a:pPr>
            <a:endParaRPr sz="20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p47"/>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8" name="Google Shape;198;p47"/>
          <p:cNvSpPr txBox="1"/>
          <p:nvPr/>
        </p:nvSpPr>
        <p:spPr>
          <a:xfrm>
            <a:off x="304800" y="996724"/>
            <a:ext cx="8458200" cy="5262939"/>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20000"/>
              </a:lnSpc>
              <a:spcBef>
                <a:spcPts val="0"/>
              </a:spcBef>
              <a:spcAft>
                <a:spcPts val="0"/>
              </a:spcAft>
              <a:buClr>
                <a:srgbClr val="000000"/>
              </a:buClr>
              <a:buSzPts val="1800"/>
              <a:buFont typeface="Arial" panose="020B0604020202020204" pitchFamily="34" charset="0"/>
              <a:buChar char="•"/>
            </a:pPr>
            <a:r>
              <a:rPr lang="en-US" sz="2000" b="1" i="0" u="none" strike="noStrike" cap="none" dirty="0">
                <a:solidFill>
                  <a:schemeClr val="dk1"/>
                </a:solidFill>
                <a:latin typeface="Times New Roman"/>
                <a:ea typeface="Times New Roman"/>
                <a:cs typeface="Times New Roman"/>
                <a:sym typeface="Times New Roman"/>
              </a:rPr>
              <a:t>Thread-based testing</a:t>
            </a:r>
            <a:r>
              <a:rPr lang="en-US" sz="2000" b="0" i="0" u="none" strike="noStrike" cap="none" dirty="0">
                <a:solidFill>
                  <a:schemeClr val="dk1"/>
                </a:solidFill>
                <a:latin typeface="Times New Roman"/>
                <a:ea typeface="Times New Roman"/>
                <a:cs typeface="Times New Roman"/>
                <a:sym typeface="Times New Roman"/>
              </a:rPr>
              <a:t>: It integrates the set of classes required to respond to one input or event for the system.</a:t>
            </a:r>
            <a:endParaRPr sz="2000" b="0" i="0" u="none" strike="noStrike" cap="none" dirty="0">
              <a:solidFill>
                <a:srgbClr val="000000"/>
              </a:solidFill>
              <a:latin typeface="Times New Roman"/>
              <a:ea typeface="Times New Roman"/>
              <a:cs typeface="Times New Roman"/>
              <a:sym typeface="Times New Roman"/>
            </a:endParaRPr>
          </a:p>
          <a:p>
            <a:pPr marL="630238" lvl="3" indent="173038" algn="just">
              <a:lnSpc>
                <a:spcPct val="120000"/>
              </a:lnSpc>
              <a:buSzPts val="1800"/>
              <a:buFont typeface="Wingdings" panose="05000000000000000000" pitchFamily="2" charset="2"/>
              <a:buChar char="§"/>
            </a:pPr>
            <a:r>
              <a:rPr lang="en-US" sz="2000" b="0" i="0" u="none" strike="noStrike" cap="none" dirty="0">
                <a:solidFill>
                  <a:schemeClr val="dk1"/>
                </a:solidFill>
                <a:latin typeface="Times New Roman"/>
                <a:ea typeface="Times New Roman"/>
                <a:cs typeface="Times New Roman"/>
                <a:sym typeface="Times New Roman"/>
              </a:rPr>
              <a:t>Each thread is integrated and tested individually.</a:t>
            </a:r>
          </a:p>
          <a:p>
            <a:pPr marL="630238" lvl="3" indent="173038" algn="just">
              <a:lnSpc>
                <a:spcPct val="120000"/>
              </a:lnSpc>
              <a:buSzPts val="1800"/>
              <a:buFont typeface="Wingdings" panose="05000000000000000000" pitchFamily="2" charset="2"/>
              <a:buChar char="§"/>
            </a:pPr>
            <a:r>
              <a:rPr lang="en-US" sz="2000" b="0" i="0" u="none" strike="noStrike" cap="none" dirty="0">
                <a:solidFill>
                  <a:schemeClr val="dk1"/>
                </a:solidFill>
                <a:latin typeface="Times New Roman"/>
                <a:ea typeface="Times New Roman"/>
                <a:cs typeface="Times New Roman"/>
                <a:sym typeface="Times New Roman"/>
              </a:rPr>
              <a:t>Regression testing is applied to ensure that no side effects occur.</a:t>
            </a:r>
            <a:endParaRPr b="0" i="0" u="none" strike="noStrike" cap="none" dirty="0">
              <a:solidFill>
                <a:srgbClr val="000000"/>
              </a:solidFill>
              <a:latin typeface="Arial"/>
              <a:ea typeface="Arial"/>
              <a:cs typeface="Arial"/>
              <a:sym typeface="Arial"/>
            </a:endParaRPr>
          </a:p>
          <a:p>
            <a:pPr marL="0" marR="0" lvl="0" indent="114300" algn="just" rtl="0">
              <a:lnSpc>
                <a:spcPct val="120000"/>
              </a:lnSpc>
              <a:spcBef>
                <a:spcPts val="0"/>
              </a:spcBef>
              <a:spcAft>
                <a:spcPts val="0"/>
              </a:spcAft>
              <a:buClr>
                <a:srgbClr val="000000"/>
              </a:buClr>
              <a:buSzPts val="1800"/>
              <a:buFont typeface="Arial"/>
              <a:buNone/>
            </a:pPr>
            <a:endParaRPr sz="2000" b="0" i="0" u="none" strike="noStrike" cap="none" dirty="0">
              <a:solidFill>
                <a:srgbClr val="000000"/>
              </a:solidFill>
              <a:latin typeface="Times New Roman"/>
              <a:ea typeface="Times New Roman"/>
              <a:cs typeface="Times New Roman"/>
              <a:sym typeface="Times New Roman"/>
            </a:endParaRPr>
          </a:p>
          <a:p>
            <a:pPr marL="342900" marR="0" lvl="0" indent="-342900" algn="just" rtl="0">
              <a:lnSpc>
                <a:spcPct val="120000"/>
              </a:lnSpc>
              <a:spcBef>
                <a:spcPts val="0"/>
              </a:spcBef>
              <a:spcAft>
                <a:spcPts val="0"/>
              </a:spcAft>
              <a:buClr>
                <a:srgbClr val="000000"/>
              </a:buClr>
              <a:buSzPts val="1800"/>
              <a:buFont typeface="Arial" panose="020B0604020202020204" pitchFamily="34" charset="0"/>
              <a:buChar char="•"/>
            </a:pPr>
            <a:r>
              <a:rPr lang="en-US" sz="2000" b="1" i="0" u="none" strike="noStrike" cap="none" dirty="0">
                <a:solidFill>
                  <a:schemeClr val="dk1"/>
                </a:solidFill>
                <a:latin typeface="Times New Roman"/>
                <a:ea typeface="Times New Roman"/>
                <a:cs typeface="Times New Roman"/>
                <a:sym typeface="Times New Roman"/>
              </a:rPr>
              <a:t>Use-based testing: </a:t>
            </a:r>
            <a:r>
              <a:rPr lang="en-US" sz="2000" b="0" i="0" u="none" strike="noStrike" cap="none" dirty="0">
                <a:solidFill>
                  <a:schemeClr val="dk1"/>
                </a:solidFill>
                <a:latin typeface="Times New Roman"/>
                <a:ea typeface="Times New Roman"/>
                <a:cs typeface="Times New Roman"/>
                <a:sym typeface="Times New Roman"/>
              </a:rPr>
              <a:t>The</a:t>
            </a:r>
            <a:r>
              <a:rPr lang="en-US" sz="2000" b="1" i="0" u="none" strike="noStrike" cap="none" dirty="0">
                <a:solidFill>
                  <a:schemeClr val="dk1"/>
                </a:solidFill>
                <a:latin typeface="Times New Roman"/>
                <a:ea typeface="Times New Roman"/>
                <a:cs typeface="Times New Roman"/>
                <a:sym typeface="Times New Roman"/>
              </a:rPr>
              <a:t> </a:t>
            </a:r>
            <a:r>
              <a:rPr lang="en-US" sz="2000" b="0" i="0" u="none" strike="noStrike" cap="none" dirty="0">
                <a:solidFill>
                  <a:schemeClr val="dk1"/>
                </a:solidFill>
                <a:latin typeface="Times New Roman"/>
                <a:ea typeface="Times New Roman"/>
                <a:cs typeface="Times New Roman"/>
                <a:sym typeface="Times New Roman"/>
              </a:rPr>
              <a:t>integration approach begins the construction of the system by testing the independent classes.</a:t>
            </a:r>
            <a:endParaRPr sz="2000" b="0" i="0" u="none" strike="noStrike" cap="none" dirty="0">
              <a:solidFill>
                <a:srgbClr val="000000"/>
              </a:solidFill>
              <a:latin typeface="Times New Roman"/>
              <a:ea typeface="Times New Roman"/>
              <a:cs typeface="Times New Roman"/>
              <a:sym typeface="Times New Roman"/>
            </a:endParaRPr>
          </a:p>
          <a:p>
            <a:pPr marL="720725" marR="0" lvl="0" indent="-90488" algn="just" rtl="0">
              <a:lnSpc>
                <a:spcPct val="120000"/>
              </a:lnSpc>
              <a:spcBef>
                <a:spcPts val="0"/>
              </a:spcBef>
              <a:spcAft>
                <a:spcPts val="0"/>
              </a:spcAft>
              <a:buClr>
                <a:srgbClr val="000000"/>
              </a:buClr>
              <a:buSzPts val="1800"/>
              <a:buFont typeface="Wingdings" panose="05000000000000000000" pitchFamily="2" charset="2"/>
              <a:buChar char="§"/>
            </a:pPr>
            <a:r>
              <a:rPr lang="en-US" sz="2000" b="0" i="0" u="none" strike="noStrike" cap="none" dirty="0">
                <a:solidFill>
                  <a:schemeClr val="dk1"/>
                </a:solidFill>
                <a:latin typeface="Times New Roman"/>
                <a:ea typeface="Times New Roman"/>
                <a:cs typeface="Times New Roman"/>
                <a:sym typeface="Times New Roman"/>
              </a:rPr>
              <a:t>	After the independent classes are tested, the next layer of classes, called dependent classes, that use the independent classes are tested.</a:t>
            </a:r>
            <a:endParaRPr lang="en-US" sz="2000" dirty="0">
              <a:latin typeface="Times New Roman"/>
              <a:ea typeface="Times New Roman"/>
              <a:cs typeface="Times New Roman"/>
              <a:sym typeface="Times New Roman"/>
            </a:endParaRPr>
          </a:p>
          <a:p>
            <a:pPr marL="720725" marR="0" lvl="0" indent="-90488" algn="just" rtl="0">
              <a:lnSpc>
                <a:spcPct val="120000"/>
              </a:lnSpc>
              <a:spcBef>
                <a:spcPts val="0"/>
              </a:spcBef>
              <a:spcAft>
                <a:spcPts val="0"/>
              </a:spcAft>
              <a:buClr>
                <a:srgbClr val="000000"/>
              </a:buClr>
              <a:buSzPts val="1800"/>
              <a:buFont typeface="Wingdings" panose="05000000000000000000" pitchFamily="2" charset="2"/>
              <a:buChar char="§"/>
            </a:pPr>
            <a:r>
              <a:rPr lang="en-US" sz="2000" b="0" i="0" u="none" strike="noStrike" cap="none" dirty="0">
                <a:solidFill>
                  <a:schemeClr val="dk1"/>
                </a:solidFill>
                <a:latin typeface="Times New Roman"/>
                <a:ea typeface="Times New Roman"/>
                <a:cs typeface="Times New Roman"/>
                <a:sym typeface="Times New Roman"/>
              </a:rPr>
              <a:t>  This sequence of testing layers of dependent classes continues until the entire system is constructed.</a:t>
            </a:r>
            <a:endParaRPr lang="en-US" sz="1400" b="0" i="0" u="none" strike="noStrike" cap="none" dirty="0">
              <a:solidFill>
                <a:srgbClr val="000000"/>
              </a:solidFill>
              <a:latin typeface="Arial"/>
              <a:ea typeface="Arial"/>
              <a:cs typeface="Arial"/>
              <a:sym typeface="Arial"/>
            </a:endParaRPr>
          </a:p>
          <a:p>
            <a:pPr marL="0" marR="0" lvl="0" indent="114300" algn="just" rtl="0">
              <a:lnSpc>
                <a:spcPct val="120000"/>
              </a:lnSpc>
              <a:spcBef>
                <a:spcPts val="0"/>
              </a:spcBef>
              <a:spcAft>
                <a:spcPts val="0"/>
              </a:spcAft>
              <a:buClr>
                <a:srgbClr val="000000"/>
              </a:buClr>
              <a:buSzPts val="1800"/>
              <a:buFont typeface="Arial"/>
              <a:buNone/>
            </a:pPr>
            <a:endParaRPr sz="2000" b="0" i="0" u="none" strike="noStrike" cap="none" dirty="0">
              <a:solidFill>
                <a:srgbClr val="000000"/>
              </a:solidFill>
              <a:latin typeface="Times New Roman"/>
              <a:ea typeface="Times New Roman"/>
              <a:cs typeface="Times New Roman"/>
              <a:sym typeface="Times New Roman"/>
            </a:endParaRPr>
          </a:p>
          <a:p>
            <a:pPr marL="342900" marR="0" lvl="0" indent="-342900" algn="just" rtl="0">
              <a:lnSpc>
                <a:spcPct val="120000"/>
              </a:lnSpc>
              <a:spcBef>
                <a:spcPts val="0"/>
              </a:spcBef>
              <a:spcAft>
                <a:spcPts val="0"/>
              </a:spcAft>
              <a:buClr>
                <a:srgbClr val="000000"/>
              </a:buClr>
              <a:buSzPts val="1800"/>
              <a:buFont typeface="Arial" panose="020B0604020202020204" pitchFamily="34" charset="0"/>
              <a:buChar char="•"/>
            </a:pPr>
            <a:r>
              <a:rPr lang="en-US" sz="2000" b="1" i="0" u="none" strike="noStrike" cap="none" dirty="0">
                <a:solidFill>
                  <a:schemeClr val="dk1"/>
                </a:solidFill>
                <a:latin typeface="Times New Roman"/>
                <a:ea typeface="Times New Roman"/>
                <a:cs typeface="Times New Roman"/>
                <a:sym typeface="Times New Roman"/>
              </a:rPr>
              <a:t>Cluster testing</a:t>
            </a:r>
            <a:r>
              <a:rPr lang="en-US" sz="2000" b="0" i="0" u="none" strike="noStrike" cap="none" dirty="0">
                <a:solidFill>
                  <a:schemeClr val="dk1"/>
                </a:solidFill>
                <a:latin typeface="Times New Roman"/>
                <a:ea typeface="Times New Roman"/>
                <a:cs typeface="Times New Roman"/>
                <a:sym typeface="Times New Roman"/>
              </a:rPr>
              <a:t> : Here, a cluster of collaborating classes is exercised by designing test cases that attempt to uncover errors in the collaborations.</a:t>
            </a:r>
            <a:endParaRPr sz="2000" b="0" i="0" u="sng" strike="noStrike" cap="none" dirty="0">
              <a:solidFill>
                <a:srgbClr val="000000"/>
              </a:solidFill>
              <a:latin typeface="Times New Roman"/>
              <a:ea typeface="Times New Roman"/>
              <a:cs typeface="Times New Roman"/>
              <a:sym typeface="Times New Roman"/>
            </a:endParaRPr>
          </a:p>
        </p:txBody>
      </p:sp>
      <p:sp>
        <p:nvSpPr>
          <p:cNvPr id="199" name="Google Shape;199;p47"/>
          <p:cNvSpPr txBox="1"/>
          <p:nvPr/>
        </p:nvSpPr>
        <p:spPr>
          <a:xfrm>
            <a:off x="142875" y="236752"/>
            <a:ext cx="639254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rgbClr val="000000"/>
                </a:solidFill>
                <a:latin typeface="Times New Roman"/>
                <a:ea typeface="Times New Roman"/>
                <a:cs typeface="Times New Roman"/>
                <a:sym typeface="Times New Roman"/>
              </a:rPr>
              <a:t>Integration Testing in the OO Context </a:t>
            </a:r>
            <a:endParaRPr sz="28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48"/>
          <p:cNvSpPr txBox="1">
            <a:spLocks noGrp="1"/>
          </p:cNvSpPr>
          <p:nvPr>
            <p:ph type="body" idx="1"/>
          </p:nvPr>
        </p:nvSpPr>
        <p:spPr>
          <a:xfrm>
            <a:off x="457380" y="1028700"/>
            <a:ext cx="8229240" cy="4393080"/>
          </a:xfrm>
          <a:prstGeom prst="rect">
            <a:avLst/>
          </a:prstGeom>
          <a:noFill/>
          <a:ln>
            <a:noFill/>
          </a:ln>
        </p:spPr>
        <p:txBody>
          <a:bodyPr spcFirstLastPara="1" wrap="square" lIns="0" tIns="0" rIns="0" bIns="0" anchor="t" anchorCtr="0">
            <a:noAutofit/>
          </a:bodyPr>
          <a:lstStyle/>
          <a:p>
            <a:pPr marL="0" lvl="0" indent="0" algn="just" rtl="0">
              <a:lnSpc>
                <a:spcPct val="90000"/>
              </a:lnSpc>
              <a:spcBef>
                <a:spcPts val="1000"/>
              </a:spcBef>
              <a:spcAft>
                <a:spcPts val="0"/>
              </a:spcAft>
              <a:buSzPts val="1800"/>
              <a:buNone/>
            </a:pPr>
            <a:r>
              <a:rPr lang="en-US" sz="2000" b="1" dirty="0">
                <a:latin typeface="Times New Roman"/>
                <a:ea typeface="Times New Roman"/>
                <a:cs typeface="Times New Roman"/>
                <a:sym typeface="Times New Roman"/>
              </a:rPr>
              <a:t>Validation Testing </a:t>
            </a:r>
            <a:r>
              <a:rPr lang="en-US" sz="2000" dirty="0">
                <a:latin typeface="Times New Roman"/>
                <a:ea typeface="Times New Roman"/>
                <a:cs typeface="Times New Roman"/>
                <a:sym typeface="Times New Roman"/>
              </a:rPr>
              <a:t>: It is described as the last chance to catch program errors before delivery to the customer.   </a:t>
            </a:r>
            <a:endParaRPr dirty="0"/>
          </a:p>
          <a:p>
            <a:pPr marL="0" lvl="0" indent="0" algn="just" rtl="0">
              <a:lnSpc>
                <a:spcPct val="90000"/>
              </a:lnSpc>
              <a:spcBef>
                <a:spcPts val="1000"/>
              </a:spcBef>
              <a:spcAft>
                <a:spcPts val="0"/>
              </a:spcAft>
              <a:buSzPts val="1800"/>
              <a:buNone/>
            </a:pPr>
            <a:r>
              <a:rPr lang="en-US" sz="2000" b="1" dirty="0">
                <a:latin typeface="Times New Roman"/>
                <a:ea typeface="Times New Roman"/>
                <a:cs typeface="Times New Roman"/>
                <a:sym typeface="Times New Roman"/>
              </a:rPr>
              <a:t>Alpha/Beta testing</a:t>
            </a:r>
            <a:r>
              <a:rPr lang="en-US" sz="2000" dirty="0">
                <a:latin typeface="Times New Roman"/>
                <a:ea typeface="Times New Roman"/>
                <a:cs typeface="Times New Roman"/>
                <a:sym typeface="Times New Roman"/>
              </a:rPr>
              <a:t>: This strategy focuses on customer usage.</a:t>
            </a:r>
            <a:endParaRPr dirty="0"/>
          </a:p>
          <a:p>
            <a:pPr marL="457200" lvl="0" indent="-342900" algn="just" rtl="0">
              <a:lnSpc>
                <a:spcPct val="90000"/>
              </a:lnSpc>
              <a:spcBef>
                <a:spcPts val="1000"/>
              </a:spcBef>
              <a:spcAft>
                <a:spcPts val="0"/>
              </a:spcAft>
              <a:buSzPts val="1800"/>
              <a:buChar char="•"/>
            </a:pPr>
            <a:r>
              <a:rPr lang="en-US" sz="2000" b="1" dirty="0">
                <a:latin typeface="Times New Roman"/>
                <a:ea typeface="Times New Roman"/>
                <a:cs typeface="Times New Roman"/>
                <a:sym typeface="Times New Roman"/>
              </a:rPr>
              <a:t>Alpha tests </a:t>
            </a:r>
            <a:r>
              <a:rPr lang="en-US" sz="2000" dirty="0">
                <a:latin typeface="Times New Roman"/>
                <a:ea typeface="Times New Roman"/>
                <a:cs typeface="Times New Roman"/>
                <a:sym typeface="Times New Roman"/>
              </a:rPr>
              <a:t>are conducted in a controlled environment and conducted at the developer’s site by end-users.  </a:t>
            </a:r>
            <a:endParaRPr dirty="0"/>
          </a:p>
          <a:p>
            <a:pPr marL="457200" lvl="0" indent="-342900" algn="just" rtl="0">
              <a:lnSpc>
                <a:spcPct val="90000"/>
              </a:lnSpc>
              <a:spcBef>
                <a:spcPts val="1000"/>
              </a:spcBef>
              <a:spcAft>
                <a:spcPts val="0"/>
              </a:spcAft>
              <a:buSzPts val="1800"/>
              <a:buChar char="•"/>
            </a:pPr>
            <a:r>
              <a:rPr lang="en-US" sz="2000" dirty="0">
                <a:latin typeface="Times New Roman"/>
                <a:ea typeface="Times New Roman"/>
                <a:cs typeface="Times New Roman"/>
                <a:sym typeface="Times New Roman"/>
              </a:rPr>
              <a:t>The s/w is used in natural setting with the developer with users, recording errors and usage problems.</a:t>
            </a:r>
            <a:endParaRPr dirty="0"/>
          </a:p>
          <a:p>
            <a:pPr marL="457200" lvl="0" indent="-342900" algn="just" rtl="0">
              <a:lnSpc>
                <a:spcPct val="90000"/>
              </a:lnSpc>
              <a:spcBef>
                <a:spcPts val="1000"/>
              </a:spcBef>
              <a:spcAft>
                <a:spcPts val="0"/>
              </a:spcAft>
              <a:buSzPts val="1800"/>
              <a:buChar char="•"/>
            </a:pPr>
            <a:r>
              <a:rPr lang="en-US" sz="2000" dirty="0">
                <a:latin typeface="Times New Roman"/>
                <a:ea typeface="Times New Roman"/>
                <a:cs typeface="Times New Roman"/>
                <a:sym typeface="Times New Roman"/>
              </a:rPr>
              <a:t>The </a:t>
            </a:r>
            <a:r>
              <a:rPr lang="en-US" sz="2000" b="1" dirty="0">
                <a:latin typeface="Times New Roman"/>
                <a:ea typeface="Times New Roman"/>
                <a:cs typeface="Times New Roman"/>
                <a:sym typeface="Times New Roman"/>
              </a:rPr>
              <a:t>beta-test</a:t>
            </a:r>
            <a:r>
              <a:rPr lang="en-US" sz="2000" dirty="0">
                <a:latin typeface="Times New Roman"/>
                <a:ea typeface="Times New Roman"/>
                <a:cs typeface="Times New Roman"/>
                <a:sym typeface="Times New Roman"/>
              </a:rPr>
              <a:t> is conducted at the end-users sites where developer is generally not present.  </a:t>
            </a:r>
            <a:endParaRPr dirty="0"/>
          </a:p>
          <a:p>
            <a:pPr marL="457200" lvl="0" indent="-342900" algn="just" rtl="0">
              <a:lnSpc>
                <a:spcPct val="90000"/>
              </a:lnSpc>
              <a:spcBef>
                <a:spcPts val="1000"/>
              </a:spcBef>
              <a:spcAft>
                <a:spcPts val="0"/>
              </a:spcAft>
              <a:buSzPts val="1800"/>
              <a:buChar char="•"/>
            </a:pPr>
            <a:r>
              <a:rPr lang="en-US" sz="2000" dirty="0">
                <a:latin typeface="Times New Roman"/>
                <a:ea typeface="Times New Roman"/>
                <a:cs typeface="Times New Roman"/>
                <a:sym typeface="Times New Roman"/>
              </a:rPr>
              <a:t>Beta test is a live application of the software in an environment that cannot be controlled by the developer.</a:t>
            </a:r>
            <a:endParaRPr dirty="0"/>
          </a:p>
          <a:p>
            <a:pPr marL="457200" lvl="0" indent="-342900" algn="just" rtl="0">
              <a:lnSpc>
                <a:spcPct val="90000"/>
              </a:lnSpc>
              <a:spcBef>
                <a:spcPts val="1000"/>
              </a:spcBef>
              <a:spcAft>
                <a:spcPts val="0"/>
              </a:spcAft>
              <a:buSzPts val="1800"/>
              <a:buChar char="•"/>
            </a:pPr>
            <a:r>
              <a:rPr lang="en-US" sz="2000" dirty="0">
                <a:latin typeface="Times New Roman"/>
                <a:ea typeface="Times New Roman"/>
                <a:cs typeface="Times New Roman"/>
                <a:sym typeface="Times New Roman"/>
              </a:rPr>
              <a:t>The end-user records errors and all usage problems encountered during the test and the list is reported to the developer.</a:t>
            </a:r>
            <a:endParaRPr dirty="0"/>
          </a:p>
          <a:p>
            <a:pPr marL="457200" lvl="0" indent="-342900" algn="just" rtl="0">
              <a:lnSpc>
                <a:spcPct val="90000"/>
              </a:lnSpc>
              <a:spcBef>
                <a:spcPts val="1000"/>
              </a:spcBef>
              <a:spcAft>
                <a:spcPts val="0"/>
              </a:spcAft>
              <a:buSzPts val="1800"/>
              <a:buChar char="•"/>
            </a:pPr>
            <a:r>
              <a:rPr lang="en-US" sz="2000" dirty="0">
                <a:latin typeface="Times New Roman"/>
                <a:ea typeface="Times New Roman"/>
                <a:cs typeface="Times New Roman"/>
                <a:sym typeface="Times New Roman"/>
              </a:rPr>
              <a:t>And then modifications are done to prepare for release of product to the entire customer base.</a:t>
            </a:r>
            <a:endParaRPr dirty="0"/>
          </a:p>
        </p:txBody>
      </p:sp>
      <p:sp>
        <p:nvSpPr>
          <p:cNvPr id="205" name="Google Shape;205;p48"/>
          <p:cNvSpPr txBox="1"/>
          <p:nvPr/>
        </p:nvSpPr>
        <p:spPr>
          <a:xfrm>
            <a:off x="536712" y="0"/>
            <a:ext cx="5674349" cy="758952"/>
          </a:xfrm>
          <a:prstGeom prst="rect">
            <a:avLst/>
          </a:prstGeom>
          <a:noFill/>
          <a:ln>
            <a:noFill/>
          </a:ln>
        </p:spPr>
        <p:txBody>
          <a:bodyPr spcFirstLastPara="1" wrap="square" lIns="91425" tIns="45700" rIns="91425" bIns="45700" anchor="b" anchorCtr="0">
            <a:normAutofit/>
          </a:bodyPr>
          <a:lstStyle/>
          <a:p>
            <a:pPr marL="0" marR="0" lvl="0" indent="0" algn="ctr" rtl="0">
              <a:lnSpc>
                <a:spcPct val="100000"/>
              </a:lnSpc>
              <a:spcBef>
                <a:spcPts val="0"/>
              </a:spcBef>
              <a:spcAft>
                <a:spcPts val="0"/>
              </a:spcAft>
              <a:buClr>
                <a:srgbClr val="000000"/>
              </a:buClr>
              <a:buSzPts val="3600"/>
              <a:buFont typeface="Arial"/>
              <a:buNone/>
            </a:pPr>
            <a:r>
              <a:rPr lang="en-US" sz="28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Testing Strategies</a:t>
            </a:r>
            <a:r>
              <a:rPr lang="en-US" sz="2800" b="1" dirty="0">
                <a:latin typeface="Times New Roman" panose="02020603050405020304" pitchFamily="18" charset="0"/>
                <a:cs typeface="Times New Roman" panose="02020603050405020304" pitchFamily="18" charset="0"/>
              </a:rPr>
              <a:t> (contd.)</a:t>
            </a:r>
            <a:endParaRPr sz="28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49"/>
          <p:cNvSpPr txBox="1">
            <a:spLocks noGrp="1"/>
          </p:cNvSpPr>
          <p:nvPr>
            <p:ph type="body" idx="1"/>
          </p:nvPr>
        </p:nvSpPr>
        <p:spPr>
          <a:xfrm>
            <a:off x="457380" y="934720"/>
            <a:ext cx="8229240" cy="4046040"/>
          </a:xfrm>
          <a:prstGeom prst="rect">
            <a:avLst/>
          </a:prstGeom>
          <a:noFill/>
          <a:ln>
            <a:noFill/>
          </a:ln>
        </p:spPr>
        <p:txBody>
          <a:bodyPr spcFirstLastPara="1" wrap="square" lIns="0" tIns="0" rIns="0" bIns="0" anchor="t" anchorCtr="0">
            <a:noAutofit/>
          </a:bodyPr>
          <a:lstStyle/>
          <a:p>
            <a:pPr marL="0" lvl="0" indent="0" algn="just" rtl="0">
              <a:lnSpc>
                <a:spcPct val="90000"/>
              </a:lnSpc>
              <a:spcBef>
                <a:spcPts val="1000"/>
              </a:spcBef>
              <a:spcAft>
                <a:spcPts val="0"/>
              </a:spcAft>
              <a:buSzPts val="1800"/>
              <a:buNone/>
            </a:pPr>
            <a:r>
              <a:rPr lang="en-US" sz="2000" b="1" dirty="0">
                <a:latin typeface="Times New Roman"/>
                <a:ea typeface="Times New Roman"/>
                <a:cs typeface="Times New Roman"/>
                <a:sym typeface="Times New Roman"/>
              </a:rPr>
              <a:t>System Testing</a:t>
            </a:r>
            <a:r>
              <a:rPr lang="en-US" sz="2000" dirty="0">
                <a:latin typeface="Times New Roman"/>
                <a:ea typeface="Times New Roman"/>
                <a:cs typeface="Times New Roman"/>
                <a:sym typeface="Times New Roman"/>
              </a:rPr>
              <a:t> : The focus is on testing the system. Following are the types of system tests:</a:t>
            </a:r>
            <a:endParaRPr dirty="0"/>
          </a:p>
          <a:p>
            <a:pPr marL="457200" lvl="0" indent="-342900" algn="just" rtl="0">
              <a:lnSpc>
                <a:spcPct val="90000"/>
              </a:lnSpc>
              <a:spcBef>
                <a:spcPts val="1000"/>
              </a:spcBef>
              <a:spcAft>
                <a:spcPts val="0"/>
              </a:spcAft>
              <a:buSzPts val="1800"/>
              <a:buChar char="•"/>
            </a:pPr>
            <a:r>
              <a:rPr lang="en-US" sz="2000" b="1" dirty="0">
                <a:latin typeface="Times New Roman"/>
                <a:ea typeface="Times New Roman"/>
                <a:cs typeface="Times New Roman"/>
                <a:sym typeface="Times New Roman"/>
              </a:rPr>
              <a:t>Recovery Testing : </a:t>
            </a:r>
            <a:r>
              <a:rPr lang="en-US" sz="2000" dirty="0">
                <a:latin typeface="Times New Roman"/>
                <a:ea typeface="Times New Roman"/>
                <a:cs typeface="Times New Roman"/>
                <a:sym typeface="Times New Roman"/>
              </a:rPr>
              <a:t>Forces the software to fail in a variety of ways and verifies that recovery is properly performed.</a:t>
            </a:r>
            <a:endParaRPr dirty="0"/>
          </a:p>
          <a:p>
            <a:pPr marL="457200" lvl="0" indent="-342900" algn="just" rtl="0">
              <a:lnSpc>
                <a:spcPct val="90000"/>
              </a:lnSpc>
              <a:spcBef>
                <a:spcPts val="1000"/>
              </a:spcBef>
              <a:spcAft>
                <a:spcPts val="0"/>
              </a:spcAft>
              <a:buSzPts val="1800"/>
              <a:buChar char="•"/>
            </a:pPr>
            <a:r>
              <a:rPr lang="en-US" sz="2000" b="1" dirty="0">
                <a:latin typeface="Times New Roman"/>
                <a:ea typeface="Times New Roman"/>
                <a:cs typeface="Times New Roman"/>
                <a:sym typeface="Times New Roman"/>
              </a:rPr>
              <a:t>Security Testing :</a:t>
            </a:r>
            <a:r>
              <a:rPr lang="en-US" sz="2000" dirty="0">
                <a:latin typeface="Times New Roman"/>
                <a:ea typeface="Times New Roman"/>
                <a:cs typeface="Times New Roman"/>
                <a:sym typeface="Times New Roman"/>
              </a:rPr>
              <a:t> It verifies that protection mechanisms built into a system will, in fact, protect it from improper penetration.</a:t>
            </a:r>
            <a:endParaRPr dirty="0"/>
          </a:p>
          <a:p>
            <a:pPr marL="457200" lvl="0" indent="-342900" algn="just" rtl="0">
              <a:lnSpc>
                <a:spcPct val="90000"/>
              </a:lnSpc>
              <a:spcBef>
                <a:spcPts val="1000"/>
              </a:spcBef>
              <a:spcAft>
                <a:spcPts val="0"/>
              </a:spcAft>
              <a:buSzPts val="1800"/>
              <a:buChar char="•"/>
            </a:pPr>
            <a:r>
              <a:rPr lang="en-US" sz="2000" b="1" dirty="0">
                <a:latin typeface="Times New Roman"/>
                <a:ea typeface="Times New Roman"/>
                <a:cs typeface="Times New Roman"/>
                <a:sym typeface="Times New Roman"/>
              </a:rPr>
              <a:t>Stress Testing : </a:t>
            </a:r>
            <a:r>
              <a:rPr lang="en-US" sz="2000" dirty="0">
                <a:latin typeface="Times New Roman"/>
                <a:ea typeface="Times New Roman"/>
                <a:cs typeface="Times New Roman"/>
                <a:sym typeface="Times New Roman"/>
              </a:rPr>
              <a:t>It executes a system in a manner that demands resources in abnormal quantity, frequency, or volume. For example:</a:t>
            </a:r>
            <a:endParaRPr dirty="0"/>
          </a:p>
          <a:p>
            <a:pPr lvl="1" algn="just">
              <a:spcBef>
                <a:spcPts val="1000"/>
              </a:spcBef>
            </a:pPr>
            <a:r>
              <a:rPr lang="en-US" sz="1800" dirty="0">
                <a:latin typeface="Times New Roman"/>
                <a:ea typeface="Times New Roman"/>
                <a:cs typeface="Times New Roman"/>
                <a:sym typeface="Times New Roman"/>
              </a:rPr>
              <a:t>Special tests may be designed to generate 10 interrupts per second, when 1 or 2 is the average rate.</a:t>
            </a:r>
            <a:endParaRPr dirty="0"/>
          </a:p>
          <a:p>
            <a:pPr lvl="1" algn="just">
              <a:spcBef>
                <a:spcPts val="1000"/>
              </a:spcBef>
            </a:pPr>
            <a:r>
              <a:rPr lang="en-US" sz="1800" dirty="0">
                <a:latin typeface="Times New Roman"/>
                <a:ea typeface="Times New Roman"/>
                <a:cs typeface="Times New Roman"/>
                <a:sym typeface="Times New Roman"/>
              </a:rPr>
              <a:t>Test cases causing memory management problems are designed.</a:t>
            </a:r>
            <a:endParaRPr dirty="0"/>
          </a:p>
          <a:p>
            <a:pPr lvl="1" algn="just">
              <a:spcBef>
                <a:spcPts val="1000"/>
              </a:spcBef>
            </a:pPr>
            <a:r>
              <a:rPr lang="en-US" sz="1800" dirty="0">
                <a:latin typeface="Times New Roman"/>
                <a:ea typeface="Times New Roman"/>
                <a:cs typeface="Times New Roman"/>
                <a:sym typeface="Times New Roman"/>
              </a:rPr>
              <a:t>Test cases that may cause excessive hunting for disk-resident data are created.</a:t>
            </a:r>
            <a:endParaRPr dirty="0"/>
          </a:p>
          <a:p>
            <a:pPr marL="457200" lvl="0" indent="-342900" algn="just" rtl="0">
              <a:lnSpc>
                <a:spcPct val="90000"/>
              </a:lnSpc>
              <a:spcBef>
                <a:spcPts val="1000"/>
              </a:spcBef>
              <a:spcAft>
                <a:spcPts val="0"/>
              </a:spcAft>
              <a:buSzPts val="1800"/>
              <a:buChar char="•"/>
            </a:pPr>
            <a:r>
              <a:rPr lang="en-US" sz="2000" b="1" dirty="0">
                <a:latin typeface="Times New Roman"/>
                <a:ea typeface="Times New Roman"/>
                <a:cs typeface="Times New Roman"/>
                <a:sym typeface="Times New Roman"/>
              </a:rPr>
              <a:t>Performance Testing :  </a:t>
            </a:r>
            <a:r>
              <a:rPr lang="en-US" sz="2000" dirty="0">
                <a:latin typeface="Times New Roman"/>
                <a:ea typeface="Times New Roman"/>
                <a:cs typeface="Times New Roman"/>
                <a:sym typeface="Times New Roman"/>
              </a:rPr>
              <a:t>It tests the run-time performance of software within the context of an integrated system.</a:t>
            </a:r>
            <a:endParaRPr dirty="0"/>
          </a:p>
          <a:p>
            <a:pPr lvl="1" algn="just">
              <a:spcBef>
                <a:spcPts val="1000"/>
              </a:spcBef>
            </a:pPr>
            <a:r>
              <a:rPr lang="en-US" sz="1800" dirty="0">
                <a:latin typeface="Times New Roman"/>
                <a:ea typeface="Times New Roman"/>
                <a:cs typeface="Times New Roman"/>
                <a:sym typeface="Times New Roman"/>
              </a:rPr>
              <a:t>Performance tests are generally coupled with stress testing.</a:t>
            </a:r>
            <a:endParaRPr dirty="0"/>
          </a:p>
        </p:txBody>
      </p:sp>
      <p:sp>
        <p:nvSpPr>
          <p:cNvPr id="211" name="Google Shape;211;p49"/>
          <p:cNvSpPr txBox="1">
            <a:spLocks noGrp="1"/>
          </p:cNvSpPr>
          <p:nvPr>
            <p:ph type="title"/>
          </p:nvPr>
        </p:nvSpPr>
        <p:spPr>
          <a:xfrm>
            <a:off x="904240" y="155448"/>
            <a:ext cx="8534400" cy="758952"/>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1800"/>
              <a:buNone/>
            </a:pPr>
            <a:r>
              <a:rPr lang="en-US" b="1" dirty="0">
                <a:latin typeface="Times New Roman"/>
                <a:ea typeface="Times New Roman"/>
                <a:cs typeface="Times New Roman"/>
                <a:sym typeface="Times New Roman"/>
              </a:rPr>
              <a:t>Testing Strategies</a:t>
            </a:r>
            <a:r>
              <a:rPr lang="en-US" b="1" dirty="0"/>
              <a:t> (contd.)</a:t>
            </a:r>
            <a:endParaRPr dirty="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50"/>
          <p:cNvSpPr txBox="1">
            <a:spLocks noGrp="1"/>
          </p:cNvSpPr>
          <p:nvPr>
            <p:ph type="body" idx="1"/>
          </p:nvPr>
        </p:nvSpPr>
        <p:spPr>
          <a:xfrm>
            <a:off x="305160" y="1062990"/>
            <a:ext cx="8229240" cy="4800600"/>
          </a:xfrm>
          <a:prstGeom prst="rect">
            <a:avLst/>
          </a:prstGeom>
          <a:noFill/>
          <a:ln>
            <a:noFill/>
          </a:ln>
        </p:spPr>
        <p:txBody>
          <a:bodyPr spcFirstLastPara="1" wrap="square" lIns="0" tIns="0" rIns="0" bIns="0" anchor="t" anchorCtr="0">
            <a:noAutofit/>
          </a:bodyPr>
          <a:lstStyle/>
          <a:p>
            <a:pPr marL="457200" lvl="0" indent="-342900" algn="just" rtl="0">
              <a:lnSpc>
                <a:spcPct val="90000"/>
              </a:lnSpc>
              <a:spcBef>
                <a:spcPts val="1000"/>
              </a:spcBef>
              <a:spcAft>
                <a:spcPts val="0"/>
              </a:spcAft>
              <a:buSzPts val="1800"/>
              <a:buChar char="•"/>
            </a:pPr>
            <a:r>
              <a:rPr lang="en-US" sz="2000">
                <a:solidFill>
                  <a:srgbClr val="0C0C0C"/>
                </a:solidFill>
                <a:latin typeface="Times New Roman"/>
                <a:ea typeface="Times New Roman"/>
                <a:cs typeface="Times New Roman"/>
                <a:sym typeface="Times New Roman"/>
              </a:rPr>
              <a:t>An approach to OO test case design can been defined as :</a:t>
            </a:r>
            <a:endParaRPr sz="2000">
              <a:latin typeface="Times New Roman"/>
              <a:ea typeface="Times New Roman"/>
              <a:cs typeface="Times New Roman"/>
              <a:sym typeface="Times New Roman"/>
            </a:endParaRPr>
          </a:p>
          <a:p>
            <a:pPr marL="636588" lvl="1" indent="-342900" algn="just" rtl="0">
              <a:lnSpc>
                <a:spcPct val="90000"/>
              </a:lnSpc>
              <a:spcBef>
                <a:spcPts val="500"/>
              </a:spcBef>
              <a:spcAft>
                <a:spcPts val="0"/>
              </a:spcAft>
              <a:buSzPts val="1800"/>
              <a:buChar char="•"/>
            </a:pPr>
            <a:r>
              <a:rPr lang="en-US" sz="2000">
                <a:solidFill>
                  <a:srgbClr val="0C0C0C"/>
                </a:solidFill>
                <a:latin typeface="Times New Roman"/>
                <a:ea typeface="Times New Roman"/>
                <a:cs typeface="Times New Roman"/>
                <a:sym typeface="Times New Roman"/>
              </a:rPr>
              <a:t>Each test case should be uniquely identified and explicitly associated with the class to be tested.</a:t>
            </a:r>
            <a:endParaRPr sz="2000">
              <a:latin typeface="Times New Roman"/>
              <a:ea typeface="Times New Roman"/>
              <a:cs typeface="Times New Roman"/>
              <a:sym typeface="Times New Roman"/>
            </a:endParaRPr>
          </a:p>
          <a:p>
            <a:pPr marL="636588" lvl="1" indent="-342900" algn="just" rtl="0">
              <a:lnSpc>
                <a:spcPct val="90000"/>
              </a:lnSpc>
              <a:spcBef>
                <a:spcPts val="500"/>
              </a:spcBef>
              <a:spcAft>
                <a:spcPts val="0"/>
              </a:spcAft>
              <a:buSzPts val="1800"/>
              <a:buChar char="•"/>
            </a:pPr>
            <a:r>
              <a:rPr lang="en-US" sz="2000">
                <a:solidFill>
                  <a:srgbClr val="0C0C0C"/>
                </a:solidFill>
                <a:latin typeface="Times New Roman"/>
                <a:ea typeface="Times New Roman"/>
                <a:cs typeface="Times New Roman"/>
                <a:sym typeface="Times New Roman"/>
              </a:rPr>
              <a:t>The purpose of the test should be stated.</a:t>
            </a:r>
            <a:endParaRPr sz="2000">
              <a:latin typeface="Times New Roman"/>
              <a:ea typeface="Times New Roman"/>
              <a:cs typeface="Times New Roman"/>
              <a:sym typeface="Times New Roman"/>
            </a:endParaRPr>
          </a:p>
          <a:p>
            <a:pPr marL="457200" lvl="0" indent="-342900" algn="just" rtl="0">
              <a:lnSpc>
                <a:spcPct val="90000"/>
              </a:lnSpc>
              <a:spcBef>
                <a:spcPts val="1000"/>
              </a:spcBef>
              <a:spcAft>
                <a:spcPts val="0"/>
              </a:spcAft>
              <a:buSzPts val="1800"/>
              <a:buChar char="•"/>
            </a:pPr>
            <a:r>
              <a:rPr lang="en-US" sz="2000">
                <a:latin typeface="Times New Roman"/>
                <a:ea typeface="Times New Roman"/>
                <a:cs typeface="Times New Roman"/>
                <a:sym typeface="Times New Roman"/>
              </a:rPr>
              <a:t>Test case design becomes more complicated as integration of the OO system begins. It is at this stage that testing of collaborations between classes must begin. </a:t>
            </a:r>
            <a:endParaRPr/>
          </a:p>
          <a:p>
            <a:pPr marL="457200" lvl="0" indent="-228600" algn="just" rtl="0">
              <a:lnSpc>
                <a:spcPct val="90000"/>
              </a:lnSpc>
              <a:spcBef>
                <a:spcPts val="1000"/>
              </a:spcBef>
              <a:spcAft>
                <a:spcPts val="0"/>
              </a:spcAft>
              <a:buSzPts val="1800"/>
              <a:buNone/>
            </a:pPr>
            <a:endParaRPr sz="2000">
              <a:latin typeface="Times New Roman"/>
              <a:ea typeface="Times New Roman"/>
              <a:cs typeface="Times New Roman"/>
              <a:sym typeface="Times New Roman"/>
            </a:endParaRPr>
          </a:p>
          <a:p>
            <a:pPr marL="0" lvl="0" indent="0" algn="just" rtl="0">
              <a:lnSpc>
                <a:spcPct val="90000"/>
              </a:lnSpc>
              <a:spcBef>
                <a:spcPts val="1000"/>
              </a:spcBef>
              <a:spcAft>
                <a:spcPts val="0"/>
              </a:spcAft>
              <a:buSzPts val="1800"/>
              <a:buNone/>
            </a:pPr>
            <a:r>
              <a:rPr lang="en-US" sz="2000" b="1">
                <a:solidFill>
                  <a:srgbClr val="0C0C0C"/>
                </a:solidFill>
                <a:latin typeface="Times New Roman"/>
                <a:ea typeface="Times New Roman"/>
                <a:cs typeface="Times New Roman"/>
                <a:sym typeface="Times New Roman"/>
              </a:rPr>
              <a:t>Steps should be developed for each test and should contain:</a:t>
            </a:r>
            <a:endParaRPr sz="2000">
              <a:latin typeface="Times New Roman"/>
              <a:ea typeface="Times New Roman"/>
              <a:cs typeface="Times New Roman"/>
              <a:sym typeface="Times New Roman"/>
            </a:endParaRPr>
          </a:p>
          <a:p>
            <a:pPr marL="636588" lvl="1" indent="-342900" algn="just" rtl="0">
              <a:lnSpc>
                <a:spcPct val="90000"/>
              </a:lnSpc>
              <a:spcBef>
                <a:spcPts val="500"/>
              </a:spcBef>
              <a:spcAft>
                <a:spcPts val="0"/>
              </a:spcAft>
              <a:buSzPts val="1800"/>
              <a:buChar char="•"/>
            </a:pPr>
            <a:r>
              <a:rPr lang="en-US" sz="2000">
                <a:solidFill>
                  <a:srgbClr val="0C0C0C"/>
                </a:solidFill>
                <a:latin typeface="Times New Roman"/>
                <a:ea typeface="Times New Roman"/>
                <a:cs typeface="Times New Roman"/>
                <a:sym typeface="Times New Roman"/>
              </a:rPr>
              <a:t>A list of specified states for the object that is to be tested.</a:t>
            </a:r>
            <a:endParaRPr sz="2000">
              <a:latin typeface="Times New Roman"/>
              <a:ea typeface="Times New Roman"/>
              <a:cs typeface="Times New Roman"/>
              <a:sym typeface="Times New Roman"/>
            </a:endParaRPr>
          </a:p>
          <a:p>
            <a:pPr marL="636588" lvl="1" indent="-342900" algn="just" rtl="0">
              <a:lnSpc>
                <a:spcPct val="90000"/>
              </a:lnSpc>
              <a:spcBef>
                <a:spcPts val="500"/>
              </a:spcBef>
              <a:spcAft>
                <a:spcPts val="0"/>
              </a:spcAft>
              <a:buSzPts val="1800"/>
              <a:buChar char="•"/>
            </a:pPr>
            <a:r>
              <a:rPr lang="en-US" sz="2000">
                <a:solidFill>
                  <a:srgbClr val="0C0C0C"/>
                </a:solidFill>
                <a:latin typeface="Times New Roman"/>
                <a:ea typeface="Times New Roman"/>
                <a:cs typeface="Times New Roman"/>
                <a:sym typeface="Times New Roman"/>
              </a:rPr>
              <a:t>A list of messages and operations that will be exercised as a consequence of  the test.</a:t>
            </a:r>
            <a:endParaRPr sz="2000">
              <a:latin typeface="Times New Roman"/>
              <a:ea typeface="Times New Roman"/>
              <a:cs typeface="Times New Roman"/>
              <a:sym typeface="Times New Roman"/>
            </a:endParaRPr>
          </a:p>
          <a:p>
            <a:pPr marL="636588" lvl="1" indent="-342900" algn="just" rtl="0">
              <a:lnSpc>
                <a:spcPct val="90000"/>
              </a:lnSpc>
              <a:spcBef>
                <a:spcPts val="500"/>
              </a:spcBef>
              <a:spcAft>
                <a:spcPts val="0"/>
              </a:spcAft>
              <a:buSzPts val="1800"/>
              <a:buChar char="•"/>
            </a:pPr>
            <a:r>
              <a:rPr lang="en-US" sz="2000">
                <a:solidFill>
                  <a:srgbClr val="0C0C0C"/>
                </a:solidFill>
                <a:latin typeface="Times New Roman"/>
                <a:ea typeface="Times New Roman"/>
                <a:cs typeface="Times New Roman"/>
                <a:sym typeface="Times New Roman"/>
              </a:rPr>
              <a:t>A list of exceptions that may occur as the object is tested.</a:t>
            </a:r>
            <a:endParaRPr sz="2000">
              <a:latin typeface="Times New Roman"/>
              <a:ea typeface="Times New Roman"/>
              <a:cs typeface="Times New Roman"/>
              <a:sym typeface="Times New Roman"/>
            </a:endParaRPr>
          </a:p>
          <a:p>
            <a:pPr marL="457200" lvl="0" indent="-228600" algn="just" rtl="0">
              <a:lnSpc>
                <a:spcPct val="90000"/>
              </a:lnSpc>
              <a:spcBef>
                <a:spcPts val="1000"/>
              </a:spcBef>
              <a:spcAft>
                <a:spcPts val="0"/>
              </a:spcAft>
              <a:buSzPts val="1800"/>
              <a:buNone/>
            </a:pPr>
            <a:endParaRPr sz="2000">
              <a:latin typeface="Times New Roman"/>
              <a:ea typeface="Times New Roman"/>
              <a:cs typeface="Times New Roman"/>
              <a:sym typeface="Times New Roman"/>
            </a:endParaRPr>
          </a:p>
        </p:txBody>
      </p:sp>
      <p:sp>
        <p:nvSpPr>
          <p:cNvPr id="223" name="Google Shape;223;p50"/>
          <p:cNvSpPr txBox="1">
            <a:spLocks noGrp="1"/>
          </p:cNvSpPr>
          <p:nvPr>
            <p:ph type="title"/>
          </p:nvPr>
        </p:nvSpPr>
        <p:spPr>
          <a:xfrm>
            <a:off x="152580" y="107950"/>
            <a:ext cx="8534400" cy="758952"/>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1800"/>
              <a:buNone/>
            </a:pPr>
            <a:r>
              <a:rPr lang="en-US" b="1" dirty="0">
                <a:latin typeface="Times New Roman"/>
                <a:ea typeface="Times New Roman"/>
                <a:cs typeface="Times New Roman"/>
                <a:sym typeface="Times New Roman"/>
              </a:rPr>
              <a:t>Test Case Design for OO Software </a:t>
            </a:r>
            <a:endParaRPr dirty="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30" name="Google Shape;230;p8"/>
          <p:cNvSpPr txBox="1"/>
          <p:nvPr/>
        </p:nvSpPr>
        <p:spPr>
          <a:xfrm>
            <a:off x="50800" y="182061"/>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Purpose of Object-Oriented Testing</a:t>
            </a:r>
            <a:endParaRPr sz="1400" b="0" i="0" u="none" strike="noStrike" cap="none">
              <a:solidFill>
                <a:srgbClr val="000000"/>
              </a:solidFill>
              <a:latin typeface="Arial"/>
              <a:ea typeface="Arial"/>
              <a:cs typeface="Arial"/>
              <a:sym typeface="Arial"/>
            </a:endParaRPr>
          </a:p>
        </p:txBody>
      </p:sp>
      <p:sp>
        <p:nvSpPr>
          <p:cNvPr id="231" name="Google Shape;231;p8"/>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2" name="Google Shape;232;p8"/>
          <p:cNvSpPr/>
          <p:nvPr/>
        </p:nvSpPr>
        <p:spPr>
          <a:xfrm>
            <a:off x="165100" y="895469"/>
            <a:ext cx="8813800" cy="5632271"/>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rgbClr val="000000"/>
              </a:buClr>
              <a:buSzPts val="2000"/>
              <a:buFont typeface="Arial"/>
              <a:buAutoNum type="arabicPeriod"/>
            </a:pPr>
            <a:r>
              <a:rPr lang="en-US" sz="2000" b="1" i="0" u="none" strike="noStrike" cap="none" dirty="0">
                <a:solidFill>
                  <a:srgbClr val="273239"/>
                </a:solidFill>
                <a:latin typeface="Times New Roman"/>
                <a:ea typeface="Times New Roman"/>
                <a:cs typeface="Times New Roman"/>
                <a:sym typeface="Times New Roman"/>
              </a:rPr>
              <a:t> Object Interaction Validation:</a:t>
            </a:r>
            <a:r>
              <a:rPr lang="en-US" sz="2000" b="0" i="0" u="none" strike="noStrike" cap="none" dirty="0">
                <a:solidFill>
                  <a:srgbClr val="273239"/>
                </a:solidFill>
                <a:latin typeface="Times New Roman"/>
                <a:ea typeface="Times New Roman"/>
                <a:cs typeface="Times New Roman"/>
                <a:sym typeface="Times New Roman"/>
              </a:rPr>
              <a:t> This Check is to make sure objects interact with one another appropriately in various situations. Testing makes ensuring that the interactions between objects in object-oriented systems result in the desired results.</a:t>
            </a:r>
            <a:endParaRPr sz="14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AutoNum type="arabicPeriod"/>
            </a:pPr>
            <a:r>
              <a:rPr lang="en-US" sz="2000" b="1" i="0" u="none" strike="noStrike" cap="none" dirty="0">
                <a:solidFill>
                  <a:srgbClr val="273239"/>
                </a:solidFill>
                <a:latin typeface="Times New Roman"/>
                <a:ea typeface="Times New Roman"/>
                <a:cs typeface="Times New Roman"/>
                <a:sym typeface="Times New Roman"/>
              </a:rPr>
              <a:t> Determining Design Errors:</a:t>
            </a:r>
            <a:r>
              <a:rPr lang="en-US" sz="2000" b="0" i="0" u="none" strike="noStrike" cap="none" dirty="0">
                <a:solidFill>
                  <a:srgbClr val="273239"/>
                </a:solidFill>
                <a:latin typeface="Times New Roman"/>
                <a:ea typeface="Times New Roman"/>
                <a:cs typeface="Times New Roman"/>
                <a:sym typeface="Times New Roman"/>
              </a:rPr>
              <a:t> This is to find the object-oriented design’s limitations and design faults. Testing ensures that the design complies with the desired architecture by assisting in the identification of problems with inheritance, polymorphism, encapsulation and other OOP concepts.</a:t>
            </a:r>
            <a:endParaRPr sz="14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AutoNum type="arabicPeriod"/>
            </a:pPr>
            <a:r>
              <a:rPr lang="en-US" sz="2000" b="1" i="0" u="none" strike="noStrike" cap="none" dirty="0">
                <a:solidFill>
                  <a:srgbClr val="273239"/>
                </a:solidFill>
                <a:latin typeface="Times New Roman"/>
                <a:ea typeface="Times New Roman"/>
                <a:cs typeface="Times New Roman"/>
                <a:sym typeface="Times New Roman"/>
              </a:rPr>
              <a:t> Finding Integration Problems:</a:t>
            </a:r>
            <a:r>
              <a:rPr lang="en-US" sz="2000" b="0" i="0" u="none" strike="noStrike" cap="none" dirty="0">
                <a:solidFill>
                  <a:srgbClr val="273239"/>
                </a:solidFill>
                <a:latin typeface="Times New Roman"/>
                <a:ea typeface="Times New Roman"/>
                <a:cs typeface="Times New Roman"/>
                <a:sym typeface="Times New Roman"/>
              </a:rPr>
              <a:t> This is to evaluate an object’s ability to integrate and communicate with other objects when it is part of a bigger component or subsystem. This helps in locating integration difficulties, i.e. improper method calls or issues with data exchange.</a:t>
            </a:r>
            <a:endParaRPr sz="14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None/>
            </a:pPr>
            <a:endParaRPr sz="2000" b="0" i="0" u="none" strike="noStrike" cap="none" dirty="0">
              <a:solidFill>
                <a:srgbClr val="273239"/>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9" name="Google Shape;239;p9"/>
          <p:cNvSpPr txBox="1"/>
          <p:nvPr/>
        </p:nvSpPr>
        <p:spPr>
          <a:xfrm>
            <a:off x="50800" y="182061"/>
            <a:ext cx="706971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New Roman"/>
                <a:ea typeface="Times New Roman"/>
                <a:cs typeface="Times New Roman"/>
                <a:sym typeface="Times New Roman"/>
              </a:rPr>
              <a:t>Purpose of Object-Oriented Testing</a:t>
            </a:r>
            <a:endParaRPr sz="1400" b="0" i="0" u="none" strike="noStrike" cap="none">
              <a:solidFill>
                <a:srgbClr val="000000"/>
              </a:solidFill>
              <a:latin typeface="Arial"/>
              <a:ea typeface="Arial"/>
              <a:cs typeface="Arial"/>
              <a:sym typeface="Arial"/>
            </a:endParaRPr>
          </a:p>
        </p:txBody>
      </p:sp>
      <p:sp>
        <p:nvSpPr>
          <p:cNvPr id="240" name="Google Shape;240;p9"/>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41" name="Google Shape;241;p9"/>
          <p:cNvSpPr/>
          <p:nvPr/>
        </p:nvSpPr>
        <p:spPr>
          <a:xfrm>
            <a:off x="152400" y="1074529"/>
            <a:ext cx="8839200" cy="4708941"/>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rgbClr val="000000"/>
              </a:buClr>
              <a:buSzPts val="2000"/>
              <a:buFont typeface="Arial"/>
              <a:buAutoNum type="arabicPeriod" startAt="4"/>
            </a:pPr>
            <a:r>
              <a:rPr lang="en-US" sz="2000" b="1" i="0" u="none" strike="noStrike" cap="none" dirty="0">
                <a:solidFill>
                  <a:srgbClr val="273239"/>
                </a:solidFill>
                <a:latin typeface="Times New Roman"/>
                <a:ea typeface="Times New Roman"/>
                <a:cs typeface="Times New Roman"/>
                <a:sym typeface="Times New Roman"/>
              </a:rPr>
              <a:t> Assessment of Reusable Code: </a:t>
            </a:r>
            <a:r>
              <a:rPr lang="en-US" sz="2000" b="0" i="0" u="none" strike="noStrike" cap="none" dirty="0">
                <a:solidFill>
                  <a:srgbClr val="273239"/>
                </a:solidFill>
                <a:latin typeface="Times New Roman"/>
                <a:ea typeface="Times New Roman"/>
                <a:cs typeface="Times New Roman"/>
                <a:sym typeface="Times New Roman"/>
              </a:rPr>
              <a:t>This is to evaluate object-oriented code’s reusability. Code reuse is promoted by object-oriented programming via features like inheritance and composition. Testing ensures that reusable parts perform as intended in various scenarios.</a:t>
            </a:r>
            <a:endParaRPr sz="14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AutoNum type="arabicPeriod" startAt="4"/>
            </a:pPr>
            <a:r>
              <a:rPr lang="en-US" sz="2000" b="1" i="0" u="none" strike="noStrike" cap="none" dirty="0">
                <a:solidFill>
                  <a:srgbClr val="273239"/>
                </a:solidFill>
                <a:latin typeface="Times New Roman"/>
                <a:ea typeface="Times New Roman"/>
                <a:cs typeface="Times New Roman"/>
                <a:sym typeface="Times New Roman"/>
              </a:rPr>
              <a:t> Verification of Handling Exceptions</a:t>
            </a:r>
            <a:r>
              <a:rPr lang="en-US" sz="2000" b="0" i="0" u="none" strike="noStrike" cap="none" dirty="0">
                <a:solidFill>
                  <a:srgbClr val="273239"/>
                </a:solidFill>
                <a:latin typeface="Times New Roman"/>
                <a:ea typeface="Times New Roman"/>
                <a:cs typeface="Times New Roman"/>
                <a:sym typeface="Times New Roman"/>
              </a:rPr>
              <a:t>: Confirm that objects respond correctly to error circumstances and exceptions. The purpose is to make sure that the software responds carefully and is durable in the face of unforeseen occurrences or faults.</a:t>
            </a:r>
            <a:endParaRPr sz="14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AutoNum type="arabicPeriod" startAt="4"/>
            </a:pPr>
            <a:r>
              <a:rPr lang="en-US" sz="2000" b="1" i="0" u="none" strike="noStrike" cap="none" dirty="0">
                <a:solidFill>
                  <a:srgbClr val="273239"/>
                </a:solidFill>
                <a:latin typeface="Times New Roman"/>
                <a:ea typeface="Times New Roman"/>
                <a:cs typeface="Times New Roman"/>
                <a:sym typeface="Times New Roman"/>
              </a:rPr>
              <a:t> Verification of Uniformity:</a:t>
            </a:r>
            <a:r>
              <a:rPr lang="en-US" sz="2000" b="0" i="0" u="none" strike="noStrike" cap="none" dirty="0">
                <a:solidFill>
                  <a:srgbClr val="273239"/>
                </a:solidFill>
                <a:latin typeface="Times New Roman"/>
                <a:ea typeface="Times New Roman"/>
                <a:cs typeface="Times New Roman"/>
                <a:sym typeface="Times New Roman"/>
              </a:rPr>
              <a:t> Maintain uniformity inside and between objects and the object-oriented system. Maintainability and readability are enhanced by consistency in naming standards, coding styles and compliance to design patterns.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8" name="Google Shape;248;p10"/>
          <p:cNvSpPr txBox="1"/>
          <p:nvPr/>
        </p:nvSpPr>
        <p:spPr>
          <a:xfrm>
            <a:off x="0" y="217881"/>
            <a:ext cx="64824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Times New Roman"/>
                <a:ea typeface="Times New Roman"/>
                <a:cs typeface="Times New Roman"/>
                <a:sym typeface="Times New Roman"/>
              </a:rPr>
              <a:t>Object-Oriented Applications and Design</a:t>
            </a:r>
            <a:endParaRPr sz="2800" b="0" i="0" u="none" strike="noStrike" cap="none">
              <a:solidFill>
                <a:srgbClr val="000000"/>
              </a:solidFill>
              <a:latin typeface="Arial"/>
              <a:ea typeface="Arial"/>
              <a:cs typeface="Arial"/>
              <a:sym typeface="Arial"/>
            </a:endParaRPr>
          </a:p>
        </p:txBody>
      </p:sp>
      <p:sp>
        <p:nvSpPr>
          <p:cNvPr id="249" name="Google Shape;249;p10"/>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50" name="Google Shape;250;p10"/>
          <p:cNvSpPr/>
          <p:nvPr/>
        </p:nvSpPr>
        <p:spPr>
          <a:xfrm>
            <a:off x="618425" y="926555"/>
            <a:ext cx="8083800" cy="5293716"/>
          </a:xfrm>
          <a:prstGeom prst="rect">
            <a:avLst/>
          </a:prstGeom>
          <a:noFill/>
          <a:ln>
            <a:noFill/>
          </a:ln>
        </p:spPr>
        <p:txBody>
          <a:bodyPr spcFirstLastPara="1" wrap="square" lIns="91425" tIns="45700" rIns="91425" bIns="45700" anchor="ctr" anchorCtr="0">
            <a:spAutoFit/>
          </a:bodyPr>
          <a:lstStyle/>
          <a:p>
            <a:pPr marL="0" marR="0" lvl="0" indent="0" algn="just" rtl="0">
              <a:lnSpc>
                <a:spcPct val="130000"/>
              </a:lnSpc>
              <a:spcBef>
                <a:spcPts val="0"/>
              </a:spcBef>
              <a:spcAft>
                <a:spcPts val="0"/>
              </a:spcAft>
              <a:buClr>
                <a:srgbClr val="000000"/>
              </a:buClr>
              <a:buSzPts val="2000"/>
              <a:buFont typeface="Arial"/>
              <a:buNone/>
            </a:pPr>
            <a:r>
              <a:rPr lang="en-US" sz="2000" b="1" i="0" u="none" strike="noStrike" cap="none" dirty="0">
                <a:solidFill>
                  <a:srgbClr val="273239"/>
                </a:solidFill>
                <a:latin typeface="Times New Roman"/>
                <a:ea typeface="Times New Roman"/>
                <a:cs typeface="Times New Roman"/>
                <a:sym typeface="Times New Roman"/>
              </a:rPr>
              <a:t>Object-Oriented Analysis and Design (OOAD):</a:t>
            </a:r>
            <a:endParaRPr sz="2000" b="1" i="0" u="none" strike="noStrike" cap="none" dirty="0">
              <a:solidFill>
                <a:srgbClr val="000000"/>
              </a:solidFill>
              <a:latin typeface="Arial"/>
              <a:ea typeface="Arial"/>
              <a:cs typeface="Arial"/>
              <a:sym typeface="Arial"/>
            </a:endParaRPr>
          </a:p>
          <a:p>
            <a:pPr marL="285750" marR="0" lvl="0" indent="-285750" algn="just" rtl="0">
              <a:lnSpc>
                <a:spcPct val="130000"/>
              </a:lnSpc>
              <a:spcBef>
                <a:spcPts val="0"/>
              </a:spcBef>
              <a:spcAft>
                <a:spcPts val="0"/>
              </a:spcAft>
              <a:buClr>
                <a:srgbClr val="000000"/>
              </a:buClr>
              <a:buSzPts val="1800"/>
              <a:buFont typeface="Arial"/>
              <a:buChar char="•"/>
            </a:pPr>
            <a:r>
              <a:rPr lang="en-US" sz="2000" b="0" i="0" u="none" strike="noStrike" cap="none" dirty="0">
                <a:solidFill>
                  <a:srgbClr val="273239"/>
                </a:solidFill>
                <a:latin typeface="Times New Roman"/>
                <a:ea typeface="Times New Roman"/>
                <a:cs typeface="Times New Roman"/>
                <a:sym typeface="Times New Roman"/>
              </a:rPr>
              <a:t>It is a software engineering methodology that involves object-oriented concepts to design and implement software systems. </a:t>
            </a:r>
            <a:endParaRPr sz="2000" b="0" i="0" u="none" strike="noStrike" cap="none" dirty="0">
              <a:solidFill>
                <a:srgbClr val="000000"/>
              </a:solidFill>
              <a:latin typeface="Arial"/>
              <a:ea typeface="Arial"/>
              <a:cs typeface="Arial"/>
              <a:sym typeface="Arial"/>
            </a:endParaRPr>
          </a:p>
          <a:p>
            <a:pPr marL="285750" marR="0" lvl="0" indent="-285750" algn="just" rtl="0">
              <a:spcBef>
                <a:spcPts val="0"/>
              </a:spcBef>
              <a:spcAft>
                <a:spcPts val="1200"/>
              </a:spcAft>
              <a:buClr>
                <a:srgbClr val="000000"/>
              </a:buClr>
              <a:buSzPts val="1800"/>
              <a:buFont typeface="Arial"/>
              <a:buChar char="•"/>
            </a:pPr>
            <a:r>
              <a:rPr lang="en-US" sz="2000" b="0" i="0" u="none" strike="noStrike" cap="none" dirty="0">
                <a:solidFill>
                  <a:srgbClr val="273239"/>
                </a:solidFill>
                <a:latin typeface="Times New Roman"/>
                <a:ea typeface="Times New Roman"/>
                <a:cs typeface="Times New Roman"/>
                <a:sym typeface="Times New Roman"/>
              </a:rPr>
              <a:t>It involves several techniques and practices, including object-oriented programming, design patterns, UML diagrams, and use cases. </a:t>
            </a:r>
            <a:endParaRPr sz="2000" b="1" i="0" u="none" strike="noStrike" cap="none" dirty="0">
              <a:solidFill>
                <a:srgbClr val="273239"/>
              </a:solidFill>
              <a:latin typeface="Times New Roman"/>
              <a:ea typeface="Times New Roman"/>
              <a:cs typeface="Times New Roman"/>
              <a:sym typeface="Times New Roman"/>
            </a:endParaRPr>
          </a:p>
          <a:p>
            <a:pPr marL="0" marR="0" lvl="0" indent="0" algn="just" rtl="0">
              <a:lnSpc>
                <a:spcPct val="130000"/>
              </a:lnSpc>
              <a:spcBef>
                <a:spcPts val="0"/>
              </a:spcBef>
              <a:spcAft>
                <a:spcPts val="0"/>
              </a:spcAft>
              <a:buClr>
                <a:srgbClr val="000000"/>
              </a:buClr>
              <a:buSzPts val="2000"/>
              <a:buFont typeface="Arial"/>
              <a:buNone/>
            </a:pPr>
            <a:r>
              <a:rPr lang="en-US" sz="2000" b="1" i="0" u="none" strike="noStrike" cap="none" dirty="0">
                <a:solidFill>
                  <a:srgbClr val="273239"/>
                </a:solidFill>
                <a:latin typeface="Times New Roman"/>
                <a:ea typeface="Times New Roman"/>
                <a:cs typeface="Times New Roman"/>
                <a:sym typeface="Times New Roman"/>
              </a:rPr>
              <a:t>Some important aspects of OOAD:</a:t>
            </a:r>
            <a:endParaRPr sz="2000" b="1" i="0" u="none" strike="noStrike" cap="none" dirty="0">
              <a:solidFill>
                <a:srgbClr val="273239"/>
              </a:solidFill>
              <a:latin typeface="Times New Roman"/>
              <a:ea typeface="Times New Roman"/>
              <a:cs typeface="Times New Roman"/>
              <a:sym typeface="Times New Roman"/>
            </a:endParaRPr>
          </a:p>
          <a:p>
            <a:pPr marL="0" marR="0" lvl="0" indent="0" algn="just" rtl="0">
              <a:lnSpc>
                <a:spcPct val="130000"/>
              </a:lnSpc>
              <a:spcBef>
                <a:spcPts val="0"/>
              </a:spcBef>
              <a:spcAft>
                <a:spcPts val="0"/>
              </a:spcAft>
              <a:buClr>
                <a:srgbClr val="000000"/>
              </a:buClr>
              <a:buSzPts val="1800"/>
              <a:buFont typeface="Arial"/>
              <a:buAutoNum type="arabicPeriod"/>
            </a:pPr>
            <a:r>
              <a:rPr lang="en-US" sz="2000" b="1" i="0" u="none" strike="noStrike" cap="none" dirty="0">
                <a:solidFill>
                  <a:srgbClr val="273239"/>
                </a:solidFill>
                <a:latin typeface="Times New Roman"/>
                <a:ea typeface="Times New Roman"/>
                <a:cs typeface="Times New Roman"/>
                <a:sym typeface="Times New Roman"/>
              </a:rPr>
              <a:t> Object-Oriented Programming: </a:t>
            </a:r>
            <a:r>
              <a:rPr lang="en-US" sz="2000" b="0" i="0" u="none" strike="noStrike" cap="none" dirty="0">
                <a:solidFill>
                  <a:srgbClr val="273239"/>
                </a:solidFill>
                <a:latin typeface="Times New Roman"/>
                <a:ea typeface="Times New Roman"/>
                <a:cs typeface="Times New Roman"/>
                <a:sym typeface="Times New Roman"/>
              </a:rPr>
              <a:t>It</a:t>
            </a:r>
            <a:r>
              <a:rPr lang="en-US" sz="2000" b="1" i="0" u="none" strike="noStrike" cap="none" dirty="0">
                <a:solidFill>
                  <a:srgbClr val="273239"/>
                </a:solidFill>
                <a:latin typeface="Times New Roman"/>
                <a:ea typeface="Times New Roman"/>
                <a:cs typeface="Times New Roman"/>
                <a:sym typeface="Times New Roman"/>
              </a:rPr>
              <a:t> </a:t>
            </a:r>
            <a:r>
              <a:rPr lang="en-US" sz="2000" b="0" i="0" u="none" strike="noStrike" cap="none" dirty="0">
                <a:solidFill>
                  <a:srgbClr val="273239"/>
                </a:solidFill>
                <a:latin typeface="Times New Roman"/>
                <a:ea typeface="Times New Roman"/>
                <a:cs typeface="Times New Roman"/>
                <a:sym typeface="Times New Roman"/>
              </a:rPr>
              <a:t>involves modeling real-world objects as software objects, with properties and methods that represent the behavior of those objects. OOAD uses this approach to design and implement software systems.</a:t>
            </a:r>
            <a:endParaRPr sz="2000" b="0" i="0" u="none" strike="noStrike" cap="none" dirty="0">
              <a:solidFill>
                <a:srgbClr val="000000"/>
              </a:solidFill>
              <a:latin typeface="Arial"/>
              <a:ea typeface="Arial"/>
              <a:cs typeface="Arial"/>
              <a:sym typeface="Arial"/>
            </a:endParaRPr>
          </a:p>
          <a:p>
            <a:pPr marL="0" marR="0" lvl="0" indent="0" algn="just" rtl="0">
              <a:lnSpc>
                <a:spcPct val="130000"/>
              </a:lnSpc>
              <a:spcBef>
                <a:spcPts val="0"/>
              </a:spcBef>
              <a:spcAft>
                <a:spcPts val="0"/>
              </a:spcAft>
              <a:buClr>
                <a:srgbClr val="000000"/>
              </a:buClr>
              <a:buSzPts val="1800"/>
              <a:buFont typeface="Arial"/>
              <a:buAutoNum type="arabicPeriod"/>
            </a:pPr>
            <a:r>
              <a:rPr lang="en-US" sz="2000" b="1" i="0" u="none" strike="noStrike" cap="none" dirty="0">
                <a:solidFill>
                  <a:srgbClr val="273239"/>
                </a:solidFill>
                <a:latin typeface="Times New Roman"/>
                <a:ea typeface="Times New Roman"/>
                <a:cs typeface="Times New Roman"/>
                <a:sym typeface="Times New Roman"/>
              </a:rPr>
              <a:t> Design Patterns : </a:t>
            </a:r>
            <a:r>
              <a:rPr lang="en-US" sz="2000" b="0" i="0" u="none" strike="noStrike" cap="none" dirty="0">
                <a:solidFill>
                  <a:srgbClr val="273239"/>
                </a:solidFill>
                <a:latin typeface="Times New Roman"/>
                <a:ea typeface="Times New Roman"/>
                <a:cs typeface="Times New Roman"/>
                <a:sym typeface="Times New Roman"/>
              </a:rPr>
              <a:t>There</a:t>
            </a:r>
            <a:r>
              <a:rPr lang="en-US" sz="2000" b="1" i="0" u="none" strike="noStrike" cap="none" dirty="0">
                <a:solidFill>
                  <a:srgbClr val="273239"/>
                </a:solidFill>
                <a:latin typeface="Times New Roman"/>
                <a:ea typeface="Times New Roman"/>
                <a:cs typeface="Times New Roman"/>
                <a:sym typeface="Times New Roman"/>
              </a:rPr>
              <a:t> </a:t>
            </a:r>
            <a:r>
              <a:rPr lang="en-US" sz="2000" b="0" i="0" u="none" strike="noStrike" cap="none" dirty="0">
                <a:solidFill>
                  <a:srgbClr val="273239"/>
                </a:solidFill>
                <a:latin typeface="Times New Roman"/>
                <a:ea typeface="Times New Roman"/>
                <a:cs typeface="Times New Roman"/>
                <a:sym typeface="Times New Roman"/>
              </a:rPr>
              <a:t>are reusable solutions to common problems in software design. OOAD uses design patterns to help developers create more maintainable and efficient software systems.</a:t>
            </a:r>
            <a:endParaRPr sz="2000" b="0" i="0" u="none" strike="noStrike" cap="none" dirty="0">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1"/>
          <p:cNvSpPr txBox="1"/>
          <p:nvPr/>
        </p:nvSpPr>
        <p:spPr>
          <a:xfrm>
            <a:off x="0" y="199328"/>
            <a:ext cx="654939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Times New Roman"/>
                <a:ea typeface="Times New Roman"/>
                <a:cs typeface="Times New Roman"/>
                <a:sym typeface="Times New Roman"/>
              </a:rPr>
              <a:t>Object-Oriented Applications and Design</a:t>
            </a:r>
            <a:endParaRPr sz="2800" b="0" i="0" u="none" strike="noStrike" cap="none">
              <a:solidFill>
                <a:srgbClr val="000000"/>
              </a:solidFill>
              <a:latin typeface="Arial"/>
              <a:ea typeface="Arial"/>
              <a:cs typeface="Arial"/>
              <a:sym typeface="Arial"/>
            </a:endParaRPr>
          </a:p>
        </p:txBody>
      </p:sp>
      <p:sp>
        <p:nvSpPr>
          <p:cNvPr id="257" name="Google Shape;257;p11"/>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58" name="Google Shape;258;p11"/>
          <p:cNvSpPr/>
          <p:nvPr/>
        </p:nvSpPr>
        <p:spPr>
          <a:xfrm>
            <a:off x="381000" y="1582371"/>
            <a:ext cx="8382000" cy="3693300"/>
          </a:xfrm>
          <a:prstGeom prst="rect">
            <a:avLst/>
          </a:prstGeom>
          <a:noFill/>
          <a:ln>
            <a:noFill/>
          </a:ln>
        </p:spPr>
        <p:txBody>
          <a:bodyPr spcFirstLastPara="1" wrap="square" lIns="91425" tIns="45700" rIns="91425" bIns="45700" anchor="ctr" anchorCtr="0">
            <a:spAutoFit/>
          </a:bodyPr>
          <a:lstStyle/>
          <a:p>
            <a:pPr marL="0" marR="0" lvl="0" indent="0" algn="just" rtl="0">
              <a:lnSpc>
                <a:spcPct val="130000"/>
              </a:lnSpc>
              <a:spcBef>
                <a:spcPts val="0"/>
              </a:spcBef>
              <a:spcAft>
                <a:spcPts val="0"/>
              </a:spcAft>
              <a:buClr>
                <a:srgbClr val="000000"/>
              </a:buClr>
              <a:buSzPts val="2000"/>
              <a:buFont typeface="Arial"/>
              <a:buNone/>
            </a:pPr>
            <a:r>
              <a:rPr lang="en-US" sz="2000" b="1" i="0" u="none" strike="noStrike" cap="none">
                <a:solidFill>
                  <a:srgbClr val="273239"/>
                </a:solidFill>
                <a:latin typeface="Times New Roman"/>
                <a:ea typeface="Times New Roman"/>
                <a:cs typeface="Times New Roman"/>
                <a:sym typeface="Times New Roman"/>
              </a:rPr>
              <a:t>Some important aspects of OOAD:</a:t>
            </a:r>
            <a:endParaRPr sz="2000" b="1" i="0" u="none" strike="noStrike" cap="none">
              <a:solidFill>
                <a:srgbClr val="273239"/>
              </a:solidFill>
              <a:latin typeface="Times New Roman"/>
              <a:ea typeface="Times New Roman"/>
              <a:cs typeface="Times New Roman"/>
              <a:sym typeface="Times New Roman"/>
            </a:endParaRPr>
          </a:p>
          <a:p>
            <a:pPr marL="0" marR="0" lvl="0" indent="0" algn="just" rtl="0">
              <a:lnSpc>
                <a:spcPct val="130000"/>
              </a:lnSpc>
              <a:spcBef>
                <a:spcPts val="0"/>
              </a:spcBef>
              <a:spcAft>
                <a:spcPts val="0"/>
              </a:spcAft>
              <a:buClr>
                <a:srgbClr val="000000"/>
              </a:buClr>
              <a:buSzPts val="2000"/>
              <a:buFont typeface="Arial"/>
              <a:buNone/>
            </a:pPr>
            <a:endParaRPr sz="2000" b="1" i="0" u="none" strike="noStrike" cap="none">
              <a:solidFill>
                <a:srgbClr val="273239"/>
              </a:solidFill>
              <a:latin typeface="Times New Roman"/>
              <a:ea typeface="Times New Roman"/>
              <a:cs typeface="Times New Roman"/>
              <a:sym typeface="Times New Roman"/>
            </a:endParaRPr>
          </a:p>
          <a:p>
            <a:pPr marL="0" marR="0" lvl="0" indent="0" algn="just" rtl="0">
              <a:lnSpc>
                <a:spcPct val="130000"/>
              </a:lnSpc>
              <a:spcBef>
                <a:spcPts val="0"/>
              </a:spcBef>
              <a:spcAft>
                <a:spcPts val="0"/>
              </a:spcAft>
              <a:buClr>
                <a:srgbClr val="000000"/>
              </a:buClr>
              <a:buSzPts val="2000"/>
              <a:buFont typeface="Arial"/>
              <a:buNone/>
            </a:pPr>
            <a:r>
              <a:rPr lang="en-US" sz="2000" b="1" i="0" u="none" strike="noStrike" cap="none">
                <a:solidFill>
                  <a:srgbClr val="273239"/>
                </a:solidFill>
                <a:latin typeface="Times New Roman"/>
                <a:ea typeface="Times New Roman"/>
                <a:cs typeface="Times New Roman"/>
                <a:sym typeface="Times New Roman"/>
              </a:rPr>
              <a:t>3. Unified Modeling Language (UML) Diagrams</a:t>
            </a:r>
            <a:r>
              <a:rPr lang="en-US" sz="2000" b="0" i="0" u="none" strike="noStrike" cap="none">
                <a:solidFill>
                  <a:srgbClr val="273239"/>
                </a:solidFill>
                <a:latin typeface="Times New Roman"/>
                <a:ea typeface="Times New Roman"/>
                <a:cs typeface="Times New Roman"/>
                <a:sym typeface="Times New Roman"/>
              </a:rPr>
              <a:t>: It is a standardized notation for creating diagrams that represent different aspects of a software system. </a:t>
            </a:r>
            <a:endParaRPr sz="2000" b="0" i="0" u="none" strike="noStrike" cap="none">
              <a:solidFill>
                <a:srgbClr val="000000"/>
              </a:solidFill>
              <a:latin typeface="Arial"/>
              <a:ea typeface="Arial"/>
              <a:cs typeface="Arial"/>
              <a:sym typeface="Arial"/>
            </a:endParaRPr>
          </a:p>
          <a:p>
            <a:pPr marL="0" marR="0" lvl="0" indent="0" algn="just" rtl="0">
              <a:lnSpc>
                <a:spcPct val="130000"/>
              </a:lnSpc>
              <a:spcBef>
                <a:spcPts val="0"/>
              </a:spcBef>
              <a:spcAft>
                <a:spcPts val="0"/>
              </a:spcAft>
              <a:buClr>
                <a:srgbClr val="000000"/>
              </a:buClr>
              <a:buSzPts val="2000"/>
              <a:buFont typeface="Arial"/>
              <a:buNone/>
            </a:pPr>
            <a:r>
              <a:rPr lang="en-US" sz="2000" b="0" i="0" u="none" strike="noStrike" cap="none">
                <a:solidFill>
                  <a:srgbClr val="273239"/>
                </a:solidFill>
                <a:latin typeface="Times New Roman"/>
                <a:ea typeface="Times New Roman"/>
                <a:cs typeface="Times New Roman"/>
                <a:sym typeface="Times New Roman"/>
              </a:rPr>
              <a:t>UML diagrams are used to represent the different components and interactions of a software system.</a:t>
            </a:r>
            <a:endParaRPr sz="2000" b="0" i="0" u="none" strike="noStrike" cap="none">
              <a:solidFill>
                <a:srgbClr val="000000"/>
              </a:solidFill>
              <a:latin typeface="Arial"/>
              <a:ea typeface="Arial"/>
              <a:cs typeface="Arial"/>
              <a:sym typeface="Arial"/>
            </a:endParaRPr>
          </a:p>
          <a:p>
            <a:pPr marL="0" marR="0" lvl="0" indent="0" algn="just" rtl="0">
              <a:lnSpc>
                <a:spcPct val="130000"/>
              </a:lnSpc>
              <a:spcBef>
                <a:spcPts val="0"/>
              </a:spcBef>
              <a:spcAft>
                <a:spcPts val="0"/>
              </a:spcAft>
              <a:buClr>
                <a:srgbClr val="000000"/>
              </a:buClr>
              <a:buSzPts val="2000"/>
              <a:buFont typeface="Arial"/>
              <a:buNone/>
            </a:pPr>
            <a:r>
              <a:rPr lang="en-US" sz="2000" b="0" i="0" u="none" strike="noStrike" cap="none">
                <a:solidFill>
                  <a:srgbClr val="273239"/>
                </a:solidFill>
                <a:latin typeface="Times New Roman"/>
                <a:ea typeface="Times New Roman"/>
                <a:cs typeface="Times New Roman"/>
                <a:sym typeface="Times New Roman"/>
              </a:rPr>
              <a:t>4. </a:t>
            </a:r>
            <a:r>
              <a:rPr lang="en-US" sz="2000" b="1" i="0" u="none" strike="noStrike" cap="none">
                <a:solidFill>
                  <a:srgbClr val="273239"/>
                </a:solidFill>
                <a:latin typeface="Times New Roman"/>
                <a:ea typeface="Times New Roman"/>
                <a:cs typeface="Times New Roman"/>
                <a:sym typeface="Times New Roman"/>
              </a:rPr>
              <a:t>Use Cases: </a:t>
            </a:r>
            <a:r>
              <a:rPr lang="en-US" sz="2000" b="0" i="0" u="none" strike="noStrike" cap="none">
                <a:solidFill>
                  <a:srgbClr val="273239"/>
                </a:solidFill>
                <a:latin typeface="Times New Roman"/>
                <a:ea typeface="Times New Roman"/>
                <a:cs typeface="Times New Roman"/>
                <a:sym typeface="Times New Roman"/>
              </a:rPr>
              <a:t>Use cases are a way of describing the different ways in which users interact with a software system. </a:t>
            </a:r>
            <a:endParaRPr sz="2000" b="0" i="0" u="none" strike="noStrike" cap="none">
              <a:solidFill>
                <a:srgbClr val="000000"/>
              </a:solidFill>
              <a:latin typeface="Arial"/>
              <a:ea typeface="Arial"/>
              <a:cs typeface="Arial"/>
              <a:sym typeface="Arial"/>
            </a:endParaRPr>
          </a:p>
          <a:p>
            <a:pPr marL="0" marR="0" lvl="0" indent="0" algn="just" rtl="0">
              <a:lnSpc>
                <a:spcPct val="130000"/>
              </a:lnSpc>
              <a:spcBef>
                <a:spcPts val="0"/>
              </a:spcBef>
              <a:spcAft>
                <a:spcPts val="0"/>
              </a:spcAft>
              <a:buClr>
                <a:srgbClr val="000000"/>
              </a:buClr>
              <a:buSzPts val="2000"/>
              <a:buFont typeface="Arial"/>
              <a:buNone/>
            </a:pPr>
            <a:r>
              <a:rPr lang="en-US" sz="2000" b="0" i="0" u="none" strike="noStrike" cap="none">
                <a:solidFill>
                  <a:srgbClr val="273239"/>
                </a:solidFill>
                <a:latin typeface="Times New Roman"/>
                <a:ea typeface="Times New Roman"/>
                <a:cs typeface="Times New Roman"/>
                <a:sym typeface="Times New Roman"/>
              </a:rPr>
              <a:t>Use cases are used to help developers understand the requirements of a system and to design software systems that meet those requirements.</a:t>
            </a: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2"/>
          <p:cNvSpPr txBox="1"/>
          <p:nvPr/>
        </p:nvSpPr>
        <p:spPr>
          <a:xfrm>
            <a:off x="0" y="228159"/>
            <a:ext cx="6776357"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Times New Roman"/>
                <a:ea typeface="Times New Roman"/>
                <a:cs typeface="Times New Roman"/>
                <a:sym typeface="Times New Roman"/>
              </a:rPr>
              <a:t>Advantages of OOAD</a:t>
            </a:r>
            <a:endParaRPr sz="2800" b="0" i="0" u="none" strike="noStrike" cap="none">
              <a:solidFill>
                <a:srgbClr val="000000"/>
              </a:solidFill>
              <a:latin typeface="Arial"/>
              <a:ea typeface="Arial"/>
              <a:cs typeface="Arial"/>
              <a:sym typeface="Arial"/>
            </a:endParaRPr>
          </a:p>
        </p:txBody>
      </p:sp>
      <p:sp>
        <p:nvSpPr>
          <p:cNvPr id="265" name="Google Shape;265;p12"/>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66" name="Google Shape;266;p12"/>
          <p:cNvSpPr/>
          <p:nvPr/>
        </p:nvSpPr>
        <p:spPr>
          <a:xfrm>
            <a:off x="467073" y="1074530"/>
            <a:ext cx="8045400" cy="4708941"/>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rgbClr val="000000"/>
              </a:buClr>
              <a:buSzPts val="1800"/>
              <a:buFont typeface="Arial"/>
              <a:buAutoNum type="arabicPeriod"/>
            </a:pPr>
            <a:r>
              <a:rPr lang="en-US" sz="2000" b="1" i="0" u="none" strike="noStrike" cap="none" dirty="0">
                <a:solidFill>
                  <a:srgbClr val="273239"/>
                </a:solidFill>
                <a:latin typeface="Times New Roman"/>
                <a:ea typeface="Times New Roman"/>
                <a:cs typeface="Times New Roman"/>
                <a:sym typeface="Times New Roman"/>
              </a:rPr>
              <a:t> Reusability: </a:t>
            </a:r>
            <a:r>
              <a:rPr lang="en-US" sz="2000" b="0" i="0" u="none" strike="noStrike" cap="none" dirty="0">
                <a:solidFill>
                  <a:srgbClr val="273239"/>
                </a:solidFill>
                <a:latin typeface="Times New Roman"/>
                <a:ea typeface="Times New Roman"/>
                <a:cs typeface="Times New Roman"/>
                <a:sym typeface="Times New Roman"/>
              </a:rPr>
              <a:t>OOAD emphasizes the use of reusable components and design patterns, which can save time and effort in software development.</a:t>
            </a:r>
            <a:endParaRPr sz="20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2000" b="1" i="0" u="none" strike="noStrike" cap="none" dirty="0">
                <a:solidFill>
                  <a:srgbClr val="273239"/>
                </a:solidFill>
                <a:latin typeface="Times New Roman"/>
                <a:ea typeface="Times New Roman"/>
                <a:cs typeface="Times New Roman"/>
                <a:sym typeface="Times New Roman"/>
              </a:rPr>
              <a:t> Scalability:</a:t>
            </a:r>
            <a:r>
              <a:rPr lang="en-US" sz="2000" b="0" i="0" u="none" strike="noStrike" cap="none" dirty="0">
                <a:solidFill>
                  <a:srgbClr val="273239"/>
                </a:solidFill>
                <a:latin typeface="Times New Roman"/>
                <a:ea typeface="Times New Roman"/>
                <a:cs typeface="Times New Roman"/>
                <a:sym typeface="Times New Roman"/>
              </a:rPr>
              <a:t> OOAD can help developers design software systems that are scalable and can handle changes in user demand and business requirements over time.</a:t>
            </a:r>
            <a:endParaRPr sz="20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2000" b="1" i="0" u="none" strike="noStrike" cap="none" dirty="0">
                <a:solidFill>
                  <a:srgbClr val="273239"/>
                </a:solidFill>
                <a:latin typeface="Times New Roman"/>
                <a:ea typeface="Times New Roman"/>
                <a:cs typeface="Times New Roman"/>
                <a:sym typeface="Times New Roman"/>
              </a:rPr>
              <a:t> Maintainability:</a:t>
            </a:r>
            <a:r>
              <a:rPr lang="en-US" sz="2000" b="0" i="0" u="none" strike="noStrike" cap="none" dirty="0">
                <a:solidFill>
                  <a:srgbClr val="273239"/>
                </a:solidFill>
                <a:latin typeface="Times New Roman"/>
                <a:ea typeface="Times New Roman"/>
                <a:cs typeface="Times New Roman"/>
                <a:sym typeface="Times New Roman"/>
              </a:rPr>
              <a:t> OOAD emphasizes modular design and can help developers create software systems that are easier to maintain and update over time.</a:t>
            </a:r>
            <a:endParaRPr sz="2000" b="0" i="0" u="none" strike="noStrike" cap="none" dirty="0">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1800"/>
              <a:buFont typeface="Arial"/>
              <a:buAutoNum type="arabicPeriod"/>
            </a:pPr>
            <a:r>
              <a:rPr lang="en-US" sz="2000" b="1" i="0" u="none" strike="noStrike" cap="none" dirty="0">
                <a:solidFill>
                  <a:srgbClr val="273239"/>
                </a:solidFill>
                <a:latin typeface="Times New Roman"/>
                <a:ea typeface="Times New Roman"/>
                <a:cs typeface="Times New Roman"/>
                <a:sym typeface="Times New Roman"/>
              </a:rPr>
              <a:t> Flexibility:</a:t>
            </a:r>
            <a:r>
              <a:rPr lang="en-US" sz="2000" b="0" i="0" u="none" strike="noStrike" cap="none" dirty="0">
                <a:solidFill>
                  <a:srgbClr val="273239"/>
                </a:solidFill>
                <a:latin typeface="Times New Roman"/>
                <a:ea typeface="Times New Roman"/>
                <a:cs typeface="Times New Roman"/>
                <a:sym typeface="Times New Roman"/>
              </a:rPr>
              <a:t> OOAD can help developers design software systems that are flexible and can adapt to changing business requirements over time.</a:t>
            </a:r>
            <a:endParaRPr sz="2000" b="0" i="0" u="none" strike="noStrike" cap="none" dirty="0">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51"/>
          <p:cNvSpPr txBox="1"/>
          <p:nvPr/>
        </p:nvSpPr>
        <p:spPr>
          <a:xfrm>
            <a:off x="242100" y="1156235"/>
            <a:ext cx="8659800" cy="4094400"/>
          </a:xfrm>
          <a:prstGeom prst="rect">
            <a:avLst/>
          </a:prstGeom>
          <a:noFill/>
          <a:ln>
            <a:noFill/>
          </a:ln>
        </p:spPr>
        <p:txBody>
          <a:bodyPr spcFirstLastPara="1" wrap="square" lIns="91425" tIns="45700" rIns="91425" bIns="45700" anchor="t" anchorCtr="0">
            <a:spAutoFit/>
          </a:bodyPr>
          <a:lstStyle/>
          <a:p>
            <a:pPr marL="457200" marR="0" lvl="0" indent="-355600" algn="just" rtl="0">
              <a:lnSpc>
                <a:spcPct val="150000"/>
              </a:lnSpc>
              <a:spcBef>
                <a:spcPts val="0"/>
              </a:spcBef>
              <a:spcAft>
                <a:spcPts val="0"/>
              </a:spcAft>
              <a:buClr>
                <a:srgbClr val="000000"/>
              </a:buClr>
              <a:buSzPts val="2000"/>
              <a:buFont typeface="Times New Roman"/>
              <a:buAutoNum type="arabicPeriod"/>
            </a:pPr>
            <a:r>
              <a:rPr lang="en-US" sz="2000" b="1" i="0" u="none" strike="noStrike" cap="none">
                <a:solidFill>
                  <a:srgbClr val="000000"/>
                </a:solidFill>
                <a:latin typeface="Times New Roman"/>
                <a:ea typeface="Times New Roman"/>
                <a:cs typeface="Times New Roman"/>
                <a:sym typeface="Times New Roman"/>
              </a:rPr>
              <a:t>Complexity:</a:t>
            </a:r>
            <a:r>
              <a:rPr lang="en-US" sz="2000" b="0" i="0" u="none" strike="noStrike" cap="none">
                <a:solidFill>
                  <a:srgbClr val="000000"/>
                </a:solidFill>
                <a:latin typeface="Times New Roman"/>
                <a:ea typeface="Times New Roman"/>
                <a:cs typeface="Times New Roman"/>
                <a:sym typeface="Times New Roman"/>
              </a:rPr>
              <a:t> This can be complex and may require significant expertise to implement effectively.</a:t>
            </a:r>
            <a:endParaRPr sz="2000" b="0" i="0" u="none" strike="noStrike" cap="none">
              <a:solidFill>
                <a:srgbClr val="000000"/>
              </a:solidFill>
              <a:latin typeface="Times New Roman"/>
              <a:ea typeface="Times New Roman"/>
              <a:cs typeface="Times New Roman"/>
              <a:sym typeface="Times New Roman"/>
            </a:endParaRPr>
          </a:p>
          <a:p>
            <a:pPr marL="457200" marR="0" lvl="0" indent="-355600" algn="just" rtl="0">
              <a:lnSpc>
                <a:spcPct val="150000"/>
              </a:lnSpc>
              <a:spcBef>
                <a:spcPts val="0"/>
              </a:spcBef>
              <a:spcAft>
                <a:spcPts val="0"/>
              </a:spcAft>
              <a:buClr>
                <a:srgbClr val="000000"/>
              </a:buClr>
              <a:buSzPts val="2000"/>
              <a:buFont typeface="Times New Roman"/>
              <a:buAutoNum type="arabicPeriod"/>
            </a:pPr>
            <a:r>
              <a:rPr lang="en-US" sz="2000" b="1" i="0" u="none" strike="noStrike" cap="none">
                <a:solidFill>
                  <a:srgbClr val="000000"/>
                </a:solidFill>
                <a:latin typeface="Times New Roman"/>
                <a:ea typeface="Times New Roman"/>
                <a:cs typeface="Times New Roman"/>
                <a:sym typeface="Times New Roman"/>
              </a:rPr>
              <a:t>Time-consuming:</a:t>
            </a:r>
            <a:r>
              <a:rPr lang="en-US" sz="2000" b="0" i="0" u="none" strike="noStrike" cap="none">
                <a:solidFill>
                  <a:srgbClr val="000000"/>
                </a:solidFill>
                <a:latin typeface="Times New Roman"/>
                <a:ea typeface="Times New Roman"/>
                <a:cs typeface="Times New Roman"/>
                <a:sym typeface="Times New Roman"/>
              </a:rPr>
              <a:t> can be a time-consuming process that involves significant upfront planning and documentation.</a:t>
            </a:r>
            <a:endParaRPr sz="2000" b="0" i="0" u="none" strike="noStrike" cap="none">
              <a:solidFill>
                <a:srgbClr val="000000"/>
              </a:solidFill>
              <a:latin typeface="Times New Roman"/>
              <a:ea typeface="Times New Roman"/>
              <a:cs typeface="Times New Roman"/>
              <a:sym typeface="Times New Roman"/>
            </a:endParaRPr>
          </a:p>
          <a:p>
            <a:pPr marL="457200" marR="0" lvl="0" indent="-355600" algn="just" rtl="0">
              <a:lnSpc>
                <a:spcPct val="150000"/>
              </a:lnSpc>
              <a:spcBef>
                <a:spcPts val="0"/>
              </a:spcBef>
              <a:spcAft>
                <a:spcPts val="0"/>
              </a:spcAft>
              <a:buClr>
                <a:srgbClr val="000000"/>
              </a:buClr>
              <a:buSzPts val="2000"/>
              <a:buFont typeface="Times New Roman"/>
              <a:buAutoNum type="arabicPeriod"/>
            </a:pPr>
            <a:r>
              <a:rPr lang="en-US" sz="2000" b="1" i="0" u="none" strike="noStrike" cap="none">
                <a:solidFill>
                  <a:srgbClr val="000000"/>
                </a:solidFill>
                <a:latin typeface="Times New Roman"/>
                <a:ea typeface="Times New Roman"/>
                <a:cs typeface="Times New Roman"/>
                <a:sym typeface="Times New Roman"/>
              </a:rPr>
              <a:t>Rigidity: </a:t>
            </a:r>
            <a:r>
              <a:rPr lang="en-US" sz="2000" b="0" i="0" u="none" strike="noStrike" cap="none">
                <a:solidFill>
                  <a:srgbClr val="000000"/>
                </a:solidFill>
                <a:latin typeface="Times New Roman"/>
                <a:ea typeface="Times New Roman"/>
                <a:cs typeface="Times New Roman"/>
                <a:sym typeface="Times New Roman"/>
              </a:rPr>
              <a:t>Once a software system has been designed using OOAD, it can be difficult to make changes without significant time and expense.</a:t>
            </a:r>
            <a:endParaRPr sz="2000" b="0" i="0" u="none" strike="noStrike" cap="none">
              <a:solidFill>
                <a:srgbClr val="000000"/>
              </a:solidFill>
              <a:latin typeface="Times New Roman"/>
              <a:ea typeface="Times New Roman"/>
              <a:cs typeface="Times New Roman"/>
              <a:sym typeface="Times New Roman"/>
            </a:endParaRPr>
          </a:p>
          <a:p>
            <a:pPr marL="457200" marR="0" lvl="0" indent="-355600" algn="just" rtl="0">
              <a:lnSpc>
                <a:spcPct val="150000"/>
              </a:lnSpc>
              <a:spcBef>
                <a:spcPts val="0"/>
              </a:spcBef>
              <a:spcAft>
                <a:spcPts val="0"/>
              </a:spcAft>
              <a:buClr>
                <a:srgbClr val="000000"/>
              </a:buClr>
              <a:buSzPts val="2000"/>
              <a:buFont typeface="Times New Roman"/>
              <a:buAutoNum type="arabicPeriod"/>
            </a:pPr>
            <a:r>
              <a:rPr lang="en-US" sz="2000" b="1" i="0" u="none" strike="noStrike" cap="none">
                <a:solidFill>
                  <a:srgbClr val="000000"/>
                </a:solidFill>
                <a:latin typeface="Times New Roman"/>
                <a:ea typeface="Times New Roman"/>
                <a:cs typeface="Times New Roman"/>
                <a:sym typeface="Times New Roman"/>
              </a:rPr>
              <a:t>Cost:</a:t>
            </a:r>
            <a:r>
              <a:rPr lang="en-US" sz="2000" b="0" i="0" u="none" strike="noStrike" cap="none">
                <a:solidFill>
                  <a:srgbClr val="000000"/>
                </a:solidFill>
                <a:latin typeface="Times New Roman"/>
                <a:ea typeface="Times New Roman"/>
                <a:cs typeface="Times New Roman"/>
                <a:sym typeface="Times New Roman"/>
              </a:rPr>
              <a:t> can be more expensive than other software engineering methodologies due to the upfront planning and documentation required.</a:t>
            </a:r>
            <a:endParaRPr sz="2000" b="0" i="0" u="none" strike="noStrike" cap="none">
              <a:solidFill>
                <a:srgbClr val="000000"/>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Clr>
                <a:srgbClr val="000000"/>
              </a:buClr>
              <a:buSzPts val="2000"/>
              <a:buFont typeface="Arial"/>
              <a:buNone/>
            </a:pPr>
            <a:endParaRPr sz="2000" b="0" i="0" u="none" strike="noStrike" cap="none">
              <a:solidFill>
                <a:srgbClr val="000000"/>
              </a:solidFill>
              <a:latin typeface="Times New Roman"/>
              <a:ea typeface="Times New Roman"/>
              <a:cs typeface="Times New Roman"/>
              <a:sym typeface="Times New Roman"/>
            </a:endParaRPr>
          </a:p>
        </p:txBody>
      </p:sp>
      <p:sp>
        <p:nvSpPr>
          <p:cNvPr id="272" name="Google Shape;272;p51"/>
          <p:cNvSpPr txBox="1"/>
          <p:nvPr/>
        </p:nvSpPr>
        <p:spPr>
          <a:xfrm>
            <a:off x="80010" y="217170"/>
            <a:ext cx="3956532"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Times New Roman"/>
                <a:ea typeface="Times New Roman"/>
                <a:cs typeface="Times New Roman"/>
                <a:sym typeface="Times New Roman"/>
              </a:rPr>
              <a:t>Disadvantages of OOAD</a:t>
            </a:r>
            <a:endParaRPr sz="28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2ca142a1044_0_1"/>
          <p:cNvSpPr txBox="1"/>
          <p:nvPr/>
        </p:nvSpPr>
        <p:spPr>
          <a:xfrm>
            <a:off x="397575" y="1433375"/>
            <a:ext cx="8238600" cy="2339700"/>
          </a:xfrm>
          <a:prstGeom prst="rect">
            <a:avLst/>
          </a:prstGeom>
          <a:noFill/>
          <a:ln>
            <a:noFill/>
          </a:ln>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Overall, OOAD can be an effective approach to designing and implementing software systems, particularly for complex or large-scale projects. However, it’s important to weigh the advantages and disadvantages carefully before adopting this approach.</a:t>
            </a: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sp>
        <p:nvSpPr>
          <p:cNvPr id="279" name="Google Shape;279;g2ca142a1044_0_1"/>
          <p:cNvSpPr txBox="1"/>
          <p:nvPr/>
        </p:nvSpPr>
        <p:spPr>
          <a:xfrm>
            <a:off x="80010" y="217170"/>
            <a:ext cx="39564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Times New Roman"/>
                <a:ea typeface="Times New Roman"/>
                <a:cs typeface="Times New Roman"/>
                <a:sym typeface="Times New Roman"/>
              </a:rPr>
              <a:t>Approach of OOAD</a:t>
            </a:r>
            <a:endParaRPr sz="28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6" name="Google Shape;286;p13"/>
          <p:cNvSpPr txBox="1"/>
          <p:nvPr/>
        </p:nvSpPr>
        <p:spPr>
          <a:xfrm>
            <a:off x="-12700" y="72514"/>
            <a:ext cx="7069710"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dirty="0">
                <a:solidFill>
                  <a:srgbClr val="000000"/>
                </a:solidFill>
                <a:latin typeface="Times New Roman"/>
                <a:ea typeface="Times New Roman"/>
                <a:cs typeface="Times New Roman"/>
                <a:sym typeface="Times New Roman"/>
              </a:rPr>
              <a:t>Object-Oriented Analysis</a:t>
            </a:r>
            <a:endParaRPr sz="1400" b="0" i="0" u="none" strike="noStrike" cap="none" dirty="0">
              <a:solidFill>
                <a:srgbClr val="000000"/>
              </a:solidFill>
              <a:latin typeface="Arial"/>
              <a:ea typeface="Arial"/>
              <a:cs typeface="Arial"/>
              <a:sym typeface="Arial"/>
            </a:endParaRPr>
          </a:p>
        </p:txBody>
      </p:sp>
      <p:sp>
        <p:nvSpPr>
          <p:cNvPr id="287" name="Google Shape;287;p13"/>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88" name="Google Shape;288;p13"/>
          <p:cNvSpPr/>
          <p:nvPr/>
        </p:nvSpPr>
        <p:spPr>
          <a:xfrm>
            <a:off x="152400" y="843697"/>
            <a:ext cx="8839200" cy="5170606"/>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rgbClr val="000000"/>
              </a:buClr>
              <a:buSzPts val="2000"/>
              <a:buFont typeface="Arial"/>
              <a:buNone/>
            </a:pPr>
            <a:r>
              <a:rPr lang="en-US" sz="2000" b="1" i="0" u="none" strike="noStrike" cap="none" dirty="0">
                <a:solidFill>
                  <a:srgbClr val="273239"/>
                </a:solidFill>
                <a:latin typeface="Times New Roman"/>
                <a:ea typeface="Times New Roman"/>
                <a:cs typeface="Times New Roman"/>
                <a:sym typeface="Times New Roman"/>
              </a:rPr>
              <a:t>Object-Oriented Analysis (OOA) </a:t>
            </a:r>
            <a:endParaRPr sz="2000" b="0" i="0" u="none" strike="noStrike" cap="none" dirty="0">
              <a:solidFill>
                <a:srgbClr val="273239"/>
              </a:solidFill>
              <a:latin typeface="Times New Roman"/>
              <a:ea typeface="Times New Roman"/>
              <a:cs typeface="Times New Roman"/>
              <a:sym typeface="Times New Roman"/>
            </a:endParaRPr>
          </a:p>
          <a:p>
            <a:pPr marL="342900" marR="0" lvl="0" indent="-342900" algn="just" rtl="0">
              <a:lnSpc>
                <a:spcPct val="150000"/>
              </a:lnSpc>
              <a:spcBef>
                <a:spcPts val="0"/>
              </a:spcBef>
              <a:spcAft>
                <a:spcPts val="0"/>
              </a:spcAft>
              <a:buClr>
                <a:srgbClr val="000000"/>
              </a:buClr>
              <a:buSzPts val="2000"/>
              <a:buFont typeface="Arial"/>
              <a:buChar char="•"/>
            </a:pPr>
            <a:r>
              <a:rPr lang="en-US" sz="2000" b="0" i="0" u="none" strike="noStrike" cap="none" dirty="0">
                <a:solidFill>
                  <a:srgbClr val="273239"/>
                </a:solidFill>
                <a:latin typeface="Times New Roman"/>
                <a:ea typeface="Times New Roman"/>
                <a:cs typeface="Times New Roman"/>
                <a:sym typeface="Times New Roman"/>
              </a:rPr>
              <a:t>It is the first technical activity performed as part of object-oriented software engineering. OOA introduces new concepts to investigate a problem. </a:t>
            </a:r>
            <a:endParaRPr sz="1400" b="0" i="0" u="none" strike="noStrike" cap="none" dirty="0">
              <a:solidFill>
                <a:srgbClr val="000000"/>
              </a:solidFill>
              <a:latin typeface="Arial"/>
              <a:ea typeface="Arial"/>
              <a:cs typeface="Arial"/>
              <a:sym typeface="Arial"/>
            </a:endParaRPr>
          </a:p>
          <a:p>
            <a:pPr marL="342900" marR="0" lvl="0" indent="-342900" algn="just" rtl="0">
              <a:lnSpc>
                <a:spcPct val="150000"/>
              </a:lnSpc>
              <a:spcBef>
                <a:spcPts val="0"/>
              </a:spcBef>
              <a:spcAft>
                <a:spcPts val="0"/>
              </a:spcAft>
              <a:buClr>
                <a:srgbClr val="000000"/>
              </a:buClr>
              <a:buSzPts val="2000"/>
              <a:buFont typeface="Arial"/>
              <a:buChar char="•"/>
            </a:pPr>
            <a:r>
              <a:rPr lang="en-US" sz="2000" b="0" i="0" u="none" strike="noStrike" cap="none" dirty="0">
                <a:solidFill>
                  <a:srgbClr val="273239"/>
                </a:solidFill>
                <a:latin typeface="Times New Roman"/>
                <a:ea typeface="Times New Roman"/>
                <a:cs typeface="Times New Roman"/>
                <a:sym typeface="Times New Roman"/>
              </a:rPr>
              <a:t>It is based on a set of basic principles, which are as follows-</a:t>
            </a:r>
            <a:endParaRPr sz="1400" b="0" i="0" u="none" strike="noStrike" cap="none" dirty="0">
              <a:solidFill>
                <a:srgbClr val="000000"/>
              </a:solidFill>
              <a:latin typeface="Arial"/>
              <a:ea typeface="Arial"/>
              <a:cs typeface="Arial"/>
              <a:sym typeface="Arial"/>
            </a:endParaRPr>
          </a:p>
          <a:p>
            <a:pPr marL="685800" marR="0" lvl="0" indent="-127000" algn="just" rtl="0">
              <a:lnSpc>
                <a:spcPct val="150000"/>
              </a:lnSpc>
              <a:spcBef>
                <a:spcPts val="0"/>
              </a:spcBef>
              <a:spcAft>
                <a:spcPts val="0"/>
              </a:spcAft>
              <a:buClr>
                <a:srgbClr val="000000"/>
              </a:buClr>
              <a:buSzPts val="2000"/>
              <a:buFont typeface="Arial"/>
              <a:buAutoNum type="arabicPeriod"/>
            </a:pPr>
            <a:r>
              <a:rPr lang="en-US" sz="2000" b="0" i="0" u="none" strike="noStrike" cap="none" dirty="0">
                <a:solidFill>
                  <a:srgbClr val="273239"/>
                </a:solidFill>
                <a:latin typeface="Times New Roman"/>
                <a:ea typeface="Times New Roman"/>
                <a:cs typeface="Times New Roman"/>
                <a:sym typeface="Times New Roman"/>
              </a:rPr>
              <a:t>The information domain is modeled in OOA.</a:t>
            </a:r>
            <a:endParaRPr sz="1400" b="0" i="0" u="none" strike="noStrike" cap="none" dirty="0">
              <a:solidFill>
                <a:srgbClr val="000000"/>
              </a:solidFill>
              <a:latin typeface="Arial"/>
              <a:ea typeface="Arial"/>
              <a:cs typeface="Arial"/>
              <a:sym typeface="Arial"/>
            </a:endParaRPr>
          </a:p>
          <a:p>
            <a:pPr marL="685800" marR="0" lvl="0" indent="-127000" algn="just" rtl="0">
              <a:lnSpc>
                <a:spcPct val="150000"/>
              </a:lnSpc>
              <a:spcBef>
                <a:spcPts val="0"/>
              </a:spcBef>
              <a:spcAft>
                <a:spcPts val="0"/>
              </a:spcAft>
              <a:buClr>
                <a:srgbClr val="000000"/>
              </a:buClr>
              <a:buSzPts val="2000"/>
              <a:buFont typeface="Arial"/>
              <a:buAutoNum type="arabicPeriod"/>
            </a:pPr>
            <a:r>
              <a:rPr lang="en-US" sz="2000" b="0" i="0" u="none" strike="noStrike" cap="none" dirty="0">
                <a:solidFill>
                  <a:srgbClr val="273239"/>
                </a:solidFill>
                <a:latin typeface="Times New Roman"/>
                <a:ea typeface="Times New Roman"/>
                <a:cs typeface="Times New Roman"/>
                <a:sym typeface="Times New Roman"/>
              </a:rPr>
              <a:t> Here, Behavior is represented.</a:t>
            </a:r>
            <a:endParaRPr sz="1400" b="0" i="0" u="none" strike="noStrike" cap="none" dirty="0">
              <a:solidFill>
                <a:srgbClr val="000000"/>
              </a:solidFill>
              <a:latin typeface="Arial"/>
              <a:ea typeface="Arial"/>
              <a:cs typeface="Arial"/>
              <a:sym typeface="Arial"/>
            </a:endParaRPr>
          </a:p>
          <a:p>
            <a:pPr marL="685800" marR="0" lvl="0" indent="-127000" algn="just" rtl="0">
              <a:lnSpc>
                <a:spcPct val="150000"/>
              </a:lnSpc>
              <a:spcBef>
                <a:spcPts val="0"/>
              </a:spcBef>
              <a:spcAft>
                <a:spcPts val="0"/>
              </a:spcAft>
              <a:buClr>
                <a:srgbClr val="000000"/>
              </a:buClr>
              <a:buSzPts val="2000"/>
              <a:buFont typeface="Arial"/>
              <a:buAutoNum type="arabicPeriod"/>
            </a:pPr>
            <a:r>
              <a:rPr lang="en-US" sz="2000" b="0" i="0" u="none" strike="noStrike" cap="none" dirty="0">
                <a:solidFill>
                  <a:srgbClr val="273239"/>
                </a:solidFill>
                <a:latin typeface="Times New Roman"/>
                <a:ea typeface="Times New Roman"/>
                <a:cs typeface="Times New Roman"/>
                <a:sym typeface="Times New Roman"/>
              </a:rPr>
              <a:t> The function is described in OOA.</a:t>
            </a:r>
            <a:endParaRPr sz="1400" b="0" i="0" u="none" strike="noStrike" cap="none" dirty="0">
              <a:solidFill>
                <a:srgbClr val="000000"/>
              </a:solidFill>
              <a:latin typeface="Arial"/>
              <a:ea typeface="Arial"/>
              <a:cs typeface="Arial"/>
              <a:sym typeface="Arial"/>
            </a:endParaRPr>
          </a:p>
          <a:p>
            <a:pPr marL="685800" marR="0" lvl="0" indent="-127000" algn="just" rtl="0">
              <a:lnSpc>
                <a:spcPct val="150000"/>
              </a:lnSpc>
              <a:spcBef>
                <a:spcPts val="0"/>
              </a:spcBef>
              <a:spcAft>
                <a:spcPts val="0"/>
              </a:spcAft>
              <a:buClr>
                <a:srgbClr val="000000"/>
              </a:buClr>
              <a:buSzPts val="2000"/>
              <a:buFont typeface="Arial"/>
              <a:buAutoNum type="arabicPeriod"/>
            </a:pPr>
            <a:r>
              <a:rPr lang="en-US" sz="2000" b="0" i="0" u="none" strike="noStrike" cap="none" dirty="0">
                <a:solidFill>
                  <a:srgbClr val="273239"/>
                </a:solidFill>
                <a:latin typeface="Times New Roman"/>
                <a:ea typeface="Times New Roman"/>
                <a:cs typeface="Times New Roman"/>
                <a:sym typeface="Times New Roman"/>
              </a:rPr>
              <a:t> Here, Data, functional, and behavioral models are divided to uncover greater detail.</a:t>
            </a:r>
            <a:endParaRPr sz="1400" b="0" i="0" u="none" strike="noStrike" cap="none" dirty="0">
              <a:solidFill>
                <a:srgbClr val="000000"/>
              </a:solidFill>
              <a:latin typeface="Arial"/>
              <a:ea typeface="Arial"/>
              <a:cs typeface="Arial"/>
              <a:sym typeface="Arial"/>
            </a:endParaRPr>
          </a:p>
          <a:p>
            <a:pPr marL="685800" marR="0" lvl="0" indent="-127000" algn="just" rtl="0">
              <a:lnSpc>
                <a:spcPct val="150000"/>
              </a:lnSpc>
              <a:spcBef>
                <a:spcPts val="0"/>
              </a:spcBef>
              <a:spcAft>
                <a:spcPts val="0"/>
              </a:spcAft>
              <a:buClr>
                <a:srgbClr val="000000"/>
              </a:buClr>
              <a:buSzPts val="2000"/>
              <a:buFont typeface="Arial"/>
              <a:buAutoNum type="arabicPeriod"/>
            </a:pPr>
            <a:r>
              <a:rPr lang="en-US" sz="2000" b="0" i="0" u="none" strike="noStrike" cap="none" dirty="0">
                <a:solidFill>
                  <a:srgbClr val="273239"/>
                </a:solidFill>
                <a:latin typeface="Times New Roman"/>
                <a:ea typeface="Times New Roman"/>
                <a:cs typeface="Times New Roman"/>
                <a:sym typeface="Times New Roman"/>
              </a:rPr>
              <a:t> Early models represent the essence of the problem, while later ones provide implementation details.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5" name="Google Shape;295;p14"/>
          <p:cNvSpPr txBox="1"/>
          <p:nvPr/>
        </p:nvSpPr>
        <p:spPr>
          <a:xfrm>
            <a:off x="200660" y="89627"/>
            <a:ext cx="70698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rgbClr val="000000"/>
                </a:solidFill>
                <a:latin typeface="Times New Roman"/>
                <a:ea typeface="Times New Roman"/>
                <a:cs typeface="Times New Roman"/>
                <a:sym typeface="Times New Roman"/>
              </a:rPr>
              <a:t>Object-Oriented Design</a:t>
            </a:r>
            <a:endParaRPr sz="1400" b="0" i="0" u="none" strike="noStrike" cap="none">
              <a:solidFill>
                <a:srgbClr val="000000"/>
              </a:solidFill>
              <a:latin typeface="Arial"/>
              <a:ea typeface="Arial"/>
              <a:cs typeface="Arial"/>
              <a:sym typeface="Arial"/>
            </a:endParaRPr>
          </a:p>
        </p:txBody>
      </p:sp>
      <p:sp>
        <p:nvSpPr>
          <p:cNvPr id="296" name="Google Shape;296;p14"/>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97" name="Google Shape;297;p14"/>
          <p:cNvSpPr/>
          <p:nvPr/>
        </p:nvSpPr>
        <p:spPr>
          <a:xfrm>
            <a:off x="0" y="859052"/>
            <a:ext cx="8839200" cy="5632271"/>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Clr>
                <a:srgbClr val="000000"/>
              </a:buClr>
              <a:buSzPts val="2000"/>
              <a:buFont typeface="Arial"/>
              <a:buNone/>
            </a:pPr>
            <a:r>
              <a:rPr lang="en-US" sz="2000" b="1" i="0" u="none" strike="noStrike" cap="none" dirty="0">
                <a:solidFill>
                  <a:srgbClr val="273239"/>
                </a:solidFill>
                <a:latin typeface="Times New Roman"/>
                <a:ea typeface="Times New Roman"/>
                <a:cs typeface="Times New Roman"/>
                <a:sym typeface="Times New Roman"/>
              </a:rPr>
              <a:t>Object-Oriented Design (OOD):</a:t>
            </a:r>
            <a:r>
              <a:rPr lang="en-US" sz="2000" b="0" i="0" u="none" strike="noStrike" cap="none" dirty="0">
                <a:solidFill>
                  <a:srgbClr val="273239"/>
                </a:solidFill>
                <a:latin typeface="Times New Roman"/>
                <a:ea typeface="Times New Roman"/>
                <a:cs typeface="Times New Roman"/>
                <a:sym typeface="Times New Roman"/>
              </a:rPr>
              <a:t> </a:t>
            </a:r>
            <a:endParaRPr sz="1400" b="0" i="0" u="none" strike="noStrike" cap="none" dirty="0">
              <a:solidFill>
                <a:srgbClr val="000000"/>
              </a:solidFill>
              <a:latin typeface="Arial"/>
              <a:ea typeface="Arial"/>
              <a:cs typeface="Arial"/>
              <a:sym typeface="Arial"/>
            </a:endParaRPr>
          </a:p>
          <a:p>
            <a:pPr marL="342900" marR="0" lvl="0" indent="-342900" algn="just" rtl="0">
              <a:lnSpc>
                <a:spcPct val="150000"/>
              </a:lnSpc>
              <a:spcBef>
                <a:spcPts val="0"/>
              </a:spcBef>
              <a:spcAft>
                <a:spcPts val="0"/>
              </a:spcAft>
              <a:buClr>
                <a:srgbClr val="000000"/>
              </a:buClr>
              <a:buSzPts val="2000"/>
              <a:buFont typeface="Arial"/>
              <a:buChar char="•"/>
            </a:pPr>
            <a:r>
              <a:rPr lang="en-US" sz="2000" b="0" i="0" u="none" strike="noStrike" cap="none" dirty="0">
                <a:solidFill>
                  <a:srgbClr val="273239"/>
                </a:solidFill>
                <a:latin typeface="Times New Roman"/>
                <a:ea typeface="Times New Roman"/>
                <a:cs typeface="Times New Roman"/>
                <a:sym typeface="Times New Roman"/>
              </a:rPr>
              <a:t>An analysis model created using object-oriented analysis is transformed by object-oriented design into a design model that works as a plan for software creation. </a:t>
            </a:r>
            <a:endParaRPr sz="1400" b="0" i="0" u="none" strike="noStrike" cap="none" dirty="0">
              <a:solidFill>
                <a:srgbClr val="000000"/>
              </a:solidFill>
              <a:latin typeface="Arial"/>
              <a:ea typeface="Arial"/>
              <a:cs typeface="Arial"/>
              <a:sym typeface="Arial"/>
            </a:endParaRPr>
          </a:p>
          <a:p>
            <a:pPr marL="342900" marR="0" lvl="0" indent="-342900" algn="just" rtl="0">
              <a:lnSpc>
                <a:spcPct val="150000"/>
              </a:lnSpc>
              <a:spcBef>
                <a:spcPts val="0"/>
              </a:spcBef>
              <a:spcAft>
                <a:spcPts val="0"/>
              </a:spcAft>
              <a:buClr>
                <a:srgbClr val="000000"/>
              </a:buClr>
              <a:buSzPts val="2000"/>
              <a:buFont typeface="Arial"/>
              <a:buChar char="•"/>
            </a:pPr>
            <a:r>
              <a:rPr lang="en-US" sz="2000" b="0" i="0" u="none" strike="noStrike" cap="none" dirty="0">
                <a:solidFill>
                  <a:srgbClr val="273239"/>
                </a:solidFill>
                <a:latin typeface="Times New Roman"/>
                <a:ea typeface="Times New Roman"/>
                <a:cs typeface="Times New Roman"/>
                <a:sym typeface="Times New Roman"/>
              </a:rPr>
              <a:t>OOD results in a design having several different levels of modularity i.e., The major system components are partitioned into subsystems (a system-level “modular”), and data manipulation operations are encapsulated into objects (a modular form that is the building block of an OO system.). </a:t>
            </a:r>
            <a:endParaRPr sz="1400" b="0" i="0" u="none" strike="noStrike" cap="none" dirty="0">
              <a:solidFill>
                <a:srgbClr val="000000"/>
              </a:solidFill>
              <a:latin typeface="Arial"/>
              <a:ea typeface="Arial"/>
              <a:cs typeface="Arial"/>
              <a:sym typeface="Arial"/>
            </a:endParaRPr>
          </a:p>
          <a:p>
            <a:pPr marL="342900" marR="0" lvl="0" indent="-342900" algn="just" rtl="0">
              <a:lnSpc>
                <a:spcPct val="150000"/>
              </a:lnSpc>
              <a:spcBef>
                <a:spcPts val="0"/>
              </a:spcBef>
              <a:spcAft>
                <a:spcPts val="0"/>
              </a:spcAft>
              <a:buClr>
                <a:srgbClr val="000000"/>
              </a:buClr>
              <a:buSzPts val="2000"/>
              <a:buFont typeface="Arial"/>
              <a:buChar char="•"/>
            </a:pPr>
            <a:r>
              <a:rPr lang="en-US" sz="2000" b="0" i="0" u="none" strike="noStrike" cap="none" dirty="0">
                <a:solidFill>
                  <a:srgbClr val="273239"/>
                </a:solidFill>
                <a:latin typeface="Times New Roman"/>
                <a:ea typeface="Times New Roman"/>
                <a:cs typeface="Times New Roman"/>
                <a:sym typeface="Times New Roman"/>
              </a:rPr>
              <a:t>In addition, OOD must specify some data organization of attributes and a procedural description of each operation. </a:t>
            </a:r>
            <a:endParaRPr sz="1400" b="0" i="0" u="none" strike="noStrike" cap="none" dirty="0">
              <a:solidFill>
                <a:srgbClr val="000000"/>
              </a:solidFill>
              <a:latin typeface="Arial"/>
              <a:ea typeface="Arial"/>
              <a:cs typeface="Arial"/>
              <a:sym typeface="Arial"/>
            </a:endParaRPr>
          </a:p>
          <a:p>
            <a:pPr marL="342900" marR="0" lvl="0" indent="-342900" algn="just" rtl="0">
              <a:lnSpc>
                <a:spcPct val="150000"/>
              </a:lnSpc>
              <a:spcBef>
                <a:spcPts val="0"/>
              </a:spcBef>
              <a:spcAft>
                <a:spcPts val="0"/>
              </a:spcAft>
              <a:buClr>
                <a:srgbClr val="000000"/>
              </a:buClr>
              <a:buSzPts val="2000"/>
              <a:buFont typeface="Arial"/>
              <a:buChar char="•"/>
            </a:pPr>
            <a:r>
              <a:rPr lang="en-US" sz="2000" b="0" i="0" u="none" strike="noStrike" cap="none" dirty="0">
                <a:solidFill>
                  <a:srgbClr val="273239"/>
                </a:solidFill>
                <a:latin typeface="Times New Roman"/>
                <a:ea typeface="Times New Roman"/>
                <a:cs typeface="Times New Roman"/>
                <a:sym typeface="Times New Roman"/>
              </a:rPr>
              <a:t>It shows a design pyramid for object-oriented systems. It is having the following four layers.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4" name="Google Shape;304;p15"/>
          <p:cNvSpPr txBox="1"/>
          <p:nvPr/>
        </p:nvSpPr>
        <p:spPr>
          <a:xfrm>
            <a:off x="9150" y="274271"/>
            <a:ext cx="5981700"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rgbClr val="000000"/>
                </a:solidFill>
                <a:latin typeface="Times New Roman"/>
                <a:ea typeface="Times New Roman"/>
                <a:cs typeface="Times New Roman"/>
                <a:sym typeface="Times New Roman"/>
              </a:rPr>
              <a:t>Object-Oriented Design</a:t>
            </a:r>
            <a:endParaRPr sz="1400" b="0" i="0" u="none" strike="noStrike" cap="none">
              <a:solidFill>
                <a:srgbClr val="000000"/>
              </a:solidFill>
              <a:latin typeface="Arial"/>
              <a:ea typeface="Arial"/>
              <a:cs typeface="Arial"/>
              <a:sym typeface="Arial"/>
            </a:endParaRPr>
          </a:p>
        </p:txBody>
      </p:sp>
      <p:sp>
        <p:nvSpPr>
          <p:cNvPr id="305" name="Google Shape;305;p15"/>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06" name="Google Shape;306;p15"/>
          <p:cNvSpPr/>
          <p:nvPr/>
        </p:nvSpPr>
        <p:spPr>
          <a:xfrm>
            <a:off x="1701800" y="6122580"/>
            <a:ext cx="5981700" cy="376834"/>
          </a:xfrm>
          <a:prstGeom prst="rect">
            <a:avLst/>
          </a:prstGeom>
          <a:noFill/>
          <a:ln>
            <a:noFill/>
          </a:ln>
        </p:spPr>
        <p:txBody>
          <a:bodyPr spcFirstLastPara="1" wrap="square" lIns="91425" tIns="45700" rIns="91425" bIns="45700" anchor="ctr" anchorCtr="0">
            <a:spAutoFit/>
          </a:bodyPr>
          <a:lstStyle/>
          <a:p>
            <a:pPr marL="0" marR="0" lvl="0" indent="0" algn="ctr" rtl="0">
              <a:lnSpc>
                <a:spcPct val="150000"/>
              </a:lnSpc>
              <a:spcBef>
                <a:spcPts val="0"/>
              </a:spcBef>
              <a:spcAft>
                <a:spcPts val="0"/>
              </a:spcAft>
              <a:buClr>
                <a:srgbClr val="000000"/>
              </a:buClr>
              <a:buSzPts val="1400"/>
              <a:buFont typeface="Arial"/>
              <a:buNone/>
            </a:pPr>
            <a:r>
              <a:rPr lang="en-US" sz="1400" b="1" i="0" u="none" strike="noStrike" cap="none">
                <a:solidFill>
                  <a:srgbClr val="273239"/>
                </a:solidFill>
                <a:latin typeface="Times New Roman"/>
                <a:ea typeface="Times New Roman"/>
                <a:cs typeface="Times New Roman"/>
                <a:sym typeface="Times New Roman"/>
              </a:rPr>
              <a:t>Figure 2: Object-Oriented Design (OOD) Pyramid</a:t>
            </a:r>
            <a:r>
              <a:rPr lang="en-US" sz="1400" b="0" i="0" u="none" strike="noStrike" cap="none">
                <a:solidFill>
                  <a:srgbClr val="273239"/>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pic>
        <p:nvPicPr>
          <p:cNvPr id="307" name="Google Shape;307;p15" descr="Lightbox"/>
          <p:cNvPicPr preferRelativeResize="0"/>
          <p:nvPr/>
        </p:nvPicPr>
        <p:blipFill rotWithShape="1">
          <a:blip r:embed="rId3">
            <a:alphaModFix/>
          </a:blip>
          <a:srcRect b="10789"/>
          <a:stretch/>
        </p:blipFill>
        <p:spPr>
          <a:xfrm>
            <a:off x="1581150" y="895350"/>
            <a:ext cx="5981700" cy="48831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4" name="Google Shape;314;p16"/>
          <p:cNvSpPr txBox="1"/>
          <p:nvPr/>
        </p:nvSpPr>
        <p:spPr>
          <a:xfrm>
            <a:off x="0" y="260196"/>
            <a:ext cx="7069710"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none">
                <a:solidFill>
                  <a:srgbClr val="000000"/>
                </a:solidFill>
                <a:latin typeface="Times New Roman"/>
                <a:ea typeface="Times New Roman"/>
                <a:cs typeface="Times New Roman"/>
                <a:sym typeface="Times New Roman"/>
              </a:rPr>
              <a:t>Object-Oriented Design</a:t>
            </a:r>
            <a:endParaRPr sz="1400" b="0" i="0" u="none" strike="noStrike" cap="none">
              <a:solidFill>
                <a:srgbClr val="000000"/>
              </a:solidFill>
              <a:latin typeface="Arial"/>
              <a:ea typeface="Arial"/>
              <a:cs typeface="Arial"/>
              <a:sym typeface="Arial"/>
            </a:endParaRPr>
          </a:p>
        </p:txBody>
      </p:sp>
      <p:sp>
        <p:nvSpPr>
          <p:cNvPr id="315" name="Google Shape;315;p16"/>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16" name="Google Shape;316;p16"/>
          <p:cNvSpPr txBox="1"/>
          <p:nvPr/>
        </p:nvSpPr>
        <p:spPr>
          <a:xfrm>
            <a:off x="266700" y="871344"/>
            <a:ext cx="8432800" cy="511531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rgbClr val="000000"/>
              </a:buClr>
              <a:buSzPts val="2000"/>
              <a:buFont typeface="Arial"/>
              <a:buAutoNum type="arabicPeriod"/>
            </a:pPr>
            <a:r>
              <a:rPr lang="en-US" sz="2000" b="1" i="0" u="none" strike="noStrike" cap="none">
                <a:solidFill>
                  <a:srgbClr val="273239"/>
                </a:solidFill>
                <a:latin typeface="Times New Roman"/>
                <a:ea typeface="Times New Roman"/>
                <a:cs typeface="Times New Roman"/>
                <a:sym typeface="Times New Roman"/>
              </a:rPr>
              <a:t>The Subsystem Layer :</a:t>
            </a:r>
            <a:r>
              <a:rPr lang="en-US" sz="2000" b="0" i="0" u="none" strike="noStrike" cap="none">
                <a:solidFill>
                  <a:srgbClr val="273239"/>
                </a:solidFill>
                <a:latin typeface="Times New Roman"/>
                <a:ea typeface="Times New Roman"/>
                <a:cs typeface="Times New Roman"/>
                <a:sym typeface="Times New Roman"/>
              </a:rPr>
              <a:t> It represents the subsystem that enables software to achieve user requirements and implement technical frameworks that meet user needs.</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AutoNum type="arabicPeriod"/>
            </a:pPr>
            <a:r>
              <a:rPr lang="en-US" sz="2000" b="1" i="0" u="none" strike="noStrike" cap="none">
                <a:solidFill>
                  <a:srgbClr val="273239"/>
                </a:solidFill>
                <a:latin typeface="Times New Roman"/>
                <a:ea typeface="Times New Roman"/>
                <a:cs typeface="Times New Roman"/>
                <a:sym typeface="Times New Roman"/>
              </a:rPr>
              <a:t>The Class and Object Layer:</a:t>
            </a:r>
            <a:r>
              <a:rPr lang="en-US" sz="2000" b="0" i="0" u="none" strike="noStrike" cap="none">
                <a:solidFill>
                  <a:srgbClr val="273239"/>
                </a:solidFill>
                <a:latin typeface="Times New Roman"/>
                <a:ea typeface="Times New Roman"/>
                <a:cs typeface="Times New Roman"/>
                <a:sym typeface="Times New Roman"/>
              </a:rPr>
              <a:t> It represents the class hierarchies that enable the system to develop using generalization and specialization. This layer also represents each object.</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AutoNum type="arabicPeriod"/>
            </a:pPr>
            <a:r>
              <a:rPr lang="en-US" sz="2000" b="1" i="0" u="none" strike="noStrike" cap="none">
                <a:solidFill>
                  <a:srgbClr val="273239"/>
                </a:solidFill>
                <a:latin typeface="Times New Roman"/>
                <a:ea typeface="Times New Roman"/>
                <a:cs typeface="Times New Roman"/>
                <a:sym typeface="Times New Roman"/>
              </a:rPr>
              <a:t>The Message Layer:</a:t>
            </a:r>
            <a:r>
              <a:rPr lang="en-US" sz="2000" b="0" i="0" u="none" strike="noStrike" cap="none">
                <a:solidFill>
                  <a:srgbClr val="273239"/>
                </a:solidFill>
                <a:latin typeface="Times New Roman"/>
                <a:ea typeface="Times New Roman"/>
                <a:cs typeface="Times New Roman"/>
                <a:sym typeface="Times New Roman"/>
              </a:rPr>
              <a:t> It represents the design details that enable each object to communicate with its partners. It establishes internal and external interfaces for the system.</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AutoNum type="arabicPeriod"/>
            </a:pPr>
            <a:r>
              <a:rPr lang="en-US" sz="2000" b="1" i="0" u="none" strike="noStrike" cap="none">
                <a:solidFill>
                  <a:srgbClr val="273239"/>
                </a:solidFill>
                <a:latin typeface="Times New Roman"/>
                <a:ea typeface="Times New Roman"/>
                <a:cs typeface="Times New Roman"/>
                <a:sym typeface="Times New Roman"/>
              </a:rPr>
              <a:t>The Responsibilities Layer:</a:t>
            </a:r>
            <a:r>
              <a:rPr lang="en-US" sz="2000" b="0" i="0" u="none" strike="noStrike" cap="none">
                <a:solidFill>
                  <a:srgbClr val="273239"/>
                </a:solidFill>
                <a:latin typeface="Times New Roman"/>
                <a:ea typeface="Times New Roman"/>
                <a:cs typeface="Times New Roman"/>
                <a:sym typeface="Times New Roman"/>
              </a:rPr>
              <a:t> It represents the data structure and algorithmic design for all the attributes and operations for each object.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3" name="Google Shape;323;p17"/>
          <p:cNvSpPr txBox="1"/>
          <p:nvPr/>
        </p:nvSpPr>
        <p:spPr>
          <a:xfrm>
            <a:off x="142240" y="41722"/>
            <a:ext cx="7069710"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rgbClr val="273239"/>
                </a:solidFill>
                <a:latin typeface="Times New Roman"/>
                <a:ea typeface="Times New Roman"/>
                <a:cs typeface="Times New Roman"/>
                <a:sym typeface="Times New Roman"/>
              </a:rPr>
              <a:t>Steps to Analyze and Design Object Oriented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rgbClr val="273239"/>
                </a:solidFill>
                <a:latin typeface="Times New Roman"/>
                <a:ea typeface="Times New Roman"/>
                <a:cs typeface="Times New Roman"/>
                <a:sym typeface="Times New Roman"/>
              </a:rPr>
              <a:t>System</a:t>
            </a:r>
            <a:endParaRPr sz="2400" b="0" i="0" u="none" strike="noStrike" cap="none" dirty="0">
              <a:solidFill>
                <a:srgbClr val="000000"/>
              </a:solidFill>
              <a:latin typeface="Arial"/>
              <a:ea typeface="Arial"/>
              <a:cs typeface="Arial"/>
              <a:sym typeface="Arial"/>
            </a:endParaRPr>
          </a:p>
        </p:txBody>
      </p:sp>
      <p:sp>
        <p:nvSpPr>
          <p:cNvPr id="324" name="Google Shape;324;p17"/>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25" name="Google Shape;325;p17" descr="Lightbox"/>
          <p:cNvPicPr preferRelativeResize="0"/>
          <p:nvPr/>
        </p:nvPicPr>
        <p:blipFill rotWithShape="1">
          <a:blip r:embed="rId3">
            <a:alphaModFix/>
          </a:blip>
          <a:srcRect/>
          <a:stretch/>
        </p:blipFill>
        <p:spPr>
          <a:xfrm>
            <a:off x="0" y="947737"/>
            <a:ext cx="9144000" cy="5453063"/>
          </a:xfrm>
          <a:prstGeom prst="rect">
            <a:avLst/>
          </a:prstGeom>
          <a:noFill/>
          <a:ln>
            <a:noFill/>
          </a:ln>
        </p:spPr>
      </p:pic>
      <p:sp>
        <p:nvSpPr>
          <p:cNvPr id="326" name="Google Shape;326;p17"/>
          <p:cNvSpPr txBox="1"/>
          <p:nvPr/>
        </p:nvSpPr>
        <p:spPr>
          <a:xfrm>
            <a:off x="1221295" y="6379925"/>
            <a:ext cx="578701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273239"/>
                </a:solidFill>
                <a:latin typeface="Times New Roman"/>
                <a:ea typeface="Times New Roman"/>
                <a:cs typeface="Times New Roman"/>
                <a:sym typeface="Times New Roman"/>
              </a:rPr>
              <a:t>Figure 3: Steps/Stages in the analysis and design of an object-oriented system</a:t>
            </a: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3" name="Google Shape;333;p18"/>
          <p:cNvSpPr txBox="1"/>
          <p:nvPr/>
        </p:nvSpPr>
        <p:spPr>
          <a:xfrm>
            <a:off x="114300" y="0"/>
            <a:ext cx="7069710"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273239"/>
                </a:solidFill>
                <a:latin typeface="Times New Roman"/>
                <a:ea typeface="Times New Roman"/>
                <a:cs typeface="Times New Roman"/>
                <a:sym typeface="Times New Roman"/>
              </a:rPr>
              <a:t>Steps to Analyze and Design Object Oriented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273239"/>
                </a:solidFill>
                <a:latin typeface="Times New Roman"/>
                <a:ea typeface="Times New Roman"/>
                <a:cs typeface="Times New Roman"/>
                <a:sym typeface="Times New Roman"/>
              </a:rPr>
              <a:t> System</a:t>
            </a:r>
            <a:endParaRPr sz="2400" b="0" i="0" u="none" strike="noStrike" cap="none">
              <a:solidFill>
                <a:srgbClr val="000000"/>
              </a:solidFill>
              <a:latin typeface="Arial"/>
              <a:ea typeface="Arial"/>
              <a:cs typeface="Arial"/>
              <a:sym typeface="Arial"/>
            </a:endParaRPr>
          </a:p>
        </p:txBody>
      </p:sp>
      <p:sp>
        <p:nvSpPr>
          <p:cNvPr id="334" name="Google Shape;334;p18"/>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35" name="Google Shape;335;p18"/>
          <p:cNvSpPr txBox="1"/>
          <p:nvPr/>
        </p:nvSpPr>
        <p:spPr>
          <a:xfrm>
            <a:off x="114300" y="998611"/>
            <a:ext cx="8915400" cy="56337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US" sz="2000" b="0" i="0" u="none" strike="noStrike" cap="none">
                <a:solidFill>
                  <a:srgbClr val="273239"/>
                </a:solidFill>
                <a:latin typeface="Times New Roman"/>
                <a:ea typeface="Times New Roman"/>
                <a:cs typeface="Times New Roman"/>
                <a:sym typeface="Times New Roman"/>
              </a:rPr>
              <a:t>There are various steps/stages in the analysis and design of an object-oriented system as given in below figure :</a:t>
            </a:r>
            <a:endParaRPr sz="2000" b="0" i="0" u="none" strike="noStrike" cap="none">
              <a:solidFill>
                <a:srgbClr val="273239"/>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Clr>
                <a:srgbClr val="000000"/>
              </a:buClr>
              <a:buSzPts val="2000"/>
              <a:buFont typeface="Arial"/>
              <a:buNone/>
            </a:pPr>
            <a:endParaRPr sz="2000" b="0" i="0" u="none" strike="noStrike" cap="none">
              <a:solidFill>
                <a:srgbClr val="273239"/>
              </a:solidFill>
              <a:latin typeface="Times New Roman"/>
              <a:ea typeface="Times New Roman"/>
              <a:cs typeface="Times New Roman"/>
              <a:sym typeface="Times New Roman"/>
            </a:endParaRPr>
          </a:p>
          <a:p>
            <a:pPr marL="0" marR="0" lvl="0" indent="-127000" algn="just" rtl="0">
              <a:lnSpc>
                <a:spcPct val="150000"/>
              </a:lnSpc>
              <a:spcBef>
                <a:spcPts val="0"/>
              </a:spcBef>
              <a:spcAft>
                <a:spcPts val="0"/>
              </a:spcAft>
              <a:buClr>
                <a:srgbClr val="000000"/>
              </a:buClr>
              <a:buSzPts val="2000"/>
              <a:buFont typeface="Arial"/>
              <a:buAutoNum type="arabicPeriod"/>
            </a:pPr>
            <a:r>
              <a:rPr lang="en-US" sz="2000" b="1" i="0" u="none" strike="noStrike" cap="none">
                <a:solidFill>
                  <a:srgbClr val="273239"/>
                </a:solidFill>
                <a:latin typeface="Times New Roman"/>
                <a:ea typeface="Times New Roman"/>
                <a:cs typeface="Times New Roman"/>
                <a:sym typeface="Times New Roman"/>
              </a:rPr>
              <a:t> Create a Use case model :</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None/>
            </a:pPr>
            <a:r>
              <a:rPr lang="en-US" sz="2000" b="0" i="0" u="none" strike="noStrike" cap="none">
                <a:solidFill>
                  <a:srgbClr val="273239"/>
                </a:solidFill>
                <a:latin typeface="Times New Roman"/>
                <a:ea typeface="Times New Roman"/>
                <a:cs typeface="Times New Roman"/>
                <a:sym typeface="Times New Roman"/>
              </a:rPr>
              <a:t>The first step in the analysis and design of an object-oriented system is to recognize the actors interlinked with the system. After that, create the use case and draw the use case diagram.</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None/>
            </a:pPr>
            <a:r>
              <a:rPr lang="en-US" sz="2000" b="0" i="0" u="none" strike="noStrike" cap="none">
                <a:solidFill>
                  <a:srgbClr val="273239"/>
                </a:solidFill>
                <a:latin typeface="Times New Roman"/>
                <a:ea typeface="Times New Roman"/>
                <a:cs typeface="Times New Roman"/>
                <a:sym typeface="Times New Roman"/>
              </a:rPr>
              <a:t>2. </a:t>
            </a:r>
            <a:r>
              <a:rPr lang="en-US" sz="2000" b="1" i="0" u="none" strike="noStrike" cap="none">
                <a:solidFill>
                  <a:srgbClr val="273239"/>
                </a:solidFill>
                <a:latin typeface="Times New Roman"/>
                <a:ea typeface="Times New Roman"/>
                <a:cs typeface="Times New Roman"/>
                <a:sym typeface="Times New Roman"/>
              </a:rPr>
              <a:t>Draw activity diagram (If required) :</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None/>
            </a:pPr>
            <a:r>
              <a:rPr lang="en-US" sz="2000" b="0" i="0" u="none" strike="noStrike" cap="none">
                <a:solidFill>
                  <a:srgbClr val="273239"/>
                </a:solidFill>
                <a:latin typeface="Times New Roman"/>
                <a:ea typeface="Times New Roman"/>
                <a:cs typeface="Times New Roman"/>
                <a:sym typeface="Times New Roman"/>
              </a:rPr>
              <a:t> The activity diagram demonstrates the dynamic nature of a system by creating the flow of control form activity. An activity addresses a procedure on some class in the framework that outcomes in an adjustment of the condition of the system. The below figure shows the activity graph handling a request to convey a few products.</a:t>
            </a:r>
            <a:br>
              <a:rPr lang="en-US" sz="2000" b="0" i="0" u="none" strike="noStrike" cap="none">
                <a:solidFill>
                  <a:srgbClr val="273239"/>
                </a:solidFill>
                <a:latin typeface="Times New Roman"/>
                <a:ea typeface="Times New Roman"/>
                <a:cs typeface="Times New Roman"/>
                <a:sym typeface="Times New Roman"/>
              </a:rPr>
            </a:br>
            <a:r>
              <a:rPr lang="en-US" sz="2000" b="0" i="0" u="none" strike="noStrike" cap="none">
                <a:solidFill>
                  <a:srgbClr val="273239"/>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2" name="Google Shape;342;p19"/>
          <p:cNvSpPr txBox="1"/>
          <p:nvPr/>
        </p:nvSpPr>
        <p:spPr>
          <a:xfrm>
            <a:off x="152400" y="62110"/>
            <a:ext cx="7069710"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rgbClr val="273239"/>
                </a:solidFill>
                <a:latin typeface="Times New Roman"/>
                <a:ea typeface="Times New Roman"/>
                <a:cs typeface="Times New Roman"/>
                <a:sym typeface="Times New Roman"/>
              </a:rPr>
              <a:t>Steps to Analyze and Design Object Oriented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rgbClr val="273239"/>
                </a:solidFill>
                <a:latin typeface="Times New Roman"/>
                <a:ea typeface="Times New Roman"/>
                <a:cs typeface="Times New Roman"/>
                <a:sym typeface="Times New Roman"/>
              </a:rPr>
              <a:t>System (cont.)</a:t>
            </a:r>
            <a:endParaRPr sz="2400" b="0" i="0" u="none" strike="noStrike" cap="none" dirty="0">
              <a:solidFill>
                <a:srgbClr val="000000"/>
              </a:solidFill>
              <a:latin typeface="Arial"/>
              <a:ea typeface="Arial"/>
              <a:cs typeface="Arial"/>
              <a:sym typeface="Arial"/>
            </a:endParaRPr>
          </a:p>
        </p:txBody>
      </p:sp>
      <p:sp>
        <p:nvSpPr>
          <p:cNvPr id="343" name="Google Shape;343;p19"/>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44" name="Google Shape;344;p19"/>
          <p:cNvSpPr txBox="1"/>
          <p:nvPr/>
        </p:nvSpPr>
        <p:spPr>
          <a:xfrm>
            <a:off x="524850" y="3429000"/>
            <a:ext cx="8466600" cy="2308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273239"/>
                </a:solidFill>
                <a:latin typeface="Times New Roman"/>
                <a:ea typeface="Times New Roman"/>
                <a:cs typeface="Times New Roman"/>
                <a:sym typeface="Times New Roman"/>
              </a:rPr>
              <a:t>Steps for drawing interaction diagrams :</a:t>
            </a:r>
            <a:endParaRPr sz="2000" b="1" i="0" u="none" strike="noStrike" cap="none">
              <a:solidFill>
                <a:srgbClr val="273239"/>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2000" b="0" i="0" u="none" strike="noStrike" cap="none">
              <a:solidFill>
                <a:srgbClr val="273239"/>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Clr>
                <a:srgbClr val="000000"/>
              </a:buClr>
              <a:buSzPts val="2000"/>
              <a:buFont typeface="Arial"/>
              <a:buChar char="•"/>
            </a:pPr>
            <a:r>
              <a:rPr lang="en-US" sz="2000" b="0" i="0" u="none" strike="noStrike" cap="none">
                <a:solidFill>
                  <a:srgbClr val="273239"/>
                </a:solidFill>
                <a:latin typeface="Times New Roman"/>
                <a:ea typeface="Times New Roman"/>
                <a:cs typeface="Times New Roman"/>
                <a:sym typeface="Times New Roman"/>
              </a:rPr>
              <a:t>Initially, we ought to distinguish that the objects as for each use case.</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Char char="•"/>
            </a:pPr>
            <a:r>
              <a:rPr lang="en-US" sz="2000" b="0" i="0" u="none" strike="noStrike" cap="none">
                <a:solidFill>
                  <a:srgbClr val="273239"/>
                </a:solidFill>
                <a:latin typeface="Times New Roman"/>
                <a:ea typeface="Times New Roman"/>
                <a:cs typeface="Times New Roman"/>
                <a:sym typeface="Times New Roman"/>
              </a:rPr>
              <a:t>Then we draw the sequence diagrams for each use case.</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rgbClr val="000000"/>
              </a:buClr>
              <a:buSzPts val="2000"/>
              <a:buFont typeface="Arial"/>
              <a:buChar char="•"/>
            </a:pPr>
            <a:r>
              <a:rPr lang="en-US" sz="2000" b="0" i="0" u="none" strike="noStrike" cap="none">
                <a:solidFill>
                  <a:srgbClr val="273239"/>
                </a:solidFill>
                <a:latin typeface="Times New Roman"/>
                <a:ea typeface="Times New Roman"/>
                <a:cs typeface="Times New Roman"/>
                <a:sym typeface="Times New Roman"/>
              </a:rPr>
              <a:t>Then we draw the collaboration diagrams for each use case.</a:t>
            </a:r>
            <a:endParaRPr sz="2000" b="0" i="0" u="none" strike="noStrike" cap="none">
              <a:solidFill>
                <a:srgbClr val="273239"/>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p19"/>
          <p:cNvSpPr txBox="1"/>
          <p:nvPr/>
        </p:nvSpPr>
        <p:spPr>
          <a:xfrm>
            <a:off x="223200" y="1452075"/>
            <a:ext cx="8006400" cy="17238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273239"/>
                </a:solidFill>
                <a:latin typeface="Times New Roman"/>
                <a:ea typeface="Times New Roman"/>
                <a:cs typeface="Times New Roman"/>
                <a:sym typeface="Times New Roman"/>
              </a:rPr>
              <a:t>3. Draw the interaction diagram :</a:t>
            </a:r>
            <a:r>
              <a:rPr lang="en-US" sz="2000" b="0" i="0" u="none" strike="noStrike" cap="none">
                <a:solidFill>
                  <a:srgbClr val="273239"/>
                </a:solidFill>
                <a:latin typeface="Times New Roman"/>
                <a:ea typeface="Times New Roman"/>
                <a:cs typeface="Times New Roman"/>
                <a:sym typeface="Times New Roman"/>
              </a:rPr>
              <a:t> </a:t>
            </a:r>
            <a:endParaRPr sz="14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None/>
            </a:pPr>
            <a:r>
              <a:rPr lang="en-US" sz="2000" b="0" i="0" u="none" strike="noStrike" cap="none">
                <a:solidFill>
                  <a:srgbClr val="273239"/>
                </a:solidFill>
                <a:latin typeface="Times New Roman"/>
                <a:ea typeface="Times New Roman"/>
                <a:cs typeface="Times New Roman"/>
                <a:sym typeface="Times New Roman"/>
              </a:rPr>
              <a:t>An interaction diagram shows a collaboration comprising a bunch of articles and their relationship, including the messages that might be dispatched among them. Interaction diagram address the unique perspective on a system.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g26d91322fbf_0_0"/>
          <p:cNvSpPr txBox="1"/>
          <p:nvPr/>
        </p:nvSpPr>
        <p:spPr>
          <a:xfrm>
            <a:off x="210400" y="916491"/>
            <a:ext cx="8839200" cy="5017800"/>
          </a:xfrm>
          <a:prstGeom prst="rect">
            <a:avLst/>
          </a:prstGeom>
          <a:noFill/>
          <a:ln>
            <a:noFill/>
          </a:ln>
        </p:spPr>
        <p:txBody>
          <a:bodyPr spcFirstLastPara="1" wrap="square" lIns="91425" tIns="45700" rIns="91425" bIns="45700" anchor="t" anchorCtr="0">
            <a:spAutoFit/>
          </a:bodyPr>
          <a:lstStyle/>
          <a:p>
            <a:pPr marL="457200" marR="0" lvl="0" indent="0" algn="just" rtl="0">
              <a:lnSpc>
                <a:spcPct val="100000"/>
              </a:lnSpc>
              <a:spcBef>
                <a:spcPts val="0"/>
              </a:spcBef>
              <a:spcAft>
                <a:spcPts val="0"/>
              </a:spcAft>
              <a:buClr>
                <a:srgbClr val="000000"/>
              </a:buClr>
              <a:buSzPts val="2000"/>
              <a:buFont typeface="Arial"/>
              <a:buNone/>
            </a:pPr>
            <a:endParaRPr sz="2000" b="0" i="0" u="none" strike="noStrike" cap="none">
              <a:solidFill>
                <a:srgbClr val="273239"/>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273239"/>
                </a:solidFill>
                <a:latin typeface="Times New Roman"/>
                <a:ea typeface="Times New Roman"/>
                <a:cs typeface="Times New Roman"/>
                <a:sym typeface="Times New Roman"/>
              </a:rPr>
              <a:t>4. Draw the class diagram :</a:t>
            </a:r>
            <a:r>
              <a:rPr lang="en-US" sz="2000" b="0" i="0" u="none" strike="noStrike" cap="none">
                <a:solidFill>
                  <a:srgbClr val="273239"/>
                </a:solidFill>
                <a:latin typeface="Times New Roman"/>
                <a:ea typeface="Times New Roman"/>
                <a:cs typeface="Times New Roman"/>
                <a:sym typeface="Times New Roman"/>
              </a:rPr>
              <a:t> The class diagram is responsible for showing the relationship between the classes. There are four types of relationships available:</a:t>
            </a:r>
            <a:endParaRPr sz="2000" b="0" i="0" u="none" strike="noStrike" cap="none">
              <a:solidFill>
                <a:srgbClr val="273239"/>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2000" b="0" i="0" u="none" strike="noStrike" cap="none">
              <a:solidFill>
                <a:srgbClr val="273239"/>
              </a:solidFill>
              <a:latin typeface="Times New Roman"/>
              <a:ea typeface="Times New Roman"/>
              <a:cs typeface="Times New Roman"/>
              <a:sym typeface="Times New Roman"/>
            </a:endParaRPr>
          </a:p>
          <a:p>
            <a:pPr marL="342900" marR="0" lvl="0" indent="-342900" algn="l" rtl="0">
              <a:lnSpc>
                <a:spcPct val="100000"/>
              </a:lnSpc>
              <a:spcBef>
                <a:spcPts val="0"/>
              </a:spcBef>
              <a:spcAft>
                <a:spcPts val="0"/>
              </a:spcAft>
              <a:buClr>
                <a:srgbClr val="000000"/>
              </a:buClr>
              <a:buSzPts val="2000"/>
              <a:buFont typeface="Arial"/>
              <a:buChar char="•"/>
            </a:pPr>
            <a:r>
              <a:rPr lang="en-US" sz="2000" b="1" i="0" u="none" strike="noStrike" cap="none">
                <a:solidFill>
                  <a:srgbClr val="273239"/>
                </a:solidFill>
                <a:latin typeface="Times New Roman"/>
                <a:ea typeface="Times New Roman"/>
                <a:cs typeface="Times New Roman"/>
                <a:sym typeface="Times New Roman"/>
              </a:rPr>
              <a:t>Association–</a:t>
            </a:r>
            <a:br>
              <a:rPr lang="en-US" sz="2000" b="0" i="0" u="none" strike="noStrike" cap="none">
                <a:solidFill>
                  <a:srgbClr val="273239"/>
                </a:solidFill>
                <a:latin typeface="Times New Roman"/>
                <a:ea typeface="Times New Roman"/>
                <a:cs typeface="Times New Roman"/>
                <a:sym typeface="Times New Roman"/>
              </a:rPr>
            </a:br>
            <a:r>
              <a:rPr lang="en-US" sz="2000" b="0" i="0" u="none" strike="noStrike" cap="none">
                <a:solidFill>
                  <a:srgbClr val="273239"/>
                </a:solidFill>
                <a:latin typeface="Times New Roman"/>
                <a:ea typeface="Times New Roman"/>
                <a:cs typeface="Times New Roman"/>
                <a:sym typeface="Times New Roman"/>
              </a:rPr>
              <a:t>It is a semantic connection between classes. At the point when an association associates two classes, each class can send messages to the next in sequence or a collaboration diagram. They may be bi-directional or unidirectional in nature.</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000"/>
              <a:buFont typeface="Arial"/>
              <a:buChar char="•"/>
            </a:pPr>
            <a:r>
              <a:rPr lang="en-US" sz="2000" b="1" i="0" u="none" strike="noStrike" cap="none">
                <a:solidFill>
                  <a:srgbClr val="273239"/>
                </a:solidFill>
                <a:latin typeface="Times New Roman"/>
                <a:ea typeface="Times New Roman"/>
                <a:cs typeface="Times New Roman"/>
                <a:sym typeface="Times New Roman"/>
              </a:rPr>
              <a:t>Dependencies–</a:t>
            </a:r>
            <a:endParaRPr sz="2000" b="1" i="0" u="none" strike="noStrike" cap="none">
              <a:solidFill>
                <a:srgbClr val="273239"/>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73239"/>
                </a:solidFill>
                <a:latin typeface="Times New Roman"/>
                <a:ea typeface="Times New Roman"/>
                <a:cs typeface="Times New Roman"/>
                <a:sym typeface="Times New Roman"/>
              </a:rPr>
              <a:t>They connect two classes and are always unidirectional in nature and display that one class, depends on the definitions of another class.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000"/>
              <a:buFont typeface="Arial"/>
              <a:buChar char="•"/>
            </a:pPr>
            <a:r>
              <a:rPr lang="en-US" sz="2000" b="1" i="0" u="none" strike="noStrike" cap="none">
                <a:solidFill>
                  <a:srgbClr val="273239"/>
                </a:solidFill>
                <a:latin typeface="Times New Roman"/>
                <a:ea typeface="Times New Roman"/>
                <a:cs typeface="Times New Roman"/>
                <a:sym typeface="Times New Roman"/>
              </a:rPr>
              <a:t>Aggregations–</a:t>
            </a:r>
            <a:endParaRPr sz="2000" b="1" i="0" u="none" strike="noStrike" cap="none">
              <a:solidFill>
                <a:srgbClr val="273239"/>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73239"/>
                </a:solidFill>
                <a:latin typeface="Times New Roman"/>
                <a:ea typeface="Times New Roman"/>
                <a:cs typeface="Times New Roman"/>
                <a:sym typeface="Times New Roman"/>
              </a:rPr>
              <a:t>They are a stronger form of association that shows the relationship between a whole and its parts.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000"/>
              <a:buFont typeface="Arial"/>
              <a:buChar char="•"/>
            </a:pPr>
            <a:r>
              <a:rPr lang="en-US" sz="2000" b="1" i="0" u="none" strike="noStrike" cap="none">
                <a:solidFill>
                  <a:srgbClr val="273239"/>
                </a:solidFill>
                <a:latin typeface="Times New Roman"/>
                <a:ea typeface="Times New Roman"/>
                <a:cs typeface="Times New Roman"/>
                <a:sym typeface="Times New Roman"/>
              </a:rPr>
              <a:t>Generalizations–</a:t>
            </a:r>
            <a:endParaRPr sz="2000" b="1" i="0" u="none" strike="noStrike" cap="none">
              <a:solidFill>
                <a:srgbClr val="273239"/>
              </a:solidFill>
              <a:latin typeface="Times New Roman"/>
              <a:ea typeface="Times New Roman"/>
              <a:cs typeface="Times New Roman"/>
              <a:sym typeface="Times New Roman"/>
            </a:endParaRPr>
          </a:p>
          <a:p>
            <a:pPr marL="45720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273239"/>
                </a:solidFill>
                <a:latin typeface="Times New Roman"/>
                <a:ea typeface="Times New Roman"/>
                <a:cs typeface="Times New Roman"/>
                <a:sym typeface="Times New Roman"/>
              </a:rPr>
              <a:t>They are used to display an inheritance relationship between the two classes.</a:t>
            </a:r>
            <a:endParaRPr sz="1400" b="0" i="0" u="none" strike="noStrike" cap="none">
              <a:solidFill>
                <a:srgbClr val="000000"/>
              </a:solidFill>
              <a:latin typeface="Arial"/>
              <a:ea typeface="Arial"/>
              <a:cs typeface="Arial"/>
              <a:sym typeface="Arial"/>
            </a:endParaRPr>
          </a:p>
        </p:txBody>
      </p:sp>
      <p:sp>
        <p:nvSpPr>
          <p:cNvPr id="352" name="Google Shape;352;g26d91322fbf_0_0"/>
          <p:cNvSpPr txBox="1"/>
          <p:nvPr/>
        </p:nvSpPr>
        <p:spPr>
          <a:xfrm>
            <a:off x="114300" y="0"/>
            <a:ext cx="70698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273239"/>
                </a:solidFill>
                <a:latin typeface="Times New Roman"/>
                <a:ea typeface="Times New Roman"/>
                <a:cs typeface="Times New Roman"/>
                <a:sym typeface="Times New Roman"/>
              </a:rPr>
              <a:t>Steps to Analyze and Design Object Oriented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273239"/>
                </a:solidFill>
                <a:latin typeface="Times New Roman"/>
                <a:ea typeface="Times New Roman"/>
                <a:cs typeface="Times New Roman"/>
                <a:sym typeface="Times New Roman"/>
              </a:rPr>
              <a:t> System</a:t>
            </a: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9" name="Google Shape;359;p20"/>
          <p:cNvSpPr txBox="1"/>
          <p:nvPr/>
        </p:nvSpPr>
        <p:spPr>
          <a:xfrm>
            <a:off x="0" y="0"/>
            <a:ext cx="7069710" cy="8309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rgbClr val="273239"/>
                </a:solidFill>
                <a:latin typeface="Times New Roman"/>
                <a:ea typeface="Times New Roman"/>
                <a:cs typeface="Times New Roman"/>
                <a:sym typeface="Times New Roman"/>
              </a:rPr>
              <a:t>Steps to Analyze and Design Object Oriented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rgbClr val="273239"/>
                </a:solidFill>
                <a:latin typeface="Times New Roman"/>
                <a:ea typeface="Times New Roman"/>
                <a:cs typeface="Times New Roman"/>
                <a:sym typeface="Times New Roman"/>
              </a:rPr>
              <a:t>System</a:t>
            </a:r>
            <a:endParaRPr sz="2400" b="0" i="0" u="none" strike="noStrike" cap="none" dirty="0">
              <a:solidFill>
                <a:srgbClr val="000000"/>
              </a:solidFill>
              <a:latin typeface="Arial"/>
              <a:ea typeface="Arial"/>
              <a:cs typeface="Arial"/>
              <a:sym typeface="Arial"/>
            </a:endParaRPr>
          </a:p>
        </p:txBody>
      </p:sp>
      <p:sp>
        <p:nvSpPr>
          <p:cNvPr id="360" name="Google Shape;360;p20"/>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61" name="Google Shape;361;p20"/>
          <p:cNvSpPr txBox="1"/>
          <p:nvPr/>
        </p:nvSpPr>
        <p:spPr>
          <a:xfrm>
            <a:off x="0" y="893066"/>
            <a:ext cx="9144000" cy="1631216"/>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273239"/>
                </a:solidFill>
                <a:latin typeface="Times New Roman"/>
                <a:ea typeface="Times New Roman"/>
                <a:cs typeface="Times New Roman"/>
                <a:sym typeface="Times New Roman"/>
              </a:rPr>
              <a:t>5. Design of State chart diagrams :</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None/>
            </a:pPr>
            <a:r>
              <a:rPr lang="en-US" sz="2000" b="0" i="0" u="none" strike="noStrike" cap="none">
                <a:solidFill>
                  <a:srgbClr val="273239"/>
                </a:solidFill>
                <a:latin typeface="Times New Roman"/>
                <a:ea typeface="Times New Roman"/>
                <a:cs typeface="Times New Roman"/>
                <a:sym typeface="Times New Roman"/>
              </a:rPr>
              <a:t>A state chart is utilized to show the state space of a given class, the occasion that influences progress starting with one state then onto the next, and the activity that outcome from a state change. A state change graph for a “book” in the library management system is shown below :</a:t>
            </a:r>
            <a:endParaRPr sz="1400" b="0" i="0" u="none" strike="noStrike" cap="none">
              <a:solidFill>
                <a:srgbClr val="000000"/>
              </a:solidFill>
              <a:latin typeface="Arial"/>
              <a:ea typeface="Arial"/>
              <a:cs typeface="Arial"/>
              <a:sym typeface="Arial"/>
            </a:endParaRPr>
          </a:p>
        </p:txBody>
      </p:sp>
      <p:pic>
        <p:nvPicPr>
          <p:cNvPr id="362" name="Google Shape;362;p20" descr="Lightbox"/>
          <p:cNvPicPr preferRelativeResize="0"/>
          <p:nvPr/>
        </p:nvPicPr>
        <p:blipFill rotWithShape="1">
          <a:blip r:embed="rId3">
            <a:alphaModFix/>
          </a:blip>
          <a:srcRect t="4365"/>
          <a:stretch/>
        </p:blipFill>
        <p:spPr>
          <a:xfrm>
            <a:off x="219075" y="2524282"/>
            <a:ext cx="8102600" cy="2568418"/>
          </a:xfrm>
          <a:prstGeom prst="rect">
            <a:avLst/>
          </a:prstGeom>
          <a:noFill/>
          <a:ln>
            <a:noFill/>
          </a:ln>
        </p:spPr>
      </p:pic>
      <p:sp>
        <p:nvSpPr>
          <p:cNvPr id="363" name="Google Shape;363;p20"/>
          <p:cNvSpPr txBox="1"/>
          <p:nvPr/>
        </p:nvSpPr>
        <p:spPr>
          <a:xfrm>
            <a:off x="1902331" y="4845309"/>
            <a:ext cx="578701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273239"/>
                </a:solidFill>
                <a:latin typeface="Times New Roman"/>
                <a:ea typeface="Times New Roman"/>
                <a:cs typeface="Times New Roman"/>
                <a:sym typeface="Times New Roman"/>
              </a:rPr>
              <a:t>Figure 4: State Change Graph Example</a:t>
            </a:r>
            <a:endParaRPr sz="1400" b="0" i="0" u="none" strike="noStrike" cap="none">
              <a:solidFill>
                <a:srgbClr val="000000"/>
              </a:solidFill>
              <a:latin typeface="Times New Roman"/>
              <a:ea typeface="Times New Roman"/>
              <a:cs typeface="Times New Roman"/>
              <a:sym typeface="Times New Roman"/>
            </a:endParaRPr>
          </a:p>
        </p:txBody>
      </p:sp>
      <p:sp>
        <p:nvSpPr>
          <p:cNvPr id="364" name="Google Shape;364;p20"/>
          <p:cNvSpPr txBox="1"/>
          <p:nvPr/>
        </p:nvSpPr>
        <p:spPr>
          <a:xfrm>
            <a:off x="219074" y="5272436"/>
            <a:ext cx="8797925" cy="132343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US" sz="2000" b="0" i="0" u="none" strike="noStrike" cap="none">
                <a:solidFill>
                  <a:srgbClr val="273239"/>
                </a:solidFill>
                <a:latin typeface="Times New Roman"/>
                <a:ea typeface="Times New Roman"/>
                <a:cs typeface="Times New Roman"/>
                <a:sym typeface="Times New Roman"/>
              </a:rPr>
              <a:t>6. </a:t>
            </a:r>
            <a:r>
              <a:rPr lang="en-US" sz="2000" b="1" i="0" u="none" strike="noStrike" cap="none">
                <a:solidFill>
                  <a:srgbClr val="273239"/>
                </a:solidFill>
                <a:latin typeface="Times New Roman"/>
                <a:ea typeface="Times New Roman"/>
                <a:cs typeface="Times New Roman"/>
                <a:sym typeface="Times New Roman"/>
              </a:rPr>
              <a:t>Draw component and development diagram :</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None/>
            </a:pPr>
            <a:r>
              <a:rPr lang="en-US" sz="2000" b="0" i="0" u="none" strike="noStrike" cap="none">
                <a:solidFill>
                  <a:srgbClr val="273239"/>
                </a:solidFill>
                <a:latin typeface="Times New Roman"/>
                <a:ea typeface="Times New Roman"/>
                <a:cs typeface="Times New Roman"/>
                <a:sym typeface="Times New Roman"/>
              </a:rPr>
              <a:t>These diagrams address the static execution perspective on a system that are identified with class diagrams in that a segment ordinarily guides to at least one class, interface, or coordinated effort.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6"/>
          <p:cNvSpPr txBox="1"/>
          <p:nvPr/>
        </p:nvSpPr>
        <p:spPr>
          <a:xfrm>
            <a:off x="-84110" y="189522"/>
            <a:ext cx="70698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a:solidFill>
                  <a:srgbClr val="000000"/>
                </a:solidFill>
                <a:latin typeface="Times New Roman"/>
                <a:ea typeface="Times New Roman"/>
                <a:cs typeface="Times New Roman"/>
                <a:sym typeface="Times New Roman"/>
              </a:rPr>
              <a:t>Testing Techniques</a:t>
            </a:r>
            <a:endParaRPr sz="1400" b="0" i="0" u="none" strike="noStrike" cap="none" dirty="0">
              <a:solidFill>
                <a:srgbClr val="000000"/>
              </a:solidFill>
              <a:latin typeface="Arial"/>
              <a:ea typeface="Arial"/>
              <a:cs typeface="Arial"/>
              <a:sym typeface="Arial"/>
            </a:endParaRPr>
          </a:p>
        </p:txBody>
      </p:sp>
      <p:sp>
        <p:nvSpPr>
          <p:cNvPr id="116" name="Google Shape;116;p6"/>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 name="Google Shape;117;p6"/>
          <p:cNvSpPr/>
          <p:nvPr/>
        </p:nvSpPr>
        <p:spPr>
          <a:xfrm>
            <a:off x="296500" y="1073538"/>
            <a:ext cx="8661300" cy="3324000"/>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None/>
            </a:pPr>
            <a:r>
              <a:rPr lang="en-US" sz="2200" b="1" i="0" u="none" strike="noStrike" cap="none">
                <a:solidFill>
                  <a:srgbClr val="273239"/>
                </a:solidFill>
                <a:latin typeface="Times New Roman"/>
                <a:ea typeface="Times New Roman"/>
                <a:cs typeface="Times New Roman"/>
                <a:sym typeface="Times New Roman"/>
              </a:rPr>
              <a:t>Fault Based Testing:</a:t>
            </a:r>
            <a:r>
              <a:rPr lang="en-US" sz="2200" b="0" i="0" u="none" strike="noStrike" cap="none">
                <a:solidFill>
                  <a:srgbClr val="273239"/>
                </a:solidFill>
                <a:latin typeface="Times New Roman"/>
                <a:ea typeface="Times New Roman"/>
                <a:cs typeface="Times New Roman"/>
                <a:sym typeface="Times New Roman"/>
              </a:rPr>
              <a:t> </a:t>
            </a:r>
            <a:endParaRPr sz="2200" b="0" i="0" u="none" strike="noStrike" cap="none">
              <a:solidFill>
                <a:srgbClr val="273239"/>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endParaRPr sz="2000">
              <a:solidFill>
                <a:srgbClr val="273239"/>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800"/>
              <a:buFont typeface="Arial"/>
              <a:buChar char="•"/>
            </a:pPr>
            <a:r>
              <a:rPr lang="en-US" sz="2000" b="0" i="0" u="none" strike="noStrike" cap="none">
                <a:solidFill>
                  <a:srgbClr val="273239"/>
                </a:solidFill>
                <a:latin typeface="Times New Roman"/>
                <a:ea typeface="Times New Roman"/>
                <a:cs typeface="Times New Roman"/>
                <a:sym typeface="Times New Roman"/>
              </a:rPr>
              <a:t>This checking permits for coming up with test cases supported the consumer specification or the code or both. It tries to identify possible faults (areas of design or code that may lead to errors.). </a:t>
            </a:r>
            <a:endParaRPr sz="2000" b="0"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800"/>
              <a:buFont typeface="Arial"/>
              <a:buChar char="•"/>
            </a:pPr>
            <a:r>
              <a:rPr lang="en-US" sz="2000" b="0" i="0" u="none" strike="noStrike" cap="none">
                <a:solidFill>
                  <a:srgbClr val="273239"/>
                </a:solidFill>
                <a:latin typeface="Times New Roman"/>
                <a:ea typeface="Times New Roman"/>
                <a:cs typeface="Times New Roman"/>
                <a:sym typeface="Times New Roman"/>
              </a:rPr>
              <a:t>For all of these faults, a test case is developed to “flush” the errors out. </a:t>
            </a:r>
            <a:endParaRPr sz="2000" b="0"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800"/>
              <a:buFont typeface="Arial"/>
              <a:buChar char="•"/>
            </a:pPr>
            <a:r>
              <a:rPr lang="en-US" sz="2000" b="0" i="0" u="none" strike="noStrike" cap="none">
                <a:solidFill>
                  <a:srgbClr val="273239"/>
                </a:solidFill>
                <a:latin typeface="Times New Roman"/>
                <a:ea typeface="Times New Roman"/>
                <a:cs typeface="Times New Roman"/>
                <a:sym typeface="Times New Roman"/>
              </a:rPr>
              <a:t>These tests also force each time of code to be executed. </a:t>
            </a:r>
            <a:endParaRPr sz="2000" b="0"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800"/>
              <a:buFont typeface="Arial"/>
              <a:buChar char="•"/>
            </a:pPr>
            <a:r>
              <a:rPr lang="en-US" sz="2000" b="0" i="0" u="none" strike="noStrike" cap="none">
                <a:solidFill>
                  <a:srgbClr val="273239"/>
                </a:solidFill>
                <a:latin typeface="Times New Roman"/>
                <a:ea typeface="Times New Roman"/>
                <a:cs typeface="Times New Roman"/>
                <a:sym typeface="Times New Roman"/>
              </a:rPr>
              <a:t>This method of testing does not find all types of errors. </a:t>
            </a:r>
            <a:endParaRPr sz="20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77803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7"/>
          <p:cNvSpPr txBox="1"/>
          <p:nvPr/>
        </p:nvSpPr>
        <p:spPr>
          <a:xfrm>
            <a:off x="-84110" y="189522"/>
            <a:ext cx="70698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a:solidFill>
                  <a:srgbClr val="000000"/>
                </a:solidFill>
                <a:latin typeface="Times New Roman"/>
                <a:ea typeface="Times New Roman"/>
                <a:cs typeface="Times New Roman"/>
                <a:sym typeface="Times New Roman"/>
              </a:rPr>
              <a:t>Testing Techniques</a:t>
            </a:r>
            <a:endParaRPr sz="1400" b="0" i="0" u="none" strike="noStrike" cap="none" dirty="0">
              <a:solidFill>
                <a:srgbClr val="000000"/>
              </a:solidFill>
              <a:latin typeface="Arial"/>
              <a:ea typeface="Arial"/>
              <a:cs typeface="Arial"/>
              <a:sym typeface="Arial"/>
            </a:endParaRPr>
          </a:p>
        </p:txBody>
      </p:sp>
      <p:sp>
        <p:nvSpPr>
          <p:cNvPr id="124" name="Google Shape;124;p7"/>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5" name="Google Shape;125;p7"/>
          <p:cNvSpPr/>
          <p:nvPr/>
        </p:nvSpPr>
        <p:spPr>
          <a:xfrm>
            <a:off x="107060" y="1251023"/>
            <a:ext cx="8661400" cy="3323946"/>
          </a:xfrm>
          <a:prstGeom prst="rect">
            <a:avLst/>
          </a:prstGeom>
          <a:noFill/>
          <a:ln>
            <a:noFill/>
          </a:ln>
        </p:spPr>
        <p:txBody>
          <a:bodyPr spcFirstLastPara="1" wrap="square" lIns="91425" tIns="45700" rIns="91425" bIns="45700" anchor="ctr" anchorCtr="0">
            <a:spAutoFit/>
          </a:bodyPr>
          <a:lstStyle/>
          <a:p>
            <a:pPr marL="0" marR="0" lvl="0" indent="0" algn="just" rtl="0">
              <a:lnSpc>
                <a:spcPct val="150000"/>
              </a:lnSpc>
              <a:spcBef>
                <a:spcPts val="0"/>
              </a:spcBef>
              <a:spcAft>
                <a:spcPts val="0"/>
              </a:spcAft>
              <a:buNone/>
            </a:pPr>
            <a:r>
              <a:rPr lang="en-US" sz="2200" b="1" i="0" u="none" strike="noStrike" cap="none">
                <a:solidFill>
                  <a:srgbClr val="273239"/>
                </a:solidFill>
                <a:latin typeface="Times New Roman"/>
                <a:ea typeface="Times New Roman"/>
                <a:cs typeface="Times New Roman"/>
                <a:sym typeface="Times New Roman"/>
              </a:rPr>
              <a:t>Fault Based Testing (cont.):</a:t>
            </a:r>
            <a:r>
              <a:rPr lang="en-US" sz="2200" b="0" i="0" u="none" strike="noStrike" cap="none">
                <a:solidFill>
                  <a:srgbClr val="273239"/>
                </a:solidFill>
                <a:latin typeface="Times New Roman"/>
                <a:ea typeface="Times New Roman"/>
                <a:cs typeface="Times New Roman"/>
                <a:sym typeface="Times New Roman"/>
              </a:rPr>
              <a:t> </a:t>
            </a:r>
            <a:endParaRPr sz="2200" b="0" i="0" u="none" strike="noStrike" cap="none">
              <a:solidFill>
                <a:srgbClr val="273239"/>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endParaRPr sz="2000">
              <a:solidFill>
                <a:srgbClr val="273239"/>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800"/>
              <a:buFont typeface="Arial"/>
              <a:buChar char="•"/>
            </a:pPr>
            <a:r>
              <a:rPr lang="en-US" sz="2000" b="0" i="0" u="none" strike="noStrike" cap="none">
                <a:solidFill>
                  <a:srgbClr val="273239"/>
                </a:solidFill>
                <a:latin typeface="Times New Roman"/>
                <a:ea typeface="Times New Roman"/>
                <a:cs typeface="Times New Roman"/>
                <a:sym typeface="Times New Roman"/>
              </a:rPr>
              <a:t>However, incorrect specification and interface errors can be missed. These types of errors can be uncovered by function testing in the traditional testing model.</a:t>
            </a:r>
            <a:endParaRPr sz="20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800"/>
              <a:buFont typeface="Arial"/>
              <a:buChar char="•"/>
            </a:pPr>
            <a:r>
              <a:rPr lang="en-US" sz="2000" b="0" i="0" u="none" strike="noStrike" cap="none">
                <a:solidFill>
                  <a:srgbClr val="273239"/>
                </a:solidFill>
                <a:latin typeface="Times New Roman"/>
                <a:ea typeface="Times New Roman"/>
                <a:cs typeface="Times New Roman"/>
                <a:sym typeface="Times New Roman"/>
              </a:rPr>
              <a:t> In the object-oriented model, interaction errors can be uncovered by scenario-based testing. </a:t>
            </a:r>
            <a:endParaRPr sz="20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800"/>
              <a:buFont typeface="Arial"/>
              <a:buChar char="•"/>
            </a:pPr>
            <a:r>
              <a:rPr lang="en-US" sz="2000" b="0" i="0" u="none" strike="noStrike" cap="none">
                <a:solidFill>
                  <a:srgbClr val="273239"/>
                </a:solidFill>
                <a:latin typeface="Times New Roman"/>
                <a:ea typeface="Times New Roman"/>
                <a:cs typeface="Times New Roman"/>
                <a:sym typeface="Times New Roman"/>
              </a:rPr>
              <a:t>This form of Object-oriented testing can only test against the client’s specifications, so interface errors are still missed.</a:t>
            </a:r>
            <a:endParaRPr sz="20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2266093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1" name="Google Shape;131;p3"/>
          <p:cNvSpPr txBox="1"/>
          <p:nvPr/>
        </p:nvSpPr>
        <p:spPr>
          <a:xfrm>
            <a:off x="0" y="1093846"/>
            <a:ext cx="8915400" cy="5524549"/>
          </a:xfrm>
          <a:prstGeom prst="rect">
            <a:avLst/>
          </a:prstGeom>
          <a:noFill/>
          <a:ln>
            <a:noFill/>
          </a:ln>
        </p:spPr>
        <p:txBody>
          <a:bodyPr spcFirstLastPara="1" wrap="square" lIns="91425" tIns="45700" rIns="91425" bIns="45700" anchor="t" anchorCtr="0">
            <a:spAutoFit/>
          </a:bodyPr>
          <a:lstStyle/>
          <a:p>
            <a:pPr algn="just">
              <a:buSzPts val="2000"/>
            </a:pPr>
            <a:r>
              <a:rPr lang="en-US" sz="2400" b="1" i="0" u="none" strike="noStrike" cap="none" dirty="0">
                <a:solidFill>
                  <a:srgbClr val="273239"/>
                </a:solidFill>
                <a:latin typeface="Times New Roman"/>
                <a:ea typeface="Times New Roman"/>
                <a:cs typeface="Times New Roman"/>
                <a:sym typeface="Times New Roman"/>
              </a:rPr>
              <a:t>Fault Based Testing Techniques(2 Types</a:t>
            </a:r>
            <a:r>
              <a:rPr lang="en-US" sz="2400" b="0" i="0" u="none" strike="noStrike" cap="none" dirty="0">
                <a:solidFill>
                  <a:srgbClr val="273239"/>
                </a:solidFill>
                <a:latin typeface="Times New Roman"/>
                <a:ea typeface="Times New Roman"/>
                <a:cs typeface="Times New Roman"/>
                <a:sym typeface="Times New Roman"/>
              </a:rPr>
              <a:t>)</a:t>
            </a:r>
            <a:endParaRPr lang="en-US" sz="2400" b="0" i="0" u="none" strike="noStrike" cap="none" dirty="0">
              <a:solidFill>
                <a:srgbClr val="000000"/>
              </a:solidFill>
              <a:latin typeface="Times New Roman"/>
              <a:ea typeface="Times New Roman"/>
              <a:cs typeface="Times New Roman"/>
              <a:sym typeface="Times New Roman"/>
            </a:endParaRPr>
          </a:p>
          <a:p>
            <a:pPr marL="285750" marR="0" lvl="0" indent="-298450" algn="just" rtl="0">
              <a:lnSpc>
                <a:spcPct val="100000"/>
              </a:lnSpc>
              <a:spcBef>
                <a:spcPts val="0"/>
              </a:spcBef>
              <a:spcAft>
                <a:spcPts val="0"/>
              </a:spcAft>
              <a:buClr>
                <a:srgbClr val="000000"/>
              </a:buClr>
              <a:buSzPts val="2000"/>
              <a:buFont typeface="Arial"/>
              <a:buChar char="•"/>
            </a:pPr>
            <a:endParaRPr lang="en-US" sz="2100" b="1" i="0" u="none" strike="noStrike" cap="none" dirty="0">
              <a:solidFill>
                <a:srgbClr val="273239"/>
              </a:solidFill>
              <a:latin typeface="Times New Roman"/>
              <a:ea typeface="Times New Roman"/>
              <a:cs typeface="Times New Roman"/>
              <a:sym typeface="Times New Roman"/>
            </a:endParaRPr>
          </a:p>
          <a:p>
            <a:pPr marL="285750" marR="0" lvl="0" indent="-298450" algn="just" rtl="0">
              <a:lnSpc>
                <a:spcPct val="100000"/>
              </a:lnSpc>
              <a:spcBef>
                <a:spcPts val="0"/>
              </a:spcBef>
              <a:spcAft>
                <a:spcPts val="0"/>
              </a:spcAft>
              <a:buClr>
                <a:srgbClr val="000000"/>
              </a:buClr>
              <a:buSzPts val="2000"/>
              <a:buFont typeface="Arial"/>
              <a:buChar char="•"/>
            </a:pPr>
            <a:r>
              <a:rPr lang="en-US" sz="2100" b="1" i="0" u="none" strike="noStrike" cap="none" dirty="0">
                <a:solidFill>
                  <a:srgbClr val="273239"/>
                </a:solidFill>
                <a:latin typeface="Times New Roman"/>
                <a:ea typeface="Times New Roman"/>
                <a:cs typeface="Times New Roman"/>
                <a:sym typeface="Times New Roman"/>
              </a:rPr>
              <a:t>Mutation Testing</a:t>
            </a:r>
            <a:endParaRPr sz="2100" b="0" i="0" u="none" strike="noStrike" cap="none" dirty="0">
              <a:solidFill>
                <a:srgbClr val="000000"/>
              </a:solidFill>
              <a:latin typeface="Arial"/>
              <a:ea typeface="Arial"/>
              <a:cs typeface="Arial"/>
              <a:sym typeface="Arial"/>
            </a:endParaRPr>
          </a:p>
          <a:p>
            <a:pPr marL="228600" marR="0" lvl="0" indent="0" algn="just" rtl="0">
              <a:lnSpc>
                <a:spcPct val="100000"/>
              </a:lnSpc>
              <a:spcBef>
                <a:spcPts val="0"/>
              </a:spcBef>
              <a:spcAft>
                <a:spcPts val="0"/>
              </a:spcAft>
              <a:buClr>
                <a:srgbClr val="000000"/>
              </a:buClr>
              <a:buSzPts val="1900"/>
              <a:buFont typeface="Arial"/>
              <a:buNone/>
            </a:pPr>
            <a:r>
              <a:rPr lang="en-US" sz="1900" b="0" i="0" u="none" strike="noStrike" cap="none" dirty="0">
                <a:solidFill>
                  <a:srgbClr val="273239"/>
                </a:solidFill>
                <a:latin typeface="Times New Roman"/>
                <a:ea typeface="Times New Roman"/>
                <a:cs typeface="Times New Roman"/>
                <a:sym typeface="Times New Roman"/>
              </a:rPr>
              <a:t>Mutation testing involves the deliberate introduction of artificial faults (mutations) into the source code. These mutations represent common programming mistakes, such as changing an operator or variable. Test cases are then executed against the mutated code to assess whether they can detect and reveal the introduced faults. The effectiveness of the test suite is measured by its mutation score, indicating how many mutations were successfully detected.</a:t>
            </a:r>
            <a:endParaRPr sz="1400" b="0" i="0" u="none" strike="noStrike" cap="none" dirty="0">
              <a:solidFill>
                <a:srgbClr val="000000"/>
              </a:solidFill>
              <a:latin typeface="Arial"/>
              <a:ea typeface="Arial"/>
              <a:cs typeface="Arial"/>
              <a:sym typeface="Arial"/>
            </a:endParaRPr>
          </a:p>
          <a:p>
            <a:pPr marL="228600" marR="0" lvl="0" indent="0" algn="just" rtl="0">
              <a:lnSpc>
                <a:spcPct val="100000"/>
              </a:lnSpc>
              <a:spcBef>
                <a:spcPts val="0"/>
              </a:spcBef>
              <a:spcAft>
                <a:spcPts val="0"/>
              </a:spcAft>
              <a:buClr>
                <a:srgbClr val="000000"/>
              </a:buClr>
              <a:buSzPts val="1900"/>
              <a:buFont typeface="Arial"/>
              <a:buNone/>
            </a:pPr>
            <a:endParaRPr sz="1900" b="0" i="0" u="none" strike="noStrike" cap="none" dirty="0">
              <a:solidFill>
                <a:srgbClr val="000000"/>
              </a:solidFill>
              <a:latin typeface="Arial"/>
              <a:ea typeface="Arial"/>
              <a:cs typeface="Arial"/>
              <a:sym typeface="Arial"/>
            </a:endParaRPr>
          </a:p>
          <a:p>
            <a:pPr marL="285750" marR="0" lvl="0" indent="-298450" algn="just" rtl="0">
              <a:lnSpc>
                <a:spcPct val="100000"/>
              </a:lnSpc>
              <a:spcBef>
                <a:spcPts val="0"/>
              </a:spcBef>
              <a:spcAft>
                <a:spcPts val="0"/>
              </a:spcAft>
              <a:buClr>
                <a:srgbClr val="000000"/>
              </a:buClr>
              <a:buSzPts val="2000"/>
              <a:buFont typeface="Arial"/>
              <a:buChar char="•"/>
            </a:pPr>
            <a:r>
              <a:rPr lang="en-US" sz="2100" b="1" i="0" u="none" strike="noStrike" cap="none" dirty="0">
                <a:solidFill>
                  <a:srgbClr val="273239"/>
                </a:solidFill>
                <a:latin typeface="Times New Roman"/>
                <a:ea typeface="Times New Roman"/>
                <a:cs typeface="Times New Roman"/>
                <a:sym typeface="Times New Roman"/>
              </a:rPr>
              <a:t>Fuzz Testing</a:t>
            </a:r>
            <a:endParaRPr sz="2100" b="0" i="0" u="none" strike="noStrike" cap="none" dirty="0">
              <a:solidFill>
                <a:srgbClr val="000000"/>
              </a:solidFill>
              <a:latin typeface="Arial"/>
              <a:ea typeface="Arial"/>
              <a:cs typeface="Arial"/>
              <a:sym typeface="Arial"/>
            </a:endParaRPr>
          </a:p>
          <a:p>
            <a:pPr marL="285750" marR="0" lvl="0" indent="0" algn="just" rtl="0">
              <a:lnSpc>
                <a:spcPct val="100000"/>
              </a:lnSpc>
              <a:spcBef>
                <a:spcPts val="0"/>
              </a:spcBef>
              <a:spcAft>
                <a:spcPts val="0"/>
              </a:spcAft>
              <a:buClr>
                <a:srgbClr val="000000"/>
              </a:buClr>
              <a:buSzPts val="1900"/>
              <a:buFont typeface="Arial"/>
              <a:buNone/>
            </a:pPr>
            <a:r>
              <a:rPr lang="en-US" sz="1900" b="0" i="0" u="none" strike="noStrike" cap="none" dirty="0">
                <a:solidFill>
                  <a:srgbClr val="273239"/>
                </a:solidFill>
                <a:latin typeface="Times New Roman"/>
                <a:ea typeface="Times New Roman"/>
                <a:cs typeface="Times New Roman"/>
                <a:sym typeface="Times New Roman"/>
              </a:rPr>
              <a:t>Fuzz testing, or fuzzing, focuses on feeding the software with a variety of malformed, or unexpected inputs. This technique is particularly useful for uncovering vulnerabilities and security flaws in a system. </a:t>
            </a:r>
            <a:r>
              <a:rPr lang="en-US" sz="1900" b="0" i="0" u="none" strike="noStrike" cap="none" dirty="0" err="1">
                <a:solidFill>
                  <a:srgbClr val="273239"/>
                </a:solidFill>
                <a:latin typeface="Times New Roman"/>
                <a:ea typeface="Times New Roman"/>
                <a:cs typeface="Times New Roman"/>
                <a:sym typeface="Times New Roman"/>
              </a:rPr>
              <a:t>Fuzzers</a:t>
            </a:r>
            <a:r>
              <a:rPr lang="en-US" sz="1900" b="0" i="0" u="none" strike="noStrike" cap="none" dirty="0">
                <a:solidFill>
                  <a:srgbClr val="273239"/>
                </a:solidFill>
                <a:latin typeface="Times New Roman"/>
                <a:ea typeface="Times New Roman"/>
                <a:cs typeface="Times New Roman"/>
                <a:sym typeface="Times New Roman"/>
              </a:rPr>
              <a:t> automatically generate and send inputs to the software, monitoring its behavior for crashes or unexpected responses. By doing so, fuzz testing helps identify issues in input validation, boundary checking, and exception handling.</a:t>
            </a:r>
            <a:endParaRPr sz="19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900"/>
              <a:buFont typeface="Arial"/>
              <a:buNone/>
            </a:pPr>
            <a:endParaRPr sz="1900" b="0" i="0" u="none" strike="noStrike" cap="none" dirty="0">
              <a:solidFill>
                <a:srgbClr val="000000"/>
              </a:solidFill>
              <a:latin typeface="Arial"/>
              <a:ea typeface="Arial"/>
              <a:cs typeface="Arial"/>
              <a:sym typeface="Arial"/>
            </a:endParaRPr>
          </a:p>
        </p:txBody>
      </p:sp>
      <p:sp>
        <p:nvSpPr>
          <p:cNvPr id="2" name="Google Shape;123;p7">
            <a:extLst>
              <a:ext uri="{FF2B5EF4-FFF2-40B4-BE49-F238E27FC236}">
                <a16:creationId xmlns:a16="http://schemas.microsoft.com/office/drawing/2014/main" id="{3DE61530-BEB9-98BD-E808-33FD8E45D55E}"/>
              </a:ext>
            </a:extLst>
          </p:cNvPr>
          <p:cNvSpPr txBox="1"/>
          <p:nvPr/>
        </p:nvSpPr>
        <p:spPr>
          <a:xfrm>
            <a:off x="-84110" y="189522"/>
            <a:ext cx="70698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a:solidFill>
                  <a:srgbClr val="000000"/>
                </a:solidFill>
                <a:latin typeface="Times New Roman"/>
                <a:ea typeface="Times New Roman"/>
                <a:cs typeface="Times New Roman"/>
                <a:sym typeface="Times New Roman"/>
              </a:rPr>
              <a:t>Testing Techniques</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304983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7" name="Google Shape;137;p5"/>
          <p:cNvSpPr txBox="1"/>
          <p:nvPr/>
        </p:nvSpPr>
        <p:spPr>
          <a:xfrm>
            <a:off x="205739" y="914400"/>
            <a:ext cx="8515500" cy="50640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2100" b="1" i="0" u="none" strike="noStrike" cap="none">
                <a:solidFill>
                  <a:srgbClr val="273239"/>
                </a:solidFill>
                <a:latin typeface="Times New Roman"/>
                <a:ea typeface="Times New Roman"/>
                <a:cs typeface="Times New Roman"/>
                <a:sym typeface="Times New Roman"/>
              </a:rPr>
              <a:t>Scenario-based Testing:</a:t>
            </a:r>
            <a:r>
              <a:rPr lang="en-US" sz="2100" b="0" i="0" u="none" strike="noStrike" cap="none">
                <a:solidFill>
                  <a:srgbClr val="273239"/>
                </a:solidFill>
                <a:latin typeface="Times New Roman"/>
                <a:ea typeface="Times New Roman"/>
                <a:cs typeface="Times New Roman"/>
                <a:sym typeface="Times New Roman"/>
              </a:rPr>
              <a:t> </a:t>
            </a:r>
            <a:endParaRPr sz="21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800"/>
              <a:buFont typeface="Arial"/>
              <a:buChar char="•"/>
            </a:pPr>
            <a:r>
              <a:rPr lang="en-US" sz="2000" b="0" i="0" u="none" strike="noStrike" cap="none">
                <a:solidFill>
                  <a:srgbClr val="273239"/>
                </a:solidFill>
                <a:latin typeface="Times New Roman"/>
                <a:ea typeface="Times New Roman"/>
                <a:cs typeface="Times New Roman"/>
                <a:sym typeface="Times New Roman"/>
              </a:rPr>
              <a:t>Scenario Testing is a software testing technique that uses scenarios to help the tester work through a complicated problem or test system. </a:t>
            </a:r>
            <a:endParaRPr sz="20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800"/>
              <a:buFont typeface="Arial"/>
              <a:buChar char="•"/>
            </a:pPr>
            <a:r>
              <a:rPr lang="en-US" sz="2000" b="0" i="0" u="none" strike="noStrike" cap="none">
                <a:solidFill>
                  <a:srgbClr val="273239"/>
                </a:solidFill>
                <a:latin typeface="Times New Roman"/>
                <a:ea typeface="Times New Roman"/>
                <a:cs typeface="Times New Roman"/>
                <a:sym typeface="Times New Roman"/>
              </a:rPr>
              <a:t>A test scenario or user scenario is a story which describes the usage of the software by an end user. </a:t>
            </a:r>
            <a:endParaRPr sz="20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800"/>
              <a:buFont typeface="Arial"/>
              <a:buChar char="•"/>
            </a:pPr>
            <a:r>
              <a:rPr lang="en-US" sz="2000" b="0" i="0" u="none" strike="noStrike" cap="none">
                <a:solidFill>
                  <a:srgbClr val="273239"/>
                </a:solidFill>
                <a:latin typeface="Times New Roman"/>
                <a:ea typeface="Times New Roman"/>
                <a:cs typeface="Times New Roman"/>
                <a:sym typeface="Times New Roman"/>
              </a:rPr>
              <a:t>It is performed to ensure that the end to end functioning of software and all the process flows of the software are working properly.</a:t>
            </a:r>
            <a:endParaRPr sz="20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2100" b="0" i="0" u="none" strike="noStrike" cap="none">
              <a:solidFill>
                <a:srgbClr val="273239"/>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2100" b="1" i="0" u="none" strike="noStrike" cap="none">
                <a:solidFill>
                  <a:srgbClr val="273239"/>
                </a:solidFill>
                <a:latin typeface="Times New Roman"/>
                <a:ea typeface="Times New Roman"/>
                <a:cs typeface="Times New Roman"/>
                <a:sym typeface="Times New Roman"/>
              </a:rPr>
              <a:t>In scenario testing:</a:t>
            </a:r>
            <a:endParaRPr sz="2100" b="1"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800"/>
              <a:buFont typeface="Arial"/>
              <a:buChar char="•"/>
            </a:pPr>
            <a:r>
              <a:rPr lang="en-US" sz="2000" b="0" i="0" u="none" strike="noStrike" cap="none">
                <a:solidFill>
                  <a:srgbClr val="273239"/>
                </a:solidFill>
                <a:latin typeface="Times New Roman"/>
                <a:ea typeface="Times New Roman"/>
                <a:cs typeface="Times New Roman"/>
                <a:sym typeface="Times New Roman"/>
              </a:rPr>
              <a:t>The testers assume themselves to be the end users and find the real world scenarios or use cases which can be carried out on the software by the end user.</a:t>
            </a:r>
            <a:endParaRPr sz="20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800"/>
              <a:buFont typeface="Arial"/>
              <a:buChar char="•"/>
            </a:pPr>
            <a:r>
              <a:rPr lang="en-US" sz="2000" b="0" i="0" u="none" strike="noStrike" cap="none">
                <a:solidFill>
                  <a:srgbClr val="273239"/>
                </a:solidFill>
                <a:latin typeface="Times New Roman"/>
                <a:ea typeface="Times New Roman"/>
                <a:cs typeface="Times New Roman"/>
                <a:sym typeface="Times New Roman"/>
              </a:rPr>
              <a:t>For this, the testers take help from clients, stakeholders and developers to create test scenarios. In the object-oriented model, interaction errors can be uncovered by scenario-based testing. </a:t>
            </a: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Times New Roman"/>
              <a:ea typeface="Times New Roman"/>
              <a:cs typeface="Times New Roman"/>
              <a:sym typeface="Times New Roman"/>
            </a:endParaRPr>
          </a:p>
        </p:txBody>
      </p:sp>
      <p:sp>
        <p:nvSpPr>
          <p:cNvPr id="2" name="Google Shape;123;p7">
            <a:extLst>
              <a:ext uri="{FF2B5EF4-FFF2-40B4-BE49-F238E27FC236}">
                <a16:creationId xmlns:a16="http://schemas.microsoft.com/office/drawing/2014/main" id="{615CD4CA-86D5-5E06-82F4-3573B6BF6520}"/>
              </a:ext>
            </a:extLst>
          </p:cNvPr>
          <p:cNvSpPr txBox="1"/>
          <p:nvPr/>
        </p:nvSpPr>
        <p:spPr>
          <a:xfrm>
            <a:off x="-84110" y="189522"/>
            <a:ext cx="70698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dirty="0">
                <a:solidFill>
                  <a:srgbClr val="000000"/>
                </a:solidFill>
                <a:latin typeface="Times New Roman"/>
                <a:ea typeface="Times New Roman"/>
                <a:cs typeface="Times New Roman"/>
                <a:sym typeface="Times New Roman"/>
              </a:rPr>
              <a:t>Testing Techniques</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6617969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98"/>
          <p:cNvSpPr txBox="1"/>
          <p:nvPr/>
        </p:nvSpPr>
        <p:spPr>
          <a:xfrm>
            <a:off x="-342246" y="275717"/>
            <a:ext cx="7395327"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a:ea typeface="Times"/>
                <a:cs typeface="Times"/>
                <a:sym typeface="Times"/>
              </a:rPr>
              <a:t>Practice Questions</a:t>
            </a:r>
            <a:endParaRPr sz="1400" b="0" i="0" u="none" strike="noStrike" cap="none">
              <a:solidFill>
                <a:srgbClr val="000000"/>
              </a:solidFill>
              <a:latin typeface="Arial"/>
              <a:ea typeface="Arial"/>
              <a:cs typeface="Arial"/>
              <a:sym typeface="Arial"/>
            </a:endParaRPr>
          </a:p>
        </p:txBody>
      </p:sp>
      <p:sp>
        <p:nvSpPr>
          <p:cNvPr id="370" name="Google Shape;370;p98"/>
          <p:cNvSpPr txBox="1"/>
          <p:nvPr/>
        </p:nvSpPr>
        <p:spPr>
          <a:xfrm>
            <a:off x="89555" y="860492"/>
            <a:ext cx="9054445" cy="535527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333333"/>
                </a:solidFill>
                <a:latin typeface="Times New Roman"/>
                <a:ea typeface="Times New Roman"/>
                <a:cs typeface="Times New Roman"/>
                <a:sym typeface="Times New Roman"/>
              </a:rPr>
              <a:t>Q1. The construction of object-oriented software begins with the creation of</a:t>
            </a:r>
            <a:br>
              <a:rPr lang="en-US" sz="1800" b="0" i="0" u="none" strike="noStrike" cap="none" dirty="0">
                <a:solidFill>
                  <a:srgbClr val="333333"/>
                </a:solidFill>
                <a:latin typeface="Times New Roman"/>
                <a:ea typeface="Times New Roman"/>
                <a:cs typeface="Times New Roman"/>
                <a:sym typeface="Times New Roman"/>
              </a:rPr>
            </a:br>
            <a:r>
              <a:rPr lang="en-US" sz="1800" b="0" i="0" u="none" strike="noStrike" cap="none" dirty="0">
                <a:solidFill>
                  <a:srgbClr val="333333"/>
                </a:solidFill>
                <a:latin typeface="Times New Roman"/>
                <a:ea typeface="Times New Roman"/>
                <a:cs typeface="Times New Roman"/>
                <a:sym typeface="Times New Roman"/>
              </a:rPr>
              <a:t>a) design model</a:t>
            </a:r>
            <a:br>
              <a:rPr lang="en-US" sz="1800" b="0" i="0" u="none" strike="noStrike" cap="none" dirty="0">
                <a:solidFill>
                  <a:srgbClr val="333333"/>
                </a:solidFill>
                <a:latin typeface="Times New Roman"/>
                <a:ea typeface="Times New Roman"/>
                <a:cs typeface="Times New Roman"/>
                <a:sym typeface="Times New Roman"/>
              </a:rPr>
            </a:br>
            <a:r>
              <a:rPr lang="en-US" sz="1800" b="0" i="0" u="none" strike="noStrike" cap="none" dirty="0">
                <a:solidFill>
                  <a:srgbClr val="333333"/>
                </a:solidFill>
                <a:latin typeface="Times New Roman"/>
                <a:ea typeface="Times New Roman"/>
                <a:cs typeface="Times New Roman"/>
                <a:sym typeface="Times New Roman"/>
              </a:rPr>
              <a:t>b) analysis model</a:t>
            </a:r>
            <a:br>
              <a:rPr lang="en-US" sz="1800" b="0" i="0" u="none" strike="noStrike" cap="none" dirty="0">
                <a:solidFill>
                  <a:srgbClr val="333333"/>
                </a:solidFill>
                <a:latin typeface="Times New Roman"/>
                <a:ea typeface="Times New Roman"/>
                <a:cs typeface="Times New Roman"/>
                <a:sym typeface="Times New Roman"/>
              </a:rPr>
            </a:br>
            <a:r>
              <a:rPr lang="en-US" sz="1800" b="0" i="0" u="none" strike="noStrike" cap="none" dirty="0">
                <a:solidFill>
                  <a:srgbClr val="333333"/>
                </a:solidFill>
                <a:latin typeface="Times New Roman"/>
                <a:ea typeface="Times New Roman"/>
                <a:cs typeface="Times New Roman"/>
                <a:sym typeface="Times New Roman"/>
              </a:rPr>
              <a:t>c) code levels</a:t>
            </a:r>
            <a:br>
              <a:rPr lang="en-US" sz="1800" b="0" i="0" u="none" strike="noStrike" cap="none" dirty="0">
                <a:solidFill>
                  <a:srgbClr val="333333"/>
                </a:solidFill>
                <a:latin typeface="Times New Roman"/>
                <a:ea typeface="Times New Roman"/>
                <a:cs typeface="Times New Roman"/>
                <a:sym typeface="Times New Roman"/>
              </a:rPr>
            </a:br>
            <a:r>
              <a:rPr lang="en-US" sz="1800" b="0" i="0" u="none" strike="noStrike" cap="none" dirty="0">
                <a:solidFill>
                  <a:srgbClr val="333333"/>
                </a:solidFill>
                <a:latin typeface="Times New Roman"/>
                <a:ea typeface="Times New Roman"/>
                <a:cs typeface="Times New Roman"/>
                <a:sym typeface="Times New Roman"/>
              </a:rPr>
              <a:t>d) both design and analysis model</a:t>
            </a:r>
          </a:p>
          <a:p>
            <a:pPr marL="0" marR="0" lvl="0" indent="0" algn="l" rtl="0">
              <a:lnSpc>
                <a:spcPct val="100000"/>
              </a:lnSpc>
              <a:spcBef>
                <a:spcPts val="0"/>
              </a:spcBef>
              <a:spcAft>
                <a:spcPts val="0"/>
              </a:spcAft>
              <a:buClr>
                <a:srgbClr val="000000"/>
              </a:buClr>
              <a:buSzPts val="1800"/>
              <a:buFont typeface="Arial"/>
              <a:buNone/>
            </a:pPr>
            <a:br>
              <a:rPr lang="en-US" sz="1800" b="0" i="0" u="none" strike="noStrike" cap="none" dirty="0">
                <a:solidFill>
                  <a:srgbClr val="333333"/>
                </a:solidFill>
                <a:latin typeface="Times New Roman"/>
                <a:ea typeface="Times New Roman"/>
                <a:cs typeface="Times New Roman"/>
                <a:sym typeface="Times New Roman"/>
              </a:rPr>
            </a:br>
            <a:r>
              <a:rPr lang="en-US" sz="1800" b="0" i="0" u="none" strike="noStrike" cap="none" dirty="0">
                <a:solidFill>
                  <a:srgbClr val="333333"/>
                </a:solidFill>
                <a:latin typeface="Times New Roman"/>
                <a:ea typeface="Times New Roman"/>
                <a:cs typeface="Times New Roman"/>
                <a:sym typeface="Times New Roman"/>
              </a:rPr>
              <a:t>Q2.  Which testing integrates the set of classes required to respond to one input or event for the system?</a:t>
            </a:r>
            <a:endParaRPr sz="1800" b="0" i="0" u="none" strike="noStrike" cap="none" dirty="0">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dirty="0">
                <a:solidFill>
                  <a:srgbClr val="333333"/>
                </a:solidFill>
                <a:latin typeface="Times New Roman"/>
                <a:ea typeface="Times New Roman"/>
                <a:cs typeface="Times New Roman"/>
                <a:sym typeface="Times New Roman"/>
              </a:rPr>
              <a:t>cluster testing</a:t>
            </a:r>
            <a:endParaRPr sz="1800" b="0" i="0" u="none" strike="noStrike" cap="none" dirty="0">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dirty="0">
                <a:solidFill>
                  <a:srgbClr val="333333"/>
                </a:solidFill>
                <a:latin typeface="Times New Roman"/>
                <a:ea typeface="Times New Roman"/>
                <a:cs typeface="Times New Roman"/>
                <a:sym typeface="Times New Roman"/>
              </a:rPr>
              <a:t>thread-based testing</a:t>
            </a: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rgbClr val="333333"/>
                </a:solidFill>
                <a:latin typeface="Times New Roman"/>
                <a:ea typeface="Times New Roman"/>
                <a:cs typeface="Times New Roman"/>
                <a:sym typeface="Times New Roman"/>
              </a:rPr>
              <a:t>c) use-based testing</a:t>
            </a: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rgbClr val="333333"/>
                </a:solidFill>
                <a:latin typeface="Times New Roman"/>
                <a:ea typeface="Times New Roman"/>
                <a:cs typeface="Times New Roman"/>
                <a:sym typeface="Times New Roman"/>
              </a:rPr>
              <a:t>d) none of the mentioned</a:t>
            </a:r>
            <a:endParaRPr sz="18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lang="en-US" sz="18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Times New Roman"/>
                <a:ea typeface="Times New Roman"/>
                <a:cs typeface="Times New Roman"/>
                <a:sym typeface="Times New Roman"/>
              </a:rPr>
              <a:t>Q3. </a:t>
            </a:r>
            <a:r>
              <a:rPr lang="en-US" sz="1800" b="0" i="0" u="none" strike="noStrike" cap="none" dirty="0">
                <a:solidFill>
                  <a:srgbClr val="1B2437"/>
                </a:solidFill>
                <a:latin typeface="Times New Roman"/>
                <a:ea typeface="Times New Roman"/>
                <a:cs typeface="Times New Roman"/>
                <a:sym typeface="Times New Roman"/>
              </a:rPr>
              <a:t>In which of the following testing strategies, a smallest testable unit is the encapsulated class or object?</a:t>
            </a:r>
            <a:br>
              <a:rPr lang="en-US" sz="1800" b="0" i="0" u="none" strike="noStrike" cap="none" dirty="0">
                <a:solidFill>
                  <a:srgbClr val="1B2437"/>
                </a:solidFill>
                <a:latin typeface="Times New Roman"/>
                <a:ea typeface="Times New Roman"/>
                <a:cs typeface="Times New Roman"/>
                <a:sym typeface="Times New Roman"/>
              </a:rPr>
            </a:br>
            <a:r>
              <a:rPr lang="en-US" sz="1800" b="0" i="0" u="none" strike="noStrike" cap="none" dirty="0">
                <a:solidFill>
                  <a:srgbClr val="1B2437"/>
                </a:solidFill>
                <a:latin typeface="Times New Roman"/>
                <a:ea typeface="Times New Roman"/>
                <a:cs typeface="Times New Roman"/>
                <a:sym typeface="Times New Roman"/>
              </a:rPr>
              <a:t>a) Unit testing</a:t>
            </a:r>
            <a:br>
              <a:rPr lang="en-US" sz="1800" b="0" i="0" u="none" strike="noStrike" cap="none" dirty="0">
                <a:solidFill>
                  <a:srgbClr val="1B2437"/>
                </a:solidFill>
                <a:latin typeface="Times New Roman"/>
                <a:ea typeface="Times New Roman"/>
                <a:cs typeface="Times New Roman"/>
                <a:sym typeface="Times New Roman"/>
              </a:rPr>
            </a:br>
            <a:r>
              <a:rPr lang="en-US" sz="1800" b="0" i="0" u="none" strike="noStrike" cap="none" dirty="0">
                <a:solidFill>
                  <a:srgbClr val="1B2437"/>
                </a:solidFill>
                <a:latin typeface="Times New Roman"/>
                <a:ea typeface="Times New Roman"/>
                <a:cs typeface="Times New Roman"/>
                <a:sym typeface="Times New Roman"/>
              </a:rPr>
              <a:t>b) Integration testing</a:t>
            </a:r>
            <a:br>
              <a:rPr lang="en-US" sz="1800" b="0" i="0" u="none" strike="noStrike" cap="none" dirty="0">
                <a:solidFill>
                  <a:srgbClr val="1B2437"/>
                </a:solidFill>
                <a:latin typeface="Times New Roman"/>
                <a:ea typeface="Times New Roman"/>
                <a:cs typeface="Times New Roman"/>
                <a:sym typeface="Times New Roman"/>
              </a:rPr>
            </a:br>
            <a:r>
              <a:rPr lang="en-US" sz="1800" b="0" i="0" u="none" strike="noStrike" cap="none" dirty="0">
                <a:solidFill>
                  <a:srgbClr val="1B2437"/>
                </a:solidFill>
                <a:latin typeface="Times New Roman"/>
                <a:ea typeface="Times New Roman"/>
                <a:cs typeface="Times New Roman"/>
                <a:sym typeface="Times New Roman"/>
              </a:rPr>
              <a:t>c) System testing</a:t>
            </a:r>
            <a:br>
              <a:rPr lang="en-US" sz="1800" b="0" i="0" u="none" strike="noStrike" cap="none" dirty="0">
                <a:solidFill>
                  <a:srgbClr val="1B2437"/>
                </a:solidFill>
                <a:latin typeface="Times New Roman"/>
                <a:ea typeface="Times New Roman"/>
                <a:cs typeface="Times New Roman"/>
                <a:sym typeface="Times New Roman"/>
              </a:rPr>
            </a:br>
            <a:r>
              <a:rPr lang="en-US" sz="1800" b="0" i="0" u="none" strike="noStrike" cap="none" dirty="0">
                <a:solidFill>
                  <a:srgbClr val="1B2437"/>
                </a:solidFill>
                <a:latin typeface="Times New Roman"/>
                <a:ea typeface="Times New Roman"/>
                <a:cs typeface="Times New Roman"/>
                <a:sym typeface="Times New Roman"/>
              </a:rPr>
              <a:t>d) None of the mentioned</a:t>
            </a:r>
            <a:endParaRPr sz="18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8">
          <a:extLst>
            <a:ext uri="{FF2B5EF4-FFF2-40B4-BE49-F238E27FC236}">
              <a16:creationId xmlns:a16="http://schemas.microsoft.com/office/drawing/2014/main" id="{F0DF5B09-ED57-5D9A-FDCE-9A8D507EF286}"/>
            </a:ext>
          </a:extLst>
        </p:cNvPr>
        <p:cNvGrpSpPr/>
        <p:nvPr/>
      </p:nvGrpSpPr>
      <p:grpSpPr>
        <a:xfrm>
          <a:off x="0" y="0"/>
          <a:ext cx="0" cy="0"/>
          <a:chOff x="0" y="0"/>
          <a:chExt cx="0" cy="0"/>
        </a:xfrm>
      </p:grpSpPr>
      <p:sp>
        <p:nvSpPr>
          <p:cNvPr id="369" name="Google Shape;369;p98">
            <a:extLst>
              <a:ext uri="{FF2B5EF4-FFF2-40B4-BE49-F238E27FC236}">
                <a16:creationId xmlns:a16="http://schemas.microsoft.com/office/drawing/2014/main" id="{0BB63444-A2C8-9F0B-B5F6-05ED5307C984}"/>
              </a:ext>
            </a:extLst>
          </p:cNvPr>
          <p:cNvSpPr txBox="1"/>
          <p:nvPr/>
        </p:nvSpPr>
        <p:spPr>
          <a:xfrm>
            <a:off x="-342246" y="275717"/>
            <a:ext cx="7395327"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a:ea typeface="Times"/>
                <a:cs typeface="Times"/>
                <a:sym typeface="Times"/>
              </a:rPr>
              <a:t>Practice Questions</a:t>
            </a:r>
            <a:endParaRPr sz="1400" b="0" i="0" u="none" strike="noStrike" cap="none">
              <a:solidFill>
                <a:srgbClr val="000000"/>
              </a:solidFill>
              <a:latin typeface="Arial"/>
              <a:ea typeface="Arial"/>
              <a:cs typeface="Arial"/>
              <a:sym typeface="Arial"/>
            </a:endParaRPr>
          </a:p>
        </p:txBody>
      </p:sp>
      <p:sp>
        <p:nvSpPr>
          <p:cNvPr id="370" name="Google Shape;370;p98">
            <a:extLst>
              <a:ext uri="{FF2B5EF4-FFF2-40B4-BE49-F238E27FC236}">
                <a16:creationId xmlns:a16="http://schemas.microsoft.com/office/drawing/2014/main" id="{F0AA2E5B-8CA3-8E4A-9212-F4BF0B1CC576}"/>
              </a:ext>
            </a:extLst>
          </p:cNvPr>
          <p:cNvSpPr txBox="1"/>
          <p:nvPr/>
        </p:nvSpPr>
        <p:spPr>
          <a:xfrm>
            <a:off x="89555" y="860492"/>
            <a:ext cx="9054445" cy="563227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333333"/>
                </a:solidFill>
                <a:latin typeface="Times New Roman"/>
                <a:ea typeface="Times New Roman"/>
                <a:cs typeface="Times New Roman"/>
                <a:sym typeface="Times New Roman"/>
              </a:rPr>
              <a:t>Q1. The construction of object-oriented software begins with the creation of</a:t>
            </a:r>
            <a:br>
              <a:rPr lang="en-US" sz="1800" b="0" i="0" u="none" strike="noStrike" cap="none">
                <a:solidFill>
                  <a:srgbClr val="333333"/>
                </a:solidFill>
                <a:latin typeface="Times New Roman"/>
                <a:ea typeface="Times New Roman"/>
                <a:cs typeface="Times New Roman"/>
                <a:sym typeface="Times New Roman"/>
              </a:rPr>
            </a:br>
            <a:r>
              <a:rPr lang="en-US" sz="1800" b="0" i="0" u="none" strike="noStrike" cap="none">
                <a:solidFill>
                  <a:srgbClr val="333333"/>
                </a:solidFill>
                <a:latin typeface="Times New Roman"/>
                <a:ea typeface="Times New Roman"/>
                <a:cs typeface="Times New Roman"/>
                <a:sym typeface="Times New Roman"/>
              </a:rPr>
              <a:t>a) design model</a:t>
            </a:r>
            <a:br>
              <a:rPr lang="en-US" sz="1800" b="0" i="0" u="none" strike="noStrike" cap="none">
                <a:solidFill>
                  <a:srgbClr val="333333"/>
                </a:solidFill>
                <a:latin typeface="Times New Roman"/>
                <a:ea typeface="Times New Roman"/>
                <a:cs typeface="Times New Roman"/>
                <a:sym typeface="Times New Roman"/>
              </a:rPr>
            </a:br>
            <a:r>
              <a:rPr lang="en-US" sz="1800" b="0" i="0" u="none" strike="noStrike" cap="none">
                <a:solidFill>
                  <a:srgbClr val="333333"/>
                </a:solidFill>
                <a:latin typeface="Times New Roman"/>
                <a:ea typeface="Times New Roman"/>
                <a:cs typeface="Times New Roman"/>
                <a:sym typeface="Times New Roman"/>
              </a:rPr>
              <a:t>b) analysis model</a:t>
            </a:r>
            <a:br>
              <a:rPr lang="en-US" sz="1800" b="0" i="0" u="none" strike="noStrike" cap="none">
                <a:solidFill>
                  <a:srgbClr val="333333"/>
                </a:solidFill>
                <a:latin typeface="Times New Roman"/>
                <a:ea typeface="Times New Roman"/>
                <a:cs typeface="Times New Roman"/>
                <a:sym typeface="Times New Roman"/>
              </a:rPr>
            </a:br>
            <a:r>
              <a:rPr lang="en-US" sz="1800" b="0" i="0" u="none" strike="noStrike" cap="none">
                <a:solidFill>
                  <a:srgbClr val="333333"/>
                </a:solidFill>
                <a:latin typeface="Times New Roman"/>
                <a:ea typeface="Times New Roman"/>
                <a:cs typeface="Times New Roman"/>
                <a:sym typeface="Times New Roman"/>
              </a:rPr>
              <a:t>c) code levels</a:t>
            </a:r>
            <a:br>
              <a:rPr lang="en-US" sz="1800" b="0" i="0" u="none" strike="noStrike" cap="none">
                <a:solidFill>
                  <a:srgbClr val="333333"/>
                </a:solidFill>
                <a:latin typeface="Times New Roman"/>
                <a:ea typeface="Times New Roman"/>
                <a:cs typeface="Times New Roman"/>
                <a:sym typeface="Times New Roman"/>
              </a:rPr>
            </a:br>
            <a:r>
              <a:rPr lang="en-US" sz="1800" b="0" i="0" u="none" strike="noStrike" cap="none">
                <a:solidFill>
                  <a:srgbClr val="333333"/>
                </a:solidFill>
                <a:latin typeface="Times New Roman"/>
                <a:ea typeface="Times New Roman"/>
                <a:cs typeface="Times New Roman"/>
                <a:sym typeface="Times New Roman"/>
              </a:rPr>
              <a:t>d) both design and analysis model</a:t>
            </a:r>
            <a:br>
              <a:rPr lang="en-US" sz="1800" b="0" i="0" u="none" strike="noStrike" cap="none">
                <a:solidFill>
                  <a:srgbClr val="333333"/>
                </a:solidFill>
                <a:latin typeface="Times New Roman"/>
                <a:ea typeface="Times New Roman"/>
                <a:cs typeface="Times New Roman"/>
                <a:sym typeface="Times New Roman"/>
              </a:rPr>
            </a:br>
            <a:r>
              <a:rPr lang="en-US" sz="1800" b="1" i="0" u="none" strike="noStrike" cap="none">
                <a:solidFill>
                  <a:srgbClr val="333333"/>
                </a:solidFill>
                <a:latin typeface="Times New Roman"/>
                <a:ea typeface="Times New Roman"/>
                <a:cs typeface="Times New Roman"/>
                <a:sym typeface="Times New Roman"/>
              </a:rPr>
              <a:t>Answer: </a:t>
            </a:r>
            <a:r>
              <a:rPr lang="en-US" sz="1800" b="0" i="0" u="none" strike="noStrike" cap="none">
                <a:solidFill>
                  <a:srgbClr val="333333"/>
                </a:solidFill>
                <a:latin typeface="Times New Roman"/>
                <a:ea typeface="Times New Roman"/>
                <a:cs typeface="Times New Roman"/>
                <a:sym typeface="Times New Roman"/>
              </a:rPr>
              <a:t>d</a:t>
            </a: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rgbClr val="333333"/>
                </a:solidFill>
                <a:latin typeface="Times New Roman"/>
                <a:ea typeface="Times New Roman"/>
                <a:cs typeface="Times New Roman"/>
                <a:sym typeface="Times New Roman"/>
              </a:rPr>
              <a:t>Q2.  Which testing integrates the set of classes required to respond to one input or event for the system?</a:t>
            </a:r>
            <a:endParaRPr sz="18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a:solidFill>
                  <a:srgbClr val="333333"/>
                </a:solidFill>
                <a:latin typeface="Times New Roman"/>
                <a:ea typeface="Times New Roman"/>
                <a:cs typeface="Times New Roman"/>
                <a:sym typeface="Times New Roman"/>
              </a:rPr>
              <a:t>cluster testing</a:t>
            </a:r>
            <a:endParaRPr sz="1800" b="0" i="0" u="none" strike="noStrike" cap="none">
              <a:solidFill>
                <a:srgbClr val="000000"/>
              </a:solidFill>
              <a:latin typeface="Times New Roman"/>
              <a:ea typeface="Times New Roman"/>
              <a:cs typeface="Times New Roman"/>
              <a:sym typeface="Times New Roman"/>
            </a:endParaRPr>
          </a:p>
          <a:p>
            <a:pPr marL="342900" marR="0" lvl="0" indent="-342900" algn="just" rtl="0">
              <a:lnSpc>
                <a:spcPct val="100000"/>
              </a:lnSpc>
              <a:spcBef>
                <a:spcPts val="0"/>
              </a:spcBef>
              <a:spcAft>
                <a:spcPts val="0"/>
              </a:spcAft>
              <a:buClr>
                <a:srgbClr val="000000"/>
              </a:buClr>
              <a:buSzPts val="1800"/>
              <a:buFont typeface="Arial"/>
              <a:buAutoNum type="alphaLcParenR"/>
            </a:pPr>
            <a:r>
              <a:rPr lang="en-US" sz="1800" b="0" i="0" u="none" strike="noStrike" cap="none">
                <a:solidFill>
                  <a:srgbClr val="333333"/>
                </a:solidFill>
                <a:latin typeface="Times New Roman"/>
                <a:ea typeface="Times New Roman"/>
                <a:cs typeface="Times New Roman"/>
                <a:sym typeface="Times New Roman"/>
              </a:rPr>
              <a:t>thread-based testing</a:t>
            </a: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rgbClr val="333333"/>
                </a:solidFill>
                <a:latin typeface="Times New Roman"/>
                <a:ea typeface="Times New Roman"/>
                <a:cs typeface="Times New Roman"/>
                <a:sym typeface="Times New Roman"/>
              </a:rPr>
              <a:t>c) use-based testing</a:t>
            </a: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rgbClr val="333333"/>
                </a:solidFill>
                <a:latin typeface="Times New Roman"/>
                <a:ea typeface="Times New Roman"/>
                <a:cs typeface="Times New Roman"/>
                <a:sym typeface="Times New Roman"/>
              </a:rPr>
              <a:t>d) none of the mentioned</a:t>
            </a: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Times New Roman"/>
                <a:ea typeface="Times New Roman"/>
                <a:cs typeface="Times New Roman"/>
                <a:sym typeface="Times New Roman"/>
              </a:rPr>
              <a:t>Answer: b</a:t>
            </a:r>
            <a:endParaRPr sz="1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Times New Roman"/>
                <a:ea typeface="Times New Roman"/>
                <a:cs typeface="Times New Roman"/>
                <a:sym typeface="Times New Roman"/>
              </a:rPr>
              <a:t>Q3. </a:t>
            </a:r>
            <a:r>
              <a:rPr lang="en-US" sz="1800" b="0" i="0" u="none" strike="noStrike" cap="none">
                <a:solidFill>
                  <a:srgbClr val="1B2437"/>
                </a:solidFill>
                <a:latin typeface="Times New Roman"/>
                <a:ea typeface="Times New Roman"/>
                <a:cs typeface="Times New Roman"/>
                <a:sym typeface="Times New Roman"/>
              </a:rPr>
              <a:t>In which of the following testing strategies, a smallest testable unit is the encapsulated class or object?</a:t>
            </a:r>
            <a:br>
              <a:rPr lang="en-US" sz="1800" b="0" i="0" u="none" strike="noStrike" cap="none">
                <a:solidFill>
                  <a:srgbClr val="1B2437"/>
                </a:solidFill>
                <a:latin typeface="Times New Roman"/>
                <a:ea typeface="Times New Roman"/>
                <a:cs typeface="Times New Roman"/>
                <a:sym typeface="Times New Roman"/>
              </a:rPr>
            </a:br>
            <a:r>
              <a:rPr lang="en-US" sz="1800" b="0" i="0" u="none" strike="noStrike" cap="none">
                <a:solidFill>
                  <a:srgbClr val="1B2437"/>
                </a:solidFill>
                <a:latin typeface="Times New Roman"/>
                <a:ea typeface="Times New Roman"/>
                <a:cs typeface="Times New Roman"/>
                <a:sym typeface="Times New Roman"/>
              </a:rPr>
              <a:t>a) Unit testing</a:t>
            </a:r>
            <a:br>
              <a:rPr lang="en-US" sz="1800" b="0" i="0" u="none" strike="noStrike" cap="none">
                <a:solidFill>
                  <a:srgbClr val="1B2437"/>
                </a:solidFill>
                <a:latin typeface="Times New Roman"/>
                <a:ea typeface="Times New Roman"/>
                <a:cs typeface="Times New Roman"/>
                <a:sym typeface="Times New Roman"/>
              </a:rPr>
            </a:br>
            <a:r>
              <a:rPr lang="en-US" sz="1800" b="0" i="0" u="none" strike="noStrike" cap="none">
                <a:solidFill>
                  <a:srgbClr val="1B2437"/>
                </a:solidFill>
                <a:latin typeface="Times New Roman"/>
                <a:ea typeface="Times New Roman"/>
                <a:cs typeface="Times New Roman"/>
                <a:sym typeface="Times New Roman"/>
              </a:rPr>
              <a:t>b) Integration testing</a:t>
            </a:r>
            <a:br>
              <a:rPr lang="en-US" sz="1800" b="0" i="0" u="none" strike="noStrike" cap="none">
                <a:solidFill>
                  <a:srgbClr val="1B2437"/>
                </a:solidFill>
                <a:latin typeface="Times New Roman"/>
                <a:ea typeface="Times New Roman"/>
                <a:cs typeface="Times New Roman"/>
                <a:sym typeface="Times New Roman"/>
              </a:rPr>
            </a:br>
            <a:r>
              <a:rPr lang="en-US" sz="1800" b="0" i="0" u="none" strike="noStrike" cap="none">
                <a:solidFill>
                  <a:srgbClr val="1B2437"/>
                </a:solidFill>
                <a:latin typeface="Times New Roman"/>
                <a:ea typeface="Times New Roman"/>
                <a:cs typeface="Times New Roman"/>
                <a:sym typeface="Times New Roman"/>
              </a:rPr>
              <a:t>c) System testing</a:t>
            </a:r>
            <a:br>
              <a:rPr lang="en-US" sz="1800" b="0" i="0" u="none" strike="noStrike" cap="none">
                <a:solidFill>
                  <a:srgbClr val="1B2437"/>
                </a:solidFill>
                <a:latin typeface="Times New Roman"/>
                <a:ea typeface="Times New Roman"/>
                <a:cs typeface="Times New Roman"/>
                <a:sym typeface="Times New Roman"/>
              </a:rPr>
            </a:br>
            <a:r>
              <a:rPr lang="en-US" sz="1800" b="0" i="0" u="none" strike="noStrike" cap="none">
                <a:solidFill>
                  <a:srgbClr val="1B2437"/>
                </a:solidFill>
                <a:latin typeface="Times New Roman"/>
                <a:ea typeface="Times New Roman"/>
                <a:cs typeface="Times New Roman"/>
                <a:sym typeface="Times New Roman"/>
              </a:rPr>
              <a:t>d) None of the mentioned</a:t>
            </a:r>
            <a:endParaRPr sz="1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1B2437"/>
                </a:solidFill>
                <a:latin typeface="Times New Roman"/>
                <a:ea typeface="Times New Roman"/>
                <a:cs typeface="Times New Roman"/>
                <a:sym typeface="Times New Roman"/>
              </a:rPr>
              <a:t>Answer:</a:t>
            </a:r>
            <a:r>
              <a:rPr lang="en-US" sz="1800" b="0" i="0" u="none" strike="noStrike" cap="none">
                <a:solidFill>
                  <a:srgbClr val="1B2437"/>
                </a:solidFill>
                <a:latin typeface="Times New Roman"/>
                <a:ea typeface="Times New Roman"/>
                <a:cs typeface="Times New Roman"/>
                <a:sym typeface="Times New Roman"/>
              </a:rPr>
              <a:t> a</a:t>
            </a:r>
            <a:endParaRPr sz="18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537538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99"/>
          <p:cNvSpPr txBox="1"/>
          <p:nvPr/>
        </p:nvSpPr>
        <p:spPr>
          <a:xfrm>
            <a:off x="89554" y="275717"/>
            <a:ext cx="7395327"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000000"/>
                </a:solidFill>
                <a:latin typeface="Times"/>
                <a:ea typeface="Times"/>
                <a:cs typeface="Times"/>
                <a:sym typeface="Times"/>
              </a:rPr>
              <a:t>Bibliography</a:t>
            </a:r>
            <a:endParaRPr sz="1400" b="0" i="0" u="none" strike="noStrike" cap="none">
              <a:solidFill>
                <a:srgbClr val="000000"/>
              </a:solidFill>
              <a:latin typeface="Arial"/>
              <a:ea typeface="Arial"/>
              <a:cs typeface="Arial"/>
              <a:sym typeface="Arial"/>
            </a:endParaRPr>
          </a:p>
        </p:txBody>
      </p:sp>
      <p:sp>
        <p:nvSpPr>
          <p:cNvPr id="376" name="Google Shape;376;p99"/>
          <p:cNvSpPr txBox="1"/>
          <p:nvPr/>
        </p:nvSpPr>
        <p:spPr>
          <a:xfrm>
            <a:off x="623871" y="1069982"/>
            <a:ext cx="7395327" cy="369331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https://www.javatpoint.com/difference-between-object-oriented-testing-and-conventional-testing</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https://www.tutorialspoint.com/object_oriented_analysis_design/ooad_testing_quality_assurance.htm</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https://www.softwaretestinghelp.com/types-of-software-testing/</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https://www.techtarget.com/searchsoftwarequality/definition/integration-testing</a:t>
            </a:r>
            <a:endParaRPr sz="1800" b="0" i="0" u="none" strike="noStrike" cap="none">
              <a:solidFill>
                <a:srgbClr val="000000"/>
              </a:solidFill>
              <a:latin typeface="Times New Roman"/>
              <a:ea typeface="Times New Roman"/>
              <a:cs typeface="Times New Roman"/>
              <a:sym typeface="Times New Roman"/>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27"/>
          <p:cNvSpPr txBox="1">
            <a:spLocks noGrp="1"/>
          </p:cNvSpPr>
          <p:nvPr>
            <p:ph type="title"/>
          </p:nvPr>
        </p:nvSpPr>
        <p:spPr>
          <a:xfrm>
            <a:off x="1776470" y="220980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Clr>
                <a:schemeClr val="dk1"/>
              </a:buClr>
              <a:buSzPts val="2800"/>
              <a:buFont typeface="Times New Roman"/>
              <a:buNone/>
            </a:pPr>
            <a:r>
              <a:rPr lang="en-US" sz="4000" b="1"/>
              <a:t>THANK YOU</a:t>
            </a:r>
            <a:endParaRPr sz="4000" b="1"/>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TotalTime>
  <Words>3674</Words>
  <Application>Microsoft Office PowerPoint</Application>
  <PresentationFormat>On-screen Show (4:3)</PresentationFormat>
  <Paragraphs>281</Paragraphs>
  <Slides>39</Slides>
  <Notes>39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Noto Sans Symbols</vt:lpstr>
      <vt:lpstr>Times</vt:lpstr>
      <vt:lpstr>Times New Roman</vt:lpstr>
      <vt:lpstr>Wingdings</vt:lpstr>
      <vt:lpstr>Office Theme</vt:lpstr>
      <vt:lpstr>PowerPoint Presentation</vt:lpstr>
      <vt:lpstr>PowerPoint Presentation</vt:lpstr>
      <vt:lpstr>PowerPoint Presentation</vt:lpstr>
      <vt:lpstr>PowerPoint Presentation</vt:lpstr>
      <vt:lpstr>Testing Strategies</vt:lpstr>
      <vt:lpstr>PowerPoint Presentation</vt:lpstr>
      <vt:lpstr>PowerPoint Presentation</vt:lpstr>
      <vt:lpstr>PowerPoint Presentation</vt:lpstr>
      <vt:lpstr>PowerPoint Presentation</vt:lpstr>
      <vt:lpstr>Testing Strategies (contd.)</vt:lpstr>
      <vt:lpstr>PowerPoint Presentation</vt:lpstr>
      <vt:lpstr>PowerPoint Presentation</vt:lpstr>
      <vt:lpstr>PowerPoint Presentation</vt:lpstr>
      <vt:lpstr>Testing Strategies (contd.)</vt:lpstr>
      <vt:lpstr>Test Case Design for OO Software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ABC</dc:creator>
  <cp:lastModifiedBy>Suvarna Sharma</cp:lastModifiedBy>
  <cp:revision>11</cp:revision>
  <dcterms:created xsi:type="dcterms:W3CDTF">2010-04-09T07:36:15Z</dcterms:created>
  <dcterms:modified xsi:type="dcterms:W3CDTF">2025-03-12T05:13:46Z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ies>
</file>