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I/irzbeaf4WeDnxVvpAoom5qK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11697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3" name="Google Shape;4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387761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 name="Google Shape;5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9565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 name="Google Shape;5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7936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 name="Google Shape;6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0555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5" name="Google Shape;7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4351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4" name="Google Shape;8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2687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2" name="Google Shape;9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7458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0" name="Google Shape;10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7966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8" name="Google Shape;10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6827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7" name="Google Shape;11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2234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 name="Google Shape;12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5711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3" name="Google Shape;13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18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2394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0" name="Google Shape;150;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524602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8" name="Google Shape;15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181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5" name="Google Shape;16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8081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2" name="Google Shape;17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1241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9" name="Google Shape;17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8778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6" name="Google Shape;18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348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3" name="Google Shape;19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869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0" name="Google Shape;20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46027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23"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23"/>
          <p:cNvGrpSpPr/>
          <p:nvPr/>
        </p:nvGrpSpPr>
        <p:grpSpPr>
          <a:xfrm>
            <a:off x="6146800" y="0"/>
            <a:ext cx="2997200" cy="876300"/>
            <a:chOff x="6096000" y="3924300"/>
            <a:chExt cx="2997200" cy="876300"/>
          </a:xfrm>
        </p:grpSpPr>
        <p:sp>
          <p:nvSpPr>
            <p:cNvPr id="27" name="Google Shape;27;p2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23"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2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23"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2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a:ea typeface="Times New Roman"/>
                <a:cs typeface="Times New Roman"/>
                <a:sym typeface="Times New Roman"/>
              </a:defRPr>
            </a:lvl1pPr>
            <a:lvl2pPr marL="0" lvl="1" indent="0" algn="r">
              <a:spcBef>
                <a:spcPts val="0"/>
              </a:spcBef>
              <a:spcAft>
                <a:spcPts val="0"/>
              </a:spcAft>
              <a:buNone/>
              <a:defRPr sz="1200" b="1">
                <a:solidFill>
                  <a:schemeClr val="lt1"/>
                </a:solidFill>
                <a:latin typeface="Times New Roman"/>
                <a:ea typeface="Times New Roman"/>
                <a:cs typeface="Times New Roman"/>
                <a:sym typeface="Times New Roman"/>
              </a:defRPr>
            </a:lvl2pPr>
            <a:lvl3pPr marL="0" lvl="2" indent="0" algn="r">
              <a:spcBef>
                <a:spcPts val="0"/>
              </a:spcBef>
              <a:spcAft>
                <a:spcPts val="0"/>
              </a:spcAft>
              <a:buNone/>
              <a:defRPr sz="1200" b="1">
                <a:solidFill>
                  <a:schemeClr val="lt1"/>
                </a:solidFill>
                <a:latin typeface="Times New Roman"/>
                <a:ea typeface="Times New Roman"/>
                <a:cs typeface="Times New Roman"/>
                <a:sym typeface="Times New Roman"/>
              </a:defRPr>
            </a:lvl3pPr>
            <a:lvl4pPr marL="0" lvl="3" indent="0" algn="r">
              <a:spcBef>
                <a:spcPts val="0"/>
              </a:spcBef>
              <a:spcAft>
                <a:spcPts val="0"/>
              </a:spcAft>
              <a:buNone/>
              <a:defRPr sz="1200" b="1">
                <a:solidFill>
                  <a:schemeClr val="lt1"/>
                </a:solidFill>
                <a:latin typeface="Times New Roman"/>
                <a:ea typeface="Times New Roman"/>
                <a:cs typeface="Times New Roman"/>
                <a:sym typeface="Times New Roman"/>
              </a:defRPr>
            </a:lvl4pPr>
            <a:lvl5pPr marL="0" lvl="4" indent="0" algn="r">
              <a:spcBef>
                <a:spcPts val="0"/>
              </a:spcBef>
              <a:spcAft>
                <a:spcPts val="0"/>
              </a:spcAft>
              <a:buNone/>
              <a:defRPr sz="1200" b="1">
                <a:solidFill>
                  <a:schemeClr val="lt1"/>
                </a:solidFill>
                <a:latin typeface="Times New Roman"/>
                <a:ea typeface="Times New Roman"/>
                <a:cs typeface="Times New Roman"/>
                <a:sym typeface="Times New Roman"/>
              </a:defRPr>
            </a:lvl5pPr>
            <a:lvl6pPr marL="0" lvl="5" indent="0" algn="r">
              <a:spcBef>
                <a:spcPts val="0"/>
              </a:spcBef>
              <a:spcAft>
                <a:spcPts val="0"/>
              </a:spcAft>
              <a:buNone/>
              <a:defRPr sz="1200" b="1">
                <a:solidFill>
                  <a:schemeClr val="lt1"/>
                </a:solidFill>
                <a:latin typeface="Times New Roman"/>
                <a:ea typeface="Times New Roman"/>
                <a:cs typeface="Times New Roman"/>
                <a:sym typeface="Times New Roman"/>
              </a:defRPr>
            </a:lvl6pPr>
            <a:lvl7pPr marL="0" lvl="6" indent="0" algn="r">
              <a:spcBef>
                <a:spcPts val="0"/>
              </a:spcBef>
              <a:spcAft>
                <a:spcPts val="0"/>
              </a:spcAft>
              <a:buNone/>
              <a:defRPr sz="1200" b="1">
                <a:solidFill>
                  <a:schemeClr val="lt1"/>
                </a:solidFill>
                <a:latin typeface="Times New Roman"/>
                <a:ea typeface="Times New Roman"/>
                <a:cs typeface="Times New Roman"/>
                <a:sym typeface="Times New Roman"/>
              </a:defRPr>
            </a:lvl7pPr>
            <a:lvl8pPr marL="0" lvl="7" indent="0" algn="r">
              <a:spcBef>
                <a:spcPts val="0"/>
              </a:spcBef>
              <a:spcAft>
                <a:spcPts val="0"/>
              </a:spcAft>
              <a:buNone/>
              <a:defRPr sz="1200" b="1">
                <a:solidFill>
                  <a:schemeClr val="lt1"/>
                </a:solidFill>
                <a:latin typeface="Times New Roman"/>
                <a:ea typeface="Times New Roman"/>
                <a:cs typeface="Times New Roman"/>
                <a:sym typeface="Times New Roman"/>
              </a:defRPr>
            </a:lvl8pPr>
            <a:lvl9pPr marL="0" lvl="8" indent="0" algn="r">
              <a:spcBef>
                <a:spcPts val="0"/>
              </a:spcBef>
              <a:spcAft>
                <a:spcPts val="0"/>
              </a:spcAft>
              <a:buNone/>
              <a:defRPr sz="1200" b="1">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7" name="Google Shape;37;p24"/>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chemeClr val="lt1"/>
                </a:solidFill>
                <a:latin typeface="Times New Roman"/>
                <a:ea typeface="Times New Roman"/>
                <a:cs typeface="Times New Roman"/>
                <a:sym typeface="Times New Roman"/>
              </a:defRPr>
            </a:lvl1pPr>
            <a:lvl2pPr marL="0" lvl="1" indent="0" algn="r">
              <a:spcBef>
                <a:spcPts val="0"/>
              </a:spcBef>
              <a:spcAft>
                <a:spcPts val="0"/>
              </a:spcAft>
              <a:buNone/>
              <a:defRPr sz="1200" b="1">
                <a:solidFill>
                  <a:schemeClr val="lt1"/>
                </a:solidFill>
                <a:latin typeface="Times New Roman"/>
                <a:ea typeface="Times New Roman"/>
                <a:cs typeface="Times New Roman"/>
                <a:sym typeface="Times New Roman"/>
              </a:defRPr>
            </a:lvl2pPr>
            <a:lvl3pPr marL="0" lvl="2" indent="0" algn="r">
              <a:spcBef>
                <a:spcPts val="0"/>
              </a:spcBef>
              <a:spcAft>
                <a:spcPts val="0"/>
              </a:spcAft>
              <a:buNone/>
              <a:defRPr sz="1200" b="1">
                <a:solidFill>
                  <a:schemeClr val="lt1"/>
                </a:solidFill>
                <a:latin typeface="Times New Roman"/>
                <a:ea typeface="Times New Roman"/>
                <a:cs typeface="Times New Roman"/>
                <a:sym typeface="Times New Roman"/>
              </a:defRPr>
            </a:lvl3pPr>
            <a:lvl4pPr marL="0" lvl="3" indent="0" algn="r">
              <a:spcBef>
                <a:spcPts val="0"/>
              </a:spcBef>
              <a:spcAft>
                <a:spcPts val="0"/>
              </a:spcAft>
              <a:buNone/>
              <a:defRPr sz="1200" b="1">
                <a:solidFill>
                  <a:schemeClr val="lt1"/>
                </a:solidFill>
                <a:latin typeface="Times New Roman"/>
                <a:ea typeface="Times New Roman"/>
                <a:cs typeface="Times New Roman"/>
                <a:sym typeface="Times New Roman"/>
              </a:defRPr>
            </a:lvl4pPr>
            <a:lvl5pPr marL="0" lvl="4" indent="0" algn="r">
              <a:spcBef>
                <a:spcPts val="0"/>
              </a:spcBef>
              <a:spcAft>
                <a:spcPts val="0"/>
              </a:spcAft>
              <a:buNone/>
              <a:defRPr sz="1200" b="1">
                <a:solidFill>
                  <a:schemeClr val="lt1"/>
                </a:solidFill>
                <a:latin typeface="Times New Roman"/>
                <a:ea typeface="Times New Roman"/>
                <a:cs typeface="Times New Roman"/>
                <a:sym typeface="Times New Roman"/>
              </a:defRPr>
            </a:lvl5pPr>
            <a:lvl6pPr marL="0" lvl="5" indent="0" algn="r">
              <a:spcBef>
                <a:spcPts val="0"/>
              </a:spcBef>
              <a:spcAft>
                <a:spcPts val="0"/>
              </a:spcAft>
              <a:buNone/>
              <a:defRPr sz="1200" b="1">
                <a:solidFill>
                  <a:schemeClr val="lt1"/>
                </a:solidFill>
                <a:latin typeface="Times New Roman"/>
                <a:ea typeface="Times New Roman"/>
                <a:cs typeface="Times New Roman"/>
                <a:sym typeface="Times New Roman"/>
              </a:defRPr>
            </a:lvl6pPr>
            <a:lvl7pPr marL="0" lvl="6" indent="0" algn="r">
              <a:spcBef>
                <a:spcPts val="0"/>
              </a:spcBef>
              <a:spcAft>
                <a:spcPts val="0"/>
              </a:spcAft>
              <a:buNone/>
              <a:defRPr sz="1200" b="1">
                <a:solidFill>
                  <a:schemeClr val="lt1"/>
                </a:solidFill>
                <a:latin typeface="Times New Roman"/>
                <a:ea typeface="Times New Roman"/>
                <a:cs typeface="Times New Roman"/>
                <a:sym typeface="Times New Roman"/>
              </a:defRPr>
            </a:lvl7pPr>
            <a:lvl8pPr marL="0" lvl="7" indent="0" algn="r">
              <a:spcBef>
                <a:spcPts val="0"/>
              </a:spcBef>
              <a:spcAft>
                <a:spcPts val="0"/>
              </a:spcAft>
              <a:buNone/>
              <a:defRPr sz="1200" b="1">
                <a:solidFill>
                  <a:schemeClr val="lt1"/>
                </a:solidFill>
                <a:latin typeface="Times New Roman"/>
                <a:ea typeface="Times New Roman"/>
                <a:cs typeface="Times New Roman"/>
                <a:sym typeface="Times New Roman"/>
              </a:defRPr>
            </a:lvl8pPr>
            <a:lvl9pPr marL="0" lvl="8" indent="0" algn="r">
              <a:spcBef>
                <a:spcPts val="0"/>
              </a:spcBef>
              <a:spcAft>
                <a:spcPts val="0"/>
              </a:spcAft>
              <a:buNone/>
              <a:defRPr sz="1200" b="1">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22"/>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2"/>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22"/>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 name="Google Shape;14;p22"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5" name="Google Shape;15;p22"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6" name="Google Shape;16;p22"/>
          <p:cNvGrpSpPr/>
          <p:nvPr/>
        </p:nvGrpSpPr>
        <p:grpSpPr>
          <a:xfrm>
            <a:off x="6146800" y="0"/>
            <a:ext cx="2997200" cy="876300"/>
            <a:chOff x="6096000" y="3924300"/>
            <a:chExt cx="2997200" cy="876300"/>
          </a:xfrm>
        </p:grpSpPr>
        <p:sp>
          <p:nvSpPr>
            <p:cNvPr id="17" name="Google Shape;17;p22"/>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 name="Google Shape;18;p22"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19" name="Google Shape;19;p22"/>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0" name="Google Shape;20;p22"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
        <p:nvSpPr>
          <p:cNvPr id="21" name="Google Shape;21;p22"/>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 name="Google Shape;22;p22"/>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22"/>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u="none">
                <a:solidFill>
                  <a:schemeClr val="lt1"/>
                </a:solidFill>
                <a:latin typeface="Times New Roman"/>
                <a:ea typeface="Times New Roman"/>
                <a:cs typeface="Times New Roman"/>
                <a:sym typeface="Times New Roman"/>
              </a:defRPr>
            </a:lvl1pPr>
            <a:lvl2pPr marL="0" marR="0" lvl="1" indent="0" algn="r" rtl="0">
              <a:spcBef>
                <a:spcPts val="0"/>
              </a:spcBef>
              <a:spcAft>
                <a:spcPts val="0"/>
              </a:spcAft>
              <a:buNone/>
              <a:defRPr sz="1200" b="1" u="none">
                <a:solidFill>
                  <a:schemeClr val="lt1"/>
                </a:solidFill>
                <a:latin typeface="Times New Roman"/>
                <a:ea typeface="Times New Roman"/>
                <a:cs typeface="Times New Roman"/>
                <a:sym typeface="Times New Roman"/>
              </a:defRPr>
            </a:lvl2pPr>
            <a:lvl3pPr marL="0" marR="0" lvl="2" indent="0" algn="r" rtl="0">
              <a:spcBef>
                <a:spcPts val="0"/>
              </a:spcBef>
              <a:spcAft>
                <a:spcPts val="0"/>
              </a:spcAft>
              <a:buNone/>
              <a:defRPr sz="1200" b="1" u="none">
                <a:solidFill>
                  <a:schemeClr val="lt1"/>
                </a:solidFill>
                <a:latin typeface="Times New Roman"/>
                <a:ea typeface="Times New Roman"/>
                <a:cs typeface="Times New Roman"/>
                <a:sym typeface="Times New Roman"/>
              </a:defRPr>
            </a:lvl3pPr>
            <a:lvl4pPr marL="0" marR="0" lvl="3" indent="0" algn="r" rtl="0">
              <a:spcBef>
                <a:spcPts val="0"/>
              </a:spcBef>
              <a:spcAft>
                <a:spcPts val="0"/>
              </a:spcAft>
              <a:buNone/>
              <a:defRPr sz="1200" b="1" u="none">
                <a:solidFill>
                  <a:schemeClr val="lt1"/>
                </a:solidFill>
                <a:latin typeface="Times New Roman"/>
                <a:ea typeface="Times New Roman"/>
                <a:cs typeface="Times New Roman"/>
                <a:sym typeface="Times New Roman"/>
              </a:defRPr>
            </a:lvl4pPr>
            <a:lvl5pPr marL="0" marR="0" lvl="4" indent="0" algn="r" rtl="0">
              <a:spcBef>
                <a:spcPts val="0"/>
              </a:spcBef>
              <a:spcAft>
                <a:spcPts val="0"/>
              </a:spcAft>
              <a:buNone/>
              <a:defRPr sz="1200" b="1" u="none">
                <a:solidFill>
                  <a:schemeClr val="lt1"/>
                </a:solidFill>
                <a:latin typeface="Times New Roman"/>
                <a:ea typeface="Times New Roman"/>
                <a:cs typeface="Times New Roman"/>
                <a:sym typeface="Times New Roman"/>
              </a:defRPr>
            </a:lvl5pPr>
            <a:lvl6pPr marL="0" marR="0" lvl="5" indent="0" algn="r" rtl="0">
              <a:spcBef>
                <a:spcPts val="0"/>
              </a:spcBef>
              <a:spcAft>
                <a:spcPts val="0"/>
              </a:spcAft>
              <a:buNone/>
              <a:defRPr sz="1200" b="1" u="none">
                <a:solidFill>
                  <a:schemeClr val="lt1"/>
                </a:solidFill>
                <a:latin typeface="Times New Roman"/>
                <a:ea typeface="Times New Roman"/>
                <a:cs typeface="Times New Roman"/>
                <a:sym typeface="Times New Roman"/>
              </a:defRPr>
            </a:lvl6pPr>
            <a:lvl7pPr marL="0" marR="0" lvl="6" indent="0" algn="r" rtl="0">
              <a:spcBef>
                <a:spcPts val="0"/>
              </a:spcBef>
              <a:spcAft>
                <a:spcPts val="0"/>
              </a:spcAft>
              <a:buNone/>
              <a:defRPr sz="1200" b="1" u="none">
                <a:solidFill>
                  <a:schemeClr val="lt1"/>
                </a:solidFill>
                <a:latin typeface="Times New Roman"/>
                <a:ea typeface="Times New Roman"/>
                <a:cs typeface="Times New Roman"/>
                <a:sym typeface="Times New Roman"/>
              </a:defRPr>
            </a:lvl7pPr>
            <a:lvl8pPr marL="0" marR="0" lvl="7" indent="0" algn="r" rtl="0">
              <a:spcBef>
                <a:spcPts val="0"/>
              </a:spcBef>
              <a:spcAft>
                <a:spcPts val="0"/>
              </a:spcAft>
              <a:buNone/>
              <a:defRPr sz="1200" b="1" u="none">
                <a:solidFill>
                  <a:schemeClr val="lt1"/>
                </a:solidFill>
                <a:latin typeface="Times New Roman"/>
                <a:ea typeface="Times New Roman"/>
                <a:cs typeface="Times New Roman"/>
                <a:sym typeface="Times New Roman"/>
              </a:defRPr>
            </a:lvl8pPr>
            <a:lvl9pPr marL="0" marR="0" lvl="8" indent="0" algn="r" rtl="0">
              <a:spcBef>
                <a:spcPts val="0"/>
              </a:spcBef>
              <a:spcAft>
                <a:spcPts val="0"/>
              </a:spcAft>
              <a:buNone/>
              <a:defRPr sz="1200" b="1" u="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acceptance-testing-software-testing/" TargetMode="External"/><Relationship Id="rId7" Type="http://schemas.openxmlformats.org/officeDocument/2006/relationships/hyperlink" Target="https://www.geeksforgeeks.org/performance-testing-software-testing/"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geeksforgeeks.org/software-testing-functional-testing/" TargetMode="External"/><Relationship Id="rId5" Type="http://schemas.openxmlformats.org/officeDocument/2006/relationships/hyperlink" Target="https://www.geeksforgeeks.org/unit-testing-software-testing/" TargetMode="External"/><Relationship Id="rId4" Type="http://schemas.openxmlformats.org/officeDocument/2006/relationships/hyperlink" Target="https://www.geeksforgeeks.org/software-engineering-integration-testing/"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
          <p:cNvSpPr txBox="1"/>
          <p:nvPr/>
        </p:nvSpPr>
        <p:spPr>
          <a:xfrm>
            <a:off x="152400" y="914400"/>
            <a:ext cx="8763000" cy="40386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5400" b="1">
                <a:solidFill>
                  <a:srgbClr val="3A30FA"/>
                </a:solidFill>
                <a:latin typeface="Times New Roman"/>
                <a:ea typeface="Times New Roman"/>
                <a:cs typeface="Times New Roman"/>
                <a:sym typeface="Times New Roman"/>
              </a:rPr>
              <a:t>UML Activity Diagram</a:t>
            </a:r>
            <a:endParaRPr/>
          </a:p>
        </p:txBody>
      </p:sp>
      <p:sp>
        <p:nvSpPr>
          <p:cNvPr id="46" name="Google Shape;46;p1"/>
          <p:cNvSpPr txBox="1"/>
          <p:nvPr/>
        </p:nvSpPr>
        <p:spPr>
          <a:xfrm>
            <a:off x="1676400" y="4953000"/>
            <a:ext cx="5943600" cy="147732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1">
                <a:solidFill>
                  <a:schemeClr val="dk1"/>
                </a:solidFill>
                <a:latin typeface="Times New Roman"/>
                <a:ea typeface="Times New Roman"/>
                <a:cs typeface="Times New Roman"/>
                <a:sym typeface="Times New Roman"/>
              </a:rPr>
              <a:t>Dr. Bhavna Sareen</a:t>
            </a:r>
            <a:endParaRPr/>
          </a:p>
          <a:p>
            <a:pPr marL="0" marR="0" lvl="0" indent="0" algn="ctr" rtl="0">
              <a:spcBef>
                <a:spcPts val="0"/>
              </a:spcBef>
              <a:spcAft>
                <a:spcPts val="0"/>
              </a:spcAft>
              <a:buNone/>
            </a:pPr>
            <a:r>
              <a:rPr lang="en-US" sz="1800">
                <a:solidFill>
                  <a:srgbClr val="FF0000"/>
                </a:solidFill>
                <a:latin typeface="Times New Roman"/>
                <a:ea typeface="Times New Roman"/>
                <a:cs typeface="Times New Roman"/>
                <a:sym typeface="Times New Roman"/>
              </a:rPr>
              <a:t>Assistant Professor </a:t>
            </a:r>
            <a:endParaRPr/>
          </a:p>
          <a:p>
            <a:pPr marL="0" marR="0" lvl="0" indent="0" algn="ctr" rtl="0">
              <a:spcBef>
                <a:spcPts val="0"/>
              </a:spcBef>
              <a:spcAft>
                <a:spcPts val="0"/>
              </a:spcAft>
              <a:buNone/>
            </a:pPr>
            <a:r>
              <a:rPr lang="en-US" sz="1800">
                <a:solidFill>
                  <a:srgbClr val="FF0000"/>
                </a:solidFill>
                <a:latin typeface="Times New Roman"/>
                <a:ea typeface="Times New Roman"/>
                <a:cs typeface="Times New Roman"/>
                <a:sym typeface="Times New Roman"/>
              </a:rPr>
              <a:t>Department of Computer Science and Engineering</a:t>
            </a:r>
            <a:endParaRPr/>
          </a:p>
          <a:p>
            <a:pPr marL="0" marR="0" lvl="0" indent="0" algn="ctr" rtl="0">
              <a:spcBef>
                <a:spcPts val="0"/>
              </a:spcBef>
              <a:spcAft>
                <a:spcPts val="0"/>
              </a:spcAft>
              <a:buNone/>
            </a:pPr>
            <a:r>
              <a:rPr lang="en-US" sz="1800">
                <a:solidFill>
                  <a:srgbClr val="FF0000"/>
                </a:solidFill>
                <a:latin typeface="Times New Roman"/>
                <a:ea typeface="Times New Roman"/>
                <a:cs typeface="Times New Roman"/>
                <a:sym typeface="Times New Roman"/>
              </a:rPr>
              <a:t>Chitkara University, Punjab</a:t>
            </a:r>
            <a:endParaRPr/>
          </a:p>
        </p:txBody>
      </p:sp>
      <p:sp>
        <p:nvSpPr>
          <p:cNvPr id="47" name="Google Shape;47;p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
        <p:nvSpPr>
          <p:cNvPr id="48" name="Google Shape;48;p1"/>
          <p:cNvSpPr txBox="1">
            <a:spLocks noGrp="1"/>
          </p:cNvSpPr>
          <p:nvPr>
            <p:ph type="title"/>
          </p:nvPr>
        </p:nvSpPr>
        <p:spPr>
          <a:xfrm>
            <a:off x="0" y="0"/>
            <a:ext cx="6477000" cy="8382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dirty="0" smtClean="0"/>
              <a:t> </a:t>
            </a:r>
            <a:endParaRPr dirty="0"/>
          </a:p>
        </p:txBody>
      </p:sp>
      <p:sp>
        <p:nvSpPr>
          <p:cNvPr id="49" name="Google Shape;49;p1"/>
          <p:cNvSpPr txBox="1">
            <a:spLocks noGrp="1"/>
          </p:cNvSpPr>
          <p:nvPr>
            <p:ph type="body" idx="1"/>
          </p:nvPr>
        </p:nvSpPr>
        <p:spPr>
          <a:xfrm>
            <a:off x="457200" y="1371600"/>
            <a:ext cx="8229600" cy="4526100"/>
          </a:xfrm>
          <a:prstGeom prst="rect">
            <a:avLst/>
          </a:prstGeom>
        </p:spPr>
        <p:txBody>
          <a:bodyPr spcFirstLastPara="1" wrap="square" lIns="91425" tIns="45700" rIns="91425" bIns="45700" anchor="t" anchorCtr="0">
            <a:noAutofit/>
          </a:bodyPr>
          <a:lstStyle/>
          <a:p>
            <a:pPr marL="0" lvl="0" indent="0" algn="l" rtl="0">
              <a:spcBef>
                <a:spcPts val="440"/>
              </a:spcBef>
              <a:spcAft>
                <a:spcPts val="0"/>
              </a:spcAft>
              <a:buNone/>
            </a:pPr>
            <a:r>
              <a:rPr lang="en-US" dirty="0" smtClean="0"/>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Introduction to Activity Diagram</a:t>
            </a:r>
            <a:endParaRPr sz="2800" b="1">
              <a:latin typeface="Times"/>
              <a:ea typeface="Times"/>
              <a:cs typeface="Times"/>
              <a:sym typeface="Times"/>
            </a:endParaRPr>
          </a:p>
        </p:txBody>
      </p:sp>
      <p:sp>
        <p:nvSpPr>
          <p:cNvPr id="55" name="Google Shape;55;p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
        <p:nvSpPr>
          <p:cNvPr id="56" name="Google Shape;56;p2"/>
          <p:cNvSpPr/>
          <p:nvPr/>
        </p:nvSpPr>
        <p:spPr>
          <a:xfrm>
            <a:off x="152400" y="980689"/>
            <a:ext cx="8763000" cy="470894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In UML, the activity diagram is used </a:t>
            </a:r>
            <a:r>
              <a:rPr lang="en-US" sz="2000" b="1" dirty="0">
                <a:solidFill>
                  <a:srgbClr val="333333"/>
                </a:solidFill>
                <a:latin typeface="Times New Roman"/>
                <a:ea typeface="Times New Roman"/>
                <a:cs typeface="Times New Roman"/>
                <a:sym typeface="Times New Roman"/>
              </a:rPr>
              <a:t>to demonstrate the flow of control within the system rather than the implementation. </a:t>
            </a:r>
            <a:endParaRPr b="1"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The activity diagram helps in envisioning the workflow from one activity to another.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puts emphasis on the </a:t>
            </a:r>
            <a:r>
              <a:rPr lang="en-US" sz="2000" b="1" i="1" dirty="0">
                <a:solidFill>
                  <a:srgbClr val="333333"/>
                </a:solidFill>
                <a:latin typeface="Times New Roman"/>
                <a:ea typeface="Times New Roman"/>
                <a:cs typeface="Times New Roman"/>
                <a:sym typeface="Times New Roman"/>
              </a:rPr>
              <a:t>condition of flow and the order </a:t>
            </a:r>
            <a:r>
              <a:rPr lang="en-US" sz="2000" dirty="0">
                <a:solidFill>
                  <a:srgbClr val="333333"/>
                </a:solidFill>
                <a:latin typeface="Times New Roman"/>
                <a:ea typeface="Times New Roman"/>
                <a:cs typeface="Times New Roman"/>
                <a:sym typeface="Times New Roman"/>
              </a:rPr>
              <a:t>in which it occurs.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The flow can be sequential, branched, or concurrent, and to deal with such kinds of flows, the activity diagram has come up with a fork, join, etc.</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is also termed as an </a:t>
            </a:r>
            <a:r>
              <a:rPr lang="en-US" sz="2000" b="1" dirty="0">
                <a:solidFill>
                  <a:srgbClr val="333333"/>
                </a:solidFill>
                <a:latin typeface="Times New Roman"/>
                <a:ea typeface="Times New Roman"/>
                <a:cs typeface="Times New Roman"/>
                <a:sym typeface="Times New Roman"/>
              </a:rPr>
              <a:t>object-oriented flowchart</a:t>
            </a:r>
            <a:r>
              <a:rPr lang="en-US" sz="2000" dirty="0">
                <a:solidFill>
                  <a:srgbClr val="333333"/>
                </a:solidFill>
                <a:latin typeface="Times New Roman"/>
                <a:ea typeface="Times New Roman"/>
                <a:cs typeface="Times New Roman"/>
                <a:sym typeface="Times New Roman"/>
              </a:rPr>
              <a:t>.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encompasses activities composed of a set of actions or operations that are applied to model the behavioral diagram.</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Basic Components of Activity Diagram</a:t>
            </a:r>
            <a:endParaRPr sz="2800" b="1">
              <a:latin typeface="Times"/>
              <a:ea typeface="Times"/>
              <a:cs typeface="Times"/>
              <a:sym typeface="Times"/>
            </a:endParaRPr>
          </a:p>
        </p:txBody>
      </p:sp>
      <p:sp>
        <p:nvSpPr>
          <p:cNvPr id="62" name="Google Shape;62;p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63" name="Google Shape;63;p3"/>
          <p:cNvSpPr/>
          <p:nvPr/>
        </p:nvSpPr>
        <p:spPr>
          <a:xfrm>
            <a:off x="152400" y="980689"/>
            <a:ext cx="8763000" cy="517060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i="0" dirty="0">
                <a:solidFill>
                  <a:srgbClr val="C00000"/>
                </a:solidFill>
                <a:latin typeface="Times New Roman"/>
                <a:ea typeface="Times New Roman"/>
                <a:cs typeface="Times New Roman"/>
                <a:sym typeface="Times New Roman"/>
              </a:rPr>
              <a:t>1. Activity</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The categorization of behavior into one or more actions is termed as an activity.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In other words, it can be said that </a:t>
            </a:r>
            <a:r>
              <a:rPr lang="en-US" sz="2000" b="1" dirty="0">
                <a:solidFill>
                  <a:srgbClr val="333333"/>
                </a:solidFill>
                <a:latin typeface="Times New Roman"/>
                <a:ea typeface="Times New Roman"/>
                <a:cs typeface="Times New Roman"/>
                <a:sym typeface="Times New Roman"/>
              </a:rPr>
              <a:t>an activity is a network of nodes that are connected by edges. </a:t>
            </a:r>
            <a:endParaRPr b="1"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The edges depict the flow of execution.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may contain action nodes, control nodes, or object nodes.</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The activities are initiated at the initial node and are terminated at the final node.</a:t>
            </a:r>
            <a:endParaRPr dirty="0"/>
          </a:p>
          <a:p>
            <a:pPr marL="285750" marR="0" lvl="0" indent="-158750" algn="just" rtl="0">
              <a:lnSpc>
                <a:spcPct val="150000"/>
              </a:lnSpc>
              <a:spcBef>
                <a:spcPts val="0"/>
              </a:spcBef>
              <a:spcAft>
                <a:spcPts val="0"/>
              </a:spcAft>
              <a:buClr>
                <a:schemeClr val="dk1"/>
              </a:buClr>
              <a:buSzPts val="2000"/>
              <a:buFont typeface="Arial"/>
              <a:buNone/>
            </a:pP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b="0" i="0" dirty="0">
              <a:solidFill>
                <a:srgbClr val="333333"/>
              </a:solidFill>
              <a:latin typeface="Times New Roman"/>
              <a:ea typeface="Times New Roman"/>
              <a:cs typeface="Times New Roman"/>
              <a:sym typeface="Times New Roman"/>
            </a:endParaRPr>
          </a:p>
        </p:txBody>
      </p:sp>
      <p:pic>
        <p:nvPicPr>
          <p:cNvPr id="64" name="Google Shape;64;p3"/>
          <p:cNvPicPr preferRelativeResize="0"/>
          <p:nvPr/>
        </p:nvPicPr>
        <p:blipFill rotWithShape="1">
          <a:blip r:embed="rId3">
            <a:alphaModFix/>
          </a:blip>
          <a:srcRect/>
          <a:stretch/>
        </p:blipFill>
        <p:spPr>
          <a:xfrm>
            <a:off x="3711532" y="4572000"/>
            <a:ext cx="1644735" cy="8763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Basic Components of Activity Diagram</a:t>
            </a:r>
            <a:endParaRPr sz="2800" b="1">
              <a:latin typeface="Times"/>
              <a:ea typeface="Times"/>
              <a:cs typeface="Times"/>
              <a:sym typeface="Times"/>
            </a:endParaRPr>
          </a:p>
        </p:txBody>
      </p:sp>
      <p:sp>
        <p:nvSpPr>
          <p:cNvPr id="70" name="Google Shape;70;p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
        <p:nvSpPr>
          <p:cNvPr id="71" name="Google Shape;71;p4"/>
          <p:cNvSpPr/>
          <p:nvPr/>
        </p:nvSpPr>
        <p:spPr>
          <a:xfrm>
            <a:off x="152400" y="980689"/>
            <a:ext cx="8763000" cy="532449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dirty="0">
                <a:solidFill>
                  <a:srgbClr val="C00000"/>
                </a:solidFill>
                <a:latin typeface="Times New Roman"/>
                <a:ea typeface="Times New Roman"/>
                <a:cs typeface="Times New Roman"/>
                <a:sym typeface="Times New Roman"/>
              </a:rPr>
              <a:t>2</a:t>
            </a:r>
            <a:r>
              <a:rPr lang="en-US" sz="2000" b="1" i="0" dirty="0">
                <a:solidFill>
                  <a:srgbClr val="C00000"/>
                </a:solidFill>
                <a:latin typeface="Times New Roman"/>
                <a:ea typeface="Times New Roman"/>
                <a:cs typeface="Times New Roman"/>
                <a:sym typeface="Times New Roman"/>
              </a:rPr>
              <a:t>. Activity Partition/</a:t>
            </a:r>
            <a:r>
              <a:rPr lang="en-US" sz="2000" b="1" i="0" dirty="0" err="1">
                <a:solidFill>
                  <a:srgbClr val="C00000"/>
                </a:solidFill>
                <a:latin typeface="Times New Roman"/>
                <a:ea typeface="Times New Roman"/>
                <a:cs typeface="Times New Roman"/>
                <a:sym typeface="Times New Roman"/>
              </a:rPr>
              <a:t>Swimlane</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The </a:t>
            </a:r>
            <a:r>
              <a:rPr lang="en-US" sz="2000" dirty="0" err="1">
                <a:solidFill>
                  <a:srgbClr val="333333"/>
                </a:solidFill>
                <a:latin typeface="Times New Roman"/>
                <a:ea typeface="Times New Roman"/>
                <a:cs typeface="Times New Roman"/>
                <a:sym typeface="Times New Roman"/>
              </a:rPr>
              <a:t>swimlane</a:t>
            </a:r>
            <a:r>
              <a:rPr lang="en-US" sz="2000" dirty="0">
                <a:solidFill>
                  <a:srgbClr val="333333"/>
                </a:solidFill>
                <a:latin typeface="Times New Roman"/>
                <a:ea typeface="Times New Roman"/>
                <a:cs typeface="Times New Roman"/>
                <a:sym typeface="Times New Roman"/>
              </a:rPr>
              <a:t> is used to </a:t>
            </a:r>
            <a:r>
              <a:rPr lang="en-US" sz="2000" b="1" dirty="0">
                <a:solidFill>
                  <a:srgbClr val="333333"/>
                </a:solidFill>
                <a:latin typeface="Times New Roman"/>
                <a:ea typeface="Times New Roman"/>
                <a:cs typeface="Times New Roman"/>
                <a:sym typeface="Times New Roman"/>
              </a:rPr>
              <a:t>cluster all the related activities in one column </a:t>
            </a:r>
            <a:r>
              <a:rPr lang="en-US" sz="2000" dirty="0">
                <a:solidFill>
                  <a:srgbClr val="333333"/>
                </a:solidFill>
                <a:latin typeface="Times New Roman"/>
                <a:ea typeface="Times New Roman"/>
                <a:cs typeface="Times New Roman"/>
                <a:sym typeface="Times New Roman"/>
              </a:rPr>
              <a:t>or one row.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can be either vertical or horizontal.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used to add modularity to the activity diagram.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is not necessary to incorporate </a:t>
            </a:r>
            <a:r>
              <a:rPr lang="en-US" sz="2000" dirty="0" err="1">
                <a:solidFill>
                  <a:srgbClr val="333333"/>
                </a:solidFill>
                <a:latin typeface="Times New Roman"/>
                <a:ea typeface="Times New Roman"/>
                <a:cs typeface="Times New Roman"/>
                <a:sym typeface="Times New Roman"/>
              </a:rPr>
              <a:t>swimlane</a:t>
            </a:r>
            <a:r>
              <a:rPr lang="en-US" sz="2000" dirty="0">
                <a:solidFill>
                  <a:srgbClr val="333333"/>
                </a:solidFill>
                <a:latin typeface="Times New Roman"/>
                <a:ea typeface="Times New Roman"/>
                <a:cs typeface="Times New Roman"/>
                <a:sym typeface="Times New Roman"/>
              </a:rPr>
              <a:t> in the activity diagram. But it is used to </a:t>
            </a:r>
            <a:r>
              <a:rPr lang="en-US" sz="2000" b="1" dirty="0">
                <a:solidFill>
                  <a:srgbClr val="333333"/>
                </a:solidFill>
                <a:latin typeface="Times New Roman"/>
                <a:ea typeface="Times New Roman"/>
                <a:cs typeface="Times New Roman"/>
                <a:sym typeface="Times New Roman"/>
              </a:rPr>
              <a:t>add more transparency to the activity diagram.</a:t>
            </a:r>
            <a:endParaRPr b="1" dirty="0"/>
          </a:p>
          <a:p>
            <a:pPr marL="0" marR="0" lvl="0" indent="0" algn="l" rtl="0">
              <a:spcBef>
                <a:spcPts val="0"/>
              </a:spcBef>
              <a:spcAft>
                <a:spcPts val="0"/>
              </a:spcAft>
              <a:buNone/>
            </a:pPr>
            <a:r>
              <a:rPr lang="en-US" sz="2000" dirty="0">
                <a:solidFill>
                  <a:schemeClr val="dk1"/>
                </a:solidFill>
                <a:latin typeface="Arial"/>
                <a:ea typeface="Arial"/>
                <a:cs typeface="Arial"/>
                <a:sym typeface="Arial"/>
              </a:rPr>
              <a:t/>
            </a:r>
            <a:br>
              <a:rPr lang="en-US" sz="2000" dirty="0">
                <a:solidFill>
                  <a:schemeClr val="dk1"/>
                </a:solidFill>
                <a:latin typeface="Arial"/>
                <a:ea typeface="Arial"/>
                <a:cs typeface="Arial"/>
                <a:sym typeface="Arial"/>
              </a:rPr>
            </a:b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b="0" i="0" dirty="0">
              <a:solidFill>
                <a:srgbClr val="333333"/>
              </a:solidFill>
              <a:latin typeface="Times New Roman"/>
              <a:ea typeface="Times New Roman"/>
              <a:cs typeface="Times New Roman"/>
              <a:sym typeface="Times New Roman"/>
            </a:endParaRPr>
          </a:p>
        </p:txBody>
      </p:sp>
      <p:pic>
        <p:nvPicPr>
          <p:cNvPr id="72" name="Google Shape;72;p4"/>
          <p:cNvPicPr preferRelativeResize="0"/>
          <p:nvPr/>
        </p:nvPicPr>
        <p:blipFill rotWithShape="1">
          <a:blip r:embed="rId3">
            <a:alphaModFix/>
          </a:blip>
          <a:srcRect/>
          <a:stretch/>
        </p:blipFill>
        <p:spPr>
          <a:xfrm>
            <a:off x="6477000" y="3962400"/>
            <a:ext cx="1752690" cy="20638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Basic Components of Activity Diagram</a:t>
            </a:r>
            <a:endParaRPr sz="2800" b="1">
              <a:latin typeface="Times"/>
              <a:ea typeface="Times"/>
              <a:cs typeface="Times"/>
              <a:sym typeface="Times"/>
            </a:endParaRPr>
          </a:p>
        </p:txBody>
      </p:sp>
      <p:sp>
        <p:nvSpPr>
          <p:cNvPr id="78" name="Google Shape;78;p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79" name="Google Shape;79;p5"/>
          <p:cNvSpPr/>
          <p:nvPr/>
        </p:nvSpPr>
        <p:spPr>
          <a:xfrm>
            <a:off x="152400" y="980689"/>
            <a:ext cx="8763000" cy="484744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i="0" dirty="0">
                <a:solidFill>
                  <a:srgbClr val="C00000"/>
                </a:solidFill>
                <a:latin typeface="Times New Roman"/>
                <a:ea typeface="Times New Roman"/>
                <a:cs typeface="Times New Roman"/>
                <a:sym typeface="Times New Roman"/>
              </a:rPr>
              <a:t>3. Connector Symbol</a:t>
            </a:r>
            <a:endParaRPr dirty="0"/>
          </a:p>
          <a:p>
            <a:pPr marL="285750" marR="0" lvl="0" indent="-285750" algn="just" rtl="0">
              <a:lnSpc>
                <a:spcPct val="150000"/>
              </a:lnSpc>
              <a:spcBef>
                <a:spcPts val="0"/>
              </a:spcBef>
              <a:spcAft>
                <a:spcPts val="0"/>
              </a:spcAft>
              <a:buClr>
                <a:srgbClr val="282C33"/>
              </a:buClr>
              <a:buSzPts val="1800"/>
              <a:buFont typeface="Arial"/>
              <a:buChar char="•"/>
            </a:pPr>
            <a:r>
              <a:rPr lang="en-US" sz="1800" b="0" i="0" dirty="0">
                <a:solidFill>
                  <a:srgbClr val="282C33"/>
                </a:solidFill>
                <a:latin typeface="Times New Roman"/>
                <a:ea typeface="Times New Roman"/>
                <a:cs typeface="Times New Roman"/>
                <a:sym typeface="Times New Roman"/>
              </a:rPr>
              <a:t>Shows the directional flow or control flow of the activity. </a:t>
            </a:r>
            <a:endParaRPr dirty="0"/>
          </a:p>
          <a:p>
            <a:pPr marL="285750" marR="0" lvl="0" indent="-285750" algn="just" rtl="0">
              <a:lnSpc>
                <a:spcPct val="150000"/>
              </a:lnSpc>
              <a:spcBef>
                <a:spcPts val="0"/>
              </a:spcBef>
              <a:spcAft>
                <a:spcPts val="0"/>
              </a:spcAft>
              <a:buClr>
                <a:srgbClr val="282C33"/>
              </a:buClr>
              <a:buSzPts val="1800"/>
              <a:buFont typeface="Arial"/>
              <a:buChar char="•"/>
            </a:pPr>
            <a:r>
              <a:rPr lang="en-US" sz="1800" b="0" i="0" dirty="0">
                <a:solidFill>
                  <a:srgbClr val="282C33"/>
                </a:solidFill>
                <a:latin typeface="Times New Roman"/>
                <a:ea typeface="Times New Roman"/>
                <a:cs typeface="Times New Roman"/>
                <a:sym typeface="Times New Roman"/>
              </a:rPr>
              <a:t>An incoming arrow starts a step of an activity; once the step is completed, the flow continues with the outgoing arrow.</a:t>
            </a:r>
            <a:endParaRPr sz="18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000" b="1" dirty="0">
                <a:solidFill>
                  <a:srgbClr val="C00000"/>
                </a:solidFill>
                <a:latin typeface="Times New Roman"/>
                <a:ea typeface="Times New Roman"/>
                <a:cs typeface="Times New Roman"/>
                <a:sym typeface="Times New Roman"/>
              </a:rPr>
              <a:t>4</a:t>
            </a:r>
            <a:r>
              <a:rPr lang="en-US" sz="2000" b="1" i="0" dirty="0">
                <a:solidFill>
                  <a:srgbClr val="C00000"/>
                </a:solidFill>
                <a:latin typeface="Times New Roman"/>
                <a:ea typeface="Times New Roman"/>
                <a:cs typeface="Times New Roman"/>
                <a:sym typeface="Times New Roman"/>
              </a:rPr>
              <a:t>. Decision Symbol</a:t>
            </a:r>
            <a:endParaRPr dirty="0"/>
          </a:p>
          <a:p>
            <a:pPr marL="342900" marR="0" lvl="0" indent="-342900" algn="just" rtl="0">
              <a:lnSpc>
                <a:spcPct val="150000"/>
              </a:lnSpc>
              <a:spcBef>
                <a:spcPts val="0"/>
              </a:spcBef>
              <a:spcAft>
                <a:spcPts val="0"/>
              </a:spcAft>
              <a:buClr>
                <a:srgbClr val="282C33"/>
              </a:buClr>
              <a:buSzPts val="1800"/>
              <a:buFont typeface="Arial"/>
              <a:buChar char="•"/>
            </a:pPr>
            <a:r>
              <a:rPr lang="en-US" sz="1800" dirty="0">
                <a:solidFill>
                  <a:srgbClr val="282C33"/>
                </a:solidFill>
                <a:latin typeface="Times New Roman"/>
                <a:ea typeface="Times New Roman"/>
                <a:cs typeface="Times New Roman"/>
                <a:sym typeface="Times New Roman"/>
              </a:rPr>
              <a:t>It represents</a:t>
            </a:r>
            <a:r>
              <a:rPr lang="en-US" sz="1800" b="0" i="0" dirty="0">
                <a:solidFill>
                  <a:srgbClr val="282C33"/>
                </a:solidFill>
                <a:latin typeface="Times New Roman"/>
                <a:ea typeface="Times New Roman"/>
                <a:cs typeface="Times New Roman"/>
                <a:sym typeface="Times New Roman"/>
              </a:rPr>
              <a:t> a decision and always has </a:t>
            </a:r>
            <a:r>
              <a:rPr lang="en-US" sz="1800" b="1" i="0" dirty="0">
                <a:solidFill>
                  <a:srgbClr val="282C33"/>
                </a:solidFill>
                <a:latin typeface="Times New Roman"/>
                <a:ea typeface="Times New Roman"/>
                <a:cs typeface="Times New Roman"/>
                <a:sym typeface="Times New Roman"/>
              </a:rPr>
              <a:t>at least two paths branching out with condition </a:t>
            </a:r>
            <a:r>
              <a:rPr lang="en-US" sz="1800" b="0" i="0" dirty="0">
                <a:solidFill>
                  <a:srgbClr val="282C33"/>
                </a:solidFill>
                <a:latin typeface="Times New Roman"/>
                <a:ea typeface="Times New Roman"/>
                <a:cs typeface="Times New Roman"/>
                <a:sym typeface="Times New Roman"/>
              </a:rPr>
              <a:t>text to allow users to view options. </a:t>
            </a:r>
            <a:endParaRPr dirty="0"/>
          </a:p>
          <a:p>
            <a:pPr marL="342900" marR="0" lvl="0" indent="-342900" algn="just" rtl="0">
              <a:lnSpc>
                <a:spcPct val="150000"/>
              </a:lnSpc>
              <a:spcBef>
                <a:spcPts val="0"/>
              </a:spcBef>
              <a:spcAft>
                <a:spcPts val="0"/>
              </a:spcAft>
              <a:buClr>
                <a:srgbClr val="282C33"/>
              </a:buClr>
              <a:buSzPts val="1800"/>
              <a:buFont typeface="Arial"/>
              <a:buChar char="•"/>
            </a:pPr>
            <a:r>
              <a:rPr lang="en-US" sz="1800" b="0" i="0" dirty="0">
                <a:solidFill>
                  <a:srgbClr val="282C33"/>
                </a:solidFill>
                <a:latin typeface="Times New Roman"/>
                <a:ea typeface="Times New Roman"/>
                <a:cs typeface="Times New Roman"/>
                <a:sym typeface="Times New Roman"/>
              </a:rPr>
              <a:t>This symbol represents the branching or merging of various flows with the symbol acting as a frame or container</a:t>
            </a:r>
            <a:endParaRPr sz="1800" dirty="0">
              <a:solidFill>
                <a:srgbClr val="333333"/>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b="0" i="0" dirty="0">
              <a:solidFill>
                <a:srgbClr val="333333"/>
              </a:solidFill>
              <a:latin typeface="Times New Roman"/>
              <a:ea typeface="Times New Roman"/>
              <a:cs typeface="Times New Roman"/>
              <a:sym typeface="Times New Roman"/>
            </a:endParaRPr>
          </a:p>
        </p:txBody>
      </p:sp>
      <p:pic>
        <p:nvPicPr>
          <p:cNvPr id="80" name="Google Shape;80;p5"/>
          <p:cNvPicPr preferRelativeResize="0"/>
          <p:nvPr/>
        </p:nvPicPr>
        <p:blipFill rotWithShape="1">
          <a:blip r:embed="rId3">
            <a:alphaModFix/>
          </a:blip>
          <a:srcRect/>
          <a:stretch/>
        </p:blipFill>
        <p:spPr>
          <a:xfrm>
            <a:off x="7086600" y="1574783"/>
            <a:ext cx="1295467" cy="330217"/>
          </a:xfrm>
          <a:prstGeom prst="rect">
            <a:avLst/>
          </a:prstGeom>
          <a:noFill/>
          <a:ln>
            <a:noFill/>
          </a:ln>
        </p:spPr>
      </p:pic>
      <p:pic>
        <p:nvPicPr>
          <p:cNvPr id="81" name="Google Shape;81;p5"/>
          <p:cNvPicPr preferRelativeResize="0"/>
          <p:nvPr/>
        </p:nvPicPr>
        <p:blipFill rotWithShape="1">
          <a:blip r:embed="rId4">
            <a:alphaModFix/>
          </a:blip>
          <a:srcRect/>
          <a:stretch/>
        </p:blipFill>
        <p:spPr>
          <a:xfrm>
            <a:off x="4006821" y="4953000"/>
            <a:ext cx="1130358" cy="11303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Basic Components of Activity Diagram</a:t>
            </a:r>
            <a:endParaRPr sz="2800" b="1">
              <a:latin typeface="Times"/>
              <a:ea typeface="Times"/>
              <a:cs typeface="Times"/>
              <a:sym typeface="Times"/>
            </a:endParaRPr>
          </a:p>
        </p:txBody>
      </p:sp>
      <p:sp>
        <p:nvSpPr>
          <p:cNvPr id="87" name="Google Shape;87;p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
        <p:nvSpPr>
          <p:cNvPr id="88" name="Google Shape;88;p6"/>
          <p:cNvSpPr/>
          <p:nvPr/>
        </p:nvSpPr>
        <p:spPr>
          <a:xfrm>
            <a:off x="152400" y="1333009"/>
            <a:ext cx="5943600" cy="517060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i="0" dirty="0">
                <a:solidFill>
                  <a:srgbClr val="C00000"/>
                </a:solidFill>
                <a:latin typeface="Times New Roman"/>
                <a:ea typeface="Times New Roman"/>
                <a:cs typeface="Times New Roman"/>
                <a:sym typeface="Times New Roman"/>
              </a:rPr>
              <a:t>4. Forks</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Forks </a:t>
            </a:r>
            <a:r>
              <a:rPr lang="en-US" sz="2000" b="1" dirty="0">
                <a:solidFill>
                  <a:srgbClr val="333333"/>
                </a:solidFill>
                <a:latin typeface="Times New Roman"/>
                <a:ea typeface="Times New Roman"/>
                <a:cs typeface="Times New Roman"/>
                <a:sym typeface="Times New Roman"/>
              </a:rPr>
              <a:t>generate the concurrent flow </a:t>
            </a:r>
            <a:r>
              <a:rPr lang="en-US" sz="2000" dirty="0">
                <a:solidFill>
                  <a:srgbClr val="333333"/>
                </a:solidFill>
                <a:latin typeface="Times New Roman"/>
                <a:ea typeface="Times New Roman"/>
                <a:cs typeface="Times New Roman"/>
                <a:sym typeface="Times New Roman"/>
              </a:rPr>
              <a:t>inside the activity.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A fork node consists of one inward edge and several outward edges.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is the same as that of various decision parameters.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Whenever a data is received at an inward edge, </a:t>
            </a:r>
            <a:r>
              <a:rPr lang="en-US" sz="2000" b="1" dirty="0">
                <a:solidFill>
                  <a:srgbClr val="333333"/>
                </a:solidFill>
                <a:latin typeface="Times New Roman"/>
                <a:ea typeface="Times New Roman"/>
                <a:cs typeface="Times New Roman"/>
                <a:sym typeface="Times New Roman"/>
              </a:rPr>
              <a:t>it gets copied and split crossways various outward edges. </a:t>
            </a:r>
            <a:endParaRPr b="1"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It split a single inward flow into multiple parallel flows.</a:t>
            </a:r>
            <a:endParaRPr dirty="0"/>
          </a:p>
        </p:txBody>
      </p:sp>
      <p:pic>
        <p:nvPicPr>
          <p:cNvPr id="89" name="Google Shape;89;p6"/>
          <p:cNvPicPr preferRelativeResize="0"/>
          <p:nvPr/>
        </p:nvPicPr>
        <p:blipFill rotWithShape="1">
          <a:blip r:embed="rId3">
            <a:alphaModFix/>
          </a:blip>
          <a:srcRect/>
          <a:stretch/>
        </p:blipFill>
        <p:spPr>
          <a:xfrm>
            <a:off x="6648450" y="1828800"/>
            <a:ext cx="1943100" cy="26576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Basic Components of Activity Diagram</a:t>
            </a:r>
            <a:endParaRPr sz="2800" b="1">
              <a:latin typeface="Times"/>
              <a:ea typeface="Times"/>
              <a:cs typeface="Times"/>
              <a:sym typeface="Times"/>
            </a:endParaRPr>
          </a:p>
        </p:txBody>
      </p:sp>
      <p:sp>
        <p:nvSpPr>
          <p:cNvPr id="95" name="Google Shape;95;p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
        <p:nvSpPr>
          <p:cNvPr id="96" name="Google Shape;96;p7"/>
          <p:cNvSpPr/>
          <p:nvPr/>
        </p:nvSpPr>
        <p:spPr>
          <a:xfrm>
            <a:off x="142982" y="1524000"/>
            <a:ext cx="4876800" cy="332394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1" dirty="0">
                <a:solidFill>
                  <a:srgbClr val="C00000"/>
                </a:solidFill>
                <a:latin typeface="Times New Roman"/>
                <a:ea typeface="Times New Roman"/>
                <a:cs typeface="Times New Roman"/>
                <a:sym typeface="Times New Roman"/>
              </a:rPr>
              <a:t>5. Join Nodes</a:t>
            </a:r>
            <a:endParaRPr sz="2000" b="1" i="0" dirty="0">
              <a:solidFill>
                <a:srgbClr val="C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Join nodes are the opposite of fork nodes. </a:t>
            </a:r>
            <a:endParaRPr dirty="0"/>
          </a:p>
          <a:p>
            <a:pPr marL="285750" marR="0" lvl="0" indent="-285750" algn="just" rtl="0">
              <a:lnSpc>
                <a:spcPct val="150000"/>
              </a:lnSpc>
              <a:spcBef>
                <a:spcPts val="0"/>
              </a:spcBef>
              <a:spcAft>
                <a:spcPts val="0"/>
              </a:spcAft>
              <a:buClr>
                <a:srgbClr val="333333"/>
              </a:buClr>
              <a:buSzPts val="2000"/>
              <a:buFont typeface="Arial"/>
              <a:buChar char="•"/>
            </a:pPr>
            <a:r>
              <a:rPr lang="en-US" sz="2000" dirty="0">
                <a:solidFill>
                  <a:srgbClr val="333333"/>
                </a:solidFill>
                <a:latin typeface="Times New Roman"/>
                <a:ea typeface="Times New Roman"/>
                <a:cs typeface="Times New Roman"/>
                <a:sym typeface="Times New Roman"/>
              </a:rPr>
              <a:t>A </a:t>
            </a:r>
            <a:r>
              <a:rPr lang="en-US" sz="2000" b="1" dirty="0">
                <a:solidFill>
                  <a:srgbClr val="333333"/>
                </a:solidFill>
                <a:latin typeface="Times New Roman"/>
                <a:ea typeface="Times New Roman"/>
                <a:cs typeface="Times New Roman"/>
                <a:sym typeface="Times New Roman"/>
              </a:rPr>
              <a:t>logical AND operation is performed on all of the inward edges </a:t>
            </a:r>
            <a:r>
              <a:rPr lang="en-US" sz="2000" dirty="0">
                <a:solidFill>
                  <a:srgbClr val="333333"/>
                </a:solidFill>
                <a:latin typeface="Times New Roman"/>
                <a:ea typeface="Times New Roman"/>
                <a:cs typeface="Times New Roman"/>
                <a:sym typeface="Times New Roman"/>
              </a:rPr>
              <a:t>as it synchronizes the flow of input across one single output (outward) edge.</a:t>
            </a:r>
            <a:endParaRPr dirty="0"/>
          </a:p>
          <a:p>
            <a:pPr marL="0" marR="0" lvl="0" indent="0" algn="just" rtl="0">
              <a:lnSpc>
                <a:spcPct val="150000"/>
              </a:lnSpc>
              <a:spcBef>
                <a:spcPts val="0"/>
              </a:spcBef>
              <a:spcAft>
                <a:spcPts val="0"/>
              </a:spcAft>
              <a:buNone/>
            </a:pPr>
            <a:endParaRPr sz="2000" b="0" i="0" dirty="0">
              <a:solidFill>
                <a:srgbClr val="333333"/>
              </a:solidFill>
              <a:latin typeface="Times New Roman"/>
              <a:ea typeface="Times New Roman"/>
              <a:cs typeface="Times New Roman"/>
              <a:sym typeface="Times New Roman"/>
            </a:endParaRPr>
          </a:p>
        </p:txBody>
      </p:sp>
      <p:pic>
        <p:nvPicPr>
          <p:cNvPr id="97" name="Google Shape;97;p7"/>
          <p:cNvPicPr preferRelativeResize="0"/>
          <p:nvPr/>
        </p:nvPicPr>
        <p:blipFill rotWithShape="1">
          <a:blip r:embed="rId3">
            <a:alphaModFix/>
          </a:blip>
          <a:srcRect/>
          <a:stretch/>
        </p:blipFill>
        <p:spPr>
          <a:xfrm>
            <a:off x="5858838" y="1678304"/>
            <a:ext cx="2819400" cy="26822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800" b="1"/>
              <a:t>Notations of Activity Diagram</a:t>
            </a:r>
            <a:endParaRPr sz="2800" b="1">
              <a:latin typeface="Times"/>
              <a:ea typeface="Times"/>
              <a:cs typeface="Times"/>
              <a:sym typeface="Times"/>
            </a:endParaRPr>
          </a:p>
        </p:txBody>
      </p:sp>
      <p:sp>
        <p:nvSpPr>
          <p:cNvPr id="103" name="Google Shape;103;p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
        <p:nvSpPr>
          <p:cNvPr id="104" name="Google Shape;104;p8"/>
          <p:cNvSpPr/>
          <p:nvPr/>
        </p:nvSpPr>
        <p:spPr>
          <a:xfrm>
            <a:off x="158393" y="1254342"/>
            <a:ext cx="4718407" cy="461305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333333"/>
              </a:buClr>
              <a:buSzPts val="1800"/>
              <a:buFont typeface="Arial"/>
              <a:buChar char="•"/>
            </a:pPr>
            <a:r>
              <a:rPr lang="en-US" sz="1800" b="1" i="0">
                <a:solidFill>
                  <a:srgbClr val="333333"/>
                </a:solidFill>
                <a:latin typeface="Times New Roman"/>
                <a:ea typeface="Times New Roman"/>
                <a:cs typeface="Times New Roman"/>
                <a:sym typeface="Times New Roman"/>
              </a:rPr>
              <a:t>Initial State:</a:t>
            </a:r>
            <a:r>
              <a:rPr lang="en-US" sz="1800" b="0" i="0">
                <a:solidFill>
                  <a:srgbClr val="333333"/>
                </a:solidFill>
                <a:latin typeface="Times New Roman"/>
                <a:ea typeface="Times New Roman"/>
                <a:cs typeface="Times New Roman"/>
                <a:sym typeface="Times New Roman"/>
              </a:rPr>
              <a:t> It depicts the initial stage or beginning of the set of actions.</a:t>
            </a:r>
            <a:endParaRPr/>
          </a:p>
          <a:p>
            <a:pPr marL="285750" marR="0" lvl="0" indent="-171450" algn="just" rtl="0">
              <a:lnSpc>
                <a:spcPct val="150000"/>
              </a:lnSpc>
              <a:spcBef>
                <a:spcPts val="0"/>
              </a:spcBef>
              <a:spcAft>
                <a:spcPts val="0"/>
              </a:spcAft>
              <a:buClr>
                <a:schemeClr val="dk1"/>
              </a:buClr>
              <a:buSzPts val="1800"/>
              <a:buFont typeface="Arial"/>
              <a:buNone/>
            </a:pPr>
            <a:endParaRPr sz="1800" b="1" i="0">
              <a:solidFill>
                <a:srgbClr val="C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333333"/>
              </a:buClr>
              <a:buSzPts val="1800"/>
              <a:buFont typeface="Arial"/>
              <a:buChar char="•"/>
            </a:pPr>
            <a:r>
              <a:rPr lang="en-US" sz="1800" b="1" i="0">
                <a:solidFill>
                  <a:srgbClr val="333333"/>
                </a:solidFill>
                <a:latin typeface="Times New Roman"/>
                <a:ea typeface="Times New Roman"/>
                <a:cs typeface="Times New Roman"/>
                <a:sym typeface="Times New Roman"/>
              </a:rPr>
              <a:t>Action Box:</a:t>
            </a:r>
            <a:r>
              <a:rPr lang="en-US" sz="1800" b="0" i="0">
                <a:solidFill>
                  <a:srgbClr val="333333"/>
                </a:solidFill>
                <a:latin typeface="Times New Roman"/>
                <a:ea typeface="Times New Roman"/>
                <a:cs typeface="Times New Roman"/>
                <a:sym typeface="Times New Roman"/>
              </a:rPr>
              <a:t> It represents the set of actions that are to be performed.</a:t>
            </a:r>
            <a:endParaRPr/>
          </a:p>
          <a:p>
            <a:pPr marL="285750" marR="0" lvl="0" indent="-171450" algn="just" rtl="0">
              <a:lnSpc>
                <a:spcPct val="150000"/>
              </a:lnSpc>
              <a:spcBef>
                <a:spcPts val="0"/>
              </a:spcBef>
              <a:spcAft>
                <a:spcPts val="0"/>
              </a:spcAft>
              <a:buClr>
                <a:schemeClr val="dk1"/>
              </a:buClr>
              <a:buSzPts val="1800"/>
              <a:buFont typeface="Arial"/>
              <a:buNone/>
            </a:pPr>
            <a:endParaRPr sz="1800" b="0" i="0">
              <a:solidFill>
                <a:srgbClr val="333333"/>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333333"/>
              </a:buClr>
              <a:buSzPts val="1800"/>
              <a:buFont typeface="Arial"/>
              <a:buChar char="•"/>
            </a:pPr>
            <a:r>
              <a:rPr lang="en-US" sz="1800" b="1" i="0">
                <a:solidFill>
                  <a:srgbClr val="333333"/>
                </a:solidFill>
                <a:latin typeface="Times New Roman"/>
                <a:ea typeface="Times New Roman"/>
                <a:cs typeface="Times New Roman"/>
                <a:sym typeface="Times New Roman"/>
              </a:rPr>
              <a:t>Decision Box:</a:t>
            </a:r>
            <a:r>
              <a:rPr lang="en-US" sz="1800" b="0" i="0">
                <a:solidFill>
                  <a:srgbClr val="333333"/>
                </a:solidFill>
                <a:latin typeface="Times New Roman"/>
                <a:ea typeface="Times New Roman"/>
                <a:cs typeface="Times New Roman"/>
                <a:sym typeface="Times New Roman"/>
              </a:rPr>
              <a:t> It makes sure that the control flow or object flow will follow only one path.</a:t>
            </a:r>
            <a:endParaRPr/>
          </a:p>
          <a:p>
            <a:pPr marL="285750" marR="0" lvl="0" indent="-171450" algn="just" rtl="0">
              <a:lnSpc>
                <a:spcPct val="150000"/>
              </a:lnSpc>
              <a:spcBef>
                <a:spcPts val="0"/>
              </a:spcBef>
              <a:spcAft>
                <a:spcPts val="0"/>
              </a:spcAft>
              <a:buClr>
                <a:schemeClr val="dk1"/>
              </a:buClr>
              <a:buSzPts val="1800"/>
              <a:buFont typeface="Arial"/>
              <a:buNone/>
            </a:pPr>
            <a:endParaRPr sz="1800" b="0" i="0">
              <a:solidFill>
                <a:srgbClr val="333333"/>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333333"/>
              </a:buClr>
              <a:buSzPts val="1800"/>
              <a:buFont typeface="Arial"/>
              <a:buChar char="•"/>
            </a:pPr>
            <a:r>
              <a:rPr lang="en-US" sz="1800" b="1" i="0">
                <a:solidFill>
                  <a:srgbClr val="333333"/>
                </a:solidFill>
                <a:latin typeface="Times New Roman"/>
                <a:ea typeface="Times New Roman"/>
                <a:cs typeface="Times New Roman"/>
                <a:sym typeface="Times New Roman"/>
              </a:rPr>
              <a:t>Final State:</a:t>
            </a:r>
            <a:r>
              <a:rPr lang="en-US" sz="1800" b="0" i="0">
                <a:solidFill>
                  <a:srgbClr val="333333"/>
                </a:solidFill>
                <a:latin typeface="Times New Roman"/>
                <a:ea typeface="Times New Roman"/>
                <a:cs typeface="Times New Roman"/>
                <a:sym typeface="Times New Roman"/>
              </a:rPr>
              <a:t> It is the stage where all the control flows and object flows end.</a:t>
            </a:r>
            <a:endParaRPr/>
          </a:p>
        </p:txBody>
      </p:sp>
      <p:pic>
        <p:nvPicPr>
          <p:cNvPr id="105" name="Google Shape;105;p8"/>
          <p:cNvPicPr preferRelativeResize="0"/>
          <p:nvPr/>
        </p:nvPicPr>
        <p:blipFill rotWithShape="1">
          <a:blip r:embed="rId3">
            <a:alphaModFix/>
          </a:blip>
          <a:srcRect/>
          <a:stretch/>
        </p:blipFill>
        <p:spPr>
          <a:xfrm>
            <a:off x="5638800" y="1223481"/>
            <a:ext cx="2895600" cy="4729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b="1"/>
              <a:t> Activity Diagram Example – Order Processing System</a:t>
            </a:r>
            <a:endParaRPr sz="2400" b="1">
              <a:latin typeface="Times"/>
              <a:ea typeface="Times"/>
              <a:cs typeface="Times"/>
              <a:sym typeface="Times"/>
            </a:endParaRPr>
          </a:p>
        </p:txBody>
      </p:sp>
      <p:sp>
        <p:nvSpPr>
          <p:cNvPr id="111" name="Google Shape;111;p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pic>
        <p:nvPicPr>
          <p:cNvPr id="112" name="Google Shape;112;p9"/>
          <p:cNvPicPr preferRelativeResize="0"/>
          <p:nvPr/>
        </p:nvPicPr>
        <p:blipFill rotWithShape="1">
          <a:blip r:embed="rId3">
            <a:alphaModFix/>
          </a:blip>
          <a:srcRect/>
          <a:stretch/>
        </p:blipFill>
        <p:spPr>
          <a:xfrm>
            <a:off x="175345" y="1066800"/>
            <a:ext cx="8793310" cy="3733800"/>
          </a:xfrm>
          <a:prstGeom prst="rect">
            <a:avLst/>
          </a:prstGeom>
          <a:noFill/>
          <a:ln>
            <a:noFill/>
          </a:ln>
        </p:spPr>
      </p:pic>
      <p:sp>
        <p:nvSpPr>
          <p:cNvPr id="113" name="Google Shape;113;p9"/>
          <p:cNvSpPr txBox="1"/>
          <p:nvPr/>
        </p:nvSpPr>
        <p:spPr>
          <a:xfrm>
            <a:off x="152400" y="5013956"/>
            <a:ext cx="8793310" cy="128907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333333"/>
              </a:buClr>
              <a:buSzPts val="1800"/>
              <a:buFont typeface="Arial"/>
              <a:buChar char="•"/>
            </a:pPr>
            <a:r>
              <a:rPr lang="en-US" sz="1800" b="0" i="0">
                <a:solidFill>
                  <a:srgbClr val="333333"/>
                </a:solidFill>
                <a:latin typeface="Times New Roman"/>
                <a:ea typeface="Times New Roman"/>
                <a:cs typeface="Times New Roman"/>
                <a:sym typeface="Times New Roman"/>
              </a:rPr>
              <a:t>Here the input parameter is the Requested order, and once the order is accepted, all of the required information is then filled, payment is also accepted, and then the order is shipped.</a:t>
            </a:r>
            <a:endParaRPr/>
          </a:p>
          <a:p>
            <a:pPr marL="285750" marR="0" lvl="0" indent="-285750" algn="just" rtl="0">
              <a:lnSpc>
                <a:spcPct val="150000"/>
              </a:lnSpc>
              <a:spcBef>
                <a:spcPts val="0"/>
              </a:spcBef>
              <a:spcAft>
                <a:spcPts val="0"/>
              </a:spcAft>
              <a:buClr>
                <a:srgbClr val="333333"/>
              </a:buClr>
              <a:buSzPts val="1800"/>
              <a:buFont typeface="Arial"/>
              <a:buChar char="•"/>
            </a:pPr>
            <a:r>
              <a:rPr lang="en-US" sz="1800" b="0" i="0">
                <a:solidFill>
                  <a:srgbClr val="333333"/>
                </a:solidFill>
                <a:latin typeface="Times New Roman"/>
                <a:ea typeface="Times New Roman"/>
                <a:cs typeface="Times New Roman"/>
                <a:sym typeface="Times New Roman"/>
              </a:rPr>
              <a:t>It permits order shipment before an invoice is sent or payment is completed.</a:t>
            </a:r>
            <a:endParaRPr/>
          </a:p>
        </p:txBody>
      </p:sp>
      <p:sp>
        <p:nvSpPr>
          <p:cNvPr id="114" name="Google Shape;114;p9"/>
          <p:cNvSpPr txBox="1"/>
          <p:nvPr/>
        </p:nvSpPr>
        <p:spPr>
          <a:xfrm>
            <a:off x="2895600" y="4779121"/>
            <a:ext cx="38139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Figure1. Example of Activity Diagram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b="1"/>
              <a:t> Activity Diagram Example – Banking System</a:t>
            </a:r>
            <a:endParaRPr sz="2400" b="1">
              <a:latin typeface="Times"/>
              <a:ea typeface="Times"/>
              <a:cs typeface="Times"/>
              <a:sym typeface="Times"/>
            </a:endParaRPr>
          </a:p>
        </p:txBody>
      </p:sp>
      <p:sp>
        <p:nvSpPr>
          <p:cNvPr id="120" name="Google Shape;120;p1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
        <p:nvSpPr>
          <p:cNvPr id="121" name="Google Shape;121;p10"/>
          <p:cNvSpPr txBox="1">
            <a:spLocks noGrp="1"/>
          </p:cNvSpPr>
          <p:nvPr>
            <p:ph type="ftr" idx="4294967295"/>
          </p:nvPr>
        </p:nvSpPr>
        <p:spPr>
          <a:xfrm>
            <a:off x="2895600" y="6647294"/>
            <a:ext cx="3352800" cy="17895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Times New Roman"/>
                <a:ea typeface="Times New Roman"/>
                <a:cs typeface="Times New Roman"/>
                <a:sym typeface="Times New Roman"/>
              </a:rPr>
              <a:t>Figure 2. Banking System activity diagram</a:t>
            </a:r>
            <a:endParaRPr/>
          </a:p>
        </p:txBody>
      </p:sp>
      <p:pic>
        <p:nvPicPr>
          <p:cNvPr id="122" name="Google Shape;122;p10"/>
          <p:cNvPicPr preferRelativeResize="0"/>
          <p:nvPr/>
        </p:nvPicPr>
        <p:blipFill rotWithShape="1">
          <a:blip r:embed="rId3">
            <a:alphaModFix/>
          </a:blip>
          <a:srcRect/>
          <a:stretch/>
        </p:blipFill>
        <p:spPr>
          <a:xfrm>
            <a:off x="1385888" y="837906"/>
            <a:ext cx="6543676" cy="57152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b="1"/>
              <a:t> Activity Diagram Example – College Management System</a:t>
            </a:r>
            <a:endParaRPr sz="2400" b="1">
              <a:latin typeface="Times"/>
              <a:ea typeface="Times"/>
              <a:cs typeface="Times"/>
              <a:sym typeface="Times"/>
            </a:endParaRPr>
          </a:p>
        </p:txBody>
      </p:sp>
      <p:sp>
        <p:nvSpPr>
          <p:cNvPr id="128" name="Google Shape;128;p1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pic>
        <p:nvPicPr>
          <p:cNvPr id="129" name="Google Shape;129;p11"/>
          <p:cNvPicPr preferRelativeResize="0"/>
          <p:nvPr/>
        </p:nvPicPr>
        <p:blipFill rotWithShape="1">
          <a:blip r:embed="rId3">
            <a:alphaModFix/>
          </a:blip>
          <a:srcRect/>
          <a:stretch/>
        </p:blipFill>
        <p:spPr>
          <a:xfrm>
            <a:off x="2574701" y="1050131"/>
            <a:ext cx="3962400" cy="5168900"/>
          </a:xfrm>
          <a:prstGeom prst="rect">
            <a:avLst/>
          </a:prstGeom>
          <a:noFill/>
          <a:ln>
            <a:noFill/>
          </a:ln>
        </p:spPr>
      </p:pic>
      <p:sp>
        <p:nvSpPr>
          <p:cNvPr id="130" name="Google Shape;130;p11"/>
          <p:cNvSpPr txBox="1"/>
          <p:nvPr/>
        </p:nvSpPr>
        <p:spPr>
          <a:xfrm>
            <a:off x="1600200" y="6219031"/>
            <a:ext cx="71098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Figure 3. College management system activity diagram</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b="1"/>
              <a:t> Activity Diagram Example – College Management System</a:t>
            </a:r>
            <a:endParaRPr sz="2400" b="1">
              <a:latin typeface="Times"/>
              <a:ea typeface="Times"/>
              <a:cs typeface="Times"/>
              <a:sym typeface="Times"/>
            </a:endParaRPr>
          </a:p>
        </p:txBody>
      </p:sp>
      <p:sp>
        <p:nvSpPr>
          <p:cNvPr id="136" name="Google Shape;136;p12"/>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pic>
        <p:nvPicPr>
          <p:cNvPr id="137" name="Google Shape;137;p12"/>
          <p:cNvPicPr preferRelativeResize="0"/>
          <p:nvPr/>
        </p:nvPicPr>
        <p:blipFill rotWithShape="1">
          <a:blip r:embed="rId3">
            <a:alphaModFix/>
          </a:blip>
          <a:srcRect/>
          <a:stretch/>
        </p:blipFill>
        <p:spPr>
          <a:xfrm>
            <a:off x="1828659" y="985269"/>
            <a:ext cx="5486682" cy="5245370"/>
          </a:xfrm>
          <a:prstGeom prst="rect">
            <a:avLst/>
          </a:prstGeom>
          <a:noFill/>
          <a:ln>
            <a:noFill/>
          </a:ln>
        </p:spPr>
      </p:pic>
      <p:sp>
        <p:nvSpPr>
          <p:cNvPr id="138" name="Google Shape;138;p12"/>
          <p:cNvSpPr txBox="1"/>
          <p:nvPr/>
        </p:nvSpPr>
        <p:spPr>
          <a:xfrm>
            <a:off x="2057400" y="6230639"/>
            <a:ext cx="735130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Figure 4. College Management system Activity diagram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b="1"/>
              <a:t> Activity Diagram Example – Library Management System</a:t>
            </a:r>
            <a:endParaRPr sz="2400" b="1">
              <a:latin typeface="Times"/>
              <a:ea typeface="Times"/>
              <a:cs typeface="Times"/>
              <a:sym typeface="Times"/>
            </a:endParaRPr>
          </a:p>
        </p:txBody>
      </p:sp>
      <p:sp>
        <p:nvSpPr>
          <p:cNvPr id="144" name="Google Shape;144;p13"/>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
        <p:nvSpPr>
          <p:cNvPr id="145" name="Google Shape;145;p13"/>
          <p:cNvSpPr txBox="1"/>
          <p:nvPr/>
        </p:nvSpPr>
        <p:spPr>
          <a:xfrm>
            <a:off x="2133600" y="6172200"/>
            <a:ext cx="63969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Figure 5. Activity diagram of Library Management System</a:t>
            </a:r>
            <a:endParaRPr sz="1800">
              <a:solidFill>
                <a:schemeClr val="dk1"/>
              </a:solidFill>
              <a:latin typeface="Times New Roman"/>
              <a:ea typeface="Times New Roman"/>
              <a:cs typeface="Times New Roman"/>
              <a:sym typeface="Times New Roman"/>
            </a:endParaRPr>
          </a:p>
        </p:txBody>
      </p:sp>
      <p:pic>
        <p:nvPicPr>
          <p:cNvPr id="146" name="Google Shape;146;p13" descr="Activity Diagram for Library Management System."/>
          <p:cNvPicPr preferRelativeResize="0"/>
          <p:nvPr/>
        </p:nvPicPr>
        <p:blipFill rotWithShape="1">
          <a:blip r:embed="rId3">
            <a:alphaModFix/>
          </a:blip>
          <a:srcRect/>
          <a:stretch/>
        </p:blipFill>
        <p:spPr>
          <a:xfrm>
            <a:off x="914400" y="1043540"/>
            <a:ext cx="7391399" cy="48238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400" b="1"/>
              <a:t> Activity Diagram Example – Hospital Management System</a:t>
            </a:r>
            <a:endParaRPr sz="2400" b="1">
              <a:latin typeface="Times"/>
              <a:ea typeface="Times"/>
              <a:cs typeface="Times"/>
              <a:sym typeface="Times"/>
            </a:endParaRPr>
          </a:p>
        </p:txBody>
      </p:sp>
      <p:sp>
        <p:nvSpPr>
          <p:cNvPr id="153" name="Google Shape;153;p14"/>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
        <p:nvSpPr>
          <p:cNvPr id="154" name="Google Shape;154;p14"/>
          <p:cNvSpPr txBox="1">
            <a:spLocks noGrp="1"/>
          </p:cNvSpPr>
          <p:nvPr>
            <p:ph type="ftr" idx="4294967295"/>
          </p:nvPr>
        </p:nvSpPr>
        <p:spPr>
          <a:xfrm>
            <a:off x="2353363" y="5983144"/>
            <a:ext cx="4343400" cy="17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Times New Roman"/>
                <a:ea typeface="Times New Roman"/>
                <a:cs typeface="Times New Roman"/>
                <a:sym typeface="Times New Roman"/>
              </a:rPr>
              <a:t>Figure 6. Hospital Management System Activity Diagram</a:t>
            </a:r>
            <a:endParaRPr/>
          </a:p>
        </p:txBody>
      </p:sp>
      <p:pic>
        <p:nvPicPr>
          <p:cNvPr id="155" name="Google Shape;155;p14"/>
          <p:cNvPicPr preferRelativeResize="0"/>
          <p:nvPr/>
        </p:nvPicPr>
        <p:blipFill rotWithShape="1">
          <a:blip r:embed="rId3">
            <a:alphaModFix/>
          </a:blip>
          <a:srcRect b="1407"/>
          <a:stretch/>
        </p:blipFill>
        <p:spPr>
          <a:xfrm>
            <a:off x="2133600" y="990600"/>
            <a:ext cx="4782925" cy="4731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t>Benefits of Activity Diagrams</a:t>
            </a:r>
            <a:endParaRPr b="1">
              <a:latin typeface="Times"/>
              <a:ea typeface="Times"/>
              <a:cs typeface="Times"/>
              <a:sym typeface="Times"/>
            </a:endParaRPr>
          </a:p>
        </p:txBody>
      </p:sp>
      <p:sp>
        <p:nvSpPr>
          <p:cNvPr id="161" name="Google Shape;161;p1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
        <p:nvSpPr>
          <p:cNvPr id="162" name="Google Shape;162;p15"/>
          <p:cNvSpPr/>
          <p:nvPr/>
        </p:nvSpPr>
        <p:spPr>
          <a:xfrm>
            <a:off x="681000" y="1283150"/>
            <a:ext cx="7666500" cy="46536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b="0" i="0">
                <a:solidFill>
                  <a:srgbClr val="282C33"/>
                </a:solidFill>
                <a:latin typeface="Times New Roman"/>
                <a:ea typeface="Times New Roman"/>
                <a:cs typeface="Times New Roman"/>
                <a:sym typeface="Times New Roman"/>
              </a:rPr>
              <a:t>Activity diagrams present a number of benefits to users. Consider creating an activity diagram to:</a:t>
            </a:r>
            <a:endParaRPr/>
          </a:p>
          <a:p>
            <a:pPr marL="800100" marR="0" lvl="1" indent="-342900" algn="just" rtl="0">
              <a:lnSpc>
                <a:spcPct val="150000"/>
              </a:lnSpc>
              <a:spcBef>
                <a:spcPts val="0"/>
              </a:spcBef>
              <a:spcAft>
                <a:spcPts val="0"/>
              </a:spcAft>
              <a:buClr>
                <a:srgbClr val="282C33"/>
              </a:buClr>
              <a:buSzPts val="2000"/>
              <a:buFont typeface="Arial"/>
              <a:buChar char="•"/>
            </a:pPr>
            <a:r>
              <a:rPr lang="en-US" sz="2000" b="0" i="0" u="none" strike="noStrike" cap="none">
                <a:solidFill>
                  <a:srgbClr val="282C33"/>
                </a:solidFill>
                <a:latin typeface="Times New Roman"/>
                <a:ea typeface="Times New Roman"/>
                <a:cs typeface="Times New Roman"/>
                <a:sym typeface="Times New Roman"/>
              </a:rPr>
              <a:t>Demonstrate the logic of an algorithm.</a:t>
            </a:r>
            <a:endParaRPr/>
          </a:p>
          <a:p>
            <a:pPr marL="800100" marR="0" lvl="1" indent="-342900" algn="just" rtl="0">
              <a:lnSpc>
                <a:spcPct val="150000"/>
              </a:lnSpc>
              <a:spcBef>
                <a:spcPts val="0"/>
              </a:spcBef>
              <a:spcAft>
                <a:spcPts val="0"/>
              </a:spcAft>
              <a:buClr>
                <a:srgbClr val="282C33"/>
              </a:buClr>
              <a:buSzPts val="2000"/>
              <a:buFont typeface="Arial"/>
              <a:buChar char="•"/>
            </a:pPr>
            <a:r>
              <a:rPr lang="en-US" sz="2000" b="0" i="0" u="none" strike="noStrike" cap="none">
                <a:solidFill>
                  <a:srgbClr val="282C33"/>
                </a:solidFill>
                <a:latin typeface="Times New Roman"/>
                <a:ea typeface="Times New Roman"/>
                <a:cs typeface="Times New Roman"/>
                <a:sym typeface="Times New Roman"/>
              </a:rPr>
              <a:t>Describe the steps performed in a UML use case.</a:t>
            </a:r>
            <a:endParaRPr/>
          </a:p>
          <a:p>
            <a:pPr marL="800100" marR="0" lvl="1" indent="-342900" algn="just" rtl="0">
              <a:lnSpc>
                <a:spcPct val="150000"/>
              </a:lnSpc>
              <a:spcBef>
                <a:spcPts val="0"/>
              </a:spcBef>
              <a:spcAft>
                <a:spcPts val="0"/>
              </a:spcAft>
              <a:buClr>
                <a:srgbClr val="282C33"/>
              </a:buClr>
              <a:buSzPts val="2000"/>
              <a:buFont typeface="Arial"/>
              <a:buChar char="•"/>
            </a:pPr>
            <a:r>
              <a:rPr lang="en-US" sz="2000" b="0" i="0" u="none" strike="noStrike" cap="none">
                <a:solidFill>
                  <a:srgbClr val="282C33"/>
                </a:solidFill>
                <a:latin typeface="Times New Roman"/>
                <a:ea typeface="Times New Roman"/>
                <a:cs typeface="Times New Roman"/>
                <a:sym typeface="Times New Roman"/>
              </a:rPr>
              <a:t>Illustrate a business process or workflow between users and the system.</a:t>
            </a:r>
            <a:endParaRPr/>
          </a:p>
          <a:p>
            <a:pPr marL="800100" marR="0" lvl="1" indent="-342900" algn="just" rtl="0">
              <a:lnSpc>
                <a:spcPct val="150000"/>
              </a:lnSpc>
              <a:spcBef>
                <a:spcPts val="0"/>
              </a:spcBef>
              <a:spcAft>
                <a:spcPts val="0"/>
              </a:spcAft>
              <a:buClr>
                <a:srgbClr val="282C33"/>
              </a:buClr>
              <a:buSzPts val="2000"/>
              <a:buFont typeface="Arial"/>
              <a:buChar char="•"/>
            </a:pPr>
            <a:r>
              <a:rPr lang="en-US" sz="2000" b="0" i="0" u="none" strike="noStrike" cap="none">
                <a:solidFill>
                  <a:srgbClr val="282C33"/>
                </a:solidFill>
                <a:latin typeface="Times New Roman"/>
                <a:ea typeface="Times New Roman"/>
                <a:cs typeface="Times New Roman"/>
                <a:sym typeface="Times New Roman"/>
              </a:rPr>
              <a:t>Simplify and improve any process by clarifying complicated use cases.</a:t>
            </a:r>
            <a:endParaRPr/>
          </a:p>
          <a:p>
            <a:pPr marL="800100" marR="0" lvl="1" indent="-342900" algn="just" rtl="0">
              <a:lnSpc>
                <a:spcPct val="150000"/>
              </a:lnSpc>
              <a:spcBef>
                <a:spcPts val="0"/>
              </a:spcBef>
              <a:spcAft>
                <a:spcPts val="0"/>
              </a:spcAft>
              <a:buClr>
                <a:srgbClr val="282C33"/>
              </a:buClr>
              <a:buSzPts val="2000"/>
              <a:buFont typeface="Arial"/>
              <a:buChar char="•"/>
            </a:pPr>
            <a:r>
              <a:rPr lang="en-US" sz="2000" b="0" i="0" u="none" strike="noStrike" cap="none">
                <a:solidFill>
                  <a:srgbClr val="282C33"/>
                </a:solidFill>
                <a:latin typeface="Times New Roman"/>
                <a:ea typeface="Times New Roman"/>
                <a:cs typeface="Times New Roman"/>
                <a:sym typeface="Times New Roman"/>
              </a:rPr>
              <a:t>Model software architecture elements, such as method, function, and operation.</a:t>
            </a:r>
            <a:endParaRPr/>
          </a:p>
          <a:p>
            <a:pPr marL="0" marR="0" lvl="0" indent="0" algn="just" rtl="0">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
            </a:r>
            <a:br>
              <a:rPr lang="en-US"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t>When to use Activity Diagram</a:t>
            </a:r>
            <a:endParaRPr b="1">
              <a:latin typeface="Times"/>
              <a:ea typeface="Times"/>
              <a:cs typeface="Times"/>
              <a:sym typeface="Times"/>
            </a:endParaRPr>
          </a:p>
        </p:txBody>
      </p:sp>
      <p:sp>
        <p:nvSpPr>
          <p:cNvPr id="168" name="Google Shape;168;p16"/>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169" name="Google Shape;169;p16"/>
          <p:cNvSpPr/>
          <p:nvPr/>
        </p:nvSpPr>
        <p:spPr>
          <a:xfrm>
            <a:off x="152400" y="1122471"/>
            <a:ext cx="8686800" cy="466277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333333"/>
              </a:buClr>
              <a:buSzPts val="1800"/>
              <a:buFont typeface="Arial"/>
              <a:buChar char="•"/>
            </a:pPr>
            <a:r>
              <a:rPr lang="en-US" sz="1800" b="0" i="0" dirty="0">
                <a:solidFill>
                  <a:srgbClr val="333333"/>
                </a:solidFill>
                <a:latin typeface="Times New Roman"/>
                <a:ea typeface="Times New Roman"/>
                <a:cs typeface="Times New Roman"/>
                <a:sym typeface="Times New Roman"/>
              </a:rPr>
              <a:t>An activity diagram can be used to portray business processes and workflows. </a:t>
            </a:r>
            <a:endParaRPr dirty="0"/>
          </a:p>
          <a:p>
            <a:pPr marL="285750" marR="0" lvl="0" indent="-285750" algn="just" rtl="0">
              <a:lnSpc>
                <a:spcPct val="150000"/>
              </a:lnSpc>
              <a:spcBef>
                <a:spcPts val="0"/>
              </a:spcBef>
              <a:spcAft>
                <a:spcPts val="0"/>
              </a:spcAft>
              <a:buClr>
                <a:srgbClr val="333333"/>
              </a:buClr>
              <a:buSzPts val="1800"/>
              <a:buFont typeface="Arial"/>
              <a:buChar char="•"/>
            </a:pPr>
            <a:r>
              <a:rPr lang="en-US" sz="1800" b="0" i="0" dirty="0">
                <a:solidFill>
                  <a:srgbClr val="333333"/>
                </a:solidFill>
                <a:latin typeface="Times New Roman"/>
                <a:ea typeface="Times New Roman"/>
                <a:cs typeface="Times New Roman"/>
                <a:sym typeface="Times New Roman"/>
              </a:rPr>
              <a:t>Also, it used </a:t>
            </a:r>
            <a:r>
              <a:rPr lang="en-US" sz="1800" b="1" i="0" dirty="0">
                <a:solidFill>
                  <a:srgbClr val="333333"/>
                </a:solidFill>
                <a:latin typeface="Times New Roman"/>
                <a:ea typeface="Times New Roman"/>
                <a:cs typeface="Times New Roman"/>
                <a:sym typeface="Times New Roman"/>
              </a:rPr>
              <a:t>for modeling business as well as the software</a:t>
            </a:r>
            <a:r>
              <a:rPr lang="en-US" sz="1800" b="0" i="0" dirty="0">
                <a:solidFill>
                  <a:srgbClr val="333333"/>
                </a:solidFill>
                <a:latin typeface="Times New Roman"/>
                <a:ea typeface="Times New Roman"/>
                <a:cs typeface="Times New Roman"/>
                <a:sym typeface="Times New Roman"/>
              </a:rPr>
              <a:t>. </a:t>
            </a:r>
            <a:endParaRPr dirty="0"/>
          </a:p>
          <a:p>
            <a:pPr marL="285750" marR="0" lvl="0" indent="-285750" algn="just" rtl="0">
              <a:lnSpc>
                <a:spcPct val="150000"/>
              </a:lnSpc>
              <a:spcBef>
                <a:spcPts val="0"/>
              </a:spcBef>
              <a:spcAft>
                <a:spcPts val="0"/>
              </a:spcAft>
              <a:buClr>
                <a:srgbClr val="333333"/>
              </a:buClr>
              <a:buSzPts val="1800"/>
              <a:buFont typeface="Arial"/>
              <a:buChar char="•"/>
            </a:pPr>
            <a:r>
              <a:rPr lang="en-US" sz="1800" b="0" i="0" dirty="0">
                <a:solidFill>
                  <a:srgbClr val="333333"/>
                </a:solidFill>
                <a:latin typeface="Times New Roman"/>
                <a:ea typeface="Times New Roman"/>
                <a:cs typeface="Times New Roman"/>
                <a:sym typeface="Times New Roman"/>
              </a:rPr>
              <a:t>An activity diagram is utilized for the followings:</a:t>
            </a:r>
            <a:endParaRPr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graphically model the workflow in an easier and understandable way.</a:t>
            </a:r>
            <a:endParaRPr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model the execution flow among several activities.</a:t>
            </a:r>
            <a:endParaRPr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model </a:t>
            </a:r>
            <a:r>
              <a:rPr lang="en-US" sz="1800" b="1" i="0" u="none" strike="noStrike" cap="none" dirty="0">
                <a:solidFill>
                  <a:srgbClr val="000000"/>
                </a:solidFill>
                <a:latin typeface="Times New Roman"/>
                <a:ea typeface="Times New Roman"/>
                <a:cs typeface="Times New Roman"/>
                <a:sym typeface="Times New Roman"/>
              </a:rPr>
              <a:t>comprehensive information of a function or an algorithm </a:t>
            </a:r>
            <a:r>
              <a:rPr lang="en-US" sz="1800" b="0" i="0" u="none" strike="noStrike" cap="none" dirty="0">
                <a:solidFill>
                  <a:srgbClr val="000000"/>
                </a:solidFill>
                <a:latin typeface="Times New Roman"/>
                <a:ea typeface="Times New Roman"/>
                <a:cs typeface="Times New Roman"/>
                <a:sym typeface="Times New Roman"/>
              </a:rPr>
              <a:t>employed within the system.</a:t>
            </a:r>
            <a:endParaRPr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model the business process and its workflow.</a:t>
            </a:r>
            <a:endParaRPr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envision </a:t>
            </a:r>
            <a:r>
              <a:rPr lang="en-US" sz="1800" b="1" i="0" u="none" strike="noStrike" cap="none" dirty="0">
                <a:solidFill>
                  <a:srgbClr val="000000"/>
                </a:solidFill>
                <a:latin typeface="Times New Roman"/>
                <a:ea typeface="Times New Roman"/>
                <a:cs typeface="Times New Roman"/>
                <a:sym typeface="Times New Roman"/>
              </a:rPr>
              <a:t>the dynamic aspect of a system.</a:t>
            </a:r>
            <a:endParaRPr b="1"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generate the top-level flowcharts for representing the workflow of an application.</a:t>
            </a:r>
            <a:endParaRPr dirty="0"/>
          </a:p>
          <a:p>
            <a:pPr marL="742950" marR="0" lvl="1" indent="-285750" algn="just" rtl="0">
              <a:lnSpc>
                <a:spcPct val="150000"/>
              </a:lnSpc>
              <a:spcBef>
                <a:spcPts val="0"/>
              </a:spcBef>
              <a:spcAft>
                <a:spcPts val="0"/>
              </a:spcAft>
              <a:buClr>
                <a:srgbClr val="000000"/>
              </a:buClr>
              <a:buSzPts val="1800"/>
              <a:buFont typeface="Noto Sans Symbols"/>
              <a:buChar char="✔"/>
            </a:pPr>
            <a:r>
              <a:rPr lang="en-US" sz="1800" b="0" i="0" u="none" strike="noStrike" cap="none" dirty="0">
                <a:solidFill>
                  <a:srgbClr val="000000"/>
                </a:solidFill>
                <a:latin typeface="Times New Roman"/>
                <a:ea typeface="Times New Roman"/>
                <a:cs typeface="Times New Roman"/>
                <a:sym typeface="Times New Roman"/>
              </a:rPr>
              <a:t>To </a:t>
            </a:r>
            <a:r>
              <a:rPr lang="en-US" sz="1800" b="1" i="0" u="none" strike="noStrike" cap="none" dirty="0">
                <a:solidFill>
                  <a:srgbClr val="000000"/>
                </a:solidFill>
                <a:latin typeface="Times New Roman"/>
                <a:ea typeface="Times New Roman"/>
                <a:cs typeface="Times New Roman"/>
                <a:sym typeface="Times New Roman"/>
              </a:rPr>
              <a:t>represent a high-level view </a:t>
            </a:r>
            <a:r>
              <a:rPr lang="en-US" sz="1800" b="0" i="0" u="none" strike="noStrike" cap="none" dirty="0">
                <a:solidFill>
                  <a:srgbClr val="000000"/>
                </a:solidFill>
                <a:latin typeface="Times New Roman"/>
                <a:ea typeface="Times New Roman"/>
                <a:cs typeface="Times New Roman"/>
                <a:sym typeface="Times New Roman"/>
              </a:rPr>
              <a:t>of a distributed or an object-oriented system.</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73"/>
        <p:cNvGrpSpPr/>
        <p:nvPr/>
      </p:nvGrpSpPr>
      <p:grpSpPr>
        <a:xfrm>
          <a:off x="0" y="0"/>
          <a:ext cx="0" cy="0"/>
          <a:chOff x="0" y="0"/>
          <a:chExt cx="0" cy="0"/>
        </a:xfrm>
      </p:grpSpPr>
      <p:sp>
        <p:nvSpPr>
          <p:cNvPr id="174" name="Google Shape;174;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Bug Removal</a:t>
            </a:r>
            <a:endParaRPr/>
          </a:p>
        </p:txBody>
      </p:sp>
      <p:sp>
        <p:nvSpPr>
          <p:cNvPr id="175" name="Google Shape;175;p17"/>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
        <p:nvSpPr>
          <p:cNvPr id="176" name="Google Shape;176;p17"/>
          <p:cNvSpPr/>
          <p:nvPr/>
        </p:nvSpPr>
        <p:spPr>
          <a:xfrm>
            <a:off x="152400" y="1122471"/>
            <a:ext cx="8686800" cy="544405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273239"/>
              </a:buClr>
              <a:buSzPts val="2400"/>
              <a:buFont typeface="Arial"/>
              <a:buChar char="•"/>
            </a:pPr>
            <a:r>
              <a:rPr lang="en-US" sz="2400" b="0" i="0">
                <a:solidFill>
                  <a:srgbClr val="273239"/>
                </a:solidFill>
                <a:latin typeface="Times New Roman"/>
                <a:ea typeface="Times New Roman"/>
                <a:cs typeface="Times New Roman"/>
                <a:sym typeface="Times New Roman"/>
              </a:rPr>
              <a:t>Software testing is the process of verifying that a software product or application is doing what it is supposed to do. The benefits of testing include preventing distractions, reducing development costs, and improving performance.</a:t>
            </a:r>
            <a:endParaRPr/>
          </a:p>
          <a:p>
            <a:pPr marL="285750" marR="0" lvl="0" indent="-285750" algn="just" rtl="0">
              <a:lnSpc>
                <a:spcPct val="150000"/>
              </a:lnSpc>
              <a:spcBef>
                <a:spcPts val="0"/>
              </a:spcBef>
              <a:spcAft>
                <a:spcPts val="0"/>
              </a:spcAft>
              <a:buClr>
                <a:srgbClr val="273239"/>
              </a:buClr>
              <a:buSzPts val="2400"/>
              <a:buFont typeface="Arial"/>
              <a:buChar char="•"/>
            </a:pPr>
            <a:r>
              <a:rPr lang="en-US" sz="2400" b="0" i="0">
                <a:solidFill>
                  <a:srgbClr val="273239"/>
                </a:solidFill>
                <a:latin typeface="Times New Roman"/>
                <a:ea typeface="Times New Roman"/>
                <a:cs typeface="Times New Roman"/>
                <a:sym typeface="Times New Roman"/>
              </a:rPr>
              <a:t>A malfunction in the software/system is an error that may cause components or the system to fail to perform its required functions. In other words, an error encountered during the test can cause malfunction. For example, incorrect data description, statements, input data, design, etc.</a:t>
            </a:r>
            <a:endParaRPr/>
          </a:p>
          <a:p>
            <a:pPr marL="285750" marR="0" lvl="0" indent="-171450" algn="just" rtl="0">
              <a:lnSpc>
                <a:spcPct val="150000"/>
              </a:lnSpc>
              <a:spcBef>
                <a:spcPts val="0"/>
              </a:spcBef>
              <a:spcAft>
                <a:spcPts val="0"/>
              </a:spcAft>
              <a:buClr>
                <a:schemeClr val="dk1"/>
              </a:buClr>
              <a:buSzPts val="1800"/>
              <a:buFont typeface="Arial"/>
              <a:buNone/>
            </a:pPr>
            <a:endParaRPr sz="1800" b="1" i="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80"/>
        <p:cNvGrpSpPr/>
        <p:nvPr/>
      </p:nvGrpSpPr>
      <p:grpSpPr>
        <a:xfrm>
          <a:off x="0" y="0"/>
          <a:ext cx="0" cy="0"/>
          <a:chOff x="0" y="0"/>
          <a:chExt cx="0" cy="0"/>
        </a:xfrm>
      </p:grpSpPr>
      <p:sp>
        <p:nvSpPr>
          <p:cNvPr id="181" name="Google Shape;181;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b="1">
                <a:latin typeface="Times"/>
                <a:ea typeface="Times"/>
                <a:cs typeface="Times"/>
                <a:sym typeface="Times"/>
              </a:rPr>
              <a:t>Bug Removal</a:t>
            </a:r>
            <a:endParaRPr/>
          </a:p>
        </p:txBody>
      </p:sp>
      <p:sp>
        <p:nvSpPr>
          <p:cNvPr id="182" name="Google Shape;182;p18"/>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
        <p:nvSpPr>
          <p:cNvPr id="183" name="Google Shape;183;p18"/>
          <p:cNvSpPr/>
          <p:nvPr/>
        </p:nvSpPr>
        <p:spPr>
          <a:xfrm>
            <a:off x="152400" y="1122471"/>
            <a:ext cx="8686800" cy="58698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chemeClr val="dk1"/>
              </a:buClr>
              <a:buSzPts val="1800"/>
              <a:buFont typeface="Times New Roman"/>
              <a:buNone/>
            </a:pPr>
            <a:r>
              <a:rPr lang="en-US" sz="1800" b="0" i="0">
                <a:solidFill>
                  <a:schemeClr val="dk1"/>
                </a:solidFill>
                <a:latin typeface="Times New Roman"/>
                <a:ea typeface="Times New Roman"/>
                <a:cs typeface="Times New Roman"/>
                <a:sym typeface="Times New Roman"/>
              </a:rPr>
              <a:t>There are many different types of software testing, each with specific goals and strategies. Some of them are below:</a:t>
            </a:r>
            <a:endParaRPr/>
          </a:p>
          <a:p>
            <a:pPr marL="0" marR="0" lvl="0" indent="-114300" algn="l" rtl="0">
              <a:lnSpc>
                <a:spcPct val="150000"/>
              </a:lnSpc>
              <a:spcBef>
                <a:spcPts val="750"/>
              </a:spcBef>
              <a:spcAft>
                <a:spcPts val="0"/>
              </a:spcAft>
              <a:buClr>
                <a:schemeClr val="dk1"/>
              </a:buClr>
              <a:buSzPts val="1800"/>
              <a:buFont typeface="Calibri"/>
              <a:buAutoNum type="arabicPeriod"/>
            </a:pPr>
            <a:r>
              <a:rPr lang="en-US" sz="1800" b="1" i="0" u="sng">
                <a:solidFill>
                  <a:schemeClr val="dk1"/>
                </a:solidFill>
                <a:latin typeface="Times New Roman"/>
                <a:ea typeface="Times New Roman"/>
                <a:cs typeface="Times New Roman"/>
                <a:sym typeface="Times New Rom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Acceptance Testing</a:t>
            </a:r>
            <a:r>
              <a:rPr lang="en-US" sz="1800" b="1" i="0">
                <a:solidFill>
                  <a:schemeClr val="dk1"/>
                </a:solidFill>
                <a:latin typeface="Times New Roman"/>
                <a:ea typeface="Times New Roman"/>
                <a:cs typeface="Times New Roman"/>
                <a:sym typeface="Times New Roman"/>
              </a:rPr>
              <a:t>: </a:t>
            </a:r>
            <a:r>
              <a:rPr lang="en-US" sz="1800" b="0" i="0">
                <a:solidFill>
                  <a:schemeClr val="dk1"/>
                </a:solidFill>
                <a:latin typeface="Times New Roman"/>
                <a:ea typeface="Times New Roman"/>
                <a:cs typeface="Times New Roman"/>
                <a:sym typeface="Times New Roman"/>
              </a:rPr>
              <a:t>Ensuring that the whole system works as intended.</a:t>
            </a:r>
            <a:endParaRPr/>
          </a:p>
          <a:p>
            <a:pPr marL="0" marR="0" lvl="0" indent="-114300" algn="l" rtl="0">
              <a:lnSpc>
                <a:spcPct val="150000"/>
              </a:lnSpc>
              <a:spcBef>
                <a:spcPts val="1800"/>
              </a:spcBef>
              <a:spcAft>
                <a:spcPts val="0"/>
              </a:spcAft>
              <a:buClr>
                <a:schemeClr val="dk1"/>
              </a:buClr>
              <a:buSzPts val="1800"/>
              <a:buFont typeface="Calibri"/>
              <a:buAutoNum type="arabicPeriod"/>
            </a:pPr>
            <a:r>
              <a:rPr lang="en-US" sz="1800" b="1" i="0" u="sng">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Integration Testing</a:t>
            </a:r>
            <a:r>
              <a:rPr lang="en-US" sz="1800" b="1" i="0">
                <a:solidFill>
                  <a:schemeClr val="dk1"/>
                </a:solidFill>
                <a:latin typeface="Times New Roman"/>
                <a:ea typeface="Times New Roman"/>
                <a:cs typeface="Times New Roman"/>
                <a:sym typeface="Times New Roman"/>
              </a:rPr>
              <a:t>:</a:t>
            </a:r>
            <a:r>
              <a:rPr lang="en-US" sz="1800" b="0" i="0">
                <a:solidFill>
                  <a:schemeClr val="dk1"/>
                </a:solidFill>
                <a:latin typeface="Times New Roman"/>
                <a:ea typeface="Times New Roman"/>
                <a:cs typeface="Times New Roman"/>
                <a:sym typeface="Times New Roman"/>
              </a:rPr>
              <a:t> Ensuring that software components or functions work together.</a:t>
            </a:r>
            <a:endParaRPr/>
          </a:p>
          <a:p>
            <a:pPr marL="0" marR="0" lvl="0" indent="-114300" algn="l" rtl="0">
              <a:lnSpc>
                <a:spcPct val="150000"/>
              </a:lnSpc>
              <a:spcBef>
                <a:spcPts val="1800"/>
              </a:spcBef>
              <a:spcAft>
                <a:spcPts val="0"/>
              </a:spcAft>
              <a:buClr>
                <a:schemeClr val="dk1"/>
              </a:buClr>
              <a:buSzPts val="1800"/>
              <a:buFont typeface="Calibri"/>
              <a:buAutoNum type="arabicPeriod"/>
            </a:pPr>
            <a:r>
              <a:rPr lang="en-US" sz="1800" b="1" i="0" u="sng">
                <a:solidFill>
                  <a:schemeClr val="dk1"/>
                </a:solidFill>
                <a:latin typeface="Times New Roman"/>
                <a:ea typeface="Times New Roman"/>
                <a:cs typeface="Times New Roman"/>
                <a:sym typeface="Times New Rom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Unit Testing</a:t>
            </a:r>
            <a:r>
              <a:rPr lang="en-US" sz="1800" b="1" i="0">
                <a:solidFill>
                  <a:schemeClr val="dk1"/>
                </a:solidFill>
                <a:latin typeface="Times New Roman"/>
                <a:ea typeface="Times New Roman"/>
                <a:cs typeface="Times New Roman"/>
                <a:sym typeface="Times New Roman"/>
              </a:rPr>
              <a:t>:</a:t>
            </a:r>
            <a:r>
              <a:rPr lang="en-US" sz="1800" b="0" i="0">
                <a:solidFill>
                  <a:schemeClr val="dk1"/>
                </a:solidFill>
                <a:latin typeface="Times New Roman"/>
                <a:ea typeface="Times New Roman"/>
                <a:cs typeface="Times New Roman"/>
                <a:sym typeface="Times New Roman"/>
              </a:rPr>
              <a:t> To ensure that each software unit operates as expected. The unit is a testable component of the application.</a:t>
            </a:r>
            <a:endParaRPr/>
          </a:p>
          <a:p>
            <a:pPr marL="0" marR="0" lvl="0" indent="-114300" algn="l" rtl="0">
              <a:lnSpc>
                <a:spcPct val="150000"/>
              </a:lnSpc>
              <a:spcBef>
                <a:spcPts val="1800"/>
              </a:spcBef>
              <a:spcAft>
                <a:spcPts val="0"/>
              </a:spcAft>
              <a:buClr>
                <a:schemeClr val="dk1"/>
              </a:buClr>
              <a:buSzPts val="1800"/>
              <a:buFont typeface="Calibri"/>
              <a:buAutoNum type="arabicPeriod"/>
            </a:pPr>
            <a:r>
              <a:rPr lang="en-US" sz="1800" b="1" i="0" u="sng">
                <a:solidFill>
                  <a:schemeClr val="dk1"/>
                </a:solidFill>
                <a:latin typeface="Times New Roman"/>
                <a:ea typeface="Times New Roman"/>
                <a:cs typeface="Times New Roman"/>
                <a:sym typeface="Times New Roman"/>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Functional Testing</a:t>
            </a:r>
            <a:r>
              <a:rPr lang="en-US" sz="1800" b="1" i="0">
                <a:solidFill>
                  <a:schemeClr val="dk1"/>
                </a:solidFill>
                <a:latin typeface="Times New Roman"/>
                <a:ea typeface="Times New Roman"/>
                <a:cs typeface="Times New Roman"/>
                <a:sym typeface="Times New Roman"/>
              </a:rPr>
              <a:t>:</a:t>
            </a:r>
            <a:r>
              <a:rPr lang="en-US" sz="1800" b="0" i="0">
                <a:solidFill>
                  <a:schemeClr val="dk1"/>
                </a:solidFill>
                <a:latin typeface="Times New Roman"/>
                <a:ea typeface="Times New Roman"/>
                <a:cs typeface="Times New Roman"/>
                <a:sym typeface="Times New Roman"/>
              </a:rPr>
              <a:t> Evaluating activities by imitating business conditions, based on operational requirements. Checking the black box is a common way to confirm tasks.</a:t>
            </a:r>
            <a:endParaRPr/>
          </a:p>
          <a:p>
            <a:pPr marL="0" marR="0" lvl="0" indent="-114300" algn="l" rtl="0">
              <a:lnSpc>
                <a:spcPct val="150000"/>
              </a:lnSpc>
              <a:spcBef>
                <a:spcPts val="1800"/>
              </a:spcBef>
              <a:spcAft>
                <a:spcPts val="0"/>
              </a:spcAft>
              <a:buClr>
                <a:schemeClr val="dk1"/>
              </a:buClr>
              <a:buSzPts val="1800"/>
              <a:buFont typeface="Calibri"/>
              <a:buAutoNum type="arabicPeriod"/>
            </a:pPr>
            <a:r>
              <a:rPr lang="en-US" sz="1800" b="1" i="0" u="sng">
                <a:solidFill>
                  <a:schemeClr val="dk1"/>
                </a:solidFill>
                <a:latin typeface="Times New Roman"/>
                <a:ea typeface="Times New Roman"/>
                <a:cs typeface="Times New Roman"/>
                <a:sym typeface="Times New Roman"/>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Performance Testing</a:t>
            </a:r>
            <a:r>
              <a:rPr lang="en-US" sz="1800" b="1" i="0">
                <a:solidFill>
                  <a:schemeClr val="dk1"/>
                </a:solidFill>
                <a:latin typeface="Times New Roman"/>
                <a:ea typeface="Times New Roman"/>
                <a:cs typeface="Times New Roman"/>
                <a:sym typeface="Times New Roman"/>
              </a:rPr>
              <a:t>:</a:t>
            </a:r>
            <a:r>
              <a:rPr lang="en-US" sz="1800" b="0" i="0">
                <a:solidFill>
                  <a:schemeClr val="dk1"/>
                </a:solidFill>
                <a:latin typeface="Times New Roman"/>
                <a:ea typeface="Times New Roman"/>
                <a:cs typeface="Times New Roman"/>
                <a:sym typeface="Times New Roman"/>
              </a:rPr>
              <a:t> A test of how the software works under various operating loads. Load testing, for example, is used to assess performance under real-life load conditions.</a:t>
            </a:r>
            <a:endParaRPr/>
          </a:p>
          <a:p>
            <a:pPr marL="285750" marR="0" lvl="0" indent="-171450" algn="just" rtl="0">
              <a:lnSpc>
                <a:spcPct val="150000"/>
              </a:lnSpc>
              <a:spcBef>
                <a:spcPts val="1800"/>
              </a:spcBef>
              <a:spcAft>
                <a:spcPts val="0"/>
              </a:spcAft>
              <a:buClr>
                <a:schemeClr val="dk1"/>
              </a:buClr>
              <a:buSzPts val="1800"/>
              <a:buFont typeface="Arial"/>
              <a:buNone/>
            </a:pPr>
            <a:endParaRPr sz="1800" b="1" i="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MCQ based question for practice</a:t>
            </a:r>
            <a:endParaRPr/>
          </a:p>
        </p:txBody>
      </p:sp>
      <p:sp>
        <p:nvSpPr>
          <p:cNvPr id="189" name="Google Shape;189;p1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None/>
            </a:pPr>
            <a:r>
              <a:rPr lang="en-US" sz="1800" dirty="0"/>
              <a:t>1. What is the primary purpose of an activity diagram in UML?</a:t>
            </a:r>
            <a:endParaRPr sz="1800" dirty="0"/>
          </a:p>
          <a:p>
            <a:pPr marL="342900" lvl="0" indent="14288" algn="l" rtl="0">
              <a:spcBef>
                <a:spcPts val="360"/>
              </a:spcBef>
              <a:spcAft>
                <a:spcPts val="0"/>
              </a:spcAft>
              <a:buClr>
                <a:schemeClr val="dk1"/>
              </a:buClr>
              <a:buSzPts val="1800"/>
              <a:buAutoNum type="alphaUcParenR"/>
            </a:pPr>
            <a:r>
              <a:rPr lang="en-US" sz="1800" dirty="0"/>
              <a:t>To show the flow of control or data in a system</a:t>
            </a:r>
            <a:endParaRPr sz="1800" dirty="0"/>
          </a:p>
          <a:p>
            <a:pPr marL="342900" lvl="0" indent="14288" algn="l" rtl="0">
              <a:spcBef>
                <a:spcPts val="360"/>
              </a:spcBef>
              <a:spcAft>
                <a:spcPts val="0"/>
              </a:spcAft>
              <a:buClr>
                <a:schemeClr val="dk1"/>
              </a:buClr>
              <a:buSzPts val="1800"/>
              <a:buAutoNum type="alphaUcParenR"/>
            </a:pPr>
            <a:r>
              <a:rPr lang="en-US" sz="1800" dirty="0" smtClean="0"/>
              <a:t>To represent the static structure of a system</a:t>
            </a:r>
            <a:endParaRPr sz="1800" dirty="0" smtClean="0"/>
          </a:p>
          <a:p>
            <a:pPr marL="342900" lvl="0" indent="14288" algn="l" rtl="0">
              <a:spcBef>
                <a:spcPts val="360"/>
              </a:spcBef>
              <a:spcAft>
                <a:spcPts val="0"/>
              </a:spcAft>
              <a:buClr>
                <a:schemeClr val="dk1"/>
              </a:buClr>
              <a:buSzPts val="1800"/>
              <a:buAutoNum type="alphaUcParenR"/>
            </a:pPr>
            <a:r>
              <a:rPr lang="en-US" sz="1800" dirty="0" smtClean="0"/>
              <a:t>To depict the sequence of events in a use case</a:t>
            </a:r>
            <a:endParaRPr sz="1800" dirty="0" smtClean="0"/>
          </a:p>
          <a:p>
            <a:pPr marL="342900" lvl="0" indent="14288" algn="l" rtl="0">
              <a:spcBef>
                <a:spcPts val="360"/>
              </a:spcBef>
              <a:spcAft>
                <a:spcPts val="0"/>
              </a:spcAft>
              <a:buClr>
                <a:schemeClr val="dk1"/>
              </a:buClr>
              <a:buSzPts val="1800"/>
              <a:buAutoNum type="alphaUcParenR"/>
            </a:pPr>
            <a:r>
              <a:rPr lang="en-US" sz="1800" dirty="0" smtClean="0"/>
              <a:t>To describe the interactions between different actors</a:t>
            </a:r>
            <a:endParaRPr sz="1800" dirty="0" smtClean="0"/>
          </a:p>
          <a:p>
            <a:pPr marL="342900" lvl="0" indent="-342900" algn="l" rtl="0">
              <a:spcBef>
                <a:spcPts val="360"/>
              </a:spcBef>
              <a:spcAft>
                <a:spcPts val="0"/>
              </a:spcAft>
              <a:buClr>
                <a:schemeClr val="dk1"/>
              </a:buClr>
              <a:buSzPts val="1800"/>
              <a:buNone/>
            </a:pPr>
            <a:r>
              <a:rPr lang="en-US" sz="1800" dirty="0" smtClean="0"/>
              <a:t>2</a:t>
            </a:r>
            <a:r>
              <a:rPr lang="en-US" sz="1800" dirty="0"/>
              <a:t>. </a:t>
            </a:r>
            <a:r>
              <a:rPr lang="en-US" sz="1800" dirty="0"/>
              <a:t>Which symbol is used to represent the start of an activity in an activity diagram?</a:t>
            </a:r>
            <a:endParaRPr sz="1800" dirty="0"/>
          </a:p>
          <a:p>
            <a:pPr marL="342900" lvl="0" indent="14288" algn="l" rtl="0">
              <a:spcBef>
                <a:spcPts val="360"/>
              </a:spcBef>
              <a:spcAft>
                <a:spcPts val="0"/>
              </a:spcAft>
              <a:buClr>
                <a:schemeClr val="dk1"/>
              </a:buClr>
              <a:buSzPts val="1800"/>
              <a:buAutoNum type="alphaUcParenR"/>
            </a:pPr>
            <a:r>
              <a:rPr lang="en-US" sz="1800" dirty="0"/>
              <a:t>Rounded rectangle</a:t>
            </a:r>
            <a:br>
              <a:rPr lang="en-US" sz="1800" dirty="0"/>
            </a:br>
            <a:r>
              <a:rPr lang="en-US" sz="1800" dirty="0"/>
              <a:t>B) Circle</a:t>
            </a:r>
            <a:br>
              <a:rPr lang="en-US" sz="1800" dirty="0"/>
            </a:br>
            <a:r>
              <a:rPr lang="en-US" sz="1800" dirty="0"/>
              <a:t>C) Diamond</a:t>
            </a:r>
            <a:br>
              <a:rPr lang="en-US" sz="1800" dirty="0"/>
            </a:br>
            <a:r>
              <a:rPr lang="en-US" sz="1800" dirty="0"/>
              <a:t>D) Filled circle</a:t>
            </a:r>
            <a:endParaRPr sz="1800" dirty="0"/>
          </a:p>
          <a:p>
            <a:pPr marL="342900" lvl="0" indent="-342900" algn="l" rtl="0">
              <a:spcBef>
                <a:spcPts val="360"/>
              </a:spcBef>
              <a:spcAft>
                <a:spcPts val="0"/>
              </a:spcAft>
              <a:buClr>
                <a:schemeClr val="dk1"/>
              </a:buClr>
              <a:buSzPts val="1800"/>
              <a:buNone/>
            </a:pPr>
            <a:r>
              <a:rPr lang="en-US" sz="1800" dirty="0"/>
              <a:t>3. Which of the following best represents the flow of control between activities in an activity diagram?</a:t>
            </a:r>
            <a:endParaRPr sz="1800" dirty="0"/>
          </a:p>
          <a:p>
            <a:pPr marL="342900" lvl="0" indent="-342900" algn="l" rtl="0">
              <a:spcBef>
                <a:spcPts val="360"/>
              </a:spcBef>
              <a:spcAft>
                <a:spcPts val="0"/>
              </a:spcAft>
              <a:buClr>
                <a:schemeClr val="dk1"/>
              </a:buClr>
              <a:buSzPts val="1800"/>
              <a:buChar char="•"/>
            </a:pPr>
            <a:r>
              <a:rPr lang="en-US" sz="1800" dirty="0"/>
              <a:t>A) Dashed line with an arrowhead</a:t>
            </a:r>
            <a:br>
              <a:rPr lang="en-US" sz="1800" dirty="0"/>
            </a:br>
            <a:r>
              <a:rPr lang="en-US" sz="1800" dirty="0"/>
              <a:t>B) Solid line with an arrowhead</a:t>
            </a:r>
            <a:br>
              <a:rPr lang="en-US" sz="1800" dirty="0"/>
            </a:br>
            <a:r>
              <a:rPr lang="en-US" sz="1800" dirty="0"/>
              <a:t>C) Solid line with no arrowhead</a:t>
            </a:r>
            <a:br>
              <a:rPr lang="en-US" sz="1800" dirty="0"/>
            </a:br>
            <a:r>
              <a:rPr lang="en-US" sz="1800" dirty="0"/>
              <a:t>D) Dashed line with no arrowhead</a:t>
            </a:r>
            <a:endParaRPr sz="1800" dirty="0"/>
          </a:p>
          <a:p>
            <a:pPr marL="0" lvl="0" indent="0" algn="l" rtl="0">
              <a:spcBef>
                <a:spcPts val="280"/>
              </a:spcBef>
              <a:spcAft>
                <a:spcPts val="0"/>
              </a:spcAft>
              <a:buClr>
                <a:schemeClr val="dk1"/>
              </a:buClr>
              <a:buSzPts val="1400"/>
              <a:buNone/>
            </a:pPr>
            <a:endParaRPr sz="1800" dirty="0"/>
          </a:p>
          <a:p>
            <a:pPr marL="0" lvl="0" indent="0" algn="l" rtl="0">
              <a:spcBef>
                <a:spcPts val="360"/>
              </a:spcBef>
              <a:spcAft>
                <a:spcPts val="0"/>
              </a:spcAft>
              <a:buClr>
                <a:schemeClr val="dk1"/>
              </a:buClr>
              <a:buSzPts val="1800"/>
              <a:buNone/>
            </a:pPr>
            <a:endParaRPr sz="1800" dirty="0"/>
          </a:p>
          <a:p>
            <a:pPr marL="0" lvl="0" indent="0" algn="ctr" rtl="0">
              <a:spcBef>
                <a:spcPts val="880"/>
              </a:spcBef>
              <a:spcAft>
                <a:spcPts val="0"/>
              </a:spcAft>
              <a:buClr>
                <a:schemeClr val="dk1"/>
              </a:buClr>
              <a:buSzPts val="4400"/>
              <a:buNone/>
            </a:pPr>
            <a:endParaRPr sz="1800" dirty="0"/>
          </a:p>
        </p:txBody>
      </p:sp>
      <p:sp>
        <p:nvSpPr>
          <p:cNvPr id="190" name="Google Shape;190;p19"/>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MCQ based question for practice</a:t>
            </a:r>
            <a:endParaRPr/>
          </a:p>
        </p:txBody>
      </p:sp>
      <p:sp>
        <p:nvSpPr>
          <p:cNvPr id="196" name="Google Shape;196;p2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None/>
            </a:pPr>
            <a:r>
              <a:rPr lang="en-US" sz="1800" dirty="0"/>
              <a:t>4. What does an activity final node represent in an activity diagram?</a:t>
            </a:r>
            <a:endParaRPr sz="1800" dirty="0"/>
          </a:p>
          <a:p>
            <a:pPr marL="342900" lvl="0" indent="14288" algn="l" rtl="0">
              <a:spcBef>
                <a:spcPts val="360"/>
              </a:spcBef>
              <a:spcAft>
                <a:spcPts val="0"/>
              </a:spcAft>
              <a:buClr>
                <a:schemeClr val="dk1"/>
              </a:buClr>
              <a:buSzPts val="1800"/>
              <a:buAutoNum type="alphaUcParenR"/>
            </a:pPr>
            <a:r>
              <a:rPr lang="en-US" sz="1800" dirty="0"/>
              <a:t>The end of a single activity</a:t>
            </a:r>
            <a:br>
              <a:rPr lang="en-US" sz="1800" dirty="0"/>
            </a:br>
            <a:r>
              <a:rPr lang="en-US" sz="1800" dirty="0"/>
              <a:t>B) The final state of an object</a:t>
            </a:r>
            <a:br>
              <a:rPr lang="en-US" sz="1800" dirty="0"/>
            </a:br>
            <a:r>
              <a:rPr lang="en-US" sz="1800" dirty="0"/>
              <a:t>C) The end of all activities in a flow</a:t>
            </a:r>
            <a:br>
              <a:rPr lang="en-US" sz="1800" dirty="0"/>
            </a:br>
            <a:r>
              <a:rPr lang="en-US" sz="1800" dirty="0"/>
              <a:t>D) The condition for decision-making</a:t>
            </a:r>
            <a:endParaRPr sz="1800" dirty="0"/>
          </a:p>
          <a:p>
            <a:pPr marL="342900" lvl="0" indent="-342900" algn="l" rtl="0">
              <a:spcBef>
                <a:spcPts val="360"/>
              </a:spcBef>
              <a:spcAft>
                <a:spcPts val="0"/>
              </a:spcAft>
              <a:buClr>
                <a:schemeClr val="dk1"/>
              </a:buClr>
              <a:buSzPts val="1800"/>
              <a:buNone/>
            </a:pPr>
            <a:r>
              <a:rPr lang="en-US" sz="1800" dirty="0"/>
              <a:t>5. In an activity diagram, which of the following would most likely represent a waiting action or a pause in the flow?</a:t>
            </a:r>
            <a:endParaRPr sz="1800" dirty="0"/>
          </a:p>
          <a:p>
            <a:pPr marL="342900" lvl="0" indent="14288" algn="l" rtl="0">
              <a:spcBef>
                <a:spcPts val="360"/>
              </a:spcBef>
              <a:spcAft>
                <a:spcPts val="0"/>
              </a:spcAft>
              <a:buClr>
                <a:schemeClr val="dk1"/>
              </a:buClr>
              <a:buSzPts val="1800"/>
              <a:buAutoNum type="alphaUcParenR"/>
            </a:pPr>
            <a:r>
              <a:rPr lang="en-US" sz="1800" dirty="0" smtClean="0"/>
              <a:t>Activity </a:t>
            </a:r>
            <a:r>
              <a:rPr lang="en-US" sz="1800" dirty="0"/>
              <a:t>node</a:t>
            </a:r>
            <a:br>
              <a:rPr lang="en-US" sz="1800" dirty="0"/>
            </a:br>
            <a:r>
              <a:rPr lang="en-US" sz="1800" dirty="0"/>
              <a:t>B) Decision node</a:t>
            </a:r>
            <a:br>
              <a:rPr lang="en-US" sz="1800" dirty="0"/>
            </a:br>
            <a:r>
              <a:rPr lang="en-US" sz="1800" dirty="0"/>
              <a:t>C) Fork node</a:t>
            </a:r>
            <a:br>
              <a:rPr lang="en-US" sz="1800" dirty="0"/>
            </a:br>
            <a:r>
              <a:rPr lang="en-US" sz="1800" dirty="0"/>
              <a:t>D) Initial node</a:t>
            </a:r>
            <a:endParaRPr sz="1800" dirty="0"/>
          </a:p>
          <a:p>
            <a:pPr marL="342900" lvl="0" indent="-342900" algn="l" rtl="0">
              <a:spcBef>
                <a:spcPts val="360"/>
              </a:spcBef>
              <a:spcAft>
                <a:spcPts val="0"/>
              </a:spcAft>
              <a:buClr>
                <a:schemeClr val="dk1"/>
              </a:buClr>
              <a:buSzPts val="1800"/>
              <a:buNone/>
            </a:pPr>
            <a:r>
              <a:rPr lang="en-US" sz="1800" dirty="0"/>
              <a:t>6. In an activity diagram, which of the following is used to show parallel activities?</a:t>
            </a:r>
            <a:endParaRPr sz="1800" dirty="0"/>
          </a:p>
          <a:p>
            <a:pPr marL="357188" lvl="0" indent="0" algn="l" rtl="0">
              <a:spcBef>
                <a:spcPts val="360"/>
              </a:spcBef>
              <a:spcAft>
                <a:spcPts val="0"/>
              </a:spcAft>
              <a:buClr>
                <a:schemeClr val="dk1"/>
              </a:buClr>
              <a:buSzPts val="1800"/>
              <a:buNone/>
            </a:pPr>
            <a:r>
              <a:rPr lang="en-US" sz="1800" dirty="0"/>
              <a:t>A) Fork node</a:t>
            </a:r>
            <a:br>
              <a:rPr lang="en-US" sz="1800" dirty="0"/>
            </a:br>
            <a:r>
              <a:rPr lang="en-US" sz="1800" dirty="0"/>
              <a:t>B) Decision node</a:t>
            </a:r>
            <a:br>
              <a:rPr lang="en-US" sz="1800" dirty="0"/>
            </a:br>
            <a:r>
              <a:rPr lang="en-US" sz="1800" dirty="0"/>
              <a:t>C) Merge node</a:t>
            </a:r>
            <a:br>
              <a:rPr lang="en-US" sz="1800" dirty="0"/>
            </a:br>
            <a:r>
              <a:rPr lang="en-US" sz="1800" dirty="0"/>
              <a:t>D) Join node</a:t>
            </a:r>
            <a:endParaRPr sz="1800" dirty="0"/>
          </a:p>
          <a:p>
            <a:pPr marL="0" lvl="0" indent="0" algn="l" rtl="0">
              <a:spcBef>
                <a:spcPts val="360"/>
              </a:spcBef>
              <a:spcAft>
                <a:spcPts val="0"/>
              </a:spcAft>
              <a:buClr>
                <a:schemeClr val="dk1"/>
              </a:buClr>
              <a:buSzPts val="1800"/>
              <a:buNone/>
            </a:pPr>
            <a:endParaRPr sz="1800" dirty="0"/>
          </a:p>
          <a:p>
            <a:pPr marL="0" lvl="0" indent="0" algn="l" rtl="0">
              <a:spcBef>
                <a:spcPts val="360"/>
              </a:spcBef>
              <a:spcAft>
                <a:spcPts val="0"/>
              </a:spcAft>
              <a:buClr>
                <a:schemeClr val="dk1"/>
              </a:buClr>
              <a:buSzPts val="1800"/>
              <a:buNone/>
            </a:pPr>
            <a:endParaRPr sz="1800" dirty="0"/>
          </a:p>
          <a:p>
            <a:pPr marL="0" lvl="0" indent="0" algn="ctr" rtl="0">
              <a:spcBef>
                <a:spcPts val="880"/>
              </a:spcBef>
              <a:spcAft>
                <a:spcPts val="0"/>
              </a:spcAft>
              <a:buClr>
                <a:schemeClr val="dk1"/>
              </a:buClr>
              <a:buSzPts val="4400"/>
              <a:buNone/>
            </a:pPr>
            <a:endParaRPr sz="1800" dirty="0"/>
          </a:p>
        </p:txBody>
      </p:sp>
      <p:sp>
        <p:nvSpPr>
          <p:cNvPr id="197" name="Google Shape;197;p20"/>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03" name="Google Shape;203;p2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63500" algn="ctr" rtl="0">
              <a:spcBef>
                <a:spcPts val="0"/>
              </a:spcBef>
              <a:spcAft>
                <a:spcPts val="0"/>
              </a:spcAft>
              <a:buClr>
                <a:schemeClr val="dk1"/>
              </a:buClr>
              <a:buSzPts val="4400"/>
              <a:buNone/>
            </a:pPr>
            <a:endParaRPr sz="4400"/>
          </a:p>
          <a:p>
            <a:pPr marL="342900" lvl="0" indent="-63500" algn="ctr" rtl="0">
              <a:spcBef>
                <a:spcPts val="880"/>
              </a:spcBef>
              <a:spcAft>
                <a:spcPts val="0"/>
              </a:spcAft>
              <a:buClr>
                <a:schemeClr val="dk1"/>
              </a:buClr>
              <a:buSzPts val="4400"/>
              <a:buNone/>
            </a:pPr>
            <a:endParaRPr sz="4400"/>
          </a:p>
          <a:p>
            <a:pPr marL="0" lvl="0" indent="0" algn="ctr" rtl="0">
              <a:spcBef>
                <a:spcPts val="880"/>
              </a:spcBef>
              <a:spcAft>
                <a:spcPts val="0"/>
              </a:spcAft>
              <a:buClr>
                <a:schemeClr val="dk1"/>
              </a:buClr>
              <a:buSzPts val="4400"/>
              <a:buNone/>
            </a:pPr>
            <a:r>
              <a:rPr lang="en-US" sz="4400"/>
              <a:t>THANKS</a:t>
            </a:r>
            <a:endParaRPr/>
          </a:p>
        </p:txBody>
      </p:sp>
      <p:sp>
        <p:nvSpPr>
          <p:cNvPr id="204" name="Google Shape;204;p21"/>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1089</Words>
  <Application>Microsoft Office PowerPoint</Application>
  <PresentationFormat>On-screen Show (4:3)</PresentationFormat>
  <Paragraphs>146</Paragraphs>
  <Slides>21</Slides>
  <Notes>21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Noto Sans Symbols</vt:lpstr>
      <vt:lpstr>Times</vt:lpstr>
      <vt:lpstr>Times New Roman</vt:lpstr>
      <vt:lpstr>Office Theme</vt:lpstr>
      <vt:lpstr> </vt:lpstr>
      <vt:lpstr>Introduction to Activity Diagram</vt:lpstr>
      <vt:lpstr>Basic Components of Activity Diagram</vt:lpstr>
      <vt:lpstr>Basic Components of Activity Diagram</vt:lpstr>
      <vt:lpstr>Basic Components of Activity Diagram</vt:lpstr>
      <vt:lpstr>Basic Components of Activity Diagram</vt:lpstr>
      <vt:lpstr>Basic Components of Activity Diagram</vt:lpstr>
      <vt:lpstr>Notations of Activity Diagram</vt:lpstr>
      <vt:lpstr> Activity Diagram Example – Order Processing System</vt:lpstr>
      <vt:lpstr> Activity Diagram Example – Banking System</vt:lpstr>
      <vt:lpstr> Activity Diagram Example – College Management System</vt:lpstr>
      <vt:lpstr> Activity Diagram Example – College Management System</vt:lpstr>
      <vt:lpstr> Activity Diagram Example – Library Management System</vt:lpstr>
      <vt:lpstr> Activity Diagram Example – Hospital Management System</vt:lpstr>
      <vt:lpstr>Benefits of Activity Diagrams</vt:lpstr>
      <vt:lpstr>When to use Activity Diagram</vt:lpstr>
      <vt:lpstr>Bug Removal</vt:lpstr>
      <vt:lpstr>Bug Removal</vt:lpstr>
      <vt:lpstr>MCQ based question for practice</vt:lpstr>
      <vt:lpstr>MCQ based question for practice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ABC</dc:creator>
  <cp:lastModifiedBy>dell</cp:lastModifiedBy>
  <cp:revision>5</cp:revision>
  <dcterms:created xsi:type="dcterms:W3CDTF">2021-07-05T10:09:00Z</dcterms:created>
  <dcterms:modified xsi:type="dcterms:W3CDTF">2025-04-16T03:59:48Z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