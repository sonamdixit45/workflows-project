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1" roundtripDataSignature="AMtx7mg/h8f1T4JQIMvK7gNjv6iitceTK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1594" y="5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
        <p:cNvGrpSpPr/>
        <p:nvPr/>
      </p:nvGrpSpPr>
      <p:grpSpPr>
        <a:xfrm>
          <a:off x="0" y="0"/>
          <a:ext cx="0" cy="0"/>
          <a:chOff x="0" y="0"/>
          <a:chExt cx="0" cy="0"/>
        </a:xfrm>
      </p:grpSpPr>
      <p:sp>
        <p:nvSpPr>
          <p:cNvPr id="43" name="Google Shape;43;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 name="Google Shape;44;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45" name="Google Shape;45;p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52" name="Google Shape;52;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9" name="Google Shape;59;p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60" name="Google Shape;60;p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66" name="Google Shape;66;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73" name="Google Shape;73;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82" name="Google Shape;82;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89" name="Google Shape;89;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96" name="Google Shape;96;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03" name="Google Shape;103;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1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10" name="Google Shape;110;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17" name="Google Shape;117;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1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24" name="Google Shape;124;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1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31" name="Google Shape;131;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p1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38" name="Google Shape;138;p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1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45" name="Google Shape;145;p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1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52" name="Google Shape;152;p1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p1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59" name="Google Shape;159;p1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1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66" name="Google Shape;166;p1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p1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73" name="Google Shape;173;p1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p2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80" name="Google Shape;180;p2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p2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87" name="Google Shape;187;p2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p2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94" name="Google Shape;194;p2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p2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01" name="Google Shape;201;p2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p2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08" name="Google Shape;208;p2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p2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15" name="Google Shape;215;p2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p2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22" name="Google Shape;222;p2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p2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54" name="Google Shape;254;p2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p2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60" name="Google Shape;260;p2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p:cNvGrpSpPr/>
        <p:nvPr/>
      </p:nvGrpSpPr>
      <p:grpSpPr>
        <a:xfrm>
          <a:off x="0" y="0"/>
          <a:ext cx="0" cy="0"/>
          <a:chOff x="0" y="0"/>
          <a:chExt cx="0" cy="0"/>
        </a:xfrm>
      </p:grpSpPr>
      <p:sp>
        <p:nvSpPr>
          <p:cNvPr id="265" name="Google Shape;265;p2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66" name="Google Shape;266;p2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p3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03" name="Google Shape;303;p3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6"/>
        <p:cNvGrpSpPr/>
        <p:nvPr/>
      </p:nvGrpSpPr>
      <p:grpSpPr>
        <a:xfrm>
          <a:off x="0" y="0"/>
          <a:ext cx="0" cy="0"/>
          <a:chOff x="0" y="0"/>
          <a:chExt cx="0" cy="0"/>
        </a:xfrm>
      </p:grpSpPr>
      <p:sp>
        <p:nvSpPr>
          <p:cNvPr id="347" name="Google Shape;347;p3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48" name="Google Shape;348;p3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
        <p:cNvGrpSpPr/>
        <p:nvPr/>
      </p:nvGrpSpPr>
      <p:grpSpPr>
        <a:xfrm>
          <a:off x="0" y="0"/>
          <a:ext cx="0" cy="0"/>
          <a:chOff x="0" y="0"/>
          <a:chExt cx="0" cy="0"/>
        </a:xfrm>
      </p:grpSpPr>
      <p:sp>
        <p:nvSpPr>
          <p:cNvPr id="354" name="Google Shape;354;p3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55" name="Google Shape;355;p3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0"/>
        <p:cNvGrpSpPr/>
        <p:nvPr/>
      </p:nvGrpSpPr>
      <p:grpSpPr>
        <a:xfrm>
          <a:off x="0" y="0"/>
          <a:ext cx="0" cy="0"/>
          <a:chOff x="0" y="0"/>
          <a:chExt cx="0" cy="0"/>
        </a:xfrm>
      </p:grpSpPr>
      <p:sp>
        <p:nvSpPr>
          <p:cNvPr id="361" name="Google Shape;361;p3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62" name="Google Shape;362;p3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7"/>
        <p:cNvGrpSpPr/>
        <p:nvPr/>
      </p:nvGrpSpPr>
      <p:grpSpPr>
        <a:xfrm>
          <a:off x="0" y="0"/>
          <a:ext cx="0" cy="0"/>
          <a:chOff x="0" y="0"/>
          <a:chExt cx="0" cy="0"/>
        </a:xfrm>
      </p:grpSpPr>
      <p:sp>
        <p:nvSpPr>
          <p:cNvPr id="368" name="Google Shape;368;p3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69" name="Google Shape;369;p3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5"/>
        <p:cNvGrpSpPr/>
        <p:nvPr/>
      </p:nvGrpSpPr>
      <p:grpSpPr>
        <a:xfrm>
          <a:off x="0" y="0"/>
          <a:ext cx="0" cy="0"/>
          <a:chOff x="0" y="0"/>
          <a:chExt cx="0" cy="0"/>
        </a:xfrm>
      </p:grpSpPr>
      <p:sp>
        <p:nvSpPr>
          <p:cNvPr id="376" name="Google Shape;376;p3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77" name="Google Shape;377;p3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4"/>
        <p:cNvGrpSpPr/>
        <p:nvPr/>
      </p:nvGrpSpPr>
      <p:grpSpPr>
        <a:xfrm>
          <a:off x="0" y="0"/>
          <a:ext cx="0" cy="0"/>
          <a:chOff x="0" y="0"/>
          <a:chExt cx="0" cy="0"/>
        </a:xfrm>
      </p:grpSpPr>
      <p:pic>
        <p:nvPicPr>
          <p:cNvPr id="25" name="Google Shape;25;p37" descr="LOGO.gif"/>
          <p:cNvPicPr preferRelativeResize="0"/>
          <p:nvPr/>
        </p:nvPicPr>
        <p:blipFill rotWithShape="1">
          <a:blip r:embed="rId2">
            <a:alphaModFix/>
          </a:blip>
          <a:srcRect b="10713"/>
          <a:stretch/>
        </p:blipFill>
        <p:spPr>
          <a:xfrm>
            <a:off x="6553200" y="228600"/>
            <a:ext cx="2057400" cy="635000"/>
          </a:xfrm>
          <a:prstGeom prst="rect">
            <a:avLst/>
          </a:prstGeom>
          <a:noFill/>
          <a:ln>
            <a:noFill/>
          </a:ln>
        </p:spPr>
      </p:pic>
      <p:grpSp>
        <p:nvGrpSpPr>
          <p:cNvPr id="26" name="Google Shape;26;p37"/>
          <p:cNvGrpSpPr/>
          <p:nvPr/>
        </p:nvGrpSpPr>
        <p:grpSpPr>
          <a:xfrm>
            <a:off x="6146800" y="0"/>
            <a:ext cx="2997200" cy="876300"/>
            <a:chOff x="6096000" y="3924300"/>
            <a:chExt cx="2997200" cy="876300"/>
          </a:xfrm>
        </p:grpSpPr>
        <p:sp>
          <p:nvSpPr>
            <p:cNvPr id="27" name="Google Shape;27;p37"/>
            <p:cNvSpPr/>
            <p:nvPr/>
          </p:nvSpPr>
          <p:spPr>
            <a:xfrm>
              <a:off x="6096000" y="3924300"/>
              <a:ext cx="2997200" cy="838200"/>
            </a:xfrm>
            <a:prstGeom prst="rect">
              <a:avLst/>
            </a:prstGeom>
            <a:solidFill>
              <a:srgbClr val="FF33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28" name="Google Shape;28;p37" descr="LOGO.gif"/>
            <p:cNvPicPr preferRelativeResize="0"/>
            <p:nvPr/>
          </p:nvPicPr>
          <p:blipFill rotWithShape="1">
            <a:blip r:embed="rId2">
              <a:alphaModFix/>
            </a:blip>
            <a:srcRect b="10713"/>
            <a:stretch/>
          </p:blipFill>
          <p:spPr>
            <a:xfrm>
              <a:off x="6502400" y="4152900"/>
              <a:ext cx="2057400" cy="635000"/>
            </a:xfrm>
            <a:prstGeom prst="rect">
              <a:avLst/>
            </a:prstGeom>
            <a:noFill/>
            <a:ln>
              <a:noFill/>
            </a:ln>
          </p:spPr>
        </p:pic>
        <p:sp>
          <p:nvSpPr>
            <p:cNvPr id="29" name="Google Shape;29;p37"/>
            <p:cNvSpPr/>
            <p:nvPr/>
          </p:nvSpPr>
          <p:spPr>
            <a:xfrm>
              <a:off x="6477000" y="4114800"/>
              <a:ext cx="2076450" cy="6858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pic>
        <p:nvPicPr>
          <p:cNvPr id="30" name="Google Shape;30;p37" descr="logo.jpg"/>
          <p:cNvPicPr preferRelativeResize="0"/>
          <p:nvPr/>
        </p:nvPicPr>
        <p:blipFill rotWithShape="1">
          <a:blip r:embed="rId3">
            <a:alphaModFix/>
          </a:blip>
          <a:srcRect/>
          <a:stretch/>
        </p:blipFill>
        <p:spPr>
          <a:xfrm>
            <a:off x="6553200" y="228600"/>
            <a:ext cx="1920875" cy="609600"/>
          </a:xfrm>
          <a:prstGeom prst="rect">
            <a:avLst/>
          </a:prstGeom>
          <a:noFill/>
          <a:ln>
            <a:noFill/>
          </a:ln>
        </p:spPr>
      </p:pic>
      <p:sp>
        <p:nvSpPr>
          <p:cNvPr id="31" name="Google Shape;31;p37"/>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sz="3200">
                <a:latin typeface="Times New Roman"/>
                <a:ea typeface="Times New Roman"/>
                <a:cs typeface="Times New Roman"/>
                <a:sym typeface="Times New Roman"/>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32" name="Google Shape;32;p37"/>
          <p:cNvSpPr txBox="1">
            <a:spLocks noGrp="1"/>
          </p:cNvSpPr>
          <p:nvPr>
            <p:ph type="body" idx="1"/>
          </p:nvPr>
        </p:nvSpPr>
        <p:spPr>
          <a:xfrm>
            <a:off x="457200" y="1371600"/>
            <a:ext cx="8229600" cy="4525963"/>
          </a:xfrm>
          <a:prstGeom prst="rect">
            <a:avLst/>
          </a:prstGeom>
          <a:noFill/>
          <a:ln>
            <a:noFill/>
          </a:ln>
        </p:spPr>
        <p:txBody>
          <a:bodyPr spcFirstLastPara="1" wrap="square" lIns="91425" tIns="45700" rIns="91425" bIns="45700" anchor="t" anchorCtr="0">
            <a:noAutofit/>
          </a:bodyPr>
          <a:lstStyle>
            <a:lvl1pPr marL="457200" lvl="0" indent="-368300" algn="l">
              <a:spcBef>
                <a:spcPts val="440"/>
              </a:spcBef>
              <a:spcAft>
                <a:spcPts val="0"/>
              </a:spcAft>
              <a:buClr>
                <a:schemeClr val="dk1"/>
              </a:buClr>
              <a:buSzPts val="2200"/>
              <a:buChar char="•"/>
              <a:defRPr sz="2200">
                <a:latin typeface="Times New Roman"/>
                <a:ea typeface="Times New Roman"/>
                <a:cs typeface="Times New Roman"/>
                <a:sym typeface="Times New Roman"/>
              </a:defRPr>
            </a:lvl1pPr>
            <a:lvl2pPr marL="914400" lvl="1" indent="-368300" algn="l">
              <a:spcBef>
                <a:spcPts val="440"/>
              </a:spcBef>
              <a:spcAft>
                <a:spcPts val="0"/>
              </a:spcAft>
              <a:buClr>
                <a:schemeClr val="dk1"/>
              </a:buClr>
              <a:buSzPts val="2200"/>
              <a:buChar char="–"/>
              <a:defRPr sz="2200">
                <a:latin typeface="Times New Roman"/>
                <a:ea typeface="Times New Roman"/>
                <a:cs typeface="Times New Roman"/>
                <a:sym typeface="Times New Roman"/>
              </a:defRPr>
            </a:lvl2pPr>
            <a:lvl3pPr marL="1371600" lvl="2" indent="-368300" algn="l">
              <a:spcBef>
                <a:spcPts val="440"/>
              </a:spcBef>
              <a:spcAft>
                <a:spcPts val="0"/>
              </a:spcAft>
              <a:buClr>
                <a:schemeClr val="dk1"/>
              </a:buClr>
              <a:buSzPts val="2200"/>
              <a:buChar char="•"/>
              <a:defRPr sz="2200">
                <a:latin typeface="Times New Roman"/>
                <a:ea typeface="Times New Roman"/>
                <a:cs typeface="Times New Roman"/>
                <a:sym typeface="Times New Roman"/>
              </a:defRPr>
            </a:lvl3pPr>
            <a:lvl4pPr marL="1828800" lvl="3" indent="-368300" algn="l">
              <a:spcBef>
                <a:spcPts val="440"/>
              </a:spcBef>
              <a:spcAft>
                <a:spcPts val="0"/>
              </a:spcAft>
              <a:buClr>
                <a:schemeClr val="dk1"/>
              </a:buClr>
              <a:buSzPts val="2200"/>
              <a:buChar char="–"/>
              <a:defRPr sz="2200">
                <a:latin typeface="Times New Roman"/>
                <a:ea typeface="Times New Roman"/>
                <a:cs typeface="Times New Roman"/>
                <a:sym typeface="Times New Roman"/>
              </a:defRPr>
            </a:lvl4pPr>
            <a:lvl5pPr marL="2286000" lvl="4" indent="-368300" algn="l">
              <a:spcBef>
                <a:spcPts val="440"/>
              </a:spcBef>
              <a:spcAft>
                <a:spcPts val="0"/>
              </a:spcAft>
              <a:buClr>
                <a:schemeClr val="dk1"/>
              </a:buClr>
              <a:buSzPts val="2200"/>
              <a:buChar char="»"/>
              <a:defRPr sz="2200">
                <a:latin typeface="Times New Roman"/>
                <a:ea typeface="Times New Roman"/>
                <a:cs typeface="Times New Roman"/>
                <a:sym typeface="Times New Roman"/>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3" name="Google Shape;33;p37"/>
          <p:cNvSpPr txBox="1">
            <a:spLocks noGrp="1"/>
          </p:cNvSpPr>
          <p:nvPr>
            <p:ph type="dt" idx="10"/>
          </p:nvPr>
        </p:nvSpPr>
        <p:spPr>
          <a:xfrm>
            <a:off x="152400" y="6629400"/>
            <a:ext cx="2286000" cy="17895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37"/>
          <p:cNvSpPr txBox="1">
            <a:spLocks noGrp="1"/>
          </p:cNvSpPr>
          <p:nvPr>
            <p:ph type="ftr" idx="11"/>
          </p:nvPr>
        </p:nvSpPr>
        <p:spPr>
          <a:xfrm>
            <a:off x="3124200" y="6629400"/>
            <a:ext cx="2895600" cy="19685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37"/>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b="1">
                <a:solidFill>
                  <a:schemeClr val="lt1"/>
                </a:solidFill>
                <a:latin typeface="Times New Roman"/>
                <a:ea typeface="Times New Roman"/>
                <a:cs typeface="Times New Roman"/>
                <a:sym typeface="Times New Roman"/>
              </a:defRPr>
            </a:lvl1pPr>
            <a:lvl2pPr marL="0" lvl="1" indent="0" algn="r">
              <a:spcBef>
                <a:spcPts val="0"/>
              </a:spcBef>
              <a:spcAft>
                <a:spcPts val="0"/>
              </a:spcAft>
              <a:buNone/>
              <a:defRPr sz="1200" b="1">
                <a:solidFill>
                  <a:schemeClr val="lt1"/>
                </a:solidFill>
                <a:latin typeface="Times New Roman"/>
                <a:ea typeface="Times New Roman"/>
                <a:cs typeface="Times New Roman"/>
                <a:sym typeface="Times New Roman"/>
              </a:defRPr>
            </a:lvl2pPr>
            <a:lvl3pPr marL="0" lvl="2" indent="0" algn="r">
              <a:spcBef>
                <a:spcPts val="0"/>
              </a:spcBef>
              <a:spcAft>
                <a:spcPts val="0"/>
              </a:spcAft>
              <a:buNone/>
              <a:defRPr sz="1200" b="1">
                <a:solidFill>
                  <a:schemeClr val="lt1"/>
                </a:solidFill>
                <a:latin typeface="Times New Roman"/>
                <a:ea typeface="Times New Roman"/>
                <a:cs typeface="Times New Roman"/>
                <a:sym typeface="Times New Roman"/>
              </a:defRPr>
            </a:lvl3pPr>
            <a:lvl4pPr marL="0" lvl="3" indent="0" algn="r">
              <a:spcBef>
                <a:spcPts val="0"/>
              </a:spcBef>
              <a:spcAft>
                <a:spcPts val="0"/>
              </a:spcAft>
              <a:buNone/>
              <a:defRPr sz="1200" b="1">
                <a:solidFill>
                  <a:schemeClr val="lt1"/>
                </a:solidFill>
                <a:latin typeface="Times New Roman"/>
                <a:ea typeface="Times New Roman"/>
                <a:cs typeface="Times New Roman"/>
                <a:sym typeface="Times New Roman"/>
              </a:defRPr>
            </a:lvl4pPr>
            <a:lvl5pPr marL="0" lvl="4" indent="0" algn="r">
              <a:spcBef>
                <a:spcPts val="0"/>
              </a:spcBef>
              <a:spcAft>
                <a:spcPts val="0"/>
              </a:spcAft>
              <a:buNone/>
              <a:defRPr sz="1200" b="1">
                <a:solidFill>
                  <a:schemeClr val="lt1"/>
                </a:solidFill>
                <a:latin typeface="Times New Roman"/>
                <a:ea typeface="Times New Roman"/>
                <a:cs typeface="Times New Roman"/>
                <a:sym typeface="Times New Roman"/>
              </a:defRPr>
            </a:lvl5pPr>
            <a:lvl6pPr marL="0" lvl="5" indent="0" algn="r">
              <a:spcBef>
                <a:spcPts val="0"/>
              </a:spcBef>
              <a:spcAft>
                <a:spcPts val="0"/>
              </a:spcAft>
              <a:buNone/>
              <a:defRPr sz="1200" b="1">
                <a:solidFill>
                  <a:schemeClr val="lt1"/>
                </a:solidFill>
                <a:latin typeface="Times New Roman"/>
                <a:ea typeface="Times New Roman"/>
                <a:cs typeface="Times New Roman"/>
                <a:sym typeface="Times New Roman"/>
              </a:defRPr>
            </a:lvl6pPr>
            <a:lvl7pPr marL="0" lvl="6" indent="0" algn="r">
              <a:spcBef>
                <a:spcPts val="0"/>
              </a:spcBef>
              <a:spcAft>
                <a:spcPts val="0"/>
              </a:spcAft>
              <a:buNone/>
              <a:defRPr sz="1200" b="1">
                <a:solidFill>
                  <a:schemeClr val="lt1"/>
                </a:solidFill>
                <a:latin typeface="Times New Roman"/>
                <a:ea typeface="Times New Roman"/>
                <a:cs typeface="Times New Roman"/>
                <a:sym typeface="Times New Roman"/>
              </a:defRPr>
            </a:lvl7pPr>
            <a:lvl8pPr marL="0" lvl="7" indent="0" algn="r">
              <a:spcBef>
                <a:spcPts val="0"/>
              </a:spcBef>
              <a:spcAft>
                <a:spcPts val="0"/>
              </a:spcAft>
              <a:buNone/>
              <a:defRPr sz="1200" b="1">
                <a:solidFill>
                  <a:schemeClr val="lt1"/>
                </a:solidFill>
                <a:latin typeface="Times New Roman"/>
                <a:ea typeface="Times New Roman"/>
                <a:cs typeface="Times New Roman"/>
                <a:sym typeface="Times New Roman"/>
              </a:defRPr>
            </a:lvl8pPr>
            <a:lvl9pPr marL="0" lvl="8" indent="0" algn="r">
              <a:spcBef>
                <a:spcPts val="0"/>
              </a:spcBef>
              <a:spcAft>
                <a:spcPts val="0"/>
              </a:spcAft>
              <a:buNone/>
              <a:defRPr sz="1200" b="1">
                <a:solidFill>
                  <a:schemeClr val="lt1"/>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6"/>
        <p:cNvGrpSpPr/>
        <p:nvPr/>
      </p:nvGrpSpPr>
      <p:grpSpPr>
        <a:xfrm>
          <a:off x="0" y="0"/>
          <a:ext cx="0" cy="0"/>
          <a:chOff x="0" y="0"/>
          <a:chExt cx="0" cy="0"/>
        </a:xfrm>
      </p:grpSpPr>
      <p:sp>
        <p:nvSpPr>
          <p:cNvPr id="37" name="Google Shape;37;p38"/>
          <p:cNvSpPr txBox="1">
            <a:spLocks noGrp="1"/>
          </p:cNvSpPr>
          <p:nvPr>
            <p:ph type="ctrTitle"/>
          </p:nvPr>
        </p:nvSpPr>
        <p:spPr>
          <a:xfrm>
            <a:off x="0" y="1"/>
            <a:ext cx="5486400" cy="9144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sz="3200" b="1">
                <a:latin typeface="Times New Roman"/>
                <a:ea typeface="Times New Roman"/>
                <a:cs typeface="Times New Roman"/>
                <a:sym typeface="Times New Roman"/>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38" name="Google Shape;38;p38"/>
          <p:cNvSpPr txBox="1">
            <a:spLocks noGrp="1"/>
          </p:cNvSpPr>
          <p:nvPr>
            <p:ph type="subTitle" idx="1"/>
          </p:nvPr>
        </p:nvSpPr>
        <p:spPr>
          <a:xfrm>
            <a:off x="533400" y="1371600"/>
            <a:ext cx="8153400" cy="4724400"/>
          </a:xfrm>
          <a:prstGeom prst="rect">
            <a:avLst/>
          </a:prstGeom>
          <a:noFill/>
          <a:ln>
            <a:noFill/>
          </a:ln>
        </p:spPr>
        <p:txBody>
          <a:bodyPr spcFirstLastPara="1" wrap="square" lIns="91425" tIns="45700" rIns="91425" bIns="45700" anchor="t" anchorCtr="0">
            <a:no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39" name="Google Shape;39;p38"/>
          <p:cNvSpPr txBox="1">
            <a:spLocks noGrp="1"/>
          </p:cNvSpPr>
          <p:nvPr>
            <p:ph type="dt" idx="10"/>
          </p:nvPr>
        </p:nvSpPr>
        <p:spPr>
          <a:xfrm>
            <a:off x="152400" y="6629400"/>
            <a:ext cx="2286000" cy="17895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 name="Google Shape;40;p38"/>
          <p:cNvSpPr txBox="1">
            <a:spLocks noGrp="1"/>
          </p:cNvSpPr>
          <p:nvPr>
            <p:ph type="ftr" idx="11"/>
          </p:nvPr>
        </p:nvSpPr>
        <p:spPr>
          <a:xfrm>
            <a:off x="3124200" y="6629400"/>
            <a:ext cx="2895600" cy="19685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38"/>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b="1">
                <a:solidFill>
                  <a:schemeClr val="lt1"/>
                </a:solidFill>
                <a:latin typeface="Times New Roman"/>
                <a:ea typeface="Times New Roman"/>
                <a:cs typeface="Times New Roman"/>
                <a:sym typeface="Times New Roman"/>
              </a:defRPr>
            </a:lvl1pPr>
            <a:lvl2pPr marL="0" lvl="1" indent="0" algn="r">
              <a:spcBef>
                <a:spcPts val="0"/>
              </a:spcBef>
              <a:spcAft>
                <a:spcPts val="0"/>
              </a:spcAft>
              <a:buNone/>
              <a:defRPr sz="1200" b="1">
                <a:solidFill>
                  <a:schemeClr val="lt1"/>
                </a:solidFill>
                <a:latin typeface="Times New Roman"/>
                <a:ea typeface="Times New Roman"/>
                <a:cs typeface="Times New Roman"/>
                <a:sym typeface="Times New Roman"/>
              </a:defRPr>
            </a:lvl2pPr>
            <a:lvl3pPr marL="0" lvl="2" indent="0" algn="r">
              <a:spcBef>
                <a:spcPts val="0"/>
              </a:spcBef>
              <a:spcAft>
                <a:spcPts val="0"/>
              </a:spcAft>
              <a:buNone/>
              <a:defRPr sz="1200" b="1">
                <a:solidFill>
                  <a:schemeClr val="lt1"/>
                </a:solidFill>
                <a:latin typeface="Times New Roman"/>
                <a:ea typeface="Times New Roman"/>
                <a:cs typeface="Times New Roman"/>
                <a:sym typeface="Times New Roman"/>
              </a:defRPr>
            </a:lvl3pPr>
            <a:lvl4pPr marL="0" lvl="3" indent="0" algn="r">
              <a:spcBef>
                <a:spcPts val="0"/>
              </a:spcBef>
              <a:spcAft>
                <a:spcPts val="0"/>
              </a:spcAft>
              <a:buNone/>
              <a:defRPr sz="1200" b="1">
                <a:solidFill>
                  <a:schemeClr val="lt1"/>
                </a:solidFill>
                <a:latin typeface="Times New Roman"/>
                <a:ea typeface="Times New Roman"/>
                <a:cs typeface="Times New Roman"/>
                <a:sym typeface="Times New Roman"/>
              </a:defRPr>
            </a:lvl4pPr>
            <a:lvl5pPr marL="0" lvl="4" indent="0" algn="r">
              <a:spcBef>
                <a:spcPts val="0"/>
              </a:spcBef>
              <a:spcAft>
                <a:spcPts val="0"/>
              </a:spcAft>
              <a:buNone/>
              <a:defRPr sz="1200" b="1">
                <a:solidFill>
                  <a:schemeClr val="lt1"/>
                </a:solidFill>
                <a:latin typeface="Times New Roman"/>
                <a:ea typeface="Times New Roman"/>
                <a:cs typeface="Times New Roman"/>
                <a:sym typeface="Times New Roman"/>
              </a:defRPr>
            </a:lvl5pPr>
            <a:lvl6pPr marL="0" lvl="5" indent="0" algn="r">
              <a:spcBef>
                <a:spcPts val="0"/>
              </a:spcBef>
              <a:spcAft>
                <a:spcPts val="0"/>
              </a:spcAft>
              <a:buNone/>
              <a:defRPr sz="1200" b="1">
                <a:solidFill>
                  <a:schemeClr val="lt1"/>
                </a:solidFill>
                <a:latin typeface="Times New Roman"/>
                <a:ea typeface="Times New Roman"/>
                <a:cs typeface="Times New Roman"/>
                <a:sym typeface="Times New Roman"/>
              </a:defRPr>
            </a:lvl6pPr>
            <a:lvl7pPr marL="0" lvl="6" indent="0" algn="r">
              <a:spcBef>
                <a:spcPts val="0"/>
              </a:spcBef>
              <a:spcAft>
                <a:spcPts val="0"/>
              </a:spcAft>
              <a:buNone/>
              <a:defRPr sz="1200" b="1">
                <a:solidFill>
                  <a:schemeClr val="lt1"/>
                </a:solidFill>
                <a:latin typeface="Times New Roman"/>
                <a:ea typeface="Times New Roman"/>
                <a:cs typeface="Times New Roman"/>
                <a:sym typeface="Times New Roman"/>
              </a:defRPr>
            </a:lvl7pPr>
            <a:lvl8pPr marL="0" lvl="7" indent="0" algn="r">
              <a:spcBef>
                <a:spcPts val="0"/>
              </a:spcBef>
              <a:spcAft>
                <a:spcPts val="0"/>
              </a:spcAft>
              <a:buNone/>
              <a:defRPr sz="1200" b="1">
                <a:solidFill>
                  <a:schemeClr val="lt1"/>
                </a:solidFill>
                <a:latin typeface="Times New Roman"/>
                <a:ea typeface="Times New Roman"/>
                <a:cs typeface="Times New Roman"/>
                <a:sym typeface="Times New Roman"/>
              </a:defRPr>
            </a:lvl8pPr>
            <a:lvl9pPr marL="0" lvl="8" indent="0" algn="r">
              <a:spcBef>
                <a:spcPts val="0"/>
              </a:spcBef>
              <a:spcAft>
                <a:spcPts val="0"/>
              </a:spcAft>
              <a:buNone/>
              <a:defRPr sz="1200" b="1">
                <a:solidFill>
                  <a:schemeClr val="lt1"/>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2.jpg"/><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36"/>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3000" b="0" i="0" u="none" strike="noStrike" cap="none">
                <a:solidFill>
                  <a:schemeClr val="dk1"/>
                </a:solidFill>
                <a:latin typeface="Calibri"/>
                <a:ea typeface="Calibri"/>
                <a:cs typeface="Calibri"/>
                <a:sym typeface="Calibri"/>
              </a:defRPr>
            </a:lvl1pPr>
            <a:lvl2pPr marR="0" lvl="1" algn="ctr" rtl="0">
              <a:spcBef>
                <a:spcPts val="0"/>
              </a:spcBef>
              <a:spcAft>
                <a:spcPts val="0"/>
              </a:spcAft>
              <a:buSzPts val="1400"/>
              <a:buNone/>
              <a:defRPr sz="3000" b="0" i="0" u="none" strike="noStrike" cap="none">
                <a:solidFill>
                  <a:schemeClr val="dk1"/>
                </a:solidFill>
                <a:latin typeface="Calibri"/>
                <a:ea typeface="Calibri"/>
                <a:cs typeface="Calibri"/>
                <a:sym typeface="Calibri"/>
              </a:defRPr>
            </a:lvl2pPr>
            <a:lvl3pPr marR="0" lvl="2" algn="ctr" rtl="0">
              <a:spcBef>
                <a:spcPts val="0"/>
              </a:spcBef>
              <a:spcAft>
                <a:spcPts val="0"/>
              </a:spcAft>
              <a:buSzPts val="1400"/>
              <a:buNone/>
              <a:defRPr sz="3000" b="0" i="0" u="none" strike="noStrike" cap="none">
                <a:solidFill>
                  <a:schemeClr val="dk1"/>
                </a:solidFill>
                <a:latin typeface="Calibri"/>
                <a:ea typeface="Calibri"/>
                <a:cs typeface="Calibri"/>
                <a:sym typeface="Calibri"/>
              </a:defRPr>
            </a:lvl3pPr>
            <a:lvl4pPr marR="0" lvl="3" algn="ctr" rtl="0">
              <a:spcBef>
                <a:spcPts val="0"/>
              </a:spcBef>
              <a:spcAft>
                <a:spcPts val="0"/>
              </a:spcAft>
              <a:buSzPts val="1400"/>
              <a:buNone/>
              <a:defRPr sz="3000" b="0" i="0" u="none" strike="noStrike" cap="none">
                <a:solidFill>
                  <a:schemeClr val="dk1"/>
                </a:solidFill>
                <a:latin typeface="Calibri"/>
                <a:ea typeface="Calibri"/>
                <a:cs typeface="Calibri"/>
                <a:sym typeface="Calibri"/>
              </a:defRPr>
            </a:lvl4pPr>
            <a:lvl5pPr marR="0" lvl="4" algn="ctr" rtl="0">
              <a:spcBef>
                <a:spcPts val="0"/>
              </a:spcBef>
              <a:spcAft>
                <a:spcPts val="0"/>
              </a:spcAft>
              <a:buSzPts val="1400"/>
              <a:buNone/>
              <a:defRPr sz="3000" b="0" i="0" u="none" strike="noStrike" cap="none">
                <a:solidFill>
                  <a:schemeClr val="dk1"/>
                </a:solidFill>
                <a:latin typeface="Calibri"/>
                <a:ea typeface="Calibri"/>
                <a:cs typeface="Calibri"/>
                <a:sym typeface="Calibri"/>
              </a:defRPr>
            </a:lvl5pPr>
            <a:lvl6pPr marR="0" lvl="5" algn="ctr" rtl="0">
              <a:spcBef>
                <a:spcPts val="0"/>
              </a:spcBef>
              <a:spcAft>
                <a:spcPts val="0"/>
              </a:spcAft>
              <a:buSzPts val="1400"/>
              <a:buNone/>
              <a:defRPr sz="3000" b="0" i="0" u="none" strike="noStrike" cap="none">
                <a:solidFill>
                  <a:schemeClr val="dk1"/>
                </a:solidFill>
                <a:latin typeface="Calibri"/>
                <a:ea typeface="Calibri"/>
                <a:cs typeface="Calibri"/>
                <a:sym typeface="Calibri"/>
              </a:defRPr>
            </a:lvl6pPr>
            <a:lvl7pPr marR="0" lvl="6" algn="ctr" rtl="0">
              <a:spcBef>
                <a:spcPts val="0"/>
              </a:spcBef>
              <a:spcAft>
                <a:spcPts val="0"/>
              </a:spcAft>
              <a:buSzPts val="1400"/>
              <a:buNone/>
              <a:defRPr sz="3000" b="0" i="0" u="none" strike="noStrike" cap="none">
                <a:solidFill>
                  <a:schemeClr val="dk1"/>
                </a:solidFill>
                <a:latin typeface="Calibri"/>
                <a:ea typeface="Calibri"/>
                <a:cs typeface="Calibri"/>
                <a:sym typeface="Calibri"/>
              </a:defRPr>
            </a:lvl7pPr>
            <a:lvl8pPr marR="0" lvl="7" algn="ctr" rtl="0">
              <a:spcBef>
                <a:spcPts val="0"/>
              </a:spcBef>
              <a:spcAft>
                <a:spcPts val="0"/>
              </a:spcAft>
              <a:buSzPts val="1400"/>
              <a:buNone/>
              <a:defRPr sz="3000" b="0" i="0" u="none" strike="noStrike" cap="none">
                <a:solidFill>
                  <a:schemeClr val="dk1"/>
                </a:solidFill>
                <a:latin typeface="Calibri"/>
                <a:ea typeface="Calibri"/>
                <a:cs typeface="Calibri"/>
                <a:sym typeface="Calibri"/>
              </a:defRPr>
            </a:lvl8pPr>
            <a:lvl9pPr marR="0" lvl="8" algn="ctr" rtl="0">
              <a:spcBef>
                <a:spcPts val="0"/>
              </a:spcBef>
              <a:spcAft>
                <a:spcPts val="0"/>
              </a:spcAft>
              <a:buSzPts val="1400"/>
              <a:buNone/>
              <a:defRPr sz="3000" b="0" i="0" u="none" strike="noStrike" cap="none">
                <a:solidFill>
                  <a:schemeClr val="dk1"/>
                </a:solidFill>
                <a:latin typeface="Calibri"/>
                <a:ea typeface="Calibri"/>
                <a:cs typeface="Calibri"/>
                <a:sym typeface="Calibri"/>
              </a:defRPr>
            </a:lvl9pPr>
          </a:lstStyle>
          <a:p>
            <a:endParaRPr/>
          </a:p>
        </p:txBody>
      </p:sp>
      <p:sp>
        <p:nvSpPr>
          <p:cNvPr id="11" name="Google Shape;11;p36"/>
          <p:cNvSpPr txBox="1">
            <a:spLocks noGrp="1"/>
          </p:cNvSpPr>
          <p:nvPr>
            <p:ph type="body" idx="1"/>
          </p:nvPr>
        </p:nvSpPr>
        <p:spPr>
          <a:xfrm>
            <a:off x="457200" y="1371600"/>
            <a:ext cx="8229600" cy="4525963"/>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36"/>
          <p:cNvSpPr/>
          <p:nvPr/>
        </p:nvSpPr>
        <p:spPr>
          <a:xfrm>
            <a:off x="0" y="0"/>
            <a:ext cx="9144000" cy="838200"/>
          </a:xfrm>
          <a:prstGeom prst="rect">
            <a:avLst/>
          </a:prstGeom>
          <a:solidFill>
            <a:srgbClr val="FF33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3" name="Google Shape;13;p36"/>
          <p:cNvSpPr/>
          <p:nvPr/>
        </p:nvSpPr>
        <p:spPr>
          <a:xfrm rot="10800000" flipH="1">
            <a:off x="0" y="6583684"/>
            <a:ext cx="9144000" cy="274316"/>
          </a:xfrm>
          <a:prstGeom prst="rect">
            <a:avLst/>
          </a:prstGeom>
          <a:solidFill>
            <a:srgbClr val="FF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14" name="Google Shape;14;p36" descr="LOGO.gif"/>
          <p:cNvPicPr preferRelativeResize="0"/>
          <p:nvPr/>
        </p:nvPicPr>
        <p:blipFill rotWithShape="1">
          <a:blip r:embed="rId4">
            <a:alphaModFix/>
          </a:blip>
          <a:srcRect b="10713"/>
          <a:stretch/>
        </p:blipFill>
        <p:spPr>
          <a:xfrm>
            <a:off x="6553200" y="228600"/>
            <a:ext cx="2057400" cy="635000"/>
          </a:xfrm>
          <a:prstGeom prst="rect">
            <a:avLst/>
          </a:prstGeom>
          <a:noFill/>
          <a:ln>
            <a:noFill/>
          </a:ln>
        </p:spPr>
      </p:pic>
      <p:pic>
        <p:nvPicPr>
          <p:cNvPr id="15" name="Google Shape;15;p36" descr="LOGO.gif"/>
          <p:cNvPicPr preferRelativeResize="0"/>
          <p:nvPr/>
        </p:nvPicPr>
        <p:blipFill rotWithShape="1">
          <a:blip r:embed="rId4">
            <a:alphaModFix/>
          </a:blip>
          <a:srcRect b="10713"/>
          <a:stretch/>
        </p:blipFill>
        <p:spPr>
          <a:xfrm>
            <a:off x="6553200" y="228600"/>
            <a:ext cx="2057400" cy="635000"/>
          </a:xfrm>
          <a:prstGeom prst="rect">
            <a:avLst/>
          </a:prstGeom>
          <a:noFill/>
          <a:ln>
            <a:noFill/>
          </a:ln>
        </p:spPr>
      </p:pic>
      <p:grpSp>
        <p:nvGrpSpPr>
          <p:cNvPr id="16" name="Google Shape;16;p36"/>
          <p:cNvGrpSpPr/>
          <p:nvPr/>
        </p:nvGrpSpPr>
        <p:grpSpPr>
          <a:xfrm>
            <a:off x="6146800" y="0"/>
            <a:ext cx="2997200" cy="876300"/>
            <a:chOff x="6096000" y="3924300"/>
            <a:chExt cx="2997200" cy="876300"/>
          </a:xfrm>
        </p:grpSpPr>
        <p:sp>
          <p:nvSpPr>
            <p:cNvPr id="17" name="Google Shape;17;p36"/>
            <p:cNvSpPr/>
            <p:nvPr/>
          </p:nvSpPr>
          <p:spPr>
            <a:xfrm>
              <a:off x="6096000" y="3924300"/>
              <a:ext cx="2997200" cy="838200"/>
            </a:xfrm>
            <a:prstGeom prst="rect">
              <a:avLst/>
            </a:prstGeom>
            <a:solidFill>
              <a:srgbClr val="FF33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18" name="Google Shape;18;p36" descr="LOGO.gif"/>
            <p:cNvPicPr preferRelativeResize="0"/>
            <p:nvPr/>
          </p:nvPicPr>
          <p:blipFill rotWithShape="1">
            <a:blip r:embed="rId4">
              <a:alphaModFix/>
            </a:blip>
            <a:srcRect b="10713"/>
            <a:stretch/>
          </p:blipFill>
          <p:spPr>
            <a:xfrm>
              <a:off x="6502400" y="4152900"/>
              <a:ext cx="2057400" cy="635000"/>
            </a:xfrm>
            <a:prstGeom prst="rect">
              <a:avLst/>
            </a:prstGeom>
            <a:noFill/>
            <a:ln>
              <a:noFill/>
            </a:ln>
          </p:spPr>
        </p:pic>
        <p:sp>
          <p:nvSpPr>
            <p:cNvPr id="19" name="Google Shape;19;p36"/>
            <p:cNvSpPr/>
            <p:nvPr/>
          </p:nvSpPr>
          <p:spPr>
            <a:xfrm>
              <a:off x="6477000" y="4114800"/>
              <a:ext cx="2076450" cy="6858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pic>
        <p:nvPicPr>
          <p:cNvPr id="20" name="Google Shape;20;p36" descr="logo.jpg"/>
          <p:cNvPicPr preferRelativeResize="0"/>
          <p:nvPr/>
        </p:nvPicPr>
        <p:blipFill rotWithShape="1">
          <a:blip r:embed="rId5">
            <a:alphaModFix/>
          </a:blip>
          <a:srcRect/>
          <a:stretch/>
        </p:blipFill>
        <p:spPr>
          <a:xfrm>
            <a:off x="6553200" y="228600"/>
            <a:ext cx="1920875" cy="609600"/>
          </a:xfrm>
          <a:prstGeom prst="rect">
            <a:avLst/>
          </a:prstGeom>
          <a:noFill/>
          <a:ln>
            <a:noFill/>
          </a:ln>
        </p:spPr>
      </p:pic>
      <p:sp>
        <p:nvSpPr>
          <p:cNvPr id="21" name="Google Shape;21;p36"/>
          <p:cNvSpPr txBox="1">
            <a:spLocks noGrp="1"/>
          </p:cNvSpPr>
          <p:nvPr>
            <p:ph type="dt" idx="10"/>
          </p:nvPr>
        </p:nvSpPr>
        <p:spPr>
          <a:xfrm>
            <a:off x="76200" y="6594307"/>
            <a:ext cx="2362200" cy="263693"/>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1">
                <a:solidFill>
                  <a:schemeClr val="lt1"/>
                </a:solidFill>
                <a:latin typeface="Times New Roman"/>
                <a:ea typeface="Times New Roman"/>
                <a:cs typeface="Times New Roman"/>
                <a:sym typeface="Times New Roman"/>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2" name="Google Shape;22;p36"/>
          <p:cNvSpPr txBox="1">
            <a:spLocks noGrp="1"/>
          </p:cNvSpPr>
          <p:nvPr>
            <p:ph type="ftr" idx="11"/>
          </p:nvPr>
        </p:nvSpPr>
        <p:spPr>
          <a:xfrm>
            <a:off x="3086100" y="6596246"/>
            <a:ext cx="2895600" cy="261754"/>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1">
                <a:solidFill>
                  <a:schemeClr val="lt1"/>
                </a:solidFill>
                <a:latin typeface="Times New Roman"/>
                <a:ea typeface="Times New Roman"/>
                <a:cs typeface="Times New Roman"/>
                <a:sym typeface="Times New Roman"/>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3" name="Google Shape;23;p36"/>
          <p:cNvSpPr txBox="1">
            <a:spLocks noGrp="1"/>
          </p:cNvSpPr>
          <p:nvPr>
            <p:ph type="sldNum" idx="12"/>
          </p:nvPr>
        </p:nvSpPr>
        <p:spPr>
          <a:xfrm>
            <a:off x="6553200" y="6583684"/>
            <a:ext cx="2133600" cy="274316"/>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spcAft>
                <a:spcPts val="0"/>
              </a:spcAft>
              <a:buNone/>
              <a:defRPr sz="1200" b="1" u="none">
                <a:solidFill>
                  <a:schemeClr val="lt1"/>
                </a:solidFill>
                <a:latin typeface="Times New Roman"/>
                <a:ea typeface="Times New Roman"/>
                <a:cs typeface="Times New Roman"/>
                <a:sym typeface="Times New Roman"/>
              </a:defRPr>
            </a:lvl1pPr>
            <a:lvl2pPr marL="0" marR="0" lvl="1" indent="0" algn="r" rtl="0">
              <a:spcBef>
                <a:spcPts val="0"/>
              </a:spcBef>
              <a:spcAft>
                <a:spcPts val="0"/>
              </a:spcAft>
              <a:buNone/>
              <a:defRPr sz="1200" b="1" u="none">
                <a:solidFill>
                  <a:schemeClr val="lt1"/>
                </a:solidFill>
                <a:latin typeface="Times New Roman"/>
                <a:ea typeface="Times New Roman"/>
                <a:cs typeface="Times New Roman"/>
                <a:sym typeface="Times New Roman"/>
              </a:defRPr>
            </a:lvl2pPr>
            <a:lvl3pPr marL="0" marR="0" lvl="2" indent="0" algn="r" rtl="0">
              <a:spcBef>
                <a:spcPts val="0"/>
              </a:spcBef>
              <a:spcAft>
                <a:spcPts val="0"/>
              </a:spcAft>
              <a:buNone/>
              <a:defRPr sz="1200" b="1" u="none">
                <a:solidFill>
                  <a:schemeClr val="lt1"/>
                </a:solidFill>
                <a:latin typeface="Times New Roman"/>
                <a:ea typeface="Times New Roman"/>
                <a:cs typeface="Times New Roman"/>
                <a:sym typeface="Times New Roman"/>
              </a:defRPr>
            </a:lvl3pPr>
            <a:lvl4pPr marL="0" marR="0" lvl="3" indent="0" algn="r" rtl="0">
              <a:spcBef>
                <a:spcPts val="0"/>
              </a:spcBef>
              <a:spcAft>
                <a:spcPts val="0"/>
              </a:spcAft>
              <a:buNone/>
              <a:defRPr sz="1200" b="1" u="none">
                <a:solidFill>
                  <a:schemeClr val="lt1"/>
                </a:solidFill>
                <a:latin typeface="Times New Roman"/>
                <a:ea typeface="Times New Roman"/>
                <a:cs typeface="Times New Roman"/>
                <a:sym typeface="Times New Roman"/>
              </a:defRPr>
            </a:lvl4pPr>
            <a:lvl5pPr marL="0" marR="0" lvl="4" indent="0" algn="r" rtl="0">
              <a:spcBef>
                <a:spcPts val="0"/>
              </a:spcBef>
              <a:spcAft>
                <a:spcPts val="0"/>
              </a:spcAft>
              <a:buNone/>
              <a:defRPr sz="1200" b="1" u="none">
                <a:solidFill>
                  <a:schemeClr val="lt1"/>
                </a:solidFill>
                <a:latin typeface="Times New Roman"/>
                <a:ea typeface="Times New Roman"/>
                <a:cs typeface="Times New Roman"/>
                <a:sym typeface="Times New Roman"/>
              </a:defRPr>
            </a:lvl5pPr>
            <a:lvl6pPr marL="0" marR="0" lvl="5" indent="0" algn="r" rtl="0">
              <a:spcBef>
                <a:spcPts val="0"/>
              </a:spcBef>
              <a:spcAft>
                <a:spcPts val="0"/>
              </a:spcAft>
              <a:buNone/>
              <a:defRPr sz="1200" b="1" u="none">
                <a:solidFill>
                  <a:schemeClr val="lt1"/>
                </a:solidFill>
                <a:latin typeface="Times New Roman"/>
                <a:ea typeface="Times New Roman"/>
                <a:cs typeface="Times New Roman"/>
                <a:sym typeface="Times New Roman"/>
              </a:defRPr>
            </a:lvl6pPr>
            <a:lvl7pPr marL="0" marR="0" lvl="6" indent="0" algn="r" rtl="0">
              <a:spcBef>
                <a:spcPts val="0"/>
              </a:spcBef>
              <a:spcAft>
                <a:spcPts val="0"/>
              </a:spcAft>
              <a:buNone/>
              <a:defRPr sz="1200" b="1" u="none">
                <a:solidFill>
                  <a:schemeClr val="lt1"/>
                </a:solidFill>
                <a:latin typeface="Times New Roman"/>
                <a:ea typeface="Times New Roman"/>
                <a:cs typeface="Times New Roman"/>
                <a:sym typeface="Times New Roman"/>
              </a:defRPr>
            </a:lvl7pPr>
            <a:lvl8pPr marL="0" marR="0" lvl="7" indent="0" algn="r" rtl="0">
              <a:spcBef>
                <a:spcPts val="0"/>
              </a:spcBef>
              <a:spcAft>
                <a:spcPts val="0"/>
              </a:spcAft>
              <a:buNone/>
              <a:defRPr sz="1200" b="1" u="none">
                <a:solidFill>
                  <a:schemeClr val="lt1"/>
                </a:solidFill>
                <a:latin typeface="Times New Roman"/>
                <a:ea typeface="Times New Roman"/>
                <a:cs typeface="Times New Roman"/>
                <a:sym typeface="Times New Roman"/>
              </a:defRPr>
            </a:lvl8pPr>
            <a:lvl9pPr marL="0" marR="0" lvl="8" indent="0" algn="r" rtl="0">
              <a:spcBef>
                <a:spcPts val="0"/>
              </a:spcBef>
              <a:spcAft>
                <a:spcPts val="0"/>
              </a:spcAft>
              <a:buNone/>
              <a:defRPr sz="1200" b="1" u="none">
                <a:solidFill>
                  <a:schemeClr val="lt1"/>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6"/>
        <p:cNvGrpSpPr/>
        <p:nvPr/>
      </p:nvGrpSpPr>
      <p:grpSpPr>
        <a:xfrm>
          <a:off x="0" y="0"/>
          <a:ext cx="0" cy="0"/>
          <a:chOff x="0" y="0"/>
          <a:chExt cx="0" cy="0"/>
        </a:xfrm>
      </p:grpSpPr>
      <p:sp>
        <p:nvSpPr>
          <p:cNvPr id="47" name="Google Shape;47;p1"/>
          <p:cNvSpPr txBox="1"/>
          <p:nvPr/>
        </p:nvSpPr>
        <p:spPr>
          <a:xfrm>
            <a:off x="152400" y="2895600"/>
            <a:ext cx="8763000" cy="2057400"/>
          </a:xfrm>
          <a:prstGeom prst="rect">
            <a:avLst/>
          </a:prstGeom>
          <a:noFill/>
          <a:ln>
            <a:noFill/>
          </a:ln>
        </p:spPr>
        <p:txBody>
          <a:bodyPr spcFirstLastPara="1" wrap="square" lIns="91425" tIns="33100" rIns="91425" bIns="45700" anchor="ctr" anchorCtr="0">
            <a:noAutofit/>
          </a:bodyPr>
          <a:lstStyle/>
          <a:p>
            <a:pPr marL="0" marR="0" lvl="0" indent="0" algn="ctr" rtl="0">
              <a:spcBef>
                <a:spcPts val="0"/>
              </a:spcBef>
              <a:spcAft>
                <a:spcPts val="0"/>
              </a:spcAft>
              <a:buNone/>
            </a:pPr>
            <a:r>
              <a:rPr lang="en-US" sz="2800" b="1" dirty="0">
                <a:solidFill>
                  <a:srgbClr val="3A30FA"/>
                </a:solidFill>
                <a:latin typeface="Times New Roman"/>
                <a:ea typeface="Times New Roman"/>
                <a:cs typeface="Times New Roman"/>
                <a:sym typeface="Times New Roman"/>
              </a:rPr>
              <a:t>Building Analysis Model</a:t>
            </a:r>
            <a:endParaRPr sz="2800" b="1" dirty="0">
              <a:solidFill>
                <a:srgbClr val="3A30FA"/>
              </a:solidFill>
              <a:latin typeface="Times New Roman"/>
              <a:ea typeface="Times New Roman"/>
              <a:cs typeface="Times New Roman"/>
              <a:sym typeface="Times New Roman"/>
            </a:endParaRPr>
          </a:p>
          <a:p>
            <a:pPr marL="0" marR="0" lvl="0" indent="0" algn="ctr" rtl="0">
              <a:spcBef>
                <a:spcPts val="0"/>
              </a:spcBef>
              <a:spcAft>
                <a:spcPts val="0"/>
              </a:spcAft>
              <a:buNone/>
            </a:pPr>
            <a:r>
              <a:rPr lang="en-US" sz="2800" b="1" dirty="0">
                <a:solidFill>
                  <a:srgbClr val="3A30FA"/>
                </a:solidFill>
                <a:latin typeface="Times New Roman"/>
                <a:ea typeface="Times New Roman"/>
                <a:cs typeface="Times New Roman"/>
                <a:sym typeface="Times New Roman"/>
              </a:rPr>
              <a:t>By</a:t>
            </a:r>
            <a:endParaRPr sz="2800" b="1" dirty="0">
              <a:solidFill>
                <a:srgbClr val="3A30FA"/>
              </a:solidFill>
              <a:latin typeface="Times New Roman"/>
              <a:ea typeface="Times New Roman"/>
              <a:cs typeface="Times New Roman"/>
              <a:sym typeface="Times New Roman"/>
            </a:endParaRPr>
          </a:p>
          <a:p>
            <a:pPr marL="0" marR="0" lvl="0" indent="0" algn="ctr" rtl="0">
              <a:spcBef>
                <a:spcPts val="0"/>
              </a:spcBef>
              <a:spcAft>
                <a:spcPts val="0"/>
              </a:spcAft>
              <a:buNone/>
            </a:pPr>
            <a:r>
              <a:rPr lang="en-US" sz="2800" b="1" dirty="0">
                <a:solidFill>
                  <a:srgbClr val="3A30FA"/>
                </a:solidFill>
                <a:latin typeface="Times New Roman"/>
                <a:ea typeface="Times New Roman"/>
                <a:cs typeface="Times New Roman"/>
                <a:sym typeface="Times New Roman"/>
              </a:rPr>
              <a:t>Dr. Suvarna Sharma</a:t>
            </a:r>
            <a:endParaRPr sz="2800" b="1" dirty="0">
              <a:solidFill>
                <a:srgbClr val="3A30FA"/>
              </a:solidFill>
              <a:latin typeface="Times New Roman"/>
              <a:ea typeface="Times New Roman"/>
              <a:cs typeface="Times New Roman"/>
              <a:sym typeface="Times New Roman"/>
            </a:endParaRPr>
          </a:p>
        </p:txBody>
      </p:sp>
      <p:sp>
        <p:nvSpPr>
          <p:cNvPr id="48" name="Google Shape;48;p1"/>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a:t>
            </a:fld>
            <a:endParaRPr/>
          </a:p>
        </p:txBody>
      </p:sp>
      <p:sp>
        <p:nvSpPr>
          <p:cNvPr id="49" name="Google Shape;49;p1"/>
          <p:cNvSpPr txBox="1"/>
          <p:nvPr/>
        </p:nvSpPr>
        <p:spPr>
          <a:xfrm>
            <a:off x="234885" y="1524000"/>
            <a:ext cx="8756715" cy="199028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4000" b="1">
                <a:solidFill>
                  <a:schemeClr val="dk1"/>
                </a:solidFill>
                <a:latin typeface="Times New Roman"/>
                <a:ea typeface="Times New Roman"/>
                <a:cs typeface="Times New Roman"/>
                <a:sym typeface="Times New Roman"/>
              </a:rPr>
              <a:t>Object Oriented Software Engineering (OOSE)</a:t>
            </a:r>
            <a:endParaRPr/>
          </a:p>
          <a:p>
            <a:pPr marL="0" marR="0" lvl="0" indent="0" algn="ctr" rtl="0">
              <a:lnSpc>
                <a:spcPct val="100000"/>
              </a:lnSpc>
              <a:spcBef>
                <a:spcPts val="400"/>
              </a:spcBef>
              <a:spcAft>
                <a:spcPts val="0"/>
              </a:spcAft>
              <a:buClr>
                <a:srgbClr val="000000"/>
              </a:buClr>
              <a:buSzPts val="2000"/>
              <a:buFont typeface="Arial"/>
              <a:buNone/>
            </a:pPr>
            <a:r>
              <a:rPr lang="en-US" sz="4000" b="1" i="0" u="none" strike="noStrike" cap="none">
                <a:solidFill>
                  <a:schemeClr val="dk1"/>
                </a:solidFill>
                <a:latin typeface="Times New Roman"/>
                <a:ea typeface="Times New Roman"/>
                <a:cs typeface="Times New Roman"/>
                <a:sym typeface="Times New Roman"/>
              </a:rPr>
              <a:t>22CS017</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2"/>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b="1"/>
              <a:t>Index</a:t>
            </a:r>
            <a:endParaRPr/>
          </a:p>
        </p:txBody>
      </p:sp>
      <p:sp>
        <p:nvSpPr>
          <p:cNvPr id="55" name="Google Shape;55;p2"/>
          <p:cNvSpPr txBox="1">
            <a:spLocks noGrp="1"/>
          </p:cNvSpPr>
          <p:nvPr>
            <p:ph type="body" idx="1"/>
          </p:nvPr>
        </p:nvSpPr>
        <p:spPr>
          <a:xfrm>
            <a:off x="381000" y="990600"/>
            <a:ext cx="8229600" cy="4525963"/>
          </a:xfrm>
          <a:prstGeom prst="rect">
            <a:avLst/>
          </a:prstGeom>
          <a:noFill/>
          <a:ln>
            <a:noFill/>
          </a:ln>
        </p:spPr>
        <p:txBody>
          <a:bodyPr spcFirstLastPara="1" wrap="square" lIns="91425" tIns="45700" rIns="91425" bIns="45700" anchor="t" anchorCtr="0">
            <a:noAutofit/>
          </a:bodyPr>
          <a:lstStyle/>
          <a:p>
            <a:pPr marL="342900" lvl="0" indent="-190500" algn="l" rtl="0">
              <a:spcBef>
                <a:spcPts val="0"/>
              </a:spcBef>
              <a:spcAft>
                <a:spcPts val="0"/>
              </a:spcAft>
              <a:buClr>
                <a:schemeClr val="dk1"/>
              </a:buClr>
              <a:buSzPts val="2400"/>
              <a:buNone/>
            </a:pPr>
            <a:endParaRPr sz="2400" b="1"/>
          </a:p>
          <a:p>
            <a:pPr marL="342900" lvl="0" indent="-342900" algn="l" rtl="0">
              <a:spcBef>
                <a:spcPts val="480"/>
              </a:spcBef>
              <a:spcAft>
                <a:spcPts val="0"/>
              </a:spcAft>
              <a:buClr>
                <a:schemeClr val="dk1"/>
              </a:buClr>
              <a:buSzPts val="2400"/>
              <a:buChar char="•"/>
            </a:pPr>
            <a:r>
              <a:rPr lang="en-US" sz="2400" b="1"/>
              <a:t>Building Analysis Model</a:t>
            </a:r>
            <a:endParaRPr/>
          </a:p>
          <a:p>
            <a:pPr marL="342900" lvl="0" indent="-342900" algn="l" rtl="0">
              <a:spcBef>
                <a:spcPts val="480"/>
              </a:spcBef>
              <a:spcAft>
                <a:spcPts val="0"/>
              </a:spcAft>
              <a:buClr>
                <a:schemeClr val="dk1"/>
              </a:buClr>
              <a:buSzPts val="2400"/>
              <a:buChar char="•"/>
            </a:pPr>
            <a:r>
              <a:rPr lang="en-US" sz="2400" b="1"/>
              <a:t>Requirement Engineering</a:t>
            </a:r>
            <a:endParaRPr/>
          </a:p>
          <a:p>
            <a:pPr marL="342900" lvl="0" indent="-342900" algn="l" rtl="0">
              <a:spcBef>
                <a:spcPts val="480"/>
              </a:spcBef>
              <a:spcAft>
                <a:spcPts val="0"/>
              </a:spcAft>
              <a:buClr>
                <a:schemeClr val="dk1"/>
              </a:buClr>
              <a:buSzPts val="2400"/>
              <a:buChar char="•"/>
            </a:pPr>
            <a:r>
              <a:rPr lang="en-US" sz="2400" b="1"/>
              <a:t>Data Modelling Concepts</a:t>
            </a:r>
            <a:endParaRPr/>
          </a:p>
          <a:p>
            <a:pPr marL="342900" lvl="0" indent="-342900" algn="l" rtl="0">
              <a:spcBef>
                <a:spcPts val="480"/>
              </a:spcBef>
              <a:spcAft>
                <a:spcPts val="0"/>
              </a:spcAft>
              <a:buClr>
                <a:schemeClr val="dk1"/>
              </a:buClr>
              <a:buSzPts val="2400"/>
              <a:buChar char="•"/>
            </a:pPr>
            <a:r>
              <a:rPr lang="en-US" sz="2400" b="1"/>
              <a:t>Flow Oriented Modelling</a:t>
            </a:r>
            <a:endParaRPr/>
          </a:p>
          <a:p>
            <a:pPr marL="342900" lvl="0" indent="-190500" algn="l" rtl="0">
              <a:spcBef>
                <a:spcPts val="480"/>
              </a:spcBef>
              <a:spcAft>
                <a:spcPts val="0"/>
              </a:spcAft>
              <a:buClr>
                <a:schemeClr val="dk1"/>
              </a:buClr>
              <a:buSzPts val="2400"/>
              <a:buNone/>
            </a:pPr>
            <a:endParaRPr sz="2400" b="1"/>
          </a:p>
          <a:p>
            <a:pPr marL="342900" lvl="0" indent="-203200" algn="l" rtl="0">
              <a:spcBef>
                <a:spcPts val="440"/>
              </a:spcBef>
              <a:spcAft>
                <a:spcPts val="0"/>
              </a:spcAft>
              <a:buClr>
                <a:schemeClr val="dk1"/>
              </a:buClr>
              <a:buSzPts val="2200"/>
              <a:buNone/>
            </a:pPr>
            <a:endParaRPr b="1"/>
          </a:p>
        </p:txBody>
      </p:sp>
      <p:sp>
        <p:nvSpPr>
          <p:cNvPr id="56" name="Google Shape;56;p2"/>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sp>
        <p:nvSpPr>
          <p:cNvPr id="62" name="Google Shape;62;p3"/>
          <p:cNvSpPr txBox="1"/>
          <p:nvPr/>
        </p:nvSpPr>
        <p:spPr>
          <a:xfrm>
            <a:off x="152400" y="914400"/>
            <a:ext cx="8763000" cy="4038600"/>
          </a:xfrm>
          <a:prstGeom prst="rect">
            <a:avLst/>
          </a:prstGeom>
          <a:noFill/>
          <a:ln>
            <a:noFill/>
          </a:ln>
        </p:spPr>
        <p:txBody>
          <a:bodyPr spcFirstLastPara="1" wrap="square" lIns="91425" tIns="33100" rIns="91425" bIns="45700" anchor="ctr" anchorCtr="0">
            <a:noAutofit/>
          </a:bodyPr>
          <a:lstStyle/>
          <a:p>
            <a:pPr marL="0" marR="0" lvl="0" indent="0" algn="ctr" rtl="0">
              <a:spcBef>
                <a:spcPts val="0"/>
              </a:spcBef>
              <a:spcAft>
                <a:spcPts val="0"/>
              </a:spcAft>
              <a:buNone/>
            </a:pPr>
            <a:r>
              <a:rPr lang="en-US" sz="5400" b="1">
                <a:solidFill>
                  <a:srgbClr val="3A30FA"/>
                </a:solidFill>
                <a:latin typeface="Times New Roman"/>
                <a:ea typeface="Times New Roman"/>
                <a:cs typeface="Times New Roman"/>
                <a:sym typeface="Times New Roman"/>
              </a:rPr>
              <a:t>Building Analysis Model</a:t>
            </a:r>
            <a:endParaRPr/>
          </a:p>
        </p:txBody>
      </p:sp>
      <p:sp>
        <p:nvSpPr>
          <p:cNvPr id="63" name="Google Shape;63;p3"/>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68" name="Google Shape;68;p4"/>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z="2800" b="1">
                <a:latin typeface="Times"/>
                <a:ea typeface="Times"/>
                <a:cs typeface="Times"/>
                <a:sym typeface="Times"/>
              </a:rPr>
              <a:t>Analysis Modelling</a:t>
            </a:r>
            <a:endParaRPr/>
          </a:p>
        </p:txBody>
      </p:sp>
      <p:sp>
        <p:nvSpPr>
          <p:cNvPr id="69" name="Google Shape;69;p4"/>
          <p:cNvSpPr txBox="1">
            <a:spLocks noGrp="1"/>
          </p:cNvSpPr>
          <p:nvPr>
            <p:ph type="body" idx="1"/>
          </p:nvPr>
        </p:nvSpPr>
        <p:spPr>
          <a:xfrm>
            <a:off x="152400" y="955675"/>
            <a:ext cx="8839200" cy="5216525"/>
          </a:xfrm>
          <a:prstGeom prst="rect">
            <a:avLst/>
          </a:prstGeom>
          <a:noFill/>
          <a:ln>
            <a:noFill/>
          </a:ln>
        </p:spPr>
        <p:txBody>
          <a:bodyPr spcFirstLastPara="1" wrap="square" lIns="91425" tIns="45700" rIns="91425" bIns="45700" anchor="t" anchorCtr="0">
            <a:noAutofit/>
          </a:bodyPr>
          <a:lstStyle/>
          <a:p>
            <a:pPr marL="342900" lvl="0" indent="-342900" algn="just" rtl="0">
              <a:lnSpc>
                <a:spcPct val="150000"/>
              </a:lnSpc>
              <a:spcBef>
                <a:spcPts val="0"/>
              </a:spcBef>
              <a:spcAft>
                <a:spcPts val="0"/>
              </a:spcAft>
              <a:buClr>
                <a:schemeClr val="dk1"/>
              </a:buClr>
              <a:buSzPts val="1800"/>
              <a:buChar char="•"/>
            </a:pPr>
            <a:r>
              <a:rPr lang="en-US" sz="1800">
                <a:latin typeface="Times New Roman"/>
                <a:ea typeface="Times New Roman"/>
                <a:cs typeface="Times New Roman"/>
                <a:sym typeface="Times New Roman"/>
              </a:rPr>
              <a:t>At a technical level, </a:t>
            </a:r>
            <a:r>
              <a:rPr lang="en-US" sz="1800" b="1">
                <a:latin typeface="Times New Roman"/>
                <a:ea typeface="Times New Roman"/>
                <a:cs typeface="Times New Roman"/>
                <a:sym typeface="Times New Roman"/>
              </a:rPr>
              <a:t>software engineering</a:t>
            </a:r>
            <a:r>
              <a:rPr lang="en-US" sz="1800">
                <a:latin typeface="Times New Roman"/>
                <a:ea typeface="Times New Roman"/>
                <a:cs typeface="Times New Roman"/>
                <a:sym typeface="Times New Roman"/>
              </a:rPr>
              <a:t> begins with a series of modelling tasks that lead to a complete specification of requirements and a comprehensive design representation for the software to be built. </a:t>
            </a:r>
            <a:endParaRPr sz="2000" b="0" i="0">
              <a:solidFill>
                <a:srgbClr val="333333"/>
              </a:solidFill>
            </a:endParaRPr>
          </a:p>
          <a:p>
            <a:pPr marL="342900" lvl="0" indent="-342900" algn="just" rtl="0">
              <a:lnSpc>
                <a:spcPct val="150000"/>
              </a:lnSpc>
              <a:spcBef>
                <a:spcPts val="360"/>
              </a:spcBef>
              <a:spcAft>
                <a:spcPts val="0"/>
              </a:spcAft>
              <a:buClr>
                <a:srgbClr val="273239"/>
              </a:buClr>
              <a:buSzPts val="1800"/>
              <a:buChar char="•"/>
            </a:pPr>
            <a:r>
              <a:rPr lang="en-US" sz="1800" b="1" i="0">
                <a:solidFill>
                  <a:srgbClr val="273239"/>
                </a:solidFill>
              </a:rPr>
              <a:t>Analysis Model</a:t>
            </a:r>
            <a:r>
              <a:rPr lang="en-US" sz="1800" b="0" i="0">
                <a:solidFill>
                  <a:srgbClr val="273239"/>
                </a:solidFill>
              </a:rPr>
              <a:t> is a technical representation of the system. It acts as a link between system description and design model. </a:t>
            </a:r>
            <a:endParaRPr/>
          </a:p>
          <a:p>
            <a:pPr marL="0" lvl="0" indent="0" algn="just" rtl="0">
              <a:lnSpc>
                <a:spcPct val="150000"/>
              </a:lnSpc>
              <a:spcBef>
                <a:spcPts val="360"/>
              </a:spcBef>
              <a:spcAft>
                <a:spcPts val="0"/>
              </a:spcAft>
              <a:buClr>
                <a:schemeClr val="dk1"/>
              </a:buClr>
              <a:buSzPts val="1800"/>
              <a:buNone/>
            </a:pPr>
            <a:endParaRPr sz="1800" b="1" i="0">
              <a:solidFill>
                <a:srgbClr val="273239"/>
              </a:solidFill>
            </a:endParaRPr>
          </a:p>
          <a:p>
            <a:pPr marL="0" lvl="0" indent="0" algn="just" rtl="0">
              <a:lnSpc>
                <a:spcPct val="150000"/>
              </a:lnSpc>
              <a:spcBef>
                <a:spcPts val="360"/>
              </a:spcBef>
              <a:spcAft>
                <a:spcPts val="0"/>
              </a:spcAft>
              <a:buClr>
                <a:srgbClr val="C00000"/>
              </a:buClr>
              <a:buSzPts val="1800"/>
              <a:buNone/>
            </a:pPr>
            <a:r>
              <a:rPr lang="en-US" sz="1800" b="1" i="0">
                <a:solidFill>
                  <a:srgbClr val="C00000"/>
                </a:solidFill>
              </a:rPr>
              <a:t>Objectives of Analysis Modelling: </a:t>
            </a:r>
            <a:endParaRPr/>
          </a:p>
          <a:p>
            <a:pPr marL="342900" lvl="0" indent="-342900" algn="just" rtl="0">
              <a:lnSpc>
                <a:spcPct val="150000"/>
              </a:lnSpc>
              <a:spcBef>
                <a:spcPts val="360"/>
              </a:spcBef>
              <a:spcAft>
                <a:spcPts val="0"/>
              </a:spcAft>
              <a:buClr>
                <a:srgbClr val="273239"/>
              </a:buClr>
              <a:buSzPts val="1800"/>
              <a:buFont typeface="Arial"/>
              <a:buChar char="•"/>
            </a:pPr>
            <a:r>
              <a:rPr lang="en-US" sz="1800" b="0" i="0">
                <a:solidFill>
                  <a:srgbClr val="273239"/>
                </a:solidFill>
              </a:rPr>
              <a:t>It must establish a way of creating software design.</a:t>
            </a:r>
            <a:endParaRPr/>
          </a:p>
          <a:p>
            <a:pPr marL="342900" lvl="0" indent="-342900" algn="just" rtl="0">
              <a:lnSpc>
                <a:spcPct val="150000"/>
              </a:lnSpc>
              <a:spcBef>
                <a:spcPts val="360"/>
              </a:spcBef>
              <a:spcAft>
                <a:spcPts val="0"/>
              </a:spcAft>
              <a:buClr>
                <a:srgbClr val="273239"/>
              </a:buClr>
              <a:buSzPts val="1800"/>
              <a:buFont typeface="Arial"/>
              <a:buChar char="•"/>
            </a:pPr>
            <a:r>
              <a:rPr lang="en-US" sz="1800" b="0" i="0">
                <a:solidFill>
                  <a:srgbClr val="273239"/>
                </a:solidFill>
              </a:rPr>
              <a:t>It must describe the requirements of the customer.</a:t>
            </a:r>
            <a:endParaRPr/>
          </a:p>
          <a:p>
            <a:pPr marL="342900" lvl="0" indent="-342900" algn="just" rtl="0">
              <a:lnSpc>
                <a:spcPct val="150000"/>
              </a:lnSpc>
              <a:spcBef>
                <a:spcPts val="360"/>
              </a:spcBef>
              <a:spcAft>
                <a:spcPts val="0"/>
              </a:spcAft>
              <a:buClr>
                <a:srgbClr val="273239"/>
              </a:buClr>
              <a:buSzPts val="1800"/>
              <a:buFont typeface="Arial"/>
              <a:buChar char="•"/>
            </a:pPr>
            <a:r>
              <a:rPr lang="en-US" sz="1800" b="0" i="0">
                <a:solidFill>
                  <a:srgbClr val="273239"/>
                </a:solidFill>
              </a:rPr>
              <a:t>It must define a set of requirements that can be validated, once the software is built.</a:t>
            </a:r>
            <a:endParaRPr/>
          </a:p>
          <a:p>
            <a:pPr marL="0" lvl="0" indent="0" algn="just" rtl="0">
              <a:lnSpc>
                <a:spcPct val="150000"/>
              </a:lnSpc>
              <a:spcBef>
                <a:spcPts val="320"/>
              </a:spcBef>
              <a:spcAft>
                <a:spcPts val="0"/>
              </a:spcAft>
              <a:buClr>
                <a:schemeClr val="dk1"/>
              </a:buClr>
              <a:buSzPts val="1600"/>
              <a:buNone/>
            </a:pPr>
            <a:br>
              <a:rPr lang="en-US" sz="1600"/>
            </a:br>
            <a:endParaRPr sz="2000" b="0" i="0">
              <a:solidFill>
                <a:srgbClr val="000000"/>
              </a:solidFill>
            </a:endParaRPr>
          </a:p>
        </p:txBody>
      </p:sp>
      <p:sp>
        <p:nvSpPr>
          <p:cNvPr id="70" name="Google Shape;70;p4"/>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pic>
        <p:nvPicPr>
          <p:cNvPr id="75" name="Google Shape;75;p5" descr="Lightbox"/>
          <p:cNvPicPr preferRelativeResize="0"/>
          <p:nvPr/>
        </p:nvPicPr>
        <p:blipFill rotWithShape="1">
          <a:blip r:embed="rId3">
            <a:alphaModFix/>
          </a:blip>
          <a:srcRect/>
          <a:stretch/>
        </p:blipFill>
        <p:spPr>
          <a:xfrm>
            <a:off x="1100138" y="846306"/>
            <a:ext cx="5376862" cy="5190895"/>
          </a:xfrm>
          <a:prstGeom prst="rect">
            <a:avLst/>
          </a:prstGeom>
          <a:noFill/>
          <a:ln>
            <a:noFill/>
          </a:ln>
        </p:spPr>
      </p:pic>
      <p:sp>
        <p:nvSpPr>
          <p:cNvPr id="76" name="Google Shape;76;p5"/>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z="2800" b="1">
                <a:latin typeface="Times"/>
                <a:ea typeface="Times"/>
                <a:cs typeface="Times"/>
                <a:sym typeface="Times"/>
              </a:rPr>
              <a:t>Elements of Analysis Model</a:t>
            </a:r>
            <a:endParaRPr/>
          </a:p>
        </p:txBody>
      </p:sp>
      <p:sp>
        <p:nvSpPr>
          <p:cNvPr id="77" name="Google Shape;77;p5"/>
          <p:cNvSpPr txBox="1">
            <a:spLocks noGrp="1"/>
          </p:cNvSpPr>
          <p:nvPr>
            <p:ph type="body" idx="1"/>
          </p:nvPr>
        </p:nvSpPr>
        <p:spPr>
          <a:xfrm>
            <a:off x="152400" y="955675"/>
            <a:ext cx="8839200" cy="5216525"/>
          </a:xfrm>
          <a:prstGeom prst="rect">
            <a:avLst/>
          </a:prstGeom>
          <a:noFill/>
          <a:ln>
            <a:noFill/>
          </a:ln>
        </p:spPr>
        <p:txBody>
          <a:bodyPr spcFirstLastPara="1" wrap="square" lIns="91425" tIns="45700" rIns="91425" bIns="45700" anchor="t" anchorCtr="0">
            <a:noAutofit/>
          </a:bodyPr>
          <a:lstStyle/>
          <a:p>
            <a:pPr marL="0" lvl="0" indent="0" algn="just" rtl="0">
              <a:lnSpc>
                <a:spcPct val="150000"/>
              </a:lnSpc>
              <a:spcBef>
                <a:spcPts val="0"/>
              </a:spcBef>
              <a:spcAft>
                <a:spcPts val="0"/>
              </a:spcAft>
              <a:buClr>
                <a:schemeClr val="dk1"/>
              </a:buClr>
              <a:buSzPts val="1600"/>
              <a:buNone/>
            </a:pPr>
            <a:br>
              <a:rPr lang="en-US" sz="1600"/>
            </a:br>
            <a:endParaRPr sz="2000" b="0" i="0">
              <a:solidFill>
                <a:srgbClr val="000000"/>
              </a:solidFill>
            </a:endParaRPr>
          </a:p>
        </p:txBody>
      </p:sp>
      <p:sp>
        <p:nvSpPr>
          <p:cNvPr id="78" name="Google Shape;78;p5"/>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a:t>
            </a:fld>
            <a:endParaRPr/>
          </a:p>
        </p:txBody>
      </p:sp>
      <p:sp>
        <p:nvSpPr>
          <p:cNvPr id="79" name="Google Shape;79;p5"/>
          <p:cNvSpPr txBox="1"/>
          <p:nvPr/>
        </p:nvSpPr>
        <p:spPr>
          <a:xfrm>
            <a:off x="5520699" y="5711803"/>
            <a:ext cx="2409186"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1">
                <a:solidFill>
                  <a:schemeClr val="dk1"/>
                </a:solidFill>
                <a:latin typeface="Times New Roman"/>
                <a:ea typeface="Times New Roman"/>
                <a:cs typeface="Times New Roman"/>
                <a:sym typeface="Times New Roman"/>
              </a:rPr>
              <a:t>Fig. 1 Elements of Analysis Model</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6"/>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z="2800" b="1">
                <a:latin typeface="Times"/>
                <a:ea typeface="Times"/>
                <a:cs typeface="Times"/>
                <a:sym typeface="Times"/>
              </a:rPr>
              <a:t>Elements of Analysis Modelling (contd.)</a:t>
            </a:r>
            <a:endParaRPr/>
          </a:p>
        </p:txBody>
      </p:sp>
      <p:sp>
        <p:nvSpPr>
          <p:cNvPr id="85" name="Google Shape;85;p6"/>
          <p:cNvSpPr txBox="1">
            <a:spLocks noGrp="1"/>
          </p:cNvSpPr>
          <p:nvPr>
            <p:ph type="body" idx="1"/>
          </p:nvPr>
        </p:nvSpPr>
        <p:spPr>
          <a:xfrm>
            <a:off x="152400" y="955675"/>
            <a:ext cx="8839200" cy="5216525"/>
          </a:xfrm>
          <a:prstGeom prst="rect">
            <a:avLst/>
          </a:prstGeom>
          <a:noFill/>
          <a:ln>
            <a:noFill/>
          </a:ln>
        </p:spPr>
        <p:txBody>
          <a:bodyPr spcFirstLastPara="1" wrap="square" lIns="91425" tIns="45700" rIns="91425" bIns="45700" anchor="t" anchorCtr="0">
            <a:noAutofit/>
          </a:bodyPr>
          <a:lstStyle/>
          <a:p>
            <a:pPr marL="0" lvl="0" indent="0" algn="just" rtl="0">
              <a:lnSpc>
                <a:spcPct val="150000"/>
              </a:lnSpc>
              <a:spcBef>
                <a:spcPts val="0"/>
              </a:spcBef>
              <a:spcAft>
                <a:spcPts val="0"/>
              </a:spcAft>
              <a:buClr>
                <a:srgbClr val="C00000"/>
              </a:buClr>
              <a:buSzPts val="2000"/>
              <a:buNone/>
            </a:pPr>
            <a:r>
              <a:rPr lang="en-US" sz="2000" b="1" i="0">
                <a:solidFill>
                  <a:srgbClr val="C00000"/>
                </a:solidFill>
              </a:rPr>
              <a:t>1. Data Dictionary:</a:t>
            </a:r>
            <a:endParaRPr/>
          </a:p>
          <a:p>
            <a:pPr marL="342900" lvl="0" indent="-342900" algn="just" rtl="0">
              <a:lnSpc>
                <a:spcPct val="150000"/>
              </a:lnSpc>
              <a:spcBef>
                <a:spcPts val="400"/>
              </a:spcBef>
              <a:spcAft>
                <a:spcPts val="0"/>
              </a:spcAft>
              <a:buClr>
                <a:srgbClr val="273239"/>
              </a:buClr>
              <a:buSzPts val="2000"/>
              <a:buChar char="•"/>
            </a:pPr>
            <a:r>
              <a:rPr lang="en-US" sz="2000">
                <a:solidFill>
                  <a:srgbClr val="273239"/>
                </a:solidFill>
              </a:rPr>
              <a:t>It is a very crucial element of the analysis model. </a:t>
            </a:r>
            <a:endParaRPr/>
          </a:p>
          <a:p>
            <a:pPr marL="342900" lvl="0" indent="-342900" algn="just" rtl="0">
              <a:lnSpc>
                <a:spcPct val="150000"/>
              </a:lnSpc>
              <a:spcBef>
                <a:spcPts val="400"/>
              </a:spcBef>
              <a:spcAft>
                <a:spcPts val="0"/>
              </a:spcAft>
              <a:buClr>
                <a:srgbClr val="273239"/>
              </a:buClr>
              <a:buSzPts val="2000"/>
              <a:buChar char="•"/>
            </a:pPr>
            <a:r>
              <a:rPr lang="en-US" sz="2000" b="0" i="0">
                <a:solidFill>
                  <a:srgbClr val="273239"/>
                </a:solidFill>
              </a:rPr>
              <a:t>It is a repository that consists of a description of all data objects used or produced by the software. </a:t>
            </a:r>
            <a:endParaRPr/>
          </a:p>
          <a:p>
            <a:pPr marL="342900" lvl="0" indent="-342900" algn="just" rtl="0">
              <a:lnSpc>
                <a:spcPct val="150000"/>
              </a:lnSpc>
              <a:spcBef>
                <a:spcPts val="400"/>
              </a:spcBef>
              <a:spcAft>
                <a:spcPts val="0"/>
              </a:spcAft>
              <a:buClr>
                <a:srgbClr val="273239"/>
              </a:buClr>
              <a:buSzPts val="2000"/>
              <a:buChar char="•"/>
            </a:pPr>
            <a:r>
              <a:rPr lang="en-US" sz="2000" b="0" i="0">
                <a:solidFill>
                  <a:srgbClr val="273239"/>
                </a:solidFill>
              </a:rPr>
              <a:t>It stores the collection of data present in the software. </a:t>
            </a:r>
            <a:endParaRPr/>
          </a:p>
          <a:p>
            <a:pPr marL="342900" lvl="0" indent="-342900" algn="just" rtl="0">
              <a:lnSpc>
                <a:spcPct val="150000"/>
              </a:lnSpc>
              <a:spcBef>
                <a:spcPts val="400"/>
              </a:spcBef>
              <a:spcAft>
                <a:spcPts val="0"/>
              </a:spcAft>
              <a:buClr>
                <a:srgbClr val="273239"/>
              </a:buClr>
              <a:buSzPts val="2000"/>
              <a:buChar char="•"/>
            </a:pPr>
            <a:r>
              <a:rPr lang="en-US" sz="2000" b="0" i="0">
                <a:solidFill>
                  <a:srgbClr val="273239"/>
                </a:solidFill>
              </a:rPr>
              <a:t>It acts as a centralized repository and also helps in modeling data objects defined during software requirements. </a:t>
            </a:r>
            <a:endParaRPr/>
          </a:p>
        </p:txBody>
      </p:sp>
      <p:sp>
        <p:nvSpPr>
          <p:cNvPr id="86" name="Google Shape;86;p6"/>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7"/>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z="2800" b="1">
                <a:latin typeface="Times"/>
                <a:ea typeface="Times"/>
                <a:cs typeface="Times"/>
                <a:sym typeface="Times"/>
              </a:rPr>
              <a:t>Elements of Analysis Modelling (contd.)</a:t>
            </a:r>
            <a:endParaRPr/>
          </a:p>
        </p:txBody>
      </p:sp>
      <p:sp>
        <p:nvSpPr>
          <p:cNvPr id="92" name="Google Shape;92;p7"/>
          <p:cNvSpPr txBox="1">
            <a:spLocks noGrp="1"/>
          </p:cNvSpPr>
          <p:nvPr>
            <p:ph type="body" idx="1"/>
          </p:nvPr>
        </p:nvSpPr>
        <p:spPr>
          <a:xfrm>
            <a:off x="152400" y="955675"/>
            <a:ext cx="8839200" cy="5216525"/>
          </a:xfrm>
          <a:prstGeom prst="rect">
            <a:avLst/>
          </a:prstGeom>
          <a:noFill/>
          <a:ln>
            <a:noFill/>
          </a:ln>
        </p:spPr>
        <p:txBody>
          <a:bodyPr spcFirstLastPara="1" wrap="square" lIns="91425" tIns="45700" rIns="91425" bIns="45700" anchor="t" anchorCtr="0">
            <a:noAutofit/>
          </a:bodyPr>
          <a:lstStyle/>
          <a:p>
            <a:pPr marL="0" lvl="0" indent="0" algn="just" rtl="0">
              <a:lnSpc>
                <a:spcPct val="150000"/>
              </a:lnSpc>
              <a:spcBef>
                <a:spcPts val="0"/>
              </a:spcBef>
              <a:spcAft>
                <a:spcPts val="0"/>
              </a:spcAft>
              <a:buClr>
                <a:srgbClr val="C00000"/>
              </a:buClr>
              <a:buSzPts val="2000"/>
              <a:buNone/>
            </a:pPr>
            <a:r>
              <a:rPr lang="en-US" sz="2000" b="1" i="0">
                <a:solidFill>
                  <a:srgbClr val="C00000"/>
                </a:solidFill>
              </a:rPr>
              <a:t>2. Entity Relationship Diagram (ERD):</a:t>
            </a:r>
            <a:endParaRPr/>
          </a:p>
          <a:p>
            <a:pPr marL="342900" lvl="0" indent="-342900" algn="just" rtl="0">
              <a:lnSpc>
                <a:spcPct val="150000"/>
              </a:lnSpc>
              <a:spcBef>
                <a:spcPts val="400"/>
              </a:spcBef>
              <a:spcAft>
                <a:spcPts val="0"/>
              </a:spcAft>
              <a:buClr>
                <a:srgbClr val="273239"/>
              </a:buClr>
              <a:buSzPts val="2000"/>
              <a:buChar char="•"/>
            </a:pPr>
            <a:r>
              <a:rPr lang="en-US" sz="2000" b="0" i="0">
                <a:solidFill>
                  <a:srgbClr val="273239"/>
                </a:solidFill>
              </a:rPr>
              <a:t>It depicts the relationship between data objects and is used in conducting data modeling activities. </a:t>
            </a:r>
            <a:endParaRPr/>
          </a:p>
          <a:p>
            <a:pPr marL="342900" lvl="0" indent="-342900" algn="just" rtl="0">
              <a:lnSpc>
                <a:spcPct val="150000"/>
              </a:lnSpc>
              <a:spcBef>
                <a:spcPts val="400"/>
              </a:spcBef>
              <a:spcAft>
                <a:spcPts val="0"/>
              </a:spcAft>
              <a:buClr>
                <a:srgbClr val="273239"/>
              </a:buClr>
              <a:buSzPts val="2000"/>
              <a:buChar char="•"/>
            </a:pPr>
            <a:r>
              <a:rPr lang="en-US" sz="2000" b="0" i="0">
                <a:solidFill>
                  <a:srgbClr val="273239"/>
                </a:solidFill>
              </a:rPr>
              <a:t>The attributes of each object in the Entity-Relationship Diagram can be described using Data object description. </a:t>
            </a:r>
            <a:endParaRPr/>
          </a:p>
          <a:p>
            <a:pPr marL="342900" lvl="0" indent="-342900" algn="just" rtl="0">
              <a:lnSpc>
                <a:spcPct val="150000"/>
              </a:lnSpc>
              <a:spcBef>
                <a:spcPts val="400"/>
              </a:spcBef>
              <a:spcAft>
                <a:spcPts val="0"/>
              </a:spcAft>
              <a:buClr>
                <a:srgbClr val="273239"/>
              </a:buClr>
              <a:buSzPts val="2000"/>
              <a:buChar char="•"/>
            </a:pPr>
            <a:r>
              <a:rPr lang="en-US" sz="2000" b="0" i="0">
                <a:solidFill>
                  <a:srgbClr val="273239"/>
                </a:solidFill>
              </a:rPr>
              <a:t>It provides the basis for activity related to data design. </a:t>
            </a:r>
            <a:endParaRPr sz="2000">
              <a:solidFill>
                <a:srgbClr val="273239"/>
              </a:solidFill>
            </a:endParaRPr>
          </a:p>
        </p:txBody>
      </p:sp>
      <p:sp>
        <p:nvSpPr>
          <p:cNvPr id="93" name="Google Shape;93;p7"/>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8"/>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z="2800" b="1">
                <a:latin typeface="Times"/>
                <a:ea typeface="Times"/>
                <a:cs typeface="Times"/>
                <a:sym typeface="Times"/>
              </a:rPr>
              <a:t>Elements of Analysis Modelling (contd.)</a:t>
            </a:r>
            <a:endParaRPr/>
          </a:p>
        </p:txBody>
      </p:sp>
      <p:sp>
        <p:nvSpPr>
          <p:cNvPr id="99" name="Google Shape;99;p8"/>
          <p:cNvSpPr txBox="1">
            <a:spLocks noGrp="1"/>
          </p:cNvSpPr>
          <p:nvPr>
            <p:ph type="body" idx="1"/>
          </p:nvPr>
        </p:nvSpPr>
        <p:spPr>
          <a:xfrm>
            <a:off x="152400" y="955675"/>
            <a:ext cx="8839200" cy="5216525"/>
          </a:xfrm>
          <a:prstGeom prst="rect">
            <a:avLst/>
          </a:prstGeom>
          <a:noFill/>
          <a:ln>
            <a:noFill/>
          </a:ln>
        </p:spPr>
        <p:txBody>
          <a:bodyPr spcFirstLastPara="1" wrap="square" lIns="91425" tIns="45700" rIns="91425" bIns="45700" anchor="t" anchorCtr="0">
            <a:noAutofit/>
          </a:bodyPr>
          <a:lstStyle/>
          <a:p>
            <a:pPr marL="0" lvl="0" indent="0" algn="just" rtl="0">
              <a:lnSpc>
                <a:spcPct val="150000"/>
              </a:lnSpc>
              <a:spcBef>
                <a:spcPts val="0"/>
              </a:spcBef>
              <a:spcAft>
                <a:spcPts val="0"/>
              </a:spcAft>
              <a:buClr>
                <a:srgbClr val="C00000"/>
              </a:buClr>
              <a:buSzPts val="2000"/>
              <a:buNone/>
            </a:pPr>
            <a:r>
              <a:rPr lang="en-US" sz="2000" b="1">
                <a:solidFill>
                  <a:srgbClr val="C00000"/>
                </a:solidFill>
              </a:rPr>
              <a:t>3</a:t>
            </a:r>
            <a:r>
              <a:rPr lang="en-US" sz="2000" b="1" i="0">
                <a:solidFill>
                  <a:srgbClr val="C00000"/>
                </a:solidFill>
              </a:rPr>
              <a:t>. State Transition Diagram:</a:t>
            </a:r>
            <a:endParaRPr/>
          </a:p>
          <a:p>
            <a:pPr marL="342900" lvl="0" indent="-342900" algn="just" rtl="0">
              <a:lnSpc>
                <a:spcPct val="150000"/>
              </a:lnSpc>
              <a:spcBef>
                <a:spcPts val="400"/>
              </a:spcBef>
              <a:spcAft>
                <a:spcPts val="0"/>
              </a:spcAft>
              <a:buClr>
                <a:srgbClr val="273239"/>
              </a:buClr>
              <a:buSzPts val="2000"/>
              <a:buChar char="•"/>
            </a:pPr>
            <a:r>
              <a:rPr lang="en-US" sz="2000" b="0" i="0">
                <a:solidFill>
                  <a:srgbClr val="273239"/>
                </a:solidFill>
              </a:rPr>
              <a:t>It shows various modes of behavior (states) of the system and also shows the transitions from one state to another state in the system. </a:t>
            </a:r>
            <a:endParaRPr/>
          </a:p>
          <a:p>
            <a:pPr marL="342900" lvl="0" indent="-342900" algn="just" rtl="0">
              <a:lnSpc>
                <a:spcPct val="150000"/>
              </a:lnSpc>
              <a:spcBef>
                <a:spcPts val="400"/>
              </a:spcBef>
              <a:spcAft>
                <a:spcPts val="0"/>
              </a:spcAft>
              <a:buClr>
                <a:srgbClr val="273239"/>
              </a:buClr>
              <a:buSzPts val="2000"/>
              <a:buChar char="•"/>
            </a:pPr>
            <a:r>
              <a:rPr lang="en-US" sz="2000" b="0" i="0">
                <a:solidFill>
                  <a:srgbClr val="273239"/>
                </a:solidFill>
              </a:rPr>
              <a:t>It also provides the details of how the system behaves due to the consequences of external events. </a:t>
            </a:r>
            <a:endParaRPr/>
          </a:p>
          <a:p>
            <a:pPr marL="342900" lvl="0" indent="-342900" algn="just" rtl="0">
              <a:lnSpc>
                <a:spcPct val="150000"/>
              </a:lnSpc>
              <a:spcBef>
                <a:spcPts val="400"/>
              </a:spcBef>
              <a:spcAft>
                <a:spcPts val="0"/>
              </a:spcAft>
              <a:buClr>
                <a:srgbClr val="273239"/>
              </a:buClr>
              <a:buSzPts val="2000"/>
              <a:buChar char="•"/>
            </a:pPr>
            <a:r>
              <a:rPr lang="en-US" sz="2000" b="0" i="0">
                <a:solidFill>
                  <a:srgbClr val="273239"/>
                </a:solidFill>
              </a:rPr>
              <a:t>It represents the behavior of a system by presenting its states and the events that cause the system to change state. </a:t>
            </a:r>
            <a:endParaRPr/>
          </a:p>
          <a:p>
            <a:pPr marL="342900" lvl="0" indent="-342900" algn="just" rtl="0">
              <a:lnSpc>
                <a:spcPct val="150000"/>
              </a:lnSpc>
              <a:spcBef>
                <a:spcPts val="400"/>
              </a:spcBef>
              <a:spcAft>
                <a:spcPts val="0"/>
              </a:spcAft>
              <a:buClr>
                <a:srgbClr val="273239"/>
              </a:buClr>
              <a:buSzPts val="2000"/>
              <a:buChar char="•"/>
            </a:pPr>
            <a:r>
              <a:rPr lang="en-US" sz="2000" b="0" i="0">
                <a:solidFill>
                  <a:srgbClr val="273239"/>
                </a:solidFill>
              </a:rPr>
              <a:t>It also describes what actions are taken due to the occurrence of a particular event. </a:t>
            </a:r>
            <a:endParaRPr sz="2000" b="1" i="0">
              <a:solidFill>
                <a:srgbClr val="273239"/>
              </a:solidFill>
            </a:endParaRPr>
          </a:p>
          <a:p>
            <a:pPr marL="0" lvl="0" indent="0" algn="just" rtl="0">
              <a:lnSpc>
                <a:spcPct val="150000"/>
              </a:lnSpc>
              <a:spcBef>
                <a:spcPts val="400"/>
              </a:spcBef>
              <a:spcAft>
                <a:spcPts val="0"/>
              </a:spcAft>
              <a:buClr>
                <a:schemeClr val="dk1"/>
              </a:buClr>
              <a:buSzPts val="2000"/>
              <a:buNone/>
            </a:pPr>
            <a:br>
              <a:rPr lang="en-US" sz="2000"/>
            </a:br>
            <a:endParaRPr sz="2000" b="0" i="0">
              <a:solidFill>
                <a:srgbClr val="000000"/>
              </a:solidFill>
            </a:endParaRPr>
          </a:p>
        </p:txBody>
      </p:sp>
      <p:sp>
        <p:nvSpPr>
          <p:cNvPr id="100" name="Google Shape;100;p8"/>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9"/>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z="2800" b="1">
                <a:latin typeface="Times"/>
                <a:ea typeface="Times"/>
                <a:cs typeface="Times"/>
                <a:sym typeface="Times"/>
              </a:rPr>
              <a:t>Elements of Analysis Modelling (contd.)</a:t>
            </a:r>
            <a:endParaRPr/>
          </a:p>
        </p:txBody>
      </p:sp>
      <p:sp>
        <p:nvSpPr>
          <p:cNvPr id="106" name="Google Shape;106;p9"/>
          <p:cNvSpPr txBox="1">
            <a:spLocks noGrp="1"/>
          </p:cNvSpPr>
          <p:nvPr>
            <p:ph type="body" idx="1"/>
          </p:nvPr>
        </p:nvSpPr>
        <p:spPr>
          <a:xfrm>
            <a:off x="152400" y="955675"/>
            <a:ext cx="8839200" cy="5216525"/>
          </a:xfrm>
          <a:prstGeom prst="rect">
            <a:avLst/>
          </a:prstGeom>
          <a:noFill/>
          <a:ln>
            <a:noFill/>
          </a:ln>
        </p:spPr>
        <p:txBody>
          <a:bodyPr spcFirstLastPara="1" wrap="square" lIns="91425" tIns="45700" rIns="91425" bIns="45700" anchor="t" anchorCtr="0">
            <a:noAutofit/>
          </a:bodyPr>
          <a:lstStyle/>
          <a:p>
            <a:pPr marL="0" lvl="0" indent="0" algn="just" rtl="0">
              <a:lnSpc>
                <a:spcPct val="150000"/>
              </a:lnSpc>
              <a:spcBef>
                <a:spcPts val="0"/>
              </a:spcBef>
              <a:spcAft>
                <a:spcPts val="0"/>
              </a:spcAft>
              <a:buClr>
                <a:srgbClr val="C00000"/>
              </a:buClr>
              <a:buSzPts val="2000"/>
              <a:buNone/>
            </a:pPr>
            <a:r>
              <a:rPr lang="en-US" sz="2000" b="1">
                <a:solidFill>
                  <a:srgbClr val="C00000"/>
                </a:solidFill>
              </a:rPr>
              <a:t>4</a:t>
            </a:r>
            <a:r>
              <a:rPr lang="en-US" sz="2000" b="1" i="0">
                <a:solidFill>
                  <a:srgbClr val="C00000"/>
                </a:solidFill>
              </a:rPr>
              <a:t>. Data Flow Diagram (DFD):</a:t>
            </a:r>
            <a:r>
              <a:rPr lang="en-US" sz="2000" b="0" i="0">
                <a:solidFill>
                  <a:srgbClr val="C00000"/>
                </a:solidFill>
              </a:rPr>
              <a:t> </a:t>
            </a:r>
            <a:endParaRPr/>
          </a:p>
          <a:p>
            <a:pPr marL="342900" lvl="0" indent="-342900" algn="just" rtl="0">
              <a:lnSpc>
                <a:spcPct val="150000"/>
              </a:lnSpc>
              <a:spcBef>
                <a:spcPts val="400"/>
              </a:spcBef>
              <a:spcAft>
                <a:spcPts val="0"/>
              </a:spcAft>
              <a:buClr>
                <a:srgbClr val="273239"/>
              </a:buClr>
              <a:buSzPts val="2000"/>
              <a:buChar char="•"/>
            </a:pPr>
            <a:r>
              <a:rPr lang="en-US" sz="2000" b="0" i="0">
                <a:solidFill>
                  <a:srgbClr val="273239"/>
                </a:solidFill>
              </a:rPr>
              <a:t>It depicts the functions that transform data flow and it also shows how data is transformed when moving from input to output. </a:t>
            </a:r>
            <a:endParaRPr/>
          </a:p>
          <a:p>
            <a:pPr marL="342900" lvl="0" indent="-342900" algn="just" rtl="0">
              <a:lnSpc>
                <a:spcPct val="150000"/>
              </a:lnSpc>
              <a:spcBef>
                <a:spcPts val="400"/>
              </a:spcBef>
              <a:spcAft>
                <a:spcPts val="0"/>
              </a:spcAft>
              <a:buClr>
                <a:srgbClr val="273239"/>
              </a:buClr>
              <a:buSzPts val="2000"/>
              <a:buChar char="•"/>
            </a:pPr>
            <a:r>
              <a:rPr lang="en-US" sz="2000" b="0" i="0">
                <a:solidFill>
                  <a:srgbClr val="273239"/>
                </a:solidFill>
              </a:rPr>
              <a:t>It provides the additional information which is used during the analysis of the information domain and serves as a basis for the modeling of function. </a:t>
            </a:r>
            <a:endParaRPr/>
          </a:p>
          <a:p>
            <a:pPr marL="342900" lvl="0" indent="-342900" algn="just" rtl="0">
              <a:lnSpc>
                <a:spcPct val="150000"/>
              </a:lnSpc>
              <a:spcBef>
                <a:spcPts val="400"/>
              </a:spcBef>
              <a:spcAft>
                <a:spcPts val="0"/>
              </a:spcAft>
              <a:buClr>
                <a:srgbClr val="273239"/>
              </a:buClr>
              <a:buSzPts val="2000"/>
              <a:buChar char="•"/>
            </a:pPr>
            <a:r>
              <a:rPr lang="en-US" sz="2000" b="0" i="0">
                <a:solidFill>
                  <a:srgbClr val="273239"/>
                </a:solidFill>
              </a:rPr>
              <a:t>It also enables the engineer to develop models of functional and information domains at the same time.</a:t>
            </a:r>
            <a:endParaRPr/>
          </a:p>
          <a:p>
            <a:pPr marL="0" lvl="0" indent="0" algn="just" rtl="0">
              <a:lnSpc>
                <a:spcPct val="150000"/>
              </a:lnSpc>
              <a:spcBef>
                <a:spcPts val="400"/>
              </a:spcBef>
              <a:spcAft>
                <a:spcPts val="0"/>
              </a:spcAft>
              <a:buClr>
                <a:srgbClr val="273239"/>
              </a:buClr>
              <a:buSzPts val="2000"/>
              <a:buNone/>
            </a:pPr>
            <a:r>
              <a:rPr lang="en-US" sz="2000" b="0" i="0">
                <a:solidFill>
                  <a:srgbClr val="273239"/>
                </a:solidFill>
              </a:rPr>
              <a:t> </a:t>
            </a:r>
            <a:br>
              <a:rPr lang="en-US" sz="2000"/>
            </a:br>
            <a:endParaRPr sz="2000" b="0" i="0">
              <a:solidFill>
                <a:srgbClr val="000000"/>
              </a:solidFill>
            </a:endParaRPr>
          </a:p>
        </p:txBody>
      </p:sp>
      <p:sp>
        <p:nvSpPr>
          <p:cNvPr id="107" name="Google Shape;107;p9"/>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0"/>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z="2800" b="1">
                <a:latin typeface="Times"/>
                <a:ea typeface="Times"/>
                <a:cs typeface="Times"/>
                <a:sym typeface="Times"/>
              </a:rPr>
              <a:t>Elements of Analysis Modelling (contd.)</a:t>
            </a:r>
            <a:endParaRPr/>
          </a:p>
        </p:txBody>
      </p:sp>
      <p:sp>
        <p:nvSpPr>
          <p:cNvPr id="113" name="Google Shape;113;p10"/>
          <p:cNvSpPr txBox="1">
            <a:spLocks noGrp="1"/>
          </p:cNvSpPr>
          <p:nvPr>
            <p:ph type="body" idx="1"/>
          </p:nvPr>
        </p:nvSpPr>
        <p:spPr>
          <a:xfrm>
            <a:off x="152400" y="955675"/>
            <a:ext cx="8839200" cy="5216525"/>
          </a:xfrm>
          <a:prstGeom prst="rect">
            <a:avLst/>
          </a:prstGeom>
          <a:noFill/>
          <a:ln>
            <a:noFill/>
          </a:ln>
        </p:spPr>
        <p:txBody>
          <a:bodyPr spcFirstLastPara="1" wrap="square" lIns="91425" tIns="45700" rIns="91425" bIns="45700" anchor="t" anchorCtr="0">
            <a:noAutofit/>
          </a:bodyPr>
          <a:lstStyle/>
          <a:p>
            <a:pPr marL="0" lvl="0" indent="0" algn="just" rtl="0">
              <a:lnSpc>
                <a:spcPct val="150000"/>
              </a:lnSpc>
              <a:spcBef>
                <a:spcPts val="0"/>
              </a:spcBef>
              <a:spcAft>
                <a:spcPts val="0"/>
              </a:spcAft>
              <a:buClr>
                <a:srgbClr val="C00000"/>
              </a:buClr>
              <a:buSzPts val="2000"/>
              <a:buNone/>
            </a:pPr>
            <a:r>
              <a:rPr lang="en-US" sz="2000" b="1" i="0">
                <a:solidFill>
                  <a:srgbClr val="C00000"/>
                </a:solidFill>
              </a:rPr>
              <a:t>5. Process Specification (PSPEC):</a:t>
            </a:r>
            <a:r>
              <a:rPr lang="en-US" sz="2000" b="0" i="0">
                <a:solidFill>
                  <a:srgbClr val="C00000"/>
                </a:solidFill>
              </a:rPr>
              <a:t> </a:t>
            </a:r>
            <a:endParaRPr/>
          </a:p>
          <a:p>
            <a:pPr marL="342900" lvl="0" indent="-342900" algn="just" rtl="0">
              <a:lnSpc>
                <a:spcPct val="150000"/>
              </a:lnSpc>
              <a:spcBef>
                <a:spcPts val="400"/>
              </a:spcBef>
              <a:spcAft>
                <a:spcPts val="0"/>
              </a:spcAft>
              <a:buClr>
                <a:srgbClr val="273239"/>
              </a:buClr>
              <a:buSzPts val="2000"/>
              <a:buChar char="•"/>
            </a:pPr>
            <a:r>
              <a:rPr lang="en-US" sz="2000" b="0" i="0">
                <a:solidFill>
                  <a:srgbClr val="273239"/>
                </a:solidFill>
              </a:rPr>
              <a:t>It stores the description of each function present in the data flow diagram. </a:t>
            </a:r>
            <a:endParaRPr/>
          </a:p>
          <a:p>
            <a:pPr marL="342900" lvl="0" indent="-342900" algn="just" rtl="0">
              <a:lnSpc>
                <a:spcPct val="150000"/>
              </a:lnSpc>
              <a:spcBef>
                <a:spcPts val="400"/>
              </a:spcBef>
              <a:spcAft>
                <a:spcPts val="0"/>
              </a:spcAft>
              <a:buClr>
                <a:srgbClr val="273239"/>
              </a:buClr>
              <a:buSzPts val="2000"/>
              <a:buChar char="•"/>
            </a:pPr>
            <a:r>
              <a:rPr lang="en-US" sz="2000" b="0" i="0">
                <a:solidFill>
                  <a:srgbClr val="273239"/>
                </a:solidFill>
              </a:rPr>
              <a:t>It describes the input to a function, the algorithm that is applied for the transformation of input, and the output that is produced. </a:t>
            </a:r>
            <a:endParaRPr/>
          </a:p>
          <a:p>
            <a:pPr marL="342900" lvl="0" indent="-342900" algn="just" rtl="0">
              <a:lnSpc>
                <a:spcPct val="150000"/>
              </a:lnSpc>
              <a:spcBef>
                <a:spcPts val="400"/>
              </a:spcBef>
              <a:spcAft>
                <a:spcPts val="0"/>
              </a:spcAft>
              <a:buClr>
                <a:srgbClr val="273239"/>
              </a:buClr>
              <a:buSzPts val="2000"/>
              <a:buChar char="•"/>
            </a:pPr>
            <a:r>
              <a:rPr lang="en-US" sz="2000" b="0" i="0">
                <a:solidFill>
                  <a:srgbClr val="273239"/>
                </a:solidFill>
              </a:rPr>
              <a:t>It also shows regulations and barriers imposed on the performance characteristics that are applicable to the process and layout constraints that could influence the way in which the process will be implemented.</a:t>
            </a:r>
            <a:endParaRPr/>
          </a:p>
          <a:p>
            <a:pPr marL="0" lvl="0" indent="0" algn="just" rtl="0">
              <a:lnSpc>
                <a:spcPct val="150000"/>
              </a:lnSpc>
              <a:spcBef>
                <a:spcPts val="400"/>
              </a:spcBef>
              <a:spcAft>
                <a:spcPts val="0"/>
              </a:spcAft>
              <a:buClr>
                <a:srgbClr val="273239"/>
              </a:buClr>
              <a:buSzPts val="2000"/>
              <a:buNone/>
            </a:pPr>
            <a:r>
              <a:rPr lang="en-US" sz="2000" b="0" i="0">
                <a:solidFill>
                  <a:srgbClr val="273239"/>
                </a:solidFill>
              </a:rPr>
              <a:t> </a:t>
            </a:r>
            <a:br>
              <a:rPr lang="en-US" sz="2000"/>
            </a:br>
            <a:endParaRPr sz="2000" b="0" i="0">
              <a:solidFill>
                <a:srgbClr val="000000"/>
              </a:solidFill>
            </a:endParaRPr>
          </a:p>
        </p:txBody>
      </p:sp>
      <p:sp>
        <p:nvSpPr>
          <p:cNvPr id="114" name="Google Shape;114;p10"/>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11"/>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z="2800" b="1">
                <a:latin typeface="Times"/>
                <a:ea typeface="Times"/>
                <a:cs typeface="Times"/>
                <a:sym typeface="Times"/>
              </a:rPr>
              <a:t>Elements of Analysis Modelling (contd.)</a:t>
            </a:r>
            <a:endParaRPr/>
          </a:p>
        </p:txBody>
      </p:sp>
      <p:sp>
        <p:nvSpPr>
          <p:cNvPr id="120" name="Google Shape;120;p11"/>
          <p:cNvSpPr txBox="1">
            <a:spLocks noGrp="1"/>
          </p:cNvSpPr>
          <p:nvPr>
            <p:ph type="body" idx="1"/>
          </p:nvPr>
        </p:nvSpPr>
        <p:spPr>
          <a:xfrm>
            <a:off x="152400" y="955675"/>
            <a:ext cx="8839200" cy="5216525"/>
          </a:xfrm>
          <a:prstGeom prst="rect">
            <a:avLst/>
          </a:prstGeom>
          <a:noFill/>
          <a:ln>
            <a:noFill/>
          </a:ln>
        </p:spPr>
        <p:txBody>
          <a:bodyPr spcFirstLastPara="1" wrap="square" lIns="91425" tIns="45700" rIns="91425" bIns="45700" anchor="t" anchorCtr="0">
            <a:noAutofit/>
          </a:bodyPr>
          <a:lstStyle/>
          <a:p>
            <a:pPr marL="0" lvl="0" indent="0" algn="just" rtl="0">
              <a:lnSpc>
                <a:spcPct val="150000"/>
              </a:lnSpc>
              <a:spcBef>
                <a:spcPts val="0"/>
              </a:spcBef>
              <a:spcAft>
                <a:spcPts val="0"/>
              </a:spcAft>
              <a:buClr>
                <a:srgbClr val="C00000"/>
              </a:buClr>
              <a:buSzPts val="2000"/>
              <a:buNone/>
            </a:pPr>
            <a:r>
              <a:rPr lang="en-US" sz="2000" b="1" i="0">
                <a:solidFill>
                  <a:srgbClr val="C00000"/>
                </a:solidFill>
              </a:rPr>
              <a:t>6. Control Specification (CSPEC):</a:t>
            </a:r>
            <a:r>
              <a:rPr lang="en-US" sz="2000" b="0" i="0">
                <a:solidFill>
                  <a:srgbClr val="C00000"/>
                </a:solidFill>
              </a:rPr>
              <a:t> </a:t>
            </a:r>
            <a:endParaRPr/>
          </a:p>
          <a:p>
            <a:pPr marL="342900" lvl="0" indent="-342900" algn="just" rtl="0">
              <a:lnSpc>
                <a:spcPct val="150000"/>
              </a:lnSpc>
              <a:spcBef>
                <a:spcPts val="400"/>
              </a:spcBef>
              <a:spcAft>
                <a:spcPts val="0"/>
              </a:spcAft>
              <a:buClr>
                <a:srgbClr val="273239"/>
              </a:buClr>
              <a:buSzPts val="2000"/>
              <a:buChar char="•"/>
            </a:pPr>
            <a:r>
              <a:rPr lang="en-US" sz="2000" b="0" i="0">
                <a:solidFill>
                  <a:srgbClr val="273239"/>
                </a:solidFill>
              </a:rPr>
              <a:t>It stores additional information about the control aspects of the software. </a:t>
            </a:r>
            <a:endParaRPr/>
          </a:p>
          <a:p>
            <a:pPr marL="342900" lvl="0" indent="-342900" algn="just" rtl="0">
              <a:lnSpc>
                <a:spcPct val="150000"/>
              </a:lnSpc>
              <a:spcBef>
                <a:spcPts val="400"/>
              </a:spcBef>
              <a:spcAft>
                <a:spcPts val="0"/>
              </a:spcAft>
              <a:buClr>
                <a:srgbClr val="273239"/>
              </a:buClr>
              <a:buSzPts val="2000"/>
              <a:buChar char="•"/>
            </a:pPr>
            <a:r>
              <a:rPr lang="en-US" sz="2000" b="0" i="0">
                <a:solidFill>
                  <a:srgbClr val="273239"/>
                </a:solidFill>
              </a:rPr>
              <a:t>It is used to indicate how the software behaves when an event occurs and which processes are invoked due to the occurrence of the event. </a:t>
            </a:r>
            <a:endParaRPr/>
          </a:p>
          <a:p>
            <a:pPr marL="342900" lvl="0" indent="-342900" algn="just" rtl="0">
              <a:lnSpc>
                <a:spcPct val="150000"/>
              </a:lnSpc>
              <a:spcBef>
                <a:spcPts val="400"/>
              </a:spcBef>
              <a:spcAft>
                <a:spcPts val="0"/>
              </a:spcAft>
              <a:buClr>
                <a:srgbClr val="273239"/>
              </a:buClr>
              <a:buSzPts val="2000"/>
              <a:buChar char="•"/>
            </a:pPr>
            <a:r>
              <a:rPr lang="en-US" sz="2000" b="0" i="0">
                <a:solidFill>
                  <a:srgbClr val="273239"/>
                </a:solidFill>
              </a:rPr>
              <a:t>It also provides the details of the processes which are executed to manage events. </a:t>
            </a:r>
            <a:endParaRPr/>
          </a:p>
          <a:p>
            <a:pPr marL="0" lvl="0" indent="0" algn="just" rtl="0">
              <a:lnSpc>
                <a:spcPct val="150000"/>
              </a:lnSpc>
              <a:spcBef>
                <a:spcPts val="400"/>
              </a:spcBef>
              <a:spcAft>
                <a:spcPts val="0"/>
              </a:spcAft>
              <a:buClr>
                <a:schemeClr val="dk1"/>
              </a:buClr>
              <a:buSzPts val="2000"/>
              <a:buNone/>
            </a:pPr>
            <a:br>
              <a:rPr lang="en-US" sz="2000"/>
            </a:br>
            <a:endParaRPr sz="2000" b="0" i="0">
              <a:solidFill>
                <a:srgbClr val="000000"/>
              </a:solidFill>
            </a:endParaRPr>
          </a:p>
        </p:txBody>
      </p:sp>
      <p:sp>
        <p:nvSpPr>
          <p:cNvPr id="121" name="Google Shape;121;p11"/>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11</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12"/>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z="2800" b="1">
                <a:latin typeface="Times"/>
                <a:ea typeface="Times"/>
                <a:cs typeface="Times"/>
                <a:sym typeface="Times"/>
              </a:rPr>
              <a:t>Elements of Analysis Modelling (contd.)</a:t>
            </a:r>
            <a:endParaRPr/>
          </a:p>
        </p:txBody>
      </p:sp>
      <p:sp>
        <p:nvSpPr>
          <p:cNvPr id="127" name="Google Shape;127;p12"/>
          <p:cNvSpPr txBox="1">
            <a:spLocks noGrp="1"/>
          </p:cNvSpPr>
          <p:nvPr>
            <p:ph type="body" idx="1"/>
          </p:nvPr>
        </p:nvSpPr>
        <p:spPr>
          <a:xfrm>
            <a:off x="152400" y="955675"/>
            <a:ext cx="8839200" cy="5216525"/>
          </a:xfrm>
          <a:prstGeom prst="rect">
            <a:avLst/>
          </a:prstGeom>
          <a:noFill/>
          <a:ln>
            <a:noFill/>
          </a:ln>
        </p:spPr>
        <p:txBody>
          <a:bodyPr spcFirstLastPara="1" wrap="square" lIns="91425" tIns="45700" rIns="91425" bIns="45700" anchor="t" anchorCtr="0">
            <a:noAutofit/>
          </a:bodyPr>
          <a:lstStyle/>
          <a:p>
            <a:pPr marL="0" lvl="0" indent="0" algn="just" rtl="0">
              <a:lnSpc>
                <a:spcPct val="150000"/>
              </a:lnSpc>
              <a:spcBef>
                <a:spcPts val="0"/>
              </a:spcBef>
              <a:spcAft>
                <a:spcPts val="0"/>
              </a:spcAft>
              <a:buClr>
                <a:srgbClr val="C00000"/>
              </a:buClr>
              <a:buSzPts val="2000"/>
              <a:buNone/>
            </a:pPr>
            <a:r>
              <a:rPr lang="en-US" sz="2000" b="1" i="0">
                <a:solidFill>
                  <a:srgbClr val="C00000"/>
                </a:solidFill>
              </a:rPr>
              <a:t>7. Data Object Description:</a:t>
            </a:r>
            <a:r>
              <a:rPr lang="en-US" sz="2000" b="0" i="0">
                <a:solidFill>
                  <a:srgbClr val="C00000"/>
                </a:solidFill>
              </a:rPr>
              <a:t> </a:t>
            </a:r>
            <a:endParaRPr/>
          </a:p>
          <a:p>
            <a:pPr marL="342900" lvl="0" indent="-342900" algn="just" rtl="0">
              <a:lnSpc>
                <a:spcPct val="150000"/>
              </a:lnSpc>
              <a:spcBef>
                <a:spcPts val="400"/>
              </a:spcBef>
              <a:spcAft>
                <a:spcPts val="0"/>
              </a:spcAft>
              <a:buClr>
                <a:srgbClr val="273239"/>
              </a:buClr>
              <a:buSzPts val="2000"/>
              <a:buChar char="•"/>
            </a:pPr>
            <a:r>
              <a:rPr lang="en-US" sz="2000" b="0" i="0">
                <a:solidFill>
                  <a:srgbClr val="273239"/>
                </a:solidFill>
              </a:rPr>
              <a:t>It stores and provides complete knowledge about a data object present and used in the software. </a:t>
            </a:r>
            <a:endParaRPr/>
          </a:p>
          <a:p>
            <a:pPr marL="342900" lvl="0" indent="-342900" algn="just" rtl="0">
              <a:lnSpc>
                <a:spcPct val="150000"/>
              </a:lnSpc>
              <a:spcBef>
                <a:spcPts val="400"/>
              </a:spcBef>
              <a:spcAft>
                <a:spcPts val="0"/>
              </a:spcAft>
              <a:buClr>
                <a:srgbClr val="273239"/>
              </a:buClr>
              <a:buSzPts val="2000"/>
              <a:buChar char="•"/>
            </a:pPr>
            <a:r>
              <a:rPr lang="en-US" sz="2000" b="0" i="0">
                <a:solidFill>
                  <a:srgbClr val="273239"/>
                </a:solidFill>
              </a:rPr>
              <a:t>It also gives us the details of attributes of the data object present in the Entity Relationship Diagram. </a:t>
            </a:r>
            <a:endParaRPr/>
          </a:p>
          <a:p>
            <a:pPr marL="342900" lvl="0" indent="-342900" algn="just" rtl="0">
              <a:lnSpc>
                <a:spcPct val="150000"/>
              </a:lnSpc>
              <a:spcBef>
                <a:spcPts val="400"/>
              </a:spcBef>
              <a:spcAft>
                <a:spcPts val="0"/>
              </a:spcAft>
              <a:buClr>
                <a:srgbClr val="273239"/>
              </a:buClr>
              <a:buSzPts val="2000"/>
              <a:buChar char="•"/>
            </a:pPr>
            <a:r>
              <a:rPr lang="en-US" sz="2000" b="0" i="0">
                <a:solidFill>
                  <a:srgbClr val="273239"/>
                </a:solidFill>
              </a:rPr>
              <a:t>Hence, it incorporates all the data objects and their attributes.</a:t>
            </a:r>
            <a:endParaRPr/>
          </a:p>
          <a:p>
            <a:pPr marL="0" lvl="0" indent="0" algn="just" rtl="0">
              <a:lnSpc>
                <a:spcPct val="150000"/>
              </a:lnSpc>
              <a:spcBef>
                <a:spcPts val="400"/>
              </a:spcBef>
              <a:spcAft>
                <a:spcPts val="0"/>
              </a:spcAft>
              <a:buClr>
                <a:srgbClr val="273239"/>
              </a:buClr>
              <a:buSzPts val="2000"/>
              <a:buNone/>
            </a:pPr>
            <a:r>
              <a:rPr lang="en-US" sz="2000" b="0" i="0">
                <a:solidFill>
                  <a:srgbClr val="273239"/>
                </a:solidFill>
              </a:rPr>
              <a:t> </a:t>
            </a:r>
            <a:br>
              <a:rPr lang="en-US" sz="2000"/>
            </a:br>
            <a:endParaRPr sz="2000" b="0" i="0">
              <a:solidFill>
                <a:srgbClr val="000000"/>
              </a:solidFill>
            </a:endParaRPr>
          </a:p>
        </p:txBody>
      </p:sp>
      <p:sp>
        <p:nvSpPr>
          <p:cNvPr id="128" name="Google Shape;128;p12"/>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12</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13"/>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b="1">
                <a:latin typeface="Times"/>
                <a:ea typeface="Times"/>
                <a:cs typeface="Times"/>
                <a:sym typeface="Times"/>
              </a:rPr>
              <a:t>Requirement Engineering</a:t>
            </a:r>
            <a:endParaRPr/>
          </a:p>
        </p:txBody>
      </p:sp>
      <p:sp>
        <p:nvSpPr>
          <p:cNvPr id="134" name="Google Shape;134;p13"/>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13</a:t>
            </a:fld>
            <a:endParaRPr/>
          </a:p>
        </p:txBody>
      </p:sp>
      <p:sp>
        <p:nvSpPr>
          <p:cNvPr id="135" name="Google Shape;135;p13"/>
          <p:cNvSpPr txBox="1">
            <a:spLocks noGrp="1"/>
          </p:cNvSpPr>
          <p:nvPr>
            <p:ph type="body" idx="1"/>
          </p:nvPr>
        </p:nvSpPr>
        <p:spPr>
          <a:xfrm>
            <a:off x="457200" y="955675"/>
            <a:ext cx="8229600" cy="5216525"/>
          </a:xfrm>
          <a:prstGeom prst="rect">
            <a:avLst/>
          </a:prstGeom>
          <a:noFill/>
          <a:ln>
            <a:noFill/>
          </a:ln>
        </p:spPr>
        <p:txBody>
          <a:bodyPr spcFirstLastPara="1" wrap="square" lIns="91425" tIns="45700" rIns="91425" bIns="45700" anchor="t" anchorCtr="0">
            <a:noAutofit/>
          </a:bodyPr>
          <a:lstStyle/>
          <a:p>
            <a:pPr marL="342900" lvl="0" indent="-342900" algn="just" rtl="0">
              <a:spcBef>
                <a:spcPts val="0"/>
              </a:spcBef>
              <a:spcAft>
                <a:spcPts val="0"/>
              </a:spcAft>
              <a:buClr>
                <a:schemeClr val="dk1"/>
              </a:buClr>
              <a:buSzPts val="2000"/>
              <a:buChar char="•"/>
            </a:pPr>
            <a:r>
              <a:rPr lang="en-US" sz="2000"/>
              <a:t>Requirement Engineering is the process of defining, documenting and maintaining the requirements.</a:t>
            </a:r>
            <a:endParaRPr/>
          </a:p>
          <a:p>
            <a:pPr marL="342900" lvl="0" indent="-215900" algn="just" rtl="0">
              <a:spcBef>
                <a:spcPts val="400"/>
              </a:spcBef>
              <a:spcAft>
                <a:spcPts val="0"/>
              </a:spcAft>
              <a:buClr>
                <a:schemeClr val="dk1"/>
              </a:buClr>
              <a:buSzPts val="2000"/>
              <a:buNone/>
            </a:pPr>
            <a:endParaRPr sz="2000"/>
          </a:p>
          <a:p>
            <a:pPr marL="342900" lvl="0" indent="-342900" algn="just" rtl="0">
              <a:spcBef>
                <a:spcPts val="400"/>
              </a:spcBef>
              <a:spcAft>
                <a:spcPts val="0"/>
              </a:spcAft>
              <a:buClr>
                <a:schemeClr val="dk1"/>
              </a:buClr>
              <a:buSzPts val="2000"/>
              <a:buChar char="•"/>
            </a:pPr>
            <a:r>
              <a:rPr lang="en-US" sz="2000"/>
              <a:t>It includes the following processes:</a:t>
            </a:r>
            <a:endParaRPr/>
          </a:p>
          <a:p>
            <a:pPr marL="342900" lvl="0" indent="-215900" algn="just" rtl="0">
              <a:spcBef>
                <a:spcPts val="400"/>
              </a:spcBef>
              <a:spcAft>
                <a:spcPts val="0"/>
              </a:spcAft>
              <a:buClr>
                <a:schemeClr val="dk1"/>
              </a:buClr>
              <a:buSzPts val="2000"/>
              <a:buNone/>
            </a:pPr>
            <a:endParaRPr sz="2000"/>
          </a:p>
          <a:p>
            <a:pPr marL="742950" lvl="1" indent="-285750" algn="just" rtl="0">
              <a:spcBef>
                <a:spcPts val="400"/>
              </a:spcBef>
              <a:spcAft>
                <a:spcPts val="0"/>
              </a:spcAft>
              <a:buClr>
                <a:schemeClr val="dk1"/>
              </a:buClr>
              <a:buSzPts val="2000"/>
              <a:buChar char="–"/>
            </a:pPr>
            <a:r>
              <a:rPr lang="en-US" sz="2000"/>
              <a:t>Feasibility Study</a:t>
            </a:r>
            <a:endParaRPr/>
          </a:p>
          <a:p>
            <a:pPr marL="742950" lvl="1" indent="-285750" algn="just" rtl="0">
              <a:spcBef>
                <a:spcPts val="400"/>
              </a:spcBef>
              <a:spcAft>
                <a:spcPts val="0"/>
              </a:spcAft>
              <a:buClr>
                <a:schemeClr val="dk1"/>
              </a:buClr>
              <a:buSzPts val="2000"/>
              <a:buChar char="–"/>
            </a:pPr>
            <a:r>
              <a:rPr lang="en-US" sz="2000"/>
              <a:t>Requirement Elicitation and Analysis</a:t>
            </a:r>
            <a:endParaRPr/>
          </a:p>
          <a:p>
            <a:pPr marL="742950" lvl="1" indent="-285750" algn="just" rtl="0">
              <a:spcBef>
                <a:spcPts val="400"/>
              </a:spcBef>
              <a:spcAft>
                <a:spcPts val="0"/>
              </a:spcAft>
              <a:buClr>
                <a:schemeClr val="dk1"/>
              </a:buClr>
              <a:buSzPts val="2000"/>
              <a:buChar char="–"/>
            </a:pPr>
            <a:r>
              <a:rPr lang="en-US" sz="2000"/>
              <a:t>Software Requirement Specification</a:t>
            </a:r>
            <a:endParaRPr/>
          </a:p>
          <a:p>
            <a:pPr marL="742950" lvl="1" indent="-285750" algn="just" rtl="0">
              <a:spcBef>
                <a:spcPts val="400"/>
              </a:spcBef>
              <a:spcAft>
                <a:spcPts val="0"/>
              </a:spcAft>
              <a:buClr>
                <a:schemeClr val="dk1"/>
              </a:buClr>
              <a:buSzPts val="2000"/>
              <a:buChar char="–"/>
            </a:pPr>
            <a:r>
              <a:rPr lang="en-US" sz="2000"/>
              <a:t>Software Requirement Validation</a:t>
            </a:r>
            <a:endParaRPr/>
          </a:p>
          <a:p>
            <a:pPr marL="742950" lvl="1" indent="-285750" algn="just" rtl="0">
              <a:spcBef>
                <a:spcPts val="400"/>
              </a:spcBef>
              <a:spcAft>
                <a:spcPts val="0"/>
              </a:spcAft>
              <a:buClr>
                <a:schemeClr val="dk1"/>
              </a:buClr>
              <a:buSzPts val="2000"/>
              <a:buChar char="–"/>
            </a:pPr>
            <a:r>
              <a:rPr lang="en-US" sz="2000"/>
              <a:t>Software Requirement Management</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14"/>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b="1">
                <a:latin typeface="Times"/>
                <a:ea typeface="Times"/>
                <a:cs typeface="Times"/>
                <a:sym typeface="Times"/>
              </a:rPr>
              <a:t>Feasibility Study</a:t>
            </a:r>
            <a:endParaRPr/>
          </a:p>
        </p:txBody>
      </p:sp>
      <p:sp>
        <p:nvSpPr>
          <p:cNvPr id="141" name="Google Shape;141;p14"/>
          <p:cNvSpPr txBox="1">
            <a:spLocks noGrp="1"/>
          </p:cNvSpPr>
          <p:nvPr>
            <p:ph type="body" idx="1"/>
          </p:nvPr>
        </p:nvSpPr>
        <p:spPr>
          <a:xfrm>
            <a:off x="152400" y="955675"/>
            <a:ext cx="8839200" cy="5216525"/>
          </a:xfrm>
          <a:prstGeom prst="rect">
            <a:avLst/>
          </a:prstGeom>
          <a:noFill/>
          <a:ln>
            <a:noFill/>
          </a:ln>
        </p:spPr>
        <p:txBody>
          <a:bodyPr spcFirstLastPara="1" wrap="square" lIns="91425" tIns="45700" rIns="91425" bIns="45700" anchor="t" anchorCtr="0">
            <a:noAutofit/>
          </a:bodyPr>
          <a:lstStyle/>
          <a:p>
            <a:pPr marL="342900" lvl="0" indent="-342900" algn="just" rtl="0">
              <a:spcBef>
                <a:spcPts val="0"/>
              </a:spcBef>
              <a:spcAft>
                <a:spcPts val="0"/>
              </a:spcAft>
              <a:buClr>
                <a:srgbClr val="333333"/>
              </a:buClr>
              <a:buSzPts val="2000"/>
              <a:buChar char="•"/>
            </a:pPr>
            <a:r>
              <a:rPr lang="en-US" sz="2000" b="0" i="0">
                <a:solidFill>
                  <a:srgbClr val="333333"/>
                </a:solidFill>
              </a:rPr>
              <a:t>The objective behind the feasibility study is to create the reasons for developing the software that is acceptable to users, flexible to change and conformable to established standards.</a:t>
            </a:r>
            <a:endParaRPr/>
          </a:p>
          <a:p>
            <a:pPr marL="0" lvl="0" indent="0" algn="just" rtl="0">
              <a:spcBef>
                <a:spcPts val="400"/>
              </a:spcBef>
              <a:spcAft>
                <a:spcPts val="0"/>
              </a:spcAft>
              <a:buClr>
                <a:schemeClr val="dk1"/>
              </a:buClr>
              <a:buSzPts val="2000"/>
              <a:buNone/>
            </a:pPr>
            <a:br>
              <a:rPr lang="en-US" sz="2000"/>
            </a:br>
            <a:r>
              <a:rPr lang="en-US" sz="2000" b="1" i="0">
                <a:solidFill>
                  <a:srgbClr val="333333"/>
                </a:solidFill>
              </a:rPr>
              <a:t>Types of Feasibility:</a:t>
            </a:r>
            <a:endParaRPr/>
          </a:p>
          <a:p>
            <a:pPr marL="0" lvl="0" indent="0" algn="just" rtl="0">
              <a:spcBef>
                <a:spcPts val="320"/>
              </a:spcBef>
              <a:spcAft>
                <a:spcPts val="0"/>
              </a:spcAft>
              <a:buClr>
                <a:schemeClr val="dk1"/>
              </a:buClr>
              <a:buSzPts val="1600"/>
              <a:buNone/>
            </a:pPr>
            <a:endParaRPr sz="1600" b="0" i="0">
              <a:solidFill>
                <a:srgbClr val="333333"/>
              </a:solidFill>
            </a:endParaRPr>
          </a:p>
          <a:p>
            <a:pPr marL="342900" lvl="0" indent="-342900" algn="just" rtl="0">
              <a:spcBef>
                <a:spcPts val="400"/>
              </a:spcBef>
              <a:spcAft>
                <a:spcPts val="0"/>
              </a:spcAft>
              <a:buClr>
                <a:srgbClr val="C00000"/>
              </a:buClr>
              <a:buSzPts val="2000"/>
              <a:buFont typeface="Calibri"/>
              <a:buAutoNum type="arabicPeriod"/>
            </a:pPr>
            <a:r>
              <a:rPr lang="en-US" sz="2000" b="1" i="0">
                <a:solidFill>
                  <a:srgbClr val="C00000"/>
                </a:solidFill>
              </a:rPr>
              <a:t>Technical Feasibility</a:t>
            </a:r>
            <a:r>
              <a:rPr lang="en-US" sz="2000" b="0" i="0">
                <a:solidFill>
                  <a:srgbClr val="C00000"/>
                </a:solidFill>
              </a:rPr>
              <a:t> - </a:t>
            </a:r>
            <a:r>
              <a:rPr lang="en-US" sz="2000" b="0" i="0">
                <a:solidFill>
                  <a:srgbClr val="000000"/>
                </a:solidFill>
              </a:rPr>
              <a:t>It evaluates the current technologies, which are needed to accomplish customer requirements within the time and budget.</a:t>
            </a:r>
            <a:endParaRPr/>
          </a:p>
          <a:p>
            <a:pPr marL="342900" lvl="0" indent="-215900" algn="just" rtl="0">
              <a:spcBef>
                <a:spcPts val="400"/>
              </a:spcBef>
              <a:spcAft>
                <a:spcPts val="0"/>
              </a:spcAft>
              <a:buClr>
                <a:schemeClr val="dk1"/>
              </a:buClr>
              <a:buSzPts val="2000"/>
              <a:buFont typeface="Calibri"/>
              <a:buNone/>
            </a:pPr>
            <a:endParaRPr sz="2000" b="0" i="0">
              <a:solidFill>
                <a:srgbClr val="000000"/>
              </a:solidFill>
            </a:endParaRPr>
          </a:p>
          <a:p>
            <a:pPr marL="342900" lvl="0" indent="-342900" algn="just" rtl="0">
              <a:spcBef>
                <a:spcPts val="400"/>
              </a:spcBef>
              <a:spcAft>
                <a:spcPts val="0"/>
              </a:spcAft>
              <a:buClr>
                <a:srgbClr val="C00000"/>
              </a:buClr>
              <a:buSzPts val="2000"/>
              <a:buFont typeface="Calibri"/>
              <a:buAutoNum type="arabicPeriod"/>
            </a:pPr>
            <a:r>
              <a:rPr lang="en-US" sz="2000" b="1" i="0">
                <a:solidFill>
                  <a:srgbClr val="C00000"/>
                </a:solidFill>
              </a:rPr>
              <a:t>Operational Feasibility</a:t>
            </a:r>
            <a:r>
              <a:rPr lang="en-US" sz="2000" b="0" i="0">
                <a:solidFill>
                  <a:srgbClr val="C00000"/>
                </a:solidFill>
              </a:rPr>
              <a:t> - </a:t>
            </a:r>
            <a:r>
              <a:rPr lang="en-US" sz="2000" b="0" i="0">
                <a:solidFill>
                  <a:srgbClr val="000000"/>
                </a:solidFill>
              </a:rPr>
              <a:t>It assesses the range in which the required software performs a series of levels to solve business problems and customer requirements.</a:t>
            </a:r>
            <a:endParaRPr/>
          </a:p>
          <a:p>
            <a:pPr marL="342900" lvl="0" indent="-215900" algn="just" rtl="0">
              <a:spcBef>
                <a:spcPts val="400"/>
              </a:spcBef>
              <a:spcAft>
                <a:spcPts val="0"/>
              </a:spcAft>
              <a:buClr>
                <a:schemeClr val="dk1"/>
              </a:buClr>
              <a:buSzPts val="2000"/>
              <a:buFont typeface="Calibri"/>
              <a:buNone/>
            </a:pPr>
            <a:endParaRPr sz="2000" b="0" i="0">
              <a:solidFill>
                <a:srgbClr val="000000"/>
              </a:solidFill>
            </a:endParaRPr>
          </a:p>
          <a:p>
            <a:pPr marL="342900" lvl="0" indent="-342900" algn="just" rtl="0">
              <a:spcBef>
                <a:spcPts val="400"/>
              </a:spcBef>
              <a:spcAft>
                <a:spcPts val="0"/>
              </a:spcAft>
              <a:buClr>
                <a:srgbClr val="C00000"/>
              </a:buClr>
              <a:buSzPts val="2000"/>
              <a:buFont typeface="Calibri"/>
              <a:buAutoNum type="arabicPeriod"/>
            </a:pPr>
            <a:r>
              <a:rPr lang="en-US" sz="2000" b="1" i="0">
                <a:solidFill>
                  <a:srgbClr val="C00000"/>
                </a:solidFill>
              </a:rPr>
              <a:t>Economic Feasibility</a:t>
            </a:r>
            <a:r>
              <a:rPr lang="en-US" sz="2000" b="0" i="0">
                <a:solidFill>
                  <a:srgbClr val="C00000"/>
                </a:solidFill>
              </a:rPr>
              <a:t> - </a:t>
            </a:r>
            <a:r>
              <a:rPr lang="en-US" sz="2000" b="0" i="0">
                <a:solidFill>
                  <a:srgbClr val="000000"/>
                </a:solidFill>
              </a:rPr>
              <a:t>It decides whether the necessary software can generate financial profits for an organization.</a:t>
            </a:r>
            <a:endParaRPr/>
          </a:p>
        </p:txBody>
      </p:sp>
      <p:sp>
        <p:nvSpPr>
          <p:cNvPr id="142" name="Google Shape;142;p14"/>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14</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15"/>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z="2800" b="1">
                <a:latin typeface="Times"/>
                <a:ea typeface="Times"/>
                <a:cs typeface="Times"/>
                <a:sym typeface="Times"/>
              </a:rPr>
              <a:t>Requirement Elicitation and Analysis</a:t>
            </a:r>
            <a:endParaRPr/>
          </a:p>
        </p:txBody>
      </p:sp>
      <p:sp>
        <p:nvSpPr>
          <p:cNvPr id="148" name="Google Shape;148;p15"/>
          <p:cNvSpPr txBox="1">
            <a:spLocks noGrp="1"/>
          </p:cNvSpPr>
          <p:nvPr>
            <p:ph type="body" idx="1"/>
          </p:nvPr>
        </p:nvSpPr>
        <p:spPr>
          <a:xfrm>
            <a:off x="152400" y="955675"/>
            <a:ext cx="8839200" cy="5216525"/>
          </a:xfrm>
          <a:prstGeom prst="rect">
            <a:avLst/>
          </a:prstGeom>
          <a:noFill/>
          <a:ln>
            <a:noFill/>
          </a:ln>
        </p:spPr>
        <p:txBody>
          <a:bodyPr spcFirstLastPara="1" wrap="square" lIns="91425" tIns="45700" rIns="91425" bIns="45700" anchor="t" anchorCtr="0">
            <a:noAutofit/>
          </a:bodyPr>
          <a:lstStyle/>
          <a:p>
            <a:pPr marL="342900" lvl="0" indent="-342900" algn="just" rtl="0">
              <a:lnSpc>
                <a:spcPct val="150000"/>
              </a:lnSpc>
              <a:spcBef>
                <a:spcPts val="0"/>
              </a:spcBef>
              <a:spcAft>
                <a:spcPts val="0"/>
              </a:spcAft>
              <a:buClr>
                <a:srgbClr val="C00000"/>
              </a:buClr>
              <a:buSzPts val="2000"/>
              <a:buChar char="•"/>
            </a:pPr>
            <a:r>
              <a:rPr lang="en-US" sz="2000" b="1" i="1">
                <a:solidFill>
                  <a:srgbClr val="C00000"/>
                </a:solidFill>
              </a:rPr>
              <a:t>Requirements Elicitation: </a:t>
            </a:r>
            <a:r>
              <a:rPr lang="en-US" sz="2000">
                <a:solidFill>
                  <a:srgbClr val="333333"/>
                </a:solidFill>
              </a:rPr>
              <a:t>This is the process of gathering information about the needs and expectations of stakeholders for the software system. This step involves interviews, surveys, focus groups, and other techniques to gather information from stakeholders.</a:t>
            </a:r>
            <a:endParaRPr/>
          </a:p>
          <a:p>
            <a:pPr marL="342900" lvl="0" indent="-215900" algn="just" rtl="0">
              <a:lnSpc>
                <a:spcPct val="150000"/>
              </a:lnSpc>
              <a:spcBef>
                <a:spcPts val="400"/>
              </a:spcBef>
              <a:spcAft>
                <a:spcPts val="0"/>
              </a:spcAft>
              <a:buClr>
                <a:schemeClr val="dk1"/>
              </a:buClr>
              <a:buSzPts val="2000"/>
              <a:buNone/>
            </a:pPr>
            <a:endParaRPr sz="2000">
              <a:solidFill>
                <a:srgbClr val="333333"/>
              </a:solidFill>
            </a:endParaRPr>
          </a:p>
          <a:p>
            <a:pPr marL="342900" lvl="0" indent="-342900" algn="just" rtl="0">
              <a:lnSpc>
                <a:spcPct val="150000"/>
              </a:lnSpc>
              <a:spcBef>
                <a:spcPts val="400"/>
              </a:spcBef>
              <a:spcAft>
                <a:spcPts val="0"/>
              </a:spcAft>
              <a:buClr>
                <a:srgbClr val="C00000"/>
              </a:buClr>
              <a:buSzPts val="2000"/>
              <a:buChar char="•"/>
            </a:pPr>
            <a:r>
              <a:rPr lang="en-US" sz="2000" b="1" i="1">
                <a:solidFill>
                  <a:srgbClr val="C00000"/>
                </a:solidFill>
              </a:rPr>
              <a:t>Requirements Analysis: </a:t>
            </a:r>
            <a:r>
              <a:rPr lang="en-US" sz="2000">
                <a:solidFill>
                  <a:srgbClr val="333333"/>
                </a:solidFill>
              </a:rPr>
              <a:t>This step involves analyzing the information gathered in the requirements elicitation step to identify the high-level goals and objectives of the software system. It also involves identifying any constraints or limitations that may affect the development of the software system.</a:t>
            </a:r>
            <a:endParaRPr/>
          </a:p>
          <a:p>
            <a:pPr marL="0" lvl="0" indent="0" algn="just" rtl="0">
              <a:spcBef>
                <a:spcPts val="400"/>
              </a:spcBef>
              <a:spcAft>
                <a:spcPts val="0"/>
              </a:spcAft>
              <a:buClr>
                <a:schemeClr val="dk1"/>
              </a:buClr>
              <a:buSzPts val="2000"/>
              <a:buNone/>
            </a:pPr>
            <a:endParaRPr sz="2000" b="0" i="0">
              <a:solidFill>
                <a:srgbClr val="000000"/>
              </a:solidFill>
            </a:endParaRPr>
          </a:p>
        </p:txBody>
      </p:sp>
      <p:sp>
        <p:nvSpPr>
          <p:cNvPr id="149" name="Google Shape;149;p15"/>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15</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16"/>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z="2800" b="1">
                <a:latin typeface="Times"/>
                <a:ea typeface="Times"/>
                <a:cs typeface="Times"/>
                <a:sym typeface="Times"/>
              </a:rPr>
              <a:t>Requirement Elicitation and Analysis</a:t>
            </a:r>
            <a:endParaRPr/>
          </a:p>
        </p:txBody>
      </p:sp>
      <p:sp>
        <p:nvSpPr>
          <p:cNvPr id="155" name="Google Shape;155;p16"/>
          <p:cNvSpPr txBox="1">
            <a:spLocks noGrp="1"/>
          </p:cNvSpPr>
          <p:nvPr>
            <p:ph type="body" idx="1"/>
          </p:nvPr>
        </p:nvSpPr>
        <p:spPr>
          <a:xfrm>
            <a:off x="152400" y="955675"/>
            <a:ext cx="8839200" cy="5216525"/>
          </a:xfrm>
          <a:prstGeom prst="rect">
            <a:avLst/>
          </a:prstGeom>
          <a:noFill/>
          <a:ln>
            <a:noFill/>
          </a:ln>
        </p:spPr>
        <p:txBody>
          <a:bodyPr spcFirstLastPara="1" wrap="square" lIns="91425" tIns="45700" rIns="91425" bIns="45700" anchor="t" anchorCtr="0">
            <a:noAutofit/>
          </a:bodyPr>
          <a:lstStyle/>
          <a:p>
            <a:pPr marL="0" lvl="0" indent="0" algn="just" rtl="0">
              <a:spcBef>
                <a:spcPts val="0"/>
              </a:spcBef>
              <a:spcAft>
                <a:spcPts val="0"/>
              </a:spcAft>
              <a:buClr>
                <a:srgbClr val="273239"/>
              </a:buClr>
              <a:buSzPts val="2000"/>
              <a:buNone/>
            </a:pPr>
            <a:r>
              <a:rPr lang="en-US" sz="2000" b="0" i="0">
                <a:solidFill>
                  <a:srgbClr val="273239"/>
                </a:solidFill>
              </a:rPr>
              <a:t>There are several techniques that can be used to elicit requirements, including:</a:t>
            </a:r>
            <a:endParaRPr/>
          </a:p>
          <a:p>
            <a:pPr marL="342900" lvl="0" indent="-254000" algn="just" rtl="0">
              <a:spcBef>
                <a:spcPts val="280"/>
              </a:spcBef>
              <a:spcAft>
                <a:spcPts val="0"/>
              </a:spcAft>
              <a:buClr>
                <a:schemeClr val="dk1"/>
              </a:buClr>
              <a:buSzPts val="1400"/>
              <a:buNone/>
            </a:pPr>
            <a:endParaRPr sz="1400" b="0" i="0">
              <a:solidFill>
                <a:srgbClr val="273239"/>
              </a:solidFill>
            </a:endParaRPr>
          </a:p>
          <a:p>
            <a:pPr marL="342900" lvl="0" indent="-342900" algn="just" rtl="0">
              <a:spcBef>
                <a:spcPts val="400"/>
              </a:spcBef>
              <a:spcAft>
                <a:spcPts val="0"/>
              </a:spcAft>
              <a:buClr>
                <a:srgbClr val="C00000"/>
              </a:buClr>
              <a:buSzPts val="2000"/>
              <a:buFont typeface="Noto Sans Symbols"/>
              <a:buChar char="✔"/>
            </a:pPr>
            <a:r>
              <a:rPr lang="en-US" sz="2000" b="1" i="0">
                <a:solidFill>
                  <a:srgbClr val="C00000"/>
                </a:solidFill>
              </a:rPr>
              <a:t>Interviews</a:t>
            </a:r>
            <a:r>
              <a:rPr lang="en-US" sz="2000" b="0" i="0">
                <a:solidFill>
                  <a:srgbClr val="C00000"/>
                </a:solidFill>
              </a:rPr>
              <a:t>: </a:t>
            </a:r>
            <a:r>
              <a:rPr lang="en-US" sz="2000" b="0" i="0">
                <a:solidFill>
                  <a:srgbClr val="273239"/>
                </a:solidFill>
              </a:rPr>
              <a:t>These are one-on-one conversations with stakeholders to gather information about their needs and expectations.</a:t>
            </a:r>
            <a:endParaRPr/>
          </a:p>
          <a:p>
            <a:pPr marL="342900" lvl="0" indent="-254000" algn="just" rtl="0">
              <a:spcBef>
                <a:spcPts val="280"/>
              </a:spcBef>
              <a:spcAft>
                <a:spcPts val="0"/>
              </a:spcAft>
              <a:buClr>
                <a:schemeClr val="dk1"/>
              </a:buClr>
              <a:buSzPts val="1400"/>
              <a:buFont typeface="Arial"/>
              <a:buNone/>
            </a:pPr>
            <a:endParaRPr sz="1400" b="0" i="0">
              <a:solidFill>
                <a:srgbClr val="273239"/>
              </a:solidFill>
            </a:endParaRPr>
          </a:p>
          <a:p>
            <a:pPr marL="342900" lvl="0" indent="-342900" algn="just" rtl="0">
              <a:spcBef>
                <a:spcPts val="400"/>
              </a:spcBef>
              <a:spcAft>
                <a:spcPts val="0"/>
              </a:spcAft>
              <a:buClr>
                <a:srgbClr val="C00000"/>
              </a:buClr>
              <a:buSzPts val="2000"/>
              <a:buFont typeface="Noto Sans Symbols"/>
              <a:buChar char="✔"/>
            </a:pPr>
            <a:r>
              <a:rPr lang="en-US" sz="2000" b="1" i="0">
                <a:solidFill>
                  <a:srgbClr val="C00000"/>
                </a:solidFill>
              </a:rPr>
              <a:t>Surveys</a:t>
            </a:r>
            <a:r>
              <a:rPr lang="en-US" sz="2000" b="0" i="0">
                <a:solidFill>
                  <a:srgbClr val="C00000"/>
                </a:solidFill>
              </a:rPr>
              <a:t>: </a:t>
            </a:r>
            <a:r>
              <a:rPr lang="en-US" sz="2000" b="0" i="0">
                <a:solidFill>
                  <a:srgbClr val="273239"/>
                </a:solidFill>
              </a:rPr>
              <a:t>These are questionnaires that are distributed to stakeholders to gather information about their needs and expectations.</a:t>
            </a:r>
            <a:endParaRPr/>
          </a:p>
          <a:p>
            <a:pPr marL="342900" lvl="0" indent="-254000" algn="just" rtl="0">
              <a:spcBef>
                <a:spcPts val="280"/>
              </a:spcBef>
              <a:spcAft>
                <a:spcPts val="0"/>
              </a:spcAft>
              <a:buClr>
                <a:schemeClr val="dk1"/>
              </a:buClr>
              <a:buSzPts val="1400"/>
              <a:buFont typeface="Arial"/>
              <a:buNone/>
            </a:pPr>
            <a:endParaRPr sz="1400" b="0" i="0">
              <a:solidFill>
                <a:srgbClr val="273239"/>
              </a:solidFill>
            </a:endParaRPr>
          </a:p>
          <a:p>
            <a:pPr marL="342900" lvl="0" indent="-342900" algn="just" rtl="0">
              <a:spcBef>
                <a:spcPts val="400"/>
              </a:spcBef>
              <a:spcAft>
                <a:spcPts val="0"/>
              </a:spcAft>
              <a:buClr>
                <a:srgbClr val="C00000"/>
              </a:buClr>
              <a:buSzPts val="2000"/>
              <a:buFont typeface="Noto Sans Symbols"/>
              <a:buChar char="✔"/>
            </a:pPr>
            <a:r>
              <a:rPr lang="en-US" sz="2000" b="1" i="0">
                <a:solidFill>
                  <a:srgbClr val="C00000"/>
                </a:solidFill>
              </a:rPr>
              <a:t>Focus Groups</a:t>
            </a:r>
            <a:r>
              <a:rPr lang="en-US" sz="2000" b="0" i="0">
                <a:solidFill>
                  <a:srgbClr val="C00000"/>
                </a:solidFill>
              </a:rPr>
              <a:t>: </a:t>
            </a:r>
            <a:r>
              <a:rPr lang="en-US" sz="2000" b="0" i="0">
                <a:solidFill>
                  <a:srgbClr val="273239"/>
                </a:solidFill>
              </a:rPr>
              <a:t>These are small groups of stakeholders who are brought together to discuss their needs and expectations for the software system.</a:t>
            </a:r>
            <a:endParaRPr/>
          </a:p>
          <a:p>
            <a:pPr marL="342900" lvl="0" indent="-254000" algn="just" rtl="0">
              <a:spcBef>
                <a:spcPts val="280"/>
              </a:spcBef>
              <a:spcAft>
                <a:spcPts val="0"/>
              </a:spcAft>
              <a:buClr>
                <a:schemeClr val="dk1"/>
              </a:buClr>
              <a:buSzPts val="1400"/>
              <a:buFont typeface="Arial"/>
              <a:buNone/>
            </a:pPr>
            <a:endParaRPr sz="1400" b="0" i="0">
              <a:solidFill>
                <a:srgbClr val="273239"/>
              </a:solidFill>
            </a:endParaRPr>
          </a:p>
          <a:p>
            <a:pPr marL="342900" lvl="0" indent="-342900" algn="just" rtl="0">
              <a:spcBef>
                <a:spcPts val="400"/>
              </a:spcBef>
              <a:spcAft>
                <a:spcPts val="0"/>
              </a:spcAft>
              <a:buClr>
                <a:srgbClr val="C00000"/>
              </a:buClr>
              <a:buSzPts val="2000"/>
              <a:buFont typeface="Noto Sans Symbols"/>
              <a:buChar char="✔"/>
            </a:pPr>
            <a:r>
              <a:rPr lang="en-US" sz="2000" b="1" i="0">
                <a:solidFill>
                  <a:srgbClr val="C00000"/>
                </a:solidFill>
              </a:rPr>
              <a:t>Observation</a:t>
            </a:r>
            <a:r>
              <a:rPr lang="en-US" sz="2000" b="0" i="0">
                <a:solidFill>
                  <a:srgbClr val="C00000"/>
                </a:solidFill>
              </a:rPr>
              <a:t>: </a:t>
            </a:r>
            <a:r>
              <a:rPr lang="en-US" sz="2000" b="0" i="0">
                <a:solidFill>
                  <a:srgbClr val="273239"/>
                </a:solidFill>
              </a:rPr>
              <a:t>This technique involves observing the stakeholders in their work environment to gather information about their needs and expectations.</a:t>
            </a:r>
            <a:endParaRPr/>
          </a:p>
          <a:p>
            <a:pPr marL="342900" lvl="0" indent="-254000" algn="just" rtl="0">
              <a:spcBef>
                <a:spcPts val="280"/>
              </a:spcBef>
              <a:spcAft>
                <a:spcPts val="0"/>
              </a:spcAft>
              <a:buClr>
                <a:schemeClr val="dk1"/>
              </a:buClr>
              <a:buSzPts val="1400"/>
              <a:buFont typeface="Arial"/>
              <a:buNone/>
            </a:pPr>
            <a:endParaRPr sz="1400" b="0" i="0">
              <a:solidFill>
                <a:srgbClr val="273239"/>
              </a:solidFill>
            </a:endParaRPr>
          </a:p>
          <a:p>
            <a:pPr marL="342900" lvl="0" indent="-342900" algn="just" rtl="0">
              <a:spcBef>
                <a:spcPts val="400"/>
              </a:spcBef>
              <a:spcAft>
                <a:spcPts val="0"/>
              </a:spcAft>
              <a:buClr>
                <a:srgbClr val="C00000"/>
              </a:buClr>
              <a:buSzPts val="2000"/>
              <a:buFont typeface="Noto Sans Symbols"/>
              <a:buChar char="✔"/>
            </a:pPr>
            <a:r>
              <a:rPr lang="en-US" sz="2000" b="1" i="0">
                <a:solidFill>
                  <a:srgbClr val="C00000"/>
                </a:solidFill>
              </a:rPr>
              <a:t>Prototyping</a:t>
            </a:r>
            <a:r>
              <a:rPr lang="en-US" sz="2000" b="0" i="0">
                <a:solidFill>
                  <a:srgbClr val="C00000"/>
                </a:solidFill>
              </a:rPr>
              <a:t>: </a:t>
            </a:r>
            <a:r>
              <a:rPr lang="en-US" sz="2000" b="0" i="0">
                <a:solidFill>
                  <a:srgbClr val="273239"/>
                </a:solidFill>
              </a:rPr>
              <a:t>This technique involves creating a working model of the software system, which can be used to gather feedback from stakeholders and to validate requirements.</a:t>
            </a:r>
            <a:endParaRPr/>
          </a:p>
          <a:p>
            <a:pPr marL="0" lvl="0" indent="0" algn="just" rtl="0">
              <a:lnSpc>
                <a:spcPct val="150000"/>
              </a:lnSpc>
              <a:spcBef>
                <a:spcPts val="400"/>
              </a:spcBef>
              <a:spcAft>
                <a:spcPts val="0"/>
              </a:spcAft>
              <a:buClr>
                <a:schemeClr val="dk1"/>
              </a:buClr>
              <a:buSzPts val="2000"/>
              <a:buNone/>
            </a:pPr>
            <a:endParaRPr sz="2000">
              <a:solidFill>
                <a:srgbClr val="333333"/>
              </a:solidFill>
            </a:endParaRPr>
          </a:p>
          <a:p>
            <a:pPr marL="0" lvl="0" indent="0" algn="just" rtl="0">
              <a:spcBef>
                <a:spcPts val="400"/>
              </a:spcBef>
              <a:spcAft>
                <a:spcPts val="0"/>
              </a:spcAft>
              <a:buClr>
                <a:schemeClr val="dk1"/>
              </a:buClr>
              <a:buSzPts val="2000"/>
              <a:buNone/>
            </a:pPr>
            <a:endParaRPr sz="2000" b="0" i="0">
              <a:solidFill>
                <a:srgbClr val="000000"/>
              </a:solidFill>
            </a:endParaRPr>
          </a:p>
        </p:txBody>
      </p:sp>
      <p:sp>
        <p:nvSpPr>
          <p:cNvPr id="156" name="Google Shape;156;p16"/>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16</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17"/>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z="2800" b="1">
                <a:latin typeface="Times"/>
                <a:ea typeface="Times"/>
                <a:cs typeface="Times"/>
                <a:sym typeface="Times"/>
              </a:rPr>
              <a:t>Problems of Elicitation and Analysis</a:t>
            </a:r>
            <a:endParaRPr/>
          </a:p>
        </p:txBody>
      </p:sp>
      <p:sp>
        <p:nvSpPr>
          <p:cNvPr id="162" name="Google Shape;162;p17"/>
          <p:cNvSpPr txBox="1">
            <a:spLocks noGrp="1"/>
          </p:cNvSpPr>
          <p:nvPr>
            <p:ph type="body" idx="1"/>
          </p:nvPr>
        </p:nvSpPr>
        <p:spPr>
          <a:xfrm>
            <a:off x="152400" y="955675"/>
            <a:ext cx="8839200" cy="5216525"/>
          </a:xfrm>
          <a:prstGeom prst="rect">
            <a:avLst/>
          </a:prstGeom>
          <a:noFill/>
          <a:ln>
            <a:noFill/>
          </a:ln>
        </p:spPr>
        <p:txBody>
          <a:bodyPr spcFirstLastPara="1" wrap="square" lIns="91425" tIns="45700" rIns="91425" bIns="45700" anchor="t" anchorCtr="0">
            <a:noAutofit/>
          </a:bodyPr>
          <a:lstStyle/>
          <a:p>
            <a:pPr marL="342900" lvl="0" indent="-342900" algn="just" rtl="0">
              <a:lnSpc>
                <a:spcPct val="150000"/>
              </a:lnSpc>
              <a:spcBef>
                <a:spcPts val="0"/>
              </a:spcBef>
              <a:spcAft>
                <a:spcPts val="0"/>
              </a:spcAft>
              <a:buClr>
                <a:srgbClr val="000000"/>
              </a:buClr>
              <a:buSzPts val="2000"/>
              <a:buFont typeface="Arial"/>
              <a:buChar char="•"/>
            </a:pPr>
            <a:r>
              <a:rPr lang="en-US" sz="2000" b="0" i="0">
                <a:solidFill>
                  <a:srgbClr val="000000"/>
                </a:solidFill>
              </a:rPr>
              <a:t>Getting all, and only, the right people involved.</a:t>
            </a:r>
            <a:endParaRPr/>
          </a:p>
          <a:p>
            <a:pPr marL="342900" lvl="0" indent="-342900" algn="just" rtl="0">
              <a:lnSpc>
                <a:spcPct val="150000"/>
              </a:lnSpc>
              <a:spcBef>
                <a:spcPts val="400"/>
              </a:spcBef>
              <a:spcAft>
                <a:spcPts val="0"/>
              </a:spcAft>
              <a:buClr>
                <a:srgbClr val="000000"/>
              </a:buClr>
              <a:buSzPts val="2000"/>
              <a:buFont typeface="Arial"/>
              <a:buChar char="•"/>
            </a:pPr>
            <a:r>
              <a:rPr lang="en-US" sz="2000" b="0" i="0">
                <a:solidFill>
                  <a:srgbClr val="000000"/>
                </a:solidFill>
              </a:rPr>
              <a:t>Stakeholders often don't know what they want</a:t>
            </a:r>
            <a:endParaRPr/>
          </a:p>
          <a:p>
            <a:pPr marL="342900" lvl="0" indent="-342900" algn="just" rtl="0">
              <a:lnSpc>
                <a:spcPct val="150000"/>
              </a:lnSpc>
              <a:spcBef>
                <a:spcPts val="400"/>
              </a:spcBef>
              <a:spcAft>
                <a:spcPts val="0"/>
              </a:spcAft>
              <a:buClr>
                <a:srgbClr val="000000"/>
              </a:buClr>
              <a:buSzPts val="2000"/>
              <a:buFont typeface="Arial"/>
              <a:buChar char="•"/>
            </a:pPr>
            <a:r>
              <a:rPr lang="en-US" sz="2000" b="0" i="0">
                <a:solidFill>
                  <a:srgbClr val="000000"/>
                </a:solidFill>
              </a:rPr>
              <a:t>Stakeholders express requirements in their terms.</a:t>
            </a:r>
            <a:endParaRPr/>
          </a:p>
          <a:p>
            <a:pPr marL="342900" lvl="0" indent="-342900" algn="just" rtl="0">
              <a:lnSpc>
                <a:spcPct val="150000"/>
              </a:lnSpc>
              <a:spcBef>
                <a:spcPts val="400"/>
              </a:spcBef>
              <a:spcAft>
                <a:spcPts val="0"/>
              </a:spcAft>
              <a:buClr>
                <a:srgbClr val="000000"/>
              </a:buClr>
              <a:buSzPts val="2000"/>
              <a:buFont typeface="Arial"/>
              <a:buChar char="•"/>
            </a:pPr>
            <a:r>
              <a:rPr lang="en-US" sz="2000" b="0" i="0">
                <a:solidFill>
                  <a:srgbClr val="000000"/>
                </a:solidFill>
              </a:rPr>
              <a:t>Stakeholders may have conflicting requirements.</a:t>
            </a:r>
            <a:endParaRPr/>
          </a:p>
          <a:p>
            <a:pPr marL="342900" lvl="0" indent="-342900" algn="just" rtl="0">
              <a:lnSpc>
                <a:spcPct val="150000"/>
              </a:lnSpc>
              <a:spcBef>
                <a:spcPts val="400"/>
              </a:spcBef>
              <a:spcAft>
                <a:spcPts val="0"/>
              </a:spcAft>
              <a:buClr>
                <a:srgbClr val="000000"/>
              </a:buClr>
              <a:buSzPts val="2000"/>
              <a:buFont typeface="Arial"/>
              <a:buChar char="•"/>
            </a:pPr>
            <a:r>
              <a:rPr lang="en-US" sz="2000" b="0" i="0">
                <a:solidFill>
                  <a:srgbClr val="000000"/>
                </a:solidFill>
              </a:rPr>
              <a:t>Requirement change during the analysis process.</a:t>
            </a:r>
            <a:endParaRPr/>
          </a:p>
          <a:p>
            <a:pPr marL="342900" lvl="0" indent="-342900" algn="just" rtl="0">
              <a:lnSpc>
                <a:spcPct val="150000"/>
              </a:lnSpc>
              <a:spcBef>
                <a:spcPts val="400"/>
              </a:spcBef>
              <a:spcAft>
                <a:spcPts val="0"/>
              </a:spcAft>
              <a:buClr>
                <a:srgbClr val="000000"/>
              </a:buClr>
              <a:buSzPts val="2000"/>
              <a:buFont typeface="Arial"/>
              <a:buChar char="•"/>
            </a:pPr>
            <a:r>
              <a:rPr lang="en-US" sz="2000" b="0" i="0">
                <a:solidFill>
                  <a:srgbClr val="000000"/>
                </a:solidFill>
              </a:rPr>
              <a:t>Organizational and political factors may influence system requirements.</a:t>
            </a:r>
            <a:endParaRPr/>
          </a:p>
          <a:p>
            <a:pPr marL="0" lvl="0" indent="0" algn="just" rtl="0">
              <a:lnSpc>
                <a:spcPct val="150000"/>
              </a:lnSpc>
              <a:spcBef>
                <a:spcPts val="400"/>
              </a:spcBef>
              <a:spcAft>
                <a:spcPts val="0"/>
              </a:spcAft>
              <a:buClr>
                <a:schemeClr val="dk1"/>
              </a:buClr>
              <a:buSzPts val="2000"/>
              <a:buNone/>
            </a:pPr>
            <a:endParaRPr sz="2000">
              <a:solidFill>
                <a:srgbClr val="333333"/>
              </a:solidFill>
            </a:endParaRPr>
          </a:p>
          <a:p>
            <a:pPr marL="0" lvl="0" indent="0" algn="just" rtl="0">
              <a:spcBef>
                <a:spcPts val="400"/>
              </a:spcBef>
              <a:spcAft>
                <a:spcPts val="0"/>
              </a:spcAft>
              <a:buClr>
                <a:schemeClr val="dk1"/>
              </a:buClr>
              <a:buSzPts val="2000"/>
              <a:buNone/>
            </a:pPr>
            <a:endParaRPr sz="2000" b="0" i="0">
              <a:solidFill>
                <a:srgbClr val="000000"/>
              </a:solidFill>
            </a:endParaRPr>
          </a:p>
        </p:txBody>
      </p:sp>
      <p:sp>
        <p:nvSpPr>
          <p:cNvPr id="163" name="Google Shape;163;p17"/>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17</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18"/>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z="2800" b="1">
                <a:latin typeface="Times"/>
                <a:ea typeface="Times"/>
                <a:cs typeface="Times"/>
                <a:sym typeface="Times"/>
              </a:rPr>
              <a:t>Software Requirement Specification (SRS)</a:t>
            </a:r>
            <a:endParaRPr/>
          </a:p>
        </p:txBody>
      </p:sp>
      <p:sp>
        <p:nvSpPr>
          <p:cNvPr id="169" name="Google Shape;169;p18"/>
          <p:cNvSpPr txBox="1">
            <a:spLocks noGrp="1"/>
          </p:cNvSpPr>
          <p:nvPr>
            <p:ph type="body" idx="1"/>
          </p:nvPr>
        </p:nvSpPr>
        <p:spPr>
          <a:xfrm>
            <a:off x="152400" y="914400"/>
            <a:ext cx="8839200" cy="5216525"/>
          </a:xfrm>
          <a:prstGeom prst="rect">
            <a:avLst/>
          </a:prstGeom>
          <a:noFill/>
          <a:ln>
            <a:noFill/>
          </a:ln>
        </p:spPr>
        <p:txBody>
          <a:bodyPr spcFirstLastPara="1" wrap="square" lIns="91425" tIns="45700" rIns="91425" bIns="45700" anchor="t" anchorCtr="0">
            <a:noAutofit/>
          </a:bodyPr>
          <a:lstStyle/>
          <a:p>
            <a:pPr marL="342900" lvl="0" indent="-342900" algn="just" rtl="0">
              <a:lnSpc>
                <a:spcPct val="150000"/>
              </a:lnSpc>
              <a:spcBef>
                <a:spcPts val="0"/>
              </a:spcBef>
              <a:spcAft>
                <a:spcPts val="0"/>
              </a:spcAft>
              <a:buClr>
                <a:srgbClr val="C00000"/>
              </a:buClr>
              <a:buSzPts val="2000"/>
              <a:buChar char="•"/>
            </a:pPr>
            <a:r>
              <a:rPr lang="en-US" sz="2000" b="0" i="1">
                <a:solidFill>
                  <a:srgbClr val="C00000"/>
                </a:solidFill>
              </a:rPr>
              <a:t>Software requirement specification </a:t>
            </a:r>
            <a:r>
              <a:rPr lang="en-US" sz="2000" b="0" i="0">
                <a:solidFill>
                  <a:srgbClr val="333333"/>
                </a:solidFill>
              </a:rPr>
              <a:t>is a kind of document which is created by a software analyst after the requirements are collected from the various sources - the requirement received by the customer written in ordinary language. </a:t>
            </a:r>
            <a:endParaRPr/>
          </a:p>
          <a:p>
            <a:pPr marL="342900" lvl="0" indent="-342900" algn="just" rtl="0">
              <a:lnSpc>
                <a:spcPct val="150000"/>
              </a:lnSpc>
              <a:spcBef>
                <a:spcPts val="400"/>
              </a:spcBef>
              <a:spcAft>
                <a:spcPts val="0"/>
              </a:spcAft>
              <a:buClr>
                <a:srgbClr val="333333"/>
              </a:buClr>
              <a:buSzPts val="2000"/>
              <a:buChar char="•"/>
            </a:pPr>
            <a:r>
              <a:rPr lang="en-US" sz="2000" b="0" i="0">
                <a:solidFill>
                  <a:srgbClr val="333333"/>
                </a:solidFill>
              </a:rPr>
              <a:t>It is the job of the analyst to write the requirement in technical language so that they can be understood and beneficial by the development team.</a:t>
            </a:r>
            <a:endParaRPr/>
          </a:p>
          <a:p>
            <a:pPr marL="342900" lvl="0" indent="-342900" algn="l" rtl="0">
              <a:lnSpc>
                <a:spcPct val="150000"/>
              </a:lnSpc>
              <a:spcBef>
                <a:spcPts val="400"/>
              </a:spcBef>
              <a:spcAft>
                <a:spcPts val="0"/>
              </a:spcAft>
              <a:buClr>
                <a:srgbClr val="333333"/>
              </a:buClr>
              <a:buSzPts val="2000"/>
              <a:buChar char="•"/>
            </a:pPr>
            <a:r>
              <a:rPr lang="en-US" sz="2000" b="0" i="0">
                <a:solidFill>
                  <a:srgbClr val="333333"/>
                </a:solidFill>
              </a:rPr>
              <a:t>The models used at this stage include Entity-Relationship (ER) diagrams, data flow diagrams (DFDs), function decomposition diagrams (FDDs), data dictionaries.</a:t>
            </a:r>
            <a:endParaRPr sz="2000">
              <a:solidFill>
                <a:srgbClr val="333333"/>
              </a:solidFill>
            </a:endParaRPr>
          </a:p>
          <a:p>
            <a:pPr marL="0" lvl="0" indent="0" algn="just" rtl="0">
              <a:lnSpc>
                <a:spcPct val="150000"/>
              </a:lnSpc>
              <a:spcBef>
                <a:spcPts val="400"/>
              </a:spcBef>
              <a:spcAft>
                <a:spcPts val="0"/>
              </a:spcAft>
              <a:buClr>
                <a:schemeClr val="dk1"/>
              </a:buClr>
              <a:buSzPts val="2000"/>
              <a:buNone/>
            </a:pPr>
            <a:endParaRPr sz="2000" b="0" i="0">
              <a:solidFill>
                <a:srgbClr val="000000"/>
              </a:solidFill>
            </a:endParaRPr>
          </a:p>
        </p:txBody>
      </p:sp>
      <p:sp>
        <p:nvSpPr>
          <p:cNvPr id="170" name="Google Shape;170;p18"/>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18</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19"/>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z="2800" b="1">
                <a:latin typeface="Times"/>
                <a:ea typeface="Times"/>
                <a:cs typeface="Times"/>
                <a:sym typeface="Times"/>
              </a:rPr>
              <a:t>Software Requirement Specification (SRS)</a:t>
            </a:r>
            <a:endParaRPr/>
          </a:p>
        </p:txBody>
      </p:sp>
      <p:sp>
        <p:nvSpPr>
          <p:cNvPr id="176" name="Google Shape;176;p19"/>
          <p:cNvSpPr txBox="1">
            <a:spLocks noGrp="1"/>
          </p:cNvSpPr>
          <p:nvPr>
            <p:ph type="body" idx="1"/>
          </p:nvPr>
        </p:nvSpPr>
        <p:spPr>
          <a:xfrm>
            <a:off x="152400" y="955675"/>
            <a:ext cx="8839200" cy="5216525"/>
          </a:xfrm>
          <a:prstGeom prst="rect">
            <a:avLst/>
          </a:prstGeom>
          <a:noFill/>
          <a:ln>
            <a:noFill/>
          </a:ln>
        </p:spPr>
        <p:txBody>
          <a:bodyPr spcFirstLastPara="1" wrap="square" lIns="91425" tIns="45700" rIns="91425" bIns="45700" anchor="t" anchorCtr="0">
            <a:noAutofit/>
          </a:bodyPr>
          <a:lstStyle/>
          <a:p>
            <a:pPr marL="0" lvl="0" indent="0" algn="just" rtl="0">
              <a:lnSpc>
                <a:spcPct val="150000"/>
              </a:lnSpc>
              <a:spcBef>
                <a:spcPts val="0"/>
              </a:spcBef>
              <a:spcAft>
                <a:spcPts val="0"/>
              </a:spcAft>
              <a:buClr>
                <a:srgbClr val="C00000"/>
              </a:buClr>
              <a:buSzPts val="2000"/>
              <a:buNone/>
            </a:pPr>
            <a:r>
              <a:rPr lang="en-US" sz="2000" b="1" i="0">
                <a:solidFill>
                  <a:srgbClr val="C00000"/>
                </a:solidFill>
              </a:rPr>
              <a:t>1. Data Flow Diagrams (DFDs):</a:t>
            </a:r>
            <a:r>
              <a:rPr lang="en-US" sz="2000" b="0" i="0">
                <a:solidFill>
                  <a:srgbClr val="C00000"/>
                </a:solidFill>
              </a:rPr>
              <a:t> </a:t>
            </a:r>
            <a:endParaRPr/>
          </a:p>
          <a:p>
            <a:pPr marL="342900" lvl="0" indent="-342900" algn="just" rtl="0">
              <a:lnSpc>
                <a:spcPct val="150000"/>
              </a:lnSpc>
              <a:spcBef>
                <a:spcPts val="400"/>
              </a:spcBef>
              <a:spcAft>
                <a:spcPts val="0"/>
              </a:spcAft>
              <a:buClr>
                <a:srgbClr val="000000"/>
              </a:buClr>
              <a:buSzPts val="2000"/>
              <a:buFont typeface="Arial"/>
              <a:buChar char="•"/>
            </a:pPr>
            <a:r>
              <a:rPr lang="en-US" sz="2000" b="0" i="0">
                <a:solidFill>
                  <a:srgbClr val="000000"/>
                </a:solidFill>
              </a:rPr>
              <a:t>They are used widely for modeling the requirements. </a:t>
            </a:r>
            <a:endParaRPr/>
          </a:p>
          <a:p>
            <a:pPr marL="342900" lvl="0" indent="-342900" algn="just" rtl="0">
              <a:lnSpc>
                <a:spcPct val="150000"/>
              </a:lnSpc>
              <a:spcBef>
                <a:spcPts val="400"/>
              </a:spcBef>
              <a:spcAft>
                <a:spcPts val="0"/>
              </a:spcAft>
              <a:buClr>
                <a:srgbClr val="000000"/>
              </a:buClr>
              <a:buSzPts val="2000"/>
              <a:buFont typeface="Arial"/>
              <a:buChar char="•"/>
            </a:pPr>
            <a:r>
              <a:rPr lang="en-US" sz="2000" b="0" i="0">
                <a:solidFill>
                  <a:srgbClr val="000000"/>
                </a:solidFill>
              </a:rPr>
              <a:t>DFD shows the flow of data through a system. </a:t>
            </a:r>
            <a:endParaRPr/>
          </a:p>
          <a:p>
            <a:pPr marL="342900" lvl="0" indent="-342900" algn="just" rtl="0">
              <a:lnSpc>
                <a:spcPct val="150000"/>
              </a:lnSpc>
              <a:spcBef>
                <a:spcPts val="400"/>
              </a:spcBef>
              <a:spcAft>
                <a:spcPts val="0"/>
              </a:spcAft>
              <a:buClr>
                <a:srgbClr val="000000"/>
              </a:buClr>
              <a:buSzPts val="2000"/>
              <a:buFont typeface="Arial"/>
              <a:buChar char="•"/>
            </a:pPr>
            <a:r>
              <a:rPr lang="en-US" sz="2000" b="0" i="0">
                <a:solidFill>
                  <a:srgbClr val="000000"/>
                </a:solidFill>
              </a:rPr>
              <a:t>The system may be a company, an organization, a set of procedures, a computer hardware system, a software system, or any combination of the preceding. </a:t>
            </a:r>
            <a:endParaRPr/>
          </a:p>
          <a:p>
            <a:pPr marL="342900" lvl="0" indent="-342900" algn="just" rtl="0">
              <a:lnSpc>
                <a:spcPct val="150000"/>
              </a:lnSpc>
              <a:spcBef>
                <a:spcPts val="400"/>
              </a:spcBef>
              <a:spcAft>
                <a:spcPts val="0"/>
              </a:spcAft>
              <a:buClr>
                <a:srgbClr val="000000"/>
              </a:buClr>
              <a:buSzPts val="2000"/>
              <a:buFont typeface="Arial"/>
              <a:buChar char="•"/>
            </a:pPr>
            <a:r>
              <a:rPr lang="en-US" sz="2000" b="0" i="0">
                <a:solidFill>
                  <a:srgbClr val="000000"/>
                </a:solidFill>
              </a:rPr>
              <a:t>The DFD is also known as a data flow graph or bubble chart.</a:t>
            </a:r>
            <a:endParaRPr/>
          </a:p>
          <a:p>
            <a:pPr marL="0" lvl="0" indent="0" algn="just" rtl="0">
              <a:lnSpc>
                <a:spcPct val="150000"/>
              </a:lnSpc>
              <a:spcBef>
                <a:spcPts val="400"/>
              </a:spcBef>
              <a:spcAft>
                <a:spcPts val="0"/>
              </a:spcAft>
              <a:buClr>
                <a:schemeClr val="dk1"/>
              </a:buClr>
              <a:buSzPts val="2000"/>
              <a:buNone/>
            </a:pPr>
            <a:endParaRPr sz="2000" b="0" i="0">
              <a:solidFill>
                <a:srgbClr val="000000"/>
              </a:solidFill>
            </a:endParaRPr>
          </a:p>
          <a:p>
            <a:pPr marL="0" lvl="0" indent="0" algn="just" rtl="0">
              <a:spcBef>
                <a:spcPts val="400"/>
              </a:spcBef>
              <a:spcAft>
                <a:spcPts val="0"/>
              </a:spcAft>
              <a:buClr>
                <a:schemeClr val="dk1"/>
              </a:buClr>
              <a:buSzPts val="2000"/>
              <a:buNone/>
            </a:pPr>
            <a:endParaRPr sz="2000" b="0" i="0">
              <a:solidFill>
                <a:srgbClr val="000000"/>
              </a:solidFill>
            </a:endParaRPr>
          </a:p>
        </p:txBody>
      </p:sp>
      <p:sp>
        <p:nvSpPr>
          <p:cNvPr id="177" name="Google Shape;177;p19"/>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19</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20"/>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z="2800" b="1">
                <a:latin typeface="Times"/>
                <a:ea typeface="Times"/>
                <a:cs typeface="Times"/>
                <a:sym typeface="Times"/>
              </a:rPr>
              <a:t>Software Requirement Specification (SRS)</a:t>
            </a:r>
            <a:endParaRPr/>
          </a:p>
        </p:txBody>
      </p:sp>
      <p:sp>
        <p:nvSpPr>
          <p:cNvPr id="183" name="Google Shape;183;p20"/>
          <p:cNvSpPr txBox="1">
            <a:spLocks noGrp="1"/>
          </p:cNvSpPr>
          <p:nvPr>
            <p:ph type="body" idx="1"/>
          </p:nvPr>
        </p:nvSpPr>
        <p:spPr>
          <a:xfrm>
            <a:off x="152400" y="955675"/>
            <a:ext cx="8839200" cy="5216525"/>
          </a:xfrm>
          <a:prstGeom prst="rect">
            <a:avLst/>
          </a:prstGeom>
          <a:noFill/>
          <a:ln>
            <a:noFill/>
          </a:ln>
        </p:spPr>
        <p:txBody>
          <a:bodyPr spcFirstLastPara="1" wrap="square" lIns="91425" tIns="45700" rIns="91425" bIns="45700" anchor="t" anchorCtr="0">
            <a:noAutofit/>
          </a:bodyPr>
          <a:lstStyle/>
          <a:p>
            <a:pPr marL="0" lvl="0" indent="0" algn="just" rtl="0">
              <a:lnSpc>
                <a:spcPct val="150000"/>
              </a:lnSpc>
              <a:spcBef>
                <a:spcPts val="0"/>
              </a:spcBef>
              <a:spcAft>
                <a:spcPts val="0"/>
              </a:spcAft>
              <a:buClr>
                <a:srgbClr val="C00000"/>
              </a:buClr>
              <a:buSzPts val="2000"/>
              <a:buNone/>
            </a:pPr>
            <a:r>
              <a:rPr lang="en-US" sz="2000" b="1" i="0">
                <a:solidFill>
                  <a:srgbClr val="C00000"/>
                </a:solidFill>
              </a:rPr>
              <a:t>2. Data Dictionaries:</a:t>
            </a:r>
            <a:r>
              <a:rPr lang="en-US" sz="2000" b="0" i="0">
                <a:solidFill>
                  <a:srgbClr val="C00000"/>
                </a:solidFill>
              </a:rPr>
              <a:t> </a:t>
            </a:r>
            <a:endParaRPr/>
          </a:p>
          <a:p>
            <a:pPr marL="342900" lvl="0" indent="-342900" algn="just" rtl="0">
              <a:lnSpc>
                <a:spcPct val="150000"/>
              </a:lnSpc>
              <a:spcBef>
                <a:spcPts val="400"/>
              </a:spcBef>
              <a:spcAft>
                <a:spcPts val="0"/>
              </a:spcAft>
              <a:buClr>
                <a:srgbClr val="000000"/>
              </a:buClr>
              <a:buSzPts val="2000"/>
              <a:buChar char="•"/>
            </a:pPr>
            <a:r>
              <a:rPr lang="en-US" sz="2000" b="0" i="0">
                <a:solidFill>
                  <a:srgbClr val="000000"/>
                </a:solidFill>
              </a:rPr>
              <a:t>They are simply repositories to store information about all data items defined in DFDs. </a:t>
            </a:r>
            <a:endParaRPr/>
          </a:p>
          <a:p>
            <a:pPr marL="342900" lvl="0" indent="-342900" algn="just" rtl="0">
              <a:lnSpc>
                <a:spcPct val="150000"/>
              </a:lnSpc>
              <a:spcBef>
                <a:spcPts val="400"/>
              </a:spcBef>
              <a:spcAft>
                <a:spcPts val="0"/>
              </a:spcAft>
              <a:buClr>
                <a:srgbClr val="000000"/>
              </a:buClr>
              <a:buSzPts val="2000"/>
              <a:buChar char="•"/>
            </a:pPr>
            <a:r>
              <a:rPr lang="en-US" sz="2000" b="0" i="0">
                <a:solidFill>
                  <a:srgbClr val="000000"/>
                </a:solidFill>
              </a:rPr>
              <a:t>At the requirements stage, the data dictionary should at least define customer data items, to ensure that the customer and developers use the same definition and terminologies.</a:t>
            </a:r>
            <a:endParaRPr/>
          </a:p>
          <a:p>
            <a:pPr marL="0" lvl="0" indent="0" algn="just" rtl="0">
              <a:lnSpc>
                <a:spcPct val="150000"/>
              </a:lnSpc>
              <a:spcBef>
                <a:spcPts val="400"/>
              </a:spcBef>
              <a:spcAft>
                <a:spcPts val="0"/>
              </a:spcAft>
              <a:buClr>
                <a:schemeClr val="dk1"/>
              </a:buClr>
              <a:buSzPts val="2000"/>
              <a:buNone/>
            </a:pPr>
            <a:endParaRPr sz="2000" b="0" i="0">
              <a:solidFill>
                <a:srgbClr val="000000"/>
              </a:solidFill>
            </a:endParaRPr>
          </a:p>
          <a:p>
            <a:pPr marL="0" lvl="0" indent="0" algn="just" rtl="0">
              <a:spcBef>
                <a:spcPts val="400"/>
              </a:spcBef>
              <a:spcAft>
                <a:spcPts val="0"/>
              </a:spcAft>
              <a:buClr>
                <a:schemeClr val="dk1"/>
              </a:buClr>
              <a:buSzPts val="2000"/>
              <a:buNone/>
            </a:pPr>
            <a:endParaRPr sz="2000" b="0" i="0">
              <a:solidFill>
                <a:srgbClr val="000000"/>
              </a:solidFill>
            </a:endParaRPr>
          </a:p>
        </p:txBody>
      </p:sp>
      <p:sp>
        <p:nvSpPr>
          <p:cNvPr id="184" name="Google Shape;184;p20"/>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20</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21"/>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z="2800" b="1">
                <a:latin typeface="Times"/>
                <a:ea typeface="Times"/>
                <a:cs typeface="Times"/>
                <a:sym typeface="Times"/>
              </a:rPr>
              <a:t>Software Requirement Specification (SRS)</a:t>
            </a:r>
            <a:endParaRPr/>
          </a:p>
        </p:txBody>
      </p:sp>
      <p:sp>
        <p:nvSpPr>
          <p:cNvPr id="190" name="Google Shape;190;p21"/>
          <p:cNvSpPr txBox="1">
            <a:spLocks noGrp="1"/>
          </p:cNvSpPr>
          <p:nvPr>
            <p:ph type="body" idx="1"/>
          </p:nvPr>
        </p:nvSpPr>
        <p:spPr>
          <a:xfrm>
            <a:off x="152400" y="955675"/>
            <a:ext cx="8839200" cy="5216525"/>
          </a:xfrm>
          <a:prstGeom prst="rect">
            <a:avLst/>
          </a:prstGeom>
          <a:noFill/>
          <a:ln>
            <a:noFill/>
          </a:ln>
        </p:spPr>
        <p:txBody>
          <a:bodyPr spcFirstLastPara="1" wrap="square" lIns="91425" tIns="45700" rIns="91425" bIns="45700" anchor="t" anchorCtr="0">
            <a:noAutofit/>
          </a:bodyPr>
          <a:lstStyle/>
          <a:p>
            <a:pPr marL="0" lvl="0" indent="0" algn="just" rtl="0">
              <a:lnSpc>
                <a:spcPct val="150000"/>
              </a:lnSpc>
              <a:spcBef>
                <a:spcPts val="0"/>
              </a:spcBef>
              <a:spcAft>
                <a:spcPts val="0"/>
              </a:spcAft>
              <a:buClr>
                <a:srgbClr val="C00000"/>
              </a:buClr>
              <a:buSzPts val="2000"/>
              <a:buNone/>
            </a:pPr>
            <a:r>
              <a:rPr lang="en-US" sz="2000" b="1">
                <a:solidFill>
                  <a:srgbClr val="C00000"/>
                </a:solidFill>
              </a:rPr>
              <a:t>3. </a:t>
            </a:r>
            <a:r>
              <a:rPr lang="en-US" sz="2000" b="1" i="0">
                <a:solidFill>
                  <a:srgbClr val="C00000"/>
                </a:solidFill>
              </a:rPr>
              <a:t>Entity-Relationship Diagrams: </a:t>
            </a:r>
            <a:endParaRPr/>
          </a:p>
          <a:p>
            <a:pPr marL="342900" lvl="0" indent="-342900" algn="just" rtl="0">
              <a:lnSpc>
                <a:spcPct val="150000"/>
              </a:lnSpc>
              <a:spcBef>
                <a:spcPts val="400"/>
              </a:spcBef>
              <a:spcAft>
                <a:spcPts val="0"/>
              </a:spcAft>
              <a:buClr>
                <a:srgbClr val="000000"/>
              </a:buClr>
              <a:buSzPts val="2000"/>
              <a:buChar char="•"/>
            </a:pPr>
            <a:r>
              <a:rPr lang="en-US" sz="2000" b="0" i="0">
                <a:solidFill>
                  <a:srgbClr val="000000"/>
                </a:solidFill>
              </a:rPr>
              <a:t>Another tool for requirement specification is the entity-relationship diagram, often called an "</a:t>
            </a:r>
            <a:r>
              <a:rPr lang="en-US" sz="2000" b="1" i="1">
                <a:solidFill>
                  <a:srgbClr val="000000"/>
                </a:solidFill>
              </a:rPr>
              <a:t>E-R diagram</a:t>
            </a:r>
            <a:r>
              <a:rPr lang="en-US" sz="2000" b="0" i="0">
                <a:solidFill>
                  <a:srgbClr val="000000"/>
                </a:solidFill>
              </a:rPr>
              <a:t>." </a:t>
            </a:r>
            <a:endParaRPr/>
          </a:p>
          <a:p>
            <a:pPr marL="342900" lvl="0" indent="-342900" algn="just" rtl="0">
              <a:lnSpc>
                <a:spcPct val="150000"/>
              </a:lnSpc>
              <a:spcBef>
                <a:spcPts val="400"/>
              </a:spcBef>
              <a:spcAft>
                <a:spcPts val="0"/>
              </a:spcAft>
              <a:buClr>
                <a:srgbClr val="000000"/>
              </a:buClr>
              <a:buSzPts val="2000"/>
              <a:buChar char="•"/>
            </a:pPr>
            <a:r>
              <a:rPr lang="en-US" sz="2000" b="0" i="0">
                <a:solidFill>
                  <a:srgbClr val="000000"/>
                </a:solidFill>
              </a:rPr>
              <a:t>It is a detailed logical representation of the data for the organization and uses three main constructs i.e. data entities, relationships, and their associated attributes.</a:t>
            </a:r>
            <a:endParaRPr/>
          </a:p>
          <a:p>
            <a:pPr marL="0" lvl="0" indent="0" algn="just" rtl="0">
              <a:spcBef>
                <a:spcPts val="400"/>
              </a:spcBef>
              <a:spcAft>
                <a:spcPts val="0"/>
              </a:spcAft>
              <a:buClr>
                <a:schemeClr val="dk1"/>
              </a:buClr>
              <a:buSzPts val="2000"/>
              <a:buNone/>
            </a:pPr>
            <a:endParaRPr sz="2000" b="0" i="0">
              <a:solidFill>
                <a:srgbClr val="000000"/>
              </a:solidFill>
            </a:endParaRPr>
          </a:p>
        </p:txBody>
      </p:sp>
      <p:sp>
        <p:nvSpPr>
          <p:cNvPr id="191" name="Google Shape;191;p21"/>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21</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p22"/>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z="2800" b="1">
                <a:latin typeface="Times"/>
                <a:ea typeface="Times"/>
                <a:cs typeface="Times"/>
                <a:sym typeface="Times"/>
              </a:rPr>
              <a:t>Features of SRS</a:t>
            </a:r>
            <a:endParaRPr/>
          </a:p>
        </p:txBody>
      </p:sp>
      <p:sp>
        <p:nvSpPr>
          <p:cNvPr id="197" name="Google Shape;197;p22"/>
          <p:cNvSpPr txBox="1">
            <a:spLocks noGrp="1"/>
          </p:cNvSpPr>
          <p:nvPr>
            <p:ph type="body" idx="1"/>
          </p:nvPr>
        </p:nvSpPr>
        <p:spPr>
          <a:xfrm>
            <a:off x="152400" y="955675"/>
            <a:ext cx="8839200" cy="5216525"/>
          </a:xfrm>
          <a:prstGeom prst="rect">
            <a:avLst/>
          </a:prstGeom>
          <a:noFill/>
          <a:ln>
            <a:noFill/>
          </a:ln>
        </p:spPr>
        <p:txBody>
          <a:bodyPr spcFirstLastPara="1" wrap="square" lIns="91425" tIns="45700" rIns="91425" bIns="45700" anchor="t" anchorCtr="0">
            <a:noAutofit/>
          </a:bodyPr>
          <a:lstStyle/>
          <a:p>
            <a:pPr marL="0" lvl="0" indent="0" algn="just" rtl="0">
              <a:lnSpc>
                <a:spcPct val="150000"/>
              </a:lnSpc>
              <a:spcBef>
                <a:spcPts val="0"/>
              </a:spcBef>
              <a:spcAft>
                <a:spcPts val="0"/>
              </a:spcAft>
              <a:buClr>
                <a:schemeClr val="dk1"/>
              </a:buClr>
              <a:buSzPts val="600"/>
              <a:buNone/>
            </a:pPr>
            <a:endParaRPr sz="600" b="0" i="0">
              <a:solidFill>
                <a:srgbClr val="000000"/>
              </a:solidFill>
            </a:endParaRPr>
          </a:p>
          <a:p>
            <a:pPr marL="342900" lvl="0" indent="-342900" algn="l" rtl="0">
              <a:lnSpc>
                <a:spcPct val="150000"/>
              </a:lnSpc>
              <a:spcBef>
                <a:spcPts val="400"/>
              </a:spcBef>
              <a:spcAft>
                <a:spcPts val="0"/>
              </a:spcAft>
              <a:buClr>
                <a:srgbClr val="000000"/>
              </a:buClr>
              <a:buSzPts val="2000"/>
              <a:buFont typeface="Arial"/>
              <a:buChar char="•"/>
            </a:pPr>
            <a:r>
              <a:rPr lang="en-US" sz="2000" b="0" i="0">
                <a:solidFill>
                  <a:srgbClr val="000000"/>
                </a:solidFill>
              </a:rPr>
              <a:t>User Requirements are expressed in natural language.</a:t>
            </a:r>
            <a:endParaRPr/>
          </a:p>
          <a:p>
            <a:pPr marL="342900" lvl="0" indent="-342900" algn="l" rtl="0">
              <a:lnSpc>
                <a:spcPct val="150000"/>
              </a:lnSpc>
              <a:spcBef>
                <a:spcPts val="400"/>
              </a:spcBef>
              <a:spcAft>
                <a:spcPts val="0"/>
              </a:spcAft>
              <a:buClr>
                <a:srgbClr val="000000"/>
              </a:buClr>
              <a:buSzPts val="2000"/>
              <a:buFont typeface="Arial"/>
              <a:buChar char="•"/>
            </a:pPr>
            <a:r>
              <a:rPr lang="en-US" sz="2000" b="0" i="0">
                <a:solidFill>
                  <a:srgbClr val="000000"/>
                </a:solidFill>
              </a:rPr>
              <a:t>Technical requirements are expressed in structured language, which is used inside the organization.</a:t>
            </a:r>
            <a:endParaRPr/>
          </a:p>
          <a:p>
            <a:pPr marL="342900" lvl="0" indent="-342900" algn="l" rtl="0">
              <a:lnSpc>
                <a:spcPct val="150000"/>
              </a:lnSpc>
              <a:spcBef>
                <a:spcPts val="400"/>
              </a:spcBef>
              <a:spcAft>
                <a:spcPts val="0"/>
              </a:spcAft>
              <a:buClr>
                <a:srgbClr val="000000"/>
              </a:buClr>
              <a:buSzPts val="2000"/>
              <a:buFont typeface="Arial"/>
              <a:buChar char="•"/>
            </a:pPr>
            <a:r>
              <a:rPr lang="en-US" sz="2000" b="0" i="0">
                <a:solidFill>
                  <a:srgbClr val="000000"/>
                </a:solidFill>
              </a:rPr>
              <a:t>Design description should be written in Pseudo code.</a:t>
            </a:r>
            <a:endParaRPr/>
          </a:p>
          <a:p>
            <a:pPr marL="342900" lvl="0" indent="-342900" algn="l" rtl="0">
              <a:lnSpc>
                <a:spcPct val="150000"/>
              </a:lnSpc>
              <a:spcBef>
                <a:spcPts val="400"/>
              </a:spcBef>
              <a:spcAft>
                <a:spcPts val="0"/>
              </a:spcAft>
              <a:buClr>
                <a:srgbClr val="000000"/>
              </a:buClr>
              <a:buSzPts val="2000"/>
              <a:buFont typeface="Arial"/>
              <a:buChar char="•"/>
            </a:pPr>
            <a:r>
              <a:rPr lang="en-US" sz="2000" b="0" i="0">
                <a:solidFill>
                  <a:srgbClr val="000000"/>
                </a:solidFill>
              </a:rPr>
              <a:t>Format of Forms and GUI screen prints.</a:t>
            </a:r>
            <a:endParaRPr/>
          </a:p>
          <a:p>
            <a:pPr marL="342900" lvl="0" indent="-342900" algn="l" rtl="0">
              <a:lnSpc>
                <a:spcPct val="150000"/>
              </a:lnSpc>
              <a:spcBef>
                <a:spcPts val="400"/>
              </a:spcBef>
              <a:spcAft>
                <a:spcPts val="0"/>
              </a:spcAft>
              <a:buClr>
                <a:srgbClr val="000000"/>
              </a:buClr>
              <a:buSzPts val="2000"/>
              <a:buFont typeface="Arial"/>
              <a:buChar char="•"/>
            </a:pPr>
            <a:r>
              <a:rPr lang="en-US" sz="2000" b="0" i="0">
                <a:solidFill>
                  <a:srgbClr val="000000"/>
                </a:solidFill>
              </a:rPr>
              <a:t>Conditional and mathematical notations for DFDs etc.</a:t>
            </a:r>
            <a:endParaRPr/>
          </a:p>
          <a:p>
            <a:pPr marL="0" lvl="0" indent="0" algn="just" rtl="0">
              <a:spcBef>
                <a:spcPts val="400"/>
              </a:spcBef>
              <a:spcAft>
                <a:spcPts val="0"/>
              </a:spcAft>
              <a:buClr>
                <a:schemeClr val="dk1"/>
              </a:buClr>
              <a:buSzPts val="2000"/>
              <a:buNone/>
            </a:pPr>
            <a:endParaRPr sz="2000" b="0" i="0">
              <a:solidFill>
                <a:srgbClr val="000000"/>
              </a:solidFill>
            </a:endParaRPr>
          </a:p>
        </p:txBody>
      </p:sp>
      <p:sp>
        <p:nvSpPr>
          <p:cNvPr id="198" name="Google Shape;198;p22"/>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22</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23"/>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z="2800" b="1">
                <a:latin typeface="Times"/>
                <a:ea typeface="Times"/>
                <a:cs typeface="Times"/>
                <a:sym typeface="Times"/>
              </a:rPr>
              <a:t>Software Requirement Validation</a:t>
            </a:r>
            <a:endParaRPr/>
          </a:p>
        </p:txBody>
      </p:sp>
      <p:sp>
        <p:nvSpPr>
          <p:cNvPr id="204" name="Google Shape;204;p23"/>
          <p:cNvSpPr txBox="1">
            <a:spLocks noGrp="1"/>
          </p:cNvSpPr>
          <p:nvPr>
            <p:ph type="body" idx="1"/>
          </p:nvPr>
        </p:nvSpPr>
        <p:spPr>
          <a:xfrm>
            <a:off x="152400" y="955675"/>
            <a:ext cx="8839200" cy="5216525"/>
          </a:xfrm>
          <a:prstGeom prst="rect">
            <a:avLst/>
          </a:prstGeom>
          <a:noFill/>
          <a:ln>
            <a:noFill/>
          </a:ln>
        </p:spPr>
        <p:txBody>
          <a:bodyPr spcFirstLastPara="1" wrap="square" lIns="91425" tIns="45700" rIns="91425" bIns="45700" anchor="t" anchorCtr="0">
            <a:noAutofit/>
          </a:bodyPr>
          <a:lstStyle/>
          <a:p>
            <a:pPr marL="342900" lvl="0" indent="-342900" algn="just" rtl="0">
              <a:lnSpc>
                <a:spcPct val="150000"/>
              </a:lnSpc>
              <a:spcBef>
                <a:spcPts val="0"/>
              </a:spcBef>
              <a:spcAft>
                <a:spcPts val="0"/>
              </a:spcAft>
              <a:buClr>
                <a:srgbClr val="000000"/>
              </a:buClr>
              <a:buSzPts val="2000"/>
              <a:buChar char="•"/>
            </a:pPr>
            <a:r>
              <a:rPr lang="en-US" sz="2000" b="0" i="0">
                <a:solidFill>
                  <a:srgbClr val="000000"/>
                </a:solidFill>
              </a:rPr>
              <a:t>After requirement specifications are developed, the requirements mentioned in this document are validated. </a:t>
            </a:r>
            <a:endParaRPr/>
          </a:p>
          <a:p>
            <a:pPr marL="342900" lvl="0" indent="-342900" algn="just" rtl="0">
              <a:lnSpc>
                <a:spcPct val="150000"/>
              </a:lnSpc>
              <a:spcBef>
                <a:spcPts val="400"/>
              </a:spcBef>
              <a:spcAft>
                <a:spcPts val="0"/>
              </a:spcAft>
              <a:buClr>
                <a:srgbClr val="000000"/>
              </a:buClr>
              <a:buSzPts val="2000"/>
              <a:buChar char="•"/>
            </a:pPr>
            <a:r>
              <a:rPr lang="en-US" sz="2000">
                <a:solidFill>
                  <a:srgbClr val="000000"/>
                </a:solidFill>
              </a:rPr>
              <a:t>The user might demand illegal, impossible solution or experts may misinterpret the needs. </a:t>
            </a:r>
            <a:endParaRPr/>
          </a:p>
          <a:p>
            <a:pPr marL="342900" lvl="0" indent="-342900" algn="just" rtl="0">
              <a:lnSpc>
                <a:spcPct val="150000"/>
              </a:lnSpc>
              <a:spcBef>
                <a:spcPts val="400"/>
              </a:spcBef>
              <a:spcAft>
                <a:spcPts val="0"/>
              </a:spcAft>
              <a:buClr>
                <a:srgbClr val="000000"/>
              </a:buClr>
              <a:buSzPts val="2000"/>
              <a:buChar char="•"/>
            </a:pPr>
            <a:r>
              <a:rPr lang="en-US" sz="2000" b="0" i="0">
                <a:solidFill>
                  <a:srgbClr val="000000"/>
                </a:solidFill>
              </a:rPr>
              <a:t>Requirements can be checked against following conditions -</a:t>
            </a:r>
            <a:endParaRPr/>
          </a:p>
          <a:p>
            <a:pPr marL="742950" lvl="1" indent="-285750" algn="l" rtl="0">
              <a:lnSpc>
                <a:spcPct val="150000"/>
              </a:lnSpc>
              <a:spcBef>
                <a:spcPts val="400"/>
              </a:spcBef>
              <a:spcAft>
                <a:spcPts val="0"/>
              </a:spcAft>
              <a:buClr>
                <a:srgbClr val="000000"/>
              </a:buClr>
              <a:buSzPts val="2000"/>
              <a:buFont typeface="Noto Sans Symbols"/>
              <a:buChar char="✔"/>
            </a:pPr>
            <a:r>
              <a:rPr lang="en-US" sz="2000" b="0" i="0">
                <a:solidFill>
                  <a:srgbClr val="000000"/>
                </a:solidFill>
              </a:rPr>
              <a:t>If they can be practically implemented</a:t>
            </a:r>
            <a:endParaRPr/>
          </a:p>
          <a:p>
            <a:pPr marL="742950" lvl="1" indent="-285750" algn="l" rtl="0">
              <a:lnSpc>
                <a:spcPct val="150000"/>
              </a:lnSpc>
              <a:spcBef>
                <a:spcPts val="400"/>
              </a:spcBef>
              <a:spcAft>
                <a:spcPts val="0"/>
              </a:spcAft>
              <a:buClr>
                <a:srgbClr val="000000"/>
              </a:buClr>
              <a:buSzPts val="2000"/>
              <a:buFont typeface="Noto Sans Symbols"/>
              <a:buChar char="✔"/>
            </a:pPr>
            <a:r>
              <a:rPr lang="en-US" sz="2000" b="0" i="0">
                <a:solidFill>
                  <a:srgbClr val="000000"/>
                </a:solidFill>
              </a:rPr>
              <a:t>If they are valid and as per functionality and domain of software</a:t>
            </a:r>
            <a:endParaRPr/>
          </a:p>
          <a:p>
            <a:pPr marL="742950" lvl="1" indent="-285750" algn="l" rtl="0">
              <a:lnSpc>
                <a:spcPct val="150000"/>
              </a:lnSpc>
              <a:spcBef>
                <a:spcPts val="400"/>
              </a:spcBef>
              <a:spcAft>
                <a:spcPts val="0"/>
              </a:spcAft>
              <a:buClr>
                <a:srgbClr val="000000"/>
              </a:buClr>
              <a:buSzPts val="2000"/>
              <a:buFont typeface="Noto Sans Symbols"/>
              <a:buChar char="✔"/>
            </a:pPr>
            <a:r>
              <a:rPr lang="en-US" sz="2000" b="0" i="0">
                <a:solidFill>
                  <a:srgbClr val="000000"/>
                </a:solidFill>
              </a:rPr>
              <a:t>If there are any ambiguities</a:t>
            </a:r>
            <a:endParaRPr/>
          </a:p>
          <a:p>
            <a:pPr marL="742950" lvl="1" indent="-285750" algn="l" rtl="0">
              <a:lnSpc>
                <a:spcPct val="150000"/>
              </a:lnSpc>
              <a:spcBef>
                <a:spcPts val="400"/>
              </a:spcBef>
              <a:spcAft>
                <a:spcPts val="0"/>
              </a:spcAft>
              <a:buClr>
                <a:srgbClr val="000000"/>
              </a:buClr>
              <a:buSzPts val="2000"/>
              <a:buFont typeface="Noto Sans Symbols"/>
              <a:buChar char="✔"/>
            </a:pPr>
            <a:r>
              <a:rPr lang="en-US" sz="2000" b="0" i="0">
                <a:solidFill>
                  <a:srgbClr val="000000"/>
                </a:solidFill>
              </a:rPr>
              <a:t>If they are complete</a:t>
            </a:r>
            <a:endParaRPr/>
          </a:p>
          <a:p>
            <a:pPr marL="742950" lvl="1" indent="-285750" algn="l" rtl="0">
              <a:lnSpc>
                <a:spcPct val="150000"/>
              </a:lnSpc>
              <a:spcBef>
                <a:spcPts val="400"/>
              </a:spcBef>
              <a:spcAft>
                <a:spcPts val="0"/>
              </a:spcAft>
              <a:buClr>
                <a:srgbClr val="000000"/>
              </a:buClr>
              <a:buSzPts val="2000"/>
              <a:buFont typeface="Noto Sans Symbols"/>
              <a:buChar char="✔"/>
            </a:pPr>
            <a:r>
              <a:rPr lang="en-US" sz="2000" b="0" i="0">
                <a:solidFill>
                  <a:srgbClr val="000000"/>
                </a:solidFill>
              </a:rPr>
              <a:t>If they can be demonstrated</a:t>
            </a:r>
            <a:endParaRPr/>
          </a:p>
          <a:p>
            <a:pPr marL="0" lvl="0" indent="0" algn="just" rtl="0">
              <a:lnSpc>
                <a:spcPct val="150000"/>
              </a:lnSpc>
              <a:spcBef>
                <a:spcPts val="400"/>
              </a:spcBef>
              <a:spcAft>
                <a:spcPts val="0"/>
              </a:spcAft>
              <a:buClr>
                <a:schemeClr val="dk1"/>
              </a:buClr>
              <a:buSzPts val="2000"/>
              <a:buNone/>
            </a:pPr>
            <a:endParaRPr sz="2000" b="0" i="0">
              <a:solidFill>
                <a:srgbClr val="000000"/>
              </a:solidFill>
            </a:endParaRPr>
          </a:p>
        </p:txBody>
      </p:sp>
      <p:sp>
        <p:nvSpPr>
          <p:cNvPr id="205" name="Google Shape;205;p23"/>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23</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p24"/>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z="2800" b="1">
                <a:latin typeface="Times"/>
                <a:ea typeface="Times"/>
                <a:cs typeface="Times"/>
                <a:sym typeface="Times"/>
              </a:rPr>
              <a:t>Software Requirement Validation - Techniques</a:t>
            </a:r>
            <a:endParaRPr/>
          </a:p>
        </p:txBody>
      </p:sp>
      <p:sp>
        <p:nvSpPr>
          <p:cNvPr id="211" name="Google Shape;211;p24"/>
          <p:cNvSpPr txBox="1">
            <a:spLocks noGrp="1"/>
          </p:cNvSpPr>
          <p:nvPr>
            <p:ph type="body" idx="1"/>
          </p:nvPr>
        </p:nvSpPr>
        <p:spPr>
          <a:xfrm>
            <a:off x="152400" y="955675"/>
            <a:ext cx="8839200" cy="5216525"/>
          </a:xfrm>
          <a:prstGeom prst="rect">
            <a:avLst/>
          </a:prstGeom>
          <a:noFill/>
          <a:ln>
            <a:noFill/>
          </a:ln>
        </p:spPr>
        <p:txBody>
          <a:bodyPr spcFirstLastPara="1" wrap="square" lIns="91425" tIns="45700" rIns="91425" bIns="45700" anchor="t" anchorCtr="0">
            <a:noAutofit/>
          </a:bodyPr>
          <a:lstStyle/>
          <a:p>
            <a:pPr marL="457200" lvl="0" indent="-457200" algn="just" rtl="0">
              <a:lnSpc>
                <a:spcPct val="150000"/>
              </a:lnSpc>
              <a:spcBef>
                <a:spcPts val="0"/>
              </a:spcBef>
              <a:spcAft>
                <a:spcPts val="0"/>
              </a:spcAft>
              <a:buClr>
                <a:srgbClr val="C00000"/>
              </a:buClr>
              <a:buSzPts val="2000"/>
              <a:buFont typeface="Calibri"/>
              <a:buAutoNum type="arabicPeriod"/>
            </a:pPr>
            <a:r>
              <a:rPr lang="en-US" sz="2000" b="1" i="0">
                <a:solidFill>
                  <a:srgbClr val="C00000"/>
                </a:solidFill>
              </a:rPr>
              <a:t>Requirements reviews/inspections:</a:t>
            </a:r>
            <a:r>
              <a:rPr lang="en-US" sz="2000" b="0" i="0">
                <a:solidFill>
                  <a:srgbClr val="C00000"/>
                </a:solidFill>
              </a:rPr>
              <a:t> </a:t>
            </a:r>
            <a:r>
              <a:rPr lang="en-US" sz="2000" b="0" i="0">
                <a:solidFill>
                  <a:srgbClr val="000000"/>
                </a:solidFill>
              </a:rPr>
              <a:t>systematic manual analysis of the requirements.</a:t>
            </a:r>
            <a:endParaRPr/>
          </a:p>
          <a:p>
            <a:pPr marL="457200" lvl="0" indent="-457200" algn="just" rtl="0">
              <a:lnSpc>
                <a:spcPct val="150000"/>
              </a:lnSpc>
              <a:spcBef>
                <a:spcPts val="400"/>
              </a:spcBef>
              <a:spcAft>
                <a:spcPts val="0"/>
              </a:spcAft>
              <a:buClr>
                <a:srgbClr val="C00000"/>
              </a:buClr>
              <a:buSzPts val="2000"/>
              <a:buFont typeface="Calibri"/>
              <a:buAutoNum type="arabicPeriod"/>
            </a:pPr>
            <a:r>
              <a:rPr lang="en-US" sz="2000" b="1" i="0">
                <a:solidFill>
                  <a:srgbClr val="C00000"/>
                </a:solidFill>
              </a:rPr>
              <a:t>Prototyping:</a:t>
            </a:r>
            <a:r>
              <a:rPr lang="en-US" sz="2000" b="0" i="0">
                <a:solidFill>
                  <a:srgbClr val="C00000"/>
                </a:solidFill>
              </a:rPr>
              <a:t> </a:t>
            </a:r>
            <a:r>
              <a:rPr lang="en-US" sz="2000" b="0" i="0">
                <a:solidFill>
                  <a:srgbClr val="000000"/>
                </a:solidFill>
              </a:rPr>
              <a:t>Using an executable model of the system to check requirements.</a:t>
            </a:r>
            <a:endParaRPr/>
          </a:p>
          <a:p>
            <a:pPr marL="457200" lvl="0" indent="-457200" algn="just" rtl="0">
              <a:lnSpc>
                <a:spcPct val="150000"/>
              </a:lnSpc>
              <a:spcBef>
                <a:spcPts val="400"/>
              </a:spcBef>
              <a:spcAft>
                <a:spcPts val="0"/>
              </a:spcAft>
              <a:buClr>
                <a:srgbClr val="C00000"/>
              </a:buClr>
              <a:buSzPts val="2000"/>
              <a:buFont typeface="Calibri"/>
              <a:buAutoNum type="arabicPeriod"/>
            </a:pPr>
            <a:r>
              <a:rPr lang="en-US" sz="2000" b="1" i="0">
                <a:solidFill>
                  <a:srgbClr val="C00000"/>
                </a:solidFill>
              </a:rPr>
              <a:t>Test-case generation:</a:t>
            </a:r>
            <a:r>
              <a:rPr lang="en-US" sz="2000" b="0" i="0">
                <a:solidFill>
                  <a:srgbClr val="C00000"/>
                </a:solidFill>
              </a:rPr>
              <a:t> </a:t>
            </a:r>
            <a:r>
              <a:rPr lang="en-US" sz="2000" b="0" i="0">
                <a:solidFill>
                  <a:srgbClr val="000000"/>
                </a:solidFill>
              </a:rPr>
              <a:t>Developing tests for requirements to check testability.</a:t>
            </a:r>
            <a:endParaRPr/>
          </a:p>
          <a:p>
            <a:pPr marL="457200" lvl="0" indent="-457200" algn="just" rtl="0">
              <a:lnSpc>
                <a:spcPct val="150000"/>
              </a:lnSpc>
              <a:spcBef>
                <a:spcPts val="400"/>
              </a:spcBef>
              <a:spcAft>
                <a:spcPts val="0"/>
              </a:spcAft>
              <a:buClr>
                <a:srgbClr val="C00000"/>
              </a:buClr>
              <a:buSzPts val="2000"/>
              <a:buFont typeface="Calibri"/>
              <a:buAutoNum type="arabicPeriod"/>
            </a:pPr>
            <a:r>
              <a:rPr lang="en-US" sz="2000" b="1" i="0">
                <a:solidFill>
                  <a:srgbClr val="C00000"/>
                </a:solidFill>
              </a:rPr>
              <a:t>Automated consistency analysis:</a:t>
            </a:r>
            <a:r>
              <a:rPr lang="en-US" sz="2000" b="0" i="0">
                <a:solidFill>
                  <a:srgbClr val="C00000"/>
                </a:solidFill>
              </a:rPr>
              <a:t> </a:t>
            </a:r>
            <a:r>
              <a:rPr lang="en-US" sz="2000">
                <a:solidFill>
                  <a:srgbClr val="000000"/>
                </a:solidFill>
              </a:rPr>
              <a:t>C</a:t>
            </a:r>
            <a:r>
              <a:rPr lang="en-US" sz="2000" b="0" i="0">
                <a:solidFill>
                  <a:srgbClr val="000000"/>
                </a:solidFill>
              </a:rPr>
              <a:t>hecking for the consistency of structured requirements descriptions.</a:t>
            </a:r>
            <a:endParaRPr/>
          </a:p>
          <a:p>
            <a:pPr marL="0" lvl="0" indent="0" algn="just" rtl="0">
              <a:lnSpc>
                <a:spcPct val="150000"/>
              </a:lnSpc>
              <a:spcBef>
                <a:spcPts val="400"/>
              </a:spcBef>
              <a:spcAft>
                <a:spcPts val="0"/>
              </a:spcAft>
              <a:buClr>
                <a:schemeClr val="dk1"/>
              </a:buClr>
              <a:buSzPts val="2000"/>
              <a:buNone/>
            </a:pPr>
            <a:endParaRPr sz="2000" b="0" i="0">
              <a:solidFill>
                <a:srgbClr val="000000"/>
              </a:solidFill>
            </a:endParaRPr>
          </a:p>
        </p:txBody>
      </p:sp>
      <p:sp>
        <p:nvSpPr>
          <p:cNvPr id="212" name="Google Shape;212;p24"/>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24</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217" name="Google Shape;217;p25"/>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z="2800" b="1">
                <a:latin typeface="Times"/>
                <a:ea typeface="Times"/>
                <a:cs typeface="Times"/>
                <a:sym typeface="Times"/>
              </a:rPr>
              <a:t>Software Requirement Management</a:t>
            </a:r>
            <a:endParaRPr/>
          </a:p>
        </p:txBody>
      </p:sp>
      <p:sp>
        <p:nvSpPr>
          <p:cNvPr id="218" name="Google Shape;218;p25"/>
          <p:cNvSpPr txBox="1">
            <a:spLocks noGrp="1"/>
          </p:cNvSpPr>
          <p:nvPr>
            <p:ph type="body" idx="1"/>
          </p:nvPr>
        </p:nvSpPr>
        <p:spPr>
          <a:xfrm>
            <a:off x="152400" y="955675"/>
            <a:ext cx="8839200" cy="5216525"/>
          </a:xfrm>
          <a:prstGeom prst="rect">
            <a:avLst/>
          </a:prstGeom>
          <a:noFill/>
          <a:ln>
            <a:noFill/>
          </a:ln>
        </p:spPr>
        <p:txBody>
          <a:bodyPr spcFirstLastPara="1" wrap="square" lIns="91425" tIns="45700" rIns="91425" bIns="45700" anchor="t" anchorCtr="0">
            <a:noAutofit/>
          </a:bodyPr>
          <a:lstStyle/>
          <a:p>
            <a:pPr marL="342900" lvl="0" indent="-342900" algn="just" rtl="0">
              <a:lnSpc>
                <a:spcPct val="150000"/>
              </a:lnSpc>
              <a:spcBef>
                <a:spcPts val="0"/>
              </a:spcBef>
              <a:spcAft>
                <a:spcPts val="0"/>
              </a:spcAft>
              <a:buClr>
                <a:srgbClr val="333333"/>
              </a:buClr>
              <a:buSzPts val="2000"/>
              <a:buChar char="•"/>
            </a:pPr>
            <a:r>
              <a:rPr lang="en-US" sz="2000" b="0" i="0">
                <a:solidFill>
                  <a:srgbClr val="333333"/>
                </a:solidFill>
              </a:rPr>
              <a:t>Requirement management is the process of managing changing requirements during the requirements engineering process and system development.</a:t>
            </a:r>
            <a:endParaRPr/>
          </a:p>
          <a:p>
            <a:pPr marL="342900" lvl="0" indent="-342900" algn="just" rtl="0">
              <a:lnSpc>
                <a:spcPct val="150000"/>
              </a:lnSpc>
              <a:spcBef>
                <a:spcPts val="400"/>
              </a:spcBef>
              <a:spcAft>
                <a:spcPts val="0"/>
              </a:spcAft>
              <a:buClr>
                <a:srgbClr val="333333"/>
              </a:buClr>
              <a:buSzPts val="2000"/>
              <a:buChar char="•"/>
            </a:pPr>
            <a:r>
              <a:rPr lang="en-US" sz="2000" b="0" i="0">
                <a:solidFill>
                  <a:srgbClr val="333333"/>
                </a:solidFill>
              </a:rPr>
              <a:t>New requirements emerge during the process as business needs a change, and a better understanding of the system is developed.</a:t>
            </a:r>
            <a:endParaRPr/>
          </a:p>
          <a:p>
            <a:pPr marL="342900" lvl="0" indent="-342900" algn="just" rtl="0">
              <a:lnSpc>
                <a:spcPct val="150000"/>
              </a:lnSpc>
              <a:spcBef>
                <a:spcPts val="400"/>
              </a:spcBef>
              <a:spcAft>
                <a:spcPts val="0"/>
              </a:spcAft>
              <a:buClr>
                <a:srgbClr val="333333"/>
              </a:buClr>
              <a:buSzPts val="2000"/>
              <a:buChar char="•"/>
            </a:pPr>
            <a:r>
              <a:rPr lang="en-US" sz="2000" b="0" i="0">
                <a:solidFill>
                  <a:srgbClr val="333333"/>
                </a:solidFill>
              </a:rPr>
              <a:t>The priority of requirements from different viewpoints changes during development process.</a:t>
            </a:r>
            <a:endParaRPr/>
          </a:p>
          <a:p>
            <a:pPr marL="342900" lvl="0" indent="-342900" algn="just" rtl="0">
              <a:lnSpc>
                <a:spcPct val="150000"/>
              </a:lnSpc>
              <a:spcBef>
                <a:spcPts val="400"/>
              </a:spcBef>
              <a:spcAft>
                <a:spcPts val="0"/>
              </a:spcAft>
              <a:buClr>
                <a:srgbClr val="333333"/>
              </a:buClr>
              <a:buSzPts val="2000"/>
              <a:buChar char="•"/>
            </a:pPr>
            <a:r>
              <a:rPr lang="en-US" sz="2000" b="0" i="0">
                <a:solidFill>
                  <a:srgbClr val="333333"/>
                </a:solidFill>
              </a:rPr>
              <a:t>The business and technical environment of the system changes during the development.</a:t>
            </a:r>
            <a:endParaRPr/>
          </a:p>
          <a:p>
            <a:pPr marL="0" lvl="0" indent="0" algn="just" rtl="0">
              <a:lnSpc>
                <a:spcPct val="150000"/>
              </a:lnSpc>
              <a:spcBef>
                <a:spcPts val="400"/>
              </a:spcBef>
              <a:spcAft>
                <a:spcPts val="0"/>
              </a:spcAft>
              <a:buClr>
                <a:schemeClr val="dk1"/>
              </a:buClr>
              <a:buSzPts val="2000"/>
              <a:buNone/>
            </a:pPr>
            <a:endParaRPr sz="2000" b="0" i="0">
              <a:solidFill>
                <a:srgbClr val="000000"/>
              </a:solidFill>
            </a:endParaRPr>
          </a:p>
        </p:txBody>
      </p:sp>
      <p:sp>
        <p:nvSpPr>
          <p:cNvPr id="219" name="Google Shape;219;p25"/>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25</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26"/>
          <p:cNvSpPr txBox="1">
            <a:spLocks noGrp="1"/>
          </p:cNvSpPr>
          <p:nvPr>
            <p:ph type="title"/>
          </p:nvPr>
        </p:nvSpPr>
        <p:spPr>
          <a:xfrm>
            <a:off x="38100" y="38100"/>
            <a:ext cx="6891337" cy="698500"/>
          </a:xfrm>
          <a:prstGeom prst="rect">
            <a:avLst/>
          </a:prstGeom>
          <a:noFill/>
          <a:ln>
            <a:noFill/>
          </a:ln>
        </p:spPr>
        <p:txBody>
          <a:bodyPr spcFirstLastPara="1" wrap="square" lIns="90475" tIns="44450" rIns="90475" bIns="44450" anchor="ctr" anchorCtr="0">
            <a:normAutofit/>
          </a:bodyPr>
          <a:lstStyle/>
          <a:p>
            <a:pPr marL="0" lvl="0" indent="0" algn="l" rtl="0">
              <a:spcBef>
                <a:spcPts val="0"/>
              </a:spcBef>
              <a:spcAft>
                <a:spcPts val="0"/>
              </a:spcAft>
              <a:buClr>
                <a:schemeClr val="dk1"/>
              </a:buClr>
              <a:buSzPts val="2800"/>
              <a:buFont typeface="Times New Roman"/>
              <a:buNone/>
            </a:pPr>
            <a:r>
              <a:rPr lang="en-US" sz="2800" b="1">
                <a:solidFill>
                  <a:schemeClr val="dk1"/>
                </a:solidFill>
              </a:rPr>
              <a:t>What is a Data Object?</a:t>
            </a:r>
            <a:endParaRPr/>
          </a:p>
        </p:txBody>
      </p:sp>
      <p:sp>
        <p:nvSpPr>
          <p:cNvPr id="225" name="Google Shape;225;p26"/>
          <p:cNvSpPr/>
          <p:nvPr/>
        </p:nvSpPr>
        <p:spPr>
          <a:xfrm>
            <a:off x="125413" y="1670050"/>
            <a:ext cx="865621" cy="397545"/>
          </a:xfrm>
          <a:prstGeom prst="rect">
            <a:avLst/>
          </a:prstGeom>
          <a:noFill/>
          <a:ln>
            <a:noFill/>
          </a:ln>
        </p:spPr>
        <p:txBody>
          <a:bodyPr spcFirstLastPara="1" wrap="square" lIns="90475" tIns="44450" rIns="90475" bIns="44450" anchor="t" anchorCtr="0">
            <a:spAutoFit/>
          </a:bodyPr>
          <a:lstStyle/>
          <a:p>
            <a:pPr marL="0" marR="0" lvl="0" indent="0" algn="l" rtl="0">
              <a:spcBef>
                <a:spcPts val="0"/>
              </a:spcBef>
              <a:spcAft>
                <a:spcPts val="0"/>
              </a:spcAft>
              <a:buNone/>
            </a:pPr>
            <a:r>
              <a:rPr lang="en-US" sz="2000" i="1">
                <a:solidFill>
                  <a:srgbClr val="F3FF07"/>
                </a:solidFill>
                <a:latin typeface="Times New Roman"/>
                <a:ea typeface="Times New Roman"/>
                <a:cs typeface="Times New Roman"/>
                <a:sym typeface="Times New Roman"/>
              </a:rPr>
              <a:t>Object</a:t>
            </a:r>
            <a:endParaRPr/>
          </a:p>
        </p:txBody>
      </p:sp>
      <p:sp>
        <p:nvSpPr>
          <p:cNvPr id="226" name="Google Shape;226;p26"/>
          <p:cNvSpPr/>
          <p:nvPr/>
        </p:nvSpPr>
        <p:spPr>
          <a:xfrm>
            <a:off x="892176" y="1660525"/>
            <a:ext cx="6492875" cy="698500"/>
          </a:xfrm>
          <a:prstGeom prst="rect">
            <a:avLst/>
          </a:prstGeom>
          <a:noFill/>
          <a:ln>
            <a:noFill/>
          </a:ln>
        </p:spPr>
        <p:txBody>
          <a:bodyPr spcFirstLastPara="1" wrap="square" lIns="90475" tIns="44450" rIns="90475" bIns="44450" anchor="t" anchorCtr="0">
            <a:spAutoFit/>
          </a:bodyPr>
          <a:lstStyle/>
          <a:p>
            <a:pPr marL="0" marR="0" lvl="0" indent="0" algn="l" rtl="0">
              <a:spcBef>
                <a:spcPts val="0"/>
              </a:spcBef>
              <a:spcAft>
                <a:spcPts val="0"/>
              </a:spcAft>
              <a:buNone/>
            </a:pPr>
            <a:r>
              <a:rPr lang="en-US" sz="2000">
                <a:solidFill>
                  <a:srgbClr val="000000"/>
                </a:solidFill>
                <a:latin typeface="Times New Roman"/>
                <a:ea typeface="Times New Roman"/>
                <a:cs typeface="Times New Roman"/>
                <a:sym typeface="Times New Roman"/>
              </a:rPr>
              <a:t>—something that is described by a set</a:t>
            </a:r>
            <a:endParaRPr/>
          </a:p>
          <a:p>
            <a:pPr marL="0" marR="0" lvl="0" indent="0" algn="l" rtl="0">
              <a:spcBef>
                <a:spcPts val="0"/>
              </a:spcBef>
              <a:spcAft>
                <a:spcPts val="0"/>
              </a:spcAft>
              <a:buNone/>
            </a:pPr>
            <a:endParaRPr sz="2000">
              <a:solidFill>
                <a:srgbClr val="000000"/>
              </a:solidFill>
              <a:latin typeface="Times New Roman"/>
              <a:ea typeface="Times New Roman"/>
              <a:cs typeface="Times New Roman"/>
              <a:sym typeface="Times New Roman"/>
            </a:endParaRPr>
          </a:p>
        </p:txBody>
      </p:sp>
      <p:sp>
        <p:nvSpPr>
          <p:cNvPr id="227" name="Google Shape;227;p26"/>
          <p:cNvSpPr/>
          <p:nvPr/>
        </p:nvSpPr>
        <p:spPr>
          <a:xfrm>
            <a:off x="160339" y="1952626"/>
            <a:ext cx="4401845" cy="397545"/>
          </a:xfrm>
          <a:prstGeom prst="rect">
            <a:avLst/>
          </a:prstGeom>
          <a:noFill/>
          <a:ln>
            <a:noFill/>
          </a:ln>
        </p:spPr>
        <p:txBody>
          <a:bodyPr spcFirstLastPara="1" wrap="square" lIns="90475" tIns="44450" rIns="90475" bIns="44450" anchor="t" anchorCtr="0">
            <a:spAutoFit/>
          </a:bodyPr>
          <a:lstStyle/>
          <a:p>
            <a:pPr marL="0" marR="0" lvl="0" indent="0" algn="l" rtl="0">
              <a:spcBef>
                <a:spcPts val="0"/>
              </a:spcBef>
              <a:spcAft>
                <a:spcPts val="0"/>
              </a:spcAft>
              <a:buNone/>
            </a:pPr>
            <a:r>
              <a:rPr lang="en-US" sz="2000">
                <a:solidFill>
                  <a:srgbClr val="000000"/>
                </a:solidFill>
                <a:latin typeface="Times New Roman"/>
                <a:ea typeface="Times New Roman"/>
                <a:cs typeface="Times New Roman"/>
                <a:sym typeface="Times New Roman"/>
              </a:rPr>
              <a:t>of attributes (data items) and that will be </a:t>
            </a:r>
            <a:endParaRPr/>
          </a:p>
        </p:txBody>
      </p:sp>
      <p:sp>
        <p:nvSpPr>
          <p:cNvPr id="228" name="Google Shape;228;p26"/>
          <p:cNvSpPr/>
          <p:nvPr/>
        </p:nvSpPr>
        <p:spPr>
          <a:xfrm>
            <a:off x="160339" y="2235200"/>
            <a:ext cx="4432303" cy="397545"/>
          </a:xfrm>
          <a:prstGeom prst="rect">
            <a:avLst/>
          </a:prstGeom>
          <a:noFill/>
          <a:ln>
            <a:noFill/>
          </a:ln>
        </p:spPr>
        <p:txBody>
          <a:bodyPr spcFirstLastPara="1" wrap="square" lIns="90475" tIns="44450" rIns="90475" bIns="44450" anchor="t" anchorCtr="0">
            <a:spAutoFit/>
          </a:bodyPr>
          <a:lstStyle/>
          <a:p>
            <a:pPr marL="0" marR="0" lvl="0" indent="0" algn="l" rtl="0">
              <a:spcBef>
                <a:spcPts val="0"/>
              </a:spcBef>
              <a:spcAft>
                <a:spcPts val="0"/>
              </a:spcAft>
              <a:buNone/>
            </a:pPr>
            <a:r>
              <a:rPr lang="en-US" sz="2000">
                <a:solidFill>
                  <a:srgbClr val="000000"/>
                </a:solidFill>
                <a:latin typeface="Times New Roman"/>
                <a:ea typeface="Times New Roman"/>
                <a:cs typeface="Times New Roman"/>
                <a:sym typeface="Times New Roman"/>
              </a:rPr>
              <a:t>manipulated within the software (system)</a:t>
            </a:r>
            <a:endParaRPr/>
          </a:p>
        </p:txBody>
      </p:sp>
      <p:sp>
        <p:nvSpPr>
          <p:cNvPr id="229" name="Google Shape;229;p26"/>
          <p:cNvSpPr/>
          <p:nvPr/>
        </p:nvSpPr>
        <p:spPr>
          <a:xfrm>
            <a:off x="693738" y="2809875"/>
            <a:ext cx="716542" cy="397545"/>
          </a:xfrm>
          <a:prstGeom prst="rect">
            <a:avLst/>
          </a:prstGeom>
          <a:noFill/>
          <a:ln>
            <a:noFill/>
          </a:ln>
        </p:spPr>
        <p:txBody>
          <a:bodyPr spcFirstLastPara="1" wrap="square" lIns="90475" tIns="44450" rIns="90475" bIns="44450" anchor="t" anchorCtr="0">
            <a:spAutoFit/>
          </a:bodyPr>
          <a:lstStyle/>
          <a:p>
            <a:pPr marL="0" marR="0" lvl="0" indent="0" algn="l" rtl="0">
              <a:spcBef>
                <a:spcPts val="0"/>
              </a:spcBef>
              <a:spcAft>
                <a:spcPts val="0"/>
              </a:spcAft>
              <a:buNone/>
            </a:pPr>
            <a:r>
              <a:rPr lang="en-US" sz="2000">
                <a:solidFill>
                  <a:srgbClr val="000000"/>
                </a:solidFill>
                <a:latin typeface="Times New Roman"/>
                <a:ea typeface="Times New Roman"/>
                <a:cs typeface="Times New Roman"/>
                <a:sym typeface="Times New Roman"/>
              </a:rPr>
              <a:t>each </a:t>
            </a:r>
            <a:endParaRPr/>
          </a:p>
        </p:txBody>
      </p:sp>
      <p:sp>
        <p:nvSpPr>
          <p:cNvPr id="230" name="Google Shape;230;p26"/>
          <p:cNvSpPr/>
          <p:nvPr/>
        </p:nvSpPr>
        <p:spPr>
          <a:xfrm>
            <a:off x="1438276" y="2809875"/>
            <a:ext cx="1021112" cy="397545"/>
          </a:xfrm>
          <a:prstGeom prst="rect">
            <a:avLst/>
          </a:prstGeom>
          <a:noFill/>
          <a:ln>
            <a:noFill/>
          </a:ln>
        </p:spPr>
        <p:txBody>
          <a:bodyPr spcFirstLastPara="1" wrap="square" lIns="90475" tIns="44450" rIns="90475" bIns="44450" anchor="t" anchorCtr="0">
            <a:spAutoFit/>
          </a:bodyPr>
          <a:lstStyle/>
          <a:p>
            <a:pPr marL="0" marR="0" lvl="0" indent="0" algn="l" rtl="0">
              <a:spcBef>
                <a:spcPts val="0"/>
              </a:spcBef>
              <a:spcAft>
                <a:spcPts val="0"/>
              </a:spcAft>
              <a:buNone/>
            </a:pPr>
            <a:r>
              <a:rPr lang="en-US" sz="2000">
                <a:solidFill>
                  <a:srgbClr val="000000"/>
                </a:solidFill>
                <a:latin typeface="Times New Roman"/>
                <a:ea typeface="Times New Roman"/>
                <a:cs typeface="Times New Roman"/>
                <a:sym typeface="Times New Roman"/>
              </a:rPr>
              <a:t>instance</a:t>
            </a:r>
            <a:endParaRPr/>
          </a:p>
        </p:txBody>
      </p:sp>
      <p:sp>
        <p:nvSpPr>
          <p:cNvPr id="231" name="Google Shape;231;p26"/>
          <p:cNvSpPr/>
          <p:nvPr/>
        </p:nvSpPr>
        <p:spPr>
          <a:xfrm>
            <a:off x="2687638" y="2809875"/>
            <a:ext cx="2878992" cy="705321"/>
          </a:xfrm>
          <a:prstGeom prst="rect">
            <a:avLst/>
          </a:prstGeom>
          <a:noFill/>
          <a:ln>
            <a:noFill/>
          </a:ln>
        </p:spPr>
        <p:txBody>
          <a:bodyPr spcFirstLastPara="1" wrap="square" lIns="90475" tIns="44450" rIns="90475" bIns="44450" anchor="t" anchorCtr="0">
            <a:spAutoFit/>
          </a:bodyPr>
          <a:lstStyle/>
          <a:p>
            <a:pPr marL="0" marR="0" lvl="0" indent="0" algn="l" rtl="0">
              <a:spcBef>
                <a:spcPts val="0"/>
              </a:spcBef>
              <a:spcAft>
                <a:spcPts val="0"/>
              </a:spcAft>
              <a:buNone/>
            </a:pPr>
            <a:r>
              <a:rPr lang="en-US" sz="2000">
                <a:solidFill>
                  <a:srgbClr val="000000"/>
                </a:solidFill>
                <a:latin typeface="Times New Roman"/>
                <a:ea typeface="Times New Roman"/>
                <a:cs typeface="Times New Roman"/>
                <a:sym typeface="Times New Roman"/>
              </a:rPr>
              <a:t>of an object (e.g., a book) </a:t>
            </a:r>
            <a:endParaRPr/>
          </a:p>
          <a:p>
            <a:pPr marL="0" marR="0" lvl="0" indent="0" algn="l" rtl="0">
              <a:spcBef>
                <a:spcPts val="0"/>
              </a:spcBef>
              <a:spcAft>
                <a:spcPts val="0"/>
              </a:spcAft>
              <a:buNone/>
            </a:pPr>
            <a:endParaRPr sz="2000">
              <a:solidFill>
                <a:srgbClr val="000000"/>
              </a:solidFill>
              <a:latin typeface="Times New Roman"/>
              <a:ea typeface="Times New Roman"/>
              <a:cs typeface="Times New Roman"/>
              <a:sym typeface="Times New Roman"/>
            </a:endParaRPr>
          </a:p>
        </p:txBody>
      </p:sp>
      <p:sp>
        <p:nvSpPr>
          <p:cNvPr id="232" name="Google Shape;232;p26"/>
          <p:cNvSpPr/>
          <p:nvPr/>
        </p:nvSpPr>
        <p:spPr>
          <a:xfrm>
            <a:off x="693739" y="3092451"/>
            <a:ext cx="4433887" cy="396875"/>
          </a:xfrm>
          <a:prstGeom prst="rect">
            <a:avLst/>
          </a:prstGeom>
          <a:noFill/>
          <a:ln>
            <a:noFill/>
          </a:ln>
        </p:spPr>
        <p:txBody>
          <a:bodyPr spcFirstLastPara="1" wrap="square" lIns="90475" tIns="44450" rIns="90475" bIns="44450" anchor="t" anchorCtr="0">
            <a:spAutoFit/>
          </a:bodyPr>
          <a:lstStyle/>
          <a:p>
            <a:pPr marL="0" marR="0" lvl="0" indent="0" algn="l" rtl="0">
              <a:spcBef>
                <a:spcPts val="0"/>
              </a:spcBef>
              <a:spcAft>
                <a:spcPts val="0"/>
              </a:spcAft>
              <a:buNone/>
            </a:pPr>
            <a:r>
              <a:rPr lang="en-US" sz="2000" i="1">
                <a:solidFill>
                  <a:schemeClr val="folHlink"/>
                </a:solidFill>
                <a:latin typeface="Times New Roman"/>
                <a:ea typeface="Times New Roman"/>
                <a:cs typeface="Times New Roman"/>
                <a:sym typeface="Times New Roman"/>
              </a:rPr>
              <a:t>can be identified uniquely</a:t>
            </a:r>
            <a:r>
              <a:rPr lang="en-US" sz="2000">
                <a:solidFill>
                  <a:srgbClr val="000000"/>
                </a:solidFill>
                <a:latin typeface="Times New Roman"/>
                <a:ea typeface="Times New Roman"/>
                <a:cs typeface="Times New Roman"/>
                <a:sym typeface="Times New Roman"/>
              </a:rPr>
              <a:t> (e.g., ISBN #) </a:t>
            </a:r>
            <a:endParaRPr/>
          </a:p>
        </p:txBody>
      </p:sp>
      <p:sp>
        <p:nvSpPr>
          <p:cNvPr id="233" name="Google Shape;233;p26"/>
          <p:cNvSpPr/>
          <p:nvPr/>
        </p:nvSpPr>
        <p:spPr>
          <a:xfrm>
            <a:off x="682626" y="3284538"/>
            <a:ext cx="182563" cy="704850"/>
          </a:xfrm>
          <a:prstGeom prst="rect">
            <a:avLst/>
          </a:prstGeom>
          <a:noFill/>
          <a:ln>
            <a:noFill/>
          </a:ln>
        </p:spPr>
        <p:txBody>
          <a:bodyPr spcFirstLastPara="1" wrap="square" lIns="90475" tIns="44450" rIns="90475" bIns="44450" anchor="t" anchorCtr="0">
            <a:spAutoFit/>
          </a:bodyPr>
          <a:lstStyle/>
          <a:p>
            <a:pPr marL="0" marR="0" lvl="0" indent="0" algn="l" rtl="0">
              <a:spcBef>
                <a:spcPts val="0"/>
              </a:spcBef>
              <a:spcAft>
                <a:spcPts val="0"/>
              </a:spcAft>
              <a:buNone/>
            </a:pPr>
            <a:endParaRPr sz="2000">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endParaRPr sz="2000">
              <a:solidFill>
                <a:schemeClr val="dk1"/>
              </a:solidFill>
              <a:latin typeface="Times New Roman"/>
              <a:ea typeface="Times New Roman"/>
              <a:cs typeface="Times New Roman"/>
              <a:sym typeface="Times New Roman"/>
            </a:endParaRPr>
          </a:p>
        </p:txBody>
      </p:sp>
      <p:sp>
        <p:nvSpPr>
          <p:cNvPr id="234" name="Google Shape;234;p26"/>
          <p:cNvSpPr/>
          <p:nvPr/>
        </p:nvSpPr>
        <p:spPr>
          <a:xfrm>
            <a:off x="693739" y="3567113"/>
            <a:ext cx="4384213" cy="397545"/>
          </a:xfrm>
          <a:prstGeom prst="rect">
            <a:avLst/>
          </a:prstGeom>
          <a:noFill/>
          <a:ln>
            <a:noFill/>
          </a:ln>
        </p:spPr>
        <p:txBody>
          <a:bodyPr spcFirstLastPara="1" wrap="square" lIns="90475" tIns="44450" rIns="90475" bIns="44450" anchor="t" anchorCtr="0">
            <a:spAutoFit/>
          </a:bodyPr>
          <a:lstStyle/>
          <a:p>
            <a:pPr marL="0" marR="0" lvl="0" indent="0" algn="l" rtl="0">
              <a:spcBef>
                <a:spcPts val="0"/>
              </a:spcBef>
              <a:spcAft>
                <a:spcPts val="0"/>
              </a:spcAft>
              <a:buNone/>
            </a:pPr>
            <a:r>
              <a:rPr lang="en-US" sz="2000">
                <a:solidFill>
                  <a:srgbClr val="000000"/>
                </a:solidFill>
                <a:latin typeface="Times New Roman"/>
                <a:ea typeface="Times New Roman"/>
                <a:cs typeface="Times New Roman"/>
                <a:sym typeface="Times New Roman"/>
              </a:rPr>
              <a:t>each plays a </a:t>
            </a:r>
            <a:r>
              <a:rPr lang="en-US" sz="2000" i="1">
                <a:solidFill>
                  <a:srgbClr val="000000"/>
                </a:solidFill>
                <a:latin typeface="Times New Roman"/>
                <a:ea typeface="Times New Roman"/>
                <a:cs typeface="Times New Roman"/>
                <a:sym typeface="Times New Roman"/>
              </a:rPr>
              <a:t>necessary</a:t>
            </a:r>
            <a:r>
              <a:rPr lang="en-US" sz="2000">
                <a:solidFill>
                  <a:srgbClr val="000000"/>
                </a:solidFill>
                <a:latin typeface="Times New Roman"/>
                <a:ea typeface="Times New Roman"/>
                <a:cs typeface="Times New Roman"/>
                <a:sym typeface="Times New Roman"/>
              </a:rPr>
              <a:t> role in the system</a:t>
            </a:r>
            <a:endParaRPr/>
          </a:p>
        </p:txBody>
      </p:sp>
      <p:sp>
        <p:nvSpPr>
          <p:cNvPr id="235" name="Google Shape;235;p26"/>
          <p:cNvSpPr/>
          <p:nvPr/>
        </p:nvSpPr>
        <p:spPr>
          <a:xfrm>
            <a:off x="693739" y="3849688"/>
            <a:ext cx="4562145" cy="397545"/>
          </a:xfrm>
          <a:prstGeom prst="rect">
            <a:avLst/>
          </a:prstGeom>
          <a:noFill/>
          <a:ln>
            <a:noFill/>
          </a:ln>
        </p:spPr>
        <p:txBody>
          <a:bodyPr spcFirstLastPara="1" wrap="square" lIns="90475" tIns="44450" rIns="90475" bIns="44450" anchor="t" anchorCtr="0">
            <a:spAutoFit/>
          </a:bodyPr>
          <a:lstStyle/>
          <a:p>
            <a:pPr marL="0" marR="0" lvl="0" indent="0" algn="l" rtl="0">
              <a:spcBef>
                <a:spcPts val="0"/>
              </a:spcBef>
              <a:spcAft>
                <a:spcPts val="0"/>
              </a:spcAft>
              <a:buNone/>
            </a:pPr>
            <a:r>
              <a:rPr lang="en-US" sz="2000">
                <a:solidFill>
                  <a:schemeClr val="dk1"/>
                </a:solidFill>
                <a:latin typeface="Times New Roman"/>
                <a:ea typeface="Times New Roman"/>
                <a:cs typeface="Times New Roman"/>
                <a:sym typeface="Times New Roman"/>
              </a:rPr>
              <a:t>i.e., the system could not function without </a:t>
            </a:r>
            <a:endParaRPr/>
          </a:p>
        </p:txBody>
      </p:sp>
      <p:sp>
        <p:nvSpPr>
          <p:cNvPr id="236" name="Google Shape;236;p26"/>
          <p:cNvSpPr/>
          <p:nvPr/>
        </p:nvSpPr>
        <p:spPr>
          <a:xfrm>
            <a:off x="693738" y="4130675"/>
            <a:ext cx="3444853" cy="705321"/>
          </a:xfrm>
          <a:prstGeom prst="rect">
            <a:avLst/>
          </a:prstGeom>
          <a:noFill/>
          <a:ln>
            <a:noFill/>
          </a:ln>
        </p:spPr>
        <p:txBody>
          <a:bodyPr spcFirstLastPara="1" wrap="square" lIns="90475" tIns="44450" rIns="90475" bIns="44450" anchor="t" anchorCtr="0">
            <a:spAutoFit/>
          </a:bodyPr>
          <a:lstStyle/>
          <a:p>
            <a:pPr marL="0" marR="0" lvl="0" indent="0" algn="l" rtl="0">
              <a:spcBef>
                <a:spcPts val="0"/>
              </a:spcBef>
              <a:spcAft>
                <a:spcPts val="0"/>
              </a:spcAft>
              <a:buNone/>
            </a:pPr>
            <a:r>
              <a:rPr lang="en-US" sz="2000">
                <a:solidFill>
                  <a:srgbClr val="000000"/>
                </a:solidFill>
                <a:latin typeface="Times New Roman"/>
                <a:ea typeface="Times New Roman"/>
                <a:cs typeface="Times New Roman"/>
                <a:sym typeface="Times New Roman"/>
              </a:rPr>
              <a:t>access to instances of the object</a:t>
            </a:r>
            <a:endParaRPr/>
          </a:p>
          <a:p>
            <a:pPr marL="0" marR="0" lvl="0" indent="0" algn="l" rtl="0">
              <a:spcBef>
                <a:spcPts val="0"/>
              </a:spcBef>
              <a:spcAft>
                <a:spcPts val="0"/>
              </a:spcAft>
              <a:buNone/>
            </a:pPr>
            <a:endParaRPr sz="2000">
              <a:solidFill>
                <a:srgbClr val="000000"/>
              </a:solidFill>
              <a:latin typeface="Times New Roman"/>
              <a:ea typeface="Times New Roman"/>
              <a:cs typeface="Times New Roman"/>
              <a:sym typeface="Times New Roman"/>
            </a:endParaRPr>
          </a:p>
        </p:txBody>
      </p:sp>
      <p:sp>
        <p:nvSpPr>
          <p:cNvPr id="237" name="Google Shape;237;p26"/>
          <p:cNvSpPr/>
          <p:nvPr/>
        </p:nvSpPr>
        <p:spPr>
          <a:xfrm>
            <a:off x="693738" y="4786314"/>
            <a:ext cx="182806" cy="705321"/>
          </a:xfrm>
          <a:prstGeom prst="rect">
            <a:avLst/>
          </a:prstGeom>
          <a:noFill/>
          <a:ln>
            <a:noFill/>
          </a:ln>
        </p:spPr>
        <p:txBody>
          <a:bodyPr spcFirstLastPara="1" wrap="square" lIns="90475" tIns="44450" rIns="90475" bIns="44450" anchor="t" anchorCtr="0">
            <a:spAutoFit/>
          </a:bodyPr>
          <a:lstStyle/>
          <a:p>
            <a:pPr marL="0" marR="0" lvl="0" indent="0" algn="l" rtl="0">
              <a:spcBef>
                <a:spcPts val="0"/>
              </a:spcBef>
              <a:spcAft>
                <a:spcPts val="0"/>
              </a:spcAft>
              <a:buNone/>
            </a:pPr>
            <a:endParaRPr sz="2000">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endParaRPr sz="2000">
              <a:solidFill>
                <a:schemeClr val="dk1"/>
              </a:solidFill>
              <a:latin typeface="Times New Roman"/>
              <a:ea typeface="Times New Roman"/>
              <a:cs typeface="Times New Roman"/>
              <a:sym typeface="Times New Roman"/>
            </a:endParaRPr>
          </a:p>
        </p:txBody>
      </p:sp>
      <p:sp>
        <p:nvSpPr>
          <p:cNvPr id="238" name="Google Shape;238;p26"/>
          <p:cNvSpPr/>
          <p:nvPr/>
        </p:nvSpPr>
        <p:spPr>
          <a:xfrm>
            <a:off x="706439" y="4549775"/>
            <a:ext cx="4183837" cy="397545"/>
          </a:xfrm>
          <a:prstGeom prst="rect">
            <a:avLst/>
          </a:prstGeom>
          <a:noFill/>
          <a:ln>
            <a:noFill/>
          </a:ln>
        </p:spPr>
        <p:txBody>
          <a:bodyPr spcFirstLastPara="1" wrap="square" lIns="90475" tIns="44450" rIns="90475" bIns="44450" anchor="t" anchorCtr="0">
            <a:spAutoFit/>
          </a:bodyPr>
          <a:lstStyle/>
          <a:p>
            <a:pPr marL="0" marR="0" lvl="0" indent="0" algn="l" rtl="0">
              <a:spcBef>
                <a:spcPts val="0"/>
              </a:spcBef>
              <a:spcAft>
                <a:spcPts val="0"/>
              </a:spcAft>
              <a:buNone/>
            </a:pPr>
            <a:r>
              <a:rPr lang="en-US" sz="2000">
                <a:solidFill>
                  <a:schemeClr val="dk1"/>
                </a:solidFill>
                <a:latin typeface="Times New Roman"/>
                <a:ea typeface="Times New Roman"/>
                <a:cs typeface="Times New Roman"/>
                <a:sym typeface="Times New Roman"/>
              </a:rPr>
              <a:t>each is described by </a:t>
            </a:r>
            <a:r>
              <a:rPr lang="en-US" sz="2000" i="1">
                <a:solidFill>
                  <a:schemeClr val="dk1"/>
                </a:solidFill>
                <a:latin typeface="Times New Roman"/>
                <a:ea typeface="Times New Roman"/>
                <a:cs typeface="Times New Roman"/>
                <a:sym typeface="Times New Roman"/>
              </a:rPr>
              <a:t>attributes</a:t>
            </a:r>
            <a:r>
              <a:rPr lang="en-US" sz="2000">
                <a:solidFill>
                  <a:schemeClr val="dk1"/>
                </a:solidFill>
                <a:latin typeface="Times New Roman"/>
                <a:ea typeface="Times New Roman"/>
                <a:cs typeface="Times New Roman"/>
                <a:sym typeface="Times New Roman"/>
              </a:rPr>
              <a:t> that are </a:t>
            </a:r>
            <a:endParaRPr/>
          </a:p>
        </p:txBody>
      </p:sp>
      <p:sp>
        <p:nvSpPr>
          <p:cNvPr id="239" name="Google Shape;239;p26"/>
          <p:cNvSpPr/>
          <p:nvPr/>
        </p:nvSpPr>
        <p:spPr>
          <a:xfrm>
            <a:off x="706438" y="4830763"/>
            <a:ext cx="2426945" cy="397545"/>
          </a:xfrm>
          <a:prstGeom prst="rect">
            <a:avLst/>
          </a:prstGeom>
          <a:noFill/>
          <a:ln>
            <a:noFill/>
          </a:ln>
        </p:spPr>
        <p:txBody>
          <a:bodyPr spcFirstLastPara="1" wrap="square" lIns="90475" tIns="44450" rIns="90475" bIns="44450" anchor="t" anchorCtr="0">
            <a:spAutoFit/>
          </a:bodyPr>
          <a:lstStyle/>
          <a:p>
            <a:pPr marL="0" marR="0" lvl="0" indent="0" algn="l" rtl="0">
              <a:spcBef>
                <a:spcPts val="0"/>
              </a:spcBef>
              <a:spcAft>
                <a:spcPts val="0"/>
              </a:spcAft>
              <a:buNone/>
            </a:pPr>
            <a:r>
              <a:rPr lang="en-US" sz="2000">
                <a:solidFill>
                  <a:srgbClr val="000000"/>
                </a:solidFill>
                <a:latin typeface="Times New Roman"/>
                <a:ea typeface="Times New Roman"/>
                <a:cs typeface="Times New Roman"/>
                <a:sym typeface="Times New Roman"/>
              </a:rPr>
              <a:t>themselves data items</a:t>
            </a:r>
            <a:endParaRPr/>
          </a:p>
        </p:txBody>
      </p:sp>
      <p:grpSp>
        <p:nvGrpSpPr>
          <p:cNvPr id="240" name="Google Shape;240;p26"/>
          <p:cNvGrpSpPr/>
          <p:nvPr/>
        </p:nvGrpSpPr>
        <p:grpSpPr>
          <a:xfrm>
            <a:off x="466725" y="2960688"/>
            <a:ext cx="215900" cy="190500"/>
            <a:chOff x="876" y="1658"/>
            <a:chExt cx="136" cy="120"/>
          </a:xfrm>
        </p:grpSpPr>
        <p:sp>
          <p:nvSpPr>
            <p:cNvPr id="241" name="Google Shape;241;p26"/>
            <p:cNvSpPr/>
            <p:nvPr/>
          </p:nvSpPr>
          <p:spPr>
            <a:xfrm>
              <a:off x="892" y="1672"/>
              <a:ext cx="120" cy="106"/>
            </a:xfrm>
            <a:prstGeom prst="rect">
              <a:avLst/>
            </a:prstGeom>
            <a:solidFill>
              <a:srgbClr val="D1039B"/>
            </a:solidFill>
            <a:ln w="12700"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400">
                <a:solidFill>
                  <a:schemeClr val="dk1"/>
                </a:solidFill>
                <a:latin typeface="Times New Roman"/>
                <a:ea typeface="Times New Roman"/>
                <a:cs typeface="Times New Roman"/>
                <a:sym typeface="Times New Roman"/>
              </a:endParaRPr>
            </a:p>
          </p:txBody>
        </p:sp>
        <p:sp>
          <p:nvSpPr>
            <p:cNvPr id="242" name="Google Shape;242;p26"/>
            <p:cNvSpPr/>
            <p:nvPr/>
          </p:nvSpPr>
          <p:spPr>
            <a:xfrm>
              <a:off x="876" y="1658"/>
              <a:ext cx="120" cy="99"/>
            </a:xfrm>
            <a:prstGeom prst="rect">
              <a:avLst/>
            </a:prstGeom>
            <a:solidFill>
              <a:srgbClr val="D1039B"/>
            </a:solidFill>
            <a:ln w="12700"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400">
                <a:solidFill>
                  <a:schemeClr val="dk1"/>
                </a:solidFill>
                <a:latin typeface="Times New Roman"/>
                <a:ea typeface="Times New Roman"/>
                <a:cs typeface="Times New Roman"/>
                <a:sym typeface="Times New Roman"/>
              </a:endParaRPr>
            </a:p>
          </p:txBody>
        </p:sp>
      </p:grpSp>
      <p:grpSp>
        <p:nvGrpSpPr>
          <p:cNvPr id="243" name="Google Shape;243;p26"/>
          <p:cNvGrpSpPr/>
          <p:nvPr/>
        </p:nvGrpSpPr>
        <p:grpSpPr>
          <a:xfrm>
            <a:off x="466725" y="3706813"/>
            <a:ext cx="215900" cy="190500"/>
            <a:chOff x="876" y="2128"/>
            <a:chExt cx="136" cy="120"/>
          </a:xfrm>
        </p:grpSpPr>
        <p:sp>
          <p:nvSpPr>
            <p:cNvPr id="244" name="Google Shape;244;p26"/>
            <p:cNvSpPr/>
            <p:nvPr/>
          </p:nvSpPr>
          <p:spPr>
            <a:xfrm>
              <a:off x="892" y="2142"/>
              <a:ext cx="120" cy="106"/>
            </a:xfrm>
            <a:prstGeom prst="rect">
              <a:avLst/>
            </a:prstGeom>
            <a:solidFill>
              <a:srgbClr val="D1039B"/>
            </a:solidFill>
            <a:ln w="12700"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400">
                <a:solidFill>
                  <a:schemeClr val="dk1"/>
                </a:solidFill>
                <a:latin typeface="Times New Roman"/>
                <a:ea typeface="Times New Roman"/>
                <a:cs typeface="Times New Roman"/>
                <a:sym typeface="Times New Roman"/>
              </a:endParaRPr>
            </a:p>
          </p:txBody>
        </p:sp>
        <p:sp>
          <p:nvSpPr>
            <p:cNvPr id="245" name="Google Shape;245;p26"/>
            <p:cNvSpPr/>
            <p:nvPr/>
          </p:nvSpPr>
          <p:spPr>
            <a:xfrm>
              <a:off x="876" y="2128"/>
              <a:ext cx="120" cy="98"/>
            </a:xfrm>
            <a:prstGeom prst="rect">
              <a:avLst/>
            </a:prstGeom>
            <a:solidFill>
              <a:srgbClr val="D1039B"/>
            </a:solidFill>
            <a:ln w="12700"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400">
                <a:solidFill>
                  <a:schemeClr val="dk1"/>
                </a:solidFill>
                <a:latin typeface="Times New Roman"/>
                <a:ea typeface="Times New Roman"/>
                <a:cs typeface="Times New Roman"/>
                <a:sym typeface="Times New Roman"/>
              </a:endParaRPr>
            </a:p>
          </p:txBody>
        </p:sp>
      </p:grpSp>
      <p:grpSp>
        <p:nvGrpSpPr>
          <p:cNvPr id="246" name="Google Shape;246;p26"/>
          <p:cNvGrpSpPr/>
          <p:nvPr/>
        </p:nvGrpSpPr>
        <p:grpSpPr>
          <a:xfrm>
            <a:off x="466725" y="4676775"/>
            <a:ext cx="215900" cy="190500"/>
            <a:chOff x="876" y="2739"/>
            <a:chExt cx="136" cy="120"/>
          </a:xfrm>
        </p:grpSpPr>
        <p:sp>
          <p:nvSpPr>
            <p:cNvPr id="247" name="Google Shape;247;p26"/>
            <p:cNvSpPr/>
            <p:nvPr/>
          </p:nvSpPr>
          <p:spPr>
            <a:xfrm>
              <a:off x="892" y="2753"/>
              <a:ext cx="120" cy="106"/>
            </a:xfrm>
            <a:prstGeom prst="rect">
              <a:avLst/>
            </a:prstGeom>
            <a:solidFill>
              <a:srgbClr val="D1039B"/>
            </a:solidFill>
            <a:ln w="12700"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400">
                <a:solidFill>
                  <a:schemeClr val="dk1"/>
                </a:solidFill>
                <a:latin typeface="Times New Roman"/>
                <a:ea typeface="Times New Roman"/>
                <a:cs typeface="Times New Roman"/>
                <a:sym typeface="Times New Roman"/>
              </a:endParaRPr>
            </a:p>
          </p:txBody>
        </p:sp>
        <p:sp>
          <p:nvSpPr>
            <p:cNvPr id="248" name="Google Shape;248;p26"/>
            <p:cNvSpPr/>
            <p:nvPr/>
          </p:nvSpPr>
          <p:spPr>
            <a:xfrm>
              <a:off x="876" y="2739"/>
              <a:ext cx="120" cy="99"/>
            </a:xfrm>
            <a:prstGeom prst="rect">
              <a:avLst/>
            </a:prstGeom>
            <a:solidFill>
              <a:srgbClr val="D1039B"/>
            </a:solidFill>
            <a:ln w="12700"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400">
                <a:solidFill>
                  <a:schemeClr val="dk1"/>
                </a:solidFill>
                <a:latin typeface="Times New Roman"/>
                <a:ea typeface="Times New Roman"/>
                <a:cs typeface="Times New Roman"/>
                <a:sym typeface="Times New Roman"/>
              </a:endParaRPr>
            </a:p>
          </p:txBody>
        </p:sp>
      </p:grpSp>
      <p:sp>
        <p:nvSpPr>
          <p:cNvPr id="249" name="Google Shape;249;p26"/>
          <p:cNvSpPr/>
          <p:nvPr/>
        </p:nvSpPr>
        <p:spPr>
          <a:xfrm>
            <a:off x="5953125" y="2614614"/>
            <a:ext cx="2352675" cy="2427287"/>
          </a:xfrm>
          <a:prstGeom prst="rect">
            <a:avLst/>
          </a:prstGeom>
          <a:solidFill>
            <a:schemeClr val="accent2"/>
          </a:solidFill>
          <a:ln>
            <a:noFill/>
          </a:ln>
          <a:effectLst>
            <a:outerShdw dist="107763" dir="2700000" algn="ctr" rotWithShape="0">
              <a:schemeClr val="lt2"/>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400">
              <a:solidFill>
                <a:schemeClr val="dk1"/>
              </a:solidFill>
              <a:latin typeface="Times New Roman"/>
              <a:ea typeface="Times New Roman"/>
              <a:cs typeface="Times New Roman"/>
              <a:sym typeface="Times New Roman"/>
            </a:endParaRPr>
          </a:p>
        </p:txBody>
      </p:sp>
      <p:sp>
        <p:nvSpPr>
          <p:cNvPr id="250" name="Google Shape;250;p26"/>
          <p:cNvSpPr/>
          <p:nvPr/>
        </p:nvSpPr>
        <p:spPr>
          <a:xfrm>
            <a:off x="6002338" y="2600325"/>
            <a:ext cx="2093521" cy="1861856"/>
          </a:xfrm>
          <a:prstGeom prst="rect">
            <a:avLst/>
          </a:prstGeom>
          <a:noFill/>
          <a:ln>
            <a:noFill/>
          </a:ln>
        </p:spPr>
        <p:txBody>
          <a:bodyPr spcFirstLastPara="1" wrap="square" lIns="90475" tIns="44450" rIns="90475" bIns="44450" anchor="t" anchorCtr="0">
            <a:spAutoFit/>
          </a:bodyPr>
          <a:lstStyle/>
          <a:p>
            <a:pPr marL="0" marR="0" lvl="0" indent="0" algn="l" rtl="0">
              <a:spcBef>
                <a:spcPts val="0"/>
              </a:spcBef>
              <a:spcAft>
                <a:spcPts val="0"/>
              </a:spcAft>
              <a:buNone/>
            </a:pPr>
            <a:r>
              <a:rPr lang="en-US" sz="2000">
                <a:solidFill>
                  <a:schemeClr val="lt1"/>
                </a:solidFill>
                <a:latin typeface="Times New Roman"/>
                <a:ea typeface="Times New Roman"/>
                <a:cs typeface="Times New Roman"/>
                <a:sym typeface="Times New Roman"/>
              </a:rPr>
              <a:t>object: automobile</a:t>
            </a:r>
            <a:endParaRPr/>
          </a:p>
          <a:p>
            <a:pPr marL="0" marR="0" lvl="0" indent="0" algn="l" rtl="0">
              <a:spcBef>
                <a:spcPts val="0"/>
              </a:spcBef>
              <a:spcAft>
                <a:spcPts val="0"/>
              </a:spcAft>
              <a:buNone/>
            </a:pPr>
            <a:r>
              <a:rPr lang="en-US" sz="2000">
                <a:solidFill>
                  <a:schemeClr val="lt1"/>
                </a:solidFill>
                <a:latin typeface="Times New Roman"/>
                <a:ea typeface="Times New Roman"/>
                <a:cs typeface="Times New Roman"/>
                <a:sym typeface="Times New Roman"/>
              </a:rPr>
              <a:t>attributes:</a:t>
            </a:r>
            <a:endParaRPr/>
          </a:p>
          <a:p>
            <a:pPr marL="0" marR="0" lvl="0" indent="0" algn="l" rtl="0">
              <a:lnSpc>
                <a:spcPct val="75000"/>
              </a:lnSpc>
              <a:spcBef>
                <a:spcPts val="0"/>
              </a:spcBef>
              <a:spcAft>
                <a:spcPts val="0"/>
              </a:spcAft>
              <a:buNone/>
            </a:pPr>
            <a:r>
              <a:rPr lang="en-US" sz="2000">
                <a:solidFill>
                  <a:schemeClr val="lt1"/>
                </a:solidFill>
                <a:latin typeface="Times New Roman"/>
                <a:ea typeface="Times New Roman"/>
                <a:cs typeface="Times New Roman"/>
                <a:sym typeface="Times New Roman"/>
              </a:rPr>
              <a:t>   make</a:t>
            </a:r>
            <a:endParaRPr/>
          </a:p>
          <a:p>
            <a:pPr marL="0" marR="0" lvl="0" indent="0" algn="l" rtl="0">
              <a:lnSpc>
                <a:spcPct val="75000"/>
              </a:lnSpc>
              <a:spcBef>
                <a:spcPts val="0"/>
              </a:spcBef>
              <a:spcAft>
                <a:spcPts val="0"/>
              </a:spcAft>
              <a:buNone/>
            </a:pPr>
            <a:r>
              <a:rPr lang="en-US" sz="2000">
                <a:solidFill>
                  <a:schemeClr val="lt1"/>
                </a:solidFill>
                <a:latin typeface="Times New Roman"/>
                <a:ea typeface="Times New Roman"/>
                <a:cs typeface="Times New Roman"/>
                <a:sym typeface="Times New Roman"/>
              </a:rPr>
              <a:t>   model</a:t>
            </a:r>
            <a:endParaRPr/>
          </a:p>
          <a:p>
            <a:pPr marL="0" marR="0" lvl="0" indent="0" algn="l" rtl="0">
              <a:lnSpc>
                <a:spcPct val="75000"/>
              </a:lnSpc>
              <a:spcBef>
                <a:spcPts val="0"/>
              </a:spcBef>
              <a:spcAft>
                <a:spcPts val="0"/>
              </a:spcAft>
              <a:buNone/>
            </a:pPr>
            <a:r>
              <a:rPr lang="en-US" sz="2000">
                <a:solidFill>
                  <a:schemeClr val="lt1"/>
                </a:solidFill>
                <a:latin typeface="Times New Roman"/>
                <a:ea typeface="Times New Roman"/>
                <a:cs typeface="Times New Roman"/>
                <a:sym typeface="Times New Roman"/>
              </a:rPr>
              <a:t>   body type</a:t>
            </a:r>
            <a:endParaRPr/>
          </a:p>
          <a:p>
            <a:pPr marL="0" marR="0" lvl="0" indent="0" algn="l" rtl="0">
              <a:lnSpc>
                <a:spcPct val="75000"/>
              </a:lnSpc>
              <a:spcBef>
                <a:spcPts val="0"/>
              </a:spcBef>
              <a:spcAft>
                <a:spcPts val="0"/>
              </a:spcAft>
              <a:buNone/>
            </a:pPr>
            <a:r>
              <a:rPr lang="en-US" sz="2000">
                <a:solidFill>
                  <a:schemeClr val="lt1"/>
                </a:solidFill>
                <a:latin typeface="Times New Roman"/>
                <a:ea typeface="Times New Roman"/>
                <a:cs typeface="Times New Roman"/>
                <a:sym typeface="Times New Roman"/>
              </a:rPr>
              <a:t>   price</a:t>
            </a:r>
            <a:endParaRPr/>
          </a:p>
          <a:p>
            <a:pPr marL="0" marR="0" lvl="0" indent="0" algn="l" rtl="0">
              <a:lnSpc>
                <a:spcPct val="75000"/>
              </a:lnSpc>
              <a:spcBef>
                <a:spcPts val="0"/>
              </a:spcBef>
              <a:spcAft>
                <a:spcPts val="0"/>
              </a:spcAft>
              <a:buNone/>
            </a:pPr>
            <a:r>
              <a:rPr lang="en-US" sz="2000">
                <a:solidFill>
                  <a:schemeClr val="lt1"/>
                </a:solidFill>
                <a:latin typeface="Times New Roman"/>
                <a:ea typeface="Times New Roman"/>
                <a:cs typeface="Times New Roman"/>
                <a:sym typeface="Times New Roman"/>
              </a:rPr>
              <a:t>   options code</a:t>
            </a:r>
            <a:endParaRPr/>
          </a:p>
        </p:txBody>
      </p:sp>
      <p:cxnSp>
        <p:nvCxnSpPr>
          <p:cNvPr id="251" name="Google Shape;251;p26"/>
          <p:cNvCxnSpPr/>
          <p:nvPr/>
        </p:nvCxnSpPr>
        <p:spPr>
          <a:xfrm rot="10800000" flipH="1">
            <a:off x="5965825" y="2982913"/>
            <a:ext cx="2339975" cy="26987"/>
          </a:xfrm>
          <a:prstGeom prst="straightConnector1">
            <a:avLst/>
          </a:prstGeom>
          <a:noFill/>
          <a:ln w="25400" cap="flat" cmpd="sng">
            <a:solidFill>
              <a:schemeClr val="dk1"/>
            </a:solidFill>
            <a:prstDash val="solid"/>
            <a:round/>
            <a:headEnd type="none" w="med" len="med"/>
            <a:tailEnd type="none" w="med" len="med"/>
          </a:ln>
        </p:spPr>
      </p:cxn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p27"/>
          <p:cNvSpPr txBox="1">
            <a:spLocks noGrp="1"/>
          </p:cNvSpPr>
          <p:nvPr>
            <p:ph type="title"/>
          </p:nvPr>
        </p:nvSpPr>
        <p:spPr>
          <a:xfrm>
            <a:off x="0" y="152400"/>
            <a:ext cx="7162800" cy="503238"/>
          </a:xfrm>
          <a:prstGeom prst="rect">
            <a:avLst/>
          </a:prstGeom>
          <a:noFill/>
          <a:ln>
            <a:noFill/>
          </a:ln>
        </p:spPr>
        <p:txBody>
          <a:bodyPr spcFirstLastPara="1" wrap="square" lIns="90475" tIns="44450" rIns="90475" bIns="44450" anchor="ctr" anchorCtr="0">
            <a:noAutofit/>
          </a:bodyPr>
          <a:lstStyle/>
          <a:p>
            <a:pPr marL="0" lvl="0" indent="0" algn="l" rtl="0">
              <a:spcBef>
                <a:spcPts val="0"/>
              </a:spcBef>
              <a:spcAft>
                <a:spcPts val="0"/>
              </a:spcAft>
              <a:buClr>
                <a:srgbClr val="000000"/>
              </a:buClr>
              <a:buSzPts val="2800"/>
              <a:buFont typeface="Times New Roman"/>
              <a:buNone/>
            </a:pPr>
            <a:r>
              <a:rPr lang="en-US" sz="2800" b="1"/>
              <a:t>Data Modeling Concept</a:t>
            </a:r>
            <a:endParaRPr/>
          </a:p>
        </p:txBody>
      </p:sp>
      <p:sp>
        <p:nvSpPr>
          <p:cNvPr id="257" name="Google Shape;257;p27"/>
          <p:cNvSpPr txBox="1">
            <a:spLocks noGrp="1"/>
          </p:cNvSpPr>
          <p:nvPr>
            <p:ph type="body" idx="1"/>
          </p:nvPr>
        </p:nvSpPr>
        <p:spPr>
          <a:xfrm>
            <a:off x="304800" y="1371600"/>
            <a:ext cx="7235825" cy="3962400"/>
          </a:xfrm>
          <a:prstGeom prst="rect">
            <a:avLst/>
          </a:prstGeom>
          <a:noFill/>
          <a:ln>
            <a:noFill/>
          </a:ln>
        </p:spPr>
        <p:txBody>
          <a:bodyPr spcFirstLastPara="1" wrap="square" lIns="90475" tIns="44450" rIns="90475" bIns="44450" anchor="t" anchorCtr="0">
            <a:noAutofit/>
          </a:bodyPr>
          <a:lstStyle/>
          <a:p>
            <a:pPr marL="406400" lvl="0" indent="-304800" algn="just" rtl="0">
              <a:spcBef>
                <a:spcPts val="0"/>
              </a:spcBef>
              <a:spcAft>
                <a:spcPts val="0"/>
              </a:spcAft>
              <a:buClr>
                <a:srgbClr val="000000"/>
              </a:buClr>
              <a:buSzPts val="2000"/>
              <a:buChar char="•"/>
            </a:pPr>
            <a:r>
              <a:rPr lang="en-US" sz="2000"/>
              <a:t>examines </a:t>
            </a:r>
            <a:r>
              <a:rPr lang="en-US" sz="2000" b="1" i="1"/>
              <a:t>data objects</a:t>
            </a:r>
            <a:r>
              <a:rPr lang="en-US" sz="2000"/>
              <a:t> independently of processing</a:t>
            </a:r>
            <a:endParaRPr/>
          </a:p>
          <a:p>
            <a:pPr marL="406400" lvl="0" indent="-304800" algn="just" rtl="0">
              <a:spcBef>
                <a:spcPts val="888"/>
              </a:spcBef>
              <a:spcAft>
                <a:spcPts val="0"/>
              </a:spcAft>
              <a:buClr>
                <a:srgbClr val="000000"/>
              </a:buClr>
              <a:buSzPts val="2000"/>
              <a:buChar char="•"/>
            </a:pPr>
            <a:r>
              <a:rPr lang="en-US" sz="2000"/>
              <a:t>focuses attention on the </a:t>
            </a:r>
            <a:r>
              <a:rPr lang="en-US" sz="2000" b="1" i="1"/>
              <a:t>data domain</a:t>
            </a:r>
            <a:endParaRPr/>
          </a:p>
          <a:p>
            <a:pPr marL="406400" lvl="0" indent="-304800" algn="just" rtl="0">
              <a:spcBef>
                <a:spcPts val="888"/>
              </a:spcBef>
              <a:spcAft>
                <a:spcPts val="0"/>
              </a:spcAft>
              <a:buClr>
                <a:srgbClr val="000000"/>
              </a:buClr>
              <a:buSzPts val="2000"/>
              <a:buChar char="•"/>
            </a:pPr>
            <a:r>
              <a:rPr lang="en-US" sz="2000"/>
              <a:t>creates a model at the </a:t>
            </a:r>
            <a:r>
              <a:rPr lang="en-US" sz="2000" b="1" i="1"/>
              <a:t>customer</a:t>
            </a:r>
            <a:r>
              <a:rPr lang="en-US" sz="2000"/>
              <a:t>’s level of abstraction</a:t>
            </a:r>
            <a:endParaRPr/>
          </a:p>
          <a:p>
            <a:pPr marL="406400" lvl="0" indent="-304800" algn="just" rtl="0">
              <a:spcBef>
                <a:spcPts val="888"/>
              </a:spcBef>
              <a:spcAft>
                <a:spcPts val="0"/>
              </a:spcAft>
              <a:buClr>
                <a:srgbClr val="000000"/>
              </a:buClr>
              <a:buSzPts val="2000"/>
              <a:buChar char="•"/>
            </a:pPr>
            <a:r>
              <a:rPr lang="en-US" sz="2000"/>
              <a:t>indicates how data objects </a:t>
            </a:r>
            <a:r>
              <a:rPr lang="en-US" sz="2000" b="1" i="1"/>
              <a:t>relate</a:t>
            </a:r>
            <a:r>
              <a:rPr lang="en-US" sz="2000"/>
              <a:t> to one another</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61"/>
        <p:cNvGrpSpPr/>
        <p:nvPr/>
      </p:nvGrpSpPr>
      <p:grpSpPr>
        <a:xfrm>
          <a:off x="0" y="0"/>
          <a:ext cx="0" cy="0"/>
          <a:chOff x="0" y="0"/>
          <a:chExt cx="0" cy="0"/>
        </a:xfrm>
      </p:grpSpPr>
      <p:sp>
        <p:nvSpPr>
          <p:cNvPr id="262" name="Google Shape;262;p28"/>
          <p:cNvSpPr txBox="1">
            <a:spLocks noGrp="1"/>
          </p:cNvSpPr>
          <p:nvPr>
            <p:ph type="title"/>
          </p:nvPr>
        </p:nvSpPr>
        <p:spPr>
          <a:xfrm>
            <a:off x="0" y="0"/>
            <a:ext cx="6477000" cy="596900"/>
          </a:xfrm>
          <a:prstGeom prst="rect">
            <a:avLst/>
          </a:prstGeom>
          <a:noFill/>
          <a:ln>
            <a:noFill/>
          </a:ln>
        </p:spPr>
        <p:txBody>
          <a:bodyPr spcFirstLastPara="1" wrap="square" lIns="90475" tIns="44450" rIns="90475" bIns="44450" anchor="ctr" anchorCtr="0">
            <a:noAutofit/>
          </a:bodyPr>
          <a:lstStyle/>
          <a:p>
            <a:pPr marL="0" lvl="0" indent="0" algn="l" rtl="0">
              <a:spcBef>
                <a:spcPts val="0"/>
              </a:spcBef>
              <a:spcAft>
                <a:spcPts val="0"/>
              </a:spcAft>
              <a:buClr>
                <a:srgbClr val="000000"/>
              </a:buClr>
              <a:buSzPts val="2800"/>
              <a:buFont typeface="Times New Roman"/>
              <a:buNone/>
            </a:pPr>
            <a:r>
              <a:rPr lang="en-US" sz="2800" b="1"/>
              <a:t>What is a Relationship?</a:t>
            </a:r>
            <a:endParaRPr/>
          </a:p>
        </p:txBody>
      </p:sp>
      <p:sp>
        <p:nvSpPr>
          <p:cNvPr id="263" name="Google Shape;263;p28"/>
          <p:cNvSpPr txBox="1">
            <a:spLocks noGrp="1"/>
          </p:cNvSpPr>
          <p:nvPr>
            <p:ph type="body" idx="1"/>
          </p:nvPr>
        </p:nvSpPr>
        <p:spPr>
          <a:xfrm>
            <a:off x="381000" y="1447800"/>
            <a:ext cx="8458200" cy="2497138"/>
          </a:xfrm>
          <a:prstGeom prst="rect">
            <a:avLst/>
          </a:prstGeom>
          <a:noFill/>
          <a:ln>
            <a:noFill/>
          </a:ln>
        </p:spPr>
        <p:txBody>
          <a:bodyPr spcFirstLastPara="1" wrap="square" lIns="90475" tIns="44450" rIns="90475" bIns="44450" anchor="t" anchorCtr="0">
            <a:noAutofit/>
          </a:bodyPr>
          <a:lstStyle/>
          <a:p>
            <a:pPr marL="101600" lvl="0" indent="0" algn="just" rtl="0">
              <a:spcBef>
                <a:spcPts val="0"/>
              </a:spcBef>
              <a:spcAft>
                <a:spcPts val="0"/>
              </a:spcAft>
              <a:buClr>
                <a:srgbClr val="000000"/>
              </a:buClr>
              <a:buSzPts val="2000"/>
              <a:buNone/>
            </a:pPr>
            <a:r>
              <a:rPr lang="en-US" sz="2000">
                <a:solidFill>
                  <a:schemeClr val="dk1"/>
                </a:solidFill>
              </a:rPr>
              <a:t>Relationship:- indicates “connected”; a “fact” that must be “remembered” by the system and cannot or is not computed or derived mechanically</a:t>
            </a:r>
            <a:endParaRPr/>
          </a:p>
          <a:p>
            <a:pPr marL="387350" lvl="0" indent="-285750" algn="just" rtl="0">
              <a:spcBef>
                <a:spcPts val="888"/>
              </a:spcBef>
              <a:spcAft>
                <a:spcPts val="0"/>
              </a:spcAft>
              <a:buClr>
                <a:srgbClr val="000000"/>
              </a:buClr>
              <a:buSzPts val="2000"/>
              <a:buFont typeface="Arial"/>
              <a:buChar char="•"/>
            </a:pPr>
            <a:r>
              <a:rPr lang="en-US" sz="2000">
                <a:solidFill>
                  <a:schemeClr val="dk1"/>
                </a:solidFill>
              </a:rPr>
              <a:t>several </a:t>
            </a:r>
            <a:r>
              <a:rPr lang="en-US" sz="2000" b="1" i="1">
                <a:solidFill>
                  <a:schemeClr val="dk1"/>
                </a:solidFill>
              </a:rPr>
              <a:t>instances</a:t>
            </a:r>
            <a:r>
              <a:rPr lang="en-US" sz="2000">
                <a:solidFill>
                  <a:schemeClr val="dk1"/>
                </a:solidFill>
              </a:rPr>
              <a:t> of a relationship can exist</a:t>
            </a:r>
            <a:endParaRPr/>
          </a:p>
          <a:p>
            <a:pPr marL="406400" lvl="0" indent="-304800" algn="just" rtl="0">
              <a:spcBef>
                <a:spcPts val="888"/>
              </a:spcBef>
              <a:spcAft>
                <a:spcPts val="0"/>
              </a:spcAft>
              <a:buClr>
                <a:srgbClr val="000000"/>
              </a:buClr>
              <a:buSzPts val="2000"/>
              <a:buFont typeface="Arial"/>
              <a:buChar char="•"/>
            </a:pPr>
            <a:r>
              <a:rPr lang="en-US" sz="2000">
                <a:solidFill>
                  <a:schemeClr val="dk1"/>
                </a:solidFill>
              </a:rPr>
              <a:t>objects can be related in </a:t>
            </a:r>
            <a:r>
              <a:rPr lang="en-US" sz="2000" b="1" i="1">
                <a:solidFill>
                  <a:schemeClr val="dk1"/>
                </a:solidFill>
              </a:rPr>
              <a:t>many different ways</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67"/>
        <p:cNvGrpSpPr/>
        <p:nvPr/>
      </p:nvGrpSpPr>
      <p:grpSpPr>
        <a:xfrm>
          <a:off x="0" y="0"/>
          <a:ext cx="0" cy="0"/>
          <a:chOff x="0" y="0"/>
          <a:chExt cx="0" cy="0"/>
        </a:xfrm>
      </p:grpSpPr>
      <p:sp>
        <p:nvSpPr>
          <p:cNvPr id="268" name="Google Shape;268;p29"/>
          <p:cNvSpPr txBox="1">
            <a:spLocks noGrp="1"/>
          </p:cNvSpPr>
          <p:nvPr>
            <p:ph type="title"/>
          </p:nvPr>
        </p:nvSpPr>
        <p:spPr>
          <a:xfrm>
            <a:off x="9504" y="94455"/>
            <a:ext cx="6835776" cy="533401"/>
          </a:xfrm>
          <a:prstGeom prst="rect">
            <a:avLst/>
          </a:prstGeom>
          <a:noFill/>
          <a:ln>
            <a:noFill/>
          </a:ln>
        </p:spPr>
        <p:txBody>
          <a:bodyPr spcFirstLastPara="1" wrap="square" lIns="90475" tIns="44450" rIns="90475" bIns="44450" anchor="ctr" anchorCtr="0">
            <a:noAutofit/>
          </a:bodyPr>
          <a:lstStyle/>
          <a:p>
            <a:pPr marL="0" lvl="0" indent="0" algn="l" rtl="0">
              <a:spcBef>
                <a:spcPts val="0"/>
              </a:spcBef>
              <a:spcAft>
                <a:spcPts val="0"/>
              </a:spcAft>
              <a:buClr>
                <a:srgbClr val="000000"/>
              </a:buClr>
              <a:buSzPts val="2800"/>
              <a:buFont typeface="Times New Roman"/>
              <a:buNone/>
            </a:pPr>
            <a:r>
              <a:rPr lang="en-US" sz="2800" b="1"/>
              <a:t>ERD Notation</a:t>
            </a:r>
            <a:endParaRPr/>
          </a:p>
        </p:txBody>
      </p:sp>
      <p:cxnSp>
        <p:nvCxnSpPr>
          <p:cNvPr id="269" name="Google Shape;269;p29"/>
          <p:cNvCxnSpPr/>
          <p:nvPr/>
        </p:nvCxnSpPr>
        <p:spPr>
          <a:xfrm>
            <a:off x="3187700" y="4591050"/>
            <a:ext cx="3073400" cy="0"/>
          </a:xfrm>
          <a:prstGeom prst="straightConnector1">
            <a:avLst/>
          </a:prstGeom>
          <a:noFill/>
          <a:ln w="25400" cap="flat" cmpd="sng">
            <a:solidFill>
              <a:schemeClr val="dk1"/>
            </a:solidFill>
            <a:prstDash val="solid"/>
            <a:round/>
            <a:headEnd type="none" w="med" len="med"/>
            <a:tailEnd type="none" w="med" len="med"/>
          </a:ln>
        </p:spPr>
      </p:cxnSp>
      <p:cxnSp>
        <p:nvCxnSpPr>
          <p:cNvPr id="270" name="Google Shape;270;p29"/>
          <p:cNvCxnSpPr/>
          <p:nvPr/>
        </p:nvCxnSpPr>
        <p:spPr>
          <a:xfrm>
            <a:off x="3175000" y="4476750"/>
            <a:ext cx="228600" cy="101600"/>
          </a:xfrm>
          <a:prstGeom prst="straightConnector1">
            <a:avLst/>
          </a:prstGeom>
          <a:noFill/>
          <a:ln w="25400" cap="flat" cmpd="sng">
            <a:solidFill>
              <a:schemeClr val="dk1"/>
            </a:solidFill>
            <a:prstDash val="solid"/>
            <a:round/>
            <a:headEnd type="none" w="med" len="med"/>
            <a:tailEnd type="none" w="med" len="med"/>
          </a:ln>
        </p:spPr>
      </p:cxnSp>
      <p:cxnSp>
        <p:nvCxnSpPr>
          <p:cNvPr id="271" name="Google Shape;271;p29"/>
          <p:cNvCxnSpPr/>
          <p:nvPr/>
        </p:nvCxnSpPr>
        <p:spPr>
          <a:xfrm flipH="1">
            <a:off x="3175000" y="4603750"/>
            <a:ext cx="203200" cy="76200"/>
          </a:xfrm>
          <a:prstGeom prst="straightConnector1">
            <a:avLst/>
          </a:prstGeom>
          <a:noFill/>
          <a:ln w="25400" cap="flat" cmpd="sng">
            <a:solidFill>
              <a:schemeClr val="dk1"/>
            </a:solidFill>
            <a:prstDash val="solid"/>
            <a:round/>
            <a:headEnd type="none" w="med" len="med"/>
            <a:tailEnd type="none" w="med" len="med"/>
          </a:ln>
        </p:spPr>
      </p:cxnSp>
      <p:cxnSp>
        <p:nvCxnSpPr>
          <p:cNvPr id="272" name="Google Shape;272;p29"/>
          <p:cNvCxnSpPr/>
          <p:nvPr/>
        </p:nvCxnSpPr>
        <p:spPr>
          <a:xfrm>
            <a:off x="5905500" y="4464050"/>
            <a:ext cx="0" cy="254000"/>
          </a:xfrm>
          <a:prstGeom prst="straightConnector1">
            <a:avLst/>
          </a:prstGeom>
          <a:noFill/>
          <a:ln w="25400" cap="flat" cmpd="sng">
            <a:solidFill>
              <a:schemeClr val="dk1"/>
            </a:solidFill>
            <a:prstDash val="solid"/>
            <a:round/>
            <a:headEnd type="none" w="med" len="med"/>
            <a:tailEnd type="none" w="med" len="med"/>
          </a:ln>
        </p:spPr>
      </p:cxnSp>
      <p:sp>
        <p:nvSpPr>
          <p:cNvPr id="273" name="Google Shape;273;p29"/>
          <p:cNvSpPr/>
          <p:nvPr/>
        </p:nvSpPr>
        <p:spPr>
          <a:xfrm>
            <a:off x="3224213" y="4741863"/>
            <a:ext cx="649216" cy="305212"/>
          </a:xfrm>
          <a:prstGeom prst="rect">
            <a:avLst/>
          </a:prstGeom>
          <a:noFill/>
          <a:ln>
            <a:noFill/>
          </a:ln>
        </p:spPr>
        <p:txBody>
          <a:bodyPr spcFirstLastPara="1" wrap="square" lIns="90475" tIns="44450" rIns="90475" bIns="44450" anchor="t" anchorCtr="0">
            <a:spAutoFit/>
          </a:bodyPr>
          <a:lstStyle/>
          <a:p>
            <a:pPr marL="0" marR="0" lvl="0" indent="0" algn="l" rtl="0">
              <a:spcBef>
                <a:spcPts val="0"/>
              </a:spcBef>
              <a:spcAft>
                <a:spcPts val="0"/>
              </a:spcAft>
              <a:buNone/>
            </a:pPr>
            <a:r>
              <a:rPr lang="en-US" sz="1400">
                <a:solidFill>
                  <a:schemeClr val="lt1"/>
                </a:solidFill>
                <a:latin typeface="Arial"/>
                <a:ea typeface="Arial"/>
                <a:cs typeface="Arial"/>
                <a:sym typeface="Arial"/>
              </a:rPr>
              <a:t>(0, m)</a:t>
            </a:r>
            <a:endParaRPr/>
          </a:p>
        </p:txBody>
      </p:sp>
      <p:sp>
        <p:nvSpPr>
          <p:cNvPr id="274" name="Google Shape;274;p29"/>
          <p:cNvSpPr/>
          <p:nvPr/>
        </p:nvSpPr>
        <p:spPr>
          <a:xfrm>
            <a:off x="3390900" y="4514850"/>
            <a:ext cx="139700" cy="139700"/>
          </a:xfrm>
          <a:prstGeom prst="ellipse">
            <a:avLst/>
          </a:prstGeom>
          <a:solidFill>
            <a:schemeClr val="lt1"/>
          </a:solid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cxnSp>
        <p:nvCxnSpPr>
          <p:cNvPr id="275" name="Google Shape;275;p29"/>
          <p:cNvCxnSpPr/>
          <p:nvPr/>
        </p:nvCxnSpPr>
        <p:spPr>
          <a:xfrm>
            <a:off x="5994400" y="4464050"/>
            <a:ext cx="0" cy="254000"/>
          </a:xfrm>
          <a:prstGeom prst="straightConnector1">
            <a:avLst/>
          </a:prstGeom>
          <a:noFill/>
          <a:ln w="25400" cap="flat" cmpd="sng">
            <a:solidFill>
              <a:schemeClr val="dk1"/>
            </a:solidFill>
            <a:prstDash val="solid"/>
            <a:round/>
            <a:headEnd type="none" w="med" len="med"/>
            <a:tailEnd type="none" w="med" len="med"/>
          </a:ln>
        </p:spPr>
      </p:cxnSp>
      <p:sp>
        <p:nvSpPr>
          <p:cNvPr id="276" name="Google Shape;276;p29"/>
          <p:cNvSpPr/>
          <p:nvPr/>
        </p:nvSpPr>
        <p:spPr>
          <a:xfrm>
            <a:off x="5586413" y="4716463"/>
            <a:ext cx="599522" cy="305212"/>
          </a:xfrm>
          <a:prstGeom prst="rect">
            <a:avLst/>
          </a:prstGeom>
          <a:noFill/>
          <a:ln>
            <a:noFill/>
          </a:ln>
        </p:spPr>
        <p:txBody>
          <a:bodyPr spcFirstLastPara="1" wrap="square" lIns="90475" tIns="44450" rIns="90475" bIns="44450" anchor="t" anchorCtr="0">
            <a:spAutoFit/>
          </a:bodyPr>
          <a:lstStyle/>
          <a:p>
            <a:pPr marL="0" marR="0" lvl="0" indent="0" algn="l" rtl="0">
              <a:spcBef>
                <a:spcPts val="0"/>
              </a:spcBef>
              <a:spcAft>
                <a:spcPts val="0"/>
              </a:spcAft>
              <a:buNone/>
            </a:pPr>
            <a:r>
              <a:rPr lang="en-US" sz="1400">
                <a:solidFill>
                  <a:schemeClr val="lt1"/>
                </a:solidFill>
                <a:latin typeface="Arial"/>
                <a:ea typeface="Arial"/>
                <a:cs typeface="Arial"/>
                <a:sym typeface="Arial"/>
              </a:rPr>
              <a:t>(1, 1)</a:t>
            </a:r>
            <a:endParaRPr/>
          </a:p>
        </p:txBody>
      </p:sp>
      <p:sp>
        <p:nvSpPr>
          <p:cNvPr id="277" name="Google Shape;277;p29"/>
          <p:cNvSpPr/>
          <p:nvPr/>
        </p:nvSpPr>
        <p:spPr>
          <a:xfrm>
            <a:off x="1765300" y="2344739"/>
            <a:ext cx="1295400" cy="663575"/>
          </a:xfrm>
          <a:prstGeom prst="rect">
            <a:avLst/>
          </a:prstGeom>
          <a:solidFill>
            <a:schemeClr val="accent2"/>
          </a:solidFill>
          <a:ln w="25400" cap="flat" cmpd="sng">
            <a:solidFill>
              <a:schemeClr val="dk1"/>
            </a:solidFill>
            <a:prstDash val="solid"/>
            <a:miter lim="800000"/>
            <a:headEnd type="none" w="sm" len="sm"/>
            <a:tailEnd type="none" w="sm" len="sm"/>
          </a:ln>
          <a:effectLst>
            <a:outerShdw dist="107763" dir="2700000" algn="ctr" rotWithShape="0">
              <a:schemeClr val="lt2"/>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278" name="Google Shape;278;p29"/>
          <p:cNvSpPr/>
          <p:nvPr/>
        </p:nvSpPr>
        <p:spPr>
          <a:xfrm>
            <a:off x="1814513" y="2443163"/>
            <a:ext cx="1005082" cy="459100"/>
          </a:xfrm>
          <a:prstGeom prst="rect">
            <a:avLst/>
          </a:prstGeom>
          <a:noFill/>
          <a:ln>
            <a:noFill/>
          </a:ln>
        </p:spPr>
        <p:txBody>
          <a:bodyPr spcFirstLastPara="1" wrap="square" lIns="90475" tIns="44450" rIns="90475" bIns="44450" anchor="t" anchorCtr="0">
            <a:spAutoFit/>
          </a:bodyPr>
          <a:lstStyle/>
          <a:p>
            <a:pPr marL="0" marR="0" lvl="0" indent="0" algn="l" rtl="0">
              <a:spcBef>
                <a:spcPts val="0"/>
              </a:spcBef>
              <a:spcAft>
                <a:spcPts val="0"/>
              </a:spcAft>
              <a:buNone/>
            </a:pPr>
            <a:r>
              <a:rPr lang="en-US" sz="2400">
                <a:solidFill>
                  <a:schemeClr val="lt1"/>
                </a:solidFill>
                <a:latin typeface="Arial"/>
                <a:ea typeface="Arial"/>
                <a:cs typeface="Arial"/>
                <a:sym typeface="Arial"/>
              </a:rPr>
              <a:t>object</a:t>
            </a:r>
            <a:endParaRPr/>
          </a:p>
        </p:txBody>
      </p:sp>
      <p:sp>
        <p:nvSpPr>
          <p:cNvPr id="279" name="Google Shape;279;p29"/>
          <p:cNvSpPr/>
          <p:nvPr/>
        </p:nvSpPr>
        <p:spPr>
          <a:xfrm>
            <a:off x="3898900" y="2322513"/>
            <a:ext cx="1536700" cy="685800"/>
          </a:xfrm>
          <a:prstGeom prst="diamond">
            <a:avLst/>
          </a:prstGeom>
          <a:solidFill>
            <a:schemeClr val="dk1"/>
          </a:solidFill>
          <a:ln w="25400" cap="flat" cmpd="sng">
            <a:solidFill>
              <a:schemeClr val="dk1"/>
            </a:solidFill>
            <a:prstDash val="solid"/>
            <a:miter lim="800000"/>
            <a:headEnd type="none" w="sm" len="sm"/>
            <a:tailEnd type="none" w="sm" len="sm"/>
          </a:ln>
          <a:effectLst>
            <a:outerShdw dist="107763" dir="2700000" algn="ctr" rotWithShape="0">
              <a:schemeClr val="lt2"/>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cxnSp>
        <p:nvCxnSpPr>
          <p:cNvPr id="280" name="Google Shape;280;p29"/>
          <p:cNvCxnSpPr/>
          <p:nvPr/>
        </p:nvCxnSpPr>
        <p:spPr>
          <a:xfrm rot="10800000">
            <a:off x="3111500" y="2660650"/>
            <a:ext cx="762000" cy="0"/>
          </a:xfrm>
          <a:prstGeom prst="straightConnector1">
            <a:avLst/>
          </a:prstGeom>
          <a:noFill/>
          <a:ln w="25400" cap="flat" cmpd="sng">
            <a:solidFill>
              <a:schemeClr val="dk1"/>
            </a:solidFill>
            <a:prstDash val="solid"/>
            <a:round/>
            <a:headEnd type="none" w="med" len="med"/>
            <a:tailEnd type="none" w="med" len="med"/>
          </a:ln>
          <a:effectLst>
            <a:outerShdw dist="107763" dir="2700000" algn="ctr" rotWithShape="0">
              <a:schemeClr val="lt2"/>
            </a:outerShdw>
          </a:effectLst>
        </p:spPr>
      </p:cxnSp>
      <p:cxnSp>
        <p:nvCxnSpPr>
          <p:cNvPr id="281" name="Google Shape;281;p29"/>
          <p:cNvCxnSpPr/>
          <p:nvPr/>
        </p:nvCxnSpPr>
        <p:spPr>
          <a:xfrm rot="10800000">
            <a:off x="5461000" y="2671763"/>
            <a:ext cx="762000" cy="0"/>
          </a:xfrm>
          <a:prstGeom prst="straightConnector1">
            <a:avLst/>
          </a:prstGeom>
          <a:noFill/>
          <a:ln w="25400" cap="flat" cmpd="sng">
            <a:solidFill>
              <a:schemeClr val="dk1"/>
            </a:solidFill>
            <a:prstDash val="solid"/>
            <a:round/>
            <a:headEnd type="none" w="med" len="med"/>
            <a:tailEnd type="none" w="med" len="med"/>
          </a:ln>
          <a:effectLst>
            <a:outerShdw dist="107763" dir="2700000" algn="ctr" rotWithShape="0">
              <a:schemeClr val="lt2"/>
            </a:outerShdw>
          </a:effectLst>
        </p:spPr>
      </p:cxnSp>
      <p:sp>
        <p:nvSpPr>
          <p:cNvPr id="282" name="Google Shape;282;p29"/>
          <p:cNvSpPr/>
          <p:nvPr/>
        </p:nvSpPr>
        <p:spPr>
          <a:xfrm>
            <a:off x="6248400" y="2379664"/>
            <a:ext cx="1295400" cy="661987"/>
          </a:xfrm>
          <a:prstGeom prst="rect">
            <a:avLst/>
          </a:prstGeom>
          <a:solidFill>
            <a:schemeClr val="accent2"/>
          </a:solidFill>
          <a:ln w="25400" cap="flat" cmpd="sng">
            <a:solidFill>
              <a:schemeClr val="dk1"/>
            </a:solidFill>
            <a:prstDash val="solid"/>
            <a:miter lim="800000"/>
            <a:headEnd type="none" w="sm" len="sm"/>
            <a:tailEnd type="none" w="sm" len="sm"/>
          </a:ln>
          <a:effectLst>
            <a:outerShdw dist="107763" dir="2700000" algn="ctr" rotWithShape="0">
              <a:schemeClr val="lt2"/>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283" name="Google Shape;283;p29"/>
          <p:cNvSpPr/>
          <p:nvPr/>
        </p:nvSpPr>
        <p:spPr>
          <a:xfrm>
            <a:off x="6310313" y="2476500"/>
            <a:ext cx="1005082" cy="459100"/>
          </a:xfrm>
          <a:prstGeom prst="rect">
            <a:avLst/>
          </a:prstGeom>
          <a:noFill/>
          <a:ln>
            <a:noFill/>
          </a:ln>
        </p:spPr>
        <p:txBody>
          <a:bodyPr spcFirstLastPara="1" wrap="square" lIns="90475" tIns="44450" rIns="90475" bIns="44450" anchor="t" anchorCtr="0">
            <a:spAutoFit/>
          </a:bodyPr>
          <a:lstStyle/>
          <a:p>
            <a:pPr marL="0" marR="0" lvl="0" indent="0" algn="l" rtl="0">
              <a:spcBef>
                <a:spcPts val="0"/>
              </a:spcBef>
              <a:spcAft>
                <a:spcPts val="0"/>
              </a:spcAft>
              <a:buNone/>
            </a:pPr>
            <a:r>
              <a:rPr lang="en-US" sz="2400">
                <a:solidFill>
                  <a:schemeClr val="lt1"/>
                </a:solidFill>
                <a:latin typeface="Arial"/>
                <a:ea typeface="Arial"/>
                <a:cs typeface="Arial"/>
                <a:sym typeface="Arial"/>
              </a:rPr>
              <a:t>object</a:t>
            </a:r>
            <a:endParaRPr/>
          </a:p>
        </p:txBody>
      </p:sp>
      <p:sp>
        <p:nvSpPr>
          <p:cNvPr id="284" name="Google Shape;284;p29"/>
          <p:cNvSpPr/>
          <p:nvPr/>
        </p:nvSpPr>
        <p:spPr>
          <a:xfrm>
            <a:off x="3960814" y="2487614"/>
            <a:ext cx="1229503" cy="335989"/>
          </a:xfrm>
          <a:prstGeom prst="rect">
            <a:avLst/>
          </a:prstGeom>
          <a:noFill/>
          <a:ln>
            <a:noFill/>
          </a:ln>
        </p:spPr>
        <p:txBody>
          <a:bodyPr spcFirstLastPara="1" wrap="square" lIns="90475" tIns="44450" rIns="90475" bIns="44450" anchor="t" anchorCtr="0">
            <a:spAutoFit/>
          </a:bodyPr>
          <a:lstStyle/>
          <a:p>
            <a:pPr marL="0" marR="0" lvl="0" indent="0" algn="l" rtl="0">
              <a:spcBef>
                <a:spcPts val="0"/>
              </a:spcBef>
              <a:spcAft>
                <a:spcPts val="0"/>
              </a:spcAft>
              <a:buNone/>
            </a:pPr>
            <a:r>
              <a:rPr lang="en-US" sz="1600">
                <a:solidFill>
                  <a:schemeClr val="lt1"/>
                </a:solidFill>
                <a:latin typeface="Arial"/>
                <a:ea typeface="Arial"/>
                <a:cs typeface="Arial"/>
                <a:sym typeface="Arial"/>
              </a:rPr>
              <a:t>relationship</a:t>
            </a:r>
            <a:endParaRPr/>
          </a:p>
        </p:txBody>
      </p:sp>
      <p:sp>
        <p:nvSpPr>
          <p:cNvPr id="285" name="Google Shape;285;p29"/>
          <p:cNvSpPr/>
          <p:nvPr/>
        </p:nvSpPr>
        <p:spPr>
          <a:xfrm>
            <a:off x="2716214" y="2613025"/>
            <a:ext cx="307975" cy="363538"/>
          </a:xfrm>
          <a:prstGeom prst="rect">
            <a:avLst/>
          </a:prstGeom>
          <a:noFill/>
          <a:ln>
            <a:noFill/>
          </a:ln>
        </p:spPr>
        <p:txBody>
          <a:bodyPr spcFirstLastPara="1" wrap="square" lIns="90475" tIns="44450" rIns="90475" bIns="44450" anchor="t" anchorCtr="0">
            <a:spAutoFit/>
          </a:bodyPr>
          <a:lstStyle/>
          <a:p>
            <a:pPr marL="0" marR="0" lvl="0" indent="0" algn="l" rtl="0">
              <a:spcBef>
                <a:spcPts val="0"/>
              </a:spcBef>
              <a:spcAft>
                <a:spcPts val="0"/>
              </a:spcAft>
              <a:buNone/>
            </a:pPr>
            <a:r>
              <a:rPr lang="en-US" sz="1800">
                <a:solidFill>
                  <a:schemeClr val="lt1"/>
                </a:solidFill>
                <a:latin typeface="Arial"/>
                <a:ea typeface="Arial"/>
                <a:cs typeface="Arial"/>
                <a:sym typeface="Arial"/>
              </a:rPr>
              <a:t>1</a:t>
            </a:r>
            <a:endParaRPr/>
          </a:p>
        </p:txBody>
      </p:sp>
      <p:sp>
        <p:nvSpPr>
          <p:cNvPr id="286" name="Google Shape;286;p29"/>
          <p:cNvSpPr/>
          <p:nvPr/>
        </p:nvSpPr>
        <p:spPr>
          <a:xfrm>
            <a:off x="7224714" y="2635250"/>
            <a:ext cx="307975" cy="363538"/>
          </a:xfrm>
          <a:prstGeom prst="rect">
            <a:avLst/>
          </a:prstGeom>
          <a:noFill/>
          <a:ln>
            <a:noFill/>
          </a:ln>
        </p:spPr>
        <p:txBody>
          <a:bodyPr spcFirstLastPara="1" wrap="square" lIns="90475" tIns="44450" rIns="90475" bIns="44450" anchor="t" anchorCtr="0">
            <a:spAutoFit/>
          </a:bodyPr>
          <a:lstStyle/>
          <a:p>
            <a:pPr marL="0" marR="0" lvl="0" indent="0" algn="l" rtl="0">
              <a:spcBef>
                <a:spcPts val="0"/>
              </a:spcBef>
              <a:spcAft>
                <a:spcPts val="0"/>
              </a:spcAft>
              <a:buNone/>
            </a:pPr>
            <a:r>
              <a:rPr lang="en-US" sz="1800">
                <a:solidFill>
                  <a:schemeClr val="lt1"/>
                </a:solidFill>
                <a:latin typeface="Arial"/>
                <a:ea typeface="Arial"/>
                <a:cs typeface="Arial"/>
                <a:sym typeface="Arial"/>
              </a:rPr>
              <a:t>2</a:t>
            </a:r>
            <a:endParaRPr/>
          </a:p>
        </p:txBody>
      </p:sp>
      <p:sp>
        <p:nvSpPr>
          <p:cNvPr id="287" name="Google Shape;287;p29"/>
          <p:cNvSpPr/>
          <p:nvPr/>
        </p:nvSpPr>
        <p:spPr>
          <a:xfrm>
            <a:off x="1446213" y="1685925"/>
            <a:ext cx="2577628" cy="459100"/>
          </a:xfrm>
          <a:prstGeom prst="rect">
            <a:avLst/>
          </a:prstGeom>
          <a:noFill/>
          <a:ln>
            <a:noFill/>
          </a:ln>
        </p:spPr>
        <p:txBody>
          <a:bodyPr spcFirstLastPara="1" wrap="square" lIns="90475" tIns="44450" rIns="90475" bIns="44450" anchor="t" anchorCtr="0">
            <a:spAutoFit/>
          </a:bodyPr>
          <a:lstStyle/>
          <a:p>
            <a:pPr marL="0" marR="0" lvl="0" indent="0" algn="l" rtl="0">
              <a:spcBef>
                <a:spcPts val="0"/>
              </a:spcBef>
              <a:spcAft>
                <a:spcPts val="0"/>
              </a:spcAft>
              <a:buNone/>
            </a:pPr>
            <a:r>
              <a:rPr lang="en-US" sz="2400" i="1" u="sng">
                <a:solidFill>
                  <a:schemeClr val="dk1"/>
                </a:solidFill>
                <a:latin typeface="Times New Roman"/>
                <a:ea typeface="Times New Roman"/>
                <a:cs typeface="Times New Roman"/>
                <a:sym typeface="Times New Roman"/>
              </a:rPr>
              <a:t>One common form:</a:t>
            </a:r>
            <a:endParaRPr/>
          </a:p>
        </p:txBody>
      </p:sp>
      <p:sp>
        <p:nvSpPr>
          <p:cNvPr id="288" name="Google Shape;288;p29"/>
          <p:cNvSpPr/>
          <p:nvPr/>
        </p:nvSpPr>
        <p:spPr>
          <a:xfrm>
            <a:off x="3148013" y="2305051"/>
            <a:ext cx="785470" cy="366767"/>
          </a:xfrm>
          <a:prstGeom prst="rect">
            <a:avLst/>
          </a:prstGeom>
          <a:noFill/>
          <a:ln>
            <a:noFill/>
          </a:ln>
        </p:spPr>
        <p:txBody>
          <a:bodyPr spcFirstLastPara="1" wrap="square" lIns="90475" tIns="44450" rIns="90475" bIns="44450" anchor="t" anchorCtr="0">
            <a:spAutoFit/>
          </a:bodyPr>
          <a:lstStyle/>
          <a:p>
            <a:pPr marL="0" marR="0" lvl="0" indent="0" algn="l" rtl="0">
              <a:spcBef>
                <a:spcPts val="0"/>
              </a:spcBef>
              <a:spcAft>
                <a:spcPts val="0"/>
              </a:spcAft>
              <a:buNone/>
            </a:pPr>
            <a:r>
              <a:rPr lang="en-US" sz="1800">
                <a:solidFill>
                  <a:schemeClr val="dk1"/>
                </a:solidFill>
                <a:latin typeface="Arial"/>
                <a:ea typeface="Arial"/>
                <a:cs typeface="Arial"/>
                <a:sym typeface="Arial"/>
              </a:rPr>
              <a:t>(0, m)</a:t>
            </a:r>
            <a:endParaRPr/>
          </a:p>
        </p:txBody>
      </p:sp>
      <p:sp>
        <p:nvSpPr>
          <p:cNvPr id="289" name="Google Shape;289;p29"/>
          <p:cNvSpPr/>
          <p:nvPr/>
        </p:nvSpPr>
        <p:spPr>
          <a:xfrm>
            <a:off x="5535613" y="2706689"/>
            <a:ext cx="721350" cy="366767"/>
          </a:xfrm>
          <a:prstGeom prst="rect">
            <a:avLst/>
          </a:prstGeom>
          <a:noFill/>
          <a:ln>
            <a:noFill/>
          </a:ln>
        </p:spPr>
        <p:txBody>
          <a:bodyPr spcFirstLastPara="1" wrap="square" lIns="90475" tIns="44450" rIns="90475" bIns="44450" anchor="t" anchorCtr="0">
            <a:spAutoFit/>
          </a:bodyPr>
          <a:lstStyle/>
          <a:p>
            <a:pPr marL="0" marR="0" lvl="0" indent="0" algn="l" rtl="0">
              <a:spcBef>
                <a:spcPts val="0"/>
              </a:spcBef>
              <a:spcAft>
                <a:spcPts val="0"/>
              </a:spcAft>
              <a:buNone/>
            </a:pPr>
            <a:r>
              <a:rPr lang="en-US" sz="1800">
                <a:solidFill>
                  <a:schemeClr val="dk1"/>
                </a:solidFill>
                <a:latin typeface="Arial"/>
                <a:ea typeface="Arial"/>
                <a:cs typeface="Arial"/>
                <a:sym typeface="Arial"/>
              </a:rPr>
              <a:t>(1, 1)</a:t>
            </a:r>
            <a:endParaRPr/>
          </a:p>
        </p:txBody>
      </p:sp>
      <p:sp>
        <p:nvSpPr>
          <p:cNvPr id="290" name="Google Shape;290;p29"/>
          <p:cNvSpPr/>
          <p:nvPr/>
        </p:nvSpPr>
        <p:spPr>
          <a:xfrm>
            <a:off x="1841500" y="4197350"/>
            <a:ext cx="1295400" cy="661988"/>
          </a:xfrm>
          <a:prstGeom prst="rect">
            <a:avLst/>
          </a:prstGeom>
          <a:solidFill>
            <a:schemeClr val="accent2"/>
          </a:solidFill>
          <a:ln w="25400" cap="flat" cmpd="sng">
            <a:solidFill>
              <a:schemeClr val="dk1"/>
            </a:solidFill>
            <a:prstDash val="solid"/>
            <a:miter lim="800000"/>
            <a:headEnd type="none" w="sm" len="sm"/>
            <a:tailEnd type="none" w="sm" len="sm"/>
          </a:ln>
          <a:effectLst>
            <a:outerShdw dist="107763" dir="2700000" algn="ctr" rotWithShape="0">
              <a:schemeClr val="lt2"/>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291" name="Google Shape;291;p29"/>
          <p:cNvSpPr/>
          <p:nvPr/>
        </p:nvSpPr>
        <p:spPr>
          <a:xfrm>
            <a:off x="1890713" y="4294188"/>
            <a:ext cx="1005082" cy="459100"/>
          </a:xfrm>
          <a:prstGeom prst="rect">
            <a:avLst/>
          </a:prstGeom>
          <a:noFill/>
          <a:ln>
            <a:noFill/>
          </a:ln>
        </p:spPr>
        <p:txBody>
          <a:bodyPr spcFirstLastPara="1" wrap="square" lIns="90475" tIns="44450" rIns="90475" bIns="44450" anchor="t" anchorCtr="0">
            <a:spAutoFit/>
          </a:bodyPr>
          <a:lstStyle/>
          <a:p>
            <a:pPr marL="0" marR="0" lvl="0" indent="0" algn="l" rtl="0">
              <a:spcBef>
                <a:spcPts val="0"/>
              </a:spcBef>
              <a:spcAft>
                <a:spcPts val="0"/>
              </a:spcAft>
              <a:buNone/>
            </a:pPr>
            <a:r>
              <a:rPr lang="en-US" sz="2400">
                <a:solidFill>
                  <a:schemeClr val="lt1"/>
                </a:solidFill>
                <a:latin typeface="Arial"/>
                <a:ea typeface="Arial"/>
                <a:cs typeface="Arial"/>
                <a:sym typeface="Arial"/>
              </a:rPr>
              <a:t>object</a:t>
            </a:r>
            <a:endParaRPr/>
          </a:p>
        </p:txBody>
      </p:sp>
      <p:sp>
        <p:nvSpPr>
          <p:cNvPr id="292" name="Google Shape;292;p29"/>
          <p:cNvSpPr/>
          <p:nvPr/>
        </p:nvSpPr>
        <p:spPr>
          <a:xfrm>
            <a:off x="2792414" y="4464050"/>
            <a:ext cx="307975" cy="363538"/>
          </a:xfrm>
          <a:prstGeom prst="rect">
            <a:avLst/>
          </a:prstGeom>
          <a:noFill/>
          <a:ln>
            <a:noFill/>
          </a:ln>
        </p:spPr>
        <p:txBody>
          <a:bodyPr spcFirstLastPara="1" wrap="square" lIns="90475" tIns="44450" rIns="90475" bIns="44450" anchor="t" anchorCtr="0">
            <a:spAutoFit/>
          </a:bodyPr>
          <a:lstStyle/>
          <a:p>
            <a:pPr marL="0" marR="0" lvl="0" indent="0" algn="l" rtl="0">
              <a:spcBef>
                <a:spcPts val="0"/>
              </a:spcBef>
              <a:spcAft>
                <a:spcPts val="0"/>
              </a:spcAft>
              <a:buNone/>
            </a:pPr>
            <a:r>
              <a:rPr lang="en-US" sz="1800">
                <a:solidFill>
                  <a:schemeClr val="lt1"/>
                </a:solidFill>
                <a:latin typeface="Arial"/>
                <a:ea typeface="Arial"/>
                <a:cs typeface="Arial"/>
                <a:sym typeface="Arial"/>
              </a:rPr>
              <a:t>1</a:t>
            </a:r>
            <a:endParaRPr/>
          </a:p>
        </p:txBody>
      </p:sp>
      <p:sp>
        <p:nvSpPr>
          <p:cNvPr id="293" name="Google Shape;293;p29"/>
          <p:cNvSpPr/>
          <p:nvPr/>
        </p:nvSpPr>
        <p:spPr>
          <a:xfrm>
            <a:off x="6311900" y="4230689"/>
            <a:ext cx="1295400" cy="663575"/>
          </a:xfrm>
          <a:prstGeom prst="rect">
            <a:avLst/>
          </a:prstGeom>
          <a:solidFill>
            <a:schemeClr val="accent2"/>
          </a:solidFill>
          <a:ln w="25400" cap="flat" cmpd="sng">
            <a:solidFill>
              <a:schemeClr val="dk1"/>
            </a:solidFill>
            <a:prstDash val="solid"/>
            <a:miter lim="800000"/>
            <a:headEnd type="none" w="sm" len="sm"/>
            <a:tailEnd type="none" w="sm" len="sm"/>
          </a:ln>
          <a:effectLst>
            <a:outerShdw dist="107763" dir="2700000" algn="ctr" rotWithShape="0">
              <a:schemeClr val="lt2"/>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294" name="Google Shape;294;p29"/>
          <p:cNvSpPr/>
          <p:nvPr/>
        </p:nvSpPr>
        <p:spPr>
          <a:xfrm>
            <a:off x="6373813" y="4327525"/>
            <a:ext cx="1005082" cy="459100"/>
          </a:xfrm>
          <a:prstGeom prst="rect">
            <a:avLst/>
          </a:prstGeom>
          <a:noFill/>
          <a:ln>
            <a:noFill/>
          </a:ln>
        </p:spPr>
        <p:txBody>
          <a:bodyPr spcFirstLastPara="1" wrap="square" lIns="90475" tIns="44450" rIns="90475" bIns="44450" anchor="t" anchorCtr="0">
            <a:spAutoFit/>
          </a:bodyPr>
          <a:lstStyle/>
          <a:p>
            <a:pPr marL="0" marR="0" lvl="0" indent="0" algn="l" rtl="0">
              <a:spcBef>
                <a:spcPts val="0"/>
              </a:spcBef>
              <a:spcAft>
                <a:spcPts val="0"/>
              </a:spcAft>
              <a:buNone/>
            </a:pPr>
            <a:r>
              <a:rPr lang="en-US" sz="2400">
                <a:solidFill>
                  <a:schemeClr val="lt1"/>
                </a:solidFill>
                <a:latin typeface="Arial"/>
                <a:ea typeface="Arial"/>
                <a:cs typeface="Arial"/>
                <a:sym typeface="Arial"/>
              </a:rPr>
              <a:t>object</a:t>
            </a:r>
            <a:endParaRPr/>
          </a:p>
        </p:txBody>
      </p:sp>
      <p:sp>
        <p:nvSpPr>
          <p:cNvPr id="295" name="Google Shape;295;p29"/>
          <p:cNvSpPr/>
          <p:nvPr/>
        </p:nvSpPr>
        <p:spPr>
          <a:xfrm>
            <a:off x="7288214" y="4486275"/>
            <a:ext cx="307975" cy="363538"/>
          </a:xfrm>
          <a:prstGeom prst="rect">
            <a:avLst/>
          </a:prstGeom>
          <a:noFill/>
          <a:ln>
            <a:noFill/>
          </a:ln>
        </p:spPr>
        <p:txBody>
          <a:bodyPr spcFirstLastPara="1" wrap="square" lIns="90475" tIns="44450" rIns="90475" bIns="44450" anchor="t" anchorCtr="0">
            <a:spAutoFit/>
          </a:bodyPr>
          <a:lstStyle/>
          <a:p>
            <a:pPr marL="0" marR="0" lvl="0" indent="0" algn="l" rtl="0">
              <a:spcBef>
                <a:spcPts val="0"/>
              </a:spcBef>
              <a:spcAft>
                <a:spcPts val="0"/>
              </a:spcAft>
              <a:buNone/>
            </a:pPr>
            <a:r>
              <a:rPr lang="en-US" sz="1800">
                <a:solidFill>
                  <a:schemeClr val="lt1"/>
                </a:solidFill>
                <a:latin typeface="Arial"/>
                <a:ea typeface="Arial"/>
                <a:cs typeface="Arial"/>
                <a:sym typeface="Arial"/>
              </a:rPr>
              <a:t>2</a:t>
            </a:r>
            <a:endParaRPr/>
          </a:p>
        </p:txBody>
      </p:sp>
      <p:sp>
        <p:nvSpPr>
          <p:cNvPr id="296" name="Google Shape;296;p29"/>
          <p:cNvSpPr/>
          <p:nvPr/>
        </p:nvSpPr>
        <p:spPr>
          <a:xfrm>
            <a:off x="4037014" y="4260851"/>
            <a:ext cx="1362551" cy="366767"/>
          </a:xfrm>
          <a:prstGeom prst="rect">
            <a:avLst/>
          </a:prstGeom>
          <a:noFill/>
          <a:ln>
            <a:noFill/>
          </a:ln>
        </p:spPr>
        <p:txBody>
          <a:bodyPr spcFirstLastPara="1" wrap="square" lIns="90475" tIns="44450" rIns="90475" bIns="44450" anchor="t" anchorCtr="0">
            <a:spAutoFit/>
          </a:bodyPr>
          <a:lstStyle/>
          <a:p>
            <a:pPr marL="0" marR="0" lvl="0" indent="0" algn="l" rtl="0">
              <a:spcBef>
                <a:spcPts val="0"/>
              </a:spcBef>
              <a:spcAft>
                <a:spcPts val="0"/>
              </a:spcAft>
              <a:buNone/>
            </a:pPr>
            <a:r>
              <a:rPr lang="en-US" sz="1800">
                <a:solidFill>
                  <a:schemeClr val="dk1"/>
                </a:solidFill>
                <a:latin typeface="Arial"/>
                <a:ea typeface="Arial"/>
                <a:cs typeface="Arial"/>
                <a:sym typeface="Arial"/>
              </a:rPr>
              <a:t>relationship</a:t>
            </a:r>
            <a:endParaRPr/>
          </a:p>
        </p:txBody>
      </p:sp>
      <p:sp>
        <p:nvSpPr>
          <p:cNvPr id="297" name="Google Shape;297;p29"/>
          <p:cNvSpPr/>
          <p:nvPr/>
        </p:nvSpPr>
        <p:spPr>
          <a:xfrm>
            <a:off x="1573214" y="3605213"/>
            <a:ext cx="3055323" cy="459100"/>
          </a:xfrm>
          <a:prstGeom prst="rect">
            <a:avLst/>
          </a:prstGeom>
          <a:noFill/>
          <a:ln>
            <a:noFill/>
          </a:ln>
        </p:spPr>
        <p:txBody>
          <a:bodyPr spcFirstLastPara="1" wrap="square" lIns="90475" tIns="44450" rIns="90475" bIns="44450" anchor="t" anchorCtr="0">
            <a:spAutoFit/>
          </a:bodyPr>
          <a:lstStyle/>
          <a:p>
            <a:pPr marL="0" marR="0" lvl="0" indent="0" algn="l" rtl="0">
              <a:spcBef>
                <a:spcPts val="0"/>
              </a:spcBef>
              <a:spcAft>
                <a:spcPts val="0"/>
              </a:spcAft>
              <a:buNone/>
            </a:pPr>
            <a:r>
              <a:rPr lang="en-US" sz="2400" i="1" u="sng">
                <a:solidFill>
                  <a:schemeClr val="dk1"/>
                </a:solidFill>
                <a:latin typeface="Times New Roman"/>
                <a:ea typeface="Times New Roman"/>
                <a:cs typeface="Times New Roman"/>
                <a:sym typeface="Times New Roman"/>
              </a:rPr>
              <a:t>Another common form:</a:t>
            </a:r>
            <a:endParaRPr/>
          </a:p>
        </p:txBody>
      </p:sp>
      <p:sp>
        <p:nvSpPr>
          <p:cNvPr id="298" name="Google Shape;298;p29"/>
          <p:cNvSpPr/>
          <p:nvPr/>
        </p:nvSpPr>
        <p:spPr>
          <a:xfrm>
            <a:off x="6591300" y="2989264"/>
            <a:ext cx="1181100" cy="966787"/>
          </a:xfrm>
          <a:prstGeom prst="ellipse">
            <a:avLst/>
          </a:prstGeom>
          <a:solidFill>
            <a:schemeClr val="dk1"/>
          </a:solidFill>
          <a:ln w="25400" cap="flat" cmpd="sng">
            <a:solidFill>
              <a:schemeClr val="dk1"/>
            </a:solidFill>
            <a:prstDash val="solid"/>
            <a:round/>
            <a:headEnd type="none" w="sm" len="sm"/>
            <a:tailEnd type="none" w="sm" len="sm"/>
          </a:ln>
          <a:effectLst>
            <a:outerShdw dist="107763" dir="2700000" algn="ctr" rotWithShape="0">
              <a:schemeClr val="lt2"/>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299" name="Google Shape;299;p29"/>
          <p:cNvSpPr/>
          <p:nvPr/>
        </p:nvSpPr>
        <p:spPr>
          <a:xfrm>
            <a:off x="6665914" y="3300414"/>
            <a:ext cx="1016303" cy="366767"/>
          </a:xfrm>
          <a:prstGeom prst="rect">
            <a:avLst/>
          </a:prstGeom>
          <a:noFill/>
          <a:ln>
            <a:noFill/>
          </a:ln>
        </p:spPr>
        <p:txBody>
          <a:bodyPr spcFirstLastPara="1" wrap="square" lIns="90475" tIns="44450" rIns="90475" bIns="44450" anchor="t" anchorCtr="0">
            <a:spAutoFit/>
          </a:bodyPr>
          <a:lstStyle/>
          <a:p>
            <a:pPr marL="0" marR="0" lvl="0" indent="0" algn="l" rtl="0">
              <a:spcBef>
                <a:spcPts val="0"/>
              </a:spcBef>
              <a:spcAft>
                <a:spcPts val="0"/>
              </a:spcAft>
              <a:buNone/>
            </a:pPr>
            <a:r>
              <a:rPr lang="en-US" sz="1800">
                <a:solidFill>
                  <a:schemeClr val="lt1"/>
                </a:solidFill>
                <a:latin typeface="Arial"/>
                <a:ea typeface="Arial"/>
                <a:cs typeface="Arial"/>
                <a:sym typeface="Arial"/>
              </a:rPr>
              <a:t>attribute</a:t>
            </a:r>
            <a:endParaRPr/>
          </a:p>
        </p:txBody>
      </p:sp>
      <p:sp>
        <p:nvSpPr>
          <p:cNvPr id="300" name="Google Shape;300;p29"/>
          <p:cNvSpPr txBox="1"/>
          <p:nvPr/>
        </p:nvSpPr>
        <p:spPr>
          <a:xfrm>
            <a:off x="2560452" y="5559427"/>
            <a:ext cx="4597400" cy="52387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400" b="1">
                <a:solidFill>
                  <a:srgbClr val="000000"/>
                </a:solidFill>
                <a:latin typeface="Times New Roman"/>
                <a:ea typeface="Times New Roman"/>
                <a:cs typeface="Times New Roman"/>
                <a:sym typeface="Times New Roman"/>
              </a:rPr>
              <a:t>Fig. 2 </a:t>
            </a:r>
            <a:r>
              <a:rPr lang="en-US" sz="1400" b="1">
                <a:solidFill>
                  <a:srgbClr val="1F1F1F"/>
                </a:solidFill>
                <a:latin typeface="Times New Roman"/>
                <a:ea typeface="Times New Roman"/>
                <a:cs typeface="Times New Roman"/>
                <a:sym typeface="Times New Roman"/>
              </a:rPr>
              <a:t>ERD Model</a:t>
            </a:r>
            <a:endParaRPr/>
          </a:p>
          <a:p>
            <a:pPr marL="0" marR="0" lvl="0" indent="0" algn="ctr" rtl="0">
              <a:spcBef>
                <a:spcPts val="0"/>
              </a:spcBef>
              <a:spcAft>
                <a:spcPts val="0"/>
              </a:spcAft>
              <a:buNone/>
            </a:pPr>
            <a:endParaRPr sz="1400" b="1">
              <a:solidFill>
                <a:srgbClr val="000000"/>
              </a:solidFill>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sp>
        <p:nvSpPr>
          <p:cNvPr id="305" name="Google Shape;305;p30"/>
          <p:cNvSpPr txBox="1">
            <a:spLocks noGrp="1"/>
          </p:cNvSpPr>
          <p:nvPr>
            <p:ph type="title"/>
          </p:nvPr>
        </p:nvSpPr>
        <p:spPr>
          <a:xfrm>
            <a:off x="6350" y="16697"/>
            <a:ext cx="7162800" cy="862833"/>
          </a:xfrm>
          <a:prstGeom prst="rect">
            <a:avLst/>
          </a:prstGeom>
          <a:noFill/>
          <a:ln>
            <a:noFill/>
          </a:ln>
        </p:spPr>
        <p:txBody>
          <a:bodyPr spcFirstLastPara="1" wrap="square" lIns="90475" tIns="44450" rIns="90475" bIns="44450" anchor="ctr" anchorCtr="0">
            <a:noAutofit/>
          </a:bodyPr>
          <a:lstStyle/>
          <a:p>
            <a:pPr marL="0" lvl="0" indent="0" algn="l" rtl="0">
              <a:spcBef>
                <a:spcPts val="0"/>
              </a:spcBef>
              <a:spcAft>
                <a:spcPts val="0"/>
              </a:spcAft>
              <a:buClr>
                <a:srgbClr val="000000"/>
              </a:buClr>
              <a:buSzPts val="2800"/>
              <a:buFont typeface="Times New Roman"/>
              <a:buNone/>
            </a:pPr>
            <a:r>
              <a:rPr lang="en-US" sz="2800" b="1"/>
              <a:t>The ERD: An Example</a:t>
            </a:r>
            <a:endParaRPr/>
          </a:p>
        </p:txBody>
      </p:sp>
      <p:sp>
        <p:nvSpPr>
          <p:cNvPr id="306" name="Google Shape;306;p30"/>
          <p:cNvSpPr/>
          <p:nvPr/>
        </p:nvSpPr>
        <p:spPr>
          <a:xfrm>
            <a:off x="4140200" y="3586164"/>
            <a:ext cx="3125788" cy="560387"/>
          </a:xfrm>
          <a:custGeom>
            <a:avLst/>
            <a:gdLst/>
            <a:ahLst/>
            <a:cxnLst/>
            <a:rect l="l" t="t" r="r" b="b"/>
            <a:pathLst>
              <a:path w="1969" h="353" extrusionOk="0">
                <a:moveTo>
                  <a:pt x="1968" y="0"/>
                </a:moveTo>
                <a:lnTo>
                  <a:pt x="1968" y="352"/>
                </a:lnTo>
                <a:lnTo>
                  <a:pt x="0" y="352"/>
                </a:lnTo>
              </a:path>
            </a:pathLst>
          </a:custGeom>
          <a:noFill/>
          <a:ln w="25400" cap="rnd"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07" name="Google Shape;307;p30"/>
          <p:cNvSpPr/>
          <p:nvPr/>
        </p:nvSpPr>
        <p:spPr>
          <a:xfrm>
            <a:off x="4127500" y="3586164"/>
            <a:ext cx="3494088" cy="1271587"/>
          </a:xfrm>
          <a:custGeom>
            <a:avLst/>
            <a:gdLst/>
            <a:ahLst/>
            <a:cxnLst/>
            <a:rect l="l" t="t" r="r" b="b"/>
            <a:pathLst>
              <a:path w="2201" h="801" extrusionOk="0">
                <a:moveTo>
                  <a:pt x="0" y="792"/>
                </a:moveTo>
                <a:lnTo>
                  <a:pt x="2200" y="800"/>
                </a:lnTo>
                <a:lnTo>
                  <a:pt x="2200" y="0"/>
                </a:lnTo>
              </a:path>
            </a:pathLst>
          </a:custGeom>
          <a:noFill/>
          <a:ln w="25400" cap="rnd"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08" name="Google Shape;308;p30"/>
          <p:cNvSpPr/>
          <p:nvPr/>
        </p:nvSpPr>
        <p:spPr>
          <a:xfrm>
            <a:off x="1270000" y="1922463"/>
            <a:ext cx="1155700" cy="673100"/>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cxnSp>
        <p:nvCxnSpPr>
          <p:cNvPr id="309" name="Google Shape;309;p30"/>
          <p:cNvCxnSpPr/>
          <p:nvPr/>
        </p:nvCxnSpPr>
        <p:spPr>
          <a:xfrm>
            <a:off x="2451100" y="2265363"/>
            <a:ext cx="2717800" cy="0"/>
          </a:xfrm>
          <a:prstGeom prst="straightConnector1">
            <a:avLst/>
          </a:prstGeom>
          <a:noFill/>
          <a:ln w="25400" cap="flat" cmpd="sng">
            <a:solidFill>
              <a:schemeClr val="dk1"/>
            </a:solidFill>
            <a:prstDash val="solid"/>
            <a:round/>
            <a:headEnd type="none" w="med" len="med"/>
            <a:tailEnd type="none" w="med" len="med"/>
          </a:ln>
        </p:spPr>
      </p:cxnSp>
      <p:sp>
        <p:nvSpPr>
          <p:cNvPr id="310" name="Google Shape;310;p30"/>
          <p:cNvSpPr/>
          <p:nvPr/>
        </p:nvSpPr>
        <p:spPr>
          <a:xfrm>
            <a:off x="2386013" y="2225676"/>
            <a:ext cx="657230" cy="366767"/>
          </a:xfrm>
          <a:prstGeom prst="rect">
            <a:avLst/>
          </a:prstGeom>
          <a:noFill/>
          <a:ln>
            <a:noFill/>
          </a:ln>
        </p:spPr>
        <p:txBody>
          <a:bodyPr spcFirstLastPara="1" wrap="square" lIns="90475" tIns="44450" rIns="90475" bIns="44450" anchor="t" anchorCtr="0">
            <a:spAutoFit/>
          </a:bodyPr>
          <a:lstStyle/>
          <a:p>
            <a:pPr marL="0" marR="0" lvl="0" indent="0" algn="l" rtl="0">
              <a:spcBef>
                <a:spcPts val="0"/>
              </a:spcBef>
              <a:spcAft>
                <a:spcPts val="0"/>
              </a:spcAft>
              <a:buNone/>
            </a:pPr>
            <a:r>
              <a:rPr lang="en-US" sz="1800">
                <a:solidFill>
                  <a:schemeClr val="dk1"/>
                </a:solidFill>
                <a:latin typeface="Arial"/>
                <a:ea typeface="Arial"/>
                <a:cs typeface="Arial"/>
                <a:sym typeface="Arial"/>
              </a:rPr>
              <a:t>(1,1)</a:t>
            </a:r>
            <a:endParaRPr/>
          </a:p>
        </p:txBody>
      </p:sp>
      <p:sp>
        <p:nvSpPr>
          <p:cNvPr id="311" name="Google Shape;311;p30"/>
          <p:cNvSpPr/>
          <p:nvPr/>
        </p:nvSpPr>
        <p:spPr>
          <a:xfrm>
            <a:off x="4495800" y="2247901"/>
            <a:ext cx="721350" cy="366767"/>
          </a:xfrm>
          <a:prstGeom prst="rect">
            <a:avLst/>
          </a:prstGeom>
          <a:noFill/>
          <a:ln>
            <a:noFill/>
          </a:ln>
        </p:spPr>
        <p:txBody>
          <a:bodyPr spcFirstLastPara="1" wrap="square" lIns="90475" tIns="44450" rIns="90475" bIns="44450" anchor="t" anchorCtr="0">
            <a:spAutoFit/>
          </a:bodyPr>
          <a:lstStyle/>
          <a:p>
            <a:pPr marL="0" marR="0" lvl="0" indent="0" algn="l" rtl="0">
              <a:spcBef>
                <a:spcPts val="0"/>
              </a:spcBef>
              <a:spcAft>
                <a:spcPts val="0"/>
              </a:spcAft>
              <a:buNone/>
            </a:pPr>
            <a:r>
              <a:rPr lang="en-US" sz="1800">
                <a:solidFill>
                  <a:schemeClr val="dk1"/>
                </a:solidFill>
                <a:latin typeface="Arial"/>
                <a:ea typeface="Arial"/>
                <a:cs typeface="Arial"/>
                <a:sym typeface="Arial"/>
              </a:rPr>
              <a:t>(1,m)</a:t>
            </a:r>
            <a:endParaRPr/>
          </a:p>
        </p:txBody>
      </p:sp>
      <p:sp>
        <p:nvSpPr>
          <p:cNvPr id="312" name="Google Shape;312;p30"/>
          <p:cNvSpPr/>
          <p:nvPr/>
        </p:nvSpPr>
        <p:spPr>
          <a:xfrm>
            <a:off x="3238500" y="1909763"/>
            <a:ext cx="1257300" cy="685800"/>
          </a:xfrm>
          <a:prstGeom prst="diamond">
            <a:avLst/>
          </a:prstGeom>
          <a:solidFill>
            <a:schemeClr val="lt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313" name="Google Shape;313;p30"/>
          <p:cNvSpPr/>
          <p:nvPr/>
        </p:nvSpPr>
        <p:spPr>
          <a:xfrm>
            <a:off x="3465514" y="2100264"/>
            <a:ext cx="849591" cy="366767"/>
          </a:xfrm>
          <a:prstGeom prst="rect">
            <a:avLst/>
          </a:prstGeom>
          <a:noFill/>
          <a:ln>
            <a:noFill/>
          </a:ln>
        </p:spPr>
        <p:txBody>
          <a:bodyPr spcFirstLastPara="1" wrap="square" lIns="90475" tIns="44450" rIns="90475" bIns="44450" anchor="t" anchorCtr="0">
            <a:spAutoFit/>
          </a:bodyPr>
          <a:lstStyle/>
          <a:p>
            <a:pPr marL="0" marR="0" lvl="0" indent="0" algn="l" rtl="0">
              <a:spcBef>
                <a:spcPts val="0"/>
              </a:spcBef>
              <a:spcAft>
                <a:spcPts val="0"/>
              </a:spcAft>
              <a:buNone/>
            </a:pPr>
            <a:r>
              <a:rPr lang="en-US" sz="1800">
                <a:solidFill>
                  <a:schemeClr val="dk1"/>
                </a:solidFill>
                <a:latin typeface="Arial"/>
                <a:ea typeface="Arial"/>
                <a:cs typeface="Arial"/>
                <a:sym typeface="Arial"/>
              </a:rPr>
              <a:t>places</a:t>
            </a:r>
            <a:endParaRPr/>
          </a:p>
        </p:txBody>
      </p:sp>
      <p:sp>
        <p:nvSpPr>
          <p:cNvPr id="314" name="Google Shape;314;p30"/>
          <p:cNvSpPr/>
          <p:nvPr/>
        </p:nvSpPr>
        <p:spPr>
          <a:xfrm>
            <a:off x="1230314" y="2087564"/>
            <a:ext cx="1183015" cy="366767"/>
          </a:xfrm>
          <a:prstGeom prst="rect">
            <a:avLst/>
          </a:prstGeom>
          <a:noFill/>
          <a:ln>
            <a:noFill/>
          </a:ln>
        </p:spPr>
        <p:txBody>
          <a:bodyPr spcFirstLastPara="1" wrap="square" lIns="90475" tIns="44450" rIns="90475" bIns="44450" anchor="t" anchorCtr="0">
            <a:spAutoFit/>
          </a:bodyPr>
          <a:lstStyle/>
          <a:p>
            <a:pPr marL="0" marR="0" lvl="0" indent="0" algn="l" rtl="0">
              <a:spcBef>
                <a:spcPts val="0"/>
              </a:spcBef>
              <a:spcAft>
                <a:spcPts val="0"/>
              </a:spcAft>
              <a:buNone/>
            </a:pPr>
            <a:r>
              <a:rPr lang="en-US" sz="1800">
                <a:solidFill>
                  <a:schemeClr val="lt1"/>
                </a:solidFill>
                <a:latin typeface="Arial"/>
                <a:ea typeface="Arial"/>
                <a:cs typeface="Arial"/>
                <a:sym typeface="Arial"/>
              </a:rPr>
              <a:t>Customer</a:t>
            </a:r>
            <a:endParaRPr/>
          </a:p>
        </p:txBody>
      </p:sp>
      <p:sp>
        <p:nvSpPr>
          <p:cNvPr id="315" name="Google Shape;315;p30"/>
          <p:cNvSpPr/>
          <p:nvPr/>
        </p:nvSpPr>
        <p:spPr>
          <a:xfrm>
            <a:off x="5207000" y="1897064"/>
            <a:ext cx="1358900" cy="661987"/>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316" name="Google Shape;316;p30"/>
          <p:cNvSpPr/>
          <p:nvPr/>
        </p:nvSpPr>
        <p:spPr>
          <a:xfrm>
            <a:off x="5281614" y="1947863"/>
            <a:ext cx="1247135" cy="643766"/>
          </a:xfrm>
          <a:prstGeom prst="rect">
            <a:avLst/>
          </a:prstGeom>
          <a:noFill/>
          <a:ln>
            <a:noFill/>
          </a:ln>
        </p:spPr>
        <p:txBody>
          <a:bodyPr spcFirstLastPara="1" wrap="square" lIns="90475" tIns="44450" rIns="90475" bIns="44450" anchor="t" anchorCtr="0">
            <a:spAutoFit/>
          </a:bodyPr>
          <a:lstStyle/>
          <a:p>
            <a:pPr marL="0" marR="0" lvl="0" indent="0" algn="l" rtl="0">
              <a:spcBef>
                <a:spcPts val="0"/>
              </a:spcBef>
              <a:spcAft>
                <a:spcPts val="0"/>
              </a:spcAft>
              <a:buNone/>
            </a:pPr>
            <a:r>
              <a:rPr lang="en-US" sz="1800">
                <a:solidFill>
                  <a:schemeClr val="lt1"/>
                </a:solidFill>
                <a:latin typeface="Arial"/>
                <a:ea typeface="Arial"/>
                <a:cs typeface="Arial"/>
                <a:sym typeface="Arial"/>
              </a:rPr>
              <a:t>request</a:t>
            </a:r>
            <a:endParaRPr/>
          </a:p>
          <a:p>
            <a:pPr marL="0" marR="0" lvl="0" indent="0" algn="l" rtl="0">
              <a:spcBef>
                <a:spcPts val="0"/>
              </a:spcBef>
              <a:spcAft>
                <a:spcPts val="0"/>
              </a:spcAft>
              <a:buNone/>
            </a:pPr>
            <a:r>
              <a:rPr lang="en-US" sz="1800">
                <a:solidFill>
                  <a:schemeClr val="lt1"/>
                </a:solidFill>
                <a:latin typeface="Arial"/>
                <a:ea typeface="Arial"/>
                <a:cs typeface="Arial"/>
                <a:sym typeface="Arial"/>
              </a:rPr>
              <a:t>for service</a:t>
            </a:r>
            <a:endParaRPr/>
          </a:p>
        </p:txBody>
      </p:sp>
      <p:sp>
        <p:nvSpPr>
          <p:cNvPr id="317" name="Google Shape;317;p30"/>
          <p:cNvSpPr/>
          <p:nvPr/>
        </p:nvSpPr>
        <p:spPr>
          <a:xfrm>
            <a:off x="5219700" y="2900363"/>
            <a:ext cx="1257300" cy="685800"/>
          </a:xfrm>
          <a:prstGeom prst="diamond">
            <a:avLst/>
          </a:prstGeom>
          <a:solidFill>
            <a:schemeClr val="lt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cxnSp>
        <p:nvCxnSpPr>
          <p:cNvPr id="318" name="Google Shape;318;p30"/>
          <p:cNvCxnSpPr/>
          <p:nvPr/>
        </p:nvCxnSpPr>
        <p:spPr>
          <a:xfrm rot="10800000">
            <a:off x="5854700" y="2570163"/>
            <a:ext cx="0" cy="317500"/>
          </a:xfrm>
          <a:prstGeom prst="straightConnector1">
            <a:avLst/>
          </a:prstGeom>
          <a:noFill/>
          <a:ln w="25400" cap="flat" cmpd="sng">
            <a:solidFill>
              <a:schemeClr val="dk1"/>
            </a:solidFill>
            <a:prstDash val="solid"/>
            <a:round/>
            <a:headEnd type="none" w="med" len="med"/>
            <a:tailEnd type="none" w="med" len="med"/>
          </a:ln>
        </p:spPr>
      </p:cxnSp>
      <p:cxnSp>
        <p:nvCxnSpPr>
          <p:cNvPr id="319" name="Google Shape;319;p30"/>
          <p:cNvCxnSpPr/>
          <p:nvPr/>
        </p:nvCxnSpPr>
        <p:spPr>
          <a:xfrm>
            <a:off x="6502400" y="3255963"/>
            <a:ext cx="431800" cy="0"/>
          </a:xfrm>
          <a:prstGeom prst="straightConnector1">
            <a:avLst/>
          </a:prstGeom>
          <a:noFill/>
          <a:ln w="25400" cap="flat" cmpd="sng">
            <a:solidFill>
              <a:schemeClr val="dk1"/>
            </a:solidFill>
            <a:prstDash val="solid"/>
            <a:round/>
            <a:headEnd type="none" w="med" len="med"/>
            <a:tailEnd type="none" w="med" len="med"/>
          </a:ln>
        </p:spPr>
      </p:cxnSp>
      <p:sp>
        <p:nvSpPr>
          <p:cNvPr id="320" name="Google Shape;320;p30"/>
          <p:cNvSpPr/>
          <p:nvPr/>
        </p:nvSpPr>
        <p:spPr>
          <a:xfrm>
            <a:off x="5279737" y="3035301"/>
            <a:ext cx="1208664" cy="366767"/>
          </a:xfrm>
          <a:prstGeom prst="rect">
            <a:avLst/>
          </a:prstGeom>
          <a:noFill/>
          <a:ln>
            <a:noFill/>
          </a:ln>
        </p:spPr>
        <p:txBody>
          <a:bodyPr spcFirstLastPara="1" wrap="square" lIns="90475" tIns="44450" rIns="90475" bIns="44450" anchor="t" anchorCtr="0">
            <a:spAutoFit/>
          </a:bodyPr>
          <a:lstStyle/>
          <a:p>
            <a:pPr marL="0" marR="0" lvl="0" indent="0" algn="ctr" rtl="0">
              <a:spcBef>
                <a:spcPts val="0"/>
              </a:spcBef>
              <a:spcAft>
                <a:spcPts val="0"/>
              </a:spcAft>
              <a:buNone/>
            </a:pPr>
            <a:r>
              <a:rPr lang="en-US" sz="1800">
                <a:solidFill>
                  <a:schemeClr val="dk1"/>
                </a:solidFill>
                <a:latin typeface="Arial"/>
                <a:ea typeface="Arial"/>
                <a:cs typeface="Arial"/>
                <a:sym typeface="Arial"/>
              </a:rPr>
              <a:t>generates</a:t>
            </a:r>
            <a:endParaRPr/>
          </a:p>
        </p:txBody>
      </p:sp>
      <p:sp>
        <p:nvSpPr>
          <p:cNvPr id="321" name="Google Shape;321;p30"/>
          <p:cNvSpPr/>
          <p:nvPr/>
        </p:nvSpPr>
        <p:spPr>
          <a:xfrm>
            <a:off x="6959600" y="2900363"/>
            <a:ext cx="965200" cy="673100"/>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322" name="Google Shape;322;p30"/>
          <p:cNvSpPr/>
          <p:nvPr/>
        </p:nvSpPr>
        <p:spPr>
          <a:xfrm>
            <a:off x="6361113" y="2936876"/>
            <a:ext cx="657230" cy="366767"/>
          </a:xfrm>
          <a:prstGeom prst="rect">
            <a:avLst/>
          </a:prstGeom>
          <a:noFill/>
          <a:ln>
            <a:noFill/>
          </a:ln>
        </p:spPr>
        <p:txBody>
          <a:bodyPr spcFirstLastPara="1" wrap="square" lIns="90475" tIns="44450" rIns="90475" bIns="44450" anchor="t" anchorCtr="0">
            <a:spAutoFit/>
          </a:bodyPr>
          <a:lstStyle/>
          <a:p>
            <a:pPr marL="0" marR="0" lvl="0" indent="0" algn="l" rtl="0">
              <a:spcBef>
                <a:spcPts val="0"/>
              </a:spcBef>
              <a:spcAft>
                <a:spcPts val="0"/>
              </a:spcAft>
              <a:buNone/>
            </a:pPr>
            <a:r>
              <a:rPr lang="en-US" sz="1800">
                <a:solidFill>
                  <a:schemeClr val="dk1"/>
                </a:solidFill>
                <a:latin typeface="Arial"/>
                <a:ea typeface="Arial"/>
                <a:cs typeface="Arial"/>
                <a:sym typeface="Arial"/>
              </a:rPr>
              <a:t>(1,n)</a:t>
            </a:r>
            <a:endParaRPr/>
          </a:p>
        </p:txBody>
      </p:sp>
      <p:sp>
        <p:nvSpPr>
          <p:cNvPr id="323" name="Google Shape;323;p30"/>
          <p:cNvSpPr/>
          <p:nvPr/>
        </p:nvSpPr>
        <p:spPr>
          <a:xfrm>
            <a:off x="5840413" y="2555876"/>
            <a:ext cx="657230" cy="366767"/>
          </a:xfrm>
          <a:prstGeom prst="rect">
            <a:avLst/>
          </a:prstGeom>
          <a:noFill/>
          <a:ln>
            <a:noFill/>
          </a:ln>
        </p:spPr>
        <p:txBody>
          <a:bodyPr spcFirstLastPara="1" wrap="square" lIns="90475" tIns="44450" rIns="90475" bIns="44450" anchor="t" anchorCtr="0">
            <a:spAutoFit/>
          </a:bodyPr>
          <a:lstStyle/>
          <a:p>
            <a:pPr marL="0" marR="0" lvl="0" indent="0" algn="l" rtl="0">
              <a:spcBef>
                <a:spcPts val="0"/>
              </a:spcBef>
              <a:spcAft>
                <a:spcPts val="0"/>
              </a:spcAft>
              <a:buNone/>
            </a:pPr>
            <a:r>
              <a:rPr lang="en-US" sz="1800">
                <a:solidFill>
                  <a:schemeClr val="dk1"/>
                </a:solidFill>
                <a:latin typeface="Arial"/>
                <a:ea typeface="Arial"/>
                <a:cs typeface="Arial"/>
                <a:sym typeface="Arial"/>
              </a:rPr>
              <a:t>(1,1)</a:t>
            </a:r>
            <a:endParaRPr/>
          </a:p>
        </p:txBody>
      </p:sp>
      <p:sp>
        <p:nvSpPr>
          <p:cNvPr id="324" name="Google Shape;324;p30"/>
          <p:cNvSpPr/>
          <p:nvPr/>
        </p:nvSpPr>
        <p:spPr>
          <a:xfrm>
            <a:off x="7085013" y="2951163"/>
            <a:ext cx="721350" cy="643766"/>
          </a:xfrm>
          <a:prstGeom prst="rect">
            <a:avLst/>
          </a:prstGeom>
          <a:noFill/>
          <a:ln>
            <a:noFill/>
          </a:ln>
        </p:spPr>
        <p:txBody>
          <a:bodyPr spcFirstLastPara="1" wrap="square" lIns="90475" tIns="44450" rIns="90475" bIns="44450" anchor="t" anchorCtr="0">
            <a:spAutoFit/>
          </a:bodyPr>
          <a:lstStyle/>
          <a:p>
            <a:pPr marL="0" marR="0" lvl="0" indent="0" algn="l" rtl="0">
              <a:spcBef>
                <a:spcPts val="0"/>
              </a:spcBef>
              <a:spcAft>
                <a:spcPts val="0"/>
              </a:spcAft>
              <a:buNone/>
            </a:pPr>
            <a:r>
              <a:rPr lang="en-US" sz="1800">
                <a:solidFill>
                  <a:schemeClr val="lt1"/>
                </a:solidFill>
                <a:latin typeface="Arial"/>
                <a:ea typeface="Arial"/>
                <a:cs typeface="Arial"/>
                <a:sym typeface="Arial"/>
              </a:rPr>
              <a:t>work</a:t>
            </a:r>
            <a:endParaRPr/>
          </a:p>
          <a:p>
            <a:pPr marL="0" marR="0" lvl="0" indent="0" algn="l" rtl="0">
              <a:spcBef>
                <a:spcPts val="0"/>
              </a:spcBef>
              <a:spcAft>
                <a:spcPts val="0"/>
              </a:spcAft>
              <a:buNone/>
            </a:pPr>
            <a:r>
              <a:rPr lang="en-US" sz="1800">
                <a:solidFill>
                  <a:schemeClr val="lt1"/>
                </a:solidFill>
                <a:latin typeface="Arial"/>
                <a:ea typeface="Arial"/>
                <a:cs typeface="Arial"/>
                <a:sym typeface="Arial"/>
              </a:rPr>
              <a:t>order</a:t>
            </a:r>
            <a:endParaRPr/>
          </a:p>
        </p:txBody>
      </p:sp>
      <p:sp>
        <p:nvSpPr>
          <p:cNvPr id="325" name="Google Shape;325;p30"/>
          <p:cNvSpPr/>
          <p:nvPr/>
        </p:nvSpPr>
        <p:spPr>
          <a:xfrm>
            <a:off x="3048000" y="3751264"/>
            <a:ext cx="1079500" cy="661987"/>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326" name="Google Shape;326;p30"/>
          <p:cNvSpPr/>
          <p:nvPr/>
        </p:nvSpPr>
        <p:spPr>
          <a:xfrm>
            <a:off x="3035300" y="4513264"/>
            <a:ext cx="1092200" cy="661987"/>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327" name="Google Shape;327;p30"/>
          <p:cNvSpPr/>
          <p:nvPr/>
        </p:nvSpPr>
        <p:spPr>
          <a:xfrm>
            <a:off x="3122613" y="3813175"/>
            <a:ext cx="721350" cy="643766"/>
          </a:xfrm>
          <a:prstGeom prst="rect">
            <a:avLst/>
          </a:prstGeom>
          <a:noFill/>
          <a:ln>
            <a:noFill/>
          </a:ln>
        </p:spPr>
        <p:txBody>
          <a:bodyPr spcFirstLastPara="1" wrap="square" lIns="90475" tIns="44450" rIns="90475" bIns="44450" anchor="t" anchorCtr="0">
            <a:spAutoFit/>
          </a:bodyPr>
          <a:lstStyle/>
          <a:p>
            <a:pPr marL="0" marR="0" lvl="0" indent="0" algn="l" rtl="0">
              <a:spcBef>
                <a:spcPts val="0"/>
              </a:spcBef>
              <a:spcAft>
                <a:spcPts val="0"/>
              </a:spcAft>
              <a:buNone/>
            </a:pPr>
            <a:r>
              <a:rPr lang="en-US" sz="1800">
                <a:solidFill>
                  <a:schemeClr val="lt1"/>
                </a:solidFill>
                <a:latin typeface="Arial"/>
                <a:ea typeface="Arial"/>
                <a:cs typeface="Arial"/>
                <a:sym typeface="Arial"/>
              </a:rPr>
              <a:t>work</a:t>
            </a:r>
            <a:endParaRPr/>
          </a:p>
          <a:p>
            <a:pPr marL="0" marR="0" lvl="0" indent="0" algn="l" rtl="0">
              <a:spcBef>
                <a:spcPts val="0"/>
              </a:spcBef>
              <a:spcAft>
                <a:spcPts val="0"/>
              </a:spcAft>
              <a:buNone/>
            </a:pPr>
            <a:r>
              <a:rPr lang="en-US" sz="1800">
                <a:solidFill>
                  <a:schemeClr val="lt1"/>
                </a:solidFill>
                <a:latin typeface="Arial"/>
                <a:ea typeface="Arial"/>
                <a:cs typeface="Arial"/>
                <a:sym typeface="Arial"/>
              </a:rPr>
              <a:t>tasks</a:t>
            </a:r>
            <a:endParaRPr/>
          </a:p>
        </p:txBody>
      </p:sp>
      <p:sp>
        <p:nvSpPr>
          <p:cNvPr id="328" name="Google Shape;328;p30"/>
          <p:cNvSpPr/>
          <p:nvPr/>
        </p:nvSpPr>
        <p:spPr>
          <a:xfrm>
            <a:off x="2995614" y="4702176"/>
            <a:ext cx="1118895" cy="366767"/>
          </a:xfrm>
          <a:prstGeom prst="rect">
            <a:avLst/>
          </a:prstGeom>
          <a:noFill/>
          <a:ln>
            <a:noFill/>
          </a:ln>
        </p:spPr>
        <p:txBody>
          <a:bodyPr spcFirstLastPara="1" wrap="square" lIns="90475" tIns="44450" rIns="90475" bIns="44450" anchor="t" anchorCtr="0">
            <a:spAutoFit/>
          </a:bodyPr>
          <a:lstStyle/>
          <a:p>
            <a:pPr marL="0" marR="0" lvl="0" indent="0" algn="l" rtl="0">
              <a:spcBef>
                <a:spcPts val="0"/>
              </a:spcBef>
              <a:spcAft>
                <a:spcPts val="0"/>
              </a:spcAft>
              <a:buNone/>
            </a:pPr>
            <a:r>
              <a:rPr lang="en-US" sz="1800">
                <a:solidFill>
                  <a:schemeClr val="lt1"/>
                </a:solidFill>
                <a:latin typeface="Arial"/>
                <a:ea typeface="Arial"/>
                <a:cs typeface="Arial"/>
                <a:sym typeface="Arial"/>
              </a:rPr>
              <a:t>materials</a:t>
            </a:r>
            <a:endParaRPr/>
          </a:p>
        </p:txBody>
      </p:sp>
      <p:sp>
        <p:nvSpPr>
          <p:cNvPr id="329" name="Google Shape;329;p30"/>
          <p:cNvSpPr/>
          <p:nvPr/>
        </p:nvSpPr>
        <p:spPr>
          <a:xfrm>
            <a:off x="5080000" y="3789363"/>
            <a:ext cx="1257300" cy="685800"/>
          </a:xfrm>
          <a:prstGeom prst="diamond">
            <a:avLst/>
          </a:prstGeom>
          <a:solidFill>
            <a:schemeClr val="lt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330" name="Google Shape;330;p30"/>
          <p:cNvSpPr/>
          <p:nvPr/>
        </p:nvSpPr>
        <p:spPr>
          <a:xfrm>
            <a:off x="5235423" y="3902075"/>
            <a:ext cx="1016304" cy="643766"/>
          </a:xfrm>
          <a:prstGeom prst="rect">
            <a:avLst/>
          </a:prstGeom>
          <a:noFill/>
          <a:ln>
            <a:noFill/>
          </a:ln>
        </p:spPr>
        <p:txBody>
          <a:bodyPr spcFirstLastPara="1" wrap="square" lIns="90475" tIns="44450" rIns="90475" bIns="44450" anchor="t" anchorCtr="0">
            <a:spAutoFit/>
          </a:bodyPr>
          <a:lstStyle/>
          <a:p>
            <a:pPr marL="0" marR="0" lvl="0" indent="0" algn="ctr" rtl="0">
              <a:spcBef>
                <a:spcPts val="0"/>
              </a:spcBef>
              <a:spcAft>
                <a:spcPts val="0"/>
              </a:spcAft>
              <a:buNone/>
            </a:pPr>
            <a:r>
              <a:rPr lang="en-US" sz="1800">
                <a:solidFill>
                  <a:schemeClr val="dk1"/>
                </a:solidFill>
                <a:latin typeface="Arial"/>
                <a:ea typeface="Arial"/>
                <a:cs typeface="Arial"/>
                <a:sym typeface="Arial"/>
              </a:rPr>
              <a:t>consists</a:t>
            </a:r>
            <a:endParaRPr/>
          </a:p>
          <a:p>
            <a:pPr marL="0" marR="0" lvl="0" indent="0" algn="ctr" rtl="0">
              <a:spcBef>
                <a:spcPts val="0"/>
              </a:spcBef>
              <a:spcAft>
                <a:spcPts val="0"/>
              </a:spcAft>
              <a:buNone/>
            </a:pPr>
            <a:r>
              <a:rPr lang="en-US" sz="1800">
                <a:solidFill>
                  <a:schemeClr val="dk1"/>
                </a:solidFill>
                <a:latin typeface="Arial"/>
                <a:ea typeface="Arial"/>
                <a:cs typeface="Arial"/>
                <a:sym typeface="Arial"/>
              </a:rPr>
              <a:t>of</a:t>
            </a:r>
            <a:endParaRPr/>
          </a:p>
        </p:txBody>
      </p:sp>
      <p:sp>
        <p:nvSpPr>
          <p:cNvPr id="331" name="Google Shape;331;p30"/>
          <p:cNvSpPr/>
          <p:nvPr/>
        </p:nvSpPr>
        <p:spPr>
          <a:xfrm>
            <a:off x="5219700" y="4513263"/>
            <a:ext cx="1257300" cy="685800"/>
          </a:xfrm>
          <a:prstGeom prst="diamond">
            <a:avLst/>
          </a:prstGeom>
          <a:solidFill>
            <a:schemeClr val="lt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332" name="Google Shape;332;p30"/>
          <p:cNvSpPr/>
          <p:nvPr/>
        </p:nvSpPr>
        <p:spPr>
          <a:xfrm>
            <a:off x="5582020" y="4705351"/>
            <a:ext cx="580286" cy="366767"/>
          </a:xfrm>
          <a:prstGeom prst="rect">
            <a:avLst/>
          </a:prstGeom>
          <a:noFill/>
          <a:ln>
            <a:noFill/>
          </a:ln>
        </p:spPr>
        <p:txBody>
          <a:bodyPr spcFirstLastPara="1" wrap="square" lIns="90475" tIns="44450" rIns="90475" bIns="44450" anchor="t" anchorCtr="0">
            <a:spAutoFit/>
          </a:bodyPr>
          <a:lstStyle/>
          <a:p>
            <a:pPr marL="0" marR="0" lvl="0" indent="0" algn="ctr" rtl="0">
              <a:spcBef>
                <a:spcPts val="0"/>
              </a:spcBef>
              <a:spcAft>
                <a:spcPts val="0"/>
              </a:spcAft>
              <a:buNone/>
            </a:pPr>
            <a:r>
              <a:rPr lang="en-US" sz="1800">
                <a:solidFill>
                  <a:schemeClr val="dk1"/>
                </a:solidFill>
                <a:latin typeface="Arial"/>
                <a:ea typeface="Arial"/>
                <a:cs typeface="Arial"/>
                <a:sym typeface="Arial"/>
              </a:rPr>
              <a:t>lists</a:t>
            </a:r>
            <a:endParaRPr/>
          </a:p>
        </p:txBody>
      </p:sp>
      <p:sp>
        <p:nvSpPr>
          <p:cNvPr id="333" name="Google Shape;333;p30"/>
          <p:cNvSpPr/>
          <p:nvPr/>
        </p:nvSpPr>
        <p:spPr>
          <a:xfrm>
            <a:off x="6640513" y="3587751"/>
            <a:ext cx="657230" cy="366767"/>
          </a:xfrm>
          <a:prstGeom prst="rect">
            <a:avLst/>
          </a:prstGeom>
          <a:noFill/>
          <a:ln>
            <a:noFill/>
          </a:ln>
        </p:spPr>
        <p:txBody>
          <a:bodyPr spcFirstLastPara="1" wrap="square" lIns="90475" tIns="44450" rIns="90475" bIns="44450" anchor="t" anchorCtr="0">
            <a:spAutoFit/>
          </a:bodyPr>
          <a:lstStyle/>
          <a:p>
            <a:pPr marL="0" marR="0" lvl="0" indent="0" algn="l" rtl="0">
              <a:spcBef>
                <a:spcPts val="0"/>
              </a:spcBef>
              <a:spcAft>
                <a:spcPts val="0"/>
              </a:spcAft>
              <a:buNone/>
            </a:pPr>
            <a:r>
              <a:rPr lang="en-US" sz="1800">
                <a:solidFill>
                  <a:schemeClr val="dk1"/>
                </a:solidFill>
                <a:latin typeface="Arial"/>
                <a:ea typeface="Arial"/>
                <a:cs typeface="Arial"/>
                <a:sym typeface="Arial"/>
              </a:rPr>
              <a:t>(1,1)</a:t>
            </a:r>
            <a:endParaRPr/>
          </a:p>
        </p:txBody>
      </p:sp>
      <p:sp>
        <p:nvSpPr>
          <p:cNvPr id="334" name="Google Shape;334;p30"/>
          <p:cNvSpPr/>
          <p:nvPr/>
        </p:nvSpPr>
        <p:spPr>
          <a:xfrm>
            <a:off x="4189413" y="3787776"/>
            <a:ext cx="695702" cy="366767"/>
          </a:xfrm>
          <a:prstGeom prst="rect">
            <a:avLst/>
          </a:prstGeom>
          <a:noFill/>
          <a:ln>
            <a:noFill/>
          </a:ln>
        </p:spPr>
        <p:txBody>
          <a:bodyPr spcFirstLastPara="1" wrap="square" lIns="90475" tIns="44450" rIns="90475" bIns="44450" anchor="t" anchorCtr="0">
            <a:spAutoFit/>
          </a:bodyPr>
          <a:lstStyle/>
          <a:p>
            <a:pPr marL="0" marR="0" lvl="0" indent="0" algn="l" rtl="0">
              <a:spcBef>
                <a:spcPts val="0"/>
              </a:spcBef>
              <a:spcAft>
                <a:spcPts val="0"/>
              </a:spcAft>
              <a:buNone/>
            </a:pPr>
            <a:r>
              <a:rPr lang="en-US" sz="1800">
                <a:solidFill>
                  <a:schemeClr val="dk1"/>
                </a:solidFill>
                <a:latin typeface="Arial"/>
                <a:ea typeface="Arial"/>
                <a:cs typeface="Arial"/>
                <a:sym typeface="Arial"/>
              </a:rPr>
              <a:t>(1,w)</a:t>
            </a:r>
            <a:endParaRPr/>
          </a:p>
        </p:txBody>
      </p:sp>
      <p:sp>
        <p:nvSpPr>
          <p:cNvPr id="335" name="Google Shape;335;p30"/>
          <p:cNvSpPr/>
          <p:nvPr/>
        </p:nvSpPr>
        <p:spPr>
          <a:xfrm>
            <a:off x="7554913" y="3633788"/>
            <a:ext cx="549830" cy="305212"/>
          </a:xfrm>
          <a:prstGeom prst="rect">
            <a:avLst/>
          </a:prstGeom>
          <a:noFill/>
          <a:ln>
            <a:noFill/>
          </a:ln>
        </p:spPr>
        <p:txBody>
          <a:bodyPr spcFirstLastPara="1" wrap="square" lIns="90475" tIns="44450" rIns="90475" bIns="44450" anchor="t" anchorCtr="0">
            <a:spAutoFit/>
          </a:bodyPr>
          <a:lstStyle/>
          <a:p>
            <a:pPr marL="0" marR="0" lvl="0" indent="0" algn="l" rtl="0">
              <a:spcBef>
                <a:spcPts val="0"/>
              </a:spcBef>
              <a:spcAft>
                <a:spcPts val="0"/>
              </a:spcAft>
              <a:buNone/>
            </a:pPr>
            <a:r>
              <a:rPr lang="en-US" sz="1400">
                <a:solidFill>
                  <a:schemeClr val="lt1"/>
                </a:solidFill>
                <a:latin typeface="Arial"/>
                <a:ea typeface="Arial"/>
                <a:cs typeface="Arial"/>
                <a:sym typeface="Arial"/>
              </a:rPr>
              <a:t>(1,1)</a:t>
            </a:r>
            <a:endParaRPr/>
          </a:p>
        </p:txBody>
      </p:sp>
      <p:sp>
        <p:nvSpPr>
          <p:cNvPr id="336" name="Google Shape;336;p30"/>
          <p:cNvSpPr/>
          <p:nvPr/>
        </p:nvSpPr>
        <p:spPr>
          <a:xfrm>
            <a:off x="4227513" y="4524376"/>
            <a:ext cx="580286" cy="366767"/>
          </a:xfrm>
          <a:prstGeom prst="rect">
            <a:avLst/>
          </a:prstGeom>
          <a:noFill/>
          <a:ln>
            <a:noFill/>
          </a:ln>
        </p:spPr>
        <p:txBody>
          <a:bodyPr spcFirstLastPara="1" wrap="square" lIns="90475" tIns="44450" rIns="90475" bIns="44450" anchor="t" anchorCtr="0">
            <a:spAutoFit/>
          </a:bodyPr>
          <a:lstStyle/>
          <a:p>
            <a:pPr marL="0" marR="0" lvl="0" indent="0" algn="l" rtl="0">
              <a:spcBef>
                <a:spcPts val="0"/>
              </a:spcBef>
              <a:spcAft>
                <a:spcPts val="0"/>
              </a:spcAft>
              <a:buNone/>
            </a:pPr>
            <a:r>
              <a:rPr lang="en-US" sz="1800">
                <a:solidFill>
                  <a:schemeClr val="dk1"/>
                </a:solidFill>
                <a:latin typeface="Arial"/>
                <a:ea typeface="Arial"/>
                <a:cs typeface="Arial"/>
                <a:sym typeface="Arial"/>
              </a:rPr>
              <a:t>(1,i)</a:t>
            </a:r>
            <a:endParaRPr/>
          </a:p>
        </p:txBody>
      </p:sp>
      <p:sp>
        <p:nvSpPr>
          <p:cNvPr id="337" name="Google Shape;337;p30"/>
          <p:cNvSpPr/>
          <p:nvPr/>
        </p:nvSpPr>
        <p:spPr>
          <a:xfrm>
            <a:off x="1231900" y="3751263"/>
            <a:ext cx="1257300" cy="685800"/>
          </a:xfrm>
          <a:prstGeom prst="diamond">
            <a:avLst/>
          </a:prstGeom>
          <a:solidFill>
            <a:schemeClr val="lt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338" name="Google Shape;338;p30"/>
          <p:cNvSpPr/>
          <p:nvPr/>
        </p:nvSpPr>
        <p:spPr>
          <a:xfrm>
            <a:off x="1363388" y="3863975"/>
            <a:ext cx="1041951" cy="643766"/>
          </a:xfrm>
          <a:prstGeom prst="rect">
            <a:avLst/>
          </a:prstGeom>
          <a:noFill/>
          <a:ln>
            <a:noFill/>
          </a:ln>
        </p:spPr>
        <p:txBody>
          <a:bodyPr spcFirstLastPara="1" wrap="square" lIns="90475" tIns="44450" rIns="90475" bIns="44450" anchor="t" anchorCtr="0">
            <a:spAutoFit/>
          </a:bodyPr>
          <a:lstStyle/>
          <a:p>
            <a:pPr marL="0" marR="0" lvl="0" indent="0" algn="ctr" rtl="0">
              <a:spcBef>
                <a:spcPts val="0"/>
              </a:spcBef>
              <a:spcAft>
                <a:spcPts val="0"/>
              </a:spcAft>
              <a:buNone/>
            </a:pPr>
            <a:r>
              <a:rPr lang="en-US" sz="1800">
                <a:solidFill>
                  <a:schemeClr val="dk1"/>
                </a:solidFill>
                <a:latin typeface="Arial"/>
                <a:ea typeface="Arial"/>
                <a:cs typeface="Arial"/>
                <a:sym typeface="Arial"/>
              </a:rPr>
              <a:t>selected</a:t>
            </a:r>
            <a:endParaRPr/>
          </a:p>
          <a:p>
            <a:pPr marL="0" marR="0" lvl="0" indent="0" algn="ctr" rtl="0">
              <a:spcBef>
                <a:spcPts val="0"/>
              </a:spcBef>
              <a:spcAft>
                <a:spcPts val="0"/>
              </a:spcAft>
              <a:buNone/>
            </a:pPr>
            <a:r>
              <a:rPr lang="en-US" sz="1800">
                <a:solidFill>
                  <a:schemeClr val="dk1"/>
                </a:solidFill>
                <a:latin typeface="Arial"/>
                <a:ea typeface="Arial"/>
                <a:cs typeface="Arial"/>
                <a:sym typeface="Arial"/>
              </a:rPr>
              <a:t>from</a:t>
            </a:r>
            <a:endParaRPr/>
          </a:p>
        </p:txBody>
      </p:sp>
      <p:sp>
        <p:nvSpPr>
          <p:cNvPr id="339" name="Google Shape;339;p30"/>
          <p:cNvSpPr/>
          <p:nvPr/>
        </p:nvSpPr>
        <p:spPr>
          <a:xfrm>
            <a:off x="1257300" y="2862263"/>
            <a:ext cx="1270000" cy="673100"/>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340" name="Google Shape;340;p30"/>
          <p:cNvSpPr/>
          <p:nvPr/>
        </p:nvSpPr>
        <p:spPr>
          <a:xfrm>
            <a:off x="1331018" y="2924175"/>
            <a:ext cx="1170191" cy="643766"/>
          </a:xfrm>
          <a:prstGeom prst="rect">
            <a:avLst/>
          </a:prstGeom>
          <a:noFill/>
          <a:ln>
            <a:noFill/>
          </a:ln>
        </p:spPr>
        <p:txBody>
          <a:bodyPr spcFirstLastPara="1" wrap="square" lIns="90475" tIns="44450" rIns="90475" bIns="44450" anchor="t" anchorCtr="0">
            <a:spAutoFit/>
          </a:bodyPr>
          <a:lstStyle/>
          <a:p>
            <a:pPr marL="0" marR="0" lvl="0" indent="0" algn="ctr" rtl="0">
              <a:spcBef>
                <a:spcPts val="0"/>
              </a:spcBef>
              <a:spcAft>
                <a:spcPts val="0"/>
              </a:spcAft>
              <a:buNone/>
            </a:pPr>
            <a:r>
              <a:rPr lang="en-US" sz="1800">
                <a:solidFill>
                  <a:schemeClr val="lt1"/>
                </a:solidFill>
                <a:latin typeface="Arial"/>
                <a:ea typeface="Arial"/>
                <a:cs typeface="Arial"/>
                <a:sym typeface="Arial"/>
              </a:rPr>
              <a:t>standard</a:t>
            </a:r>
            <a:endParaRPr/>
          </a:p>
          <a:p>
            <a:pPr marL="0" marR="0" lvl="0" indent="0" algn="ctr" rtl="0">
              <a:spcBef>
                <a:spcPts val="0"/>
              </a:spcBef>
              <a:spcAft>
                <a:spcPts val="0"/>
              </a:spcAft>
              <a:buNone/>
            </a:pPr>
            <a:r>
              <a:rPr lang="en-US" sz="1800">
                <a:solidFill>
                  <a:schemeClr val="lt1"/>
                </a:solidFill>
                <a:latin typeface="Arial"/>
                <a:ea typeface="Arial"/>
                <a:cs typeface="Arial"/>
                <a:sym typeface="Arial"/>
              </a:rPr>
              <a:t>task table</a:t>
            </a:r>
            <a:endParaRPr/>
          </a:p>
        </p:txBody>
      </p:sp>
      <p:sp>
        <p:nvSpPr>
          <p:cNvPr id="341" name="Google Shape;341;p30"/>
          <p:cNvSpPr/>
          <p:nvPr/>
        </p:nvSpPr>
        <p:spPr>
          <a:xfrm>
            <a:off x="2386013" y="4092576"/>
            <a:ext cx="695702" cy="366767"/>
          </a:xfrm>
          <a:prstGeom prst="rect">
            <a:avLst/>
          </a:prstGeom>
          <a:noFill/>
          <a:ln>
            <a:noFill/>
          </a:ln>
        </p:spPr>
        <p:txBody>
          <a:bodyPr spcFirstLastPara="1" wrap="square" lIns="90475" tIns="44450" rIns="90475" bIns="44450" anchor="t" anchorCtr="0">
            <a:spAutoFit/>
          </a:bodyPr>
          <a:lstStyle/>
          <a:p>
            <a:pPr marL="0" marR="0" lvl="0" indent="0" algn="l" rtl="0">
              <a:spcBef>
                <a:spcPts val="0"/>
              </a:spcBef>
              <a:spcAft>
                <a:spcPts val="0"/>
              </a:spcAft>
              <a:buNone/>
            </a:pPr>
            <a:r>
              <a:rPr lang="en-US" sz="1800">
                <a:solidFill>
                  <a:schemeClr val="dk1"/>
                </a:solidFill>
                <a:latin typeface="Arial"/>
                <a:ea typeface="Arial"/>
                <a:cs typeface="Arial"/>
                <a:sym typeface="Arial"/>
              </a:rPr>
              <a:t>(1,w)</a:t>
            </a:r>
            <a:endParaRPr/>
          </a:p>
        </p:txBody>
      </p:sp>
      <p:sp>
        <p:nvSpPr>
          <p:cNvPr id="342" name="Google Shape;342;p30"/>
          <p:cNvSpPr/>
          <p:nvPr/>
        </p:nvSpPr>
        <p:spPr>
          <a:xfrm>
            <a:off x="1230313" y="3522664"/>
            <a:ext cx="657230" cy="366767"/>
          </a:xfrm>
          <a:prstGeom prst="rect">
            <a:avLst/>
          </a:prstGeom>
          <a:noFill/>
          <a:ln>
            <a:noFill/>
          </a:ln>
        </p:spPr>
        <p:txBody>
          <a:bodyPr spcFirstLastPara="1" wrap="square" lIns="90475" tIns="44450" rIns="90475" bIns="44450" anchor="t" anchorCtr="0">
            <a:spAutoFit/>
          </a:bodyPr>
          <a:lstStyle/>
          <a:p>
            <a:pPr marL="0" marR="0" lvl="0" indent="0" algn="l" rtl="0">
              <a:spcBef>
                <a:spcPts val="0"/>
              </a:spcBef>
              <a:spcAft>
                <a:spcPts val="0"/>
              </a:spcAft>
              <a:buNone/>
            </a:pPr>
            <a:r>
              <a:rPr lang="en-US" sz="1800">
                <a:solidFill>
                  <a:schemeClr val="dk1"/>
                </a:solidFill>
                <a:latin typeface="Arial"/>
                <a:ea typeface="Arial"/>
                <a:cs typeface="Arial"/>
                <a:sym typeface="Arial"/>
              </a:rPr>
              <a:t>(1,1)</a:t>
            </a:r>
            <a:endParaRPr/>
          </a:p>
        </p:txBody>
      </p:sp>
      <p:cxnSp>
        <p:nvCxnSpPr>
          <p:cNvPr id="343" name="Google Shape;343;p30"/>
          <p:cNvCxnSpPr/>
          <p:nvPr/>
        </p:nvCxnSpPr>
        <p:spPr>
          <a:xfrm rot="10800000">
            <a:off x="1866900" y="3551238"/>
            <a:ext cx="0" cy="203200"/>
          </a:xfrm>
          <a:prstGeom prst="straightConnector1">
            <a:avLst/>
          </a:prstGeom>
          <a:noFill/>
          <a:ln w="25400" cap="flat" cmpd="sng">
            <a:solidFill>
              <a:schemeClr val="dk1"/>
            </a:solidFill>
            <a:prstDash val="solid"/>
            <a:round/>
            <a:headEnd type="none" w="med" len="med"/>
            <a:tailEnd type="none" w="med" len="med"/>
          </a:ln>
        </p:spPr>
      </p:cxnSp>
      <p:cxnSp>
        <p:nvCxnSpPr>
          <p:cNvPr id="344" name="Google Shape;344;p30"/>
          <p:cNvCxnSpPr/>
          <p:nvPr/>
        </p:nvCxnSpPr>
        <p:spPr>
          <a:xfrm>
            <a:off x="2501900" y="4105275"/>
            <a:ext cx="533400" cy="0"/>
          </a:xfrm>
          <a:prstGeom prst="straightConnector1">
            <a:avLst/>
          </a:prstGeom>
          <a:noFill/>
          <a:ln w="25400" cap="flat" cmpd="sng">
            <a:solidFill>
              <a:schemeClr val="dk1"/>
            </a:solidFill>
            <a:prstDash val="solid"/>
            <a:round/>
            <a:headEnd type="none" w="med" len="med"/>
            <a:tailEnd type="none" w="med" len="med"/>
          </a:ln>
        </p:spPr>
      </p:cxnSp>
      <p:sp>
        <p:nvSpPr>
          <p:cNvPr id="345" name="Google Shape;345;p30"/>
          <p:cNvSpPr txBox="1"/>
          <p:nvPr/>
        </p:nvSpPr>
        <p:spPr>
          <a:xfrm>
            <a:off x="2241550" y="5767389"/>
            <a:ext cx="4597400" cy="52387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400" b="1">
                <a:solidFill>
                  <a:srgbClr val="000000"/>
                </a:solidFill>
                <a:latin typeface="Times New Roman"/>
                <a:ea typeface="Times New Roman"/>
                <a:cs typeface="Times New Roman"/>
                <a:sym typeface="Times New Roman"/>
              </a:rPr>
              <a:t>Fig. 3 </a:t>
            </a:r>
            <a:r>
              <a:rPr lang="en-US" sz="1400" b="1">
                <a:solidFill>
                  <a:srgbClr val="1F1F1F"/>
                </a:solidFill>
                <a:latin typeface="Times New Roman"/>
                <a:ea typeface="Times New Roman"/>
                <a:cs typeface="Times New Roman"/>
                <a:sym typeface="Times New Roman"/>
              </a:rPr>
              <a:t>Example of ERD</a:t>
            </a:r>
            <a:endParaRPr/>
          </a:p>
          <a:p>
            <a:pPr marL="0" marR="0" lvl="0" indent="0" algn="l" rtl="0">
              <a:spcBef>
                <a:spcPts val="0"/>
              </a:spcBef>
              <a:spcAft>
                <a:spcPts val="0"/>
              </a:spcAft>
              <a:buNone/>
            </a:pPr>
            <a:endParaRPr sz="1400" b="1">
              <a:solidFill>
                <a:srgbClr val="000000"/>
              </a:solidFill>
              <a:latin typeface="Arial"/>
              <a:ea typeface="Arial"/>
              <a:cs typeface="Arial"/>
              <a:sym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49"/>
        <p:cNvGrpSpPr/>
        <p:nvPr/>
      </p:nvGrpSpPr>
      <p:grpSpPr>
        <a:xfrm>
          <a:off x="0" y="0"/>
          <a:ext cx="0" cy="0"/>
          <a:chOff x="0" y="0"/>
          <a:chExt cx="0" cy="0"/>
        </a:xfrm>
      </p:grpSpPr>
      <p:sp>
        <p:nvSpPr>
          <p:cNvPr id="350" name="Google Shape;350;p31"/>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z="2800" b="1">
                <a:latin typeface="Times"/>
                <a:ea typeface="Times"/>
                <a:cs typeface="Times"/>
                <a:sym typeface="Times"/>
              </a:rPr>
              <a:t>Flow Oriented Modelling</a:t>
            </a:r>
            <a:endParaRPr/>
          </a:p>
        </p:txBody>
      </p:sp>
      <p:sp>
        <p:nvSpPr>
          <p:cNvPr id="351" name="Google Shape;351;p31"/>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31</a:t>
            </a:fld>
            <a:endParaRPr/>
          </a:p>
        </p:txBody>
      </p:sp>
      <p:sp>
        <p:nvSpPr>
          <p:cNvPr id="352" name="Google Shape;352;p31"/>
          <p:cNvSpPr txBox="1">
            <a:spLocks noGrp="1"/>
          </p:cNvSpPr>
          <p:nvPr>
            <p:ph type="body" idx="1"/>
          </p:nvPr>
        </p:nvSpPr>
        <p:spPr>
          <a:xfrm>
            <a:off x="304800" y="990600"/>
            <a:ext cx="8534400" cy="5216525"/>
          </a:xfrm>
          <a:prstGeom prst="rect">
            <a:avLst/>
          </a:prstGeom>
          <a:noFill/>
          <a:ln>
            <a:noFill/>
          </a:ln>
        </p:spPr>
        <p:txBody>
          <a:bodyPr spcFirstLastPara="1" wrap="square" lIns="91425" tIns="45700" rIns="91425" bIns="45700" anchor="t" anchorCtr="0">
            <a:noAutofit/>
          </a:bodyPr>
          <a:lstStyle/>
          <a:p>
            <a:pPr marL="342900" lvl="0" indent="-342900" algn="just" rtl="0">
              <a:spcBef>
                <a:spcPts val="0"/>
              </a:spcBef>
              <a:spcAft>
                <a:spcPts val="0"/>
              </a:spcAft>
              <a:buClr>
                <a:schemeClr val="dk1"/>
              </a:buClr>
              <a:buSzPts val="2000"/>
              <a:buChar char="•"/>
            </a:pPr>
            <a:r>
              <a:rPr lang="en-US" sz="2000"/>
              <a:t>It shows how data objects are transformed by processing the function.</a:t>
            </a:r>
            <a:endParaRPr/>
          </a:p>
          <a:p>
            <a:pPr marL="342900" lvl="0" indent="-342900" algn="just" rtl="0">
              <a:spcBef>
                <a:spcPts val="400"/>
              </a:spcBef>
              <a:spcAft>
                <a:spcPts val="0"/>
              </a:spcAft>
              <a:buClr>
                <a:schemeClr val="dk1"/>
              </a:buClr>
              <a:buSzPts val="2000"/>
              <a:buNone/>
            </a:pPr>
            <a:endParaRPr sz="2000"/>
          </a:p>
          <a:p>
            <a:pPr marL="342900" lvl="0" indent="-342900" algn="just" rtl="0">
              <a:spcBef>
                <a:spcPts val="400"/>
              </a:spcBef>
              <a:spcAft>
                <a:spcPts val="0"/>
              </a:spcAft>
              <a:buClr>
                <a:schemeClr val="dk1"/>
              </a:buClr>
              <a:buSzPts val="2000"/>
              <a:buNone/>
            </a:pPr>
            <a:r>
              <a:rPr lang="en-US" sz="2000" b="1"/>
              <a:t>The Flow oriented elements are:</a:t>
            </a:r>
            <a:endParaRPr/>
          </a:p>
          <a:p>
            <a:pPr marL="342900" lvl="0" indent="-342900" algn="just" rtl="0">
              <a:spcBef>
                <a:spcPts val="400"/>
              </a:spcBef>
              <a:spcAft>
                <a:spcPts val="0"/>
              </a:spcAft>
              <a:buClr>
                <a:schemeClr val="dk1"/>
              </a:buClr>
              <a:buSzPts val="2000"/>
              <a:buNone/>
            </a:pPr>
            <a:endParaRPr sz="2000"/>
          </a:p>
          <a:p>
            <a:pPr marL="457200" lvl="0" indent="-457200" algn="just" rtl="0">
              <a:spcBef>
                <a:spcPts val="400"/>
              </a:spcBef>
              <a:spcAft>
                <a:spcPts val="0"/>
              </a:spcAft>
              <a:buClr>
                <a:srgbClr val="C00000"/>
              </a:buClr>
              <a:buSzPts val="2000"/>
              <a:buAutoNum type="arabicPeriod"/>
            </a:pPr>
            <a:r>
              <a:rPr lang="en-US" sz="2000" b="1">
                <a:solidFill>
                  <a:srgbClr val="C00000"/>
                </a:solidFill>
              </a:rPr>
              <a:t>Data flow model: </a:t>
            </a:r>
            <a:endParaRPr/>
          </a:p>
          <a:p>
            <a:pPr marL="742950" lvl="1" indent="-285750" algn="just" rtl="0">
              <a:spcBef>
                <a:spcPts val="400"/>
              </a:spcBef>
              <a:spcAft>
                <a:spcPts val="0"/>
              </a:spcAft>
              <a:buClr>
                <a:schemeClr val="dk1"/>
              </a:buClr>
              <a:buSzPts val="2000"/>
              <a:buChar char="–"/>
            </a:pPr>
            <a:r>
              <a:rPr lang="en-US" sz="2000"/>
              <a:t>It is a graphical technique. It is used to represent information flow.</a:t>
            </a:r>
            <a:endParaRPr/>
          </a:p>
          <a:p>
            <a:pPr marL="742950" lvl="1" indent="-285750" algn="just" rtl="0">
              <a:spcBef>
                <a:spcPts val="400"/>
              </a:spcBef>
              <a:spcAft>
                <a:spcPts val="0"/>
              </a:spcAft>
              <a:buClr>
                <a:schemeClr val="dk1"/>
              </a:buClr>
              <a:buSzPts val="2000"/>
              <a:buChar char="–"/>
            </a:pPr>
            <a:r>
              <a:rPr lang="en-US" sz="2000"/>
              <a:t>The data objects are flowing within the software and transformed by processing the elements.</a:t>
            </a:r>
            <a:endParaRPr/>
          </a:p>
          <a:p>
            <a:pPr marL="742950" lvl="1" indent="-285750" algn="just" rtl="0">
              <a:spcBef>
                <a:spcPts val="400"/>
              </a:spcBef>
              <a:spcAft>
                <a:spcPts val="0"/>
              </a:spcAft>
              <a:buClr>
                <a:schemeClr val="dk1"/>
              </a:buClr>
              <a:buSzPts val="2000"/>
              <a:buChar char="–"/>
            </a:pPr>
            <a:r>
              <a:rPr lang="en-US" sz="2000"/>
              <a:t>The data objects are represented by labeled arrows. Transformation are represented by circles called as bubbles.</a:t>
            </a:r>
            <a:endParaRPr/>
          </a:p>
          <a:p>
            <a:pPr marL="742950" lvl="1" indent="-285750" algn="just" rtl="0">
              <a:spcBef>
                <a:spcPts val="400"/>
              </a:spcBef>
              <a:spcAft>
                <a:spcPts val="0"/>
              </a:spcAft>
              <a:buClr>
                <a:schemeClr val="dk1"/>
              </a:buClr>
              <a:buSzPts val="2000"/>
              <a:buChar char="–"/>
            </a:pPr>
            <a:r>
              <a:rPr lang="en-US" sz="2000"/>
              <a:t>DFD shown in a hierarchical fashion. The DFD is split into different levels. It also called as 'context level diagram.</a:t>
            </a:r>
            <a:endParaRPr/>
          </a:p>
          <a:p>
            <a:pPr marL="0" lvl="0" indent="0" algn="just" rtl="0">
              <a:spcBef>
                <a:spcPts val="400"/>
              </a:spcBef>
              <a:spcAft>
                <a:spcPts val="0"/>
              </a:spcAft>
              <a:buClr>
                <a:schemeClr val="dk1"/>
              </a:buClr>
              <a:buSzPts val="2000"/>
              <a:buNone/>
            </a:pPr>
            <a:br>
              <a:rPr lang="en-US" sz="2000" b="1"/>
            </a:br>
            <a:endParaRPr sz="200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56"/>
        <p:cNvGrpSpPr/>
        <p:nvPr/>
      </p:nvGrpSpPr>
      <p:grpSpPr>
        <a:xfrm>
          <a:off x="0" y="0"/>
          <a:ext cx="0" cy="0"/>
          <a:chOff x="0" y="0"/>
          <a:chExt cx="0" cy="0"/>
        </a:xfrm>
      </p:grpSpPr>
      <p:sp>
        <p:nvSpPr>
          <p:cNvPr id="357" name="Google Shape;357;p32"/>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z="2800" b="1">
                <a:latin typeface="Times"/>
                <a:ea typeface="Times"/>
                <a:cs typeface="Times"/>
                <a:sym typeface="Times"/>
              </a:rPr>
              <a:t>Flow Oriented Modelling (contd.)</a:t>
            </a:r>
            <a:endParaRPr/>
          </a:p>
        </p:txBody>
      </p:sp>
      <p:sp>
        <p:nvSpPr>
          <p:cNvPr id="358" name="Google Shape;358;p32"/>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32</a:t>
            </a:fld>
            <a:endParaRPr/>
          </a:p>
        </p:txBody>
      </p:sp>
      <p:sp>
        <p:nvSpPr>
          <p:cNvPr id="359" name="Google Shape;359;p32"/>
          <p:cNvSpPr txBox="1">
            <a:spLocks noGrp="1"/>
          </p:cNvSpPr>
          <p:nvPr>
            <p:ph type="body" idx="1"/>
          </p:nvPr>
        </p:nvSpPr>
        <p:spPr>
          <a:xfrm>
            <a:off x="304800" y="990600"/>
            <a:ext cx="8534400" cy="5216525"/>
          </a:xfrm>
          <a:prstGeom prst="rect">
            <a:avLst/>
          </a:prstGeom>
          <a:noFill/>
          <a:ln>
            <a:noFill/>
          </a:ln>
        </p:spPr>
        <p:txBody>
          <a:bodyPr spcFirstLastPara="1" wrap="square" lIns="91425" tIns="45700" rIns="91425" bIns="45700" anchor="t" anchorCtr="0">
            <a:noAutofit/>
          </a:bodyPr>
          <a:lstStyle/>
          <a:p>
            <a:pPr marL="0" lvl="0" indent="0" algn="just" rtl="0">
              <a:spcBef>
                <a:spcPts val="0"/>
              </a:spcBef>
              <a:spcAft>
                <a:spcPts val="0"/>
              </a:spcAft>
              <a:buClr>
                <a:srgbClr val="C00000"/>
              </a:buClr>
              <a:buSzPts val="2000"/>
              <a:buNone/>
            </a:pPr>
            <a:r>
              <a:rPr lang="en-US" sz="2000" b="1">
                <a:solidFill>
                  <a:srgbClr val="C00000"/>
                </a:solidFill>
              </a:rPr>
              <a:t>2. Control flow model: </a:t>
            </a:r>
            <a:endParaRPr/>
          </a:p>
          <a:p>
            <a:pPr marL="742950" lvl="1" indent="-285750" algn="just" rtl="0">
              <a:spcBef>
                <a:spcPts val="400"/>
              </a:spcBef>
              <a:spcAft>
                <a:spcPts val="0"/>
              </a:spcAft>
              <a:buClr>
                <a:schemeClr val="dk1"/>
              </a:buClr>
              <a:buSzPts val="2000"/>
              <a:buChar char="–"/>
            </a:pPr>
            <a:r>
              <a:rPr lang="en-US" sz="2000"/>
              <a:t>Large class applications require a control flow modeling. </a:t>
            </a:r>
            <a:endParaRPr/>
          </a:p>
          <a:p>
            <a:pPr marL="742950" lvl="1" indent="-285750" algn="just" rtl="0">
              <a:spcBef>
                <a:spcPts val="400"/>
              </a:spcBef>
              <a:spcAft>
                <a:spcPts val="0"/>
              </a:spcAft>
              <a:buClr>
                <a:schemeClr val="dk1"/>
              </a:buClr>
              <a:buSzPts val="2000"/>
              <a:buChar char="–"/>
            </a:pPr>
            <a:r>
              <a:rPr lang="en-US" sz="2000"/>
              <a:t>The application creates control information instead of reports or displays. </a:t>
            </a:r>
            <a:endParaRPr/>
          </a:p>
          <a:p>
            <a:pPr marL="742950" lvl="1" indent="-285750" algn="just" rtl="0">
              <a:spcBef>
                <a:spcPts val="400"/>
              </a:spcBef>
              <a:spcAft>
                <a:spcPts val="0"/>
              </a:spcAft>
              <a:buClr>
                <a:schemeClr val="dk1"/>
              </a:buClr>
              <a:buSzPts val="2000"/>
              <a:buChar char="–"/>
            </a:pPr>
            <a:r>
              <a:rPr lang="en-US" sz="2000"/>
              <a:t>The applications process the information in specified time. </a:t>
            </a:r>
            <a:endParaRPr/>
          </a:p>
          <a:p>
            <a:pPr marL="742950" lvl="1" indent="-285750" algn="just" rtl="0">
              <a:spcBef>
                <a:spcPts val="400"/>
              </a:spcBef>
              <a:spcAft>
                <a:spcPts val="0"/>
              </a:spcAft>
              <a:buClr>
                <a:schemeClr val="dk1"/>
              </a:buClr>
              <a:buSzPts val="2000"/>
              <a:buChar char="–"/>
            </a:pPr>
            <a:r>
              <a:rPr lang="en-US" sz="2000"/>
              <a:t>An event is implemented as a boolean value. </a:t>
            </a:r>
            <a:endParaRPr/>
          </a:p>
          <a:p>
            <a:pPr marL="742950" lvl="1" indent="-285750" algn="just" rtl="0">
              <a:spcBef>
                <a:spcPts val="400"/>
              </a:spcBef>
              <a:spcAft>
                <a:spcPts val="0"/>
              </a:spcAft>
              <a:buClr>
                <a:schemeClr val="dk1"/>
              </a:buClr>
              <a:buSzPts val="2000"/>
              <a:buChar char="–"/>
            </a:pPr>
            <a:r>
              <a:rPr lang="en-US" sz="2000"/>
              <a:t>For example, the boolean values are true or false, on or off, 1 or 0.</a:t>
            </a:r>
            <a:endParaRPr/>
          </a:p>
          <a:p>
            <a:pPr marL="342900" lvl="0" indent="-215900" algn="just" rtl="0">
              <a:spcBef>
                <a:spcPts val="400"/>
              </a:spcBef>
              <a:spcAft>
                <a:spcPts val="0"/>
              </a:spcAft>
              <a:buClr>
                <a:schemeClr val="dk1"/>
              </a:buClr>
              <a:buSzPts val="2000"/>
              <a:buNone/>
            </a:pPr>
            <a:endParaRPr sz="2000"/>
          </a:p>
          <a:p>
            <a:pPr marL="0" lvl="0" indent="0" algn="just" rtl="0">
              <a:spcBef>
                <a:spcPts val="400"/>
              </a:spcBef>
              <a:spcAft>
                <a:spcPts val="0"/>
              </a:spcAft>
              <a:buClr>
                <a:srgbClr val="C00000"/>
              </a:buClr>
              <a:buSzPts val="2000"/>
              <a:buNone/>
            </a:pPr>
            <a:r>
              <a:rPr lang="en-US" sz="2000" b="1">
                <a:solidFill>
                  <a:srgbClr val="C00000"/>
                </a:solidFill>
              </a:rPr>
              <a:t>3. Control Specification (SPEC): </a:t>
            </a:r>
            <a:endParaRPr/>
          </a:p>
          <a:p>
            <a:pPr marL="742950" lvl="1" indent="-285750" algn="just" rtl="0">
              <a:spcBef>
                <a:spcPts val="400"/>
              </a:spcBef>
              <a:spcAft>
                <a:spcPts val="0"/>
              </a:spcAft>
              <a:buClr>
                <a:schemeClr val="dk1"/>
              </a:buClr>
              <a:buSzPts val="2000"/>
              <a:buChar char="–"/>
            </a:pPr>
            <a:r>
              <a:rPr lang="en-US" sz="2000"/>
              <a:t>It represents the behavior of the system. </a:t>
            </a:r>
            <a:endParaRPr/>
          </a:p>
          <a:p>
            <a:pPr marL="742950" lvl="1" indent="-285750" algn="just" rtl="0">
              <a:spcBef>
                <a:spcPts val="400"/>
              </a:spcBef>
              <a:spcAft>
                <a:spcPts val="0"/>
              </a:spcAft>
              <a:buClr>
                <a:schemeClr val="dk1"/>
              </a:buClr>
              <a:buSzPts val="2000"/>
              <a:buChar char="–"/>
            </a:pPr>
            <a:r>
              <a:rPr lang="en-US" sz="2000"/>
              <a:t>The state diagram in CSPEC is a sequential specification of the behavior. </a:t>
            </a:r>
            <a:endParaRPr/>
          </a:p>
          <a:p>
            <a:pPr marL="742950" lvl="1" indent="-285750" algn="just" rtl="0">
              <a:spcBef>
                <a:spcPts val="400"/>
              </a:spcBef>
              <a:spcAft>
                <a:spcPts val="0"/>
              </a:spcAft>
              <a:buClr>
                <a:schemeClr val="dk1"/>
              </a:buClr>
              <a:buSzPts val="2000"/>
              <a:buChar char="–"/>
            </a:pPr>
            <a:r>
              <a:rPr lang="en-US" sz="2000"/>
              <a:t>The state diagram includes states, transitions, events and activities. </a:t>
            </a:r>
            <a:endParaRPr/>
          </a:p>
          <a:p>
            <a:pPr marL="742950" lvl="1" indent="-285750" algn="just" rtl="0">
              <a:spcBef>
                <a:spcPts val="400"/>
              </a:spcBef>
              <a:spcAft>
                <a:spcPts val="0"/>
              </a:spcAft>
              <a:buClr>
                <a:schemeClr val="dk1"/>
              </a:buClr>
              <a:buSzPts val="2000"/>
              <a:buChar char="–"/>
            </a:pPr>
            <a:r>
              <a:rPr lang="en-US" sz="2000"/>
              <a:t>State diagram shows the transition from one state to another state if a particular event has occurred.</a:t>
            </a:r>
            <a:endParaRPr/>
          </a:p>
          <a:p>
            <a:pPr marL="342900" lvl="0" indent="-215900" algn="just" rtl="0">
              <a:spcBef>
                <a:spcPts val="400"/>
              </a:spcBef>
              <a:spcAft>
                <a:spcPts val="0"/>
              </a:spcAft>
              <a:buClr>
                <a:schemeClr val="dk1"/>
              </a:buClr>
              <a:buSzPts val="2000"/>
              <a:buNone/>
            </a:pPr>
            <a:endParaRPr sz="2000"/>
          </a:p>
          <a:p>
            <a:pPr marL="342900" lvl="0" indent="-342900" algn="l" rtl="0">
              <a:spcBef>
                <a:spcPts val="400"/>
              </a:spcBef>
              <a:spcAft>
                <a:spcPts val="0"/>
              </a:spcAft>
              <a:buClr>
                <a:schemeClr val="dk1"/>
              </a:buClr>
              <a:buSzPts val="2000"/>
              <a:buNone/>
            </a:pPr>
            <a:br>
              <a:rPr lang="en-US" sz="2000" b="1"/>
            </a:br>
            <a:endParaRPr sz="200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63"/>
        <p:cNvGrpSpPr/>
        <p:nvPr/>
      </p:nvGrpSpPr>
      <p:grpSpPr>
        <a:xfrm>
          <a:off x="0" y="0"/>
          <a:ext cx="0" cy="0"/>
          <a:chOff x="0" y="0"/>
          <a:chExt cx="0" cy="0"/>
        </a:xfrm>
      </p:grpSpPr>
      <p:sp>
        <p:nvSpPr>
          <p:cNvPr id="364" name="Google Shape;364;p33"/>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z="2800" b="1">
                <a:latin typeface="Times"/>
                <a:ea typeface="Times"/>
                <a:cs typeface="Times"/>
                <a:sym typeface="Times"/>
              </a:rPr>
              <a:t>Flow Oriented Modelling (contd.)</a:t>
            </a:r>
            <a:endParaRPr/>
          </a:p>
        </p:txBody>
      </p:sp>
      <p:sp>
        <p:nvSpPr>
          <p:cNvPr id="365" name="Google Shape;365;p33"/>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33</a:t>
            </a:fld>
            <a:endParaRPr/>
          </a:p>
        </p:txBody>
      </p:sp>
      <p:sp>
        <p:nvSpPr>
          <p:cNvPr id="366" name="Google Shape;366;p33"/>
          <p:cNvSpPr txBox="1">
            <a:spLocks noGrp="1"/>
          </p:cNvSpPr>
          <p:nvPr>
            <p:ph type="body" idx="1"/>
          </p:nvPr>
        </p:nvSpPr>
        <p:spPr>
          <a:xfrm>
            <a:off x="228600" y="1295400"/>
            <a:ext cx="8229600" cy="2743200"/>
          </a:xfrm>
          <a:prstGeom prst="rect">
            <a:avLst/>
          </a:prstGeom>
          <a:noFill/>
          <a:ln>
            <a:noFill/>
          </a:ln>
        </p:spPr>
        <p:txBody>
          <a:bodyPr spcFirstLastPara="1" wrap="square" lIns="91425" tIns="45700" rIns="91425" bIns="45700" anchor="t" anchorCtr="0">
            <a:noAutofit/>
          </a:bodyPr>
          <a:lstStyle/>
          <a:p>
            <a:pPr marL="0" lvl="0" indent="0" algn="just" rtl="0">
              <a:lnSpc>
                <a:spcPct val="150000"/>
              </a:lnSpc>
              <a:spcBef>
                <a:spcPts val="0"/>
              </a:spcBef>
              <a:spcAft>
                <a:spcPts val="0"/>
              </a:spcAft>
              <a:buClr>
                <a:srgbClr val="C00000"/>
              </a:buClr>
              <a:buSzPts val="2000"/>
              <a:buNone/>
            </a:pPr>
            <a:r>
              <a:rPr lang="en-US" sz="2000" b="1">
                <a:solidFill>
                  <a:srgbClr val="C00000"/>
                </a:solidFill>
              </a:rPr>
              <a:t>4. Process Specification (PSPEC): </a:t>
            </a:r>
            <a:endParaRPr/>
          </a:p>
          <a:p>
            <a:pPr marL="742950" lvl="1" indent="-285750" algn="just" rtl="0">
              <a:lnSpc>
                <a:spcPct val="150000"/>
              </a:lnSpc>
              <a:spcBef>
                <a:spcPts val="400"/>
              </a:spcBef>
              <a:spcAft>
                <a:spcPts val="0"/>
              </a:spcAft>
              <a:buClr>
                <a:schemeClr val="dk1"/>
              </a:buClr>
              <a:buSzPts val="2000"/>
              <a:buChar char="–"/>
            </a:pPr>
            <a:r>
              <a:rPr lang="en-US" sz="2000"/>
              <a:t>The process specification is used to describe all flow model processes. </a:t>
            </a:r>
            <a:endParaRPr/>
          </a:p>
          <a:p>
            <a:pPr marL="742950" lvl="1" indent="-285750" algn="just" rtl="0">
              <a:lnSpc>
                <a:spcPct val="150000"/>
              </a:lnSpc>
              <a:spcBef>
                <a:spcPts val="400"/>
              </a:spcBef>
              <a:spcAft>
                <a:spcPts val="0"/>
              </a:spcAft>
              <a:buClr>
                <a:schemeClr val="dk1"/>
              </a:buClr>
              <a:buSzPts val="2000"/>
              <a:buChar char="–"/>
            </a:pPr>
            <a:r>
              <a:rPr lang="en-US" sz="2000"/>
              <a:t>The content of process specification consists narrative text, Program Design Language(PDL) of the process algorithm, mathematical equations, tables or UML activity diagram.</a:t>
            </a:r>
            <a:endParaRPr/>
          </a:p>
          <a:p>
            <a:pPr marL="342900" lvl="0" indent="-215900" algn="just" rtl="0">
              <a:lnSpc>
                <a:spcPct val="150000"/>
              </a:lnSpc>
              <a:spcBef>
                <a:spcPts val="400"/>
              </a:spcBef>
              <a:spcAft>
                <a:spcPts val="0"/>
              </a:spcAft>
              <a:buClr>
                <a:schemeClr val="dk1"/>
              </a:buClr>
              <a:buSzPts val="2000"/>
              <a:buNone/>
            </a:pPr>
            <a:endParaRPr sz="2000"/>
          </a:p>
          <a:p>
            <a:pPr marL="342900" lvl="0" indent="-342900" algn="l" rtl="0">
              <a:lnSpc>
                <a:spcPct val="150000"/>
              </a:lnSpc>
              <a:spcBef>
                <a:spcPts val="400"/>
              </a:spcBef>
              <a:spcAft>
                <a:spcPts val="0"/>
              </a:spcAft>
              <a:buClr>
                <a:schemeClr val="dk1"/>
              </a:buClr>
              <a:buSzPts val="2000"/>
              <a:buNone/>
            </a:pPr>
            <a:br>
              <a:rPr lang="en-US" sz="2000" b="1"/>
            </a:br>
            <a:endParaRPr sz="200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70"/>
        <p:cNvGrpSpPr/>
        <p:nvPr/>
      </p:nvGrpSpPr>
      <p:grpSpPr>
        <a:xfrm>
          <a:off x="0" y="0"/>
          <a:ext cx="0" cy="0"/>
          <a:chOff x="0" y="0"/>
          <a:chExt cx="0" cy="0"/>
        </a:xfrm>
      </p:grpSpPr>
      <p:sp>
        <p:nvSpPr>
          <p:cNvPr id="371" name="Google Shape;371;p34"/>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3600" b="1"/>
              <a:t>Practice Questions</a:t>
            </a:r>
            <a:endParaRPr/>
          </a:p>
        </p:txBody>
      </p:sp>
      <p:sp>
        <p:nvSpPr>
          <p:cNvPr id="372" name="Google Shape;372;p34"/>
          <p:cNvSpPr txBox="1">
            <a:spLocks noGrp="1"/>
          </p:cNvSpPr>
          <p:nvPr>
            <p:ph type="body" idx="1"/>
          </p:nvPr>
        </p:nvSpPr>
        <p:spPr>
          <a:xfrm>
            <a:off x="381000" y="1447800"/>
            <a:ext cx="8229600" cy="2971800"/>
          </a:xfrm>
          <a:prstGeom prst="rect">
            <a:avLst/>
          </a:prstGeom>
          <a:noFill/>
          <a:ln>
            <a:noFill/>
          </a:ln>
        </p:spPr>
        <p:txBody>
          <a:bodyPr spcFirstLastPara="1" wrap="square" lIns="91425" tIns="45700" rIns="91425" bIns="45700" anchor="t" anchorCtr="0">
            <a:noAutofit/>
          </a:bodyPr>
          <a:lstStyle/>
          <a:p>
            <a:pPr marL="342900" lvl="0" indent="-215900" algn="l" rtl="0">
              <a:spcBef>
                <a:spcPts val="0"/>
              </a:spcBef>
              <a:spcAft>
                <a:spcPts val="0"/>
              </a:spcAft>
              <a:buClr>
                <a:schemeClr val="dk1"/>
              </a:buClr>
              <a:buSzPts val="2000"/>
              <a:buNone/>
            </a:pPr>
            <a:endParaRPr sz="2000" b="1" i="0"/>
          </a:p>
          <a:p>
            <a:pPr marL="342900" lvl="0" indent="-215900" algn="l" rtl="0">
              <a:spcBef>
                <a:spcPts val="400"/>
              </a:spcBef>
              <a:spcAft>
                <a:spcPts val="0"/>
              </a:spcAft>
              <a:buClr>
                <a:schemeClr val="dk1"/>
              </a:buClr>
              <a:buSzPts val="2000"/>
              <a:buNone/>
            </a:pPr>
            <a:endParaRPr sz="2000" b="1"/>
          </a:p>
        </p:txBody>
      </p:sp>
      <p:sp>
        <p:nvSpPr>
          <p:cNvPr id="373" name="Google Shape;373;p34"/>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34</a:t>
            </a:fld>
            <a:endParaRPr/>
          </a:p>
        </p:txBody>
      </p:sp>
      <p:sp>
        <p:nvSpPr>
          <p:cNvPr id="374" name="Google Shape;374;p34"/>
          <p:cNvSpPr txBox="1"/>
          <p:nvPr/>
        </p:nvSpPr>
        <p:spPr>
          <a:xfrm>
            <a:off x="381000" y="1066800"/>
            <a:ext cx="8077200" cy="4708981"/>
          </a:xfrm>
          <a:prstGeom prst="rect">
            <a:avLst/>
          </a:prstGeom>
          <a:noFill/>
          <a:ln>
            <a:noFill/>
          </a:ln>
        </p:spPr>
        <p:txBody>
          <a:bodyPr spcFirstLastPara="1" wrap="square" lIns="91425" tIns="45700" rIns="91425" bIns="45700" anchor="t" anchorCtr="0">
            <a:spAutoFit/>
          </a:bodyPr>
          <a:lstStyle/>
          <a:p>
            <a:pPr marL="342900" marR="0" lvl="0" indent="-342900" algn="just" rtl="0">
              <a:spcBef>
                <a:spcPts val="0"/>
              </a:spcBef>
              <a:spcAft>
                <a:spcPts val="0"/>
              </a:spcAft>
              <a:buClr>
                <a:schemeClr val="dk1"/>
              </a:buClr>
              <a:buSzPts val="2000"/>
              <a:buFont typeface="Arial"/>
              <a:buChar char="•"/>
            </a:pPr>
            <a:r>
              <a:rPr lang="en-US" sz="2000">
                <a:solidFill>
                  <a:schemeClr val="dk1"/>
                </a:solidFill>
                <a:latin typeface="Times New Roman"/>
                <a:ea typeface="Times New Roman"/>
                <a:cs typeface="Times New Roman"/>
                <a:sym typeface="Times New Roman"/>
              </a:rPr>
              <a:t>Explain the primary objectives of analysis modelling in software engineering. Why is it considered a critical step in the development process?</a:t>
            </a:r>
            <a:endParaRPr/>
          </a:p>
          <a:p>
            <a:pPr marL="342900" marR="0" lvl="0" indent="-342900" algn="just" rtl="0">
              <a:spcBef>
                <a:spcPts val="0"/>
              </a:spcBef>
              <a:spcAft>
                <a:spcPts val="0"/>
              </a:spcAft>
              <a:buClr>
                <a:schemeClr val="dk1"/>
              </a:buClr>
              <a:buSzPts val="2000"/>
              <a:buFont typeface="Arial"/>
              <a:buChar char="•"/>
            </a:pPr>
            <a:r>
              <a:rPr lang="en-US" sz="2000">
                <a:solidFill>
                  <a:schemeClr val="dk1"/>
                </a:solidFill>
                <a:latin typeface="Times New Roman"/>
                <a:ea typeface="Times New Roman"/>
                <a:cs typeface="Times New Roman"/>
                <a:sym typeface="Times New Roman"/>
              </a:rPr>
              <a:t>Describe the significance of an Entity-Relationship Diagram (ERD) in analysis modelling. How do attributes and relationships contribute to the completeness of an ERD? Provide an example.</a:t>
            </a:r>
            <a:endParaRPr/>
          </a:p>
          <a:p>
            <a:pPr marL="342900" marR="0" lvl="0" indent="-342900" algn="just" rtl="0">
              <a:spcBef>
                <a:spcPts val="0"/>
              </a:spcBef>
              <a:spcAft>
                <a:spcPts val="0"/>
              </a:spcAft>
              <a:buClr>
                <a:schemeClr val="dk1"/>
              </a:buClr>
              <a:buSzPts val="2000"/>
              <a:buFont typeface="Arial"/>
              <a:buChar char="•"/>
            </a:pPr>
            <a:r>
              <a:rPr lang="en-US" sz="2000">
                <a:solidFill>
                  <a:schemeClr val="dk1"/>
                </a:solidFill>
                <a:latin typeface="Times New Roman"/>
                <a:ea typeface="Times New Roman"/>
                <a:cs typeface="Times New Roman"/>
                <a:sym typeface="Times New Roman"/>
              </a:rPr>
              <a:t>What are the challenges faced during the requirement elicitation and analysis process? Suggest strategies to overcome at least two of these challenges.</a:t>
            </a:r>
            <a:endParaRPr/>
          </a:p>
          <a:p>
            <a:pPr marL="342900" marR="0" lvl="0" indent="-342900" algn="just" rtl="0">
              <a:spcBef>
                <a:spcPts val="0"/>
              </a:spcBef>
              <a:spcAft>
                <a:spcPts val="0"/>
              </a:spcAft>
              <a:buClr>
                <a:schemeClr val="dk1"/>
              </a:buClr>
              <a:buSzPts val="2000"/>
              <a:buFont typeface="Arial"/>
              <a:buChar char="•"/>
            </a:pPr>
            <a:r>
              <a:rPr lang="en-US" sz="2000">
                <a:solidFill>
                  <a:schemeClr val="dk1"/>
                </a:solidFill>
                <a:latin typeface="Times New Roman"/>
                <a:ea typeface="Times New Roman"/>
                <a:cs typeface="Times New Roman"/>
                <a:sym typeface="Times New Roman"/>
              </a:rPr>
              <a:t>Discuss the different types of feasibility studies conducted during requirement engineering. How does each type influence the decision to proceed with a software project?</a:t>
            </a:r>
            <a:endParaRPr/>
          </a:p>
          <a:p>
            <a:pPr marL="342900" marR="0" lvl="0" indent="-342900" algn="just" rtl="0">
              <a:spcBef>
                <a:spcPts val="0"/>
              </a:spcBef>
              <a:spcAft>
                <a:spcPts val="0"/>
              </a:spcAft>
              <a:buClr>
                <a:schemeClr val="dk1"/>
              </a:buClr>
              <a:buSzPts val="2000"/>
              <a:buFont typeface="Arial"/>
              <a:buChar char="•"/>
            </a:pPr>
            <a:r>
              <a:rPr lang="en-US" sz="2000">
                <a:solidFill>
                  <a:schemeClr val="dk1"/>
                </a:solidFill>
                <a:latin typeface="Times New Roman"/>
                <a:ea typeface="Times New Roman"/>
                <a:cs typeface="Times New Roman"/>
                <a:sym typeface="Times New Roman"/>
              </a:rPr>
              <a:t>Compare and contrast Data Flow Diagrams (DFDs) and State Transition Diagrams (STDs). How does each diagram contribute to understanding different aspects of a software system?</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78"/>
        <p:cNvGrpSpPr/>
        <p:nvPr/>
      </p:nvGrpSpPr>
      <p:grpSpPr>
        <a:xfrm>
          <a:off x="0" y="0"/>
          <a:ext cx="0" cy="0"/>
          <a:chOff x="0" y="0"/>
          <a:chExt cx="0" cy="0"/>
        </a:xfrm>
      </p:grpSpPr>
      <p:sp>
        <p:nvSpPr>
          <p:cNvPr id="379" name="Google Shape;379;p35"/>
          <p:cNvSpPr txBox="1">
            <a:spLocks noGrp="1"/>
          </p:cNvSpPr>
          <p:nvPr>
            <p:ph type="body" idx="1"/>
          </p:nvPr>
        </p:nvSpPr>
        <p:spPr>
          <a:xfrm>
            <a:off x="457200" y="1371600"/>
            <a:ext cx="8229600" cy="4525963"/>
          </a:xfrm>
          <a:prstGeom prst="rect">
            <a:avLst/>
          </a:prstGeom>
          <a:noFill/>
          <a:ln>
            <a:noFill/>
          </a:ln>
        </p:spPr>
        <p:txBody>
          <a:bodyPr spcFirstLastPara="1" wrap="square" lIns="91425" tIns="45700" rIns="91425" bIns="45700" anchor="t" anchorCtr="0">
            <a:noAutofit/>
          </a:bodyPr>
          <a:lstStyle/>
          <a:p>
            <a:pPr marL="342900" lvl="0" indent="-63500" algn="ctr" rtl="0">
              <a:spcBef>
                <a:spcPts val="0"/>
              </a:spcBef>
              <a:spcAft>
                <a:spcPts val="0"/>
              </a:spcAft>
              <a:buClr>
                <a:schemeClr val="dk1"/>
              </a:buClr>
              <a:buSzPts val="4400"/>
              <a:buNone/>
            </a:pPr>
            <a:endParaRPr sz="4400"/>
          </a:p>
          <a:p>
            <a:pPr marL="342900" lvl="0" indent="-63500" algn="ctr" rtl="0">
              <a:spcBef>
                <a:spcPts val="880"/>
              </a:spcBef>
              <a:spcAft>
                <a:spcPts val="0"/>
              </a:spcAft>
              <a:buClr>
                <a:schemeClr val="dk1"/>
              </a:buClr>
              <a:buSzPts val="4400"/>
              <a:buNone/>
            </a:pPr>
            <a:endParaRPr sz="4400"/>
          </a:p>
          <a:p>
            <a:pPr marL="0" lvl="0" indent="0" algn="ctr" rtl="0">
              <a:spcBef>
                <a:spcPts val="1200"/>
              </a:spcBef>
              <a:spcAft>
                <a:spcPts val="0"/>
              </a:spcAft>
              <a:buClr>
                <a:schemeClr val="dk1"/>
              </a:buClr>
              <a:buSzPts val="6000"/>
              <a:buNone/>
            </a:pPr>
            <a:r>
              <a:rPr lang="en-US" sz="6000"/>
              <a:t>THANKS</a:t>
            </a:r>
            <a:endParaRPr sz="4400"/>
          </a:p>
        </p:txBody>
      </p:sp>
      <p:sp>
        <p:nvSpPr>
          <p:cNvPr id="380" name="Google Shape;380;p35"/>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35</a:t>
            </a:fld>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2370</Words>
  <Application>Microsoft Office PowerPoint</Application>
  <PresentationFormat>On-screen Show (4:3)</PresentationFormat>
  <Paragraphs>303</Paragraphs>
  <Slides>35</Slides>
  <Notes>35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35</vt:i4>
      </vt:variant>
    </vt:vector>
  </HeadingPairs>
  <TitlesOfParts>
    <vt:vector size="41" baseType="lpstr">
      <vt:lpstr>Arial</vt:lpstr>
      <vt:lpstr>Calibri</vt:lpstr>
      <vt:lpstr>Noto Sans Symbols</vt:lpstr>
      <vt:lpstr>Times</vt:lpstr>
      <vt:lpstr>Times New Roman</vt:lpstr>
      <vt:lpstr>Office Theme</vt:lpstr>
      <vt:lpstr>PowerPoint Presentation</vt:lpstr>
      <vt:lpstr>Index</vt:lpstr>
      <vt:lpstr>PowerPoint Presentation</vt:lpstr>
      <vt:lpstr>Analysis Modelling</vt:lpstr>
      <vt:lpstr>Elements of Analysis Model</vt:lpstr>
      <vt:lpstr>Elements of Analysis Modelling (contd.)</vt:lpstr>
      <vt:lpstr>Elements of Analysis Modelling (contd.)</vt:lpstr>
      <vt:lpstr>Elements of Analysis Modelling (contd.)</vt:lpstr>
      <vt:lpstr>Elements of Analysis Modelling (contd.)</vt:lpstr>
      <vt:lpstr>Elements of Analysis Modelling (contd.)</vt:lpstr>
      <vt:lpstr>Elements of Analysis Modelling (contd.)</vt:lpstr>
      <vt:lpstr>Elements of Analysis Modelling (contd.)</vt:lpstr>
      <vt:lpstr>Requirement Engineering</vt:lpstr>
      <vt:lpstr>Feasibility Study</vt:lpstr>
      <vt:lpstr>Requirement Elicitation and Analysis</vt:lpstr>
      <vt:lpstr>Requirement Elicitation and Analysis</vt:lpstr>
      <vt:lpstr>Problems of Elicitation and Analysis</vt:lpstr>
      <vt:lpstr>Software Requirement Specification (SRS)</vt:lpstr>
      <vt:lpstr>Software Requirement Specification (SRS)</vt:lpstr>
      <vt:lpstr>Software Requirement Specification (SRS)</vt:lpstr>
      <vt:lpstr>Software Requirement Specification (SRS)</vt:lpstr>
      <vt:lpstr>Features of SRS</vt:lpstr>
      <vt:lpstr>Software Requirement Validation</vt:lpstr>
      <vt:lpstr>Software Requirement Validation - Techniques</vt:lpstr>
      <vt:lpstr>Software Requirement Management</vt:lpstr>
      <vt:lpstr>What is a Data Object?</vt:lpstr>
      <vt:lpstr>Data Modeling Concept</vt:lpstr>
      <vt:lpstr>What is a Relationship?</vt:lpstr>
      <vt:lpstr>ERD Notation</vt:lpstr>
      <vt:lpstr>The ERD: An Example</vt:lpstr>
      <vt:lpstr>Flow Oriented Modelling</vt:lpstr>
      <vt:lpstr>Flow Oriented Modelling (contd.)</vt:lpstr>
      <vt:lpstr>Flow Oriented Modelling (contd.)</vt:lpstr>
      <vt:lpstr>Practice Questions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ABC</dc:creator>
  <cp:lastModifiedBy>Suvarna Sharma</cp:lastModifiedBy>
  <cp:revision>1</cp:revision>
  <dcterms:created xsi:type="dcterms:W3CDTF">2021-07-05T10:09:00Z</dcterms:created>
  <dcterms:modified xsi:type="dcterms:W3CDTF">2025-01-22T06:03:46Z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1033-11.2.0.10463</vt:lpwstr>
  </property>
  <property fmtid="{D5CDD505-2E9C-101B-9397-08002B2CF9AE}" pid="3" name="ICV">
    <vt:lpwstr>C66E8A929365439D9183C5235316B3C9</vt:lpwstr>
  </property>
</Properties>
</file>