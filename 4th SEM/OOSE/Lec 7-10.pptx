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311" r:id="rId6"/>
    <p:sldId id="258" r:id="rId7"/>
    <p:sldId id="259" r:id="rId8"/>
    <p:sldId id="260" r:id="rId9"/>
    <p:sldId id="261" r:id="rId10"/>
    <p:sldId id="262" r:id="rId11"/>
    <p:sldId id="263"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4" r:id="rId58"/>
    <p:sldId id="315" r:id="rId59"/>
    <p:sldId id="316" r:id="rId60"/>
    <p:sldId id="317" r:id="rId61"/>
    <p:sldId id="312" r:id="rId6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9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7" d="100"/>
          <a:sy n="67" d="100"/>
        </p:scale>
        <p:origin x="1392" y="48"/>
      </p:cViewPr>
      <p:guideLst>
        <p:guide orient="horz" pos="2160"/>
        <p:guide pos="290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2"/>
        <p:cNvGrpSpPr/>
        <p:nvPr/>
      </p:nvGrpSpPr>
      <p:grpSpPr>
        <a:xfrm>
          <a:off x="0" y="0"/>
          <a:ext cx="0" cy="0"/>
          <a:chOff x="0" y="0"/>
          <a:chExt cx="0" cy="0"/>
        </a:xfrm>
      </p:grpSpPr>
      <p:sp>
        <p:nvSpPr>
          <p:cNvPr id="43" name="Google Shape;4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p>
        </p:txBody>
      </p:sp>
      <p:sp>
        <p:nvSpPr>
          <p:cNvPr id="45" name="Google Shape;45;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51" name="Google Shape;5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51" name="Google Shape;5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8"/>
        <p:cNvGrpSpPr/>
        <p:nvPr/>
      </p:nvGrpSpPr>
      <p:grpSpPr>
        <a:xfrm>
          <a:off x="0" y="0"/>
          <a:ext cx="0" cy="0"/>
          <a:chOff x="0" y="0"/>
          <a:chExt cx="0" cy="0"/>
        </a:xfrm>
      </p:grpSpPr>
      <p:sp>
        <p:nvSpPr>
          <p:cNvPr id="59" name="Google Shape;59;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60" name="Google Shape;6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5"/>
        <p:cNvGrpSpPr/>
        <p:nvPr/>
      </p:nvGrpSpPr>
      <p:grpSpPr>
        <a:xfrm>
          <a:off x="0" y="0"/>
          <a:ext cx="0" cy="0"/>
          <a:chOff x="0" y="0"/>
          <a:chExt cx="0" cy="0"/>
        </a:xfrm>
      </p:grpSpPr>
      <p:sp>
        <p:nvSpPr>
          <p:cNvPr id="66" name="Google Shape;6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67" name="Google Shape;6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75" name="Google Shape;7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2"/>
        <p:cNvGrpSpPr/>
        <p:nvPr/>
      </p:nvGrpSpPr>
      <p:grpSpPr>
        <a:xfrm>
          <a:off x="0" y="0"/>
          <a:ext cx="0" cy="0"/>
          <a:chOff x="0" y="0"/>
          <a:chExt cx="0" cy="0"/>
        </a:xfrm>
      </p:grpSpPr>
      <p:sp>
        <p:nvSpPr>
          <p:cNvPr id="83" name="Google Shape;83;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4" name="Google Shape;8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
        <p:cNvGrpSpPr/>
        <p:nvPr/>
      </p:nvGrpSpPr>
      <p:grpSpPr>
        <a:xfrm>
          <a:off x="0" y="0"/>
          <a:ext cx="0" cy="0"/>
          <a:chOff x="0" y="0"/>
          <a:chExt cx="0" cy="0"/>
        </a:xfrm>
      </p:grpSpPr>
      <p:sp>
        <p:nvSpPr>
          <p:cNvPr id="92" name="Google Shape;9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93" name="Google Shape;9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00" name="Google Shape;10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14" name="Google Shape;11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9"/>
        <p:cNvGrpSpPr/>
        <p:nvPr/>
      </p:nvGrpSpPr>
      <p:grpSpPr>
        <a:xfrm>
          <a:off x="0" y="0"/>
          <a:ext cx="0" cy="0"/>
          <a:chOff x="0" y="0"/>
          <a:chExt cx="0" cy="0"/>
        </a:xfrm>
      </p:grpSpPr>
      <p:sp>
        <p:nvSpPr>
          <p:cNvPr id="120" name="Google Shape;12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21" name="Google Shape;12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Google Shape;127;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28" name="Google Shape;12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3"/>
        <p:cNvGrpSpPr/>
        <p:nvPr/>
      </p:nvGrpSpPr>
      <p:grpSpPr>
        <a:xfrm>
          <a:off x="0" y="0"/>
          <a:ext cx="0" cy="0"/>
          <a:chOff x="0" y="0"/>
          <a:chExt cx="0" cy="0"/>
        </a:xfrm>
      </p:grpSpPr>
      <p:sp>
        <p:nvSpPr>
          <p:cNvPr id="134" name="Google Shape;134;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35" name="Google Shape;13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42" name="Google Shape;14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8"/>
        <p:cNvGrpSpPr/>
        <p:nvPr/>
      </p:nvGrpSpPr>
      <p:grpSpPr>
        <a:xfrm>
          <a:off x="0" y="0"/>
          <a:ext cx="0" cy="0"/>
          <a:chOff x="0" y="0"/>
          <a:chExt cx="0" cy="0"/>
        </a:xfrm>
      </p:grpSpPr>
      <p:sp>
        <p:nvSpPr>
          <p:cNvPr id="149" name="Google Shape;149;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50" name="Google Shape;150;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5"/>
        <p:cNvGrpSpPr/>
        <p:nvPr/>
      </p:nvGrpSpPr>
      <p:grpSpPr>
        <a:xfrm>
          <a:off x="0" y="0"/>
          <a:ext cx="0" cy="0"/>
          <a:chOff x="0" y="0"/>
          <a:chExt cx="0" cy="0"/>
        </a:xfrm>
      </p:grpSpPr>
      <p:sp>
        <p:nvSpPr>
          <p:cNvPr id="156" name="Google Shape;15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57" name="Google Shape;15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3"/>
        <p:cNvGrpSpPr/>
        <p:nvPr/>
      </p:nvGrpSpPr>
      <p:grpSpPr>
        <a:xfrm>
          <a:off x="0" y="0"/>
          <a:ext cx="0" cy="0"/>
          <a:chOff x="0" y="0"/>
          <a:chExt cx="0" cy="0"/>
        </a:xfrm>
      </p:grpSpPr>
      <p:sp>
        <p:nvSpPr>
          <p:cNvPr id="164" name="Google Shape;16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65" name="Google Shape;16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72" name="Google Shape;17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7"/>
        <p:cNvGrpSpPr/>
        <p:nvPr/>
      </p:nvGrpSpPr>
      <p:grpSpPr>
        <a:xfrm>
          <a:off x="0" y="0"/>
          <a:ext cx="0" cy="0"/>
          <a:chOff x="0" y="0"/>
          <a:chExt cx="0" cy="0"/>
        </a:xfrm>
      </p:grpSpPr>
      <p:sp>
        <p:nvSpPr>
          <p:cNvPr id="178" name="Google Shape;178;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79" name="Google Shape;17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4"/>
        <p:cNvGrpSpPr/>
        <p:nvPr/>
      </p:nvGrpSpPr>
      <p:grpSpPr>
        <a:xfrm>
          <a:off x="0" y="0"/>
          <a:ext cx="0" cy="0"/>
          <a:chOff x="0" y="0"/>
          <a:chExt cx="0" cy="0"/>
        </a:xfrm>
      </p:grpSpPr>
      <p:sp>
        <p:nvSpPr>
          <p:cNvPr id="185" name="Google Shape;185;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86" name="Google Shape;18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1"/>
        <p:cNvGrpSpPr/>
        <p:nvPr/>
      </p:nvGrpSpPr>
      <p:grpSpPr>
        <a:xfrm>
          <a:off x="0" y="0"/>
          <a:ext cx="0" cy="0"/>
          <a:chOff x="0" y="0"/>
          <a:chExt cx="0" cy="0"/>
        </a:xfrm>
      </p:grpSpPr>
      <p:sp>
        <p:nvSpPr>
          <p:cNvPr id="192" name="Google Shape;192;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93" name="Google Shape;19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01" name="Google Shape;20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6"/>
        <p:cNvGrpSpPr/>
        <p:nvPr/>
      </p:nvGrpSpPr>
      <p:grpSpPr>
        <a:xfrm>
          <a:off x="0" y="0"/>
          <a:ext cx="0" cy="0"/>
          <a:chOff x="0" y="0"/>
          <a:chExt cx="0" cy="0"/>
        </a:xfrm>
      </p:grpSpPr>
      <p:sp>
        <p:nvSpPr>
          <p:cNvPr id="207" name="Google Shape;207;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08" name="Google Shape;208;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5"/>
        <p:cNvGrpSpPr/>
        <p:nvPr/>
      </p:nvGrpSpPr>
      <p:grpSpPr>
        <a:xfrm>
          <a:off x="0" y="0"/>
          <a:ext cx="0" cy="0"/>
          <a:chOff x="0" y="0"/>
          <a:chExt cx="0" cy="0"/>
        </a:xfrm>
      </p:grpSpPr>
      <p:sp>
        <p:nvSpPr>
          <p:cNvPr id="216" name="Google Shape;21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17" name="Google Shape;21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3"/>
        <p:cNvGrpSpPr/>
        <p:nvPr/>
      </p:nvGrpSpPr>
      <p:grpSpPr>
        <a:xfrm>
          <a:off x="0" y="0"/>
          <a:ext cx="0" cy="0"/>
          <a:chOff x="0" y="0"/>
          <a:chExt cx="0" cy="0"/>
        </a:xfrm>
      </p:grpSpPr>
      <p:sp>
        <p:nvSpPr>
          <p:cNvPr id="224" name="Google Shape;224;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25" name="Google Shape;22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1"/>
        <p:cNvGrpSpPr/>
        <p:nvPr/>
      </p:nvGrpSpPr>
      <p:grpSpPr>
        <a:xfrm>
          <a:off x="0" y="0"/>
          <a:ext cx="0" cy="0"/>
          <a:chOff x="0" y="0"/>
          <a:chExt cx="0" cy="0"/>
        </a:xfrm>
      </p:grpSpPr>
      <p:sp>
        <p:nvSpPr>
          <p:cNvPr id="232" name="Google Shape;232;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33" name="Google Shape;23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8"/>
        <p:cNvGrpSpPr/>
        <p:nvPr/>
      </p:nvGrpSpPr>
      <p:grpSpPr>
        <a:xfrm>
          <a:off x="0" y="0"/>
          <a:ext cx="0" cy="0"/>
          <a:chOff x="0" y="0"/>
          <a:chExt cx="0" cy="0"/>
        </a:xfrm>
      </p:grpSpPr>
      <p:sp>
        <p:nvSpPr>
          <p:cNvPr id="239" name="Google Shape;239;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40" name="Google Shape;240;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5"/>
        <p:cNvGrpSpPr/>
        <p:nvPr/>
      </p:nvGrpSpPr>
      <p:grpSpPr>
        <a:xfrm>
          <a:off x="0" y="0"/>
          <a:ext cx="0" cy="0"/>
          <a:chOff x="0" y="0"/>
          <a:chExt cx="0" cy="0"/>
        </a:xfrm>
      </p:grpSpPr>
      <p:sp>
        <p:nvSpPr>
          <p:cNvPr id="246" name="Google Shape;246;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47" name="Google Shape;24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2"/>
        <p:cNvGrpSpPr/>
        <p:nvPr/>
      </p:nvGrpSpPr>
      <p:grpSpPr>
        <a:xfrm>
          <a:off x="0" y="0"/>
          <a:ext cx="0" cy="0"/>
          <a:chOff x="0" y="0"/>
          <a:chExt cx="0" cy="0"/>
        </a:xfrm>
      </p:grpSpPr>
      <p:sp>
        <p:nvSpPr>
          <p:cNvPr id="253" name="Google Shape;253;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4" name="Google Shape;25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1"/>
        <p:cNvGrpSpPr/>
        <p:nvPr/>
      </p:nvGrpSpPr>
      <p:grpSpPr>
        <a:xfrm>
          <a:off x="0" y="0"/>
          <a:ext cx="0" cy="0"/>
          <a:chOff x="0" y="0"/>
          <a:chExt cx="0" cy="0"/>
        </a:xfrm>
      </p:grpSpPr>
      <p:sp>
        <p:nvSpPr>
          <p:cNvPr id="262" name="Google Shape;26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63" name="Google Shape;26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9"/>
        <p:cNvGrpSpPr/>
        <p:nvPr/>
      </p:nvGrpSpPr>
      <p:grpSpPr>
        <a:xfrm>
          <a:off x="0" y="0"/>
          <a:ext cx="0" cy="0"/>
          <a:chOff x="0" y="0"/>
          <a:chExt cx="0" cy="0"/>
        </a:xfrm>
      </p:grpSpPr>
      <p:sp>
        <p:nvSpPr>
          <p:cNvPr id="270" name="Google Shape;270;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71" name="Google Shape;271;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79" name="Google Shape;27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4"/>
        <p:cNvGrpSpPr/>
        <p:nvPr/>
      </p:nvGrpSpPr>
      <p:grpSpPr>
        <a:xfrm>
          <a:off x="0" y="0"/>
          <a:ext cx="0" cy="0"/>
          <a:chOff x="0" y="0"/>
          <a:chExt cx="0" cy="0"/>
        </a:xfrm>
      </p:grpSpPr>
      <p:sp>
        <p:nvSpPr>
          <p:cNvPr id="285" name="Google Shape;285;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86" name="Google Shape;286;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2"/>
        <p:cNvGrpSpPr/>
        <p:nvPr/>
      </p:nvGrpSpPr>
      <p:grpSpPr>
        <a:xfrm>
          <a:off x="0" y="0"/>
          <a:ext cx="0" cy="0"/>
          <a:chOff x="0" y="0"/>
          <a:chExt cx="0" cy="0"/>
        </a:xfrm>
      </p:grpSpPr>
      <p:sp>
        <p:nvSpPr>
          <p:cNvPr id="293" name="Google Shape;293;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94" name="Google Shape;29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0"/>
        <p:cNvGrpSpPr/>
        <p:nvPr/>
      </p:nvGrpSpPr>
      <p:grpSpPr>
        <a:xfrm>
          <a:off x="0" y="0"/>
          <a:ext cx="0" cy="0"/>
          <a:chOff x="0" y="0"/>
          <a:chExt cx="0" cy="0"/>
        </a:xfrm>
      </p:grpSpPr>
      <p:sp>
        <p:nvSpPr>
          <p:cNvPr id="301" name="Google Shape;301;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02" name="Google Shape;302;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8"/>
        <p:cNvGrpSpPr/>
        <p:nvPr/>
      </p:nvGrpSpPr>
      <p:grpSpPr>
        <a:xfrm>
          <a:off x="0" y="0"/>
          <a:ext cx="0" cy="0"/>
          <a:chOff x="0" y="0"/>
          <a:chExt cx="0" cy="0"/>
        </a:xfrm>
      </p:grpSpPr>
      <p:sp>
        <p:nvSpPr>
          <p:cNvPr id="309" name="Google Shape;309;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10" name="Google Shape;31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5"/>
        <p:cNvGrpSpPr/>
        <p:nvPr/>
      </p:nvGrpSpPr>
      <p:grpSpPr>
        <a:xfrm>
          <a:off x="0" y="0"/>
          <a:ext cx="0" cy="0"/>
          <a:chOff x="0" y="0"/>
          <a:chExt cx="0" cy="0"/>
        </a:xfrm>
      </p:grpSpPr>
      <p:sp>
        <p:nvSpPr>
          <p:cNvPr id="316" name="Google Shape;316;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17" name="Google Shape;317;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3"/>
        <p:cNvGrpSpPr/>
        <p:nvPr/>
      </p:nvGrpSpPr>
      <p:grpSpPr>
        <a:xfrm>
          <a:off x="0" y="0"/>
          <a:ext cx="0" cy="0"/>
          <a:chOff x="0" y="0"/>
          <a:chExt cx="0" cy="0"/>
        </a:xfrm>
      </p:grpSpPr>
      <p:sp>
        <p:nvSpPr>
          <p:cNvPr id="324" name="Google Shape;324;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25" name="Google Shape;325;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1"/>
        <p:cNvGrpSpPr/>
        <p:nvPr/>
      </p:nvGrpSpPr>
      <p:grpSpPr>
        <a:xfrm>
          <a:off x="0" y="0"/>
          <a:ext cx="0" cy="0"/>
          <a:chOff x="0" y="0"/>
          <a:chExt cx="0" cy="0"/>
        </a:xfrm>
      </p:grpSpPr>
      <p:sp>
        <p:nvSpPr>
          <p:cNvPr id="332" name="Google Shape;332;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33" name="Google Shape;333;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9"/>
        <p:cNvGrpSpPr/>
        <p:nvPr/>
      </p:nvGrpSpPr>
      <p:grpSpPr>
        <a:xfrm>
          <a:off x="0" y="0"/>
          <a:ext cx="0" cy="0"/>
          <a:chOff x="0" y="0"/>
          <a:chExt cx="0" cy="0"/>
        </a:xfrm>
      </p:grpSpPr>
      <p:sp>
        <p:nvSpPr>
          <p:cNvPr id="340" name="Google Shape;340;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41" name="Google Shape;341;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7"/>
        <p:cNvGrpSpPr/>
        <p:nvPr/>
      </p:nvGrpSpPr>
      <p:grpSpPr>
        <a:xfrm>
          <a:off x="0" y="0"/>
          <a:ext cx="0" cy="0"/>
          <a:chOff x="0" y="0"/>
          <a:chExt cx="0" cy="0"/>
        </a:xfrm>
      </p:grpSpPr>
      <p:sp>
        <p:nvSpPr>
          <p:cNvPr id="348" name="Google Shape;34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49" name="Google Shape;349;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5"/>
        <p:cNvGrpSpPr/>
        <p:nvPr/>
      </p:nvGrpSpPr>
      <p:grpSpPr>
        <a:xfrm>
          <a:off x="0" y="0"/>
          <a:ext cx="0" cy="0"/>
          <a:chOff x="0" y="0"/>
          <a:chExt cx="0" cy="0"/>
        </a:xfrm>
      </p:grpSpPr>
      <p:sp>
        <p:nvSpPr>
          <p:cNvPr id="356" name="Google Shape;356;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57" name="Google Shape;357;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3"/>
        <p:cNvGrpSpPr/>
        <p:nvPr/>
      </p:nvGrpSpPr>
      <p:grpSpPr>
        <a:xfrm>
          <a:off x="0" y="0"/>
          <a:ext cx="0" cy="0"/>
          <a:chOff x="0" y="0"/>
          <a:chExt cx="0" cy="0"/>
        </a:xfrm>
      </p:grpSpPr>
      <p:sp>
        <p:nvSpPr>
          <p:cNvPr id="364" name="Google Shape;364;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65" name="Google Shape;365;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1"/>
        <p:cNvGrpSpPr/>
        <p:nvPr/>
      </p:nvGrpSpPr>
      <p:grpSpPr>
        <a:xfrm>
          <a:off x="0" y="0"/>
          <a:ext cx="0" cy="0"/>
          <a:chOff x="0" y="0"/>
          <a:chExt cx="0" cy="0"/>
        </a:xfrm>
      </p:grpSpPr>
      <p:sp>
        <p:nvSpPr>
          <p:cNvPr id="372" name="Google Shape;372;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73" name="Google Shape;373;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9"/>
        <p:cNvGrpSpPr/>
        <p:nvPr/>
      </p:nvGrpSpPr>
      <p:grpSpPr>
        <a:xfrm>
          <a:off x="0" y="0"/>
          <a:ext cx="0" cy="0"/>
          <a:chOff x="0" y="0"/>
          <a:chExt cx="0" cy="0"/>
        </a:xfrm>
      </p:grpSpPr>
      <p:sp>
        <p:nvSpPr>
          <p:cNvPr id="380" name="Google Shape;380;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81" name="Google Shape;381;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7"/>
        <p:cNvGrpSpPr/>
        <p:nvPr/>
      </p:nvGrpSpPr>
      <p:grpSpPr>
        <a:xfrm>
          <a:off x="0" y="0"/>
          <a:ext cx="0" cy="0"/>
          <a:chOff x="0" y="0"/>
          <a:chExt cx="0" cy="0"/>
        </a:xfrm>
      </p:grpSpPr>
      <p:sp>
        <p:nvSpPr>
          <p:cNvPr id="388" name="Google Shape;388;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89" name="Google Shape;38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95"/>
        <p:cNvGrpSpPr/>
        <p:nvPr/>
      </p:nvGrpSpPr>
      <p:grpSpPr>
        <a:xfrm>
          <a:off x="0" y="0"/>
          <a:ext cx="0" cy="0"/>
          <a:chOff x="0" y="0"/>
          <a:chExt cx="0" cy="0"/>
        </a:xfrm>
      </p:grpSpPr>
      <p:sp>
        <p:nvSpPr>
          <p:cNvPr id="396" name="Google Shape;396;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97" name="Google Shape;397;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3"/>
        <p:cNvGrpSpPr/>
        <p:nvPr/>
      </p:nvGrpSpPr>
      <p:grpSpPr>
        <a:xfrm>
          <a:off x="0" y="0"/>
          <a:ext cx="0" cy="0"/>
          <a:chOff x="0" y="0"/>
          <a:chExt cx="0" cy="0"/>
        </a:xfrm>
      </p:grpSpPr>
      <p:sp>
        <p:nvSpPr>
          <p:cNvPr id="404" name="Google Shape;404;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05" name="Google Shape;405;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1"/>
        <p:cNvGrpSpPr/>
        <p:nvPr/>
      </p:nvGrpSpPr>
      <p:grpSpPr>
        <a:xfrm>
          <a:off x="0" y="0"/>
          <a:ext cx="0" cy="0"/>
          <a:chOff x="0" y="0"/>
          <a:chExt cx="0" cy="0"/>
        </a:xfrm>
      </p:grpSpPr>
      <p:sp>
        <p:nvSpPr>
          <p:cNvPr id="412" name="Google Shape;412;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13" name="Google Shape;413;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9"/>
        <p:cNvGrpSpPr/>
        <p:nvPr/>
      </p:nvGrpSpPr>
      <p:grpSpPr>
        <a:xfrm>
          <a:off x="0" y="0"/>
          <a:ext cx="0" cy="0"/>
          <a:chOff x="0" y="0"/>
          <a:chExt cx="0" cy="0"/>
        </a:xfrm>
      </p:grpSpPr>
      <p:sp>
        <p:nvSpPr>
          <p:cNvPr id="420" name="Google Shape;420;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21" name="Google Shape;421;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28"/>
        <p:cNvGrpSpPr/>
        <p:nvPr/>
      </p:nvGrpSpPr>
      <p:grpSpPr>
        <a:xfrm>
          <a:off x="0" y="0"/>
          <a:ext cx="0" cy="0"/>
          <a:chOff x="0" y="0"/>
          <a:chExt cx="0" cy="0"/>
        </a:xfrm>
      </p:grpSpPr>
      <p:sp>
        <p:nvSpPr>
          <p:cNvPr id="429" name="Google Shape;42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30" name="Google Shape;43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36"/>
        <p:cNvGrpSpPr/>
        <p:nvPr/>
      </p:nvGrpSpPr>
      <p:grpSpPr>
        <a:xfrm>
          <a:off x="0" y="0"/>
          <a:ext cx="0" cy="0"/>
          <a:chOff x="0" y="0"/>
          <a:chExt cx="0" cy="0"/>
        </a:xfrm>
      </p:grpSpPr>
      <p:sp>
        <p:nvSpPr>
          <p:cNvPr id="437" name="Google Shape;437;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38" name="Google Shape;438;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44"/>
        <p:cNvGrpSpPr/>
        <p:nvPr/>
      </p:nvGrpSpPr>
      <p:grpSpPr>
        <a:xfrm>
          <a:off x="0" y="0"/>
          <a:ext cx="0" cy="0"/>
          <a:chOff x="0" y="0"/>
          <a:chExt cx="0" cy="0"/>
        </a:xfrm>
      </p:grpSpPr>
      <p:sp>
        <p:nvSpPr>
          <p:cNvPr id="445" name="Google Shape;445;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46" name="Google Shape;446;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2"/>
        <p:cNvGrpSpPr/>
        <p:nvPr/>
      </p:nvGrpSpPr>
      <p:grpSpPr>
        <a:xfrm>
          <a:off x="0" y="0"/>
          <a:ext cx="0" cy="0"/>
          <a:chOff x="0" y="0"/>
          <a:chExt cx="0" cy="0"/>
        </a:xfrm>
      </p:grpSpPr>
      <p:sp>
        <p:nvSpPr>
          <p:cNvPr id="453" name="Google Shape;453;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54" name="Google Shape;454;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2"/>
        <p:cNvGrpSpPr/>
        <p:nvPr/>
      </p:nvGrpSpPr>
      <p:grpSpPr>
        <a:xfrm>
          <a:off x="0" y="0"/>
          <a:ext cx="0" cy="0"/>
          <a:chOff x="0" y="0"/>
          <a:chExt cx="0" cy="0"/>
        </a:xfrm>
      </p:grpSpPr>
      <p:sp>
        <p:nvSpPr>
          <p:cNvPr id="453" name="Google Shape;453;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54" name="Google Shape;454;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2"/>
        <p:cNvGrpSpPr/>
        <p:nvPr/>
      </p:nvGrpSpPr>
      <p:grpSpPr>
        <a:xfrm>
          <a:off x="0" y="0"/>
          <a:ext cx="0" cy="0"/>
          <a:chOff x="0" y="0"/>
          <a:chExt cx="0" cy="0"/>
        </a:xfrm>
      </p:grpSpPr>
      <p:sp>
        <p:nvSpPr>
          <p:cNvPr id="453" name="Google Shape;453;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54" name="Google Shape;454;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2"/>
        <p:cNvGrpSpPr/>
        <p:nvPr/>
      </p:nvGrpSpPr>
      <p:grpSpPr>
        <a:xfrm>
          <a:off x="0" y="0"/>
          <a:ext cx="0" cy="0"/>
          <a:chOff x="0" y="0"/>
          <a:chExt cx="0" cy="0"/>
        </a:xfrm>
      </p:grpSpPr>
      <p:sp>
        <p:nvSpPr>
          <p:cNvPr id="453" name="Google Shape;453;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54" name="Google Shape;454;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2"/>
        <p:cNvGrpSpPr/>
        <p:nvPr/>
      </p:nvGrpSpPr>
      <p:grpSpPr>
        <a:xfrm>
          <a:off x="0" y="0"/>
          <a:ext cx="0" cy="0"/>
          <a:chOff x="0" y="0"/>
          <a:chExt cx="0" cy="0"/>
        </a:xfrm>
      </p:grpSpPr>
      <p:sp>
        <p:nvSpPr>
          <p:cNvPr id="453" name="Google Shape;453;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454" name="Google Shape;454;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8"/>
        <p:cNvGrpSpPr/>
        <p:nvPr/>
      </p:nvGrpSpPr>
      <p:grpSpPr>
        <a:xfrm>
          <a:off x="0" y="0"/>
          <a:ext cx="0" cy="0"/>
          <a:chOff x="0" y="0"/>
          <a:chExt cx="0" cy="0"/>
        </a:xfrm>
      </p:grpSpPr>
      <p:sp>
        <p:nvSpPr>
          <p:cNvPr id="499" name="Google Shape;499;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00" name="Google Shape;500;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4"/>
        <p:cNvGrpSpPr/>
        <p:nvPr/>
      </p:nvGrpSpPr>
      <p:grpSpPr>
        <a:xfrm>
          <a:off x="0" y="0"/>
          <a:ext cx="0" cy="0"/>
          <a:chOff x="0" y="0"/>
          <a:chExt cx="0" cy="0"/>
        </a:xfrm>
      </p:grpSpPr>
      <p:pic>
        <p:nvPicPr>
          <p:cNvPr id="25" name="Google Shape;25;p57"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26" name="Google Shape;26;p57"/>
          <p:cNvGrpSpPr/>
          <p:nvPr/>
        </p:nvGrpSpPr>
        <p:grpSpPr>
          <a:xfrm>
            <a:off x="6146800" y="0"/>
            <a:ext cx="2997200" cy="876300"/>
            <a:chOff x="6096000" y="3924300"/>
            <a:chExt cx="2997200" cy="876300"/>
          </a:xfrm>
        </p:grpSpPr>
        <p:sp>
          <p:nvSpPr>
            <p:cNvPr id="27" name="Google Shape;27;p5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8" name="Google Shape;28;p57"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29" name="Google Shape;29;p5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30" name="Google Shape;30;p57"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1" name="Google Shape;31;p5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atin typeface="Times New Roman" panose="02020603050405020304"/>
                <a:ea typeface="Times New Roman" panose="02020603050405020304"/>
                <a:cs typeface="Times New Roman" panose="02020603050405020304"/>
                <a:sym typeface="Times New Roman" panose="020206030504050203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1pPr>
            <a:lvl2pPr marL="914400" lvl="1"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2pPr>
            <a:lvl3pPr marL="1371600" lvl="2"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3pPr>
            <a:lvl4pPr marL="1828800" lvl="3"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4pPr>
            <a:lvl5pPr marL="2286000" lvl="4"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33" name="Google Shape;33;p57"/>
          <p:cNvSpPr txBox="1">
            <a:spLocks noGrp="1"/>
          </p:cNvSpPr>
          <p:nvPr>
            <p:ph type="dt" idx="10"/>
          </p:nvPr>
        </p:nvSpPr>
        <p:spPr>
          <a:xfrm>
            <a:off x="152400" y="6629400"/>
            <a:ext cx="2286000" cy="17895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7"/>
          <p:cNvSpPr txBox="1">
            <a:spLocks noGrp="1"/>
          </p:cNvSpPr>
          <p:nvPr>
            <p:ph type="ftr" idx="11"/>
          </p:nvPr>
        </p:nvSpPr>
        <p:spPr>
          <a:xfrm>
            <a:off x="3124200" y="6629400"/>
            <a:ext cx="2895600" cy="1968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6"/>
        <p:cNvGrpSpPr/>
        <p:nvPr/>
      </p:nvGrpSpPr>
      <p:grpSpPr>
        <a:xfrm>
          <a:off x="0" y="0"/>
          <a:ext cx="0" cy="0"/>
          <a:chOff x="0" y="0"/>
          <a:chExt cx="0" cy="0"/>
        </a:xfrm>
      </p:grpSpPr>
      <p:sp>
        <p:nvSpPr>
          <p:cNvPr id="37" name="Google Shape;37;p58"/>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atin typeface="Times New Roman" panose="02020603050405020304"/>
                <a:ea typeface="Times New Roman" panose="02020603050405020304"/>
                <a:cs typeface="Times New Roman" panose="02020603050405020304"/>
                <a:sym typeface="Times New Roman" panose="020206030504050203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58"/>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9" name="Google Shape;39;p58"/>
          <p:cNvSpPr txBox="1">
            <a:spLocks noGrp="1"/>
          </p:cNvSpPr>
          <p:nvPr>
            <p:ph type="dt" idx="10"/>
          </p:nvPr>
        </p:nvSpPr>
        <p:spPr>
          <a:xfrm>
            <a:off x="152400" y="6629400"/>
            <a:ext cx="2286000" cy="17895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8"/>
          <p:cNvSpPr txBox="1">
            <a:spLocks noGrp="1"/>
          </p:cNvSpPr>
          <p:nvPr>
            <p:ph type="ftr" idx="11"/>
          </p:nvPr>
        </p:nvSpPr>
        <p:spPr>
          <a:xfrm>
            <a:off x="3124200" y="6629400"/>
            <a:ext cx="2895600" cy="1968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r">
              <a:spcBef>
                <a:spcPts val="0"/>
              </a:spcBef>
              <a:spcAft>
                <a:spcPts val="0"/>
              </a:spcAft>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1" name="Google Shape;11;p56"/>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56"/>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13;p56"/>
          <p:cNvSpPr/>
          <p:nvPr/>
        </p:nvSpPr>
        <p:spPr>
          <a:xfrm rot="10800000" flipH="1">
            <a:off x="0" y="6583684"/>
            <a:ext cx="9144000" cy="2743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4" name="Google Shape;14;p56"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pic>
        <p:nvPicPr>
          <p:cNvPr id="15" name="Google Shape;15;p56" descr="LOGO.gif"/>
          <p:cNvPicPr preferRelativeResize="0"/>
          <p:nvPr/>
        </p:nvPicPr>
        <p:blipFill rotWithShape="1">
          <a:blip r:embed="rId3"/>
          <a:srcRect b="10713"/>
          <a:stretch>
            <a:fillRect/>
          </a:stretch>
        </p:blipFill>
        <p:spPr>
          <a:xfrm>
            <a:off x="6553200" y="228600"/>
            <a:ext cx="2057400" cy="635000"/>
          </a:xfrm>
          <a:prstGeom prst="rect">
            <a:avLst/>
          </a:prstGeom>
          <a:noFill/>
          <a:ln>
            <a:noFill/>
          </a:ln>
        </p:spPr>
      </p:pic>
      <p:grpSp>
        <p:nvGrpSpPr>
          <p:cNvPr id="16" name="Google Shape;16;p56"/>
          <p:cNvGrpSpPr/>
          <p:nvPr/>
        </p:nvGrpSpPr>
        <p:grpSpPr>
          <a:xfrm>
            <a:off x="6146800" y="0"/>
            <a:ext cx="2997200" cy="876300"/>
            <a:chOff x="6096000" y="3924300"/>
            <a:chExt cx="2997200" cy="876300"/>
          </a:xfrm>
        </p:grpSpPr>
        <p:sp>
          <p:nvSpPr>
            <p:cNvPr id="17" name="Google Shape;17;p56"/>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8" name="Google Shape;18;p56" descr="LOGO.gif"/>
            <p:cNvPicPr preferRelativeResize="0"/>
            <p:nvPr/>
          </p:nvPicPr>
          <p:blipFill rotWithShape="1">
            <a:blip r:embed="rId3"/>
            <a:srcRect b="10713"/>
            <a:stretch>
              <a:fillRect/>
            </a:stretch>
          </p:blipFill>
          <p:spPr>
            <a:xfrm>
              <a:off x="6502400" y="4152900"/>
              <a:ext cx="2057400" cy="635000"/>
            </a:xfrm>
            <a:prstGeom prst="rect">
              <a:avLst/>
            </a:prstGeom>
            <a:noFill/>
            <a:ln>
              <a:noFill/>
            </a:ln>
          </p:spPr>
        </p:pic>
        <p:sp>
          <p:nvSpPr>
            <p:cNvPr id="19" name="Google Shape;19;p56"/>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0" name="Google Shape;20;p56" descr="logo.jpg"/>
          <p:cNvPicPr preferRelativeResize="0"/>
          <p:nvPr/>
        </p:nvPicPr>
        <p:blipFill rotWithShape="1">
          <a:blip r:embed="rId4"/>
          <a:srcRect/>
          <a:stretch>
            <a:fillRect/>
          </a:stretch>
        </p:blipFill>
        <p:spPr>
          <a:xfrm>
            <a:off x="6553200" y="228600"/>
            <a:ext cx="1920875" cy="609600"/>
          </a:xfrm>
          <a:prstGeom prst="rect">
            <a:avLst/>
          </a:prstGeom>
          <a:noFill/>
          <a:ln>
            <a:noFill/>
          </a:ln>
        </p:spPr>
      </p:pic>
      <p:sp>
        <p:nvSpPr>
          <p:cNvPr id="21" name="Google Shape;21;p56"/>
          <p:cNvSpPr txBox="1">
            <a:spLocks noGrp="1"/>
          </p:cNvSpPr>
          <p:nvPr>
            <p:ph type="dt" idx="10"/>
          </p:nvPr>
        </p:nvSpPr>
        <p:spPr>
          <a:xfrm>
            <a:off x="76200" y="6594307"/>
            <a:ext cx="2362200" cy="26369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 name="Google Shape;22;p56"/>
          <p:cNvSpPr txBox="1">
            <a:spLocks noGrp="1"/>
          </p:cNvSpPr>
          <p:nvPr>
            <p:ph type="ftr" idx="11"/>
          </p:nvPr>
        </p:nvSpPr>
        <p:spPr>
          <a:xfrm>
            <a:off x="3086100" y="6596246"/>
            <a:ext cx="2895600" cy="26175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3" name="Google Shape;23;p56"/>
          <p:cNvSpPr txBox="1">
            <a:spLocks noGrp="1"/>
          </p:cNvSpPr>
          <p:nvPr>
            <p:ph type="sldNum" idx="12"/>
          </p:nvPr>
        </p:nvSpPr>
        <p:spPr>
          <a:xfrm>
            <a:off x="6553200" y="6583684"/>
            <a:ext cx="2133600" cy="27431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spcBef>
                <a:spcPts val="0"/>
              </a:spcBef>
              <a:spcAft>
                <a:spcPts val="0"/>
              </a:spcAft>
              <a:buNone/>
              <a:defRPr sz="1200" b="1"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spcBef>
                <a:spcPts val="0"/>
              </a:spcBef>
              <a:spcAft>
                <a:spcPts val="0"/>
              </a:spcAft>
              <a:buNone/>
              <a:defRPr sz="1200" b="1"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spcBef>
                <a:spcPts val="0"/>
              </a:spcBef>
              <a:spcAft>
                <a:spcPts val="0"/>
              </a:spcAft>
              <a:buNone/>
              <a:defRPr sz="1200" b="1"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spcBef>
                <a:spcPts val="0"/>
              </a:spcBef>
              <a:spcAft>
                <a:spcPts val="0"/>
              </a:spcAft>
              <a:buNone/>
              <a:defRPr sz="1200" b="1"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spcBef>
                <a:spcPts val="0"/>
              </a:spcBef>
              <a:spcAft>
                <a:spcPts val="0"/>
              </a:spcAft>
              <a:buNone/>
              <a:defRPr sz="1200" b="1"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spcBef>
                <a:spcPts val="0"/>
              </a:spcBef>
              <a:spcAft>
                <a:spcPts val="0"/>
              </a:spcAft>
              <a:buNone/>
              <a:defRPr sz="1200" b="1"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spcBef>
                <a:spcPts val="0"/>
              </a:spcBef>
              <a:spcAft>
                <a:spcPts val="0"/>
              </a:spcAft>
              <a:buNone/>
              <a:defRPr sz="1200" b="1"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spcBef>
                <a:spcPts val="0"/>
              </a:spcBef>
              <a:spcAft>
                <a:spcPts val="0"/>
              </a:spcAft>
              <a:buNone/>
              <a:defRPr sz="1200" b="1" u="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1.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13.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
          <p:cNvSpPr txBox="1"/>
          <p:nvPr/>
        </p:nvSpPr>
        <p:spPr>
          <a:xfrm>
            <a:off x="138112" y="1400175"/>
            <a:ext cx="8763000" cy="4038600"/>
          </a:xfrm>
          <a:prstGeom prst="rect">
            <a:avLst/>
          </a:prstGeom>
          <a:noFill/>
          <a:ln>
            <a:noFill/>
          </a:ln>
        </p:spPr>
        <p:txBody>
          <a:bodyPr spcFirstLastPara="1" wrap="square" lIns="91425" tIns="33100" rIns="91425" bIns="45700" anchor="ctr" anchorCtr="0">
            <a:noAutofit/>
          </a:bodyPr>
          <a:lstStyle/>
          <a:p>
            <a:pPr algn="ctr"/>
            <a:r>
              <a:rPr lang="en-US" sz="3600" b="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An Agile View of </a:t>
            </a:r>
            <a:r>
              <a:rPr lang="en-US" sz="3600" b="1" dirty="0" smtClean="0">
                <a:solidFill>
                  <a:schemeClr val="tx1"/>
                </a:solidFill>
                <a:latin typeface="Times New Roman" panose="02020603050405020304"/>
                <a:ea typeface="Times New Roman" panose="02020603050405020304"/>
                <a:cs typeface="Times New Roman" panose="02020603050405020304"/>
                <a:sym typeface="Times New Roman" panose="02020603050405020304"/>
              </a:rPr>
              <a:t>Process</a:t>
            </a:r>
            <a:endParaRPr lang="en-US" sz="3600" b="1" dirty="0" smtClean="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lvl="0" algn="ctr">
              <a:spcBef>
                <a:spcPts val="400"/>
              </a:spcBef>
              <a:buSzPts val="2000"/>
            </a:pPr>
            <a:r>
              <a:rPr lang="en-US" sz="3600" b="1" dirty="0" smtClean="0">
                <a:solidFill>
                  <a:srgbClr val="0070C0"/>
                </a:solidFill>
                <a:latin typeface="Times New Roman" panose="02020603050405020304"/>
                <a:ea typeface="Times New Roman" panose="02020603050405020304"/>
                <a:cs typeface="Times New Roman" panose="02020603050405020304"/>
                <a:sym typeface="Times New Roman" panose="02020603050405020304"/>
              </a:rPr>
              <a:t>Lecture </a:t>
            </a:r>
            <a:r>
              <a:rPr lang="en-US" sz="36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(Theory)</a:t>
            </a:r>
            <a:endParaRPr lang="en-US" sz="36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algn="ctr">
              <a:spcBef>
                <a:spcPts val="400"/>
              </a:spcBef>
              <a:buSzPts val="2000"/>
            </a:pPr>
            <a:r>
              <a:rPr lang="en-US" sz="36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Prepared </a:t>
            </a:r>
            <a:r>
              <a:rPr lang="en-US" sz="3600" b="1" dirty="0" smtClean="0">
                <a:solidFill>
                  <a:srgbClr val="0070C0"/>
                </a:solidFill>
                <a:latin typeface="Times New Roman" panose="02020603050405020304"/>
                <a:ea typeface="Times New Roman" panose="02020603050405020304"/>
                <a:cs typeface="Times New Roman" panose="02020603050405020304"/>
                <a:sym typeface="Times New Roman" panose="02020603050405020304"/>
              </a:rPr>
              <a:t>By</a:t>
            </a:r>
            <a:endParaRPr lang="en-US" sz="3600" b="1" dirty="0" smtClean="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algn="ctr">
              <a:spcBef>
                <a:spcPts val="400"/>
              </a:spcBef>
              <a:buSzPts val="2000"/>
            </a:pPr>
            <a:r>
              <a:rPr lang="en-US" sz="3600" b="1" dirty="0" smtClean="0">
                <a:solidFill>
                  <a:srgbClr val="0070C0"/>
                </a:solidFill>
                <a:latin typeface="Times New Roman" panose="02020603050405020304"/>
                <a:cs typeface="Times New Roman" panose="02020603050405020304"/>
                <a:sym typeface="Times New Roman" panose="02020603050405020304"/>
              </a:rPr>
              <a:t>Dr. </a:t>
            </a:r>
            <a:r>
              <a:rPr lang="en-US" sz="3600" b="1" dirty="0" err="1" smtClean="0">
                <a:solidFill>
                  <a:srgbClr val="0070C0"/>
                </a:solidFill>
                <a:latin typeface="Times New Roman" panose="02020603050405020304"/>
                <a:cs typeface="Times New Roman" panose="02020603050405020304"/>
                <a:sym typeface="Times New Roman" panose="02020603050405020304"/>
              </a:rPr>
              <a:t>Suvarna Sharma</a:t>
            </a:r>
            <a:endParaRPr sz="3600" dirty="0"/>
          </a:p>
        </p:txBody>
      </p:sp>
      <p:sp>
        <p:nvSpPr>
          <p:cNvPr id="48" name="Google Shape;48;p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 name="Google Shape;98;p1"/>
          <p:cNvSpPr txBox="1">
            <a:spLocks noGrp="1"/>
          </p:cNvSpPr>
          <p:nvPr>
            <p:ph type="ftr" idx="11"/>
          </p:nvPr>
        </p:nvSpPr>
        <p:spPr>
          <a:xfrm>
            <a:off x="315747" y="6264720"/>
            <a:ext cx="840773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400" dirty="0" smtClean="0">
                <a:solidFill>
                  <a:srgbClr val="0070C0"/>
                </a:solidFill>
              </a:rPr>
              <a:t>Object Oriented Software Engineering</a:t>
            </a:r>
            <a:endParaRPr sz="1400" b="0" strike="noStrike"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dirty="0" smtClean="0">
                <a:latin typeface="Times"/>
                <a:cs typeface="Times"/>
                <a:sym typeface="Times"/>
              </a:rPr>
              <a:t>Index</a:t>
            </a:r>
            <a:endParaRPr dirty="0"/>
          </a:p>
        </p:txBody>
      </p:sp>
      <p:sp>
        <p:nvSpPr>
          <p:cNvPr id="54" name="Google Shape;54;p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56" name="Google Shape;56;p2"/>
          <p:cNvSpPr txBox="1">
            <a:spLocks noGrp="1"/>
          </p:cNvSpPr>
          <p:nvPr>
            <p:ph type="body" idx="1"/>
          </p:nvPr>
        </p:nvSpPr>
        <p:spPr>
          <a:xfrm>
            <a:off x="593333" y="862012"/>
            <a:ext cx="8839200" cy="4437063"/>
          </a:xfrm>
          <a:prstGeom prst="rect">
            <a:avLst/>
          </a:prstGeom>
          <a:noFill/>
          <a:ln>
            <a:noFill/>
          </a:ln>
        </p:spPr>
        <p:txBody>
          <a:bodyPr spcFirstLastPara="1" wrap="square" lIns="91425" tIns="45700" rIns="91425" bIns="45700" anchor="t" anchorCtr="0">
            <a:noAutofit/>
          </a:bodyPr>
          <a:lstStyle/>
          <a:p>
            <a:pPr marL="0" lvl="0" indent="0">
              <a:lnSpc>
                <a:spcPct val="150000"/>
              </a:lnSpc>
              <a:spcBef>
                <a:spcPts val="0"/>
              </a:spcBef>
              <a:buSzPts val="2800"/>
              <a:buNone/>
            </a:pPr>
            <a:r>
              <a:rPr lang="en-US" sz="1800" dirty="0"/>
              <a:t>1. </a:t>
            </a:r>
            <a:r>
              <a:rPr lang="en-US" sz="1800" dirty="0" smtClean="0"/>
              <a:t>Agile Model</a:t>
            </a:r>
            <a:endParaRPr lang="en-US" sz="1800" dirty="0"/>
          </a:p>
          <a:p>
            <a:pPr marL="0" lvl="0" indent="0">
              <a:lnSpc>
                <a:spcPct val="150000"/>
              </a:lnSpc>
              <a:spcBef>
                <a:spcPts val="0"/>
              </a:spcBef>
              <a:buSzPts val="2800"/>
              <a:buNone/>
            </a:pPr>
            <a:r>
              <a:rPr lang="en-US" sz="1800" dirty="0"/>
              <a:t>2. Effectiveness of Communication </a:t>
            </a:r>
            <a:r>
              <a:rPr lang="en-US" sz="1800" dirty="0" smtClean="0"/>
              <a:t>Modes</a:t>
            </a:r>
            <a:endParaRPr lang="en-US" sz="1800" dirty="0" smtClean="0"/>
          </a:p>
          <a:p>
            <a:pPr marL="0" lvl="0" indent="0">
              <a:lnSpc>
                <a:spcPct val="150000"/>
              </a:lnSpc>
              <a:spcBef>
                <a:spcPts val="0"/>
              </a:spcBef>
              <a:buSzPts val="2800"/>
              <a:buNone/>
            </a:pPr>
            <a:r>
              <a:rPr lang="en-US" sz="1800" dirty="0" smtClean="0"/>
              <a:t>3</a:t>
            </a:r>
            <a:r>
              <a:rPr lang="en-US" sz="1800" dirty="0"/>
              <a:t>. Agile Process </a:t>
            </a:r>
            <a:r>
              <a:rPr lang="en-US" sz="1800" dirty="0" smtClean="0"/>
              <a:t>Methodology</a:t>
            </a:r>
            <a:endParaRPr lang="en-US" sz="1800" dirty="0" smtClean="0"/>
          </a:p>
          <a:p>
            <a:pPr marL="0" lvl="0" indent="0">
              <a:lnSpc>
                <a:spcPct val="150000"/>
              </a:lnSpc>
              <a:spcBef>
                <a:spcPts val="0"/>
              </a:spcBef>
              <a:buSzPts val="2800"/>
              <a:buNone/>
            </a:pPr>
            <a:r>
              <a:rPr lang="en-US" sz="1800" dirty="0" smtClean="0"/>
              <a:t>4. Agile Principles</a:t>
            </a:r>
            <a:endParaRPr lang="en-US" sz="1800" dirty="0" smtClean="0"/>
          </a:p>
          <a:p>
            <a:pPr marL="0" lvl="0" indent="0">
              <a:lnSpc>
                <a:spcPct val="150000"/>
              </a:lnSpc>
              <a:spcBef>
                <a:spcPts val="0"/>
              </a:spcBef>
              <a:buSzPts val="2800"/>
              <a:buNone/>
            </a:pPr>
            <a:r>
              <a:rPr lang="en-US" sz="1800" dirty="0"/>
              <a:t>5. Adaptive Software </a:t>
            </a:r>
            <a:r>
              <a:rPr lang="en-US" sz="1800" dirty="0" smtClean="0"/>
              <a:t>Development (ASD)</a:t>
            </a:r>
            <a:endParaRPr lang="en-US" sz="1800" dirty="0" smtClean="0"/>
          </a:p>
          <a:p>
            <a:pPr marL="742950" lvl="2" indent="-285750">
              <a:buClr>
                <a:schemeClr val="tx1"/>
              </a:buClr>
              <a:buSzPct val="117000"/>
            </a:pPr>
            <a:r>
              <a:rPr lang="en-US" sz="1600" dirty="0">
                <a:solidFill>
                  <a:srgbClr val="0033CC"/>
                </a:solidFill>
                <a:latin typeface="Times" panose="02020603050405020304" pitchFamily="18" charset="0"/>
                <a:cs typeface="Times" panose="02020603050405020304" pitchFamily="18" charset="0"/>
              </a:rPr>
              <a:t>ASD Life Cycle</a:t>
            </a:r>
            <a:endParaRPr lang="en-US" sz="1600" dirty="0">
              <a:solidFill>
                <a:srgbClr val="0033CC"/>
              </a:solidFill>
              <a:latin typeface="Times" panose="02020603050405020304" pitchFamily="18" charset="0"/>
              <a:cs typeface="Times" panose="02020603050405020304" pitchFamily="18" charset="0"/>
            </a:endParaRPr>
          </a:p>
          <a:p>
            <a:pPr marL="0" lvl="0" indent="0">
              <a:lnSpc>
                <a:spcPct val="150000"/>
              </a:lnSpc>
              <a:spcBef>
                <a:spcPts val="0"/>
              </a:spcBef>
              <a:buSzPts val="2800"/>
              <a:buNone/>
            </a:pPr>
            <a:r>
              <a:rPr lang="en-US" sz="1800" dirty="0" smtClean="0"/>
              <a:t>6. SCRUM</a:t>
            </a:r>
            <a:endParaRPr lang="en-US" altLang="en-US" sz="1600" dirty="0" smtClean="0">
              <a:solidFill>
                <a:srgbClr val="0033CC"/>
              </a:solidFill>
              <a:latin typeface="Times" panose="02020603050405020304" pitchFamily="18" charset="0"/>
              <a:cs typeface="Times" panose="02020603050405020304" pitchFamily="18" charset="0"/>
            </a:endParaRPr>
          </a:p>
          <a:p>
            <a:pPr marL="742950" lvl="2" indent="-285750">
              <a:buClr>
                <a:schemeClr val="tx1"/>
              </a:buClr>
              <a:buSzPct val="117000"/>
            </a:pPr>
            <a:r>
              <a:rPr lang="en-US" altLang="en-US" sz="1600" dirty="0">
                <a:solidFill>
                  <a:srgbClr val="0033CC"/>
                </a:solidFill>
                <a:latin typeface="Times" panose="02020603050405020304" pitchFamily="18" charset="0"/>
                <a:cs typeface="Times" panose="02020603050405020304" pitchFamily="18" charset="0"/>
              </a:rPr>
              <a:t>People &amp; Parts of Scrum Framework</a:t>
            </a:r>
            <a:endParaRPr lang="en-US" altLang="en-US" sz="1600" dirty="0">
              <a:solidFill>
                <a:srgbClr val="0033CC"/>
              </a:solidFill>
              <a:latin typeface="Times" panose="02020603050405020304" pitchFamily="18" charset="0"/>
              <a:cs typeface="Times" panose="02020603050405020304" pitchFamily="18" charset="0"/>
            </a:endParaRPr>
          </a:p>
          <a:p>
            <a:pPr marL="742950" lvl="2" indent="-285750">
              <a:buClr>
                <a:schemeClr val="tx1"/>
              </a:buClr>
              <a:buSzPct val="117000"/>
            </a:pPr>
            <a:r>
              <a:rPr lang="en-US" altLang="en-US" sz="1600" dirty="0">
                <a:solidFill>
                  <a:srgbClr val="0033CC"/>
                </a:solidFill>
                <a:latin typeface="Times" panose="02020603050405020304" pitchFamily="18" charset="0"/>
                <a:cs typeface="Times" panose="02020603050405020304" pitchFamily="18" charset="0"/>
              </a:rPr>
              <a:t>SCRUM Roles</a:t>
            </a:r>
            <a:endParaRPr lang="en-US" altLang="en-US" sz="1600" dirty="0">
              <a:solidFill>
                <a:srgbClr val="0033CC"/>
              </a:solidFill>
              <a:latin typeface="Times" panose="02020603050405020304" pitchFamily="18" charset="0"/>
              <a:cs typeface="Times" panose="02020603050405020304" pitchFamily="18" charset="0"/>
            </a:endParaRPr>
          </a:p>
          <a:p>
            <a:pPr marL="742950" lvl="2" indent="-285750">
              <a:buClr>
                <a:schemeClr val="tx1"/>
              </a:buClr>
              <a:buSzPct val="117000"/>
            </a:pPr>
            <a:r>
              <a:rPr lang="en-US" altLang="en-US" sz="1600" dirty="0">
                <a:solidFill>
                  <a:srgbClr val="0033CC"/>
                </a:solidFill>
                <a:latin typeface="Times" panose="02020603050405020304" pitchFamily="18" charset="0"/>
                <a:cs typeface="Times" panose="02020603050405020304" pitchFamily="18" charset="0"/>
              </a:rPr>
              <a:t>Events in SCRUM</a:t>
            </a:r>
            <a:endParaRPr lang="en-US" altLang="en-US" sz="1600" dirty="0">
              <a:solidFill>
                <a:srgbClr val="0033CC"/>
              </a:solidFill>
              <a:latin typeface="Times" panose="02020603050405020304" pitchFamily="18" charset="0"/>
              <a:cs typeface="Times" panose="02020603050405020304" pitchFamily="18" charset="0"/>
            </a:endParaRPr>
          </a:p>
          <a:p>
            <a:pPr marL="742950" lvl="2" indent="-285750">
              <a:buClr>
                <a:schemeClr val="tx1"/>
              </a:buClr>
              <a:buSzPct val="117000"/>
            </a:pPr>
            <a:r>
              <a:rPr lang="en-US" altLang="en-US" sz="1600" dirty="0">
                <a:solidFill>
                  <a:srgbClr val="0033CC"/>
                </a:solidFill>
                <a:latin typeface="Times" panose="02020603050405020304" pitchFamily="18" charset="0"/>
                <a:cs typeface="Times" panose="02020603050405020304" pitchFamily="18" charset="0"/>
              </a:rPr>
              <a:t>SCRUM Artifacts</a:t>
            </a:r>
            <a:endParaRPr lang="en-US" altLang="en-US" sz="1600" dirty="0">
              <a:solidFill>
                <a:srgbClr val="0033CC"/>
              </a:solidFill>
              <a:latin typeface="Times" panose="02020603050405020304" pitchFamily="18" charset="0"/>
              <a:cs typeface="Times" panose="02020603050405020304" pitchFamily="18" charset="0"/>
            </a:endParaRPr>
          </a:p>
          <a:p>
            <a:pPr marL="742950" lvl="2" indent="-285750">
              <a:buClr>
                <a:schemeClr val="tx1"/>
              </a:buClr>
              <a:buSzPct val="117000"/>
            </a:pPr>
            <a:r>
              <a:rPr lang="en-US" altLang="en-US" sz="1600" dirty="0">
                <a:solidFill>
                  <a:srgbClr val="0033CC"/>
                </a:solidFill>
                <a:latin typeface="Times" panose="02020603050405020304" pitchFamily="18" charset="0"/>
                <a:cs typeface="Times" panose="02020603050405020304" pitchFamily="18" charset="0"/>
              </a:rPr>
              <a:t>SCRUM </a:t>
            </a:r>
            <a:r>
              <a:rPr lang="en-US" altLang="en-US" sz="1600" dirty="0" smtClean="0">
                <a:solidFill>
                  <a:srgbClr val="0033CC"/>
                </a:solidFill>
                <a:latin typeface="Times" panose="02020603050405020304" pitchFamily="18" charset="0"/>
                <a:cs typeface="Times" panose="02020603050405020304" pitchFamily="18" charset="0"/>
              </a:rPr>
              <a:t>Frameworks</a:t>
            </a: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p>
          <a:p>
            <a:pPr marL="342900" lvl="0" indent="-342900" algn="just" rtl="0">
              <a:spcBef>
                <a:spcPts val="480"/>
              </a:spcBef>
              <a:spcAft>
                <a:spcPts val="0"/>
              </a:spcAft>
              <a:buClr>
                <a:schemeClr val="dk1"/>
              </a:buClr>
              <a:buSzPts val="2400"/>
              <a:buNone/>
            </a:pPr>
            <a:r>
              <a:rPr lang="en-US" sz="1800" dirty="0" smtClean="0"/>
              <a:t>7. Extreme Programming (XP)</a:t>
            </a:r>
            <a:endParaRPr lang="en-US" sz="1800" dirty="0" smtClean="0"/>
          </a:p>
          <a:p>
            <a:pPr marL="742950" lvl="2" indent="-285750">
              <a:buClr>
                <a:schemeClr val="tx1"/>
              </a:buClr>
              <a:buSzPct val="117000"/>
            </a:pPr>
            <a:r>
              <a:rPr lang="en-US" sz="1600" dirty="0">
                <a:solidFill>
                  <a:srgbClr val="0033CC"/>
                </a:solidFill>
                <a:latin typeface="Times" panose="02020603050405020304" pitchFamily="18" charset="0"/>
                <a:cs typeface="Times" panose="02020603050405020304" pitchFamily="18" charset="0"/>
              </a:rPr>
              <a:t>XP </a:t>
            </a:r>
            <a:r>
              <a:rPr lang="en-US" sz="1600" dirty="0" smtClean="0">
                <a:solidFill>
                  <a:srgbClr val="0033CC"/>
                </a:solidFill>
                <a:latin typeface="Times" panose="02020603050405020304" pitchFamily="18" charset="0"/>
                <a:cs typeface="Times" panose="02020603050405020304" pitchFamily="18" charset="0"/>
              </a:rPr>
              <a:t>Values</a:t>
            </a:r>
            <a:endParaRPr lang="en-US" sz="1600" dirty="0" smtClean="0">
              <a:solidFill>
                <a:srgbClr val="0033CC"/>
              </a:solidFill>
              <a:latin typeface="Times" panose="02020603050405020304" pitchFamily="18" charset="0"/>
              <a:cs typeface="Times" panose="02020603050405020304" pitchFamily="18" charset="0"/>
            </a:endParaRPr>
          </a:p>
          <a:p>
            <a:pPr marL="742950" lvl="2" indent="-285750">
              <a:buClr>
                <a:schemeClr val="tx1"/>
              </a:buClr>
              <a:buSzPct val="117000"/>
            </a:pPr>
            <a:r>
              <a:rPr lang="en-US" sz="1600" dirty="0" smtClean="0">
                <a:solidFill>
                  <a:srgbClr val="0033CC"/>
                </a:solidFill>
                <a:latin typeface="Times" panose="02020603050405020304" pitchFamily="18" charset="0"/>
                <a:cs typeface="Times" panose="02020603050405020304" pitchFamily="18" charset="0"/>
              </a:rPr>
              <a:t>XP Practices</a:t>
            </a:r>
            <a:endParaRPr lang="en-US" sz="1600" dirty="0" smtClean="0">
              <a:solidFill>
                <a:srgbClr val="0033CC"/>
              </a:solidFill>
              <a:latin typeface="Times" panose="02020603050405020304" pitchFamily="18" charset="0"/>
              <a:cs typeface="Times" panose="02020603050405020304" pitchFamily="18" charset="0"/>
            </a:endParaRPr>
          </a:p>
          <a:p>
            <a:pPr marL="742950" lvl="2" indent="-285750">
              <a:buClr>
                <a:schemeClr val="tx1"/>
              </a:buClr>
              <a:buSzPct val="117000"/>
            </a:pPr>
            <a:r>
              <a:rPr lang="en-US" sz="1600" dirty="0" smtClean="0">
                <a:solidFill>
                  <a:srgbClr val="0033CC"/>
                </a:solidFill>
                <a:latin typeface="Times" panose="02020603050405020304" pitchFamily="18" charset="0"/>
                <a:cs typeface="Times" panose="02020603050405020304" pitchFamily="18" charset="0"/>
              </a:rPr>
              <a:t>XP Lifecycle</a:t>
            </a:r>
            <a:endParaRPr sz="1600" dirty="0">
              <a:solidFill>
                <a:srgbClr val="0033CC"/>
              </a:solidFill>
              <a:latin typeface="Times" panose="02020603050405020304" pitchFamily="18" charset="0"/>
              <a:cs typeface="Times"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dirty="0">
                <a:latin typeface="Times"/>
                <a:ea typeface="Times"/>
                <a:cs typeface="Times"/>
                <a:sym typeface="Times"/>
              </a:rPr>
              <a:t>Agile Model</a:t>
            </a:r>
            <a:endParaRPr dirty="0"/>
          </a:p>
        </p:txBody>
      </p:sp>
      <p:sp>
        <p:nvSpPr>
          <p:cNvPr id="54" name="Google Shape;54;p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55" name="Google Shape;55;p2" descr="Agile Model"/>
          <p:cNvPicPr preferRelativeResize="0"/>
          <p:nvPr/>
        </p:nvPicPr>
        <p:blipFill rotWithShape="1">
          <a:blip r:embed="rId1"/>
          <a:srcRect l="7463" b="12500"/>
          <a:stretch>
            <a:fillRect/>
          </a:stretch>
        </p:blipFill>
        <p:spPr>
          <a:xfrm>
            <a:off x="2433637" y="3141662"/>
            <a:ext cx="5012933" cy="2895600"/>
          </a:xfrm>
          <a:prstGeom prst="rect">
            <a:avLst/>
          </a:prstGeom>
          <a:noFill/>
          <a:ln>
            <a:noFill/>
          </a:ln>
        </p:spPr>
      </p:pic>
      <p:sp>
        <p:nvSpPr>
          <p:cNvPr id="56" name="Google Shape;56;p2"/>
          <p:cNvSpPr txBox="1">
            <a:spLocks noGrp="1"/>
          </p:cNvSpPr>
          <p:nvPr>
            <p:ph type="body" idx="1"/>
          </p:nvPr>
        </p:nvSpPr>
        <p:spPr>
          <a:xfrm>
            <a:off x="136133" y="820737"/>
            <a:ext cx="8839200" cy="5216525"/>
          </a:xfrm>
          <a:prstGeom prst="rect">
            <a:avLst/>
          </a:prstGeom>
          <a:noFill/>
          <a:ln>
            <a:noFill/>
          </a:ln>
        </p:spPr>
        <p:txBody>
          <a:bodyPr spcFirstLastPara="1" wrap="square" lIns="91425" tIns="45700" rIns="91425" bIns="45700" anchor="t" anchorCtr="0">
            <a:noAutofit/>
          </a:bodyPr>
          <a:lstStyle/>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b="1" i="1" dirty="0">
                <a:solidFill>
                  <a:srgbClr val="C00000"/>
                </a:solidFill>
                <a:sym typeface="Times New Roman" panose="02020603050405020304"/>
              </a:rPr>
              <a:t>Agile</a:t>
            </a:r>
            <a:r>
              <a:rPr lang="en-US" sz="1800" dirty="0">
                <a:solidFill>
                  <a:schemeClr val="dk1"/>
                </a:solidFill>
                <a:sym typeface="Times New Roman" panose="02020603050405020304"/>
              </a:rPr>
              <a:t> is an iterative way of managing projects and developing software that makes it easier for teams to deliver value to their customers more quickly and effectively.</a:t>
            </a:r>
            <a:endParaRPr sz="1800" dirty="0"/>
          </a:p>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sym typeface="Times New Roman" panose="02020603050405020304"/>
              </a:rPr>
              <a:t>More focus on process adaptability and customer satisfaction through the timely delivery of working software. </a:t>
            </a:r>
            <a:endParaRPr sz="1800" dirty="0"/>
          </a:p>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sym typeface="Times New Roman" panose="02020603050405020304"/>
              </a:rPr>
              <a:t>The agile method splits the project into small iterations, and these iterations do not directly involve long-term planning. </a:t>
            </a:r>
            <a:endParaRPr sz="1800" dirty="0"/>
          </a:p>
          <a:p>
            <a:pPr marL="342900" lvl="0" indent="-342900" algn="just" rtl="0">
              <a:spcBef>
                <a:spcPts val="480"/>
              </a:spcBef>
              <a:spcAft>
                <a:spcPts val="0"/>
              </a:spcAft>
              <a:buClr>
                <a:schemeClr val="dk1"/>
              </a:buClr>
              <a:buSzPts val="2400"/>
              <a:buNone/>
            </a:pPr>
            <a:endParaRPr sz="1800" dirty="0"/>
          </a:p>
        </p:txBody>
      </p:sp>
      <p:sp>
        <p:nvSpPr>
          <p:cNvPr id="57" name="Google Shape;57;p2"/>
          <p:cNvSpPr txBox="1"/>
          <p:nvPr/>
        </p:nvSpPr>
        <p:spPr>
          <a:xfrm>
            <a:off x="2924966" y="6056331"/>
            <a:ext cx="326153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latin typeface="Times New Roman" panose="02020603050405020304" charset="0"/>
                <a:cs typeface="Times New Roman" panose="02020603050405020304" charset="0"/>
                <a:sym typeface="Arial" panose="020B0604020202020204"/>
              </a:rPr>
              <a:t>Figure 1: Agile Development Methodology</a:t>
            </a:r>
            <a:endParaRPr sz="1200" b="1" dirty="0">
              <a:solidFill>
                <a:schemeClr val="dk1"/>
              </a:solidFill>
              <a:latin typeface="Times New Roman" panose="02020603050405020304" charset="0"/>
              <a:cs typeface="Times New Roman" panose="02020603050405020304" charset="0"/>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Contd…</a:t>
            </a:r>
            <a:endParaRPr lang="en-US" b="1">
              <a:latin typeface="Times"/>
              <a:ea typeface="Times"/>
              <a:cs typeface="Times"/>
              <a:sym typeface="Times"/>
            </a:endParaRPr>
          </a:p>
        </p:txBody>
      </p:sp>
      <p:sp>
        <p:nvSpPr>
          <p:cNvPr id="63" name="Google Shape;63;p3"/>
          <p:cNvSpPr txBox="1">
            <a:spLocks noGrp="1"/>
          </p:cNvSpPr>
          <p:nvPr>
            <p:ph type="body" idx="1"/>
          </p:nvPr>
        </p:nvSpPr>
        <p:spPr>
          <a:xfrm>
            <a:off x="381000" y="955675"/>
            <a:ext cx="8229600" cy="5216525"/>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000"/>
              <a:buChar char="•"/>
            </a:pPr>
            <a:r>
              <a:rPr lang="en-US" sz="1800" dirty="0"/>
              <a:t>Agile was invented in the software industry but nowadays businesses in all industry sectors make use of it. </a:t>
            </a:r>
            <a:endParaRPr sz="1800" dirty="0"/>
          </a:p>
          <a:p>
            <a:pPr marL="342900" lvl="0" indent="-215900" algn="just" rtl="0">
              <a:lnSpc>
                <a:spcPct val="150000"/>
              </a:lnSpc>
              <a:spcBef>
                <a:spcPts val="400"/>
              </a:spcBef>
              <a:spcAft>
                <a:spcPts val="0"/>
              </a:spcAft>
              <a:buClr>
                <a:schemeClr val="dk1"/>
              </a:buClr>
              <a:buSzPts val="2000"/>
              <a:buNone/>
            </a:pPr>
            <a:endParaRPr sz="1800" dirty="0"/>
          </a:p>
          <a:p>
            <a:pPr marL="342900" lvl="0" indent="-342900" algn="just" rtl="0">
              <a:lnSpc>
                <a:spcPct val="150000"/>
              </a:lnSpc>
              <a:spcBef>
                <a:spcPts val="400"/>
              </a:spcBef>
              <a:spcAft>
                <a:spcPts val="0"/>
              </a:spcAft>
              <a:buClr>
                <a:schemeClr val="dk1"/>
              </a:buClr>
              <a:buSzPts val="2000"/>
              <a:buChar char="•"/>
            </a:pPr>
            <a:r>
              <a:rPr lang="en-US" sz="1800" b="1" dirty="0"/>
              <a:t>Agility</a:t>
            </a:r>
            <a:r>
              <a:rPr lang="en-US" sz="1800" dirty="0"/>
              <a:t> is the ability of a business as a whole to respond quickly to changes, especially external changes. For example, by adapting business processes or changing customer experiences.</a:t>
            </a:r>
            <a:endParaRPr sz="1800" dirty="0"/>
          </a:p>
        </p:txBody>
      </p:sp>
      <p:sp>
        <p:nvSpPr>
          <p:cNvPr id="64" name="Google Shape;64;p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dirty="0">
                <a:latin typeface="Times"/>
                <a:ea typeface="Times"/>
                <a:cs typeface="Times"/>
                <a:sym typeface="Times"/>
              </a:rPr>
              <a:t>Effectiveness of Communication Modes</a:t>
            </a:r>
            <a:endParaRPr dirty="0"/>
          </a:p>
        </p:txBody>
      </p:sp>
      <p:sp>
        <p:nvSpPr>
          <p:cNvPr id="70" name="Google Shape;70;p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71" name="Google Shape;71;p4"/>
          <p:cNvPicPr preferRelativeResize="0"/>
          <p:nvPr/>
        </p:nvPicPr>
        <p:blipFill rotWithShape="1">
          <a:blip r:embed="rId1"/>
          <a:srcRect b="6944"/>
          <a:stretch>
            <a:fillRect/>
          </a:stretch>
        </p:blipFill>
        <p:spPr>
          <a:xfrm>
            <a:off x="1219200" y="914400"/>
            <a:ext cx="5960246" cy="4785078"/>
          </a:xfrm>
          <a:prstGeom prst="rect">
            <a:avLst/>
          </a:prstGeom>
          <a:noFill/>
          <a:ln>
            <a:noFill/>
          </a:ln>
        </p:spPr>
      </p:pic>
      <p:sp>
        <p:nvSpPr>
          <p:cNvPr id="72" name="Google Shape;72;p4"/>
          <p:cNvSpPr txBox="1"/>
          <p:nvPr/>
        </p:nvSpPr>
        <p:spPr>
          <a:xfrm>
            <a:off x="2773343" y="6010571"/>
            <a:ext cx="285196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dirty="0">
                <a:solidFill>
                  <a:schemeClr val="dk1"/>
                </a:solidFill>
                <a:latin typeface="Times New Roman" panose="02020603050405020304" charset="0"/>
                <a:cs typeface="Times New Roman" panose="02020603050405020304" charset="0"/>
                <a:sym typeface="Arial" panose="020B0604020202020204"/>
              </a:rPr>
              <a:t>Figure 2: Communication Modes</a:t>
            </a:r>
            <a:endParaRPr b="1" dirty="0">
              <a:solidFill>
                <a:schemeClr val="dk1"/>
              </a:solidFill>
              <a:latin typeface="Times New Roman" panose="02020603050405020304" charset="0"/>
              <a:cs typeface="Times New Roman" panose="02020603050405020304" charset="0"/>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Agile Model</a:t>
            </a:r>
            <a:endParaRPr lang="en-US" b="1">
              <a:latin typeface="Times"/>
              <a:ea typeface="Times"/>
              <a:cs typeface="Times"/>
              <a:sym typeface="Times"/>
            </a:endParaRPr>
          </a:p>
        </p:txBody>
      </p:sp>
      <p:sp>
        <p:nvSpPr>
          <p:cNvPr id="78" name="Google Shape;78;p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79" name="Google Shape;79;p5"/>
          <p:cNvPicPr preferRelativeResize="0"/>
          <p:nvPr/>
        </p:nvPicPr>
        <p:blipFill rotWithShape="1">
          <a:blip r:embed="rId1"/>
          <a:srcRect/>
          <a:stretch>
            <a:fillRect/>
          </a:stretch>
        </p:blipFill>
        <p:spPr>
          <a:xfrm>
            <a:off x="304800" y="838200"/>
            <a:ext cx="8686800" cy="5769831"/>
          </a:xfrm>
          <a:prstGeom prst="rect">
            <a:avLst/>
          </a:prstGeom>
          <a:noFill/>
          <a:ln>
            <a:noFill/>
          </a:ln>
        </p:spPr>
      </p:pic>
      <p:sp>
        <p:nvSpPr>
          <p:cNvPr id="80" name="Google Shape;80;p5"/>
          <p:cNvSpPr txBox="1"/>
          <p:nvPr/>
        </p:nvSpPr>
        <p:spPr>
          <a:xfrm>
            <a:off x="6553200" y="1895475"/>
            <a:ext cx="2438400" cy="175428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0" i="0"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Agile is an umbrella term encompassing a variety of frameworks and approaches to value delivery in complex environments.</a:t>
            </a:r>
            <a:r>
              <a:rPr lang="en-US" sz="1800"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 </a:t>
            </a:r>
            <a:endParaRPr sz="1800" dirty="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1" name="Google Shape;81;p5"/>
          <p:cNvSpPr txBox="1"/>
          <p:nvPr/>
        </p:nvSpPr>
        <p:spPr>
          <a:xfrm>
            <a:off x="3657600" y="6193005"/>
            <a:ext cx="1914525"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dirty="0">
                <a:solidFill>
                  <a:schemeClr val="dk1"/>
                </a:solidFill>
                <a:latin typeface="Times New Roman" panose="02020603050405020304" charset="0"/>
                <a:cs typeface="Times New Roman" panose="02020603050405020304" charset="0"/>
                <a:sym typeface="Arial" panose="020B0604020202020204"/>
              </a:rPr>
              <a:t>Figure 3: Agile Model</a:t>
            </a:r>
            <a:endParaRPr b="1" dirty="0">
              <a:solidFill>
                <a:schemeClr val="dk1"/>
              </a:solidFill>
              <a:latin typeface="Times New Roman" panose="02020603050405020304" charset="0"/>
              <a:cs typeface="Times New Roman" panose="02020603050405020304" charset="0"/>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dirty="0">
                <a:latin typeface="Times"/>
                <a:ea typeface="Times"/>
                <a:cs typeface="Times"/>
                <a:sym typeface="Times"/>
              </a:rPr>
              <a:t>Agile Process Methodology</a:t>
            </a:r>
            <a:endParaRPr dirty="0"/>
          </a:p>
        </p:txBody>
      </p:sp>
      <p:sp>
        <p:nvSpPr>
          <p:cNvPr id="87" name="Google Shape;87;p6"/>
          <p:cNvSpPr txBox="1">
            <a:spLocks noGrp="1"/>
          </p:cNvSpPr>
          <p:nvPr>
            <p:ph type="body" idx="1"/>
          </p:nvPr>
        </p:nvSpPr>
        <p:spPr>
          <a:xfrm>
            <a:off x="457200" y="955675"/>
            <a:ext cx="8229600" cy="521652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400"/>
              <a:buNone/>
            </a:pPr>
            <a:r>
              <a:rPr lang="en-US" sz="1800" dirty="0"/>
              <a:t>The agile process methodologies have been shown below:</a:t>
            </a:r>
            <a:endParaRPr sz="1800" dirty="0"/>
          </a:p>
          <a:p>
            <a:pPr marL="342900" lvl="0" indent="-342900" algn="just" rtl="0">
              <a:spcBef>
                <a:spcPts val="480"/>
              </a:spcBef>
              <a:spcAft>
                <a:spcPts val="0"/>
              </a:spcAft>
              <a:buClr>
                <a:schemeClr val="dk1"/>
              </a:buClr>
              <a:buSzPts val="2400"/>
              <a:buNone/>
            </a:pPr>
            <a:endParaRPr sz="1800" dirty="0"/>
          </a:p>
          <a:p>
            <a:pPr marL="342900" lvl="0" indent="-342900" algn="just" rtl="0">
              <a:spcBef>
                <a:spcPts val="480"/>
              </a:spcBef>
              <a:spcAft>
                <a:spcPts val="0"/>
              </a:spcAft>
              <a:buClr>
                <a:schemeClr val="dk1"/>
              </a:buClr>
              <a:buSzPts val="2400"/>
              <a:buNone/>
            </a:pPr>
            <a:r>
              <a:rPr lang="en-US" sz="1800" dirty="0"/>
              <a:t> </a:t>
            </a:r>
            <a:endParaRPr sz="1800" dirty="0"/>
          </a:p>
        </p:txBody>
      </p:sp>
      <p:sp>
        <p:nvSpPr>
          <p:cNvPr id="88" name="Google Shape;88;p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89" name="Google Shape;89;p6" descr="Agile.JPG"/>
          <p:cNvPicPr preferRelativeResize="0"/>
          <p:nvPr/>
        </p:nvPicPr>
        <p:blipFill rotWithShape="1">
          <a:blip r:embed="rId1"/>
          <a:srcRect/>
          <a:stretch>
            <a:fillRect/>
          </a:stretch>
        </p:blipFill>
        <p:spPr>
          <a:xfrm>
            <a:off x="990600" y="1600752"/>
            <a:ext cx="7387742" cy="4652963"/>
          </a:xfrm>
          <a:prstGeom prst="rect">
            <a:avLst/>
          </a:prstGeom>
          <a:noFill/>
          <a:ln>
            <a:noFill/>
          </a:ln>
        </p:spPr>
      </p:pic>
      <p:sp>
        <p:nvSpPr>
          <p:cNvPr id="90" name="Google Shape;90;p6"/>
          <p:cNvSpPr txBox="1"/>
          <p:nvPr/>
        </p:nvSpPr>
        <p:spPr>
          <a:xfrm>
            <a:off x="3215466" y="6064246"/>
            <a:ext cx="3261534"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dirty="0">
                <a:solidFill>
                  <a:schemeClr val="dk1"/>
                </a:solidFill>
                <a:latin typeface="Times New Roman" panose="02020603050405020304" charset="0"/>
                <a:cs typeface="Times New Roman" panose="02020603050405020304" charset="0"/>
                <a:sym typeface="Arial" panose="020B0604020202020204"/>
              </a:rPr>
              <a:t>Figure 4: Agile Process Methodology</a:t>
            </a:r>
            <a:endParaRPr b="1" dirty="0">
              <a:solidFill>
                <a:schemeClr val="dk1"/>
              </a:solidFill>
              <a:latin typeface="Times New Roman" panose="02020603050405020304" charset="0"/>
              <a:cs typeface="Times New Roman" panose="02020603050405020304" charset="0"/>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Agile Principles</a:t>
            </a:r>
            <a:endParaRPr lang="en-US" b="1">
              <a:latin typeface="Times"/>
              <a:ea typeface="Times"/>
              <a:cs typeface="Times"/>
              <a:sym typeface="Times"/>
            </a:endParaRPr>
          </a:p>
        </p:txBody>
      </p:sp>
      <p:sp>
        <p:nvSpPr>
          <p:cNvPr id="96" name="Google Shape;96;p7"/>
          <p:cNvSpPr txBox="1">
            <a:spLocks noGrp="1"/>
          </p:cNvSpPr>
          <p:nvPr>
            <p:ph type="body" idx="1"/>
          </p:nvPr>
        </p:nvSpPr>
        <p:spPr>
          <a:xfrm>
            <a:off x="457200" y="990600"/>
            <a:ext cx="8101013" cy="521652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200"/>
              <a:buChar char="•"/>
            </a:pPr>
            <a:r>
              <a:rPr lang="en-US" sz="1800" dirty="0">
                <a:solidFill>
                  <a:schemeClr val="dk1"/>
                </a:solidFill>
                <a:sym typeface="Times New Roman" panose="02020603050405020304"/>
              </a:rPr>
              <a:t>To make a process Agile, the following 12 principles need to be satisfied in the Agile Manifesto:</a:t>
            </a:r>
            <a:endParaRPr sz="1800" dirty="0"/>
          </a:p>
          <a:p>
            <a:pPr marL="342900" lvl="0" indent="-203200" algn="just" rtl="0">
              <a:spcBef>
                <a:spcPts val="440"/>
              </a:spcBef>
              <a:spcAft>
                <a:spcPts val="0"/>
              </a:spcAft>
              <a:buClr>
                <a:schemeClr val="dk1"/>
              </a:buClr>
              <a:buSzPts val="2200"/>
              <a:buNone/>
            </a:pPr>
            <a:endParaRPr sz="1800" dirty="0">
              <a:solidFill>
                <a:schemeClr val="dk1"/>
              </a:solidFill>
              <a:sym typeface="Times New Roman" panose="02020603050405020304"/>
            </a:endParaRPr>
          </a:p>
          <a:p>
            <a:pPr marL="457200" lvl="0" indent="-457200" algn="just" rtl="0">
              <a:spcBef>
                <a:spcPts val="440"/>
              </a:spcBef>
              <a:spcAft>
                <a:spcPts val="0"/>
              </a:spcAft>
              <a:buClr>
                <a:srgbClr val="C00000"/>
              </a:buClr>
              <a:buSzPts val="2200"/>
              <a:buFont typeface="Calibri" panose="020F0502020204030204"/>
              <a:buAutoNum type="arabicPeriod"/>
            </a:pPr>
            <a:r>
              <a:rPr lang="en-US" sz="1800" b="1" i="1" dirty="0">
                <a:solidFill>
                  <a:srgbClr val="C00000"/>
                </a:solidFill>
                <a:sym typeface="Times New Roman" panose="02020603050405020304"/>
              </a:rPr>
              <a:t>Customer Satisfaction: </a:t>
            </a:r>
            <a:r>
              <a:rPr lang="en-US" sz="1800" dirty="0">
                <a:solidFill>
                  <a:schemeClr val="dk1"/>
                </a:solidFill>
                <a:sym typeface="Times New Roman" panose="02020603050405020304"/>
              </a:rPr>
              <a:t>The customer needs to be satisfied with the quick delivery of the </a:t>
            </a:r>
            <a:r>
              <a:rPr lang="en-US" sz="1800" dirty="0" smtClean="0">
                <a:solidFill>
                  <a:schemeClr val="dk1"/>
                </a:solidFill>
                <a:sym typeface="Times New Roman" panose="02020603050405020304"/>
              </a:rPr>
              <a:t>product.</a:t>
            </a:r>
            <a:endParaRPr lang="en-US" sz="1800" dirty="0"/>
          </a:p>
          <a:p>
            <a:pPr marL="457200" lvl="0" indent="-457200" algn="just" rtl="0">
              <a:spcBef>
                <a:spcPts val="440"/>
              </a:spcBef>
              <a:spcAft>
                <a:spcPts val="0"/>
              </a:spcAft>
              <a:buClr>
                <a:srgbClr val="C00000"/>
              </a:buClr>
              <a:buSzPts val="2200"/>
              <a:buFont typeface="Calibri" panose="020F0502020204030204"/>
              <a:buAutoNum type="arabicPeriod"/>
            </a:pPr>
            <a:endParaRPr lang="en-US" sz="1800" b="1" i="1" dirty="0">
              <a:solidFill>
                <a:srgbClr val="C00000"/>
              </a:solidFill>
              <a:sym typeface="Times New Roman" panose="02020603050405020304"/>
            </a:endParaRPr>
          </a:p>
          <a:p>
            <a:pPr marL="457200" lvl="0" indent="-457200" algn="just" rtl="0">
              <a:spcBef>
                <a:spcPts val="440"/>
              </a:spcBef>
              <a:spcAft>
                <a:spcPts val="0"/>
              </a:spcAft>
              <a:buClr>
                <a:srgbClr val="C00000"/>
              </a:buClr>
              <a:buSzPts val="2200"/>
              <a:buFont typeface="Calibri" panose="020F0502020204030204"/>
              <a:buAutoNum type="arabicPeriod"/>
            </a:pPr>
            <a:r>
              <a:rPr lang="en-US" sz="1800" b="1" i="1" dirty="0" smtClean="0">
                <a:solidFill>
                  <a:srgbClr val="C00000"/>
                </a:solidFill>
                <a:sym typeface="Times New Roman" panose="02020603050405020304"/>
              </a:rPr>
              <a:t>Welcome </a:t>
            </a:r>
            <a:r>
              <a:rPr lang="en-US" sz="1800" b="1" i="1" dirty="0">
                <a:solidFill>
                  <a:srgbClr val="C00000"/>
                </a:solidFill>
                <a:sym typeface="Times New Roman" panose="02020603050405020304"/>
              </a:rPr>
              <a:t>Change: </a:t>
            </a:r>
            <a:r>
              <a:rPr lang="en-US" sz="1800" dirty="0">
                <a:solidFill>
                  <a:schemeClr val="dk1"/>
                </a:solidFill>
                <a:sym typeface="Times New Roman" panose="02020603050405020304"/>
              </a:rPr>
              <a:t>Even late in the development process, changing needs need to be </a:t>
            </a:r>
            <a:r>
              <a:rPr lang="en-US" sz="1800" dirty="0" smtClean="0">
                <a:solidFill>
                  <a:schemeClr val="dk1"/>
                </a:solidFill>
                <a:sym typeface="Times New Roman" panose="02020603050405020304"/>
              </a:rPr>
              <a:t>addressed.</a:t>
            </a:r>
            <a:endParaRPr lang="en-US" sz="1800" dirty="0"/>
          </a:p>
          <a:p>
            <a:pPr marL="457200" lvl="0" indent="-457200" algn="just" rtl="0">
              <a:spcBef>
                <a:spcPts val="440"/>
              </a:spcBef>
              <a:spcAft>
                <a:spcPts val="0"/>
              </a:spcAft>
              <a:buClr>
                <a:srgbClr val="C00000"/>
              </a:buClr>
              <a:buSzPts val="2200"/>
              <a:buFont typeface="Calibri" panose="020F0502020204030204"/>
              <a:buAutoNum type="arabicPeriod"/>
            </a:pPr>
            <a:endParaRPr lang="en-US" sz="1800" b="1" i="1" dirty="0">
              <a:solidFill>
                <a:srgbClr val="C00000"/>
              </a:solidFill>
              <a:sym typeface="Times New Roman" panose="02020603050405020304"/>
            </a:endParaRPr>
          </a:p>
          <a:p>
            <a:pPr marL="457200" lvl="0" indent="-457200" algn="just" rtl="0">
              <a:spcBef>
                <a:spcPts val="440"/>
              </a:spcBef>
              <a:spcAft>
                <a:spcPts val="0"/>
              </a:spcAft>
              <a:buClr>
                <a:srgbClr val="C00000"/>
              </a:buClr>
              <a:buSzPts val="2200"/>
              <a:buFont typeface="Calibri" panose="020F0502020204030204"/>
              <a:buAutoNum type="arabicPeriod"/>
            </a:pPr>
            <a:r>
              <a:rPr lang="en-US" sz="1800" b="1" i="1" dirty="0" smtClean="0">
                <a:solidFill>
                  <a:srgbClr val="C00000"/>
                </a:solidFill>
                <a:sym typeface="Times New Roman" panose="02020603050405020304"/>
              </a:rPr>
              <a:t>Deliver </a:t>
            </a:r>
            <a:r>
              <a:rPr lang="en-US" sz="1800" b="1" i="1" dirty="0">
                <a:solidFill>
                  <a:srgbClr val="C00000"/>
                </a:solidFill>
                <a:sym typeface="Times New Roman" panose="02020603050405020304"/>
              </a:rPr>
              <a:t>Frequently: </a:t>
            </a:r>
            <a:r>
              <a:rPr lang="en-US" sz="1800" dirty="0">
                <a:solidFill>
                  <a:schemeClr val="dk1"/>
                </a:solidFill>
                <a:sym typeface="Times New Roman" panose="02020603050405020304"/>
              </a:rPr>
              <a:t>Focus on a shorter timescale, and ensure products are delivered frequently. </a:t>
            </a:r>
            <a:endParaRPr lang="en-US" sz="1800" dirty="0"/>
          </a:p>
          <a:p>
            <a:pPr marL="457200" lvl="0" indent="-457200" algn="just" rtl="0">
              <a:spcBef>
                <a:spcPts val="440"/>
              </a:spcBef>
              <a:spcAft>
                <a:spcPts val="0"/>
              </a:spcAft>
              <a:buClr>
                <a:srgbClr val="C00000"/>
              </a:buClr>
              <a:buSzPts val="2200"/>
              <a:buFont typeface="Calibri" panose="020F0502020204030204"/>
              <a:buAutoNum type="arabicPeriod"/>
            </a:pPr>
            <a:endParaRPr lang="en-US" sz="1800" b="1" i="1" dirty="0">
              <a:solidFill>
                <a:srgbClr val="C00000"/>
              </a:solidFill>
              <a:sym typeface="Times New Roman" panose="02020603050405020304"/>
            </a:endParaRPr>
          </a:p>
          <a:p>
            <a:pPr marL="457200" lvl="0" indent="-457200" algn="just" rtl="0">
              <a:spcBef>
                <a:spcPts val="440"/>
              </a:spcBef>
              <a:spcAft>
                <a:spcPts val="0"/>
              </a:spcAft>
              <a:buClr>
                <a:srgbClr val="C00000"/>
              </a:buClr>
              <a:buSzPts val="2200"/>
              <a:buFont typeface="Calibri" panose="020F0502020204030204"/>
              <a:buAutoNum type="arabicPeriod"/>
            </a:pPr>
            <a:r>
              <a:rPr lang="en-US" sz="1800" b="1" i="1" dirty="0" smtClean="0">
                <a:solidFill>
                  <a:srgbClr val="C00000"/>
                </a:solidFill>
                <a:sym typeface="Times New Roman" panose="02020603050405020304"/>
              </a:rPr>
              <a:t>Work </a:t>
            </a:r>
            <a:r>
              <a:rPr lang="en-US" sz="1800" b="1" i="1" dirty="0">
                <a:solidFill>
                  <a:srgbClr val="C00000"/>
                </a:solidFill>
                <a:sym typeface="Times New Roman" panose="02020603050405020304"/>
              </a:rPr>
              <a:t>Together: </a:t>
            </a:r>
            <a:r>
              <a:rPr lang="en-US" sz="1800" dirty="0">
                <a:solidFill>
                  <a:schemeClr val="dk1"/>
                </a:solidFill>
                <a:sym typeface="Times New Roman" panose="02020603050405020304"/>
              </a:rPr>
              <a:t>The business and development team need to work together through the course of the project. </a:t>
            </a:r>
            <a:endParaRPr sz="1800" b="1" dirty="0">
              <a:latin typeface="Times"/>
              <a:ea typeface="Times"/>
              <a:cs typeface="Times"/>
              <a:sym typeface="Times"/>
            </a:endParaRPr>
          </a:p>
        </p:txBody>
      </p:sp>
      <p:sp>
        <p:nvSpPr>
          <p:cNvPr id="97" name="Google Shape;97;p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Agile Principles (contd.)</a:t>
            </a:r>
            <a:endParaRPr lang="en-US" b="1">
              <a:latin typeface="Times"/>
              <a:ea typeface="Times"/>
              <a:cs typeface="Times"/>
              <a:sym typeface="Times"/>
            </a:endParaRPr>
          </a:p>
        </p:txBody>
      </p:sp>
      <p:sp>
        <p:nvSpPr>
          <p:cNvPr id="103" name="Google Shape;103;p8"/>
          <p:cNvSpPr txBox="1">
            <a:spLocks noGrp="1"/>
          </p:cNvSpPr>
          <p:nvPr>
            <p:ph type="body" idx="1"/>
          </p:nvPr>
        </p:nvSpPr>
        <p:spPr>
          <a:xfrm>
            <a:off x="304800" y="950912"/>
            <a:ext cx="8382000" cy="5349875"/>
          </a:xfrm>
          <a:prstGeom prst="rect">
            <a:avLst/>
          </a:prstGeom>
          <a:noFill/>
          <a:ln>
            <a:noFill/>
          </a:ln>
        </p:spPr>
        <p:txBody>
          <a:bodyPr spcFirstLastPara="1" wrap="square" lIns="91425" tIns="45700" rIns="91425" bIns="45700" anchor="t" anchorCtr="0">
            <a:noAutofit/>
          </a:bodyPr>
          <a:lstStyle/>
          <a:p>
            <a:pPr marL="457200" lvl="0" indent="-457200" algn="just" rtl="0">
              <a:spcBef>
                <a:spcPts val="0"/>
              </a:spcBef>
              <a:spcAft>
                <a:spcPts val="0"/>
              </a:spcAft>
              <a:buClr>
                <a:srgbClr val="C00000"/>
              </a:buClr>
              <a:buSzPts val="2200"/>
              <a:buFont typeface="Calibri" panose="020F0502020204030204"/>
              <a:buAutoNum type="arabicPeriod" startAt="5"/>
            </a:pPr>
            <a:r>
              <a:rPr lang="en-US" sz="1800" b="1" i="1" dirty="0">
                <a:solidFill>
                  <a:srgbClr val="C00000"/>
                </a:solidFill>
                <a:sym typeface="Times New Roman" panose="02020603050405020304"/>
              </a:rPr>
              <a:t>Motivated Team: </a:t>
            </a:r>
            <a:r>
              <a:rPr lang="en-US" sz="1800" dirty="0">
                <a:solidFill>
                  <a:schemeClr val="dk1"/>
                </a:solidFill>
                <a:sym typeface="Times New Roman" panose="02020603050405020304"/>
              </a:rPr>
              <a:t>Team members must be motivated and trusted to complete the project successfully and on time. </a:t>
            </a:r>
            <a:endParaRPr lang="en-US" sz="1800" dirty="0"/>
          </a:p>
          <a:p>
            <a:pPr marL="457200" lvl="0" indent="-457200" algn="just" rtl="0">
              <a:spcBef>
                <a:spcPts val="0"/>
              </a:spcBef>
              <a:spcAft>
                <a:spcPts val="0"/>
              </a:spcAft>
              <a:buClr>
                <a:srgbClr val="C00000"/>
              </a:buClr>
              <a:buSzPts val="2200"/>
              <a:buFont typeface="Calibri" panose="020F0502020204030204"/>
              <a:buAutoNum type="arabicPeriod" startAt="5"/>
            </a:pPr>
            <a:endParaRPr lang="en-US" sz="1800" b="1" i="1" dirty="0">
              <a:solidFill>
                <a:srgbClr val="C00000"/>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startAt="5"/>
            </a:pPr>
            <a:r>
              <a:rPr lang="en-US" sz="1800" b="1" i="1" dirty="0" smtClean="0">
                <a:solidFill>
                  <a:srgbClr val="C00000"/>
                </a:solidFill>
                <a:sym typeface="Times New Roman" panose="02020603050405020304"/>
              </a:rPr>
              <a:t>Face-to-Face</a:t>
            </a:r>
            <a:r>
              <a:rPr lang="en-US" sz="1800" b="1" i="1" dirty="0">
                <a:solidFill>
                  <a:srgbClr val="C00000"/>
                </a:solidFill>
                <a:sym typeface="Times New Roman" panose="02020603050405020304"/>
              </a:rPr>
              <a:t>:</a:t>
            </a:r>
            <a:r>
              <a:rPr lang="en-US" sz="1800" dirty="0">
                <a:solidFill>
                  <a:srgbClr val="00B050"/>
                </a:solidFill>
                <a:sym typeface="Times New Roman" panose="02020603050405020304"/>
              </a:rPr>
              <a:t> </a:t>
            </a:r>
            <a:r>
              <a:rPr lang="en-US" sz="1800" dirty="0">
                <a:solidFill>
                  <a:schemeClr val="dk1"/>
                </a:solidFill>
                <a:sym typeface="Times New Roman" panose="02020603050405020304"/>
              </a:rPr>
              <a:t>Having face-to-face interactions is one of the most effective forms of </a:t>
            </a:r>
            <a:r>
              <a:rPr lang="en-US" sz="1800" dirty="0" smtClean="0">
                <a:solidFill>
                  <a:schemeClr val="dk1"/>
                </a:solidFill>
                <a:sym typeface="Times New Roman" panose="02020603050405020304"/>
              </a:rPr>
              <a:t>communication.</a:t>
            </a:r>
            <a:endParaRPr lang="en-US" sz="1800" dirty="0"/>
          </a:p>
          <a:p>
            <a:pPr marL="457200" lvl="0" indent="-457200" algn="just" rtl="0">
              <a:spcBef>
                <a:spcPts val="0"/>
              </a:spcBef>
              <a:spcAft>
                <a:spcPts val="0"/>
              </a:spcAft>
              <a:buClr>
                <a:srgbClr val="C00000"/>
              </a:buClr>
              <a:buSzPts val="2200"/>
              <a:buFont typeface="Calibri" panose="020F0502020204030204"/>
              <a:buAutoNum type="arabicPeriod" startAt="5"/>
            </a:pPr>
            <a:endParaRPr lang="en-US" sz="1800" b="1" i="1" dirty="0">
              <a:solidFill>
                <a:srgbClr val="C00000"/>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startAt="5"/>
            </a:pPr>
            <a:r>
              <a:rPr lang="en-US" sz="1800" b="1" i="1" dirty="0" smtClean="0">
                <a:solidFill>
                  <a:srgbClr val="C00000"/>
                </a:solidFill>
                <a:sym typeface="Times New Roman" panose="02020603050405020304"/>
              </a:rPr>
              <a:t>Working </a:t>
            </a:r>
            <a:r>
              <a:rPr lang="en-US" sz="1800" b="1" i="1" dirty="0">
                <a:solidFill>
                  <a:srgbClr val="C00000"/>
                </a:solidFill>
                <a:sym typeface="Times New Roman" panose="02020603050405020304"/>
              </a:rPr>
              <a:t>Software: </a:t>
            </a:r>
            <a:r>
              <a:rPr lang="en-US" sz="1800" dirty="0">
                <a:solidFill>
                  <a:schemeClr val="dk1"/>
                </a:solidFill>
                <a:sym typeface="Times New Roman" panose="02020603050405020304"/>
              </a:rPr>
              <a:t>Working software is the primary measure of </a:t>
            </a:r>
            <a:r>
              <a:rPr lang="en-US" sz="1800" dirty="0" smtClean="0">
                <a:solidFill>
                  <a:schemeClr val="dk1"/>
                </a:solidFill>
                <a:sym typeface="Times New Roman" panose="02020603050405020304"/>
              </a:rPr>
              <a:t>progress</a:t>
            </a:r>
            <a:endParaRPr lang="en-US" sz="1800" dirty="0"/>
          </a:p>
          <a:p>
            <a:pPr marL="457200" lvl="0" indent="-457200" algn="just" rtl="0">
              <a:spcBef>
                <a:spcPts val="0"/>
              </a:spcBef>
              <a:spcAft>
                <a:spcPts val="0"/>
              </a:spcAft>
              <a:buClr>
                <a:srgbClr val="C00000"/>
              </a:buClr>
              <a:buSzPts val="2200"/>
              <a:buFont typeface="Calibri" panose="020F0502020204030204"/>
              <a:buAutoNum type="arabicPeriod" startAt="5"/>
            </a:pPr>
            <a:endParaRPr lang="en-US" sz="1800" b="1" i="1" dirty="0">
              <a:solidFill>
                <a:srgbClr val="C00000"/>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startAt="5"/>
            </a:pPr>
            <a:r>
              <a:rPr lang="en-US" sz="1800" b="1" i="1" dirty="0" smtClean="0">
                <a:solidFill>
                  <a:srgbClr val="C00000"/>
                </a:solidFill>
                <a:sym typeface="Times New Roman" panose="02020603050405020304"/>
              </a:rPr>
              <a:t>Constant </a:t>
            </a:r>
            <a:r>
              <a:rPr lang="en-US" sz="1800" b="1" i="1" dirty="0">
                <a:solidFill>
                  <a:srgbClr val="C00000"/>
                </a:solidFill>
                <a:sym typeface="Times New Roman" panose="02020603050405020304"/>
              </a:rPr>
              <a:t>Pace: </a:t>
            </a:r>
            <a:r>
              <a:rPr lang="en-US" sz="1800" dirty="0">
                <a:solidFill>
                  <a:schemeClr val="dk1"/>
                </a:solidFill>
                <a:sym typeface="Times New Roman" panose="02020603050405020304"/>
              </a:rPr>
              <a:t>Agile promotes sustainable </a:t>
            </a:r>
            <a:r>
              <a:rPr lang="en-US" sz="1800" dirty="0" smtClean="0">
                <a:solidFill>
                  <a:schemeClr val="dk1"/>
                </a:solidFill>
                <a:sym typeface="Times New Roman" panose="02020603050405020304"/>
              </a:rPr>
              <a:t>development.</a:t>
            </a:r>
            <a:endParaRPr lang="en-US" sz="1800" dirty="0"/>
          </a:p>
          <a:p>
            <a:pPr marL="457200" lvl="0" indent="-457200" algn="just" rtl="0">
              <a:spcBef>
                <a:spcPts val="0"/>
              </a:spcBef>
              <a:spcAft>
                <a:spcPts val="0"/>
              </a:spcAft>
              <a:buClr>
                <a:srgbClr val="C00000"/>
              </a:buClr>
              <a:buSzPts val="2200"/>
              <a:buFont typeface="Calibri" panose="020F0502020204030204"/>
              <a:buAutoNum type="arabicPeriod" startAt="5"/>
            </a:pPr>
            <a:endParaRPr lang="en-US" sz="1800" b="1" i="1" dirty="0">
              <a:solidFill>
                <a:srgbClr val="C00000"/>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startAt="5"/>
            </a:pPr>
            <a:r>
              <a:rPr lang="en-US" sz="1800" b="1" i="1" dirty="0" smtClean="0">
                <a:solidFill>
                  <a:srgbClr val="C00000"/>
                </a:solidFill>
                <a:sym typeface="Times New Roman" panose="02020603050405020304"/>
              </a:rPr>
              <a:t>Good </a:t>
            </a:r>
            <a:r>
              <a:rPr lang="en-US" sz="1800" b="1" i="1" dirty="0">
                <a:solidFill>
                  <a:srgbClr val="C00000"/>
                </a:solidFill>
                <a:sym typeface="Times New Roman" panose="02020603050405020304"/>
              </a:rPr>
              <a:t>Design: </a:t>
            </a:r>
            <a:r>
              <a:rPr lang="en-US" sz="1800" dirty="0">
                <a:solidFill>
                  <a:schemeClr val="dk1"/>
                </a:solidFill>
                <a:sym typeface="Times New Roman" panose="02020603050405020304"/>
              </a:rPr>
              <a:t>Continuous attention to technical excellence and good </a:t>
            </a:r>
            <a:r>
              <a:rPr lang="en-US" sz="1800" dirty="0" smtClean="0">
                <a:solidFill>
                  <a:schemeClr val="dk1"/>
                </a:solidFill>
                <a:sym typeface="Times New Roman" panose="02020603050405020304"/>
              </a:rPr>
              <a:t>design</a:t>
            </a:r>
            <a:endParaRPr lang="en-US" sz="1800" dirty="0" smtClean="0">
              <a:solidFill>
                <a:schemeClr val="dk1"/>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startAt="5"/>
            </a:pPr>
            <a:endParaRPr lang="en-US" sz="1800" dirty="0" smtClean="0">
              <a:solidFill>
                <a:schemeClr val="dk1"/>
              </a:solidFill>
              <a:sym typeface="Times New Roman" panose="02020603050405020304"/>
            </a:endParaRPr>
          </a:p>
          <a:p>
            <a:pPr lvl="0" indent="-457200" algn="just">
              <a:spcBef>
                <a:spcPts val="0"/>
              </a:spcBef>
              <a:buClr>
                <a:srgbClr val="C00000"/>
              </a:buClr>
              <a:buFont typeface="Calibri" panose="020F0502020204030204"/>
              <a:buAutoNum type="arabicPeriod" startAt="10"/>
            </a:pPr>
            <a:r>
              <a:rPr lang="en-US" sz="1800" b="1" i="1" dirty="0">
                <a:solidFill>
                  <a:srgbClr val="C00000"/>
                </a:solidFill>
              </a:rPr>
              <a:t>Simplicity: </a:t>
            </a:r>
            <a:r>
              <a:rPr lang="en-US" sz="1800" dirty="0"/>
              <a:t>The amount of time where work isn’t being done needs to be </a:t>
            </a:r>
            <a:r>
              <a:rPr lang="en-US" sz="1800" dirty="0" smtClean="0"/>
              <a:t>reduced.</a:t>
            </a:r>
            <a:endParaRPr lang="en-US" sz="1800" dirty="0" smtClean="0"/>
          </a:p>
          <a:p>
            <a:pPr lvl="0" indent="-457200" algn="just">
              <a:spcBef>
                <a:spcPts val="0"/>
              </a:spcBef>
              <a:buClr>
                <a:srgbClr val="C00000"/>
              </a:buClr>
              <a:buFont typeface="Calibri" panose="020F0502020204030204"/>
              <a:buAutoNum type="arabicPeriod" startAt="10"/>
            </a:pPr>
            <a:endParaRPr lang="en-US" sz="1800" b="1" i="1" dirty="0">
              <a:solidFill>
                <a:srgbClr val="C00000"/>
              </a:solidFill>
            </a:endParaRPr>
          </a:p>
          <a:p>
            <a:pPr lvl="0" indent="-457200" algn="just">
              <a:spcBef>
                <a:spcPts val="0"/>
              </a:spcBef>
              <a:buClr>
                <a:srgbClr val="C00000"/>
              </a:buClr>
              <a:buFont typeface="Calibri" panose="020F0502020204030204"/>
              <a:buAutoNum type="arabicPeriod" startAt="10"/>
            </a:pPr>
            <a:r>
              <a:rPr lang="en-US" sz="1800" b="1" i="1" dirty="0" smtClean="0">
                <a:solidFill>
                  <a:srgbClr val="C00000"/>
                </a:solidFill>
              </a:rPr>
              <a:t>Self-Organization</a:t>
            </a:r>
            <a:r>
              <a:rPr lang="en-US" sz="1800" b="1" i="1" dirty="0">
                <a:solidFill>
                  <a:srgbClr val="C00000"/>
                </a:solidFill>
              </a:rPr>
              <a:t>: </a:t>
            </a:r>
            <a:r>
              <a:rPr lang="en-US" sz="1800" dirty="0"/>
              <a:t>These types of teams provide the best designs, requirements, and </a:t>
            </a:r>
            <a:r>
              <a:rPr lang="en-US" sz="1800" dirty="0" smtClean="0"/>
              <a:t>architectures.</a:t>
            </a:r>
            <a:endParaRPr lang="en-US" sz="1800" dirty="0" smtClean="0"/>
          </a:p>
          <a:p>
            <a:pPr lvl="0" indent="-457200" algn="just">
              <a:spcBef>
                <a:spcPts val="0"/>
              </a:spcBef>
              <a:buClr>
                <a:srgbClr val="C00000"/>
              </a:buClr>
              <a:buFont typeface="Calibri" panose="020F0502020204030204"/>
              <a:buAutoNum type="arabicPeriod" startAt="10"/>
            </a:pPr>
            <a:endParaRPr lang="en-US" sz="1800" dirty="0" smtClean="0"/>
          </a:p>
          <a:p>
            <a:pPr lvl="0" indent="-457200" algn="just">
              <a:spcBef>
                <a:spcPts val="0"/>
              </a:spcBef>
              <a:buClr>
                <a:srgbClr val="C00000"/>
              </a:buClr>
              <a:buFont typeface="Calibri" panose="020F0502020204030204"/>
              <a:buAutoNum type="arabicPeriod" startAt="10"/>
            </a:pPr>
            <a:r>
              <a:rPr lang="en-US" sz="1800" b="1" i="1" dirty="0" smtClean="0">
                <a:solidFill>
                  <a:srgbClr val="C00000"/>
                </a:solidFill>
              </a:rPr>
              <a:t>Reflect </a:t>
            </a:r>
            <a:r>
              <a:rPr lang="en-US" sz="1800" b="1" i="1" dirty="0">
                <a:solidFill>
                  <a:srgbClr val="C00000"/>
                </a:solidFill>
              </a:rPr>
              <a:t>and Adjust: </a:t>
            </a:r>
            <a:r>
              <a:rPr lang="en-US" sz="1800" dirty="0"/>
              <a:t>Regularly, the team reflects on how to become more effective and adjusts accordingly.</a:t>
            </a:r>
            <a:endParaRPr sz="1800" b="1" dirty="0">
              <a:latin typeface="Times"/>
              <a:ea typeface="Times"/>
              <a:cs typeface="Times"/>
              <a:sym typeface="Times"/>
            </a:endParaRPr>
          </a:p>
        </p:txBody>
      </p:sp>
      <p:sp>
        <p:nvSpPr>
          <p:cNvPr id="104" name="Google Shape;104;p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Key Agile Concepts</a:t>
            </a:r>
            <a:endParaRPr lang="en-US" b="1">
              <a:latin typeface="Times"/>
              <a:ea typeface="Times"/>
              <a:cs typeface="Times"/>
              <a:sym typeface="Times"/>
            </a:endParaRPr>
          </a:p>
        </p:txBody>
      </p:sp>
      <p:sp>
        <p:nvSpPr>
          <p:cNvPr id="117" name="Google Shape;117;p10"/>
          <p:cNvSpPr txBox="1">
            <a:spLocks noGrp="1"/>
          </p:cNvSpPr>
          <p:nvPr>
            <p:ph type="body" idx="1"/>
          </p:nvPr>
        </p:nvSpPr>
        <p:spPr>
          <a:xfrm>
            <a:off x="61912" y="1657352"/>
            <a:ext cx="8915400" cy="4057650"/>
          </a:xfrm>
          <a:prstGeom prst="rect">
            <a:avLst/>
          </a:prstGeom>
          <a:noFill/>
          <a:ln>
            <a:noFill/>
          </a:ln>
        </p:spPr>
        <p:txBody>
          <a:bodyPr spcFirstLastPara="1" wrap="square" lIns="91425" tIns="45700" rIns="91425" bIns="45700" anchor="t" anchorCtr="0">
            <a:noAutofit/>
          </a:bodyPr>
          <a:lstStyle/>
          <a:p>
            <a:pPr marL="457200" lvl="0" indent="-457200" algn="just" rtl="0">
              <a:spcBef>
                <a:spcPts val="0"/>
              </a:spcBef>
              <a:spcAft>
                <a:spcPts val="0"/>
              </a:spcAft>
              <a:buClr>
                <a:srgbClr val="C00000"/>
              </a:buClr>
              <a:buSzPts val="2200"/>
              <a:buFont typeface="Calibri" panose="020F0502020204030204"/>
              <a:buAutoNum type="arabicPeriod"/>
            </a:pPr>
            <a:r>
              <a:rPr lang="en-US" sz="1800" b="1" i="1" dirty="0">
                <a:solidFill>
                  <a:srgbClr val="C00000"/>
                </a:solidFill>
                <a:sym typeface="Times New Roman" panose="02020603050405020304"/>
              </a:rPr>
              <a:t>User Stories: </a:t>
            </a:r>
            <a:r>
              <a:rPr lang="en-US" sz="1800" dirty="0">
                <a:solidFill>
                  <a:schemeClr val="dk1"/>
                </a:solidFill>
                <a:sym typeface="Times New Roman" panose="02020603050405020304"/>
              </a:rPr>
              <a:t>The team divides the work into functional units known as "user stories" in consultation with the client or product owner. Each user story must add something valuable to the final </a:t>
            </a:r>
            <a:r>
              <a:rPr lang="en-US" sz="1800" dirty="0" smtClean="0">
                <a:solidFill>
                  <a:schemeClr val="dk1"/>
                </a:solidFill>
                <a:sym typeface="Times New Roman" panose="02020603050405020304"/>
              </a:rPr>
              <a:t>product.</a:t>
            </a:r>
            <a:endParaRPr lang="en-US" sz="1800" dirty="0"/>
          </a:p>
          <a:p>
            <a:pPr marL="457200" lvl="0" indent="-457200" algn="just" rtl="0">
              <a:spcBef>
                <a:spcPts val="0"/>
              </a:spcBef>
              <a:spcAft>
                <a:spcPts val="0"/>
              </a:spcAft>
              <a:buClr>
                <a:srgbClr val="C00000"/>
              </a:buClr>
              <a:buSzPts val="2200"/>
              <a:buFont typeface="Calibri" panose="020F0502020204030204"/>
              <a:buAutoNum type="arabicPeriod"/>
            </a:pPr>
            <a:endParaRPr lang="en-US" sz="1800" b="1" i="1" dirty="0">
              <a:solidFill>
                <a:srgbClr val="C00000"/>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a:pPr>
            <a:r>
              <a:rPr lang="en-US" sz="1800" b="1" i="1" dirty="0" smtClean="0">
                <a:solidFill>
                  <a:srgbClr val="C00000"/>
                </a:solidFill>
                <a:sym typeface="Times New Roman" panose="02020603050405020304"/>
              </a:rPr>
              <a:t>Daily </a:t>
            </a:r>
            <a:r>
              <a:rPr lang="en-US" sz="1800" b="1" i="1" dirty="0">
                <a:solidFill>
                  <a:srgbClr val="C00000"/>
                </a:solidFill>
                <a:sym typeface="Times New Roman" panose="02020603050405020304"/>
              </a:rPr>
              <a:t>Meeting: </a:t>
            </a:r>
            <a:r>
              <a:rPr lang="en-US" sz="1800" dirty="0">
                <a:solidFill>
                  <a:schemeClr val="dk1"/>
                </a:solidFill>
                <a:sym typeface="Times New Roman" panose="02020603050405020304"/>
              </a:rPr>
              <a:t>The team meets every day at the same time to update everyone on the information necessary for </a:t>
            </a:r>
            <a:r>
              <a:rPr lang="en-US" sz="1800" dirty="0" smtClean="0">
                <a:solidFill>
                  <a:schemeClr val="dk1"/>
                </a:solidFill>
                <a:sym typeface="Times New Roman" panose="02020603050405020304"/>
              </a:rPr>
              <a:t>coordination</a:t>
            </a:r>
            <a:endParaRPr lang="en-US" sz="1800" dirty="0"/>
          </a:p>
          <a:p>
            <a:pPr marL="457200" lvl="0" indent="-457200" algn="just" rtl="0">
              <a:spcBef>
                <a:spcPts val="0"/>
              </a:spcBef>
              <a:spcAft>
                <a:spcPts val="0"/>
              </a:spcAft>
              <a:buClr>
                <a:srgbClr val="C00000"/>
              </a:buClr>
              <a:buSzPts val="2200"/>
              <a:buFont typeface="Calibri" panose="020F0502020204030204"/>
              <a:buAutoNum type="arabicPeriod"/>
            </a:pPr>
            <a:endParaRPr lang="en-US" sz="1800" b="1" i="1" dirty="0">
              <a:solidFill>
                <a:srgbClr val="C00000"/>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a:pPr>
            <a:r>
              <a:rPr lang="en-US" sz="1800" b="1" i="1" dirty="0" smtClean="0">
                <a:solidFill>
                  <a:srgbClr val="C00000"/>
                </a:solidFill>
                <a:sym typeface="Times New Roman" panose="02020603050405020304"/>
              </a:rPr>
              <a:t>Personas</a:t>
            </a:r>
            <a:r>
              <a:rPr lang="en-US" sz="1800" b="1" i="1" dirty="0">
                <a:solidFill>
                  <a:srgbClr val="C00000"/>
                </a:solidFill>
                <a:sym typeface="Times New Roman" panose="02020603050405020304"/>
              </a:rPr>
              <a:t>:</a:t>
            </a:r>
            <a:r>
              <a:rPr lang="en-US" sz="1800" dirty="0">
                <a:solidFill>
                  <a:schemeClr val="dk1"/>
                </a:solidFill>
                <a:sym typeface="Times New Roman" panose="02020603050405020304"/>
              </a:rPr>
              <a:t> When the project requires it, the team creates in-depth, fabricated biographies of hypothetical users of the intended </a:t>
            </a:r>
            <a:r>
              <a:rPr lang="en-US" sz="1800" dirty="0" smtClean="0">
                <a:solidFill>
                  <a:schemeClr val="dk1"/>
                </a:solidFill>
                <a:sym typeface="Times New Roman" panose="02020603050405020304"/>
              </a:rPr>
              <a:t>product.</a:t>
            </a:r>
            <a:endParaRPr lang="en-US" sz="1800" dirty="0"/>
          </a:p>
          <a:p>
            <a:pPr marL="457200" lvl="0" indent="-457200" algn="just" rtl="0">
              <a:spcBef>
                <a:spcPts val="0"/>
              </a:spcBef>
              <a:spcAft>
                <a:spcPts val="0"/>
              </a:spcAft>
              <a:buClr>
                <a:srgbClr val="C00000"/>
              </a:buClr>
              <a:buSzPts val="2200"/>
              <a:buFont typeface="Calibri" panose="020F0502020204030204"/>
              <a:buAutoNum type="arabicPeriod"/>
            </a:pPr>
            <a:endParaRPr lang="en-US" sz="1800" b="1" i="1" dirty="0">
              <a:solidFill>
                <a:srgbClr val="C00000"/>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a:pPr>
            <a:r>
              <a:rPr lang="en-US" sz="1800" b="1" i="1" dirty="0" smtClean="0">
                <a:solidFill>
                  <a:srgbClr val="C00000"/>
                </a:solidFill>
                <a:sym typeface="Times New Roman" panose="02020603050405020304"/>
              </a:rPr>
              <a:t>Team</a:t>
            </a:r>
            <a:r>
              <a:rPr lang="en-US" sz="1800" b="1" i="1" dirty="0">
                <a:solidFill>
                  <a:srgbClr val="C00000"/>
                </a:solidFill>
                <a:sym typeface="Times New Roman" panose="02020603050405020304"/>
              </a:rPr>
              <a:t>: </a:t>
            </a:r>
            <a:r>
              <a:rPr lang="en-US" sz="1800" dirty="0">
                <a:solidFill>
                  <a:schemeClr val="dk1"/>
                </a:solidFill>
                <a:sym typeface="Times New Roman" panose="02020603050405020304"/>
              </a:rPr>
              <a:t>A small group of individuals assigned to the same project or effort, almost all of whom work full-time, is referred to as a "team" in the Agile context.</a:t>
            </a:r>
            <a:br>
              <a:rPr lang="en-US" sz="1800" dirty="0"/>
            </a:br>
            <a:endParaRPr sz="1800" b="1" dirty="0">
              <a:latin typeface="Times"/>
              <a:ea typeface="Times"/>
              <a:cs typeface="Times"/>
              <a:sym typeface="Times"/>
            </a:endParaRPr>
          </a:p>
        </p:txBody>
      </p:sp>
      <p:sp>
        <p:nvSpPr>
          <p:cNvPr id="118" name="Google Shape;118;p1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Key Agile Concepts</a:t>
            </a:r>
            <a:endParaRPr lang="en-US" b="1">
              <a:latin typeface="Times"/>
              <a:ea typeface="Times"/>
              <a:cs typeface="Times"/>
              <a:sym typeface="Times"/>
            </a:endParaRPr>
          </a:p>
        </p:txBody>
      </p:sp>
      <p:sp>
        <p:nvSpPr>
          <p:cNvPr id="124" name="Google Shape;124;p11"/>
          <p:cNvSpPr txBox="1">
            <a:spLocks noGrp="1"/>
          </p:cNvSpPr>
          <p:nvPr>
            <p:ph type="body" idx="1"/>
          </p:nvPr>
        </p:nvSpPr>
        <p:spPr>
          <a:xfrm>
            <a:off x="152400" y="1676400"/>
            <a:ext cx="8362950" cy="3352800"/>
          </a:xfrm>
          <a:prstGeom prst="rect">
            <a:avLst/>
          </a:prstGeom>
          <a:noFill/>
          <a:ln>
            <a:noFill/>
          </a:ln>
        </p:spPr>
        <p:txBody>
          <a:bodyPr spcFirstLastPara="1" wrap="square" lIns="91425" tIns="45700" rIns="91425" bIns="45700" anchor="t" anchorCtr="0">
            <a:noAutofit/>
          </a:bodyPr>
          <a:lstStyle/>
          <a:p>
            <a:pPr marL="457200" lvl="0" indent="-457200" algn="just" rtl="0">
              <a:spcBef>
                <a:spcPts val="0"/>
              </a:spcBef>
              <a:spcAft>
                <a:spcPts val="0"/>
              </a:spcAft>
              <a:buClr>
                <a:srgbClr val="C00000"/>
              </a:buClr>
              <a:buSzPts val="2200"/>
              <a:buFont typeface="Calibri" panose="020F0502020204030204"/>
              <a:buAutoNum type="arabicPeriod" startAt="5"/>
            </a:pPr>
            <a:r>
              <a:rPr lang="en-US" sz="1800" b="1" i="1" dirty="0">
                <a:solidFill>
                  <a:srgbClr val="C00000"/>
                </a:solidFill>
                <a:sym typeface="Times New Roman" panose="02020603050405020304"/>
              </a:rPr>
              <a:t>Incremental Development: </a:t>
            </a:r>
            <a:r>
              <a:rPr lang="en-US" sz="1800" dirty="0">
                <a:solidFill>
                  <a:schemeClr val="dk1"/>
                </a:solidFill>
                <a:sym typeface="Times New Roman" panose="02020603050405020304"/>
              </a:rPr>
              <a:t>Agile teams prefer to use an incremental development strategy, which in an Agile setting means that each iteration of the product improves on the one before it by including user-visible </a:t>
            </a:r>
            <a:r>
              <a:rPr lang="en-US" sz="1800" dirty="0" smtClean="0">
                <a:solidFill>
                  <a:schemeClr val="dk1"/>
                </a:solidFill>
                <a:sym typeface="Times New Roman" panose="02020603050405020304"/>
              </a:rPr>
              <a:t>functionality.</a:t>
            </a:r>
            <a:endParaRPr lang="en-US" sz="1800" dirty="0"/>
          </a:p>
          <a:p>
            <a:pPr marL="457200" lvl="0" indent="-457200" algn="just" rtl="0">
              <a:spcBef>
                <a:spcPts val="0"/>
              </a:spcBef>
              <a:spcAft>
                <a:spcPts val="0"/>
              </a:spcAft>
              <a:buClr>
                <a:srgbClr val="C00000"/>
              </a:buClr>
              <a:buSzPts val="2200"/>
              <a:buFont typeface="Calibri" panose="020F0502020204030204"/>
              <a:buAutoNum type="arabicPeriod" startAt="5"/>
            </a:pPr>
            <a:endParaRPr lang="en-US" sz="1800" b="1" i="1" dirty="0">
              <a:solidFill>
                <a:srgbClr val="C00000"/>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startAt="5"/>
            </a:pPr>
            <a:r>
              <a:rPr lang="en-US" sz="1800" b="1" i="1" dirty="0" smtClean="0">
                <a:solidFill>
                  <a:srgbClr val="C00000"/>
                </a:solidFill>
                <a:sym typeface="Times New Roman" panose="02020603050405020304"/>
              </a:rPr>
              <a:t>Iterative </a:t>
            </a:r>
            <a:r>
              <a:rPr lang="en-US" sz="1800" b="1" i="1" dirty="0">
                <a:solidFill>
                  <a:srgbClr val="C00000"/>
                </a:solidFill>
                <a:sym typeface="Times New Roman" panose="02020603050405020304"/>
              </a:rPr>
              <a:t>development: </a:t>
            </a:r>
            <a:r>
              <a:rPr lang="en-US" sz="1800" dirty="0">
                <a:solidFill>
                  <a:schemeClr val="dk1"/>
                </a:solidFill>
                <a:sym typeface="Times New Roman" panose="02020603050405020304"/>
              </a:rPr>
              <a:t>Agile projects intentionally permit "repeating" software development activities and the potential for "revisiting" the same work products, known as iterative </a:t>
            </a:r>
            <a:r>
              <a:rPr lang="en-US" sz="1800" dirty="0" smtClean="0">
                <a:solidFill>
                  <a:schemeClr val="dk1"/>
                </a:solidFill>
                <a:sym typeface="Times New Roman" panose="02020603050405020304"/>
              </a:rPr>
              <a:t>development.</a:t>
            </a:r>
            <a:endParaRPr lang="en-US" sz="1800" dirty="0"/>
          </a:p>
          <a:p>
            <a:pPr marL="457200" lvl="0" indent="-457200" algn="just" rtl="0">
              <a:spcBef>
                <a:spcPts val="0"/>
              </a:spcBef>
              <a:spcAft>
                <a:spcPts val="0"/>
              </a:spcAft>
              <a:buClr>
                <a:srgbClr val="C00000"/>
              </a:buClr>
              <a:buSzPts val="2200"/>
              <a:buFont typeface="Calibri" panose="020F0502020204030204"/>
              <a:buAutoNum type="arabicPeriod" startAt="5"/>
            </a:pPr>
            <a:endParaRPr lang="en-US" sz="1800" b="1" i="1" dirty="0">
              <a:solidFill>
                <a:srgbClr val="C00000"/>
              </a:solidFill>
              <a:sym typeface="Times New Roman" panose="02020603050405020304"/>
            </a:endParaRPr>
          </a:p>
          <a:p>
            <a:pPr marL="457200" lvl="0" indent="-457200" algn="just" rtl="0">
              <a:spcBef>
                <a:spcPts val="0"/>
              </a:spcBef>
              <a:spcAft>
                <a:spcPts val="0"/>
              </a:spcAft>
              <a:buClr>
                <a:srgbClr val="C00000"/>
              </a:buClr>
              <a:buSzPts val="2200"/>
              <a:buFont typeface="Calibri" panose="020F0502020204030204"/>
              <a:buAutoNum type="arabicPeriod" startAt="5"/>
            </a:pPr>
            <a:r>
              <a:rPr lang="en-US" sz="1800" b="1" i="1" dirty="0" smtClean="0">
                <a:solidFill>
                  <a:srgbClr val="C00000"/>
                </a:solidFill>
                <a:sym typeface="Times New Roman" panose="02020603050405020304"/>
              </a:rPr>
              <a:t>Milestone </a:t>
            </a:r>
            <a:r>
              <a:rPr lang="en-US" sz="1800" b="1" i="1" dirty="0">
                <a:solidFill>
                  <a:srgbClr val="C00000"/>
                </a:solidFill>
                <a:sym typeface="Times New Roman" panose="02020603050405020304"/>
              </a:rPr>
              <a:t>Retrospective: </a:t>
            </a:r>
            <a:r>
              <a:rPr lang="en-US" sz="1800" dirty="0">
                <a:solidFill>
                  <a:schemeClr val="dk1"/>
                </a:solidFill>
                <a:sym typeface="Times New Roman" panose="02020603050405020304"/>
              </a:rPr>
              <a:t>After a project has been running for a while, the team dedicates one to three days to examine the key moments.</a:t>
            </a:r>
            <a:endParaRPr sz="1800" dirty="0"/>
          </a:p>
          <a:p>
            <a:pPr marL="342900" lvl="0" indent="-203200" algn="just" rtl="0">
              <a:spcBef>
                <a:spcPts val="440"/>
              </a:spcBef>
              <a:spcAft>
                <a:spcPts val="0"/>
              </a:spcAft>
              <a:buClr>
                <a:schemeClr val="dk1"/>
              </a:buClr>
              <a:buSzPts val="2200"/>
              <a:buNone/>
            </a:pPr>
            <a:endParaRPr sz="1800" dirty="0"/>
          </a:p>
          <a:p>
            <a:pPr marL="342900" lvl="0" indent="-203200" algn="just" rtl="0">
              <a:spcBef>
                <a:spcPts val="440"/>
              </a:spcBef>
              <a:spcAft>
                <a:spcPts val="0"/>
              </a:spcAft>
              <a:buClr>
                <a:schemeClr val="dk1"/>
              </a:buClr>
              <a:buSzPts val="2200"/>
              <a:buNone/>
            </a:pPr>
            <a:endParaRPr sz="1800" dirty="0"/>
          </a:p>
          <a:p>
            <a:pPr marL="457200" lvl="1" indent="0" algn="just" rtl="0">
              <a:spcBef>
                <a:spcPts val="440"/>
              </a:spcBef>
              <a:spcAft>
                <a:spcPts val="0"/>
              </a:spcAft>
              <a:buClr>
                <a:schemeClr val="dk1"/>
              </a:buClr>
              <a:buSzPts val="2200"/>
              <a:buNone/>
            </a:pPr>
            <a:br>
              <a:rPr lang="en-US" sz="1800" dirty="0"/>
            </a:br>
            <a:r>
              <a:rPr lang="en-US" sz="1800" dirty="0"/>
              <a:t> </a:t>
            </a:r>
            <a:br>
              <a:rPr lang="en-US" sz="1800" dirty="0"/>
            </a:br>
            <a:endParaRPr sz="1800" b="1" dirty="0">
              <a:latin typeface="Times"/>
              <a:ea typeface="Times"/>
              <a:cs typeface="Times"/>
              <a:sym typeface="Times"/>
            </a:endParaRPr>
          </a:p>
        </p:txBody>
      </p:sp>
      <p:sp>
        <p:nvSpPr>
          <p:cNvPr id="125" name="Google Shape;125;p1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Agile Development</a:t>
            </a:r>
            <a:endParaRPr lang="en-US" b="1">
              <a:latin typeface="Times"/>
              <a:ea typeface="Times"/>
              <a:cs typeface="Times"/>
              <a:sym typeface="Times"/>
            </a:endParaRPr>
          </a:p>
        </p:txBody>
      </p:sp>
      <p:sp>
        <p:nvSpPr>
          <p:cNvPr id="131" name="Google Shape;131;p12"/>
          <p:cNvSpPr txBox="1">
            <a:spLocks noGrp="1"/>
          </p:cNvSpPr>
          <p:nvPr>
            <p:ph type="body" idx="1"/>
          </p:nvPr>
        </p:nvSpPr>
        <p:spPr>
          <a:xfrm>
            <a:off x="457200" y="955675"/>
            <a:ext cx="8229600" cy="52165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200"/>
              <a:buChar char="•"/>
            </a:pPr>
            <a:r>
              <a:rPr lang="en-US" sz="1800" b="1" i="1" dirty="0">
                <a:solidFill>
                  <a:srgbClr val="C00000"/>
                </a:solidFill>
              </a:rPr>
              <a:t>Advantages:</a:t>
            </a:r>
            <a:endParaRPr sz="1800" dirty="0"/>
          </a:p>
          <a:p>
            <a:pPr marL="742950" lvl="1" indent="-285750" algn="l" rtl="0">
              <a:spcBef>
                <a:spcPts val="440"/>
              </a:spcBef>
              <a:spcAft>
                <a:spcPts val="0"/>
              </a:spcAft>
              <a:buClr>
                <a:schemeClr val="dk1"/>
              </a:buClr>
              <a:buSzPts val="2200"/>
              <a:buChar char="–"/>
            </a:pPr>
            <a:r>
              <a:rPr lang="en-US" sz="1800" dirty="0"/>
              <a:t>Frequent  Delivery</a:t>
            </a:r>
            <a:endParaRPr sz="1800" dirty="0"/>
          </a:p>
          <a:p>
            <a:pPr marL="742950" lvl="1" indent="-285750" algn="l" rtl="0">
              <a:spcBef>
                <a:spcPts val="440"/>
              </a:spcBef>
              <a:spcAft>
                <a:spcPts val="0"/>
              </a:spcAft>
              <a:buClr>
                <a:schemeClr val="dk1"/>
              </a:buClr>
              <a:buSzPts val="2200"/>
              <a:buChar char="–"/>
            </a:pPr>
            <a:r>
              <a:rPr lang="en-US" sz="1800" dirty="0"/>
              <a:t>Face to face communication</a:t>
            </a:r>
            <a:endParaRPr sz="1800" dirty="0"/>
          </a:p>
          <a:p>
            <a:pPr marL="742950" lvl="1" indent="-285750" algn="l" rtl="0">
              <a:spcBef>
                <a:spcPts val="440"/>
              </a:spcBef>
              <a:spcAft>
                <a:spcPts val="0"/>
              </a:spcAft>
              <a:buClr>
                <a:schemeClr val="dk1"/>
              </a:buClr>
              <a:buSzPts val="2200"/>
              <a:buChar char="–"/>
            </a:pPr>
            <a:r>
              <a:rPr lang="en-US" sz="1800" dirty="0"/>
              <a:t>Changes</a:t>
            </a:r>
            <a:endParaRPr sz="1800" dirty="0"/>
          </a:p>
          <a:p>
            <a:pPr marL="742950" lvl="1" indent="-285750" algn="l" rtl="0">
              <a:spcBef>
                <a:spcPts val="440"/>
              </a:spcBef>
              <a:spcAft>
                <a:spcPts val="0"/>
              </a:spcAft>
              <a:buClr>
                <a:schemeClr val="dk1"/>
              </a:buClr>
              <a:buSzPts val="2200"/>
              <a:buChar char="–"/>
            </a:pPr>
            <a:r>
              <a:rPr lang="en-US" sz="1800" dirty="0"/>
              <a:t>Time</a:t>
            </a:r>
            <a:endParaRPr sz="1800" dirty="0"/>
          </a:p>
          <a:p>
            <a:pPr marL="342900" marR="0" lvl="0" indent="-203200" algn="l" rtl="0">
              <a:lnSpc>
                <a:spcPct val="100000"/>
              </a:lnSpc>
              <a:spcBef>
                <a:spcPts val="0"/>
              </a:spcBef>
              <a:spcAft>
                <a:spcPts val="0"/>
              </a:spcAft>
              <a:buClr>
                <a:schemeClr val="dk1"/>
              </a:buClr>
              <a:buSzPts val="2200"/>
              <a:buFont typeface="Arial" panose="020B0604020202020204"/>
              <a:buNone/>
            </a:pPr>
            <a:endParaRPr sz="1800" b="0" i="0" u="none" strike="noStrike" cap="none" dirty="0">
              <a:solidFill>
                <a:schemeClr val="dk1"/>
              </a:solidFill>
              <a:sym typeface="Times New Roman" panose="02020603050405020304"/>
            </a:endParaRPr>
          </a:p>
          <a:p>
            <a:pPr marL="342900" marR="0" lvl="0" indent="-203200" algn="l" rtl="0">
              <a:lnSpc>
                <a:spcPct val="100000"/>
              </a:lnSpc>
              <a:spcBef>
                <a:spcPts val="0"/>
              </a:spcBef>
              <a:spcAft>
                <a:spcPts val="0"/>
              </a:spcAft>
              <a:buClr>
                <a:schemeClr val="dk1"/>
              </a:buClr>
              <a:buSzPts val="2200"/>
              <a:buFont typeface="Arial" panose="020B0604020202020204"/>
              <a:buNone/>
            </a:pPr>
            <a:endParaRPr sz="1800" dirty="0">
              <a:solidFill>
                <a:schemeClr val="dk1"/>
              </a:solidFill>
              <a:sym typeface="Times New Roman" panose="02020603050405020304"/>
            </a:endParaRPr>
          </a:p>
          <a:p>
            <a:pPr marL="342900" marR="0" lvl="0" indent="-342900" algn="l" rtl="0">
              <a:lnSpc>
                <a:spcPct val="100000"/>
              </a:lnSpc>
              <a:spcBef>
                <a:spcPts val="0"/>
              </a:spcBef>
              <a:spcAft>
                <a:spcPts val="0"/>
              </a:spcAft>
              <a:buClr>
                <a:schemeClr val="dk1"/>
              </a:buClr>
              <a:buSzPts val="2200"/>
              <a:buFont typeface="Arial" panose="020B0604020202020204"/>
              <a:buChar char="•"/>
            </a:pPr>
            <a:r>
              <a:rPr lang="en-US" sz="1800" b="1" i="1" u="none" strike="noStrike" cap="none" dirty="0">
                <a:solidFill>
                  <a:srgbClr val="C00000"/>
                </a:solidFill>
                <a:sym typeface="Times New Roman" panose="02020603050405020304"/>
              </a:rPr>
              <a:t>Disadvantages:</a:t>
            </a:r>
            <a:endParaRPr sz="1800" b="1" i="1" dirty="0">
              <a:solidFill>
                <a:srgbClr val="C00000"/>
              </a:solidFill>
            </a:endParaRPr>
          </a:p>
          <a:p>
            <a:pPr marL="742950" marR="0" lvl="1" indent="-285750" algn="l" rtl="0">
              <a:lnSpc>
                <a:spcPct val="100000"/>
              </a:lnSpc>
              <a:spcBef>
                <a:spcPts val="440"/>
              </a:spcBef>
              <a:spcAft>
                <a:spcPts val="0"/>
              </a:spcAft>
              <a:buClr>
                <a:schemeClr val="dk1"/>
              </a:buClr>
              <a:buSzPts val="2200"/>
              <a:buFont typeface="Arial" panose="020B0604020202020204"/>
              <a:buChar char="–"/>
            </a:pPr>
            <a:r>
              <a:rPr lang="en-US" sz="1800" b="0" i="0" u="none" strike="noStrike" cap="none" dirty="0">
                <a:solidFill>
                  <a:schemeClr val="dk1"/>
                </a:solidFill>
                <a:sym typeface="Times New Roman" panose="02020603050405020304"/>
              </a:rPr>
              <a:t>Less Documentation</a:t>
            </a:r>
            <a:endParaRPr sz="1800" dirty="0"/>
          </a:p>
          <a:p>
            <a:pPr marL="742950" marR="0" lvl="1" indent="-285750" algn="l" rtl="0">
              <a:lnSpc>
                <a:spcPct val="100000"/>
              </a:lnSpc>
              <a:spcBef>
                <a:spcPts val="440"/>
              </a:spcBef>
              <a:spcAft>
                <a:spcPts val="0"/>
              </a:spcAft>
              <a:buClr>
                <a:schemeClr val="dk1"/>
              </a:buClr>
              <a:buSzPts val="2200"/>
              <a:buFont typeface="Arial" panose="020B0604020202020204"/>
              <a:buChar char="–"/>
            </a:pPr>
            <a:r>
              <a:rPr lang="en-US" sz="1800" b="0" i="0" u="none" strike="noStrike" cap="none" dirty="0">
                <a:solidFill>
                  <a:schemeClr val="dk1"/>
                </a:solidFill>
                <a:sym typeface="Times New Roman" panose="02020603050405020304"/>
              </a:rPr>
              <a:t>Maintenance problem</a:t>
            </a:r>
            <a:endParaRPr sz="1800" dirty="0"/>
          </a:p>
          <a:p>
            <a:pPr marL="342900" lvl="0" indent="-190500" algn="just" rtl="0">
              <a:spcBef>
                <a:spcPts val="480"/>
              </a:spcBef>
              <a:spcAft>
                <a:spcPts val="0"/>
              </a:spcAft>
              <a:buClr>
                <a:schemeClr val="dk1"/>
              </a:buClr>
              <a:buSzPts val="2400"/>
              <a:buNone/>
            </a:pPr>
            <a:endParaRPr sz="1800" dirty="0"/>
          </a:p>
        </p:txBody>
      </p:sp>
      <p:sp>
        <p:nvSpPr>
          <p:cNvPr id="132" name="Google Shape;132;p1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dirty="0">
                <a:latin typeface="Times"/>
                <a:ea typeface="Times"/>
                <a:cs typeface="Times"/>
                <a:sym typeface="Times"/>
              </a:rPr>
              <a:t>Adaptive Software Development</a:t>
            </a:r>
            <a:endParaRPr dirty="0"/>
          </a:p>
        </p:txBody>
      </p:sp>
      <p:sp>
        <p:nvSpPr>
          <p:cNvPr id="138" name="Google Shape;138;p13"/>
          <p:cNvSpPr txBox="1">
            <a:spLocks noGrp="1"/>
          </p:cNvSpPr>
          <p:nvPr>
            <p:ph type="body" idx="1"/>
          </p:nvPr>
        </p:nvSpPr>
        <p:spPr>
          <a:xfrm>
            <a:off x="457200" y="1260475"/>
            <a:ext cx="8229600" cy="4073525"/>
          </a:xfrm>
          <a:prstGeom prst="rect">
            <a:avLst/>
          </a:prstGeom>
          <a:noFill/>
          <a:ln>
            <a:noFill/>
          </a:ln>
        </p:spPr>
        <p:txBody>
          <a:bodyPr spcFirstLastPara="1" wrap="square" lIns="91425" tIns="45700" rIns="91425" bIns="45700" anchor="t" anchorCtr="0">
            <a:noAutofit/>
          </a:bodyPr>
          <a:lstStyle/>
          <a:p>
            <a:pPr marL="285750" lvl="0" indent="-285750" algn="just" rtl="0">
              <a:lnSpc>
                <a:spcPct val="150000"/>
              </a:lnSpc>
              <a:spcBef>
                <a:spcPts val="0"/>
              </a:spcBef>
              <a:spcAft>
                <a:spcPts val="0"/>
              </a:spcAft>
              <a:buClr>
                <a:schemeClr val="dk1"/>
              </a:buClr>
              <a:buSzPts val="2000"/>
              <a:buChar char="•"/>
            </a:pPr>
            <a:r>
              <a:rPr lang="en-US" sz="1800" dirty="0"/>
              <a:t>Adaptive Software Development (ASD) is one of the earliest agile methodologies. </a:t>
            </a:r>
            <a:endParaRPr sz="1800" dirty="0"/>
          </a:p>
          <a:p>
            <a:pPr marL="285750" lvl="0" indent="-285750" algn="just" rtl="0">
              <a:lnSpc>
                <a:spcPct val="150000"/>
              </a:lnSpc>
              <a:spcBef>
                <a:spcPts val="400"/>
              </a:spcBef>
              <a:spcAft>
                <a:spcPts val="0"/>
              </a:spcAft>
              <a:buClr>
                <a:schemeClr val="dk1"/>
              </a:buClr>
              <a:buSzPts val="2000"/>
              <a:buChar char="•"/>
            </a:pPr>
            <a:r>
              <a:rPr lang="en-US" sz="1800" dirty="0">
                <a:sym typeface="Times New Roman" panose="02020603050405020304"/>
              </a:rPr>
              <a:t>ASD is a development methodology that encourages continuous learning throughout the software development project. </a:t>
            </a:r>
            <a:endParaRPr sz="1800" dirty="0"/>
          </a:p>
          <a:p>
            <a:pPr marL="285750" lvl="0" indent="-285750" algn="just" rtl="0">
              <a:lnSpc>
                <a:spcPct val="150000"/>
              </a:lnSpc>
              <a:spcBef>
                <a:spcPts val="400"/>
              </a:spcBef>
              <a:spcAft>
                <a:spcPts val="0"/>
              </a:spcAft>
              <a:buClr>
                <a:schemeClr val="dk1"/>
              </a:buClr>
              <a:buSzPts val="2000"/>
              <a:buFont typeface="Arial" panose="020B0604020202020204"/>
              <a:buChar char="•"/>
            </a:pPr>
            <a:r>
              <a:rPr lang="en-US" sz="1800" dirty="0">
                <a:sym typeface="Times New Roman" panose="02020603050405020304"/>
              </a:rPr>
              <a:t>ASD strongly advocates a software development process that is fun to be in as well as natural or organic. It </a:t>
            </a:r>
            <a:r>
              <a:rPr lang="en-US" sz="1800" dirty="0"/>
              <a:t>focuses on human collaboration and self-organization</a:t>
            </a:r>
            <a:endParaRPr sz="1800" dirty="0">
              <a:sym typeface="Times New Roman" panose="02020603050405020304"/>
            </a:endParaRPr>
          </a:p>
          <a:p>
            <a:pPr marL="285750" lvl="0" indent="-285750" algn="just" rtl="0">
              <a:lnSpc>
                <a:spcPct val="150000"/>
              </a:lnSpc>
              <a:spcBef>
                <a:spcPts val="400"/>
              </a:spcBef>
              <a:spcAft>
                <a:spcPts val="0"/>
              </a:spcAft>
              <a:buClr>
                <a:schemeClr val="dk1"/>
              </a:buClr>
              <a:buSzPts val="2000"/>
              <a:buFont typeface="Arial" panose="020B0604020202020204"/>
              <a:buChar char="•"/>
            </a:pPr>
            <a:r>
              <a:rPr lang="en-US" sz="1800" dirty="0">
                <a:sym typeface="Times New Roman" panose="02020603050405020304"/>
              </a:rPr>
              <a:t>ASD is a method to build complex software and system. </a:t>
            </a:r>
            <a:endParaRPr sz="1800" dirty="0"/>
          </a:p>
        </p:txBody>
      </p:sp>
      <p:sp>
        <p:nvSpPr>
          <p:cNvPr id="139" name="Google Shape;139;p1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ASD Life Cycle</a:t>
            </a:r>
            <a:endParaRPr lang="en-US" b="1">
              <a:latin typeface="Times"/>
              <a:ea typeface="Times"/>
              <a:cs typeface="Times"/>
              <a:sym typeface="Times"/>
            </a:endParaRPr>
          </a:p>
        </p:txBody>
      </p:sp>
      <p:sp>
        <p:nvSpPr>
          <p:cNvPr id="145" name="Google Shape;145;p1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46" name="Google Shape;146;p14"/>
          <p:cNvPicPr preferRelativeResize="0"/>
          <p:nvPr/>
        </p:nvPicPr>
        <p:blipFill rotWithShape="1">
          <a:blip r:embed="rId1"/>
          <a:srcRect/>
          <a:stretch>
            <a:fillRect/>
          </a:stretch>
        </p:blipFill>
        <p:spPr>
          <a:xfrm>
            <a:off x="609600" y="990600"/>
            <a:ext cx="7832835" cy="5029200"/>
          </a:xfrm>
          <a:prstGeom prst="rect">
            <a:avLst/>
          </a:prstGeom>
          <a:noFill/>
          <a:ln>
            <a:noFill/>
          </a:ln>
        </p:spPr>
      </p:pic>
      <p:sp>
        <p:nvSpPr>
          <p:cNvPr id="147" name="Google Shape;147;p14"/>
          <p:cNvSpPr txBox="1"/>
          <p:nvPr/>
        </p:nvSpPr>
        <p:spPr>
          <a:xfrm>
            <a:off x="3124199" y="6186100"/>
            <a:ext cx="2333625"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dirty="0">
                <a:solidFill>
                  <a:schemeClr val="dk1"/>
                </a:solidFill>
                <a:latin typeface="Times New Roman" panose="02020603050405020304" charset="0"/>
                <a:cs typeface="Times New Roman" panose="02020603050405020304" charset="0"/>
                <a:sym typeface="Arial" panose="020B0604020202020204"/>
              </a:rPr>
              <a:t>Figure 5: ASD Life Cycle</a:t>
            </a:r>
            <a:endParaRPr b="1" dirty="0">
              <a:solidFill>
                <a:schemeClr val="dk1"/>
              </a:solidFill>
              <a:latin typeface="Times New Roman" panose="02020603050405020304" charset="0"/>
              <a:cs typeface="Times New Roman" panose="02020603050405020304" charset="0"/>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ASD Life Cycle - Speculation</a:t>
            </a:r>
            <a:endParaRPr lang="en-US" sz="2800" b="1">
              <a:latin typeface="Times"/>
              <a:ea typeface="Times"/>
              <a:cs typeface="Times"/>
              <a:sym typeface="Times"/>
            </a:endParaRPr>
          </a:p>
        </p:txBody>
      </p:sp>
      <p:sp>
        <p:nvSpPr>
          <p:cNvPr id="153" name="Google Shape;153;p1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54" name="Google Shape;154;p15"/>
          <p:cNvSpPr/>
          <p:nvPr/>
        </p:nvSpPr>
        <p:spPr>
          <a:xfrm>
            <a:off x="76200" y="1052185"/>
            <a:ext cx="8839200" cy="544405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C00000"/>
              </a:buClr>
              <a:buSzPts val="1800"/>
              <a:buFont typeface="Arial" panose="020B0604020202020204"/>
              <a:buChar char="•"/>
            </a:pPr>
            <a:r>
              <a:rPr lang="en-US" sz="1800" b="1" i="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Speculation</a:t>
            </a: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phase carefully and intentionally removes the factor of planning that often brings with it lots of unnecessary baggage and tension. </a:t>
            </a:r>
            <a:endParaRPr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This phase gives the teams full liberty to welcome and accept the outcomes without the fear of the unknown or uncertainty. It totally eliminates the toxic need to be right all the time, putting all the stakeholders at ease. </a:t>
            </a:r>
            <a:endParaRPr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 the speculation phase: </a:t>
            </a:r>
            <a:endParaRPr dirty="0"/>
          </a:p>
          <a:p>
            <a:pPr marL="1200150" marR="0" lvl="2" indent="-285750" algn="just"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 project mission statement is defined</a:t>
            </a:r>
            <a:endParaRPr dirty="0"/>
          </a:p>
          <a:p>
            <a:pPr marL="1200150" marR="0" lvl="2" indent="-285750" algn="just"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Creation and sharing of the general idea of the goals to be achieved take place</a:t>
            </a:r>
            <a:endParaRPr dirty="0"/>
          </a:p>
          <a:p>
            <a:pPr marL="1200150" marR="0" lvl="2" indent="-285750" algn="just"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Teams adopt the tools that would assist them in adapting and changing as per the requirements during the entire cycle of the project. </a:t>
            </a:r>
            <a:endParaRPr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ASD Life Cycle - Speculation</a:t>
            </a:r>
            <a:endParaRPr lang="en-US" sz="2800" b="1">
              <a:latin typeface="Times"/>
              <a:ea typeface="Times"/>
              <a:cs typeface="Times"/>
              <a:sym typeface="Times"/>
            </a:endParaRPr>
          </a:p>
        </p:txBody>
      </p:sp>
      <p:sp>
        <p:nvSpPr>
          <p:cNvPr id="160" name="Google Shape;160;p1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61" name="Google Shape;161;p16"/>
          <p:cNvSpPr/>
          <p:nvPr/>
        </p:nvSpPr>
        <p:spPr>
          <a:xfrm>
            <a:off x="76200" y="1052185"/>
            <a:ext cx="8839200" cy="253556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Mostly, the speculation phase finds itself divided into two steps. </a:t>
            </a:r>
            <a:endParaRPr dirty="0"/>
          </a:p>
          <a:p>
            <a:pPr marL="1200150" marR="0" lvl="2" indent="-285750" algn="l"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project initiation</a:t>
            </a:r>
            <a:endParaRPr dirty="0"/>
          </a:p>
          <a:p>
            <a:pPr marL="1200150" marR="0" lvl="2" indent="-285750" algn="l"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adaptive planning</a:t>
            </a:r>
            <a:endParaRPr dirty="0"/>
          </a:p>
          <a:p>
            <a:pPr marL="1200150" marR="0" lvl="2" indent="-171450" algn="l" rtl="0">
              <a:lnSpc>
                <a:spcPct val="150000"/>
              </a:lnSpc>
              <a:spcBef>
                <a:spcPts val="0"/>
              </a:spcBef>
              <a:spcAft>
                <a:spcPts val="0"/>
              </a:spcAft>
              <a:buClr>
                <a:schemeClr val="dk1"/>
              </a:buClr>
              <a:buSzPts val="1800"/>
              <a:buFont typeface="Noto Sans Symbols"/>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257300" marR="0" lvl="2" indent="-228600" algn="l" rtl="0">
              <a:lnSpc>
                <a:spcPct val="150000"/>
              </a:lnSpc>
              <a:spcBef>
                <a:spcPts val="0"/>
              </a:spcBef>
              <a:spcAft>
                <a:spcPts val="0"/>
              </a:spcAft>
              <a:buClr>
                <a:schemeClr val="dk1"/>
              </a:buClr>
              <a:buSzPts val="1800"/>
              <a:buFont typeface="Calibri" panose="020F050202020403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2" name="Google Shape;162;p16"/>
          <p:cNvSpPr/>
          <p:nvPr/>
        </p:nvSpPr>
        <p:spPr>
          <a:xfrm>
            <a:off x="228600" y="2819400"/>
            <a:ext cx="8305800" cy="1754286"/>
          </a:xfrm>
          <a:prstGeom prst="rect">
            <a:avLst/>
          </a:prstGeom>
          <a:noFill/>
          <a:ln>
            <a:noFill/>
          </a:ln>
        </p:spPr>
        <p:txBody>
          <a:bodyPr spcFirstLastPara="1" wrap="square" lIns="91425" tIns="45700" rIns="91425" bIns="45700" anchor="t" anchorCtr="0">
            <a:spAutoFit/>
          </a:bodyPr>
          <a:lstStyle/>
          <a:p>
            <a:pPr marL="342900" marR="0" lvl="2" indent="-342900" algn="just" rtl="0">
              <a:lnSpc>
                <a:spcPct val="150000"/>
              </a:lnSpc>
              <a:spcBef>
                <a:spcPts val="0"/>
              </a:spcBef>
              <a:spcAft>
                <a:spcPts val="0"/>
              </a:spcAft>
              <a:buClr>
                <a:srgbClr val="C00000"/>
              </a:buClr>
              <a:buSzPts val="1800"/>
              <a:buFont typeface="Calibri" panose="020F0502020204030204"/>
              <a:buAutoNum type="arabicPeriod"/>
            </a:pPr>
            <a:r>
              <a:rPr lang="en-US" sz="1800" b="1" i="1" u="none" strike="noStrike" cap="none"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Project Initiation</a:t>
            </a:r>
            <a:endParaRPr dirty="0"/>
          </a:p>
          <a:p>
            <a:pPr marL="742950" marR="0" lvl="1" indent="-285750" algn="just" rtl="0">
              <a:lnSpc>
                <a:spcPct val="150000"/>
              </a:lnSpc>
              <a:spcBef>
                <a:spcPts val="0"/>
              </a:spcBef>
              <a:spcAft>
                <a:spcPts val="0"/>
              </a:spcAft>
              <a:buClr>
                <a:schemeClr val="dk1"/>
              </a:buClr>
              <a:buSzPts val="1800"/>
              <a:buFont typeface="Arial" panose="020B0604020202020204"/>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first step of initiation involves stuff that serves as the project’s foundation.</a:t>
            </a:r>
            <a:endParaRPr dirty="0"/>
          </a:p>
          <a:p>
            <a:pPr marL="742950" marR="0" lvl="1" indent="-285750" algn="just" rtl="0">
              <a:lnSpc>
                <a:spcPct val="150000"/>
              </a:lnSpc>
              <a:spcBef>
                <a:spcPts val="0"/>
              </a:spcBef>
              <a:spcAft>
                <a:spcPts val="0"/>
              </a:spcAft>
              <a:buClr>
                <a:schemeClr val="dk1"/>
              </a:buClr>
              <a:buSzPts val="1800"/>
              <a:buFont typeface="Arial" panose="020B0604020202020204"/>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This includes project management information, mission statement and other  </a:t>
            </a:r>
            <a:endParaRPr dirty="0"/>
          </a:p>
          <a:p>
            <a:pPr marL="0" marR="0" lvl="0" indent="0" algn="just" rtl="0">
              <a:lnSpc>
                <a:spcPct val="150000"/>
              </a:lnSpc>
              <a:spcBef>
                <a:spcPts val="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essential tools and information.</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ASD Life Cycle - Speculation</a:t>
            </a:r>
            <a:endParaRPr lang="en-US" sz="2800" b="1">
              <a:latin typeface="Times"/>
              <a:ea typeface="Times"/>
              <a:cs typeface="Times"/>
              <a:sym typeface="Times"/>
            </a:endParaRPr>
          </a:p>
        </p:txBody>
      </p:sp>
      <p:sp>
        <p:nvSpPr>
          <p:cNvPr id="168" name="Google Shape;168;p1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69" name="Google Shape;169;p17"/>
          <p:cNvSpPr/>
          <p:nvPr/>
        </p:nvSpPr>
        <p:spPr>
          <a:xfrm>
            <a:off x="304800" y="1143000"/>
            <a:ext cx="8305800" cy="466277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2. Adaptive Planning:</a:t>
            </a:r>
            <a:endParaRPr dirty="0"/>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 adaptive planning, different product features get assigned to the different teams as per their expertise and skills.</a:t>
            </a:r>
            <a:endParaRPr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This requires the teams to decide:</a:t>
            </a:r>
            <a:endParaRPr dirty="0"/>
          </a:p>
          <a:p>
            <a:pPr marL="742950" marR="0" lvl="1" indent="-285750" algn="just"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Time box for the project</a:t>
            </a:r>
            <a:endParaRPr dirty="0"/>
          </a:p>
          <a:p>
            <a:pPr marL="742950" marR="0" lvl="1" indent="-285750" algn="just"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Number of development cycles</a:t>
            </a:r>
            <a:endParaRPr dirty="0"/>
          </a:p>
          <a:p>
            <a:pPr marL="742950" marR="0" lvl="1" indent="-285750" algn="just"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Amount of time each cycle would take as per the unanimously decided </a:t>
            </a:r>
            <a:r>
              <a:rPr lang="en-US" sz="1800" b="0" i="0" u="none" strike="noStrike" cap="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timebox</a:t>
            </a:r>
            <a:endParaRPr dirty="0"/>
          </a:p>
          <a:p>
            <a:pPr marL="742950" marR="0" lvl="1" indent="-285750" algn="just"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 theme and objective for the cycle</a:t>
            </a:r>
            <a:endParaRPr dirty="0"/>
          </a:p>
          <a:p>
            <a:pPr marL="742950" marR="0" lvl="1" indent="-285750" algn="just"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Assignment of components for each cycle</a:t>
            </a:r>
            <a:endParaRPr dirty="0"/>
          </a:p>
          <a:p>
            <a:pPr marL="742950" marR="0" lvl="1" indent="-285750" algn="just" rtl="0">
              <a:lnSpc>
                <a:spcPct val="150000"/>
              </a:lnSpc>
              <a:spcBef>
                <a:spcPts val="0"/>
              </a:spcBef>
              <a:spcAft>
                <a:spcPts val="0"/>
              </a:spcAft>
              <a:buClr>
                <a:schemeClr val="dk1"/>
              </a:buClr>
              <a:buSzPts val="18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 task list for the project</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ASD Life Cycle - Collaboration</a:t>
            </a:r>
            <a:endParaRPr lang="en-US" sz="2800" b="1">
              <a:latin typeface="Times"/>
              <a:ea typeface="Times"/>
              <a:cs typeface="Times"/>
              <a:sym typeface="Times"/>
            </a:endParaRPr>
          </a:p>
        </p:txBody>
      </p:sp>
      <p:sp>
        <p:nvSpPr>
          <p:cNvPr id="175" name="Google Shape;175;p1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76" name="Google Shape;176;p18"/>
          <p:cNvSpPr/>
          <p:nvPr/>
        </p:nvSpPr>
        <p:spPr>
          <a:xfrm>
            <a:off x="276226" y="1295400"/>
            <a:ext cx="8305800" cy="383177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It is in </a:t>
            </a:r>
            <a:r>
              <a:rPr lang="en-US" sz="1800" b="1" i="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Collaboration</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phase that the actual development begins.</a:t>
            </a:r>
            <a:endParaRPr sz="1800" dirty="0">
              <a:latin typeface="Times New Roman" panose="02020603050405020304" charset="0"/>
              <a:cs typeface="Times New Roman" panose="02020603050405020304" charset="0"/>
            </a:endParaRPr>
          </a:p>
          <a:p>
            <a:pPr marL="285750" marR="0" lvl="0" indent="-158750" algn="just" rtl="0">
              <a:lnSpc>
                <a:spcPct val="150000"/>
              </a:lnSpc>
              <a:spcBef>
                <a:spcPts val="0"/>
              </a:spcBef>
              <a:spcAft>
                <a:spcPts val="0"/>
              </a:spcAft>
              <a:buClr>
                <a:schemeClr val="dk1"/>
              </a:buClr>
              <a:buSzPts val="2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This phase is about group emergence. </a:t>
            </a:r>
            <a:endParaRPr sz="1800" dirty="0">
              <a:latin typeface="Times New Roman" panose="02020603050405020304" charset="0"/>
              <a:cs typeface="Times New Roman" panose="02020603050405020304" charset="0"/>
            </a:endParaRPr>
          </a:p>
          <a:p>
            <a:pPr marL="285750" marR="0" lvl="0" indent="-158750" algn="just" rtl="0">
              <a:lnSpc>
                <a:spcPct val="150000"/>
              </a:lnSpc>
              <a:spcBef>
                <a:spcPts val="0"/>
              </a:spcBef>
              <a:spcAft>
                <a:spcPts val="0"/>
              </a:spcAft>
              <a:buClr>
                <a:schemeClr val="dk1"/>
              </a:buClr>
              <a:buSzPts val="2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It is about coming together of diverse experiences, knowledge, and skills.</a:t>
            </a:r>
            <a:endParaRPr sz="1800" dirty="0">
              <a:latin typeface="Times New Roman" panose="02020603050405020304" charset="0"/>
              <a:cs typeface="Times New Roman" panose="02020603050405020304" charset="0"/>
            </a:endParaRPr>
          </a:p>
          <a:p>
            <a:pPr marL="285750" marR="0" lvl="0" indent="-158750" algn="just" rtl="0">
              <a:lnSpc>
                <a:spcPct val="150000"/>
              </a:lnSpc>
              <a:spcBef>
                <a:spcPts val="0"/>
              </a:spcBef>
              <a:spcAft>
                <a:spcPts val="0"/>
              </a:spcAft>
              <a:buClr>
                <a:schemeClr val="dk1"/>
              </a:buClr>
              <a:buSzPts val="2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This forms a collaborative environment where diversity serves as the building block for creativity and innovation during the entire development cycle.</a:t>
            </a:r>
            <a:endParaRPr sz="1800" dirty="0">
              <a:latin typeface="Times New Roman" panose="02020603050405020304" charset="0"/>
              <a:cs typeface="Times New Roman" panose="02020603050405020304" charset="0"/>
            </a:endParaRPr>
          </a:p>
          <a:p>
            <a:pPr marL="285750" marR="0" lvl="0" indent="-158750" algn="just" rtl="0">
              <a:lnSpc>
                <a:spcPct val="150000"/>
              </a:lnSpc>
              <a:spcBef>
                <a:spcPts val="0"/>
              </a:spcBef>
              <a:spcAft>
                <a:spcPts val="0"/>
              </a:spcAft>
              <a:buClr>
                <a:schemeClr val="dk1"/>
              </a:buClr>
              <a:buSzPts val="2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ASD Life Cycle - Learning</a:t>
            </a:r>
            <a:endParaRPr lang="en-US" sz="2800" b="1">
              <a:latin typeface="Times"/>
              <a:ea typeface="Times"/>
              <a:cs typeface="Times"/>
              <a:sym typeface="Times"/>
            </a:endParaRPr>
          </a:p>
        </p:txBody>
      </p:sp>
      <p:sp>
        <p:nvSpPr>
          <p:cNvPr id="182" name="Google Shape;182;p1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83" name="Google Shape;183;p19"/>
          <p:cNvSpPr/>
          <p:nvPr/>
        </p:nvSpPr>
        <p:spPr>
          <a:xfrm>
            <a:off x="304800" y="1295400"/>
            <a:ext cx="8305800" cy="2585283"/>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a:t>
            </a:r>
            <a:r>
              <a:rPr lang="en-US" sz="1800" b="1" i="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Learning</a:t>
            </a: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part of the Lifecycle is vital for the success of the project. </a:t>
            </a:r>
            <a:endParaRPr sz="1800" dirty="0"/>
          </a:p>
          <a:p>
            <a:pPr marL="285750" marR="0" lvl="0" indent="-158750" algn="l" rtl="0">
              <a:lnSpc>
                <a:spcPct val="150000"/>
              </a:lnSpc>
              <a:spcBef>
                <a:spcPts val="0"/>
              </a:spcBef>
              <a:spcAft>
                <a:spcPts val="0"/>
              </a:spcAft>
              <a:buClr>
                <a:schemeClr val="dk1"/>
              </a:buClr>
              <a:buSzPts val="20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Team has to enhance their knowledge constantly, using practices such as-</a:t>
            </a:r>
            <a:endParaRPr sz="1800" dirty="0"/>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Technical Reviews</a:t>
            </a:r>
            <a:endParaRPr sz="1800" dirty="0"/>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Project Retrospectives</a:t>
            </a:r>
            <a:endParaRPr sz="1800" dirty="0"/>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Customer Focus Groups</a:t>
            </a:r>
            <a:endParaRPr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SCRUM</a:t>
            </a:r>
            <a:endParaRPr lang="en-US" b="1">
              <a:latin typeface="Times"/>
              <a:ea typeface="Times"/>
              <a:cs typeface="Times"/>
              <a:sym typeface="Times"/>
            </a:endParaRPr>
          </a:p>
        </p:txBody>
      </p:sp>
      <p:sp>
        <p:nvSpPr>
          <p:cNvPr id="189" name="Google Shape;189;p2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90" name="Google Shape;190;p20"/>
          <p:cNvSpPr txBox="1">
            <a:spLocks noGrp="1"/>
          </p:cNvSpPr>
          <p:nvPr>
            <p:ph type="body" idx="1"/>
          </p:nvPr>
        </p:nvSpPr>
        <p:spPr>
          <a:xfrm>
            <a:off x="121846" y="1284288"/>
            <a:ext cx="8839200" cy="5216525"/>
          </a:xfrm>
          <a:prstGeom prst="rect">
            <a:avLst/>
          </a:prstGeom>
          <a:noFill/>
          <a:ln>
            <a:noFill/>
          </a:ln>
        </p:spPr>
        <p:txBody>
          <a:bodyPr spcFirstLastPara="1" wrap="square" lIns="91425" tIns="45700" rIns="91425" bIns="45700" anchor="t" anchorCtr="0">
            <a:noAutofit/>
          </a:bodyPr>
          <a:lstStyle/>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sym typeface="Times New Roman" panose="02020603050405020304"/>
              </a:rPr>
              <a:t>The Scrum Guide defines scrum as</a:t>
            </a:r>
            <a:r>
              <a:rPr lang="en-US" sz="1800" dirty="0" smtClean="0">
                <a:solidFill>
                  <a:schemeClr val="dk1"/>
                </a:solidFill>
                <a:sym typeface="Times New Roman" panose="02020603050405020304"/>
              </a:rPr>
              <a:t>:</a:t>
            </a:r>
            <a:endParaRPr lang="en-US" sz="1800" dirty="0"/>
          </a:p>
          <a:p>
            <a:pPr marL="0" marR="0" lvl="0" indent="0" algn="ctr" rtl="0">
              <a:lnSpc>
                <a:spcPct val="150000"/>
              </a:lnSpc>
              <a:spcBef>
                <a:spcPts val="0"/>
              </a:spcBef>
              <a:spcAft>
                <a:spcPts val="0"/>
              </a:spcAft>
              <a:buClr>
                <a:schemeClr val="dk1"/>
              </a:buClr>
              <a:buSzPts val="1800"/>
              <a:buNone/>
            </a:pPr>
            <a:r>
              <a:rPr lang="en-US" sz="1800" i="1" dirty="0" smtClean="0">
                <a:solidFill>
                  <a:srgbClr val="C00000"/>
                </a:solidFill>
                <a:sym typeface="Times New Roman" panose="02020603050405020304"/>
              </a:rPr>
              <a:t>“</a:t>
            </a:r>
            <a:r>
              <a:rPr lang="en-US" sz="1800" i="1" dirty="0">
                <a:solidFill>
                  <a:srgbClr val="C00000"/>
                </a:solidFill>
                <a:sym typeface="Times New Roman" panose="02020603050405020304"/>
              </a:rPr>
              <a:t>A framework within which people can address complex adaptive </a:t>
            </a:r>
            <a:r>
              <a:rPr lang="en-US" sz="1800" i="1" dirty="0" smtClean="0">
                <a:solidFill>
                  <a:srgbClr val="C00000"/>
                </a:solidFill>
                <a:sym typeface="Times New Roman" panose="02020603050405020304"/>
              </a:rPr>
              <a:t>problems</a:t>
            </a:r>
            <a:r>
              <a:rPr lang="en-US" sz="1800" i="1" dirty="0">
                <a:solidFill>
                  <a:srgbClr val="C00000"/>
                </a:solidFill>
                <a:sym typeface="Times New Roman" panose="02020603050405020304"/>
              </a:rPr>
              <a:t>, while productively and creatively delivering products of </a:t>
            </a:r>
            <a:r>
              <a:rPr lang="en-US" sz="1800" i="1" dirty="0" smtClean="0">
                <a:solidFill>
                  <a:srgbClr val="C00000"/>
                </a:solidFill>
                <a:sym typeface="Times New Roman" panose="02020603050405020304"/>
              </a:rPr>
              <a:t>the highest </a:t>
            </a:r>
            <a:r>
              <a:rPr lang="en-US" sz="1800" i="1" dirty="0">
                <a:solidFill>
                  <a:srgbClr val="C00000"/>
                </a:solidFill>
                <a:sym typeface="Times New Roman" panose="02020603050405020304"/>
              </a:rPr>
              <a:t>possible value.”</a:t>
            </a:r>
            <a:endParaRPr sz="1800" dirty="0"/>
          </a:p>
          <a:p>
            <a:pPr marL="285750" lvl="0" indent="-158750" algn="just" rtl="0">
              <a:lnSpc>
                <a:spcPct val="150000"/>
              </a:lnSpc>
              <a:spcBef>
                <a:spcPts val="400"/>
              </a:spcBef>
              <a:spcAft>
                <a:spcPts val="0"/>
              </a:spcAft>
              <a:buClr>
                <a:schemeClr val="dk1"/>
              </a:buClr>
              <a:buSzPts val="2000"/>
              <a:buFont typeface="Arial" panose="020B0604020202020204"/>
              <a:buNone/>
            </a:pPr>
            <a:endParaRPr sz="1800" dirty="0">
              <a:solidFill>
                <a:schemeClr val="dk1"/>
              </a:solidFill>
              <a:sym typeface="Times New Roman" panose="02020603050405020304"/>
            </a:endParaRPr>
          </a:p>
          <a:p>
            <a:pPr marL="285750" lvl="0" indent="-285750" algn="just" rtl="0">
              <a:lnSpc>
                <a:spcPct val="150000"/>
              </a:lnSpc>
              <a:spcBef>
                <a:spcPts val="400"/>
              </a:spcBef>
              <a:spcAft>
                <a:spcPts val="0"/>
              </a:spcAft>
              <a:buClr>
                <a:schemeClr val="dk1"/>
              </a:buClr>
              <a:buSzPts val="2000"/>
              <a:buFont typeface="Arial" panose="020B0604020202020204"/>
              <a:buChar char="•"/>
            </a:pPr>
            <a:r>
              <a:rPr lang="en-US" sz="1800" dirty="0">
                <a:solidFill>
                  <a:schemeClr val="dk1"/>
                </a:solidFill>
                <a:sym typeface="Times New Roman" panose="02020603050405020304"/>
              </a:rPr>
              <a:t>In simple terms, scrum is a lightweight agile project management framework that can be used to manage iterative and incremental projects of all types.</a:t>
            </a:r>
            <a:endParaRPr sz="1800" dirty="0"/>
          </a:p>
          <a:p>
            <a:pPr marL="285750" lvl="0" indent="-158750" algn="just" rtl="0">
              <a:lnSpc>
                <a:spcPct val="150000"/>
              </a:lnSpc>
              <a:spcBef>
                <a:spcPts val="400"/>
              </a:spcBef>
              <a:spcAft>
                <a:spcPts val="0"/>
              </a:spcAft>
              <a:buClr>
                <a:schemeClr val="dk1"/>
              </a:buClr>
              <a:buSzPts val="2000"/>
              <a:buFont typeface="Arial" panose="020B0604020202020204"/>
              <a:buNone/>
            </a:pPr>
            <a:endParaRPr sz="1800" dirty="0">
              <a:solidFill>
                <a:schemeClr val="dk1"/>
              </a:solidFill>
              <a:sym typeface="Times New Roman" panose="02020603050405020304"/>
            </a:endParaRPr>
          </a:p>
          <a:p>
            <a:pPr marL="285750" lvl="0" indent="-285750" algn="just" rtl="0">
              <a:lnSpc>
                <a:spcPct val="150000"/>
              </a:lnSpc>
              <a:spcBef>
                <a:spcPts val="400"/>
              </a:spcBef>
              <a:spcAft>
                <a:spcPts val="0"/>
              </a:spcAft>
              <a:buClr>
                <a:schemeClr val="dk1"/>
              </a:buClr>
              <a:buSzPts val="2000"/>
              <a:buFont typeface="Arial" panose="020B0604020202020204"/>
              <a:buChar char="•"/>
            </a:pPr>
            <a:r>
              <a:rPr lang="en-US" sz="1800" dirty="0">
                <a:solidFill>
                  <a:schemeClr val="dk1"/>
                </a:solidFill>
                <a:sym typeface="Times New Roman" panose="02020603050405020304"/>
              </a:rPr>
              <a:t>The concept here is to break large complex projects into smaller stages, reviewing and adapting along the way.  </a:t>
            </a:r>
            <a:endParaRPr sz="1800" dirty="0"/>
          </a:p>
          <a:p>
            <a:pPr marL="285750" marR="0" lvl="0" indent="-171450" algn="l" rtl="0">
              <a:lnSpc>
                <a:spcPct val="150000"/>
              </a:lnSpc>
              <a:spcBef>
                <a:spcPts val="0"/>
              </a:spcBef>
              <a:spcAft>
                <a:spcPts val="0"/>
              </a:spcAft>
              <a:buClr>
                <a:schemeClr val="dk1"/>
              </a:buClr>
              <a:buSzPts val="1800"/>
              <a:buFont typeface="Arial" panose="020B0604020202020204"/>
              <a:buNone/>
            </a:pPr>
            <a:endParaRPr sz="1800" dirty="0">
              <a:solidFill>
                <a:schemeClr val="dk1"/>
              </a:solidFill>
              <a:sym typeface="Times New Roman" panose="02020603050405020304"/>
            </a:endParaRPr>
          </a:p>
          <a:p>
            <a:pPr marL="342900" lvl="0" indent="-342900" algn="just" rtl="0">
              <a:spcBef>
                <a:spcPts val="480"/>
              </a:spcBef>
              <a:spcAft>
                <a:spcPts val="0"/>
              </a:spcAft>
              <a:buClr>
                <a:schemeClr val="dk1"/>
              </a:buClr>
              <a:buSzPts val="2400"/>
              <a:buNone/>
            </a:pPr>
            <a:endParaRPr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SCRUM (contd.)</a:t>
            </a:r>
            <a:endParaRPr lang="en-US" b="1">
              <a:latin typeface="Times"/>
              <a:ea typeface="Times"/>
              <a:cs typeface="Times"/>
              <a:sym typeface="Times"/>
            </a:endParaRPr>
          </a:p>
        </p:txBody>
      </p:sp>
      <p:sp>
        <p:nvSpPr>
          <p:cNvPr id="196" name="Google Shape;196;p2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97" name="Google Shape;197;p21"/>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1800"/>
              <a:buNone/>
            </a:pPr>
            <a:r>
              <a:rPr lang="en-US" sz="1800" dirty="0">
                <a:solidFill>
                  <a:schemeClr val="dk1"/>
                </a:solidFill>
                <a:sym typeface="Times New Roman" panose="02020603050405020304"/>
              </a:rPr>
              <a:t>With scrum you can:</a:t>
            </a:r>
            <a:endParaRPr sz="1800" dirty="0"/>
          </a:p>
          <a:p>
            <a:pPr marL="0" marR="0" lvl="0" indent="0" algn="l" rtl="0">
              <a:lnSpc>
                <a:spcPct val="150000"/>
              </a:lnSpc>
              <a:spcBef>
                <a:spcPts val="0"/>
              </a:spcBef>
              <a:spcAft>
                <a:spcPts val="0"/>
              </a:spcAft>
              <a:buClr>
                <a:schemeClr val="dk1"/>
              </a:buClr>
              <a:buSzPts val="1800"/>
              <a:buNone/>
            </a:pPr>
            <a:endParaRPr sz="1800" dirty="0">
              <a:solidFill>
                <a:schemeClr val="dk1"/>
              </a:solidFill>
              <a:sym typeface="Times New Roman" panose="02020603050405020304"/>
            </a:endParaRPr>
          </a:p>
          <a:p>
            <a:pPr marL="742950" lvl="1" indent="-285750" algn="l" rtl="0">
              <a:spcBef>
                <a:spcPts val="0"/>
              </a:spcBef>
              <a:spcAft>
                <a:spcPts val="0"/>
              </a:spcAft>
              <a:buClr>
                <a:schemeClr val="dk1"/>
              </a:buClr>
              <a:buSzPts val="1800"/>
              <a:buChar char="–"/>
            </a:pPr>
            <a:r>
              <a:rPr lang="en-US" sz="1800" dirty="0">
                <a:solidFill>
                  <a:schemeClr val="dk1"/>
                </a:solidFill>
                <a:sym typeface="Times New Roman" panose="02020603050405020304"/>
              </a:rPr>
              <a:t>Write fewer plans and do more in short iterations or cycles that we call sprints</a:t>
            </a:r>
            <a:r>
              <a:rPr lang="en-US" sz="1800" dirty="0" smtClean="0">
                <a:solidFill>
                  <a:schemeClr val="dk1"/>
                </a:solidFill>
                <a:sym typeface="Times New Roman" panose="02020603050405020304"/>
              </a:rPr>
              <a:t>*</a:t>
            </a:r>
            <a:endParaRPr lang="en-US" sz="1800" dirty="0" smtClean="0">
              <a:solidFill>
                <a:schemeClr val="dk1"/>
              </a:solidFill>
              <a:sym typeface="Times New Roman" panose="02020603050405020304"/>
            </a:endParaRPr>
          </a:p>
          <a:p>
            <a:pPr marL="742950" lvl="1" indent="-285750" algn="l" rtl="0">
              <a:spcBef>
                <a:spcPts val="0"/>
              </a:spcBef>
              <a:spcAft>
                <a:spcPts val="0"/>
              </a:spcAft>
              <a:buClr>
                <a:schemeClr val="dk1"/>
              </a:buClr>
              <a:buSzPts val="1800"/>
              <a:buChar char="–"/>
            </a:pPr>
            <a:endParaRPr sz="1800" dirty="0"/>
          </a:p>
          <a:p>
            <a:pPr marL="742950" lvl="1" indent="-285750" algn="l" rtl="0">
              <a:spcBef>
                <a:spcPts val="0"/>
              </a:spcBef>
              <a:spcAft>
                <a:spcPts val="0"/>
              </a:spcAft>
              <a:buClr>
                <a:schemeClr val="dk1"/>
              </a:buClr>
              <a:buSzPts val="1800"/>
              <a:buChar char="–"/>
            </a:pPr>
            <a:r>
              <a:rPr lang="en-US" sz="1800" dirty="0">
                <a:solidFill>
                  <a:schemeClr val="dk1"/>
                </a:solidFill>
                <a:sym typeface="Times New Roman" panose="02020603050405020304"/>
              </a:rPr>
              <a:t>Work as one dedicated and committed team, instead of working on separate </a:t>
            </a:r>
            <a:r>
              <a:rPr lang="en-US" sz="1800" dirty="0" smtClean="0">
                <a:solidFill>
                  <a:schemeClr val="dk1"/>
                </a:solidFill>
                <a:sym typeface="Times New Roman" panose="02020603050405020304"/>
              </a:rPr>
              <a:t>groups</a:t>
            </a:r>
            <a:endParaRPr lang="en-US" sz="1800" dirty="0" smtClean="0">
              <a:solidFill>
                <a:schemeClr val="dk1"/>
              </a:solidFill>
              <a:sym typeface="Times New Roman" panose="02020603050405020304"/>
            </a:endParaRPr>
          </a:p>
          <a:p>
            <a:pPr marL="742950" lvl="1" indent="-285750" algn="l" rtl="0">
              <a:spcBef>
                <a:spcPts val="0"/>
              </a:spcBef>
              <a:spcAft>
                <a:spcPts val="0"/>
              </a:spcAft>
              <a:buClr>
                <a:schemeClr val="dk1"/>
              </a:buClr>
              <a:buSzPts val="1800"/>
              <a:buChar char="–"/>
            </a:pPr>
            <a:endParaRPr sz="1800" dirty="0"/>
          </a:p>
          <a:p>
            <a:pPr marL="742950" lvl="1" indent="-285750" algn="l" rtl="0">
              <a:spcBef>
                <a:spcPts val="0"/>
              </a:spcBef>
              <a:spcAft>
                <a:spcPts val="0"/>
              </a:spcAft>
              <a:buClr>
                <a:schemeClr val="dk1"/>
              </a:buClr>
              <a:buSzPts val="1800"/>
              <a:buChar char="–"/>
            </a:pPr>
            <a:r>
              <a:rPr lang="en-US" sz="1800" dirty="0">
                <a:solidFill>
                  <a:schemeClr val="dk1"/>
                </a:solidFill>
                <a:sym typeface="Times New Roman" panose="02020603050405020304"/>
              </a:rPr>
              <a:t>Constantly deliver functioning products at the end of each </a:t>
            </a:r>
            <a:r>
              <a:rPr lang="en-US" sz="1800" dirty="0" smtClean="0">
                <a:solidFill>
                  <a:schemeClr val="dk1"/>
                </a:solidFill>
                <a:sym typeface="Times New Roman" panose="02020603050405020304"/>
              </a:rPr>
              <a:t>sprint</a:t>
            </a:r>
            <a:endParaRPr lang="en-US" sz="1800" dirty="0" smtClean="0">
              <a:solidFill>
                <a:schemeClr val="dk1"/>
              </a:solidFill>
              <a:sym typeface="Times New Roman" panose="02020603050405020304"/>
            </a:endParaRPr>
          </a:p>
          <a:p>
            <a:pPr marL="742950" lvl="1" indent="-285750" algn="l" rtl="0">
              <a:spcBef>
                <a:spcPts val="0"/>
              </a:spcBef>
              <a:spcAft>
                <a:spcPts val="0"/>
              </a:spcAft>
              <a:buClr>
                <a:schemeClr val="dk1"/>
              </a:buClr>
              <a:buSzPts val="1800"/>
              <a:buChar char="–"/>
            </a:pPr>
            <a:endParaRPr sz="1800" dirty="0"/>
          </a:p>
          <a:p>
            <a:pPr marL="742950" lvl="1" indent="-285750" algn="l" rtl="0">
              <a:spcBef>
                <a:spcPts val="0"/>
              </a:spcBef>
              <a:spcAft>
                <a:spcPts val="0"/>
              </a:spcAft>
              <a:buClr>
                <a:schemeClr val="dk1"/>
              </a:buClr>
              <a:buSzPts val="1800"/>
              <a:buChar char="–"/>
            </a:pPr>
            <a:r>
              <a:rPr lang="en-US" sz="1800" dirty="0">
                <a:solidFill>
                  <a:schemeClr val="dk1"/>
                </a:solidFill>
                <a:sym typeface="Times New Roman" panose="02020603050405020304"/>
              </a:rPr>
              <a:t>Receive continuous feedback from your customers and improvise your product</a:t>
            </a:r>
            <a:endParaRPr sz="1800" dirty="0"/>
          </a:p>
          <a:p>
            <a:pPr marL="0" lvl="0" indent="0" algn="l" rtl="0">
              <a:lnSpc>
                <a:spcPct val="150000"/>
              </a:lnSpc>
              <a:spcBef>
                <a:spcPts val="400"/>
              </a:spcBef>
              <a:spcAft>
                <a:spcPts val="0"/>
              </a:spcAft>
              <a:buClr>
                <a:schemeClr val="dk1"/>
              </a:buClr>
              <a:buSzPts val="2000"/>
              <a:buNone/>
            </a:pPr>
            <a:endParaRPr sz="1800" dirty="0">
              <a:solidFill>
                <a:schemeClr val="dk1"/>
              </a:solidFill>
              <a:sym typeface="Times New Roman" panose="02020603050405020304"/>
            </a:endParaRPr>
          </a:p>
          <a:p>
            <a:pPr marL="342900" lvl="0" indent="-342900" algn="just" rtl="0">
              <a:spcBef>
                <a:spcPts val="480"/>
              </a:spcBef>
              <a:spcAft>
                <a:spcPts val="0"/>
              </a:spcAft>
              <a:buClr>
                <a:schemeClr val="dk1"/>
              </a:buClr>
              <a:buSzPts val="2400"/>
              <a:buNone/>
            </a:pPr>
            <a:endParaRPr sz="1800" dirty="0"/>
          </a:p>
        </p:txBody>
      </p:sp>
      <p:sp>
        <p:nvSpPr>
          <p:cNvPr id="198" name="Google Shape;198;p21"/>
          <p:cNvSpPr txBox="1"/>
          <p:nvPr/>
        </p:nvSpPr>
        <p:spPr>
          <a:xfrm>
            <a:off x="1524000" y="5146228"/>
            <a:ext cx="6155932" cy="873572"/>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1800" i="1">
                <a:solidFill>
                  <a:srgbClr val="C00000"/>
                </a:solidFill>
                <a:latin typeface="Times New Roman" panose="02020603050405020304"/>
                <a:ea typeface="Times New Roman" panose="02020603050405020304"/>
                <a:cs typeface="Times New Roman" panose="02020603050405020304"/>
                <a:sym typeface="Times New Roman" panose="02020603050405020304"/>
              </a:rPr>
              <a:t>*A sprint basically is a specified time period during which a scrum team produces a product.</a:t>
            </a:r>
            <a:endParaRPr lang="en-US" sz="1800" i="1">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dirty="0">
                <a:latin typeface="Times"/>
                <a:ea typeface="Times"/>
                <a:cs typeface="Times"/>
                <a:sym typeface="Times"/>
              </a:rPr>
              <a:t>People &amp; Parts of Scrum Framework</a:t>
            </a:r>
            <a:endParaRPr dirty="0"/>
          </a:p>
        </p:txBody>
      </p:sp>
      <p:sp>
        <p:nvSpPr>
          <p:cNvPr id="204" name="Google Shape;204;p2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05" name="Google Shape;205;p22"/>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1800"/>
              <a:buNone/>
            </a:pPr>
            <a:r>
              <a:rPr lang="en-US" sz="1800" dirty="0">
                <a:solidFill>
                  <a:schemeClr val="dk1"/>
                </a:solidFill>
                <a:sym typeface="Times New Roman" panose="02020603050405020304"/>
              </a:rPr>
              <a:t>The Scrum Framework is made of three distinct categories, which are:</a:t>
            </a:r>
            <a:endParaRPr sz="1800" dirty="0"/>
          </a:p>
          <a:p>
            <a:pPr marL="0" marR="0" lvl="0" indent="0" algn="l" rtl="0">
              <a:lnSpc>
                <a:spcPct val="150000"/>
              </a:lnSpc>
              <a:spcBef>
                <a:spcPts val="0"/>
              </a:spcBef>
              <a:spcAft>
                <a:spcPts val="0"/>
              </a:spcAft>
              <a:buClr>
                <a:schemeClr val="dk1"/>
              </a:buClr>
              <a:buSzPts val="1800"/>
              <a:buNone/>
            </a:pPr>
            <a:endParaRPr sz="1800" dirty="0">
              <a:solidFill>
                <a:schemeClr val="dk1"/>
              </a:solidFill>
              <a:sym typeface="Times New Roman" panose="02020603050405020304"/>
            </a:endParaRPr>
          </a:p>
          <a:p>
            <a:pPr marL="742950" lvl="1" indent="-285750" algn="l" rtl="0">
              <a:lnSpc>
                <a:spcPct val="150000"/>
              </a:lnSpc>
              <a:spcBef>
                <a:spcPts val="0"/>
              </a:spcBef>
              <a:spcAft>
                <a:spcPts val="0"/>
              </a:spcAft>
              <a:buClr>
                <a:schemeClr val="dk1"/>
              </a:buClr>
              <a:buSzPts val="1800"/>
              <a:buChar char="–"/>
            </a:pPr>
            <a:r>
              <a:rPr lang="en-US" sz="1800" dirty="0">
                <a:solidFill>
                  <a:schemeClr val="dk1"/>
                </a:solidFill>
                <a:sym typeface="Times New Roman" panose="02020603050405020304"/>
              </a:rPr>
              <a:t>Scrum Roles</a:t>
            </a:r>
            <a:endParaRPr sz="1800" dirty="0"/>
          </a:p>
          <a:p>
            <a:pPr marL="742950" lvl="1" indent="-285750" algn="l" rtl="0">
              <a:lnSpc>
                <a:spcPct val="150000"/>
              </a:lnSpc>
              <a:spcBef>
                <a:spcPts val="0"/>
              </a:spcBef>
              <a:spcAft>
                <a:spcPts val="0"/>
              </a:spcAft>
              <a:buClr>
                <a:schemeClr val="dk1"/>
              </a:buClr>
              <a:buSzPts val="1800"/>
              <a:buChar char="–"/>
            </a:pPr>
            <a:r>
              <a:rPr lang="en-US" sz="1800" dirty="0">
                <a:solidFill>
                  <a:schemeClr val="dk1"/>
                </a:solidFill>
                <a:sym typeface="Times New Roman" panose="02020603050405020304"/>
              </a:rPr>
              <a:t>Events in Scrum</a:t>
            </a:r>
            <a:endParaRPr sz="1800" dirty="0"/>
          </a:p>
          <a:p>
            <a:pPr marL="742950" lvl="1" indent="-285750" algn="l" rtl="0">
              <a:lnSpc>
                <a:spcPct val="150000"/>
              </a:lnSpc>
              <a:spcBef>
                <a:spcPts val="0"/>
              </a:spcBef>
              <a:spcAft>
                <a:spcPts val="0"/>
              </a:spcAft>
              <a:buClr>
                <a:schemeClr val="dk1"/>
              </a:buClr>
              <a:buSzPts val="1800"/>
              <a:buChar char="–"/>
            </a:pPr>
            <a:r>
              <a:rPr lang="en-US" sz="1800" dirty="0">
                <a:solidFill>
                  <a:schemeClr val="dk1"/>
                </a:solidFill>
                <a:sym typeface="Times New Roman" panose="02020603050405020304"/>
              </a:rPr>
              <a:t>Scrum Artifacts</a:t>
            </a:r>
            <a:endParaRPr sz="1800" dirty="0"/>
          </a:p>
          <a:p>
            <a:pPr marL="285750" marR="0" lvl="0" indent="-171450" algn="l" rtl="0">
              <a:lnSpc>
                <a:spcPct val="150000"/>
              </a:lnSpc>
              <a:spcBef>
                <a:spcPts val="0"/>
              </a:spcBef>
              <a:spcAft>
                <a:spcPts val="0"/>
              </a:spcAft>
              <a:buClr>
                <a:schemeClr val="dk1"/>
              </a:buClr>
              <a:buSzPts val="1800"/>
              <a:buFont typeface="Arial" panose="020B0604020202020204"/>
              <a:buNone/>
            </a:pPr>
            <a:endParaRPr sz="1800" dirty="0">
              <a:solidFill>
                <a:schemeClr val="dk1"/>
              </a:solidFill>
              <a:sym typeface="Times New Roman" panose="02020603050405020304"/>
            </a:endParaRPr>
          </a:p>
          <a:p>
            <a:pPr marL="342900" lvl="0" indent="-342900" algn="just" rtl="0">
              <a:spcBef>
                <a:spcPts val="480"/>
              </a:spcBef>
              <a:spcAft>
                <a:spcPts val="0"/>
              </a:spcAft>
              <a:buClr>
                <a:schemeClr val="dk1"/>
              </a:buClr>
              <a:buSzPts val="2400"/>
              <a:buNone/>
            </a:pPr>
            <a:endParaRPr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Scrum Roles</a:t>
            </a:r>
            <a:endParaRPr lang="en-US" sz="2800" b="1">
              <a:latin typeface="Times"/>
              <a:ea typeface="Times"/>
              <a:cs typeface="Times"/>
              <a:sym typeface="Times"/>
            </a:endParaRPr>
          </a:p>
        </p:txBody>
      </p:sp>
      <p:sp>
        <p:nvSpPr>
          <p:cNvPr id="211" name="Google Shape;211;p2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12" name="Google Shape;212;p23"/>
          <p:cNvPicPr preferRelativeResize="0"/>
          <p:nvPr/>
        </p:nvPicPr>
        <p:blipFill rotWithShape="1">
          <a:blip r:embed="rId1"/>
          <a:srcRect/>
          <a:stretch>
            <a:fillRect/>
          </a:stretch>
        </p:blipFill>
        <p:spPr>
          <a:xfrm>
            <a:off x="1600200" y="1447800"/>
            <a:ext cx="6106418" cy="2493196"/>
          </a:xfrm>
          <a:prstGeom prst="rect">
            <a:avLst/>
          </a:prstGeom>
          <a:noFill/>
          <a:ln>
            <a:noFill/>
          </a:ln>
        </p:spPr>
      </p:pic>
      <p:sp>
        <p:nvSpPr>
          <p:cNvPr id="213" name="Google Shape;213;p23"/>
          <p:cNvSpPr txBox="1"/>
          <p:nvPr/>
        </p:nvSpPr>
        <p:spPr>
          <a:xfrm>
            <a:off x="136133" y="4467631"/>
            <a:ext cx="8474467" cy="170456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C00000"/>
              </a:buClr>
              <a:buSzPts val="1800"/>
              <a:buFont typeface="Calibri" panose="020F0502020204030204"/>
              <a:buAutoNum type="arabicPeriod"/>
            </a:pPr>
            <a:r>
              <a:rPr lang="en-US" sz="1800" b="1" i="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Development Team (Scrum Team):</a:t>
            </a:r>
            <a:endParaRPr dirty="0"/>
          </a:p>
          <a:p>
            <a:pPr marL="742950" marR="0" lvl="1" indent="-285750" algn="just" rtl="0">
              <a:lnSpc>
                <a:spcPct val="150000"/>
              </a:lnSpc>
              <a:spcBef>
                <a:spcPts val="0"/>
              </a:spcBef>
              <a:spcAft>
                <a:spcPts val="0"/>
              </a:spcAft>
              <a:buClr>
                <a:schemeClr val="dk1"/>
              </a:buClr>
              <a:buSzPts val="1800"/>
              <a:buFont typeface="Times New Roman" panose="02020603050405020304"/>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Motivate the team to achieve the goal.</a:t>
            </a:r>
            <a:endParaRPr dirty="0"/>
          </a:p>
          <a:p>
            <a:pPr marL="742950" marR="0" lvl="1" indent="-285750" algn="just" rtl="0">
              <a:lnSpc>
                <a:spcPct val="150000"/>
              </a:lnSpc>
              <a:spcBef>
                <a:spcPts val="0"/>
              </a:spcBef>
              <a:spcAft>
                <a:spcPts val="0"/>
              </a:spcAft>
              <a:buClr>
                <a:schemeClr val="dk1"/>
              </a:buClr>
              <a:buSzPts val="1800"/>
              <a:buFont typeface="Times New Roman" panose="02020603050405020304"/>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It take input from others but when it comes to </a:t>
            </a:r>
            <a:r>
              <a:rPr lang="en-US" sz="1800" b="0" i="1"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making major decisions</a:t>
            </a: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ultimately he/she is responsible.</a:t>
            </a:r>
            <a:endParaRPr dirty="0"/>
          </a:p>
        </p:txBody>
      </p:sp>
      <p:sp>
        <p:nvSpPr>
          <p:cNvPr id="214" name="Google Shape;214;p23"/>
          <p:cNvSpPr txBox="1"/>
          <p:nvPr/>
        </p:nvSpPr>
        <p:spPr>
          <a:xfrm>
            <a:off x="3180900" y="4190632"/>
            <a:ext cx="2662687"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dirty="0">
                <a:solidFill>
                  <a:schemeClr val="dk1"/>
                </a:solidFill>
                <a:latin typeface="Times New Roman" panose="02020603050405020304" charset="0"/>
                <a:cs typeface="Times New Roman" panose="02020603050405020304" charset="0"/>
                <a:sym typeface="Arial" panose="020B0604020202020204"/>
              </a:rPr>
              <a:t>Figure 6: Role of Scrum Team</a:t>
            </a:r>
            <a:endParaRPr b="1" dirty="0">
              <a:solidFill>
                <a:schemeClr val="dk1"/>
              </a:solidFill>
              <a:latin typeface="Times New Roman" panose="02020603050405020304" charset="0"/>
              <a:cs typeface="Times New Roman" panose="02020603050405020304" charset="0"/>
              <a:sym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Scrum Roles (contd.)</a:t>
            </a:r>
            <a:endParaRPr lang="en-US" sz="2800" b="1">
              <a:latin typeface="Times"/>
              <a:ea typeface="Times"/>
              <a:cs typeface="Times"/>
              <a:sym typeface="Times"/>
            </a:endParaRPr>
          </a:p>
        </p:txBody>
      </p:sp>
      <p:sp>
        <p:nvSpPr>
          <p:cNvPr id="220" name="Google Shape;220;p2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21" name="Google Shape;221;p24"/>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222" name="Google Shape;222;p24"/>
          <p:cNvSpPr txBox="1"/>
          <p:nvPr/>
        </p:nvSpPr>
        <p:spPr>
          <a:xfrm>
            <a:off x="215758" y="955675"/>
            <a:ext cx="8623442" cy="5444054"/>
          </a:xfrm>
          <a:prstGeom prst="rect">
            <a:avLst/>
          </a:prstGeom>
          <a:noFill/>
          <a:ln>
            <a:noFill/>
          </a:ln>
        </p:spPr>
        <p:txBody>
          <a:bodyPr spcFirstLastPara="1" wrap="square" lIns="91425" tIns="45700" rIns="91425" bIns="45700" anchor="t" anchorCtr="0">
            <a:spAutoFit/>
          </a:bodyPr>
          <a:lstStyle/>
          <a:p>
            <a:pPr marL="342900" marR="0" lvl="1" indent="-342900" algn="just" rtl="0">
              <a:lnSpc>
                <a:spcPct val="150000"/>
              </a:lnSpc>
              <a:spcBef>
                <a:spcPts val="0"/>
              </a:spcBef>
              <a:spcAft>
                <a:spcPts val="0"/>
              </a:spcAft>
              <a:buClr>
                <a:srgbClr val="C00000"/>
              </a:buClr>
              <a:buSzPts val="1800"/>
              <a:buFont typeface="Calibri" panose="020F0502020204030204"/>
              <a:buAutoNum type="arabicPeriod" startAt="2"/>
            </a:pPr>
            <a:r>
              <a:rPr lang="en-US" sz="1800" b="1" i="1" u="none" strike="noStrike" cap="none"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Scrum Master</a:t>
            </a:r>
            <a:endParaRPr dirty="0"/>
          </a:p>
          <a:p>
            <a:pPr marL="742950" marR="0" lvl="1" indent="-171450" algn="just" rtl="0">
              <a:lnSpc>
                <a:spcPct val="150000"/>
              </a:lnSpc>
              <a:spcBef>
                <a:spcPts val="0"/>
              </a:spcBef>
              <a:spcAft>
                <a:spcPts val="0"/>
              </a:spcAft>
              <a:buClr>
                <a:schemeClr val="dk1"/>
              </a:buClr>
              <a:buSzPts val="18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marR="0" lvl="1" indent="-285750" algn="just" rtl="0">
              <a:lnSpc>
                <a:spcPct val="150000"/>
              </a:lnSpc>
              <a:spcBef>
                <a:spcPts val="0"/>
              </a:spcBef>
              <a:spcAft>
                <a:spcPts val="0"/>
              </a:spcAft>
              <a:buClr>
                <a:schemeClr val="dk1"/>
              </a:buClr>
              <a:buSzPts val="1800"/>
              <a:buFont typeface="Times New Roman" panose="02020603050405020304"/>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Ensures that all the team members follow scrum’s theories, rules, and practices. </a:t>
            </a:r>
            <a:endParaRPr dirty="0"/>
          </a:p>
          <a:p>
            <a:pPr marL="742950" marR="0" lvl="1" indent="-285750" algn="just" rtl="0">
              <a:lnSpc>
                <a:spcPct val="150000"/>
              </a:lnSpc>
              <a:spcBef>
                <a:spcPts val="0"/>
              </a:spcBef>
              <a:spcAft>
                <a:spcPts val="0"/>
              </a:spcAft>
              <a:buClr>
                <a:schemeClr val="dk1"/>
              </a:buClr>
              <a:buSzPts val="1800"/>
              <a:buFont typeface="Times New Roman" panose="02020603050405020304"/>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It makes sure the Scrum Team has whatever it needs to complete its work, like removing roadblocks that are holding up progress, organizing meetings, dealing with challenges and bottlenecks.</a:t>
            </a:r>
            <a:endParaRPr dirty="0"/>
          </a:p>
          <a:p>
            <a:pPr marL="742950" marR="0" lvl="1" indent="-171450" algn="just" rtl="0">
              <a:lnSpc>
                <a:spcPct val="150000"/>
              </a:lnSpc>
              <a:spcBef>
                <a:spcPts val="0"/>
              </a:spcBef>
              <a:spcAft>
                <a:spcPts val="0"/>
              </a:spcAft>
              <a:buClr>
                <a:schemeClr val="dk1"/>
              </a:buClr>
              <a:buSzPts val="18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1" indent="-342900" algn="just" rtl="0">
              <a:lnSpc>
                <a:spcPct val="150000"/>
              </a:lnSpc>
              <a:spcBef>
                <a:spcPts val="0"/>
              </a:spcBef>
              <a:spcAft>
                <a:spcPts val="0"/>
              </a:spcAft>
              <a:buClr>
                <a:srgbClr val="C00000"/>
              </a:buClr>
              <a:buSzPts val="1800"/>
              <a:buFont typeface="Calibri" panose="020F0502020204030204"/>
              <a:buAutoNum type="arabicPeriod" startAt="3"/>
            </a:pPr>
            <a:r>
              <a:rPr lang="en-US" sz="1800" b="1" i="1" u="none" strike="noStrike" cap="none"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Product Owner</a:t>
            </a:r>
            <a:endParaRPr dirty="0"/>
          </a:p>
          <a:p>
            <a:pPr marL="742950" marR="0" lvl="1" indent="-285750" algn="just" rtl="0">
              <a:lnSpc>
                <a:spcPct val="150000"/>
              </a:lnSpc>
              <a:spcBef>
                <a:spcPts val="0"/>
              </a:spcBef>
              <a:spcAft>
                <a:spcPts val="0"/>
              </a:spcAft>
              <a:buClr>
                <a:schemeClr val="dk1"/>
              </a:buClr>
              <a:buSzPts val="1800"/>
              <a:buFont typeface="Times New Roman" panose="02020603050405020304"/>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Working together to deliver products</a:t>
            </a:r>
            <a:endParaRPr dirty="0"/>
          </a:p>
          <a:p>
            <a:pPr marL="742950" marR="0" lvl="1" indent="-285750" algn="just" rtl="0">
              <a:lnSpc>
                <a:spcPct val="150000"/>
              </a:lnSpc>
              <a:spcBef>
                <a:spcPts val="0"/>
              </a:spcBef>
              <a:spcAft>
                <a:spcPts val="0"/>
              </a:spcAft>
              <a:buClr>
                <a:schemeClr val="dk1"/>
              </a:buClr>
              <a:buSzPts val="1800"/>
              <a:buFont typeface="Times New Roman" panose="02020603050405020304"/>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Scrum development teams are given the freedom to organize themselves and manage their own work to maximize the team’s effectiveness and efficiency.</a:t>
            </a:r>
            <a:endParaRPr dirty="0"/>
          </a:p>
          <a:p>
            <a:pPr marL="457200" marR="0" lvl="1" indent="0" algn="just" rtl="0">
              <a:lnSpc>
                <a:spcPct val="150000"/>
              </a:lnSpc>
              <a:spcBef>
                <a:spcPts val="0"/>
              </a:spcBef>
              <a:spcAft>
                <a:spcPts val="0"/>
              </a:spcAft>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742950" marR="0" lvl="1" indent="-171450" algn="just" rtl="0">
              <a:lnSpc>
                <a:spcPct val="150000"/>
              </a:lnSpc>
              <a:spcBef>
                <a:spcPts val="0"/>
              </a:spcBef>
              <a:spcAft>
                <a:spcPts val="0"/>
              </a:spcAft>
              <a:buClr>
                <a:schemeClr val="dk1"/>
              </a:buClr>
              <a:buSzPts val="18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Events in Scrum</a:t>
            </a:r>
            <a:endParaRPr lang="en-US" sz="2800" b="1">
              <a:latin typeface="Times"/>
              <a:ea typeface="Times"/>
              <a:cs typeface="Times"/>
              <a:sym typeface="Times"/>
            </a:endParaRPr>
          </a:p>
        </p:txBody>
      </p:sp>
      <p:sp>
        <p:nvSpPr>
          <p:cNvPr id="228" name="Google Shape;228;p2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29" name="Google Shape;229;p25"/>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pic>
        <p:nvPicPr>
          <p:cNvPr id="230" name="Google Shape;230;p25"/>
          <p:cNvPicPr preferRelativeResize="0"/>
          <p:nvPr/>
        </p:nvPicPr>
        <p:blipFill rotWithShape="1">
          <a:blip r:embed="rId1"/>
          <a:srcRect/>
          <a:stretch>
            <a:fillRect/>
          </a:stretch>
        </p:blipFill>
        <p:spPr>
          <a:xfrm>
            <a:off x="990600" y="1086314"/>
            <a:ext cx="7344312" cy="4800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Events in Scrum (contd.)</a:t>
            </a:r>
            <a:endParaRPr lang="en-US" sz="2800" b="1">
              <a:latin typeface="Times"/>
              <a:ea typeface="Times"/>
              <a:cs typeface="Times"/>
              <a:sym typeface="Times"/>
            </a:endParaRPr>
          </a:p>
        </p:txBody>
      </p:sp>
      <p:sp>
        <p:nvSpPr>
          <p:cNvPr id="236" name="Google Shape;236;p2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37" name="Google Shape;237;p26"/>
          <p:cNvSpPr txBox="1">
            <a:spLocks noGrp="1"/>
          </p:cNvSpPr>
          <p:nvPr>
            <p:ph type="body" idx="1"/>
          </p:nvPr>
        </p:nvSpPr>
        <p:spPr>
          <a:xfrm>
            <a:off x="136133" y="1108075"/>
            <a:ext cx="8839200" cy="5216525"/>
          </a:xfrm>
          <a:prstGeom prst="rect">
            <a:avLst/>
          </a:prstGeom>
          <a:noFill/>
          <a:ln>
            <a:noFill/>
          </a:ln>
        </p:spPr>
        <p:txBody>
          <a:bodyPr spcFirstLastPara="1" wrap="square" lIns="91425" tIns="45700" rIns="91425" bIns="45700" anchor="t" anchorCtr="0">
            <a:noAutofit/>
          </a:bodyPr>
          <a:lstStyle/>
          <a:p>
            <a:pPr marL="285750" lvl="0" indent="-285750" algn="just" rtl="0">
              <a:lnSpc>
                <a:spcPct val="150000"/>
              </a:lnSpc>
              <a:spcBef>
                <a:spcPts val="0"/>
              </a:spcBef>
              <a:spcAft>
                <a:spcPts val="0"/>
              </a:spcAft>
              <a:buClr>
                <a:srgbClr val="C00000"/>
              </a:buClr>
              <a:buSzPts val="1800"/>
              <a:buFont typeface="Arial" panose="020B0604020202020204"/>
              <a:buChar char="•"/>
            </a:pPr>
            <a:r>
              <a:rPr lang="en-US" sz="1800" b="1" i="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Sprint Planning: </a:t>
            </a:r>
            <a:r>
              <a:rPr lang="en-US" sz="1800" dirty="0">
                <a:latin typeface="Times New Roman" panose="02020603050405020304"/>
                <a:ea typeface="Times New Roman" panose="02020603050405020304"/>
                <a:cs typeface="Times New Roman" panose="02020603050405020304"/>
                <a:sym typeface="Times New Roman" panose="02020603050405020304"/>
              </a:rPr>
              <a:t>It is a meeting where the work to be done during a sprint is mapped out and the team members are assigned the work necessary to achieve that goal.</a:t>
            </a:r>
            <a:endParaRPr dirty="0"/>
          </a:p>
          <a:p>
            <a:pPr marL="285750" lvl="0" indent="-222250" algn="just" rtl="0">
              <a:lnSpc>
                <a:spcPct val="150000"/>
              </a:lnSpc>
              <a:spcBef>
                <a:spcPts val="200"/>
              </a:spcBef>
              <a:spcAft>
                <a:spcPts val="0"/>
              </a:spcAft>
              <a:buClr>
                <a:schemeClr val="dk1"/>
              </a:buClr>
              <a:buSzPts val="1000"/>
              <a:buFont typeface="Arial" panose="020B0604020202020204"/>
              <a:buNone/>
            </a:pPr>
            <a:endParaRPr sz="1000" dirty="0">
              <a:latin typeface="Times New Roman" panose="02020603050405020304"/>
              <a:ea typeface="Times New Roman" panose="02020603050405020304"/>
              <a:cs typeface="Times New Roman" panose="02020603050405020304"/>
              <a:sym typeface="Times New Roman" panose="02020603050405020304"/>
            </a:endParaRPr>
          </a:p>
          <a:p>
            <a:pPr marL="285750" lvl="0" indent="-285750" algn="just" rtl="0">
              <a:lnSpc>
                <a:spcPct val="150000"/>
              </a:lnSpc>
              <a:spcBef>
                <a:spcPts val="360"/>
              </a:spcBef>
              <a:spcAft>
                <a:spcPts val="0"/>
              </a:spcAft>
              <a:buClr>
                <a:srgbClr val="C00000"/>
              </a:buClr>
              <a:buSzPts val="1800"/>
              <a:buFont typeface="Arial" panose="020B0604020202020204"/>
              <a:buChar char="•"/>
            </a:pPr>
            <a:r>
              <a:rPr lang="en-US" sz="1800" b="1" i="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Daily Scrum: </a:t>
            </a:r>
            <a:r>
              <a:rPr lang="en-US" sz="1800" dirty="0">
                <a:latin typeface="Times New Roman" panose="02020603050405020304"/>
                <a:ea typeface="Times New Roman" panose="02020603050405020304"/>
                <a:cs typeface="Times New Roman" panose="02020603050405020304"/>
                <a:sym typeface="Times New Roman" panose="02020603050405020304"/>
              </a:rPr>
              <a:t>Also known as a stand-up, it is a 15-minute daily meeting where the team has a chance to get on the same page and put together a strategy for the next 24 hours.</a:t>
            </a:r>
            <a:endParaRPr dirty="0"/>
          </a:p>
          <a:p>
            <a:pPr marL="285750" lvl="0" indent="-222250" algn="just" rtl="0">
              <a:lnSpc>
                <a:spcPct val="150000"/>
              </a:lnSpc>
              <a:spcBef>
                <a:spcPts val="200"/>
              </a:spcBef>
              <a:spcAft>
                <a:spcPts val="0"/>
              </a:spcAft>
              <a:buClr>
                <a:schemeClr val="dk1"/>
              </a:buClr>
              <a:buSzPts val="1000"/>
              <a:buFont typeface="Arial" panose="020B0604020202020204"/>
              <a:buNone/>
            </a:pPr>
            <a:endParaRPr sz="1000" dirty="0">
              <a:latin typeface="Times New Roman" panose="02020603050405020304"/>
              <a:ea typeface="Times New Roman" panose="02020603050405020304"/>
              <a:cs typeface="Times New Roman" panose="02020603050405020304"/>
              <a:sym typeface="Times New Roman" panose="02020603050405020304"/>
            </a:endParaRPr>
          </a:p>
          <a:p>
            <a:pPr marL="285750" lvl="0" indent="-285750" algn="just" rtl="0">
              <a:lnSpc>
                <a:spcPct val="150000"/>
              </a:lnSpc>
              <a:spcBef>
                <a:spcPts val="360"/>
              </a:spcBef>
              <a:spcAft>
                <a:spcPts val="0"/>
              </a:spcAft>
              <a:buClr>
                <a:srgbClr val="C00000"/>
              </a:buClr>
              <a:buSzPts val="1800"/>
              <a:buFont typeface="Arial" panose="020B0604020202020204"/>
              <a:buChar char="•"/>
            </a:pPr>
            <a:r>
              <a:rPr lang="en-US" sz="1800" b="1" i="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Sprint Review: </a:t>
            </a:r>
            <a:r>
              <a:rPr lang="en-US" sz="1800" dirty="0">
                <a:latin typeface="Times New Roman" panose="02020603050405020304"/>
                <a:ea typeface="Times New Roman" panose="02020603050405020304"/>
                <a:cs typeface="Times New Roman" panose="02020603050405020304"/>
                <a:sym typeface="Times New Roman" panose="02020603050405020304"/>
              </a:rPr>
              <a:t>During the sprint review, product owner explains what the planned work was and what was not completed during the Sprint. </a:t>
            </a:r>
            <a:endParaRPr dirty="0"/>
          </a:p>
          <a:p>
            <a:pPr marL="285750" lvl="0" indent="-222250" algn="just" rtl="0">
              <a:lnSpc>
                <a:spcPct val="150000"/>
              </a:lnSpc>
              <a:spcBef>
                <a:spcPts val="200"/>
              </a:spcBef>
              <a:spcAft>
                <a:spcPts val="0"/>
              </a:spcAft>
              <a:buClr>
                <a:schemeClr val="dk1"/>
              </a:buClr>
              <a:buSzPts val="1000"/>
              <a:buFont typeface="Arial" panose="020B0604020202020204"/>
              <a:buNone/>
            </a:pPr>
            <a:endParaRPr sz="1000" dirty="0">
              <a:latin typeface="Times New Roman" panose="02020603050405020304"/>
              <a:ea typeface="Times New Roman" panose="02020603050405020304"/>
              <a:cs typeface="Times New Roman" panose="02020603050405020304"/>
              <a:sym typeface="Times New Roman" panose="02020603050405020304"/>
            </a:endParaRPr>
          </a:p>
          <a:p>
            <a:pPr marL="285750" lvl="0" indent="-285750" algn="just" rtl="0">
              <a:lnSpc>
                <a:spcPct val="150000"/>
              </a:lnSpc>
              <a:spcBef>
                <a:spcPts val="360"/>
              </a:spcBef>
              <a:spcAft>
                <a:spcPts val="0"/>
              </a:spcAft>
              <a:buClr>
                <a:srgbClr val="C00000"/>
              </a:buClr>
              <a:buSzPts val="1800"/>
              <a:buFont typeface="Arial" panose="020B0604020202020204"/>
              <a:buChar char="•"/>
            </a:pPr>
            <a:r>
              <a:rPr lang="en-US" sz="1800" b="1" i="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Sprint Retrospective: </a:t>
            </a:r>
            <a:r>
              <a:rPr lang="en-US" sz="1800" dirty="0">
                <a:latin typeface="Times New Roman" panose="02020603050405020304"/>
                <a:ea typeface="Times New Roman" panose="02020603050405020304"/>
                <a:cs typeface="Times New Roman" panose="02020603050405020304"/>
                <a:sym typeface="Times New Roman" panose="02020603050405020304"/>
              </a:rPr>
              <a:t>During sprint retrospective, the team discusses what went right, what went wrong, and how to improve. They decide on how to fix the problems and create a plan for improvements to be enacted during the next sprint.</a:t>
            </a:r>
            <a:endParaRPr dirty="0"/>
          </a:p>
          <a:p>
            <a:pPr marL="0" marR="0" lvl="0" indent="0" algn="l" rtl="0">
              <a:lnSpc>
                <a:spcPct val="150000"/>
              </a:lnSpc>
              <a:spcBef>
                <a:spcPts val="0"/>
              </a:spcBef>
              <a:spcAft>
                <a:spcPts val="0"/>
              </a:spcAft>
              <a:buClr>
                <a:schemeClr val="dk1"/>
              </a:buClr>
              <a:buSzPts val="1800"/>
              <a:buNone/>
            </a:pP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Scrum Artifacts</a:t>
            </a:r>
            <a:endParaRPr lang="en-US" sz="2800" b="1">
              <a:latin typeface="Times"/>
              <a:ea typeface="Times"/>
              <a:cs typeface="Times"/>
              <a:sym typeface="Times"/>
            </a:endParaRPr>
          </a:p>
        </p:txBody>
      </p:sp>
      <p:sp>
        <p:nvSpPr>
          <p:cNvPr id="243" name="Google Shape;243;p2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44" name="Google Shape;244;p27"/>
          <p:cNvSpPr/>
          <p:nvPr/>
        </p:nvSpPr>
        <p:spPr>
          <a:xfrm>
            <a:off x="304800" y="1066800"/>
            <a:ext cx="8458200" cy="466277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1" i="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Artifacts</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are just physical records that provide project details when developing a product. Scrum Artifacts include:</a:t>
            </a:r>
            <a:endParaRPr sz="1800" dirty="0">
              <a:latin typeface="Times New Roman" panose="02020603050405020304" charset="0"/>
              <a:cs typeface="Times New Roman" panose="02020603050405020304" charset="0"/>
            </a:endParaRPr>
          </a:p>
          <a:p>
            <a:pPr marL="342900" marR="0" lvl="0" indent="-215900" algn="l" rtl="0">
              <a:lnSpc>
                <a:spcPct val="150000"/>
              </a:lnSpc>
              <a:spcBef>
                <a:spcPts val="0"/>
              </a:spcBef>
              <a:spcAft>
                <a:spcPts val="0"/>
              </a:spcAft>
              <a:buClr>
                <a:schemeClr val="dk1"/>
              </a:buClr>
              <a:buSzPts val="2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457200" marR="0" lvl="0" indent="-457200" algn="just" rtl="0">
              <a:lnSpc>
                <a:spcPct val="150000"/>
              </a:lnSpc>
              <a:spcBef>
                <a:spcPts val="0"/>
              </a:spcBef>
              <a:spcAft>
                <a:spcPts val="0"/>
              </a:spcAft>
              <a:buClr>
                <a:srgbClr val="C00000"/>
              </a:buClr>
              <a:buSzPts val="2000"/>
              <a:buFont typeface="Calibri" panose="020F0502020204030204"/>
              <a:buAutoNum type="arabicPeriod"/>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Product Backlog:</a:t>
            </a:r>
            <a:r>
              <a:rPr lang="en-US"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It is a simple document that outlines the </a:t>
            </a:r>
            <a:r>
              <a:rPr lang="en-US" sz="1800" b="1" i="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list of tasks and every requirement that the final product needs</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It is constantly evolving and is never complete. For each item in the product backlog, you should add some additional information like:</a:t>
            </a:r>
            <a:endParaRPr sz="1800" dirty="0">
              <a:latin typeface="Times New Roman" panose="02020603050405020304" charset="0"/>
              <a:cs typeface="Times New Roman" panose="02020603050405020304" charset="0"/>
            </a:endParaRPr>
          </a:p>
          <a:p>
            <a:pPr marL="1257300" marR="0" lvl="2" indent="-34290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Description</a:t>
            </a:r>
            <a:endParaRPr sz="1800" dirty="0">
              <a:latin typeface="Times New Roman" panose="02020603050405020304" charset="0"/>
              <a:cs typeface="Times New Roman" panose="02020603050405020304" charset="0"/>
            </a:endParaRPr>
          </a:p>
          <a:p>
            <a:pPr marL="1257300" marR="0" lvl="2" indent="-34290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Order based on priority</a:t>
            </a:r>
            <a:endParaRPr sz="1800" dirty="0">
              <a:latin typeface="Times New Roman" panose="02020603050405020304" charset="0"/>
              <a:cs typeface="Times New Roman" panose="02020603050405020304" charset="0"/>
            </a:endParaRPr>
          </a:p>
          <a:p>
            <a:pPr marL="1257300" marR="0" lvl="2" indent="-34290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Estimate</a:t>
            </a:r>
            <a:endParaRPr sz="1800" dirty="0">
              <a:latin typeface="Times New Roman" panose="02020603050405020304" charset="0"/>
              <a:cs typeface="Times New Roman" panose="02020603050405020304" charset="0"/>
            </a:endParaRPr>
          </a:p>
          <a:p>
            <a:pPr marL="1257300" marR="0" lvl="2" indent="-34290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Value to the business</a:t>
            </a:r>
            <a:endParaRPr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latin typeface="Times"/>
                <a:ea typeface="Times"/>
                <a:cs typeface="Times"/>
                <a:sym typeface="Times"/>
              </a:rPr>
              <a:t>Scrum Artifacts (contd.)</a:t>
            </a:r>
            <a:endParaRPr lang="en-US" sz="2800" b="1">
              <a:latin typeface="Times"/>
              <a:ea typeface="Times"/>
              <a:cs typeface="Times"/>
              <a:sym typeface="Times"/>
            </a:endParaRPr>
          </a:p>
        </p:txBody>
      </p:sp>
      <p:sp>
        <p:nvSpPr>
          <p:cNvPr id="250" name="Google Shape;250;p2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51" name="Google Shape;251;p28"/>
          <p:cNvSpPr/>
          <p:nvPr/>
        </p:nvSpPr>
        <p:spPr>
          <a:xfrm>
            <a:off x="228600" y="990600"/>
            <a:ext cx="8458200" cy="5078273"/>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50000"/>
              </a:lnSpc>
              <a:spcBef>
                <a:spcPts val="0"/>
              </a:spcBef>
              <a:spcAft>
                <a:spcPts val="0"/>
              </a:spcAft>
              <a:buClr>
                <a:srgbClr val="C00000"/>
              </a:buClr>
              <a:buSzPts val="2000"/>
              <a:buFont typeface="Calibri" panose="020F0502020204030204"/>
              <a:buAutoNum type="arabicPeriod" startAt="2"/>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Sprint Backlog</a:t>
            </a:r>
            <a:r>
              <a:rPr lang="en-US"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It is the</a:t>
            </a:r>
            <a:r>
              <a:rPr lang="en-US" sz="1800" b="1" dirty="0">
                <a:solidFill>
                  <a:srgbClr val="002060"/>
                </a:solidFill>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list of all items from the product backlog that need to be worked on during a sprint</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Team members sign up for tasks based on their skills and priorities. It is a </a:t>
            </a:r>
            <a:r>
              <a:rPr lang="en-US"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real-time picture of the work </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that the team currently plans to complete during the </a:t>
            </a:r>
            <a:r>
              <a:rPr lang="en-US" sz="1800" dirty="0" smtClean="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sprint.</a:t>
            </a:r>
            <a:endParaRPr lang="en-US" sz="1800" dirty="0">
              <a:latin typeface="Times New Roman" panose="02020603050405020304" charset="0"/>
              <a:ea typeface="Times New Roman" panose="02020603050405020304"/>
              <a:cs typeface="Times New Roman" panose="02020603050405020304" charset="0"/>
            </a:endParaRPr>
          </a:p>
          <a:p>
            <a:pPr marL="457200" marR="0" lvl="0" indent="-457200" algn="just" rtl="0">
              <a:lnSpc>
                <a:spcPct val="150000"/>
              </a:lnSpc>
              <a:spcBef>
                <a:spcPts val="0"/>
              </a:spcBef>
              <a:spcAft>
                <a:spcPts val="0"/>
              </a:spcAft>
              <a:buClr>
                <a:srgbClr val="C00000"/>
              </a:buClr>
              <a:buSzPts val="2000"/>
              <a:buFont typeface="Calibri" panose="020F0502020204030204"/>
              <a:buAutoNum type="arabicPeriod" startAt="2"/>
            </a:pPr>
            <a:endPar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457200" marR="0" lvl="0" indent="-457200" algn="just" rtl="0">
              <a:lnSpc>
                <a:spcPct val="150000"/>
              </a:lnSpc>
              <a:spcBef>
                <a:spcPts val="0"/>
              </a:spcBef>
              <a:spcAft>
                <a:spcPts val="0"/>
              </a:spcAft>
              <a:buClr>
                <a:srgbClr val="C00000"/>
              </a:buClr>
              <a:buSzPts val="2000"/>
              <a:buFont typeface="Calibri" panose="020F0502020204030204"/>
              <a:buAutoNum type="arabicPeriod" startAt="2"/>
            </a:pPr>
            <a:r>
              <a:rPr lang="en-US" sz="1800" b="1" dirty="0" err="1" smtClean="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Burndown</a:t>
            </a:r>
            <a:r>
              <a:rPr lang="en-US" sz="1800" b="1" dirty="0" smtClean="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Chart: </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It is a graphical representation of the amount of </a:t>
            </a:r>
            <a:r>
              <a:rPr lang="en-US"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estimated remaining </a:t>
            </a:r>
            <a:r>
              <a:rPr lang="en-US" sz="1800" b="1" dirty="0" smtClean="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work.</a:t>
            </a:r>
            <a:endParaRPr lang="en-US" sz="1800" dirty="0">
              <a:latin typeface="Times New Roman" panose="02020603050405020304" charset="0"/>
              <a:ea typeface="Times New Roman" panose="02020603050405020304"/>
              <a:cs typeface="Times New Roman" panose="02020603050405020304" charset="0"/>
            </a:endParaRPr>
          </a:p>
          <a:p>
            <a:pPr marL="457200" marR="0" lvl="0" indent="-457200" algn="just" rtl="0">
              <a:lnSpc>
                <a:spcPct val="150000"/>
              </a:lnSpc>
              <a:spcBef>
                <a:spcPts val="0"/>
              </a:spcBef>
              <a:spcAft>
                <a:spcPts val="0"/>
              </a:spcAft>
              <a:buClr>
                <a:srgbClr val="C00000"/>
              </a:buClr>
              <a:buSzPts val="2000"/>
              <a:buFont typeface="Calibri" panose="020F0502020204030204"/>
              <a:buAutoNum type="arabicPeriod" startAt="2"/>
            </a:pPr>
            <a:endPar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457200" marR="0" lvl="0" indent="-457200" algn="just" rtl="0">
              <a:lnSpc>
                <a:spcPct val="150000"/>
              </a:lnSpc>
              <a:spcBef>
                <a:spcPts val="0"/>
              </a:spcBef>
              <a:spcAft>
                <a:spcPts val="0"/>
              </a:spcAft>
              <a:buClr>
                <a:srgbClr val="C00000"/>
              </a:buClr>
              <a:buSzPts val="2000"/>
              <a:buFont typeface="Calibri" panose="020F0502020204030204"/>
              <a:buAutoNum type="arabicPeriod" startAt="2"/>
            </a:pPr>
            <a:r>
              <a:rPr lang="en-US" sz="1800" b="1" dirty="0" smtClean="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Product </a:t>
            </a: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Increment: </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most important artifact is the product improvement, or in other words, the sum of product work completed during a Sprint, combined with all work completed during previous sprints.</a:t>
            </a:r>
            <a:endParaRPr sz="1800" dirty="0">
              <a:latin typeface="Times New Roman" panose="02020603050405020304" charset="0"/>
              <a:cs typeface="Times New Roman" panose="02020603050405020304" charset="0"/>
            </a:endParaRPr>
          </a:p>
          <a:p>
            <a:pPr marL="285750" marR="0" lvl="0" indent="-158750" algn="just" rtl="0">
              <a:lnSpc>
                <a:spcPct val="150000"/>
              </a:lnSpc>
              <a:spcBef>
                <a:spcPts val="0"/>
              </a:spcBef>
              <a:spcAft>
                <a:spcPts val="0"/>
              </a:spcAft>
              <a:buClr>
                <a:schemeClr val="dk1"/>
              </a:buClr>
              <a:buSzPts val="2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Scrum Framework</a:t>
            </a:r>
            <a:endParaRPr lang="en-US" b="1">
              <a:latin typeface="Times"/>
              <a:ea typeface="Times"/>
              <a:cs typeface="Times"/>
              <a:sym typeface="Times"/>
            </a:endParaRPr>
          </a:p>
        </p:txBody>
      </p:sp>
      <p:sp>
        <p:nvSpPr>
          <p:cNvPr id="257" name="Google Shape;257;p2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58" name="Google Shape;258;p29"/>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pic>
        <p:nvPicPr>
          <p:cNvPr id="259" name="Google Shape;259;p29"/>
          <p:cNvPicPr preferRelativeResize="0"/>
          <p:nvPr/>
        </p:nvPicPr>
        <p:blipFill rotWithShape="1">
          <a:blip r:embed="rId1"/>
          <a:srcRect/>
          <a:stretch>
            <a:fillRect/>
          </a:stretch>
        </p:blipFill>
        <p:spPr>
          <a:xfrm>
            <a:off x="320074" y="1447800"/>
            <a:ext cx="8702348" cy="4265576"/>
          </a:xfrm>
          <a:prstGeom prst="rect">
            <a:avLst/>
          </a:prstGeom>
          <a:noFill/>
          <a:ln>
            <a:noFill/>
          </a:ln>
        </p:spPr>
      </p:pic>
      <p:sp>
        <p:nvSpPr>
          <p:cNvPr id="260" name="Google Shape;260;p29"/>
          <p:cNvSpPr txBox="1"/>
          <p:nvPr/>
        </p:nvSpPr>
        <p:spPr>
          <a:xfrm>
            <a:off x="3238499" y="6123800"/>
            <a:ext cx="2505075"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dirty="0">
                <a:solidFill>
                  <a:schemeClr val="dk1"/>
                </a:solidFill>
                <a:latin typeface="Times New Roman" panose="02020603050405020304" charset="0"/>
                <a:cs typeface="Times New Roman" panose="02020603050405020304" charset="0"/>
                <a:sym typeface="Arial" panose="020B0604020202020204"/>
              </a:rPr>
              <a:t>Figure 7: Scrum Framework</a:t>
            </a:r>
            <a:endParaRPr b="1" dirty="0">
              <a:solidFill>
                <a:schemeClr val="dk1"/>
              </a:solidFill>
              <a:latin typeface="Times New Roman" panose="02020603050405020304" charset="0"/>
              <a:cs typeface="Times New Roman" panose="02020603050405020304" charset="0"/>
              <a:sym typeface="Arial" panose="020B06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Scrum Framework (contd.)</a:t>
            </a:r>
            <a:endParaRPr lang="en-US" b="1">
              <a:latin typeface="Times"/>
              <a:ea typeface="Times"/>
              <a:cs typeface="Times"/>
              <a:sym typeface="Times"/>
            </a:endParaRPr>
          </a:p>
        </p:txBody>
      </p:sp>
      <p:sp>
        <p:nvSpPr>
          <p:cNvPr id="266" name="Google Shape;266;p3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67" name="Google Shape;267;p30"/>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268" name="Google Shape;268;p30"/>
          <p:cNvSpPr txBox="1"/>
          <p:nvPr/>
        </p:nvSpPr>
        <p:spPr>
          <a:xfrm>
            <a:off x="304800" y="1247139"/>
            <a:ext cx="8534400"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Step 1:</a:t>
            </a:r>
            <a:r>
              <a:rPr lang="en-US"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 </a:t>
            </a:r>
            <a:endParaRPr sz="1800" dirty="0">
              <a:latin typeface="Times New Roman" panose="02020603050405020304" charset="0"/>
              <a:cs typeface="Times New Roman" panose="02020603050405020304" charset="0"/>
            </a:endParaRPr>
          </a:p>
          <a:p>
            <a:pPr marL="0" marR="0" lvl="0" indent="0" algn="just" rtl="0">
              <a:lnSpc>
                <a:spcPct val="150000"/>
              </a:lnSpc>
              <a:spcBef>
                <a:spcPts val="0"/>
              </a:spcBef>
              <a:spcAft>
                <a:spcPts val="0"/>
              </a:spcAft>
              <a:buNone/>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Scrum process begins with a </a:t>
            </a:r>
            <a:r>
              <a:rPr lang="en-US" sz="1800" b="1" i="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product owner</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Product Owner creates a </a:t>
            </a:r>
            <a:r>
              <a:rPr lang="en-US" sz="1800" b="1" i="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product backlog</a:t>
            </a:r>
            <a:r>
              <a:rPr lang="en-US"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a list of tasks and requirements the final product needs. The important part is that product backlog must be </a:t>
            </a:r>
            <a:r>
              <a:rPr lang="en-US"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prioritized.</a:t>
            </a:r>
            <a:endParaRPr sz="1800" dirty="0">
              <a:latin typeface="Times New Roman" panose="02020603050405020304" charset="0"/>
              <a:cs typeface="Times New Roman" panose="02020603050405020304" charset="0"/>
            </a:endParaRPr>
          </a:p>
          <a:p>
            <a:pPr marL="0" marR="0" lvl="0" indent="0" algn="just" rtl="0">
              <a:lnSpc>
                <a:spcPct val="150000"/>
              </a:lnSpc>
              <a:spcBef>
                <a:spcPts val="0"/>
              </a:spcBef>
              <a:spcAft>
                <a:spcPts val="0"/>
              </a:spcAft>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Step 2:</a:t>
            </a:r>
            <a:r>
              <a:rPr lang="en-US"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 </a:t>
            </a:r>
            <a:endParaRPr sz="1800" dirty="0">
              <a:latin typeface="Times New Roman" panose="02020603050405020304" charset="0"/>
              <a:cs typeface="Times New Roman" panose="02020603050405020304" charset="0"/>
            </a:endParaRPr>
          </a:p>
          <a:p>
            <a:pPr marL="0" marR="0" lvl="0" indent="0" algn="just" rtl="0">
              <a:lnSpc>
                <a:spcPct val="150000"/>
              </a:lnSpc>
              <a:spcBef>
                <a:spcPts val="0"/>
              </a:spcBef>
              <a:spcAft>
                <a:spcPts val="0"/>
              </a:spcAft>
              <a:buNone/>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scrum team gets together for </a:t>
            </a:r>
            <a:r>
              <a:rPr lang="en-US" sz="1800" b="1" i="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sprint planning</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which is when the team decides together what to work on first from the product backlog. This subset of items from the product backlog becomes the </a:t>
            </a:r>
            <a:r>
              <a:rPr lang="en-US"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s</a:t>
            </a:r>
            <a:r>
              <a:rPr lang="en-US" sz="1800" b="1" i="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print backlog</a:t>
            </a:r>
            <a:r>
              <a:rPr lang="en-US"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t>
            </a: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Scrum Framework (contd.)</a:t>
            </a:r>
            <a:endParaRPr lang="en-US" b="1">
              <a:latin typeface="Times"/>
              <a:ea typeface="Times"/>
              <a:cs typeface="Times"/>
              <a:sym typeface="Times"/>
            </a:endParaRPr>
          </a:p>
        </p:txBody>
      </p:sp>
      <p:sp>
        <p:nvSpPr>
          <p:cNvPr id="274" name="Google Shape;274;p3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75" name="Google Shape;275;p31"/>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276" name="Google Shape;276;p31"/>
          <p:cNvSpPr txBox="1"/>
          <p:nvPr/>
        </p:nvSpPr>
        <p:spPr>
          <a:xfrm>
            <a:off x="381000" y="1247139"/>
            <a:ext cx="8534400" cy="466277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Step 3:</a:t>
            </a:r>
            <a:r>
              <a:rPr lang="en-US"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 </a:t>
            </a:r>
            <a:endParaRPr sz="1800" dirty="0">
              <a:latin typeface="Times New Roman" panose="02020603050405020304" charset="0"/>
              <a:cs typeface="Times New Roman" panose="02020603050405020304" charset="0"/>
            </a:endParaRPr>
          </a:p>
          <a:p>
            <a:pPr marL="0" marR="0" lvl="0" indent="0" algn="just" rtl="0">
              <a:lnSpc>
                <a:spcPct val="150000"/>
              </a:lnSpc>
              <a:spcBef>
                <a:spcPts val="0"/>
              </a:spcBef>
              <a:spcAft>
                <a:spcPts val="0"/>
              </a:spcAft>
              <a:buNone/>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During the sprint, the team meets to communicate progress and issues, this meeting is called the </a:t>
            </a:r>
            <a:r>
              <a:rPr lang="en-US" sz="1800" b="1" i="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daily scrum. </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It is overseen by the </a:t>
            </a:r>
            <a:r>
              <a:rPr lang="en-US" sz="1800" b="1" i="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scrum master</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who ensures that all the team members follow scrum’s theories, rules, and practices.</a:t>
            </a:r>
            <a:endParaRPr sz="1800" dirty="0">
              <a:latin typeface="Times New Roman" panose="02020603050405020304" charset="0"/>
              <a:cs typeface="Times New Roman" panose="02020603050405020304" charset="0"/>
            </a:endParaRPr>
          </a:p>
          <a:p>
            <a:pPr marL="0" marR="0" lvl="0" indent="0" algn="just" rtl="0">
              <a:lnSpc>
                <a:spcPct val="150000"/>
              </a:lnSpc>
              <a:spcBef>
                <a:spcPts val="0"/>
              </a:spcBef>
              <a:spcAft>
                <a:spcPts val="0"/>
              </a:spcAft>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Step 4:</a:t>
            </a:r>
            <a:r>
              <a:rPr lang="en-US"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 </a:t>
            </a:r>
            <a:endParaRPr sz="1800" dirty="0">
              <a:latin typeface="Times New Roman" panose="02020603050405020304" charset="0"/>
              <a:cs typeface="Times New Roman" panose="02020603050405020304" charset="0"/>
            </a:endParaRPr>
          </a:p>
          <a:p>
            <a:pPr marL="0" marR="0" lvl="0" indent="0" algn="just" rtl="0">
              <a:lnSpc>
                <a:spcPct val="150000"/>
              </a:lnSpc>
              <a:spcBef>
                <a:spcPts val="0"/>
              </a:spcBef>
              <a:spcAft>
                <a:spcPts val="0"/>
              </a:spcAft>
              <a:buNone/>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At the end of the sprint, the </a:t>
            </a:r>
            <a:r>
              <a:rPr lang="en-US"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sprint review</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meeting is organized by the product owner. During the meeting, the </a:t>
            </a:r>
            <a:r>
              <a:rPr lang="en-US" sz="1800" b="1" i="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development team</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demonstrates what they completed since the last sprint. Then the product owner gives information about what is remaining on the product backlog and estimated time to complete the project if needed.</a:t>
            </a: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0" marR="0" lvl="0" indent="0" algn="just" rtl="0">
              <a:lnSpc>
                <a:spcPct val="150000"/>
              </a:lnSpc>
              <a:spcBef>
                <a:spcPts val="0"/>
              </a:spcBef>
              <a:spcAft>
                <a:spcPts val="0"/>
              </a:spcAft>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dirty="0">
                <a:latin typeface="Times"/>
                <a:ea typeface="Times"/>
                <a:cs typeface="Times"/>
                <a:sym typeface="Times"/>
              </a:rPr>
              <a:t>Extreme Programming (XP)</a:t>
            </a:r>
            <a:endParaRPr dirty="0"/>
          </a:p>
        </p:txBody>
      </p:sp>
      <p:sp>
        <p:nvSpPr>
          <p:cNvPr id="282" name="Google Shape;282;p3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83" name="Google Shape;283;p32"/>
          <p:cNvSpPr txBox="1"/>
          <p:nvPr/>
        </p:nvSpPr>
        <p:spPr>
          <a:xfrm>
            <a:off x="207196" y="1181100"/>
            <a:ext cx="8229600" cy="4495800"/>
          </a:xfrm>
          <a:prstGeom prst="rect">
            <a:avLst/>
          </a:prstGeom>
          <a:noFill/>
          <a:ln>
            <a:noFill/>
          </a:ln>
        </p:spPr>
        <p:txBody>
          <a:bodyPr spcFirstLastPara="1" wrap="square" lIns="91425" tIns="45700" rIns="91425" bIns="45700" anchor="t" anchorCtr="0">
            <a:normAutofit/>
          </a:bodyPr>
          <a:lstStyle/>
          <a:p>
            <a:pPr marL="457200" marR="0" lvl="0" indent="-457200" algn="l" rtl="0">
              <a:lnSpc>
                <a:spcPct val="150000"/>
              </a:lnSpc>
              <a:spcBef>
                <a:spcPts val="0"/>
              </a:spcBef>
              <a:spcAft>
                <a:spcPts val="0"/>
              </a:spcAft>
              <a:buClr>
                <a:schemeClr val="dk1"/>
              </a:buClr>
              <a:buSzPts val="2000"/>
              <a:buFont typeface="Arial" panose="020B0604020202020204"/>
              <a:buChar char="•"/>
            </a:pPr>
            <a:r>
              <a:rPr lang="en-US" sz="1800" b="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Extreme programming (XP), introduced in 1996 lightweight, efficient, low-risk, flexible, predictable, scientific, and fun way to develop a software</a:t>
            </a:r>
            <a:endParaRPr sz="1800" dirty="0"/>
          </a:p>
          <a:p>
            <a:pPr marL="457200" marR="0" lvl="0" indent="-457200" algn="l" rtl="0">
              <a:lnSpc>
                <a:spcPct val="150000"/>
              </a:lnSpc>
              <a:spcBef>
                <a:spcPts val="800"/>
              </a:spcBef>
              <a:spcAft>
                <a:spcPts val="0"/>
              </a:spcAft>
              <a:buClr>
                <a:schemeClr val="dk1"/>
              </a:buClr>
              <a:buSzPts val="2000"/>
              <a:buFont typeface="Arial" panose="020B0604020202020204"/>
              <a:buChar char="•"/>
            </a:pPr>
            <a:r>
              <a:rPr lang="en-US" sz="1800" b="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It is the type of Agile Development we develop software with small team where the software requirements changes rapidly.</a:t>
            </a:r>
            <a:endParaRPr sz="1800" dirty="0"/>
          </a:p>
          <a:p>
            <a:pPr marL="457200" marR="0" lvl="0" indent="-457200" algn="l" rtl="0">
              <a:lnSpc>
                <a:spcPct val="150000"/>
              </a:lnSpc>
              <a:spcBef>
                <a:spcPts val="800"/>
              </a:spcBef>
              <a:spcAft>
                <a:spcPts val="0"/>
              </a:spcAft>
              <a:buClr>
                <a:schemeClr val="dk1"/>
              </a:buClr>
              <a:buSzPts val="2000"/>
              <a:buFont typeface="Arial" panose="020B0604020202020204"/>
              <a:buChar char="•"/>
            </a:pPr>
            <a:r>
              <a:rPr lang="en-US" sz="1800" b="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It provides values and principles to guide the team behavior</a:t>
            </a:r>
            <a:endParaRPr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Values</a:t>
            </a:r>
            <a:endParaRPr lang="en-US" b="1">
              <a:latin typeface="Times"/>
              <a:ea typeface="Times"/>
              <a:cs typeface="Times"/>
              <a:sym typeface="Times"/>
            </a:endParaRPr>
          </a:p>
        </p:txBody>
      </p:sp>
      <p:sp>
        <p:nvSpPr>
          <p:cNvPr id="289" name="Google Shape;289;p3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90" name="Google Shape;290;p33"/>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291" name="Google Shape;291;p33"/>
          <p:cNvSpPr txBox="1"/>
          <p:nvPr/>
        </p:nvSpPr>
        <p:spPr>
          <a:xfrm>
            <a:off x="288533" y="993347"/>
            <a:ext cx="8534400" cy="466277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1. Communication</a:t>
            </a:r>
            <a:endParaRPr sz="1800" dirty="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XP emphasizes continuous and constant communication among the team members, managers and the customer. </a:t>
            </a:r>
            <a:endParaRPr sz="1800" dirty="0"/>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XP practices, such as unit testing, pair programming, simple designs, common metaphors, collective ownership and customer feedback focus on the value of communication.</a:t>
            </a:r>
            <a:endParaRPr sz="1800" dirty="0"/>
          </a:p>
          <a:p>
            <a:pPr marL="0" marR="0" lvl="0" indent="0" algn="just" rtl="0">
              <a:lnSpc>
                <a:spcPct val="150000"/>
              </a:lnSpc>
              <a:spcBef>
                <a:spcPts val="0"/>
              </a:spcBef>
              <a:spcAft>
                <a:spcPts val="0"/>
              </a:spcAft>
              <a:buNone/>
            </a:pPr>
            <a:endParaRPr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2. Simplicity</a:t>
            </a:r>
            <a:endParaRPr sz="1800" dirty="0"/>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XP believes in ‘it is better to do a simple thing today and pay a little more tomorrow to change it’ than ‘to do a more complicated thing today that may never be used anyway’.</a:t>
            </a:r>
            <a:endParaRPr sz="1800" dirty="0"/>
          </a:p>
          <a:p>
            <a:pPr marL="0" marR="0" lvl="0" indent="0" algn="just" rtl="0">
              <a:lnSpc>
                <a:spcPct val="150000"/>
              </a:lnSpc>
              <a:spcBef>
                <a:spcPts val="0"/>
              </a:spcBef>
              <a:spcAft>
                <a:spcPts val="0"/>
              </a:spcAft>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Values (contd.)</a:t>
            </a:r>
            <a:endParaRPr lang="en-US" b="1">
              <a:latin typeface="Times"/>
              <a:ea typeface="Times"/>
              <a:cs typeface="Times"/>
              <a:sym typeface="Times"/>
            </a:endParaRPr>
          </a:p>
        </p:txBody>
      </p:sp>
      <p:sp>
        <p:nvSpPr>
          <p:cNvPr id="297" name="Google Shape;297;p3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98" name="Google Shape;298;p34"/>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299" name="Google Shape;299;p34"/>
          <p:cNvSpPr txBox="1"/>
          <p:nvPr/>
        </p:nvSpPr>
        <p:spPr>
          <a:xfrm>
            <a:off x="288533" y="993347"/>
            <a:ext cx="8534400"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3. Feedback</a:t>
            </a:r>
            <a:endParaRPr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Every iteration commitment is taken seriously by delivering a working software. </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software is delivered early to the customer and a feedback is taken so that necessary changes can be made if needed. </a:t>
            </a:r>
            <a:endParaRPr sz="1800" dirty="0">
              <a:latin typeface="Times New Roman" panose="02020603050405020304" charset="0"/>
              <a:cs typeface="Times New Roman" panose="02020603050405020304" charset="0"/>
            </a:endParaRPr>
          </a:p>
          <a:p>
            <a:pPr marL="0" marR="0" lvl="0" indent="0" algn="just" rtl="0">
              <a:lnSpc>
                <a:spcPct val="150000"/>
              </a:lnSpc>
              <a:spcBef>
                <a:spcPts val="0"/>
              </a:spcBef>
              <a:spcAft>
                <a:spcPts val="0"/>
              </a:spcAft>
              <a:buNone/>
            </a:pPr>
            <a:endParaRPr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4. Courage</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To focus on only what is required</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To communicate and accept feedback</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To tell the truth about progress and estimates</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To adapt to changes whenever they happen</a:t>
            </a:r>
            <a:endParaRPr sz="1800" dirty="0">
              <a:latin typeface="Times New Roman" panose="02020603050405020304" charset="0"/>
              <a:cs typeface="Times New Roman" panose="020206030504050203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Values (contd.)</a:t>
            </a:r>
            <a:endParaRPr lang="en-US" b="1">
              <a:latin typeface="Times"/>
              <a:ea typeface="Times"/>
              <a:cs typeface="Times"/>
              <a:sym typeface="Times"/>
            </a:endParaRPr>
          </a:p>
        </p:txBody>
      </p:sp>
      <p:sp>
        <p:nvSpPr>
          <p:cNvPr id="305" name="Google Shape;305;p3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06" name="Google Shape;306;p35"/>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307" name="Google Shape;307;p35"/>
          <p:cNvSpPr txBox="1"/>
          <p:nvPr/>
        </p:nvSpPr>
        <p:spPr>
          <a:xfrm>
            <a:off x="288533" y="1294419"/>
            <a:ext cx="8534400"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5. Respect</a:t>
            </a:r>
            <a:endParaRPr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0" marR="0" lvl="0" indent="0" algn="l" rtl="0">
              <a:lnSpc>
                <a:spcPct val="150000"/>
              </a:lnSpc>
              <a:spcBef>
                <a:spcPts val="0"/>
              </a:spcBef>
              <a:spcAft>
                <a:spcPts val="0"/>
              </a:spcAft>
              <a:buNone/>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Respect is a deep value, one that lies below the surface of the other four values. In Extreme Programming,</a:t>
            </a:r>
            <a:endParaRPr sz="1800" dirty="0">
              <a:latin typeface="Times New Roman" panose="02020603050405020304" charset="0"/>
              <a:cs typeface="Times New Roman" panose="02020603050405020304" charset="0"/>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Everyone respects each other as a valued team member.</a:t>
            </a:r>
            <a:endParaRPr sz="1800" dirty="0">
              <a:latin typeface="Times New Roman" panose="02020603050405020304" charset="0"/>
              <a:cs typeface="Times New Roman" panose="02020603050405020304" charset="0"/>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Everyone contributes value such as enthusiasm.</a:t>
            </a:r>
            <a:endParaRPr sz="1800" dirty="0">
              <a:latin typeface="Times New Roman" panose="02020603050405020304" charset="0"/>
              <a:cs typeface="Times New Roman" panose="02020603050405020304" charset="0"/>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Developers respect the expertise of the customers and vice versa.</a:t>
            </a:r>
            <a:endParaRPr sz="1800" dirty="0">
              <a:latin typeface="Times New Roman" panose="02020603050405020304" charset="0"/>
              <a:cs typeface="Times New Roman" panose="02020603050405020304" charset="0"/>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Management respects the right of the developers to accept the responsibility and receive authority over their own work.</a:t>
            </a:r>
            <a:endParaRPr sz="1800" dirty="0">
              <a:latin typeface="Times New Roman" panose="02020603050405020304" charset="0"/>
              <a:cs typeface="Times New Roman" panose="02020603050405020304" charset="0"/>
            </a:endParaRPr>
          </a:p>
          <a:p>
            <a:pPr marL="285750" marR="0" lvl="0" indent="-158750" algn="just" rtl="0">
              <a:lnSpc>
                <a:spcPct val="150000"/>
              </a:lnSpc>
              <a:spcBef>
                <a:spcPts val="0"/>
              </a:spcBef>
              <a:spcAft>
                <a:spcPts val="0"/>
              </a:spcAft>
              <a:buClr>
                <a:schemeClr val="dk1"/>
              </a:buClr>
              <a:buSzPts val="2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Why is it called Extreme</a:t>
            </a:r>
            <a:endParaRPr lang="en-US" b="1">
              <a:latin typeface="Times"/>
              <a:ea typeface="Times"/>
              <a:cs typeface="Times"/>
              <a:sym typeface="Times"/>
            </a:endParaRPr>
          </a:p>
        </p:txBody>
      </p:sp>
      <p:sp>
        <p:nvSpPr>
          <p:cNvPr id="313" name="Google Shape;313;p3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14" name="Google Shape;314;p36"/>
          <p:cNvSpPr/>
          <p:nvPr/>
        </p:nvSpPr>
        <p:spPr>
          <a:xfrm>
            <a:off x="457200" y="1828800"/>
            <a:ext cx="8077200" cy="300082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Extreme Programming takes the effective principles and practices to extreme levels.</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Code reviews are effective as the code is reviewed all the time.</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Testing is effective as there is continuous regression and testing.</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Design is effective as everybody needs to do refactoring daily.</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Integration testing is important as integrate and test several times a day.</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Short iterations are effective as the planning game for release planning and iteration planning.</a:t>
            </a:r>
            <a:endParaRPr sz="1800" dirty="0">
              <a:latin typeface="Times New Roman" panose="02020603050405020304" charset="0"/>
              <a:cs typeface="Times New Roman" panose="020206030504050203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320" name="Google Shape;320;p37"/>
          <p:cNvPicPr preferRelativeResize="0"/>
          <p:nvPr/>
        </p:nvPicPr>
        <p:blipFill rotWithShape="1">
          <a:blip r:embed="rId1"/>
          <a:srcRect/>
          <a:stretch>
            <a:fillRect/>
          </a:stretch>
        </p:blipFill>
        <p:spPr>
          <a:xfrm>
            <a:off x="685800" y="1318855"/>
            <a:ext cx="8362183" cy="4220289"/>
          </a:xfrm>
          <a:prstGeom prst="rect">
            <a:avLst/>
          </a:prstGeom>
          <a:noFill/>
          <a:ln>
            <a:noFill/>
          </a:ln>
        </p:spPr>
      </p:pic>
      <p:sp>
        <p:nvSpPr>
          <p:cNvPr id="321" name="Google Shape;321;p37"/>
          <p:cNvSpPr txBox="1"/>
          <p:nvPr/>
        </p:nvSpPr>
        <p:spPr>
          <a:xfrm>
            <a:off x="3238500" y="6123800"/>
            <a:ext cx="270510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a:solidFill>
                  <a:schemeClr val="dk1"/>
                </a:solidFill>
                <a:latin typeface="Times New Roman" panose="02020603050405020304" charset="0"/>
                <a:cs typeface="Times New Roman" panose="02020603050405020304" charset="0"/>
                <a:sym typeface="Arial" panose="020B0604020202020204"/>
              </a:rPr>
              <a:t>Figure 8: Extreme Programming</a:t>
            </a:r>
            <a:endParaRPr b="1">
              <a:solidFill>
                <a:schemeClr val="dk1"/>
              </a:solidFill>
              <a:latin typeface="Times New Roman" panose="02020603050405020304" charset="0"/>
              <a:cs typeface="Times New Roman" panose="02020603050405020304" charset="0"/>
              <a:sym typeface="Arial" panose="020B0604020202020204"/>
            </a:endParaRPr>
          </a:p>
        </p:txBody>
      </p:sp>
      <p:sp>
        <p:nvSpPr>
          <p:cNvPr id="322" name="Google Shape;322;p3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Why is it called Extreme</a:t>
            </a:r>
            <a:endParaRPr lang="en-US" b="1">
              <a:latin typeface="Times"/>
              <a:ea typeface="Times"/>
              <a:cs typeface="Times"/>
              <a:sym typeface="Time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a:t>
            </a:r>
            <a:endParaRPr lang="en-US" b="1">
              <a:latin typeface="Times"/>
              <a:ea typeface="Times"/>
              <a:cs typeface="Times"/>
              <a:sym typeface="Times"/>
            </a:endParaRPr>
          </a:p>
        </p:txBody>
      </p:sp>
      <p:sp>
        <p:nvSpPr>
          <p:cNvPr id="328" name="Google Shape;328;p3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29" name="Google Shape;329;p38"/>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330" name="Google Shape;330;p38"/>
          <p:cNvSpPr txBox="1"/>
          <p:nvPr/>
        </p:nvSpPr>
        <p:spPr>
          <a:xfrm>
            <a:off x="288533" y="993347"/>
            <a:ext cx="8534400" cy="466277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1. Planning Process</a:t>
            </a:r>
            <a:endParaRPr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20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first stage, is when the customer meets the development team and presents the requirements in the form of </a:t>
            </a:r>
            <a:r>
              <a:rPr lang="en-US" sz="1800" b="1" dirty="0">
                <a:solidFill>
                  <a:srgbClr val="FF0000"/>
                </a:solidFill>
                <a:latin typeface="Times New Roman" panose="02020603050405020304" charset="0"/>
                <a:ea typeface="Times New Roman" panose="02020603050405020304"/>
                <a:cs typeface="Times New Roman" panose="02020603050405020304" charset="0"/>
                <a:sym typeface="Times New Roman" panose="02020603050405020304"/>
              </a:rPr>
              <a:t>user stories </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to describe the desired result.</a:t>
            </a:r>
            <a:endParaRPr sz="1800" dirty="0">
              <a:latin typeface="Times New Roman" panose="02020603050405020304" charset="0"/>
              <a:cs typeface="Times New Roman" panose="02020603050405020304" charset="0"/>
            </a:endParaRPr>
          </a:p>
          <a:p>
            <a:pPr marL="285750" marR="0" lvl="0" indent="-285750" algn="just" rtl="0">
              <a:lnSpc>
                <a:spcPct val="20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team then </a:t>
            </a:r>
            <a:r>
              <a:rPr lang="en-US" sz="1800" b="1" dirty="0">
                <a:solidFill>
                  <a:srgbClr val="FF0000"/>
                </a:solidFill>
                <a:latin typeface="Times New Roman" panose="02020603050405020304" charset="0"/>
                <a:ea typeface="Times New Roman" panose="02020603050405020304"/>
                <a:cs typeface="Times New Roman" panose="02020603050405020304" charset="0"/>
                <a:sym typeface="Times New Roman" panose="02020603050405020304"/>
              </a:rPr>
              <a:t>estimates the stories</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and </a:t>
            </a:r>
            <a:r>
              <a:rPr lang="en-US" sz="1800" b="1" dirty="0">
                <a:solidFill>
                  <a:srgbClr val="FF0000"/>
                </a:solidFill>
                <a:latin typeface="Times New Roman" panose="02020603050405020304" charset="0"/>
                <a:ea typeface="Times New Roman" panose="02020603050405020304"/>
                <a:cs typeface="Times New Roman" panose="02020603050405020304" charset="0"/>
                <a:sym typeface="Times New Roman" panose="02020603050405020304"/>
              </a:rPr>
              <a:t>creates a release plan </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broken down into iterations needed to cover the required functionality part after part.</a:t>
            </a:r>
            <a:endParaRPr sz="1800" dirty="0">
              <a:latin typeface="Times New Roman" panose="02020603050405020304" charset="0"/>
              <a:cs typeface="Times New Roman" panose="02020603050405020304" charset="0"/>
            </a:endParaRPr>
          </a:p>
          <a:p>
            <a:pPr marL="285750" marR="0" lvl="0" indent="-285750" algn="just" rtl="0">
              <a:lnSpc>
                <a:spcPct val="20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If one or more of the stories can’t be estimated, so-called </a:t>
            </a:r>
            <a:r>
              <a:rPr lang="en-US" sz="1800" b="1" dirty="0">
                <a:solidFill>
                  <a:srgbClr val="FF0000"/>
                </a:solidFill>
                <a:latin typeface="Times New Roman" panose="02020603050405020304" charset="0"/>
                <a:ea typeface="Times New Roman" panose="02020603050405020304"/>
                <a:cs typeface="Times New Roman" panose="02020603050405020304" charset="0"/>
                <a:sym typeface="Times New Roman" panose="02020603050405020304"/>
              </a:rPr>
              <a:t>spikes</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can be introduced which means that further research is needed.</a:t>
            </a:r>
            <a:endParaRPr sz="1800" dirty="0">
              <a:latin typeface="Times New Roman" panose="02020603050405020304" charset="0"/>
              <a:cs typeface="Times New Roman" panose="02020603050405020304" charset="0"/>
            </a:endParaRPr>
          </a:p>
          <a:p>
            <a:pPr marL="0" marR="0" lvl="0" indent="0" algn="just" rtl="0">
              <a:lnSpc>
                <a:spcPct val="150000"/>
              </a:lnSpc>
              <a:spcBef>
                <a:spcPts val="0"/>
              </a:spcBef>
              <a:spcAft>
                <a:spcPts val="0"/>
              </a:spcAft>
              <a:buNone/>
            </a:pPr>
            <a:endParaRPr sz="1800" b="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0" marR="0" lvl="0" indent="0" algn="just" rtl="0">
              <a:lnSpc>
                <a:spcPct val="150000"/>
              </a:lnSpc>
              <a:spcBef>
                <a:spcPts val="0"/>
              </a:spcBef>
              <a:spcAft>
                <a:spcPts val="0"/>
              </a:spcAft>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336" name="Google Shape;336;p3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37" name="Google Shape;337;p39"/>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338" name="Google Shape;338;p39"/>
          <p:cNvSpPr txBox="1"/>
          <p:nvPr/>
        </p:nvSpPr>
        <p:spPr>
          <a:xfrm>
            <a:off x="288533" y="993347"/>
            <a:ext cx="8534400" cy="511531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2. Small Releases</a:t>
            </a:r>
            <a:endParaRPr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This practice suggests releasing the Minimum Value Product (MVP) quickly and further developing the product by making small and incremental updates.</a:t>
            </a:r>
            <a:endParaRPr sz="1800" dirty="0">
              <a:latin typeface="Times New Roman" panose="02020603050405020304" charset="0"/>
              <a:cs typeface="Times New Roman" panose="02020603050405020304" charset="0"/>
            </a:endParaRPr>
          </a:p>
          <a:p>
            <a:pPr marL="285750" marR="0" lvl="0" indent="-215900" algn="just" rtl="0">
              <a:lnSpc>
                <a:spcPct val="150000"/>
              </a:lnSpc>
              <a:spcBef>
                <a:spcPts val="0"/>
              </a:spcBef>
              <a:spcAft>
                <a:spcPts val="0"/>
              </a:spcAft>
              <a:buClr>
                <a:schemeClr val="dk1"/>
              </a:buClr>
              <a:buSzPts val="11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An MVP, is the earliest version of a product that has only required features, enough to deliver the core value and verify it to early customers.</a:t>
            </a:r>
            <a:endParaRPr sz="1800" dirty="0">
              <a:latin typeface="Times New Roman" panose="02020603050405020304" charset="0"/>
              <a:cs typeface="Times New Roman" panose="02020603050405020304" charset="0"/>
            </a:endParaRPr>
          </a:p>
          <a:p>
            <a:pPr marL="285750" marR="0" lvl="0" indent="-215900" algn="just" rtl="0">
              <a:lnSpc>
                <a:spcPct val="150000"/>
              </a:lnSpc>
              <a:spcBef>
                <a:spcPts val="0"/>
              </a:spcBef>
              <a:spcAft>
                <a:spcPts val="0"/>
              </a:spcAft>
              <a:buClr>
                <a:schemeClr val="dk1"/>
              </a:buClr>
              <a:buSzPts val="11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MVP is deployed to gather feedback and see whether the product is needed by users at all.</a:t>
            </a:r>
            <a:endParaRPr sz="1800" dirty="0">
              <a:latin typeface="Times New Roman" panose="02020603050405020304" charset="0"/>
              <a:cs typeface="Times New Roman" panose="02020603050405020304" charset="0"/>
            </a:endParaRPr>
          </a:p>
          <a:p>
            <a:pPr marL="285750" marR="0" lvl="0" indent="-215900" algn="just" rtl="0">
              <a:lnSpc>
                <a:spcPct val="150000"/>
              </a:lnSpc>
              <a:spcBef>
                <a:spcPts val="0"/>
              </a:spcBef>
              <a:spcAft>
                <a:spcPts val="0"/>
              </a:spcAft>
              <a:buClr>
                <a:schemeClr val="dk1"/>
              </a:buClr>
              <a:buSzPts val="11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Small releases allow developers to frequently receive feedback, detect bugs early, and monitor how the product works in production. </a:t>
            </a:r>
            <a:endParaRPr sz="1800" dirty="0">
              <a:latin typeface="Times New Roman" panose="02020603050405020304" charset="0"/>
              <a:cs typeface="Times New Roman" panose="0202060305040502030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344" name="Google Shape;344;p4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45" name="Google Shape;345;p40"/>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346" name="Google Shape;346;p40"/>
          <p:cNvSpPr txBox="1"/>
          <p:nvPr/>
        </p:nvSpPr>
        <p:spPr>
          <a:xfrm>
            <a:off x="288533" y="993347"/>
            <a:ext cx="8534400" cy="507827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3. Metaphor</a:t>
            </a:r>
            <a:endParaRPr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 Metaphor is an expression, often found in literature that describes a person or object by referring to something that is considered to have similar characteristics to that person or object. </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For example, ‘The mind is an ocean’ and ‘the city is a jungle’ are both Metaphors.</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You can think of metaphor as the architecture of the system to be built in a way that it is easily understandable by everyone involved in the development.</a:t>
            </a:r>
            <a:endParaRPr sz="1800" dirty="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dirty="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rPr>
              <a:t>System metaphor stands for a simple design that has a set of certain qualities.</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First, a design and its structure must be understandable to new people.</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18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They should be able to start working on it without spending too much time examining specifications.</a:t>
            </a:r>
            <a:endParaRPr sz="1800" dirty="0">
              <a:latin typeface="Times New Roman" panose="02020603050405020304" charset="0"/>
              <a:cs typeface="Times New Roman" panose="02020603050405020304" charset="0"/>
            </a:endParaRPr>
          </a:p>
          <a:p>
            <a:pPr marL="285750" marR="0" lvl="0" indent="-215900" algn="just" rtl="0">
              <a:lnSpc>
                <a:spcPct val="150000"/>
              </a:lnSpc>
              <a:spcBef>
                <a:spcPts val="0"/>
              </a:spcBef>
              <a:spcAft>
                <a:spcPts val="0"/>
              </a:spcAft>
              <a:buClr>
                <a:schemeClr val="dk1"/>
              </a:buClr>
              <a:buSzPts val="11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352" name="Google Shape;352;p4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53" name="Google Shape;353;p41"/>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354" name="Google Shape;354;p41"/>
          <p:cNvSpPr txBox="1"/>
          <p:nvPr/>
        </p:nvSpPr>
        <p:spPr>
          <a:xfrm>
            <a:off x="288533" y="1295400"/>
            <a:ext cx="8534400"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4. Simple Design</a:t>
            </a:r>
            <a:endParaRPr sz="1800" dirty="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system should be designed as simply as possible at any given moment. Extra complexity is removed as soon as it is discovered.</a:t>
            </a:r>
            <a:endParaRPr sz="1800" dirty="0"/>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right design for the software at any given time is the one that −</a:t>
            </a:r>
            <a:endParaRPr sz="1800" dirty="0"/>
          </a:p>
          <a:p>
            <a:pPr marL="742950" marR="0" lvl="1" indent="-28575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Runs all the tests</a:t>
            </a:r>
            <a:endParaRPr sz="1800" dirty="0"/>
          </a:p>
          <a:p>
            <a:pPr marL="742950" marR="0" lvl="1" indent="-28575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Has no duplicated logic like parallel class hierarchies</a:t>
            </a:r>
            <a:endParaRPr sz="1800" dirty="0"/>
          </a:p>
          <a:p>
            <a:pPr marL="742950" marR="0" lvl="1" indent="-28575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States every intention important to the developers</a:t>
            </a:r>
            <a:endParaRPr sz="1800" dirty="0"/>
          </a:p>
          <a:p>
            <a:pPr marL="742950" marR="0" lvl="1" indent="-28575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Has the fewest possible classes and methods</a:t>
            </a:r>
            <a:endParaRPr sz="1800"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360" name="Google Shape;360;p4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61" name="Google Shape;361;p42"/>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362" name="Google Shape;362;p42"/>
          <p:cNvSpPr txBox="1"/>
          <p:nvPr/>
        </p:nvSpPr>
        <p:spPr>
          <a:xfrm>
            <a:off x="288533" y="1450547"/>
            <a:ext cx="8534400" cy="341627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5. Testing</a:t>
            </a:r>
            <a:endParaRPr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developers continually write unit tests, which need to pass for the development to continue. </a:t>
            </a:r>
            <a:endParaRPr sz="1800" dirty="0">
              <a:latin typeface="Times New Roman" panose="02020603050405020304" charset="0"/>
              <a:cs typeface="Times New Roman" panose="02020603050405020304" charset="0"/>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customers write tests to verify that the features are implemented. </a:t>
            </a:r>
            <a:endParaRPr sz="1800" dirty="0">
              <a:latin typeface="Times New Roman" panose="02020603050405020304" charset="0"/>
              <a:cs typeface="Times New Roman" panose="02020603050405020304" charset="0"/>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tests are automated so that they become a part of the system and can be continuously run to ensure the working of the system. </a:t>
            </a:r>
            <a:endParaRPr sz="1800" dirty="0">
              <a:latin typeface="Times New Roman" panose="02020603050405020304" charset="0"/>
              <a:cs typeface="Times New Roman" panose="02020603050405020304" charset="0"/>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result is a system that is capable of accepting change.</a:t>
            </a:r>
            <a:endParaRPr sz="1800" dirty="0">
              <a:latin typeface="Times New Roman" panose="02020603050405020304" charset="0"/>
              <a:cs typeface="Times New Roman" panose="02020603050405020304" charset="0"/>
            </a:endParaRPr>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368" name="Google Shape;368;p4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69" name="Google Shape;369;p43"/>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370" name="Google Shape;370;p43"/>
          <p:cNvSpPr txBox="1"/>
          <p:nvPr/>
        </p:nvSpPr>
        <p:spPr>
          <a:xfrm>
            <a:off x="228600" y="978456"/>
            <a:ext cx="8534400" cy="549377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6. Refactoring</a:t>
            </a:r>
            <a:endParaRPr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Refactoring is the process of restructuring code, while not changing its original functionality. </a:t>
            </a:r>
            <a:endParaRPr sz="1800" dirty="0">
              <a:latin typeface="Times New Roman" panose="02020603050405020304" charset="0"/>
              <a:cs typeface="Times New Roman" panose="02020603050405020304" charset="0"/>
            </a:endParaRPr>
          </a:p>
          <a:p>
            <a:pPr marL="285750" marR="0" lvl="0" indent="-222250" algn="l" rtl="0">
              <a:lnSpc>
                <a:spcPct val="150000"/>
              </a:lnSpc>
              <a:spcBef>
                <a:spcPts val="0"/>
              </a:spcBef>
              <a:spcAft>
                <a:spcPts val="0"/>
              </a:spcAft>
              <a:buClr>
                <a:schemeClr val="dk1"/>
              </a:buClr>
              <a:buSzPts val="1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goal of refactoring is to improve internal code by making many small changes without altering the code's external behavior.</a:t>
            </a:r>
            <a:endParaRPr sz="1800" dirty="0">
              <a:latin typeface="Times New Roman" panose="02020603050405020304" charset="0"/>
              <a:cs typeface="Times New Roman" panose="02020603050405020304" charset="0"/>
            </a:endParaRPr>
          </a:p>
          <a:p>
            <a:pPr marL="285750" marR="0" lvl="0" indent="-222250" algn="l" rtl="0">
              <a:lnSpc>
                <a:spcPct val="150000"/>
              </a:lnSpc>
              <a:spcBef>
                <a:spcPts val="0"/>
              </a:spcBef>
              <a:spcAft>
                <a:spcPts val="0"/>
              </a:spcAft>
              <a:buClr>
                <a:schemeClr val="dk1"/>
              </a:buClr>
              <a:buSzPts val="1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goal of this technique is to continuously improve code. </a:t>
            </a:r>
            <a:endParaRPr sz="1800" dirty="0">
              <a:latin typeface="Times New Roman" panose="02020603050405020304" charset="0"/>
              <a:cs typeface="Times New Roman" panose="02020603050405020304" charset="0"/>
            </a:endParaRPr>
          </a:p>
          <a:p>
            <a:pPr marL="285750" marR="0" lvl="0" indent="-222250" algn="l" rtl="0">
              <a:lnSpc>
                <a:spcPct val="150000"/>
              </a:lnSpc>
              <a:spcBef>
                <a:spcPts val="0"/>
              </a:spcBef>
              <a:spcAft>
                <a:spcPts val="0"/>
              </a:spcAft>
              <a:buClr>
                <a:schemeClr val="dk1"/>
              </a:buClr>
              <a:buSzPts val="1000"/>
              <a:buFont typeface="Arial" panose="020B0604020202020204"/>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l"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Refactoring is about removing redundancy, eliminating unnecessary functions, increasing code coherency, and at the same time decoupling elements. </a:t>
            </a:r>
            <a:r>
              <a:rPr lang="en-US" sz="1800" b="1" i="1" dirty="0">
                <a:solidFill>
                  <a:srgbClr val="FF0000"/>
                </a:solidFill>
                <a:latin typeface="Times New Roman" panose="02020603050405020304" charset="0"/>
                <a:ea typeface="Times New Roman" panose="02020603050405020304"/>
                <a:cs typeface="Times New Roman" panose="02020603050405020304" charset="0"/>
                <a:sym typeface="Times New Roman" panose="02020603050405020304"/>
              </a:rPr>
              <a:t>Keep your code clean and simple, so you can easily understand and modify </a:t>
            </a:r>
            <a:r>
              <a:rPr lang="en-US" sz="1800" i="1"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it when required</a:t>
            </a: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would be the advice of any XP team member.</a:t>
            </a:r>
            <a:endParaRPr sz="1800" dirty="0">
              <a:latin typeface="Times New Roman" panose="02020603050405020304" charset="0"/>
              <a:cs typeface="Times New Roman" panose="0202060305040502030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376" name="Google Shape;376;p4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77" name="Google Shape;377;p44"/>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800">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1800">
              <a:solidFill>
                <a:schemeClr val="dk1"/>
              </a:solidFill>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1800">
              <a:solidFill>
                <a:schemeClr val="dk1"/>
              </a:solidFill>
              <a:sym typeface="Times New Roman" panose="02020603050405020304"/>
            </a:endParaRPr>
          </a:p>
          <a:p>
            <a:pPr marL="342900" lvl="0" indent="-342900" algn="just" rtl="0">
              <a:spcBef>
                <a:spcPts val="480"/>
              </a:spcBef>
              <a:spcAft>
                <a:spcPts val="0"/>
              </a:spcAft>
              <a:buClr>
                <a:schemeClr val="dk1"/>
              </a:buClr>
              <a:buSzPts val="2400"/>
              <a:buNone/>
            </a:pPr>
            <a:endParaRPr sz="1800"/>
          </a:p>
        </p:txBody>
      </p:sp>
      <p:sp>
        <p:nvSpPr>
          <p:cNvPr id="378" name="Google Shape;378;p44"/>
          <p:cNvSpPr txBox="1"/>
          <p:nvPr/>
        </p:nvSpPr>
        <p:spPr>
          <a:xfrm>
            <a:off x="288533" y="993347"/>
            <a:ext cx="8534400" cy="415139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1">
                <a:solidFill>
                  <a:srgbClr val="C00000"/>
                </a:solidFill>
                <a:latin typeface="Times New Roman" panose="02020603050405020304"/>
                <a:ea typeface="Times New Roman" panose="02020603050405020304"/>
                <a:cs typeface="Times New Roman" panose="02020603050405020304"/>
                <a:sym typeface="Times New Roman" panose="02020603050405020304"/>
              </a:rPr>
              <a:t>7. Pair Programming</a:t>
            </a:r>
            <a:endParaRPr sz="2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This practice requires two programmers to work jointly on the same code. </a:t>
            </a:r>
            <a:endPar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While the first developer focuses on writing, the other one reviews code, suggests improvements, and fixes mistakes along the way. </a:t>
            </a:r>
            <a:endPar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Such teamwork results in high-quality software and faster knowledge sharing but takes about 15 percent more time. </a:t>
            </a:r>
            <a:endPar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rPr>
              <a:t>In this regard, it’s more reasonable trying pair programming for long-term projects.</a:t>
            </a:r>
            <a:endParaRPr lang="en-US"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384" name="Google Shape;384;p4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85" name="Google Shape;385;p45"/>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386" name="Google Shape;386;p45"/>
          <p:cNvSpPr txBox="1"/>
          <p:nvPr/>
        </p:nvSpPr>
        <p:spPr>
          <a:xfrm>
            <a:off x="288533" y="1295400"/>
            <a:ext cx="8534400"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8. Collective Ownership</a:t>
            </a:r>
            <a:endParaRPr sz="1800" dirty="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rgbClr val="000000"/>
              </a:buClr>
              <a:buSzPts val="20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This practice declares a whole team’s responsibility for the design of a system.</a:t>
            </a:r>
            <a:endParaRPr sz="1800" dirty="0"/>
          </a:p>
          <a:p>
            <a:pPr marL="285750" marR="0" lvl="0" indent="-285750" algn="just" rtl="0">
              <a:lnSpc>
                <a:spcPct val="150000"/>
              </a:lnSpc>
              <a:spcBef>
                <a:spcPts val="0"/>
              </a:spcBef>
              <a:spcAft>
                <a:spcPts val="0"/>
              </a:spcAft>
              <a:buClr>
                <a:srgbClr val="000000"/>
              </a:buClr>
              <a:buSzPts val="20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Each team member can review and update code.</a:t>
            </a:r>
            <a:endParaRPr sz="1800" dirty="0"/>
          </a:p>
          <a:p>
            <a:pPr marL="285750" marR="0" lvl="0" indent="-285750" algn="just" rtl="0">
              <a:lnSpc>
                <a:spcPct val="150000"/>
              </a:lnSpc>
              <a:spcBef>
                <a:spcPts val="0"/>
              </a:spcBef>
              <a:spcAft>
                <a:spcPts val="0"/>
              </a:spcAft>
              <a:buClr>
                <a:srgbClr val="000000"/>
              </a:buClr>
              <a:buSzPts val="20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Developers that have access to code won’t get into a situation in which they don’t know the right place to add a new feature. </a:t>
            </a:r>
            <a:endParaRPr sz="1800" dirty="0"/>
          </a:p>
          <a:p>
            <a:pPr marL="285750" marR="0" lvl="0" indent="-285750" algn="just" rtl="0">
              <a:lnSpc>
                <a:spcPct val="150000"/>
              </a:lnSpc>
              <a:spcBef>
                <a:spcPts val="0"/>
              </a:spcBef>
              <a:spcAft>
                <a:spcPts val="0"/>
              </a:spcAft>
              <a:buClr>
                <a:srgbClr val="000000"/>
              </a:buClr>
              <a:buSzPts val="20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practice helps avoid code duplication. </a:t>
            </a:r>
            <a:endParaRPr sz="1800" dirty="0"/>
          </a:p>
          <a:p>
            <a:pPr marL="285750" marR="0" lvl="0" indent="-285750" algn="just" rtl="0">
              <a:lnSpc>
                <a:spcPct val="150000"/>
              </a:lnSpc>
              <a:spcBef>
                <a:spcPts val="0"/>
              </a:spcBef>
              <a:spcAft>
                <a:spcPts val="0"/>
              </a:spcAft>
              <a:buClr>
                <a:srgbClr val="000000"/>
              </a:buClr>
              <a:buSzPts val="20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implementation of collective code ownership encourages the team to cooperate more and feel free to bring new ideas.</a:t>
            </a: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392" name="Google Shape;392;p4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93" name="Google Shape;393;p46"/>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394" name="Google Shape;394;p46"/>
          <p:cNvSpPr txBox="1"/>
          <p:nvPr/>
        </p:nvSpPr>
        <p:spPr>
          <a:xfrm>
            <a:off x="288533" y="1779159"/>
            <a:ext cx="8534400" cy="258528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9. Continuous Integration</a:t>
            </a:r>
            <a:endParaRPr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Developers always keep the system fully integrated. </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XP teams take iterative development to another level because they commit code multiple times a day, which is also called continuous delivery.</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XP practitioners understand the importance of communication. </a:t>
            </a:r>
            <a:endParaRPr sz="1800" dirty="0">
              <a:latin typeface="Times New Roman" panose="02020603050405020304" charset="0"/>
              <a:cs typeface="Times New Roman" panose="02020603050405020304" charset="0"/>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Programmers discuss which parts of the code can be re-used or shared.</a:t>
            </a:r>
            <a:endParaRPr sz="1800" dirty="0">
              <a:latin typeface="Times New Roman" panose="02020603050405020304" charset="0"/>
              <a:cs typeface="Times New Roman"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400" name="Google Shape;400;p4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01" name="Google Shape;401;p47"/>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402" name="Google Shape;402;p47"/>
          <p:cNvSpPr txBox="1"/>
          <p:nvPr/>
        </p:nvSpPr>
        <p:spPr>
          <a:xfrm>
            <a:off x="288533" y="993347"/>
            <a:ext cx="8534400" cy="38317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10. 40-Hour Work</a:t>
            </a:r>
            <a:endParaRPr sz="1800" dirty="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Extreme Programming emphasizes on the limited number of hours of work per week for every team members, based on their sustainability, to a maximum of 40 hours a week. </a:t>
            </a:r>
            <a:endParaRPr sz="1800" dirty="0"/>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If someone works for more time than that, it is considered as overtime. Overtime is allowed for at most one week. </a:t>
            </a:r>
            <a:endParaRPr sz="1800" dirty="0"/>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This practice is to ensure that every team member be fresh, creative, careful and confident.</a:t>
            </a:r>
            <a:endParaRPr sz="1800"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408" name="Google Shape;408;p4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09" name="Google Shape;409;p48"/>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410" name="Google Shape;410;p48"/>
          <p:cNvSpPr txBox="1"/>
          <p:nvPr/>
        </p:nvSpPr>
        <p:spPr>
          <a:xfrm>
            <a:off x="288533" y="993347"/>
            <a:ext cx="8534400" cy="424727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11. On-Site Customer</a:t>
            </a:r>
            <a:endParaRPr sz="1800" dirty="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chemeClr val="dk1"/>
              </a:buClr>
              <a:buSzPts val="2000"/>
              <a:buFont typeface="Arial" panose="020B0604020202020204"/>
              <a:buChar char="•"/>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Include a real, live user on the team, available full-time to answer the questions, resolve disputes and set small-scale priorities. This user may not have to spend 40 hours on this role only and can focus on other work too.</a:t>
            </a:r>
            <a:endParaRPr sz="1800" dirty="0"/>
          </a:p>
          <a:p>
            <a:pPr marL="0" marR="0" lvl="0" indent="0" algn="just" rtl="0">
              <a:lnSpc>
                <a:spcPct val="150000"/>
              </a:lnSpc>
              <a:spcBef>
                <a:spcPts val="0"/>
              </a:spcBef>
              <a:spcAft>
                <a:spcPts val="0"/>
              </a:spcAft>
              <a:buNone/>
            </a:pPr>
            <a:endParaRPr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50000"/>
              </a:lnSpc>
              <a:spcBef>
                <a:spcPts val="0"/>
              </a:spcBef>
              <a:spcAft>
                <a:spcPts val="0"/>
              </a:spcAft>
              <a:buNone/>
            </a:pP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On-Site Customer – Advantages</a:t>
            </a:r>
            <a:endParaRPr sz="1800" dirty="0"/>
          </a:p>
          <a:p>
            <a:pPr marL="800100" marR="0" lvl="1" indent="-34290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Can give quick and knowledgeable answers to the real development questions.</a:t>
            </a:r>
            <a:endParaRPr sz="1800" dirty="0"/>
          </a:p>
          <a:p>
            <a:pPr marL="800100" marR="0" lvl="1" indent="-34290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Makes sure that what is developed is what is needed.</a:t>
            </a:r>
            <a:endParaRPr sz="1800" dirty="0"/>
          </a:p>
          <a:p>
            <a:pPr marL="800100" marR="0" lvl="1" indent="-342900" algn="just"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Functionality is prioritized correctly.</a:t>
            </a:r>
            <a:endParaRPr sz="1800"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Practices (contd.)</a:t>
            </a:r>
            <a:endParaRPr lang="en-US" b="1">
              <a:latin typeface="Times"/>
              <a:ea typeface="Times"/>
              <a:cs typeface="Times"/>
              <a:sym typeface="Times"/>
            </a:endParaRPr>
          </a:p>
        </p:txBody>
      </p:sp>
      <p:sp>
        <p:nvSpPr>
          <p:cNvPr id="416" name="Google Shape;416;p4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17" name="Google Shape;417;p49"/>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418" name="Google Shape;418;p49"/>
          <p:cNvSpPr txBox="1"/>
          <p:nvPr/>
        </p:nvSpPr>
        <p:spPr>
          <a:xfrm>
            <a:off x="288533" y="993347"/>
            <a:ext cx="8534400" cy="466277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rPr>
              <a:t>12. Coding Standard</a:t>
            </a:r>
            <a:endParaRPr sz="1800" dirty="0">
              <a:solidFill>
                <a:srgbClr val="C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0" marR="0" lvl="0" indent="0" algn="l" rtl="0">
              <a:lnSpc>
                <a:spcPct val="150000"/>
              </a:lnSpc>
              <a:spcBef>
                <a:spcPts val="0"/>
              </a:spcBef>
              <a:spcAft>
                <a:spcPts val="0"/>
              </a:spcAft>
              <a:buNone/>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Developers write all code in accordance with the rules emphasizing-</a:t>
            </a:r>
            <a:endParaRPr sz="1800" dirty="0">
              <a:latin typeface="Times New Roman" panose="02020603050405020304" charset="0"/>
              <a:cs typeface="Times New Roman" panose="02020603050405020304" charset="0"/>
            </a:endParaRPr>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Communication through the code.</a:t>
            </a:r>
            <a:endParaRPr sz="1800" dirty="0">
              <a:latin typeface="Times New Roman" panose="02020603050405020304" charset="0"/>
              <a:cs typeface="Times New Roman" panose="02020603050405020304" charset="0"/>
            </a:endParaRPr>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 least amount of work possible.</a:t>
            </a:r>
            <a:endParaRPr sz="1800" dirty="0">
              <a:latin typeface="Times New Roman" panose="02020603050405020304" charset="0"/>
              <a:cs typeface="Times New Roman" panose="02020603050405020304" charset="0"/>
            </a:endParaRPr>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Consistent with the “once and only once” rule (no duplicate code).</a:t>
            </a:r>
            <a:endParaRPr sz="1800" dirty="0">
              <a:latin typeface="Times New Roman" panose="02020603050405020304" charset="0"/>
              <a:cs typeface="Times New Roman" panose="02020603050405020304" charset="0"/>
            </a:endParaRPr>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Voluntary adoption by the whole team.</a:t>
            </a:r>
            <a:endParaRPr sz="1800" dirty="0">
              <a:latin typeface="Times New Roman" panose="02020603050405020304" charset="0"/>
              <a:cs typeface="Times New Roman" panose="02020603050405020304" charset="0"/>
            </a:endParaRPr>
          </a:p>
          <a:p>
            <a:pPr marL="0" marR="0" lvl="0" indent="0" algn="l" rtl="0">
              <a:lnSpc>
                <a:spcPct val="150000"/>
              </a:lnSpc>
              <a:spcBef>
                <a:spcPts val="0"/>
              </a:spcBef>
              <a:spcAft>
                <a:spcPts val="0"/>
              </a:spcAft>
              <a:buNone/>
            </a:pPr>
            <a:endParaRPr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0" marR="0" lvl="0" indent="0" algn="l" rtl="0">
              <a:lnSpc>
                <a:spcPct val="150000"/>
              </a:lnSpc>
              <a:spcBef>
                <a:spcPts val="0"/>
              </a:spcBef>
              <a:spcAft>
                <a:spcPts val="0"/>
              </a:spcAft>
              <a:buNone/>
            </a:pPr>
            <a:r>
              <a:rPr lang="en-US" sz="1800"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These rules are necessary in Extreme Programming because all the developers −</a:t>
            </a:r>
            <a:endParaRPr sz="1800" dirty="0">
              <a:latin typeface="Times New Roman" panose="02020603050405020304" charset="0"/>
              <a:cs typeface="Times New Roman" panose="02020603050405020304" charset="0"/>
            </a:endParaRPr>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Can change from one part of the system to another part of the system.</a:t>
            </a:r>
            <a:endParaRPr sz="1800" dirty="0">
              <a:latin typeface="Times New Roman" panose="02020603050405020304" charset="0"/>
              <a:cs typeface="Times New Roman" panose="02020603050405020304" charset="0"/>
            </a:endParaRPr>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Swap partners a couple of times a day.</a:t>
            </a:r>
            <a:endParaRPr sz="1800" dirty="0">
              <a:latin typeface="Times New Roman" panose="02020603050405020304" charset="0"/>
              <a:cs typeface="Times New Roman" panose="02020603050405020304" charset="0"/>
            </a:endParaRPr>
          </a:p>
          <a:p>
            <a:pPr marL="800100" marR="0" lvl="1" indent="-342900" algn="l" rtl="0">
              <a:lnSpc>
                <a:spcPct val="150000"/>
              </a:lnSpc>
              <a:spcBef>
                <a:spcPts val="0"/>
              </a:spcBef>
              <a:spcAft>
                <a:spcPts val="0"/>
              </a:spcAft>
              <a:buClr>
                <a:schemeClr val="dk1"/>
              </a:buClr>
              <a:buSzPts val="2000"/>
              <a:buFont typeface="Noto Sans Symbols"/>
              <a:buChar char="✔"/>
            </a:pPr>
            <a:r>
              <a:rPr lang="en-US" sz="1800" b="0" i="0" u="none" strike="noStrike" cap="none" dirty="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Refactor each other's code constantly.</a:t>
            </a:r>
            <a:endParaRPr sz="1800" dirty="0">
              <a:latin typeface="Times New Roman" panose="02020603050405020304" charset="0"/>
              <a:cs typeface="Times New Roman" panose="020206030504050203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Lifecycle</a:t>
            </a:r>
            <a:endParaRPr lang="en-US" b="1">
              <a:latin typeface="Times"/>
              <a:ea typeface="Times"/>
              <a:cs typeface="Times"/>
              <a:sym typeface="Times"/>
            </a:endParaRPr>
          </a:p>
        </p:txBody>
      </p:sp>
      <p:sp>
        <p:nvSpPr>
          <p:cNvPr id="424" name="Google Shape;424;p5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25" name="Google Shape;425;p50"/>
          <p:cNvSpPr txBox="1">
            <a:spLocks noGrp="1"/>
          </p:cNvSpPr>
          <p:nvPr>
            <p:ph type="body" idx="1"/>
          </p:nvPr>
        </p:nvSpPr>
        <p:spPr>
          <a:xfrm>
            <a:off x="152400" y="922808"/>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pic>
        <p:nvPicPr>
          <p:cNvPr id="426" name="Google Shape;426;p50"/>
          <p:cNvPicPr preferRelativeResize="0"/>
          <p:nvPr/>
        </p:nvPicPr>
        <p:blipFill rotWithShape="1">
          <a:blip r:embed="rId1"/>
          <a:srcRect t="6944"/>
          <a:stretch>
            <a:fillRect/>
          </a:stretch>
        </p:blipFill>
        <p:spPr>
          <a:xfrm>
            <a:off x="381000" y="976885"/>
            <a:ext cx="7714208" cy="4969730"/>
          </a:xfrm>
          <a:prstGeom prst="rect">
            <a:avLst/>
          </a:prstGeom>
          <a:noFill/>
          <a:ln>
            <a:noFill/>
          </a:ln>
        </p:spPr>
      </p:pic>
      <p:sp>
        <p:nvSpPr>
          <p:cNvPr id="427" name="Google Shape;427;p50"/>
          <p:cNvSpPr txBox="1"/>
          <p:nvPr/>
        </p:nvSpPr>
        <p:spPr>
          <a:xfrm>
            <a:off x="2740818" y="6120394"/>
            <a:ext cx="3662363"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dirty="0">
                <a:solidFill>
                  <a:schemeClr val="dk1"/>
                </a:solidFill>
                <a:latin typeface="Times New Roman" panose="02020603050405020304" charset="0"/>
                <a:cs typeface="Times New Roman" panose="02020603050405020304" charset="0"/>
                <a:sym typeface="Arial" panose="020B0604020202020204"/>
              </a:rPr>
              <a:t>Figure 9: Extreme Programming Life Cycle</a:t>
            </a:r>
            <a:endParaRPr b="1" dirty="0">
              <a:solidFill>
                <a:schemeClr val="dk1"/>
              </a:solidFill>
              <a:latin typeface="Times New Roman" panose="02020603050405020304" charset="0"/>
              <a:cs typeface="Times New Roman" panose="02020603050405020304" charset="0"/>
              <a:sym typeface="Arial" panose="020B060402020202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Advantages</a:t>
            </a:r>
            <a:endParaRPr lang="en-US" b="1">
              <a:latin typeface="Times"/>
              <a:ea typeface="Times"/>
              <a:cs typeface="Times"/>
              <a:sym typeface="Times"/>
            </a:endParaRPr>
          </a:p>
        </p:txBody>
      </p:sp>
      <p:sp>
        <p:nvSpPr>
          <p:cNvPr id="433" name="Google Shape;433;p5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34" name="Google Shape;434;p51"/>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435" name="Google Shape;435;p51"/>
          <p:cNvSpPr/>
          <p:nvPr/>
        </p:nvSpPr>
        <p:spPr>
          <a:xfrm>
            <a:off x="228600" y="914400"/>
            <a:ext cx="8534400" cy="544405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Continuous testing and refactoring practices help create </a:t>
            </a: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stable well-performing systems</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with minimal debugging.</a:t>
            </a:r>
            <a:endParaRPr sz="1800"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Simplicity value implies creating a </a:t>
            </a: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clear, concise code</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that is easy to read and change in the future if needed.</a:t>
            </a:r>
            <a:endParaRPr sz="1800"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Documentation is reduced</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as bulky requirements documents are substituted by user stories.</a:t>
            </a:r>
            <a:endParaRPr sz="1800"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No or </a:t>
            </a: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very little overtime</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is practiced.</a:t>
            </a:r>
            <a:endParaRPr sz="1800"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Constant communication provides a high level of </a:t>
            </a: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visibility and accountability</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and allows all team members to keep up with the project progress.</a:t>
            </a:r>
            <a:endParaRPr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Advantages (contd.)</a:t>
            </a:r>
            <a:endParaRPr lang="en-US" b="1">
              <a:latin typeface="Times"/>
              <a:ea typeface="Times"/>
              <a:cs typeface="Times"/>
              <a:sym typeface="Times"/>
            </a:endParaRPr>
          </a:p>
        </p:txBody>
      </p:sp>
      <p:sp>
        <p:nvSpPr>
          <p:cNvPr id="441" name="Google Shape;441;p5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42" name="Google Shape;442;p52"/>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443" name="Google Shape;443;p52"/>
          <p:cNvSpPr/>
          <p:nvPr/>
        </p:nvSpPr>
        <p:spPr>
          <a:xfrm>
            <a:off x="228600" y="1101942"/>
            <a:ext cx="8534400" cy="3831778"/>
          </a:xfrm>
          <a:prstGeom prst="rect">
            <a:avLst/>
          </a:prstGeom>
          <a:noFill/>
          <a:ln>
            <a:noFill/>
          </a:ln>
        </p:spPr>
        <p:txBody>
          <a:bodyPr spcFirstLastPara="1" wrap="square" lIns="91425" tIns="45700" rIns="91425" bIns="45700" anchor="t" anchorCtr="0">
            <a:spAutoFit/>
          </a:bodyPr>
          <a:lstStyle/>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Pair programming has</a:t>
            </a: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proven </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to result in </a:t>
            </a: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higher-quality products</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with fewer bugs; most research participants also reported enjoying such collaboration more and feeling more confident about their job;</a:t>
            </a:r>
            <a:endParaRPr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Customer engagement ensures their satisfaction</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as their participation in the development and testing process can directly influence the result, getting them exactly what they wanted.</a:t>
            </a:r>
            <a:endParaRPr dirty="0"/>
          </a:p>
          <a:p>
            <a:pPr marL="285750" marR="0" lvl="0" indent="-171450" algn="just" rtl="0">
              <a:lnSpc>
                <a:spcPct val="150000"/>
              </a:lnSpc>
              <a:spcBef>
                <a:spcPts val="0"/>
              </a:spcBef>
              <a:spcAft>
                <a:spcPts val="0"/>
              </a:spcAft>
              <a:buClr>
                <a:schemeClr val="dk1"/>
              </a:buClr>
              <a:buSzPts val="1800"/>
              <a:buFont typeface="Arial" panose="020B0604020202020204"/>
              <a:buNone/>
            </a:pP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XP Disadvantages</a:t>
            </a:r>
            <a:endParaRPr lang="en-US" b="1">
              <a:latin typeface="Times"/>
              <a:ea typeface="Times"/>
              <a:cs typeface="Times"/>
              <a:sym typeface="Times"/>
            </a:endParaRPr>
          </a:p>
        </p:txBody>
      </p:sp>
      <p:sp>
        <p:nvSpPr>
          <p:cNvPr id="449" name="Google Shape;449;p5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50" name="Google Shape;450;p53"/>
          <p:cNvSpPr txBox="1">
            <a:spLocks noGrp="1"/>
          </p:cNvSpPr>
          <p:nvPr>
            <p:ph type="body" idx="1"/>
          </p:nvPr>
        </p:nvSpPr>
        <p:spPr>
          <a:xfrm>
            <a:off x="136133" y="955675"/>
            <a:ext cx="8839200" cy="5216525"/>
          </a:xfrm>
          <a:prstGeom prst="rect">
            <a:avLst/>
          </a:prstGeom>
          <a:noFill/>
          <a:ln>
            <a:noFill/>
          </a:ln>
        </p:spPr>
        <p:txBody>
          <a:bodyPr spcFirstLastPara="1" wrap="square" lIns="91425" tIns="45700" rIns="91425" bIns="45700" anchor="t" anchorCtr="0">
            <a:noAutofit/>
          </a:bodyPr>
          <a:lstStyle/>
          <a:p>
            <a:pPr marL="285750" lvl="0" indent="-222250" algn="just" rtl="0">
              <a:lnSpc>
                <a:spcPct val="150000"/>
              </a:lnSpc>
              <a:spcBef>
                <a:spcPts val="0"/>
              </a:spcBef>
              <a:spcAft>
                <a:spcPts val="0"/>
              </a:spcAft>
              <a:buClr>
                <a:schemeClr val="dk1"/>
              </a:buClr>
              <a:buSzPts val="1000"/>
              <a:buFont typeface="Arial" panose="020B0604020202020204"/>
              <a:buNone/>
            </a:pPr>
            <a:endParaRPr sz="100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chemeClr val="dk1"/>
              </a:buClr>
              <a:buSzPts val="1800"/>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spcBef>
                <a:spcPts val="480"/>
              </a:spcBef>
              <a:spcAft>
                <a:spcPts val="0"/>
              </a:spcAft>
              <a:buClr>
                <a:schemeClr val="dk1"/>
              </a:buClr>
              <a:buSzPts val="2400"/>
              <a:buNone/>
            </a:pPr>
            <a:endParaRPr sz="2400"/>
          </a:p>
        </p:txBody>
      </p:sp>
      <p:sp>
        <p:nvSpPr>
          <p:cNvPr id="451" name="Google Shape;451;p53"/>
          <p:cNvSpPr/>
          <p:nvPr/>
        </p:nvSpPr>
        <p:spPr>
          <a:xfrm>
            <a:off x="152400" y="838200"/>
            <a:ext cx="8686800" cy="535531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800"/>
              <a:buFont typeface="Arial" panose="020B0604020202020204"/>
              <a:buNone/>
            </a:pP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In many instances, the customer has no clear picture of the end result, which makes it almost </a:t>
            </a: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unrealistic to accurately estimate scope, cost, and time</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dirty="0"/>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Regular meetings with customers often take a great deal of time</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that could instead be spent on actual code writing;</a:t>
            </a:r>
            <a:endParaRPr dirty="0"/>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Documentation can be scarce</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and lack clear requirements and specifications, leading to project scope creep;</a:t>
            </a:r>
            <a:endParaRPr dirty="0"/>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rapid transition from traditional methods of software development to extreme programming demands significant </a:t>
            </a: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cultural and structural changes</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dirty="0"/>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Pair programming takes more time</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and doesn’t always work right due to the human factor and character incompatibility;</a:t>
            </a:r>
            <a:endParaRPr dirty="0"/>
          </a:p>
          <a:p>
            <a:pPr marL="285750" marR="0" lvl="0" indent="-285750" algn="just" rtl="0">
              <a:lnSpc>
                <a:spcPct val="150000"/>
              </a:lnSpc>
              <a:spcBef>
                <a:spcPts val="0"/>
              </a:spcBef>
              <a:spcAft>
                <a:spcPts val="0"/>
              </a:spcAft>
              <a:buClr>
                <a:srgbClr val="000000"/>
              </a:buClr>
              <a:buSzPts val="1800"/>
              <a:buFont typeface="Arial" panose="020B0604020202020204"/>
              <a:buChar char="•"/>
            </a:pP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XP works best with collocated teams</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and customers present in person to conduct face-to-face meetings, limiting its application with distributed teams;</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Practice Questions</a:t>
            </a:r>
            <a:endParaRPr lang="en-US" b="1"/>
          </a:p>
        </p:txBody>
      </p:sp>
      <p:sp>
        <p:nvSpPr>
          <p:cNvPr id="457" name="Google Shape;457;p5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203200">
              <a:buNone/>
            </a:pPr>
            <a:r>
              <a:rPr lang="en-US" sz="1800" b="1" dirty="0"/>
              <a:t>Question: Which Agile methodology focuses on </a:t>
            </a:r>
            <a:r>
              <a:rPr lang="en-US" sz="1800" b="1" dirty="0" smtClean="0"/>
              <a:t>iterative development </a:t>
            </a:r>
            <a:r>
              <a:rPr lang="en-US" sz="1800" b="1" dirty="0"/>
              <a:t>with fixed-length timeframes called sprints?</a:t>
            </a:r>
            <a:br>
              <a:rPr lang="en-US" sz="1800" dirty="0"/>
            </a:br>
            <a:r>
              <a:rPr lang="en-US" sz="1800" dirty="0"/>
              <a:t>a) Scrum</a:t>
            </a:r>
            <a:br>
              <a:rPr lang="en-US" sz="1800" dirty="0"/>
            </a:br>
            <a:r>
              <a:rPr lang="en-US" sz="1800" dirty="0"/>
              <a:t>b) </a:t>
            </a:r>
            <a:r>
              <a:rPr lang="en-US" sz="1800" dirty="0" err="1"/>
              <a:t>Kanban</a:t>
            </a:r>
            <a:br>
              <a:rPr lang="en-US" sz="1800" dirty="0"/>
            </a:br>
            <a:r>
              <a:rPr lang="en-US" sz="1800" dirty="0"/>
              <a:t>c) XP</a:t>
            </a:r>
            <a:br>
              <a:rPr lang="en-US" sz="1800" dirty="0"/>
            </a:br>
            <a:r>
              <a:rPr lang="en-US" sz="1800" dirty="0"/>
              <a:t>d) Lean</a:t>
            </a:r>
            <a:br>
              <a:rPr lang="en-US" sz="1800" dirty="0"/>
            </a:br>
            <a:r>
              <a:rPr lang="en-US" sz="1800" b="1" dirty="0"/>
              <a:t>Answer: a) </a:t>
            </a:r>
            <a:r>
              <a:rPr lang="en-US" sz="1800" b="1" dirty="0" smtClean="0"/>
              <a:t>Scrum</a:t>
            </a:r>
            <a:endParaRPr lang="en-US" sz="1800" b="1" dirty="0" smtClean="0"/>
          </a:p>
          <a:p>
            <a:pPr marL="342900" lvl="0" indent="-203200">
              <a:buNone/>
            </a:pPr>
            <a:r>
              <a:rPr lang="en-US" sz="1800" b="1" dirty="0"/>
              <a:t>Question: Extreme Programming (XP) is known for its focus on:</a:t>
            </a:r>
            <a:endParaRPr lang="en-US" sz="1800" b="1" dirty="0"/>
          </a:p>
          <a:p>
            <a:pPr marL="357505" lvl="0" indent="0">
              <a:buNone/>
            </a:pPr>
            <a:r>
              <a:rPr lang="en-US" sz="1800" dirty="0"/>
              <a:t>a) Iterative development</a:t>
            </a:r>
            <a:endParaRPr lang="en-US" sz="1800" dirty="0"/>
          </a:p>
          <a:p>
            <a:pPr marL="357505" lvl="0" indent="0">
              <a:buNone/>
            </a:pPr>
            <a:r>
              <a:rPr lang="en-US" sz="1800" dirty="0"/>
              <a:t>b) Pair programming</a:t>
            </a:r>
            <a:endParaRPr lang="en-US" sz="1800" dirty="0"/>
          </a:p>
          <a:p>
            <a:pPr marL="357505" lvl="0" indent="0">
              <a:buNone/>
            </a:pPr>
            <a:r>
              <a:rPr lang="en-US" sz="1800" dirty="0"/>
              <a:t>c) Continuous integration</a:t>
            </a:r>
            <a:endParaRPr lang="en-US" sz="1800" dirty="0"/>
          </a:p>
          <a:p>
            <a:pPr marL="357505" lvl="0" indent="0">
              <a:buNone/>
            </a:pPr>
            <a:r>
              <a:rPr lang="en-US" sz="1800" dirty="0"/>
              <a:t>d) All of the above</a:t>
            </a:r>
            <a:endParaRPr lang="en-US" sz="1800" dirty="0"/>
          </a:p>
          <a:p>
            <a:pPr marL="357505" lvl="0" indent="0">
              <a:buNone/>
            </a:pPr>
            <a:r>
              <a:rPr lang="en-US" sz="1800" b="1" dirty="0"/>
              <a:t>Answer: d) All of the above</a:t>
            </a:r>
            <a:endParaRPr lang="en-US" sz="1800" b="1" dirty="0" smtClean="0"/>
          </a:p>
          <a:p>
            <a:pPr marL="342900" lvl="0" indent="-203200">
              <a:buNone/>
            </a:pPr>
            <a:endParaRPr sz="1800" dirty="0"/>
          </a:p>
        </p:txBody>
      </p:sp>
      <p:sp>
        <p:nvSpPr>
          <p:cNvPr id="458" name="Google Shape;458;p5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Practice Questions</a:t>
            </a:r>
            <a:endParaRPr lang="en-US" b="1"/>
          </a:p>
        </p:txBody>
      </p:sp>
      <p:sp>
        <p:nvSpPr>
          <p:cNvPr id="457" name="Google Shape;457;p5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203200">
              <a:buNone/>
            </a:pPr>
            <a:r>
              <a:rPr lang="en-US" sz="1800" b="1" dirty="0"/>
              <a:t>Question: In Agile, what is the primary purpose of a user story?</a:t>
            </a:r>
            <a:endParaRPr lang="en-US" sz="1800" b="1" dirty="0"/>
          </a:p>
          <a:p>
            <a:pPr marL="342900" lvl="0" indent="14605">
              <a:buNone/>
            </a:pPr>
            <a:r>
              <a:rPr lang="en-US" sz="1800" dirty="0"/>
              <a:t>a) To define technical tasks for developers</a:t>
            </a:r>
            <a:endParaRPr lang="en-US" sz="1800" dirty="0"/>
          </a:p>
          <a:p>
            <a:pPr marL="342900" lvl="0" indent="14605">
              <a:buNone/>
            </a:pPr>
            <a:r>
              <a:rPr lang="en-US" sz="1800" dirty="0"/>
              <a:t>b) To capture functional requirements from the user’s perspective</a:t>
            </a:r>
            <a:endParaRPr lang="en-US" sz="1800" dirty="0"/>
          </a:p>
          <a:p>
            <a:pPr marL="342900" lvl="0" indent="14605">
              <a:buNone/>
            </a:pPr>
            <a:r>
              <a:rPr lang="en-US" sz="1800" dirty="0"/>
              <a:t>c) To document the project timeline</a:t>
            </a:r>
            <a:endParaRPr lang="en-US" sz="1800" dirty="0"/>
          </a:p>
          <a:p>
            <a:pPr marL="342900" lvl="0" indent="14605">
              <a:buNone/>
            </a:pPr>
            <a:r>
              <a:rPr lang="en-US" sz="1800" dirty="0"/>
              <a:t>d) To specify detailed project specifications</a:t>
            </a:r>
            <a:endParaRPr lang="en-US" sz="1800" dirty="0"/>
          </a:p>
          <a:p>
            <a:pPr marL="342900" lvl="0" indent="-203200">
              <a:buNone/>
            </a:pPr>
            <a:r>
              <a:rPr lang="en-US" sz="1800" b="1" dirty="0"/>
              <a:t>Answer: b) To capture functional requirements from the user’s </a:t>
            </a:r>
            <a:r>
              <a:rPr lang="en-US" sz="1800" b="1" dirty="0" smtClean="0"/>
              <a:t>perspective</a:t>
            </a:r>
            <a:endParaRPr lang="en-US" sz="1800" b="1" dirty="0" smtClean="0"/>
          </a:p>
          <a:p>
            <a:pPr marL="342900" lvl="0" indent="-203200">
              <a:buNone/>
            </a:pPr>
            <a:r>
              <a:rPr lang="en-US" sz="1800" b="1" dirty="0"/>
              <a:t>Question: Which Agile technique involves breaking down user stories into smaller, more manageable tasks?</a:t>
            </a:r>
            <a:endParaRPr lang="en-US" sz="1800" b="1" dirty="0"/>
          </a:p>
          <a:p>
            <a:pPr marL="342900" lvl="0" indent="14605">
              <a:buNone/>
            </a:pPr>
            <a:r>
              <a:rPr lang="en-US" sz="1800" dirty="0"/>
              <a:t>a) Storyboarding</a:t>
            </a:r>
            <a:endParaRPr lang="en-US" sz="1800" dirty="0"/>
          </a:p>
          <a:p>
            <a:pPr marL="342900" lvl="0" indent="14605">
              <a:buNone/>
            </a:pPr>
            <a:r>
              <a:rPr lang="en-US" sz="1800" dirty="0"/>
              <a:t>b) Task decomposition</a:t>
            </a:r>
            <a:endParaRPr lang="en-US" sz="1800" dirty="0"/>
          </a:p>
          <a:p>
            <a:pPr marL="342900" lvl="0" indent="14605">
              <a:buNone/>
            </a:pPr>
            <a:r>
              <a:rPr lang="en-US" sz="1800" dirty="0"/>
              <a:t>c) Product backlog grooming</a:t>
            </a:r>
            <a:endParaRPr lang="en-US" sz="1800" dirty="0"/>
          </a:p>
          <a:p>
            <a:pPr marL="342900" lvl="0" indent="14605">
              <a:buNone/>
            </a:pPr>
            <a:r>
              <a:rPr lang="en-US" sz="1800" dirty="0"/>
              <a:t>d) Sprint planning</a:t>
            </a:r>
            <a:endParaRPr lang="en-US" sz="1800" dirty="0"/>
          </a:p>
          <a:p>
            <a:pPr marL="342900" lvl="0" indent="-203200">
              <a:buNone/>
            </a:pPr>
            <a:r>
              <a:rPr lang="en-US" sz="1800" b="1" dirty="0"/>
              <a:t>Answer: b) Task decomposition</a:t>
            </a:r>
            <a:endParaRPr sz="1800" dirty="0"/>
          </a:p>
        </p:txBody>
      </p:sp>
      <p:sp>
        <p:nvSpPr>
          <p:cNvPr id="458" name="Google Shape;458;p5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Practice Questions</a:t>
            </a:r>
            <a:endParaRPr lang="en-US" b="1"/>
          </a:p>
        </p:txBody>
      </p:sp>
      <p:sp>
        <p:nvSpPr>
          <p:cNvPr id="457" name="Google Shape;457;p54"/>
          <p:cNvSpPr txBox="1">
            <a:spLocks noGrp="1"/>
          </p:cNvSpPr>
          <p:nvPr>
            <p:ph type="body" idx="1"/>
          </p:nvPr>
        </p:nvSpPr>
        <p:spPr>
          <a:xfrm>
            <a:off x="571500" y="1381125"/>
            <a:ext cx="8229600" cy="4525963"/>
          </a:xfrm>
          <a:prstGeom prst="rect">
            <a:avLst/>
          </a:prstGeom>
          <a:noFill/>
          <a:ln>
            <a:noFill/>
          </a:ln>
        </p:spPr>
        <p:txBody>
          <a:bodyPr spcFirstLastPara="1" wrap="square" lIns="91425" tIns="45700" rIns="91425" bIns="45700" anchor="t" anchorCtr="0">
            <a:noAutofit/>
          </a:bodyPr>
          <a:lstStyle/>
          <a:p>
            <a:pPr marL="342900" lvl="0" indent="-203200">
              <a:buNone/>
            </a:pPr>
            <a:r>
              <a:rPr lang="en-US" sz="1800" b="1" dirty="0" smtClean="0"/>
              <a:t>Question: What is the primary goal of the Sprint Review meeting in Agile?</a:t>
            </a:r>
            <a:br>
              <a:rPr lang="en-US" sz="1800" dirty="0" smtClean="0"/>
            </a:br>
            <a:r>
              <a:rPr lang="en-US" sz="1800" dirty="0" smtClean="0"/>
              <a:t>a) To review and adjust the sprint backlog</a:t>
            </a:r>
            <a:br>
              <a:rPr lang="en-US" sz="1800" dirty="0" smtClean="0"/>
            </a:br>
            <a:r>
              <a:rPr lang="en-US" sz="1800" dirty="0" smtClean="0"/>
              <a:t>b) To discuss impediments and challenges faced during the sprint</a:t>
            </a:r>
            <a:br>
              <a:rPr lang="en-US" sz="1800" dirty="0" smtClean="0"/>
            </a:br>
            <a:r>
              <a:rPr lang="en-US" sz="1800" dirty="0" smtClean="0"/>
              <a:t>c) To inspect the increment and gather feedback from stakeholders</a:t>
            </a:r>
            <a:br>
              <a:rPr lang="en-US" sz="1800" dirty="0" smtClean="0"/>
            </a:br>
            <a:r>
              <a:rPr lang="en-US" sz="1800" dirty="0" smtClean="0"/>
              <a:t>d) To plan the next sprint’s tasks</a:t>
            </a:r>
            <a:br>
              <a:rPr lang="en-US" sz="1800" dirty="0" smtClean="0"/>
            </a:br>
            <a:r>
              <a:rPr lang="en-US" sz="1800" b="1" dirty="0" smtClean="0"/>
              <a:t>Answer: c) To inspect the increment and gather feedback from stakeholders</a:t>
            </a:r>
            <a:endParaRPr lang="en-US" sz="1800" b="1" dirty="0" smtClean="0"/>
          </a:p>
          <a:p>
            <a:pPr marL="88900" indent="0">
              <a:buNone/>
            </a:pPr>
            <a:r>
              <a:rPr lang="en-US" sz="1800" b="1" dirty="0" smtClean="0"/>
              <a:t>Question: What is the primary purpose of the Product Backlog?</a:t>
            </a:r>
            <a:endParaRPr lang="en-US" sz="1800" b="1" dirty="0" smtClean="0"/>
          </a:p>
          <a:p>
            <a:pPr marL="357505" indent="0">
              <a:buNone/>
            </a:pPr>
            <a:r>
              <a:rPr lang="en-US" sz="1800" dirty="0"/>
              <a:t>a</a:t>
            </a:r>
            <a:r>
              <a:rPr lang="en-US" sz="1800" dirty="0" smtClean="0"/>
              <a:t>) </a:t>
            </a:r>
            <a:r>
              <a:rPr lang="en-US" sz="1800" dirty="0"/>
              <a:t>To track the team’s progress during the sprint</a:t>
            </a:r>
            <a:br>
              <a:rPr lang="en-US" sz="1800" dirty="0"/>
            </a:br>
            <a:r>
              <a:rPr lang="en-US" sz="1800" dirty="0" smtClean="0"/>
              <a:t>b) </a:t>
            </a:r>
            <a:r>
              <a:rPr lang="en-US" sz="1800" dirty="0"/>
              <a:t>To prioritize and manage work for the entire product</a:t>
            </a:r>
            <a:br>
              <a:rPr lang="en-US" sz="1800" dirty="0"/>
            </a:br>
            <a:r>
              <a:rPr lang="en-US" sz="1800" dirty="0" smtClean="0"/>
              <a:t>c) </a:t>
            </a:r>
            <a:r>
              <a:rPr lang="en-US" sz="1800" dirty="0"/>
              <a:t>To document the daily work of the team</a:t>
            </a:r>
            <a:br>
              <a:rPr lang="en-US" sz="1800" dirty="0"/>
            </a:br>
            <a:r>
              <a:rPr lang="en-US" sz="1800" dirty="0" smtClean="0"/>
              <a:t>d) </a:t>
            </a:r>
            <a:r>
              <a:rPr lang="en-US" sz="1800" dirty="0"/>
              <a:t>To define the work for the next sprint</a:t>
            </a:r>
            <a:endParaRPr lang="en-US" sz="1800" dirty="0"/>
          </a:p>
          <a:p>
            <a:pPr marL="357505" indent="0">
              <a:buNone/>
            </a:pPr>
            <a:r>
              <a:rPr lang="en-US" sz="1800" b="1" dirty="0" smtClean="0"/>
              <a:t>Answer</a:t>
            </a:r>
            <a:r>
              <a:rPr lang="en-US" sz="1800" b="1" dirty="0"/>
              <a:t>:</a:t>
            </a:r>
            <a:r>
              <a:rPr lang="en-US" sz="1800" dirty="0"/>
              <a:t> </a:t>
            </a:r>
            <a:r>
              <a:rPr lang="en-US" sz="1800" b="1" dirty="0" smtClean="0"/>
              <a:t>b) </a:t>
            </a:r>
            <a:r>
              <a:rPr lang="en-US" sz="1800" b="1" dirty="0"/>
              <a:t>To prioritize and manage work for the entire </a:t>
            </a:r>
            <a:r>
              <a:rPr lang="en-US" sz="1800" b="1" dirty="0" smtClean="0"/>
              <a:t>product</a:t>
            </a:r>
            <a:endParaRPr lang="en-US" sz="1800" b="1" dirty="0" smtClean="0"/>
          </a:p>
          <a:p>
            <a:pPr marL="357505" indent="0">
              <a:buNone/>
            </a:pPr>
            <a:endParaRPr lang="en-US" sz="1800" b="1" dirty="0"/>
          </a:p>
        </p:txBody>
      </p:sp>
      <p:sp>
        <p:nvSpPr>
          <p:cNvPr id="458" name="Google Shape;458;p5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Practice Questions</a:t>
            </a:r>
            <a:endParaRPr lang="en-US" b="1"/>
          </a:p>
        </p:txBody>
      </p:sp>
      <p:sp>
        <p:nvSpPr>
          <p:cNvPr id="457" name="Google Shape;457;p54"/>
          <p:cNvSpPr txBox="1">
            <a:spLocks noGrp="1"/>
          </p:cNvSpPr>
          <p:nvPr>
            <p:ph type="body" idx="1"/>
          </p:nvPr>
        </p:nvSpPr>
        <p:spPr>
          <a:xfrm>
            <a:off x="571500" y="1381125"/>
            <a:ext cx="8229600" cy="4525963"/>
          </a:xfrm>
          <a:prstGeom prst="rect">
            <a:avLst/>
          </a:prstGeom>
          <a:noFill/>
          <a:ln>
            <a:noFill/>
          </a:ln>
        </p:spPr>
        <p:txBody>
          <a:bodyPr spcFirstLastPara="1" wrap="square" lIns="91425" tIns="45700" rIns="91425" bIns="45700" anchor="t" anchorCtr="0">
            <a:noAutofit/>
          </a:bodyPr>
          <a:lstStyle/>
          <a:p>
            <a:pPr marL="88900" indent="0">
              <a:buNone/>
            </a:pPr>
            <a:r>
              <a:rPr lang="en-US" sz="1800" b="1" dirty="0"/>
              <a:t>Question: Which of the following is true about the XP practice 40-Hour Week?</a:t>
            </a:r>
            <a:endParaRPr lang="en-US" sz="1800" b="1" dirty="0"/>
          </a:p>
          <a:p>
            <a:pPr marL="357505" indent="0">
              <a:buNone/>
            </a:pPr>
            <a:r>
              <a:rPr lang="en-US" sz="1800" dirty="0"/>
              <a:t>a) Developers are encouraged to work overtime as needed</a:t>
            </a:r>
            <a:br>
              <a:rPr lang="en-US" sz="1800" dirty="0"/>
            </a:br>
            <a:r>
              <a:rPr lang="en-US" sz="1800" dirty="0"/>
              <a:t>b) Developers should aim for no more than 40 hours of work per week to maintain sustainable productivity</a:t>
            </a:r>
            <a:br>
              <a:rPr lang="en-US" sz="1800" dirty="0"/>
            </a:br>
            <a:r>
              <a:rPr lang="en-US" sz="1800" dirty="0"/>
              <a:t>c) Developers are required to take a two-week vacation every six months</a:t>
            </a:r>
            <a:br>
              <a:rPr lang="en-US" sz="1800" dirty="0"/>
            </a:br>
            <a:r>
              <a:rPr lang="en-US" sz="1800" dirty="0"/>
              <a:t>d) The 40-Hour Week applies only to senior developers</a:t>
            </a:r>
            <a:endParaRPr lang="en-US" sz="1800" dirty="0"/>
          </a:p>
          <a:p>
            <a:pPr marL="88900" indent="0">
              <a:buNone/>
            </a:pPr>
            <a:r>
              <a:rPr lang="en-US" sz="1800" b="1" dirty="0"/>
              <a:t>   Answer:</a:t>
            </a:r>
            <a:r>
              <a:rPr lang="en-US" sz="1800" dirty="0"/>
              <a:t> </a:t>
            </a:r>
            <a:r>
              <a:rPr lang="en-US" sz="1800" dirty="0" smtClean="0"/>
              <a:t>b) </a:t>
            </a:r>
            <a:r>
              <a:rPr lang="en-US" sz="1800" b="1" dirty="0"/>
              <a:t>Developers should aim for no more than 40 hours of work per week to maintain sustainable </a:t>
            </a:r>
            <a:r>
              <a:rPr lang="en-US" sz="1800" b="1" dirty="0" smtClean="0"/>
              <a:t>productivity</a:t>
            </a:r>
            <a:endParaRPr lang="en-US" sz="1800" b="1" dirty="0" smtClean="0"/>
          </a:p>
          <a:p>
            <a:pPr marL="88900" indent="0">
              <a:buNone/>
            </a:pPr>
            <a:r>
              <a:rPr lang="en-US" sz="1800" b="1" dirty="0" smtClean="0"/>
              <a:t>Question: </a:t>
            </a:r>
            <a:r>
              <a:rPr lang="en-US" sz="1800" dirty="0"/>
              <a:t>In </a:t>
            </a:r>
            <a:r>
              <a:rPr lang="en-US" sz="1800" b="1" dirty="0"/>
              <a:t>XP</a:t>
            </a:r>
            <a:r>
              <a:rPr lang="en-US" sz="1800" dirty="0"/>
              <a:t>, </a:t>
            </a:r>
            <a:r>
              <a:rPr lang="en-US" sz="1800" b="1" dirty="0"/>
              <a:t>Customer Acceptance Tests</a:t>
            </a:r>
            <a:r>
              <a:rPr lang="en-US" sz="1800" dirty="0"/>
              <a:t> are used to:</a:t>
            </a:r>
            <a:endParaRPr lang="en-US" sz="1800" dirty="0"/>
          </a:p>
          <a:p>
            <a:pPr marL="357505" indent="0">
              <a:buNone/>
            </a:pPr>
            <a:r>
              <a:rPr lang="en-US" sz="1800" dirty="0" smtClean="0"/>
              <a:t>a) </a:t>
            </a:r>
            <a:r>
              <a:rPr lang="en-US" sz="1800" dirty="0"/>
              <a:t>Evaluate how well the development team is following coding standards</a:t>
            </a:r>
            <a:br>
              <a:rPr lang="en-US" sz="1800" dirty="0"/>
            </a:br>
            <a:r>
              <a:rPr lang="en-US" sz="1800" dirty="0" smtClean="0"/>
              <a:t>b) </a:t>
            </a:r>
            <a:r>
              <a:rPr lang="en-US" sz="1800" dirty="0"/>
              <a:t>Ensure that the code is free of bugs and errors</a:t>
            </a:r>
            <a:br>
              <a:rPr lang="en-US" sz="1800" dirty="0"/>
            </a:br>
            <a:r>
              <a:rPr lang="en-US" sz="1800" dirty="0" smtClean="0"/>
              <a:t>c) </a:t>
            </a:r>
            <a:r>
              <a:rPr lang="en-US" sz="1800" dirty="0"/>
              <a:t>Verify that the software meets the customer’s requirements and works as expected</a:t>
            </a:r>
            <a:br>
              <a:rPr lang="en-US" sz="1800" dirty="0"/>
            </a:br>
            <a:r>
              <a:rPr lang="en-US" sz="1800" dirty="0" smtClean="0"/>
              <a:t>d) </a:t>
            </a:r>
            <a:r>
              <a:rPr lang="en-US" sz="1800" dirty="0"/>
              <a:t>Measure the performance of the software under load</a:t>
            </a:r>
            <a:endParaRPr lang="en-US" sz="1800" dirty="0"/>
          </a:p>
          <a:p>
            <a:pPr marL="88900" indent="0">
              <a:buNone/>
            </a:pPr>
            <a:r>
              <a:rPr lang="en-US" sz="1800" b="1" dirty="0"/>
              <a:t>Answer: </a:t>
            </a:r>
            <a:r>
              <a:rPr lang="en-US" sz="1800" b="1" dirty="0" smtClean="0"/>
              <a:t>c) </a:t>
            </a:r>
            <a:r>
              <a:rPr lang="en-US" sz="1800" b="1" dirty="0"/>
              <a:t>Verify that the software meets the customer’s requirements and works as expected</a:t>
            </a:r>
            <a:endParaRPr lang="en-US" sz="1800" b="1" dirty="0"/>
          </a:p>
          <a:p>
            <a:pPr marL="88900" indent="0">
              <a:buNone/>
            </a:pPr>
            <a:endParaRPr lang="en-US" sz="1800" b="1" dirty="0"/>
          </a:p>
        </p:txBody>
      </p:sp>
      <p:sp>
        <p:nvSpPr>
          <p:cNvPr id="458" name="Google Shape;458;p5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Practice Questions</a:t>
            </a:r>
            <a:endParaRPr lang="en-US" b="1"/>
          </a:p>
        </p:txBody>
      </p:sp>
      <p:sp>
        <p:nvSpPr>
          <p:cNvPr id="457" name="Google Shape;457;p54"/>
          <p:cNvSpPr txBox="1">
            <a:spLocks noGrp="1"/>
          </p:cNvSpPr>
          <p:nvPr>
            <p:ph type="body" idx="1"/>
          </p:nvPr>
        </p:nvSpPr>
        <p:spPr>
          <a:xfrm>
            <a:off x="571500" y="1381125"/>
            <a:ext cx="8229600" cy="4525963"/>
          </a:xfrm>
          <a:prstGeom prst="rect">
            <a:avLst/>
          </a:prstGeom>
          <a:noFill/>
          <a:ln>
            <a:noFill/>
          </a:ln>
        </p:spPr>
        <p:txBody>
          <a:bodyPr spcFirstLastPara="1" wrap="square" lIns="91425" tIns="45700" rIns="91425" bIns="45700" anchor="t" anchorCtr="0">
            <a:noAutofit/>
          </a:bodyPr>
          <a:lstStyle/>
          <a:p>
            <a:pPr marL="88900" indent="0">
              <a:buNone/>
            </a:pPr>
            <a:r>
              <a:rPr lang="en-US" sz="1800" b="1" dirty="0"/>
              <a:t>Question: Which XP lifecycle phase is focused on improving the internal structure of the code, without changing its external behavior?</a:t>
            </a:r>
            <a:endParaRPr lang="en-US" sz="1800" b="1" dirty="0"/>
          </a:p>
          <a:p>
            <a:pPr marL="357505" indent="0">
              <a:buNone/>
            </a:pPr>
            <a:r>
              <a:rPr lang="en-US" sz="1800" dirty="0" smtClean="0"/>
              <a:t>a) </a:t>
            </a:r>
            <a:r>
              <a:rPr lang="en-US" sz="1800" dirty="0"/>
              <a:t>Exploration</a:t>
            </a:r>
            <a:br>
              <a:rPr lang="en-US" sz="1800" dirty="0"/>
            </a:br>
            <a:r>
              <a:rPr lang="en-US" sz="1800" dirty="0" smtClean="0"/>
              <a:t>b) </a:t>
            </a:r>
            <a:r>
              <a:rPr lang="en-US" sz="1800" dirty="0"/>
              <a:t>Coding</a:t>
            </a:r>
            <a:br>
              <a:rPr lang="en-US" sz="1800" dirty="0"/>
            </a:br>
            <a:r>
              <a:rPr lang="en-US" sz="1800" dirty="0" smtClean="0"/>
              <a:t>c) </a:t>
            </a:r>
            <a:r>
              <a:rPr lang="en-US" sz="1800" dirty="0"/>
              <a:t>Refactoring</a:t>
            </a:r>
            <a:br>
              <a:rPr lang="en-US" sz="1800" dirty="0"/>
            </a:br>
            <a:r>
              <a:rPr lang="en-US" sz="1800" dirty="0" smtClean="0"/>
              <a:t>d) </a:t>
            </a:r>
            <a:r>
              <a:rPr lang="en-US" sz="1800" dirty="0"/>
              <a:t>Deployment</a:t>
            </a:r>
            <a:endParaRPr lang="en-US" sz="1800" dirty="0"/>
          </a:p>
          <a:p>
            <a:pPr marL="88900" indent="0">
              <a:buNone/>
            </a:pPr>
            <a:r>
              <a:rPr lang="en-US" sz="1800" b="1" dirty="0"/>
              <a:t>Answer: </a:t>
            </a:r>
            <a:r>
              <a:rPr lang="en-US" sz="1800" b="1" dirty="0" smtClean="0"/>
              <a:t>c) </a:t>
            </a:r>
            <a:r>
              <a:rPr lang="en-US" sz="1800" b="1" dirty="0"/>
              <a:t>Refactoring</a:t>
            </a:r>
            <a:endParaRPr lang="en-US" sz="1800" b="1" dirty="0"/>
          </a:p>
          <a:p>
            <a:pPr marL="88900" indent="0">
              <a:buNone/>
            </a:pPr>
            <a:r>
              <a:rPr lang="en-US" sz="1800" b="1" dirty="0" smtClean="0"/>
              <a:t>Question: </a:t>
            </a:r>
            <a:r>
              <a:rPr lang="en-US" sz="1800" dirty="0"/>
              <a:t>In </a:t>
            </a:r>
            <a:r>
              <a:rPr lang="en-US" sz="1800" b="1" dirty="0"/>
              <a:t>XP</a:t>
            </a:r>
            <a:r>
              <a:rPr lang="en-US" sz="1800" dirty="0"/>
              <a:t>, after each </a:t>
            </a:r>
            <a:r>
              <a:rPr lang="en-US" sz="1800" b="1" dirty="0"/>
              <a:t>iteration</a:t>
            </a:r>
            <a:r>
              <a:rPr lang="en-US" sz="1800" dirty="0"/>
              <a:t>, the team typically performs:</a:t>
            </a:r>
            <a:endParaRPr lang="en-US" sz="1800" dirty="0"/>
          </a:p>
          <a:p>
            <a:pPr marL="357505" indent="0">
              <a:buNone/>
            </a:pPr>
            <a:r>
              <a:rPr lang="en-US" sz="1800" dirty="0" smtClean="0"/>
              <a:t>a) </a:t>
            </a:r>
            <a:r>
              <a:rPr lang="en-US" sz="1800" dirty="0"/>
              <a:t>A major release to the customer</a:t>
            </a:r>
            <a:br>
              <a:rPr lang="en-US" sz="1800" dirty="0"/>
            </a:br>
            <a:r>
              <a:rPr lang="en-US" sz="1800" dirty="0" smtClean="0"/>
              <a:t>b) </a:t>
            </a:r>
            <a:r>
              <a:rPr lang="en-US" sz="1800" dirty="0"/>
              <a:t>A retrospective to assess what went well and what can be improved</a:t>
            </a:r>
            <a:br>
              <a:rPr lang="en-US" sz="1800" dirty="0"/>
            </a:br>
            <a:r>
              <a:rPr lang="en-US" sz="1800" dirty="0" smtClean="0"/>
              <a:t>c) </a:t>
            </a:r>
            <a:r>
              <a:rPr lang="en-US" sz="1800" dirty="0"/>
              <a:t>A full system rewrite</a:t>
            </a:r>
            <a:br>
              <a:rPr lang="en-US" sz="1800" dirty="0"/>
            </a:br>
            <a:r>
              <a:rPr lang="en-US" sz="1800" dirty="0" smtClean="0"/>
              <a:t>d) </a:t>
            </a:r>
            <a:r>
              <a:rPr lang="en-US" sz="1800" dirty="0"/>
              <a:t>A customer review to change the entire product roadmap</a:t>
            </a:r>
            <a:endParaRPr lang="en-US" sz="1800" dirty="0"/>
          </a:p>
          <a:p>
            <a:pPr marL="88900" indent="0">
              <a:buNone/>
            </a:pPr>
            <a:r>
              <a:rPr lang="en-US" sz="1800" b="1" dirty="0"/>
              <a:t>Answer: </a:t>
            </a:r>
            <a:r>
              <a:rPr lang="en-US" sz="1800" b="1" dirty="0" smtClean="0"/>
              <a:t>b) </a:t>
            </a:r>
            <a:r>
              <a:rPr lang="en-US" sz="1800" b="1" dirty="0"/>
              <a:t>A retrospective to assess what went well and what can be improved</a:t>
            </a:r>
            <a:endParaRPr lang="en-US" sz="1800" b="1" dirty="0"/>
          </a:p>
          <a:p>
            <a:pPr marL="88900" indent="0">
              <a:buNone/>
            </a:pPr>
            <a:endParaRPr lang="en-US" sz="1800" b="1" dirty="0"/>
          </a:p>
        </p:txBody>
      </p:sp>
      <p:sp>
        <p:nvSpPr>
          <p:cNvPr id="458" name="Google Shape;458;p5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panose="02020603050405020304"/>
              <a:buNone/>
            </a:pPr>
          </a:p>
        </p:txBody>
      </p:sp>
      <p:sp>
        <p:nvSpPr>
          <p:cNvPr id="503" name="Google Shape;503;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panose="02020603050405020304"/>
                <a:ea typeface="Times New Roman" panose="02020603050405020304"/>
                <a:cs typeface="Times New Roman" panose="02020603050405020304"/>
                <a:sym typeface="Times New Roman" panose="02020603050405020304"/>
              </a:rPr>
              <a:t>Computer Networks               </a:t>
            </a: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504" name="Google Shape;504;p27" descr="See the source image"/>
          <p:cNvPicPr preferRelativeResize="0"/>
          <p:nvPr/>
        </p:nvPicPr>
        <p:blipFill rotWithShape="1">
          <a:blip r:embed="rId1"/>
          <a:srcRect/>
          <a:stretch>
            <a:fill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24052</Words>
  <Application>WPS Presentation</Application>
  <PresentationFormat>On-screen Show (4:3)</PresentationFormat>
  <Paragraphs>778</Paragraphs>
  <Slides>59</Slides>
  <Notes>59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59</vt:i4>
      </vt:variant>
    </vt:vector>
  </HeadingPairs>
  <TitlesOfParts>
    <vt:vector size="73" baseType="lpstr">
      <vt:lpstr>Arial</vt:lpstr>
      <vt:lpstr>SimSun</vt:lpstr>
      <vt:lpstr>Wingdings</vt:lpstr>
      <vt:lpstr>Arial</vt:lpstr>
      <vt:lpstr>Calibri</vt:lpstr>
      <vt:lpstr>Times New Roman</vt:lpstr>
      <vt:lpstr>Times</vt:lpstr>
      <vt:lpstr>Times New Roman</vt:lpstr>
      <vt:lpstr>Times</vt:lpstr>
      <vt:lpstr>Microsoft YaHei</vt:lpstr>
      <vt:lpstr>Arial Unicode MS</vt:lpstr>
      <vt:lpstr>Noto Sans Symbols</vt:lpstr>
      <vt:lpstr>Segoe Print</vt:lpstr>
      <vt:lpstr>Office Theme</vt:lpstr>
      <vt:lpstr>PowerPoint 演示文稿</vt:lpstr>
      <vt:lpstr>Index</vt:lpstr>
      <vt:lpstr>Agile Model</vt:lpstr>
      <vt:lpstr>Contd…</vt:lpstr>
      <vt:lpstr>Effectiveness of Communication Modes</vt:lpstr>
      <vt:lpstr>Agile Model</vt:lpstr>
      <vt:lpstr>Agile Process Methodology</vt:lpstr>
      <vt:lpstr>Agile Principles</vt:lpstr>
      <vt:lpstr>Agile Principles (contd.)</vt:lpstr>
      <vt:lpstr>Key Agile Concepts</vt:lpstr>
      <vt:lpstr>Key Agile Concepts</vt:lpstr>
      <vt:lpstr>Agile Development</vt:lpstr>
      <vt:lpstr>Adaptive Software Development</vt:lpstr>
      <vt:lpstr>ASD Life Cycle</vt:lpstr>
      <vt:lpstr>ASD Life Cycle - Speculation</vt:lpstr>
      <vt:lpstr>ASD Life Cycle - Speculation</vt:lpstr>
      <vt:lpstr>ASD Life Cycle - Speculation</vt:lpstr>
      <vt:lpstr>ASD Life Cycle - Collaboration</vt:lpstr>
      <vt:lpstr>ASD Life Cycle - Learning</vt:lpstr>
      <vt:lpstr>SCRUM</vt:lpstr>
      <vt:lpstr>SCRUM (contd.)</vt:lpstr>
      <vt:lpstr>People &amp; Parts of Scrum Framework</vt:lpstr>
      <vt:lpstr>Scrum Roles</vt:lpstr>
      <vt:lpstr>Scrum Roles (contd.)</vt:lpstr>
      <vt:lpstr>Events in Scrum</vt:lpstr>
      <vt:lpstr>Events in Scrum (contd.)</vt:lpstr>
      <vt:lpstr>Scrum Artifacts</vt:lpstr>
      <vt:lpstr>Scrum Artifacts (contd.)</vt:lpstr>
      <vt:lpstr>Scrum Framework</vt:lpstr>
      <vt:lpstr>Scrum Framework (contd.)</vt:lpstr>
      <vt:lpstr>Scrum Framework (contd.)</vt:lpstr>
      <vt:lpstr>Extreme Programming (XP)</vt:lpstr>
      <vt:lpstr>XP Values</vt:lpstr>
      <vt:lpstr>XP Values (contd.)</vt:lpstr>
      <vt:lpstr>XP Values (contd.)</vt:lpstr>
      <vt:lpstr>Why is it called Extreme</vt:lpstr>
      <vt:lpstr>Why is it called Extreme</vt:lpstr>
      <vt:lpstr>XP Practices</vt:lpstr>
      <vt:lpstr>XP Practices (contd.)</vt:lpstr>
      <vt:lpstr>XP Practices (contd.)</vt:lpstr>
      <vt:lpstr>XP Practices (contd.)</vt:lpstr>
      <vt:lpstr>XP Practices (contd.)</vt:lpstr>
      <vt:lpstr>XP Practices (contd.)</vt:lpstr>
      <vt:lpstr>XP Practices (contd.)</vt:lpstr>
      <vt:lpstr>XP Practices (contd.)</vt:lpstr>
      <vt:lpstr>XP Practices (contd.)</vt:lpstr>
      <vt:lpstr>XP Practices (contd.)</vt:lpstr>
      <vt:lpstr>XP Practices (contd.)</vt:lpstr>
      <vt:lpstr>XP Practices (contd.)</vt:lpstr>
      <vt:lpstr>XP Lifecycle</vt:lpstr>
      <vt:lpstr>XP Advantages</vt:lpstr>
      <vt:lpstr>XP Advantages (contd.)</vt:lpstr>
      <vt:lpstr>XP Disadvantages</vt:lpstr>
      <vt:lpstr>Practice Questions</vt:lpstr>
      <vt:lpstr>Practice Questions</vt:lpstr>
      <vt:lpstr>Practice Questions</vt:lpstr>
      <vt:lpstr>Practice Questions</vt:lpstr>
      <vt:lpstr>Practice Questions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suvarna sharma</cp:lastModifiedBy>
  <cp:revision>14</cp:revision>
  <dcterms:created xsi:type="dcterms:W3CDTF">2021-07-05T10:09:00Z</dcterms:created>
  <dcterms:modified xsi:type="dcterms:W3CDTF">2024-12-18T09:05:31Z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2057-12.2.0.18639</vt:lpwstr>
  </property>
  <property fmtid="{D5CDD505-2E9C-101B-9397-08002B2CF9AE}" pid="3" name="ICV">
    <vt:lpwstr>C66E8A929365439D9183C5235316B3C9</vt:lpwstr>
  </property>
</Properties>
</file>