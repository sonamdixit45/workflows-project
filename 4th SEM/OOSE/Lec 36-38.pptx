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5" roundtripDataSignature="AMtx7mg/hSiKgaWkr5JQ+dWzMjrRnxej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292E2E-20E8-4A7D-92F8-3D3A8D68909F}">
  <a:tblStyle styleId="{31292E2E-20E8-4A7D-92F8-3D3A8D68909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27" name="Google Shape;127;p9: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9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9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9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9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9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2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28" name="Shape 28"/>
        <p:cNvGrpSpPr/>
        <p:nvPr/>
      </p:nvGrpSpPr>
      <p:grpSpPr>
        <a:xfrm>
          <a:off x="0" y="0"/>
          <a:ext cx="0" cy="0"/>
          <a:chOff x="0" y="0"/>
          <a:chExt cx="0" cy="0"/>
        </a:xfrm>
      </p:grpSpPr>
      <p:sp>
        <p:nvSpPr>
          <p:cNvPr id="29" name="Google Shape;29;p29"/>
          <p:cNvSpPr txBox="1"/>
          <p:nvPr>
            <p:ph idx="11" type="ftr"/>
          </p:nvPr>
        </p:nvSpPr>
        <p:spPr>
          <a:xfrm>
            <a:off x="457559" y="6356520"/>
            <a:ext cx="8499154"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0" name="Shape 30"/>
        <p:cNvGrpSpPr/>
        <p:nvPr/>
      </p:nvGrpSpPr>
      <p:grpSpPr>
        <a:xfrm>
          <a:off x="0" y="0"/>
          <a:ext cx="0" cy="0"/>
          <a:chOff x="0" y="0"/>
          <a:chExt cx="0" cy="0"/>
        </a:xfrm>
      </p:grpSpPr>
      <p:sp>
        <p:nvSpPr>
          <p:cNvPr id="31" name="Google Shape;31;p3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0"/>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0"/>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10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6" name="Shape 36"/>
        <p:cNvGrpSpPr/>
        <p:nvPr/>
      </p:nvGrpSpPr>
      <p:grpSpPr>
        <a:xfrm>
          <a:off x="0" y="0"/>
          <a:ext cx="0" cy="0"/>
          <a:chOff x="0" y="0"/>
          <a:chExt cx="0" cy="0"/>
        </a:xfrm>
      </p:grpSpPr>
      <p:sp>
        <p:nvSpPr>
          <p:cNvPr id="37" name="Google Shape;37;p32"/>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9" name="Shape 39"/>
        <p:cNvGrpSpPr/>
        <p:nvPr/>
      </p:nvGrpSpPr>
      <p:grpSpPr>
        <a:xfrm>
          <a:off x="0" y="0"/>
          <a:ext cx="0" cy="0"/>
          <a:chOff x="0" y="0"/>
          <a:chExt cx="0" cy="0"/>
        </a:xfrm>
      </p:grpSpPr>
      <p:sp>
        <p:nvSpPr>
          <p:cNvPr id="40" name="Google Shape;40;p3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3"/>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2" name="Google Shape;42;p33"/>
          <p:cNvSpPr txBox="1"/>
          <p:nvPr>
            <p:ph idx="11" type="ftr"/>
          </p:nvPr>
        </p:nvSpPr>
        <p:spPr>
          <a:xfrm>
            <a:off x="457199" y="6356520"/>
            <a:ext cx="8229239"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3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4"/>
          <p:cNvSpPr txBox="1"/>
          <p:nvPr>
            <p:ph idx="11" type="ftr"/>
          </p:nvPr>
        </p:nvSpPr>
        <p:spPr>
          <a:xfrm>
            <a:off x="352540" y="6356520"/>
            <a:ext cx="8361802"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p:cSld name="Centered Text">
    <p:spTree>
      <p:nvGrpSpPr>
        <p:cNvPr id="46" name="Shape 46"/>
        <p:cNvGrpSpPr/>
        <p:nvPr/>
      </p:nvGrpSpPr>
      <p:grpSpPr>
        <a:xfrm>
          <a:off x="0" y="0"/>
          <a:ext cx="0" cy="0"/>
          <a:chOff x="0" y="0"/>
          <a:chExt cx="0" cy="0"/>
        </a:xfrm>
      </p:grpSpPr>
      <p:sp>
        <p:nvSpPr>
          <p:cNvPr id="47" name="Google Shape;47;p35"/>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8" name="Google Shape;48;p35"/>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9" name="Shape 49"/>
        <p:cNvGrpSpPr/>
        <p:nvPr/>
      </p:nvGrpSpPr>
      <p:grpSpPr>
        <a:xfrm>
          <a:off x="0" y="0"/>
          <a:ext cx="0" cy="0"/>
          <a:chOff x="0" y="0"/>
          <a:chExt cx="0" cy="0"/>
        </a:xfrm>
      </p:grpSpPr>
      <p:sp>
        <p:nvSpPr>
          <p:cNvPr id="50" name="Google Shape;50;p3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6"/>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6"/>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6"/>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6"/>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5" name="Shape 55"/>
        <p:cNvGrpSpPr/>
        <p:nvPr/>
      </p:nvGrpSpPr>
      <p:grpSpPr>
        <a:xfrm>
          <a:off x="0" y="0"/>
          <a:ext cx="0" cy="0"/>
          <a:chOff x="0" y="0"/>
          <a:chExt cx="0" cy="0"/>
        </a:xfrm>
      </p:grpSpPr>
      <p:sp>
        <p:nvSpPr>
          <p:cNvPr id="56" name="Google Shape;56;p3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7"/>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37"/>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37"/>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61" name="Shape 61"/>
        <p:cNvGrpSpPr/>
        <p:nvPr/>
      </p:nvGrpSpPr>
      <p:grpSpPr>
        <a:xfrm>
          <a:off x="0" y="0"/>
          <a:ext cx="0" cy="0"/>
          <a:chOff x="0" y="0"/>
          <a:chExt cx="0" cy="0"/>
        </a:xfrm>
      </p:grpSpPr>
      <p:sp>
        <p:nvSpPr>
          <p:cNvPr id="62" name="Google Shape;62;p3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8"/>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7" name="Shape 67"/>
        <p:cNvGrpSpPr/>
        <p:nvPr/>
      </p:nvGrpSpPr>
      <p:grpSpPr>
        <a:xfrm>
          <a:off x="0" y="0"/>
          <a:ext cx="0" cy="0"/>
          <a:chOff x="0" y="0"/>
          <a:chExt cx="0" cy="0"/>
        </a:xfrm>
      </p:grpSpPr>
      <p:sp>
        <p:nvSpPr>
          <p:cNvPr id="68" name="Google Shape;68;p3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9"/>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9"/>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9"/>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72" name="Shape 72"/>
        <p:cNvGrpSpPr/>
        <p:nvPr/>
      </p:nvGrpSpPr>
      <p:grpSpPr>
        <a:xfrm>
          <a:off x="0" y="0"/>
          <a:ext cx="0" cy="0"/>
          <a:chOff x="0" y="0"/>
          <a:chExt cx="0" cy="0"/>
        </a:xfrm>
      </p:grpSpPr>
      <p:sp>
        <p:nvSpPr>
          <p:cNvPr id="73" name="Google Shape;73;p4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0"/>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0"/>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40"/>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0"/>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40"/>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BLANK 2">
    <p:spTree>
      <p:nvGrpSpPr>
        <p:cNvPr id="79" name="Shape 79"/>
        <p:cNvGrpSpPr/>
        <p:nvPr/>
      </p:nvGrpSpPr>
      <p:grpSpPr>
        <a:xfrm>
          <a:off x="0" y="0"/>
          <a:ext cx="0" cy="0"/>
          <a:chOff x="0" y="0"/>
          <a:chExt cx="0" cy="0"/>
        </a:xfrm>
      </p:grpSpPr>
      <p:sp>
        <p:nvSpPr>
          <p:cNvPr id="80" name="Google Shape;80;p4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1"/>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1"/>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41"/>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1"/>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1"/>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41"/>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41"/>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7.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6"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8"/>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28"/>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28"/>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292100" lvl="4" marL="2286000" marR="0" rtl="0" algn="l">
              <a:lnSpc>
                <a:spcPct val="90000"/>
              </a:lnSpc>
              <a:spcBef>
                <a:spcPts val="5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2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tutorialspoint.com/What-is-Data-Dictionary" TargetMode="External"/><Relationship Id="rId4" Type="http://schemas.openxmlformats.org/officeDocument/2006/relationships/hyperlink" Target="https://www.tutorialspoint.com/What-is-Data-Dictionary" TargetMode="External"/><Relationship Id="rId9" Type="http://schemas.openxmlformats.org/officeDocument/2006/relationships/hyperlink" Target="https://www.datanamic.com/support/lt-dez006-what-is-an-erd.html" TargetMode="External"/><Relationship Id="rId5" Type="http://schemas.openxmlformats.org/officeDocument/2006/relationships/hyperlink" Target="https://www.tutorialspoint.com/What-is-Data-Dictionary" TargetMode="External"/><Relationship Id="rId6" Type="http://schemas.openxmlformats.org/officeDocument/2006/relationships/hyperlink" Target="https://www.tutorialspoint.com/What-is-Data-Dictionary" TargetMode="External"/><Relationship Id="rId7" Type="http://schemas.openxmlformats.org/officeDocument/2006/relationships/hyperlink" Target="https://www.tutorialspoint.com/What-is-Data-Dictionary" TargetMode="External"/><Relationship Id="rId8" Type="http://schemas.openxmlformats.org/officeDocument/2006/relationships/hyperlink" Target="https://www.lucidchart.com/pages/er-diagram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4"/>
          <p:cNvSpPr txBox="1"/>
          <p:nvPr/>
        </p:nvSpPr>
        <p:spPr>
          <a:xfrm>
            <a:off x="947786" y="2932386"/>
            <a:ext cx="7564618" cy="29405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1" i="0" lang="en-US" sz="2400" u="none" cap="none" strike="noStrike">
                <a:solidFill>
                  <a:srgbClr val="0070C0"/>
                </a:solidFill>
                <a:latin typeface="Times New Roman"/>
                <a:ea typeface="Times New Roman"/>
                <a:cs typeface="Times New Roman"/>
                <a:sym typeface="Times New Roman"/>
              </a:rPr>
              <a:t>Software Project Estimation</a:t>
            </a:r>
            <a:endParaRPr/>
          </a:p>
          <a:p>
            <a:pPr indent="0" lvl="0" marL="0" marR="0" rtl="0" algn="ctr">
              <a:lnSpc>
                <a:spcPct val="100000"/>
              </a:lnSpc>
              <a:spcBef>
                <a:spcPts val="400"/>
              </a:spcBef>
              <a:spcAft>
                <a:spcPts val="0"/>
              </a:spcAft>
              <a:buClr>
                <a:srgbClr val="000000"/>
              </a:buClr>
              <a:buSzPts val="2000"/>
              <a:buFont typeface="Arial"/>
              <a:buNone/>
            </a:pPr>
            <a:r>
              <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1" i="0" lang="en-US" sz="2400" u="none" cap="none" strike="noStrike">
                <a:solidFill>
                  <a:srgbClr val="0070C0"/>
                </a:solidFill>
                <a:latin typeface="Times New Roman"/>
                <a:ea typeface="Times New Roman"/>
                <a:cs typeface="Times New Roman"/>
                <a:sym typeface="Times New Roman"/>
              </a:rPr>
              <a:t>Prepared By:</a:t>
            </a:r>
            <a:br>
              <a:rPr b="1" i="0" lang="en-US" sz="2400" u="none" cap="none" strike="noStrike">
                <a:solidFill>
                  <a:srgbClr val="0070C0"/>
                </a:solidFill>
                <a:latin typeface="Times New Roman"/>
                <a:ea typeface="Times New Roman"/>
                <a:cs typeface="Times New Roman"/>
                <a:sym typeface="Times New Roman"/>
              </a:rPr>
            </a:br>
            <a:r>
              <a:rPr b="1" i="0" lang="en-US" sz="2400" u="none" cap="none" strike="noStrike">
                <a:solidFill>
                  <a:srgbClr val="0070C0"/>
                </a:solidFill>
                <a:latin typeface="Times New Roman"/>
                <a:ea typeface="Times New Roman"/>
                <a:cs typeface="Times New Roman"/>
                <a:sym typeface="Times New Roman"/>
              </a:rPr>
              <a:t>Dr. Vijaita Kashyap</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36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rgbClr val="0070C0"/>
              </a:solidFill>
              <a:latin typeface="Times New Roman"/>
              <a:ea typeface="Times New Roman"/>
              <a:cs typeface="Times New Roman"/>
              <a:sym typeface="Times New Roman"/>
            </a:endParaRPr>
          </a:p>
          <a:p>
            <a:pPr indent="0" lvl="0" marL="0" marR="0" rtl="0" algn="ctr">
              <a:lnSpc>
                <a:spcPct val="150000"/>
              </a:lnSpc>
              <a:spcBef>
                <a:spcPts val="40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93" name="Google Shape;93;p4"/>
          <p:cNvSpPr txBox="1"/>
          <p:nvPr/>
        </p:nvSpPr>
        <p:spPr>
          <a:xfrm>
            <a:off x="1398799" y="2102069"/>
            <a:ext cx="6346401" cy="1436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Times New Roman"/>
                <a:ea typeface="Times New Roman"/>
                <a:cs typeface="Times New Roman"/>
                <a:sym typeface="Times New Roman"/>
              </a:rPr>
              <a:t>Object Oriented Software Engineering (OOSE)</a:t>
            </a:r>
            <a:endParaRPr/>
          </a:p>
          <a:p>
            <a:pPr indent="0" lvl="0" marL="0" marR="0" rtl="0" algn="ctr">
              <a:lnSpc>
                <a:spcPct val="100000"/>
              </a:lnSpc>
              <a:spcBef>
                <a:spcPts val="400"/>
              </a:spcBef>
              <a:spcAft>
                <a:spcPts val="0"/>
              </a:spcAft>
              <a:buClr>
                <a:srgbClr val="000000"/>
              </a:buClr>
              <a:buSzPts val="2000"/>
              <a:buFont typeface="Arial"/>
              <a:buNone/>
            </a:pPr>
            <a:r>
              <a:rPr b="1" i="0" lang="en-US" sz="2800" u="none" cap="none" strike="noStrike">
                <a:solidFill>
                  <a:schemeClr val="dk1"/>
                </a:solidFill>
                <a:latin typeface="Times New Roman"/>
                <a:ea typeface="Times New Roman"/>
                <a:cs typeface="Times New Roman"/>
                <a:sym typeface="Times New Roman"/>
              </a:rPr>
              <a:t>22CS017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nvSpPr>
        <p:spPr>
          <a:xfrm>
            <a:off x="381786" y="292407"/>
            <a:ext cx="6019560" cy="8976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200" u="none" cap="none" strike="noStrike">
                <a:solidFill>
                  <a:srgbClr val="000000"/>
                </a:solidFill>
                <a:latin typeface="Times New Roman"/>
                <a:ea typeface="Times New Roman"/>
                <a:cs typeface="Times New Roman"/>
                <a:sym typeface="Times New Roman"/>
              </a:rPr>
              <a:t>Index</a:t>
            </a:r>
            <a:endParaRPr/>
          </a:p>
          <a:p>
            <a:pPr indent="0" lvl="0" marL="0" marR="0" rtl="0" algn="l">
              <a:lnSpc>
                <a:spcPct val="100000"/>
              </a:lnSpc>
              <a:spcBef>
                <a:spcPts val="0"/>
              </a:spcBef>
              <a:spcAft>
                <a:spcPts val="0"/>
              </a:spcAft>
              <a:buClr>
                <a:srgbClr val="000000"/>
              </a:buClr>
              <a:buSzPts val="3000"/>
              <a:buFont typeface="Arial"/>
              <a:buNone/>
            </a:pPr>
            <a:r>
              <a:t/>
            </a:r>
            <a:endParaRPr b="0" i="0" sz="3200" u="none" cap="none" strike="noStrike">
              <a:solidFill>
                <a:srgbClr val="000000"/>
              </a:solidFill>
              <a:latin typeface="Arial"/>
              <a:ea typeface="Arial"/>
              <a:cs typeface="Arial"/>
              <a:sym typeface="Arial"/>
            </a:endParaRPr>
          </a:p>
        </p:txBody>
      </p:sp>
      <p:sp>
        <p:nvSpPr>
          <p:cNvPr id="99" name="Google Shape;99;p2"/>
          <p:cNvSpPr txBox="1"/>
          <p:nvPr/>
        </p:nvSpPr>
        <p:spPr>
          <a:xfrm>
            <a:off x="168990" y="963516"/>
            <a:ext cx="8838720" cy="4945966"/>
          </a:xfrm>
          <a:prstGeom prst="rect">
            <a:avLst/>
          </a:prstGeom>
          <a:noFill/>
          <a:ln>
            <a:noFill/>
          </a:ln>
        </p:spPr>
        <p:txBody>
          <a:bodyPr anchorCtr="0" anchor="t" bIns="45700" lIns="91425" spcFirstLastPara="1" rIns="91425" wrap="square" tIns="45700">
            <a:noAutofit/>
          </a:bodyPr>
          <a:lstStyle/>
          <a:p>
            <a:pPr indent="-222250" lvl="0" marL="342900" marR="0" rtl="0" algn="l">
              <a:lnSpc>
                <a:spcPct val="150000"/>
              </a:lnSpc>
              <a:spcBef>
                <a:spcPts val="0"/>
              </a:spcBef>
              <a:spcAft>
                <a:spcPts val="0"/>
              </a:spcAft>
              <a:buClr>
                <a:schemeClr val="dk1"/>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p:txBody>
      </p:sp>
      <p:sp>
        <p:nvSpPr>
          <p:cNvPr id="100" name="Google Shape;100;p2"/>
          <p:cNvSpPr txBox="1"/>
          <p:nvPr>
            <p:ph idx="1" type="body"/>
          </p:nvPr>
        </p:nvSpPr>
        <p:spPr>
          <a:xfrm>
            <a:off x="556152" y="1306107"/>
            <a:ext cx="7826002" cy="4039737"/>
          </a:xfrm>
          <a:prstGeom prst="rect">
            <a:avLst/>
          </a:prstGeom>
          <a:noFill/>
          <a:ln>
            <a:noFill/>
          </a:ln>
        </p:spPr>
        <p:txBody>
          <a:bodyPr anchorCtr="0" anchor="t" bIns="0" lIns="0" spcFirstLastPara="1" rIns="0" wrap="square" tIns="0">
            <a:noAutofit/>
          </a:bodyPr>
          <a:lstStyle/>
          <a:p>
            <a:pPr indent="-342900" lvl="0" marL="342900" rtl="0" algn="l">
              <a:lnSpc>
                <a:spcPct val="150000"/>
              </a:lnSpc>
              <a:spcBef>
                <a:spcPts val="0"/>
              </a:spcBef>
              <a:spcAft>
                <a:spcPts val="0"/>
              </a:spcAft>
              <a:buSzPts val="2800"/>
              <a:buChar char="•"/>
            </a:pPr>
            <a:r>
              <a:rPr b="1" i="0" lang="en-US" sz="2400" u="none" cap="none" strike="noStrike">
                <a:solidFill>
                  <a:schemeClr val="dk1"/>
                </a:solidFill>
                <a:latin typeface="Times New Roman"/>
                <a:ea typeface="Times New Roman"/>
                <a:cs typeface="Times New Roman"/>
                <a:sym typeface="Times New Roman"/>
              </a:rPr>
              <a:t>What is Estimation</a:t>
            </a:r>
            <a:endParaRPr/>
          </a:p>
          <a:p>
            <a:pPr indent="-342900" lvl="0" marL="342900" rtl="0" algn="l">
              <a:lnSpc>
                <a:spcPct val="150000"/>
              </a:lnSpc>
              <a:spcBef>
                <a:spcPts val="0"/>
              </a:spcBef>
              <a:spcAft>
                <a:spcPts val="0"/>
              </a:spcAft>
              <a:buSzPts val="2800"/>
              <a:buChar char="•"/>
            </a:pPr>
            <a:r>
              <a:rPr b="1" i="0" lang="en-US" sz="2400">
                <a:solidFill>
                  <a:schemeClr val="dk1"/>
                </a:solidFill>
                <a:latin typeface="Times New Roman"/>
                <a:ea typeface="Times New Roman"/>
                <a:cs typeface="Times New Roman"/>
                <a:sym typeface="Times New Roman"/>
              </a:rPr>
              <a:t>COCOMO Model </a:t>
            </a:r>
            <a:endParaRPr b="1" i="0" sz="2400">
              <a:solidFill>
                <a:schemeClr val="dk1"/>
              </a:solidFill>
              <a:latin typeface="Times New Roman"/>
              <a:ea typeface="Times New Roman"/>
              <a:cs typeface="Times New Roman"/>
              <a:sym typeface="Times New Roman"/>
            </a:endParaRPr>
          </a:p>
          <a:p>
            <a:pPr indent="-342900" lvl="0" marL="342900" rtl="0" algn="l">
              <a:lnSpc>
                <a:spcPct val="150000"/>
              </a:lnSpc>
              <a:spcBef>
                <a:spcPts val="0"/>
              </a:spcBef>
              <a:spcAft>
                <a:spcPts val="0"/>
              </a:spcAft>
              <a:buSzPts val="2800"/>
              <a:buChar char="•"/>
            </a:pPr>
            <a:r>
              <a:rPr b="1" lang="en-US" sz="2400">
                <a:solidFill>
                  <a:schemeClr val="dk1"/>
                </a:solidFill>
                <a:latin typeface="Times New Roman"/>
                <a:ea typeface="Times New Roman"/>
                <a:cs typeface="Times New Roman"/>
                <a:sym typeface="Times New Roman"/>
              </a:rPr>
              <a:t>Estimation of Object-Oriented Projects</a:t>
            </a:r>
            <a:endParaRPr/>
          </a:p>
          <a:p>
            <a:pPr indent="-342900" lvl="0" marL="342900" rtl="0" algn="l">
              <a:lnSpc>
                <a:spcPct val="150000"/>
              </a:lnSpc>
              <a:spcBef>
                <a:spcPts val="0"/>
              </a:spcBef>
              <a:spcAft>
                <a:spcPts val="0"/>
              </a:spcAft>
              <a:buSzPts val="2800"/>
              <a:buChar char="•"/>
            </a:pPr>
            <a:r>
              <a:rPr b="1" lang="en-US" sz="2400">
                <a:solidFill>
                  <a:schemeClr val="dk1"/>
                </a:solidFill>
                <a:latin typeface="Times New Roman"/>
                <a:ea typeface="Times New Roman"/>
                <a:cs typeface="Times New Roman"/>
                <a:sym typeface="Times New Roman"/>
              </a:rPr>
              <a:t>Practice Questions</a:t>
            </a:r>
            <a:endParaRPr/>
          </a:p>
          <a:p>
            <a:pPr indent="0" lvl="0" marL="0" rtl="0" algn="l">
              <a:lnSpc>
                <a:spcPct val="150000"/>
              </a:lnSpc>
              <a:spcBef>
                <a:spcPts val="0"/>
              </a:spcBef>
              <a:spcAft>
                <a:spcPts val="0"/>
              </a:spcAft>
              <a:buSzPts val="2800"/>
              <a:buNone/>
            </a:pPr>
            <a:r>
              <a:rPr b="1" i="0" lang="en-US" sz="2400">
                <a:solidFill>
                  <a:schemeClr val="dk1"/>
                </a:solidFill>
                <a:latin typeface="Times New Roman"/>
                <a:ea typeface="Times New Roman"/>
                <a:cs typeface="Times New Roman"/>
                <a:sym typeface="Times New Roman"/>
              </a:rPr>
              <a:t> </a:t>
            </a:r>
            <a:endParaRPr b="1" sz="2400">
              <a:solidFill>
                <a:schemeClr val="dk1"/>
              </a:solidFill>
              <a:latin typeface="Times New Roman"/>
              <a:ea typeface="Times New Roman"/>
              <a:cs typeface="Times New Roman"/>
              <a:sym typeface="Times New Roman"/>
            </a:endParaRPr>
          </a:p>
          <a:p>
            <a:pPr indent="-165100" lvl="0" marL="342900" marR="0" rtl="0" algn="l">
              <a:lnSpc>
                <a:spcPct val="150000"/>
              </a:lnSpc>
              <a:spcBef>
                <a:spcPts val="0"/>
              </a:spcBef>
              <a:spcAft>
                <a:spcPts val="0"/>
              </a:spcAft>
              <a:buClr>
                <a:schemeClr val="dk1"/>
              </a:buClr>
              <a:buSzPts val="2800"/>
              <a:buNone/>
            </a:pPr>
            <a:r>
              <a:t/>
            </a:r>
            <a:endParaRPr sz="2000">
              <a:latin typeface="Times New Roman"/>
              <a:ea typeface="Times New Roman"/>
              <a:cs typeface="Times New Roman"/>
              <a:sym typeface="Times New Roman"/>
            </a:endParaRPr>
          </a:p>
          <a:p>
            <a:pPr indent="-165100" lvl="0" marL="342900" marR="0" rtl="0" algn="l">
              <a:lnSpc>
                <a:spcPct val="150000"/>
              </a:lnSpc>
              <a:spcBef>
                <a:spcPts val="0"/>
              </a:spcBef>
              <a:spcAft>
                <a:spcPts val="0"/>
              </a:spcAft>
              <a:buClr>
                <a:schemeClr val="dk1"/>
              </a:buClr>
              <a:buSzPts val="2800"/>
              <a:buNone/>
            </a:pPr>
            <a:r>
              <a:t/>
            </a:r>
            <a:endParaRPr sz="2000">
              <a:latin typeface="Times New Roman"/>
              <a:ea typeface="Times New Roman"/>
              <a:cs typeface="Times New Roman"/>
              <a:sym typeface="Times New Roman"/>
            </a:endParaRPr>
          </a:p>
          <a:p>
            <a:pPr indent="-165100" lvl="0" marL="342900" marR="0" rtl="0" algn="l">
              <a:lnSpc>
                <a:spcPct val="150000"/>
              </a:lnSpc>
              <a:spcBef>
                <a:spcPts val="0"/>
              </a:spcBef>
              <a:spcAft>
                <a:spcPts val="0"/>
              </a:spcAft>
              <a:buClr>
                <a:schemeClr val="dk1"/>
              </a:buClr>
              <a:buSzPts val="2800"/>
              <a:buNone/>
            </a:pPr>
            <a:r>
              <a:t/>
            </a:r>
            <a:endParaRPr sz="1800">
              <a:latin typeface="Times New Roman"/>
              <a:ea typeface="Times New Roman"/>
              <a:cs typeface="Times New Roman"/>
              <a:sym typeface="Times New Roman"/>
            </a:endParaRPr>
          </a:p>
          <a:p>
            <a:pPr indent="-165100" lvl="0" marL="342900" marR="0" rtl="0" algn="l">
              <a:lnSpc>
                <a:spcPct val="150000"/>
              </a:lnSpc>
              <a:spcBef>
                <a:spcPts val="0"/>
              </a:spcBef>
              <a:spcAft>
                <a:spcPts val="0"/>
              </a:spcAft>
              <a:buClr>
                <a:schemeClr val="dk1"/>
              </a:buClr>
              <a:buSzPts val="2800"/>
              <a:buFont typeface="Times New Roman"/>
              <a:buNone/>
            </a:pPr>
            <a:r>
              <a:t/>
            </a:r>
            <a:endParaRPr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br>
              <a:rPr b="1" lang="en-US">
                <a:latin typeface="Times"/>
                <a:ea typeface="Times"/>
                <a:cs typeface="Times"/>
                <a:sym typeface="Times"/>
              </a:rPr>
            </a:br>
            <a:r>
              <a:rPr b="1" lang="en-US">
                <a:latin typeface="Times"/>
                <a:ea typeface="Times"/>
                <a:cs typeface="Times"/>
                <a:sym typeface="Times"/>
              </a:rPr>
              <a:t>What is Estimation</a:t>
            </a:r>
            <a:br>
              <a:rPr b="1" lang="en-US">
                <a:latin typeface="Times"/>
                <a:ea typeface="Times"/>
                <a:cs typeface="Times"/>
                <a:sym typeface="Times"/>
              </a:rPr>
            </a:br>
            <a:endParaRPr b="1"/>
          </a:p>
        </p:txBody>
      </p:sp>
      <p:sp>
        <p:nvSpPr>
          <p:cNvPr id="106" name="Google Shape;106;p6"/>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Computer Networks               </a:t>
            </a:r>
            <a:endParaRPr/>
          </a:p>
        </p:txBody>
      </p:sp>
      <p:sp>
        <p:nvSpPr>
          <p:cNvPr id="107" name="Google Shape;107;p6"/>
          <p:cNvSpPr/>
          <p:nvPr/>
        </p:nvSpPr>
        <p:spPr>
          <a:xfrm>
            <a:off x="477520" y="1544321"/>
            <a:ext cx="7782560" cy="193899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Empirical estimation models are mathematical models used to estimate the effort, time, and cost required to complete software development projects. These models are derived from </a:t>
            </a:r>
            <a:r>
              <a:rPr b="1" i="0" lang="en-US" sz="2400" u="none" cap="none" strike="noStrike">
                <a:solidFill>
                  <a:srgbClr val="000000"/>
                </a:solidFill>
                <a:latin typeface="Times New Roman"/>
                <a:ea typeface="Times New Roman"/>
                <a:cs typeface="Times New Roman"/>
                <a:sym typeface="Times New Roman"/>
              </a:rPr>
              <a:t>historical project data and provide a systematic way to predict resources and timelines.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type="title"/>
          </p:nvPr>
        </p:nvSpPr>
        <p:spPr>
          <a:xfrm>
            <a:off x="0" y="0"/>
            <a:ext cx="655320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Empirical Based Estimation – </a:t>
            </a:r>
            <a:br>
              <a:rPr b="1" lang="en-US" sz="2800">
                <a:latin typeface="Times"/>
                <a:ea typeface="Times"/>
                <a:cs typeface="Times"/>
                <a:sym typeface="Times"/>
              </a:rPr>
            </a:br>
            <a:r>
              <a:rPr b="1" lang="en-US" sz="2800">
                <a:latin typeface="Times"/>
                <a:ea typeface="Times"/>
                <a:cs typeface="Times"/>
                <a:sym typeface="Times"/>
              </a:rPr>
              <a:t>COCOMO Model</a:t>
            </a:r>
            <a:endParaRPr/>
          </a:p>
        </p:txBody>
      </p:sp>
      <p:sp>
        <p:nvSpPr>
          <p:cNvPr id="113" name="Google Shape;113;p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14" name="Google Shape;114;p7"/>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15" name="Google Shape;115;p7"/>
          <p:cNvSpPr txBox="1"/>
          <p:nvPr>
            <p:ph idx="1" type="body"/>
          </p:nvPr>
        </p:nvSpPr>
        <p:spPr>
          <a:xfrm>
            <a:off x="243840" y="1163457"/>
            <a:ext cx="8229600" cy="5216525"/>
          </a:xfrm>
          <a:prstGeom prst="rect">
            <a:avLst/>
          </a:prstGeom>
          <a:noFill/>
          <a:ln>
            <a:noFill/>
          </a:ln>
        </p:spPr>
        <p:txBody>
          <a:bodyPr anchorCtr="0" anchor="t" bIns="0" lIns="0" spcFirstLastPara="1" rIns="0" wrap="square" tIns="0">
            <a:normAutofit fontScale="92500" lnSpcReduction="20000"/>
          </a:bodyPr>
          <a:lstStyle/>
          <a:p>
            <a:pPr indent="-342900" lvl="0" marL="457200" rtl="0" algn="just">
              <a:lnSpc>
                <a:spcPct val="150000"/>
              </a:lnSpc>
              <a:spcBef>
                <a:spcPts val="1000"/>
              </a:spcBef>
              <a:spcAft>
                <a:spcPts val="0"/>
              </a:spcAft>
              <a:buSzPct val="108108"/>
              <a:buChar char="•"/>
            </a:pPr>
            <a:r>
              <a:rPr lang="en-US" sz="1800">
                <a:latin typeface="Times"/>
                <a:ea typeface="Times"/>
                <a:cs typeface="Times"/>
                <a:sym typeface="Times"/>
              </a:rPr>
              <a:t>COCOMO (Constructive Cost Model) is a regression model based on LOC, i.e </a:t>
            </a:r>
            <a:r>
              <a:rPr b="1" lang="en-US" sz="1800">
                <a:latin typeface="Times"/>
                <a:ea typeface="Times"/>
                <a:cs typeface="Times"/>
                <a:sym typeface="Times"/>
              </a:rPr>
              <a:t>number of Lines of Code</a:t>
            </a:r>
            <a:r>
              <a:rPr lang="en-US" sz="1800">
                <a:latin typeface="Times"/>
                <a:ea typeface="Times"/>
                <a:cs typeface="Times"/>
                <a:sym typeface="Times"/>
              </a:rPr>
              <a:t>. It is a procedural cost estimate model for software projects and often used as a process of reliably predicting the various parameters associated with making a project such as </a:t>
            </a:r>
            <a:r>
              <a:rPr b="1" lang="en-US" sz="1800">
                <a:latin typeface="Times"/>
                <a:ea typeface="Times"/>
                <a:cs typeface="Times"/>
                <a:sym typeface="Times"/>
              </a:rPr>
              <a:t>size, effort, cost, time and quality</a:t>
            </a:r>
            <a:r>
              <a:rPr lang="en-US" sz="1800">
                <a:latin typeface="Times"/>
                <a:ea typeface="Times"/>
                <a:cs typeface="Times"/>
                <a:sym typeface="Times"/>
              </a:rPr>
              <a:t>. It was proposed by Barry Boehm in 1970 and is based on the study of 63 projects, which make it one of the best-documented models.</a:t>
            </a:r>
            <a:endParaRPr/>
          </a:p>
          <a:p>
            <a:pPr indent="-342900" lvl="0" marL="457200" rtl="0" algn="just">
              <a:lnSpc>
                <a:spcPct val="150000"/>
              </a:lnSpc>
              <a:spcBef>
                <a:spcPts val="1000"/>
              </a:spcBef>
              <a:spcAft>
                <a:spcPts val="0"/>
              </a:spcAft>
              <a:buSzPct val="108108"/>
              <a:buChar char="•"/>
            </a:pPr>
            <a:r>
              <a:rPr lang="en-US" sz="1800">
                <a:latin typeface="Times"/>
                <a:ea typeface="Times"/>
                <a:cs typeface="Times"/>
                <a:sym typeface="Times"/>
              </a:rPr>
              <a:t>The key parameters which define the quality of any software products, which are also an outcome of the COCOMO model are:</a:t>
            </a:r>
            <a:endParaRPr/>
          </a:p>
          <a:p>
            <a:pPr indent="-400050" lvl="0" marL="400050" rtl="0" algn="just">
              <a:lnSpc>
                <a:spcPct val="150000"/>
              </a:lnSpc>
              <a:spcBef>
                <a:spcPts val="1000"/>
              </a:spcBef>
              <a:spcAft>
                <a:spcPts val="0"/>
              </a:spcAft>
              <a:buSzPct val="108108"/>
              <a:buFont typeface="Arial"/>
              <a:buAutoNum type="romanLcPeriod"/>
            </a:pPr>
            <a:r>
              <a:rPr b="1" lang="en-US" sz="1800">
                <a:latin typeface="Times"/>
                <a:ea typeface="Times"/>
                <a:cs typeface="Times"/>
                <a:sym typeface="Times"/>
              </a:rPr>
              <a:t>Effort:</a:t>
            </a:r>
            <a:r>
              <a:rPr lang="en-US" sz="1800">
                <a:latin typeface="Times"/>
                <a:ea typeface="Times"/>
                <a:cs typeface="Times"/>
                <a:sym typeface="Times"/>
              </a:rPr>
              <a:t> </a:t>
            </a:r>
            <a:r>
              <a:rPr i="1" lang="en-US" sz="1800">
                <a:latin typeface="Times"/>
                <a:ea typeface="Times"/>
                <a:cs typeface="Times"/>
                <a:sym typeface="Times"/>
              </a:rPr>
              <a:t>Amount of labor that will be required to complete a task</a:t>
            </a:r>
            <a:r>
              <a:rPr lang="en-US" sz="1800">
                <a:latin typeface="Times"/>
                <a:ea typeface="Times"/>
                <a:cs typeface="Times"/>
                <a:sym typeface="Times"/>
              </a:rPr>
              <a:t>. It is measured in person-months units.</a:t>
            </a:r>
            <a:endParaRPr/>
          </a:p>
          <a:p>
            <a:pPr indent="-400050" lvl="0" marL="400050" rtl="0" algn="just">
              <a:lnSpc>
                <a:spcPct val="150000"/>
              </a:lnSpc>
              <a:spcBef>
                <a:spcPts val="1000"/>
              </a:spcBef>
              <a:spcAft>
                <a:spcPts val="0"/>
              </a:spcAft>
              <a:buSzPct val="108108"/>
              <a:buFont typeface="Arial"/>
              <a:buAutoNum type="romanLcPeriod"/>
            </a:pPr>
            <a:r>
              <a:rPr b="1" lang="en-US" sz="1800">
                <a:latin typeface="Times"/>
                <a:ea typeface="Times"/>
                <a:cs typeface="Times"/>
                <a:sym typeface="Times"/>
              </a:rPr>
              <a:t>Schedule:</a:t>
            </a:r>
            <a:r>
              <a:rPr lang="en-US" sz="1800">
                <a:latin typeface="Times"/>
                <a:ea typeface="Times"/>
                <a:cs typeface="Times"/>
                <a:sym typeface="Times"/>
              </a:rPr>
              <a:t> Simply means the </a:t>
            </a:r>
            <a:r>
              <a:rPr i="1" lang="en-US" sz="1800">
                <a:latin typeface="Times"/>
                <a:ea typeface="Times"/>
                <a:cs typeface="Times"/>
                <a:sym typeface="Times"/>
              </a:rPr>
              <a:t>amount of time required for the completion of the job</a:t>
            </a:r>
            <a:r>
              <a:rPr lang="en-US" sz="1800">
                <a:latin typeface="Times"/>
                <a:ea typeface="Times"/>
                <a:cs typeface="Times"/>
                <a:sym typeface="Times"/>
              </a:rPr>
              <a:t>, which is, of course, proportional to the effort put. It is measured in the units of time such as </a:t>
            </a:r>
            <a:r>
              <a:rPr i="1" lang="en-US" sz="1800">
                <a:latin typeface="Times"/>
                <a:ea typeface="Times"/>
                <a:cs typeface="Times"/>
                <a:sym typeface="Times"/>
              </a:rPr>
              <a:t>weeks, months.</a:t>
            </a:r>
            <a:endParaRPr/>
          </a:p>
          <a:p>
            <a:pPr indent="-342900" lvl="0" marL="457200" rtl="0" algn="just">
              <a:lnSpc>
                <a:spcPct val="150000"/>
              </a:lnSpc>
              <a:spcBef>
                <a:spcPts val="1000"/>
              </a:spcBef>
              <a:spcAft>
                <a:spcPts val="0"/>
              </a:spcAft>
              <a:buSzPct val="108108"/>
              <a:buNone/>
            </a:pPr>
            <a:r>
              <a:t/>
            </a:r>
            <a:endParaRPr sz="1800">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COCOMO Model</a:t>
            </a:r>
            <a:endParaRPr/>
          </a:p>
        </p:txBody>
      </p:sp>
      <p:sp>
        <p:nvSpPr>
          <p:cNvPr id="121" name="Google Shape;121;p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22" name="Google Shape;122;p8"/>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23" name="Google Shape;123;p8"/>
          <p:cNvSpPr txBox="1"/>
          <p:nvPr>
            <p:ph idx="1" type="body"/>
          </p:nvPr>
        </p:nvSpPr>
        <p:spPr>
          <a:xfrm>
            <a:off x="304800" y="1234534"/>
            <a:ext cx="8382000" cy="5216525"/>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Different models of COCOMO have been proposed to predict the cost estimation at different levels, based on </a:t>
            </a:r>
            <a:r>
              <a:rPr b="1" lang="en-US" sz="1800">
                <a:latin typeface="Times New Roman"/>
                <a:ea typeface="Times New Roman"/>
                <a:cs typeface="Times New Roman"/>
                <a:sym typeface="Times New Roman"/>
              </a:rPr>
              <a:t>the amount of accuracy and correctness required</a:t>
            </a:r>
            <a:r>
              <a:rPr lang="en-US" sz="1800">
                <a:latin typeface="Times New Roman"/>
                <a:ea typeface="Times New Roman"/>
                <a:cs typeface="Times New Roman"/>
                <a:sym typeface="Times New Roman"/>
              </a:rPr>
              <a:t>. All of these models can be applied to a variety of projects, whose characteristics determine the value of constant to be used in subsequent calculations. </a:t>
            </a:r>
            <a:endParaRPr/>
          </a:p>
          <a:p>
            <a:pPr indent="-342900" lvl="0" marL="457200" rtl="0" algn="just">
              <a:lnSpc>
                <a:spcPct val="150000"/>
              </a:lnSpc>
              <a:spcBef>
                <a:spcPts val="1000"/>
              </a:spcBef>
              <a:spcAft>
                <a:spcPts val="0"/>
              </a:spcAft>
              <a:buSzPts val="1800"/>
              <a:buNone/>
            </a:pPr>
            <a:r>
              <a:rPr b="1" lang="en-US" sz="2000">
                <a:solidFill>
                  <a:srgbClr val="C00000"/>
                </a:solidFill>
                <a:latin typeface="Times New Roman"/>
                <a:ea typeface="Times New Roman"/>
                <a:cs typeface="Times New Roman"/>
                <a:sym typeface="Times New Roman"/>
              </a:rPr>
              <a:t>SOFTWARE PROJECT TYPES:</a:t>
            </a:r>
            <a:endParaRPr/>
          </a:p>
          <a:p>
            <a:pPr indent="-342900" lvl="0" marL="457200" rtl="0" algn="just">
              <a:lnSpc>
                <a:spcPct val="150000"/>
              </a:lnSpc>
              <a:spcBef>
                <a:spcPts val="1000"/>
              </a:spcBef>
              <a:spcAft>
                <a:spcPts val="0"/>
              </a:spcAft>
              <a:buSzPts val="1800"/>
              <a:buChar char="•"/>
            </a:pPr>
            <a:r>
              <a:rPr b="1" lang="en-US" sz="1800">
                <a:solidFill>
                  <a:srgbClr val="3A30FA"/>
                </a:solidFill>
                <a:latin typeface="Times New Roman"/>
                <a:ea typeface="Times New Roman"/>
                <a:cs typeface="Times New Roman"/>
                <a:sym typeface="Times New Roman"/>
              </a:rPr>
              <a:t>Organic –</a:t>
            </a:r>
            <a:r>
              <a:rPr lang="en-US" sz="1800">
                <a:solidFill>
                  <a:srgbClr val="3A30FA"/>
                </a:solidFill>
                <a:latin typeface="Times New Roman"/>
                <a:ea typeface="Times New Roman"/>
                <a:cs typeface="Times New Roman"/>
                <a:sym typeface="Times New Roman"/>
              </a:rPr>
              <a:t> </a:t>
            </a:r>
            <a:r>
              <a:rPr lang="en-US" sz="1800">
                <a:latin typeface="Times New Roman"/>
                <a:ea typeface="Times New Roman"/>
                <a:cs typeface="Times New Roman"/>
                <a:sym typeface="Times New Roman"/>
              </a:rPr>
              <a:t>A software project is said to be an organic type if </a:t>
            </a:r>
            <a:r>
              <a:rPr b="1" lang="en-US" sz="1800">
                <a:latin typeface="Times New Roman"/>
                <a:ea typeface="Times New Roman"/>
                <a:cs typeface="Times New Roman"/>
                <a:sym typeface="Times New Roman"/>
              </a:rPr>
              <a:t>the team size required is adequately small</a:t>
            </a:r>
            <a:r>
              <a:rPr lang="en-US" sz="1800">
                <a:latin typeface="Times New Roman"/>
                <a:ea typeface="Times New Roman"/>
                <a:cs typeface="Times New Roman"/>
                <a:sym typeface="Times New Roman"/>
              </a:rPr>
              <a:t>, the problem is well understood and </a:t>
            </a:r>
            <a:r>
              <a:rPr b="1" lang="en-US" sz="1800">
                <a:latin typeface="Times New Roman"/>
                <a:ea typeface="Times New Roman"/>
                <a:cs typeface="Times New Roman"/>
                <a:sym typeface="Times New Roman"/>
              </a:rPr>
              <a:t>has been solved in the past </a:t>
            </a:r>
            <a:r>
              <a:rPr lang="en-US" sz="1800">
                <a:latin typeface="Times New Roman"/>
                <a:ea typeface="Times New Roman"/>
                <a:cs typeface="Times New Roman"/>
                <a:sym typeface="Times New Roman"/>
              </a:rPr>
              <a:t>and also the team members have a </a:t>
            </a:r>
            <a:r>
              <a:rPr b="1" lang="en-US" sz="1800">
                <a:latin typeface="Times New Roman"/>
                <a:ea typeface="Times New Roman"/>
                <a:cs typeface="Times New Roman"/>
                <a:sym typeface="Times New Roman"/>
              </a:rPr>
              <a:t>nominal experience </a:t>
            </a:r>
            <a:r>
              <a:rPr lang="en-US" sz="1800">
                <a:latin typeface="Times New Roman"/>
                <a:ea typeface="Times New Roman"/>
                <a:cs typeface="Times New Roman"/>
                <a:sym typeface="Times New Roman"/>
              </a:rPr>
              <a:t>regarding the problem.</a:t>
            </a:r>
            <a:endParaRPr/>
          </a:p>
          <a:p>
            <a:pPr indent="-342900" lvl="0" marL="457200" rtl="0" algn="just">
              <a:lnSpc>
                <a:spcPct val="150000"/>
              </a:lnSpc>
              <a:spcBef>
                <a:spcPts val="1000"/>
              </a:spcBef>
              <a:spcAft>
                <a:spcPts val="0"/>
              </a:spcAft>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COCOMO Model</a:t>
            </a:r>
            <a:endParaRPr/>
          </a:p>
        </p:txBody>
      </p:sp>
      <p:sp>
        <p:nvSpPr>
          <p:cNvPr id="130" name="Google Shape;130;p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31" name="Google Shape;131;p9"/>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32" name="Google Shape;132;p9"/>
          <p:cNvSpPr txBox="1"/>
          <p:nvPr>
            <p:ph idx="1" type="body"/>
          </p:nvPr>
        </p:nvSpPr>
        <p:spPr>
          <a:xfrm>
            <a:off x="304800" y="870857"/>
            <a:ext cx="8229600" cy="5216525"/>
          </a:xfrm>
          <a:prstGeom prst="rect">
            <a:avLst/>
          </a:prstGeom>
          <a:noFill/>
          <a:ln>
            <a:noFill/>
          </a:ln>
        </p:spPr>
        <p:txBody>
          <a:bodyPr anchorCtr="0" anchor="t" bIns="0" lIns="0" spcFirstLastPara="1" rIns="0" wrap="square" tIns="0">
            <a:normAutofit lnSpcReduction="10000"/>
          </a:bodyPr>
          <a:lstStyle/>
          <a:p>
            <a:pPr indent="-342900" lvl="0" marL="457200" rtl="0" algn="just">
              <a:lnSpc>
                <a:spcPct val="150000"/>
              </a:lnSpc>
              <a:spcBef>
                <a:spcPts val="1000"/>
              </a:spcBef>
              <a:spcAft>
                <a:spcPts val="0"/>
              </a:spcAft>
              <a:buSzPts val="1800"/>
              <a:buChar char="•"/>
            </a:pPr>
            <a:r>
              <a:rPr b="1" lang="en-US" sz="1800">
                <a:solidFill>
                  <a:srgbClr val="3A30FA"/>
                </a:solidFill>
                <a:latin typeface="Times New Roman"/>
                <a:ea typeface="Times New Roman"/>
                <a:cs typeface="Times New Roman"/>
                <a:sym typeface="Times New Roman"/>
              </a:rPr>
              <a:t>Semi-detached –</a:t>
            </a:r>
            <a:r>
              <a:rPr lang="en-US" sz="1800">
                <a:solidFill>
                  <a:srgbClr val="3A30FA"/>
                </a:solidFill>
                <a:latin typeface="Times New Roman"/>
                <a:ea typeface="Times New Roman"/>
                <a:cs typeface="Times New Roman"/>
                <a:sym typeface="Times New Roman"/>
              </a:rPr>
              <a:t> </a:t>
            </a:r>
            <a:r>
              <a:rPr lang="en-US" sz="1800">
                <a:latin typeface="Times New Roman"/>
                <a:ea typeface="Times New Roman"/>
                <a:cs typeface="Times New Roman"/>
                <a:sym typeface="Times New Roman"/>
              </a:rPr>
              <a:t>A software project is said to be a Semi-detached type if the vital characteristics such as team-size, experience, knowledge of the various programming environment </a:t>
            </a:r>
            <a:r>
              <a:rPr b="1" lang="en-US" sz="1800">
                <a:latin typeface="Times New Roman"/>
                <a:ea typeface="Times New Roman"/>
                <a:cs typeface="Times New Roman"/>
                <a:sym typeface="Times New Roman"/>
              </a:rPr>
              <a:t>lie in between that of organic and Embedded.</a:t>
            </a:r>
            <a:r>
              <a:rPr lang="en-US" sz="1800">
                <a:latin typeface="Times New Roman"/>
                <a:ea typeface="Times New Roman"/>
                <a:cs typeface="Times New Roman"/>
                <a:sym typeface="Times New Roman"/>
              </a:rPr>
              <a:t> The projects classified as Semi-Detached are comparatively </a:t>
            </a:r>
            <a:r>
              <a:rPr b="1" lang="en-US" sz="1800">
                <a:latin typeface="Times New Roman"/>
                <a:ea typeface="Times New Roman"/>
                <a:cs typeface="Times New Roman"/>
                <a:sym typeface="Times New Roman"/>
              </a:rPr>
              <a:t>less familiar and difficult to develop compared to the organic ones</a:t>
            </a:r>
            <a:r>
              <a:rPr lang="en-US" sz="1800">
                <a:latin typeface="Times New Roman"/>
                <a:ea typeface="Times New Roman"/>
                <a:cs typeface="Times New Roman"/>
                <a:sym typeface="Times New Roman"/>
              </a:rPr>
              <a:t> and require more experience and better guidance and creativity. </a:t>
            </a:r>
            <a:endParaRPr/>
          </a:p>
          <a:p>
            <a:pPr indent="-342900" lvl="0" marL="457200" rtl="0" algn="just">
              <a:lnSpc>
                <a:spcPct val="150000"/>
              </a:lnSpc>
              <a:spcBef>
                <a:spcPts val="1000"/>
              </a:spcBef>
              <a:spcAft>
                <a:spcPts val="0"/>
              </a:spcAft>
              <a:buSzPts val="1800"/>
              <a:buChar char="•"/>
            </a:pPr>
            <a:r>
              <a:rPr b="1" lang="en-US" sz="1800">
                <a:solidFill>
                  <a:srgbClr val="3A30FA"/>
                </a:solidFill>
                <a:latin typeface="Times New Roman"/>
                <a:ea typeface="Times New Roman"/>
                <a:cs typeface="Times New Roman"/>
                <a:sym typeface="Times New Roman"/>
              </a:rPr>
              <a:t>Embedded –</a:t>
            </a:r>
            <a:r>
              <a:rPr lang="en-US" sz="1800">
                <a:solidFill>
                  <a:srgbClr val="3A30FA"/>
                </a:solidFill>
                <a:latin typeface="Times New Roman"/>
                <a:ea typeface="Times New Roman"/>
                <a:cs typeface="Times New Roman"/>
                <a:sym typeface="Times New Roman"/>
              </a:rPr>
              <a:t> </a:t>
            </a:r>
            <a:r>
              <a:rPr lang="en-US" sz="1800">
                <a:latin typeface="Times New Roman"/>
                <a:ea typeface="Times New Roman"/>
                <a:cs typeface="Times New Roman"/>
                <a:sym typeface="Times New Roman"/>
              </a:rPr>
              <a:t>A software project with requiring </a:t>
            </a:r>
            <a:r>
              <a:rPr b="1" lang="en-US" sz="1800">
                <a:latin typeface="Times New Roman"/>
                <a:ea typeface="Times New Roman"/>
                <a:cs typeface="Times New Roman"/>
                <a:sym typeface="Times New Roman"/>
              </a:rPr>
              <a:t>the highest level of complexity</a:t>
            </a: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creativity, and experience </a:t>
            </a:r>
            <a:r>
              <a:rPr lang="en-US" sz="1800">
                <a:latin typeface="Times New Roman"/>
                <a:ea typeface="Times New Roman"/>
                <a:cs typeface="Times New Roman"/>
                <a:sym typeface="Times New Roman"/>
              </a:rPr>
              <a:t>requirement fall under this category. Such software requires a </a:t>
            </a:r>
            <a:r>
              <a:rPr b="1" lang="en-US" sz="1800">
                <a:latin typeface="Times New Roman"/>
                <a:ea typeface="Times New Roman"/>
                <a:cs typeface="Times New Roman"/>
                <a:sym typeface="Times New Roman"/>
              </a:rPr>
              <a:t>larger team size </a:t>
            </a:r>
            <a:r>
              <a:rPr lang="en-US" sz="1800">
                <a:latin typeface="Times New Roman"/>
                <a:ea typeface="Times New Roman"/>
                <a:cs typeface="Times New Roman"/>
                <a:sym typeface="Times New Roman"/>
              </a:rPr>
              <a:t>than the other two models and also the developers need to be </a:t>
            </a:r>
            <a:r>
              <a:rPr b="1" lang="en-US" sz="1800">
                <a:latin typeface="Times New Roman"/>
                <a:ea typeface="Times New Roman"/>
                <a:cs typeface="Times New Roman"/>
                <a:sym typeface="Times New Roman"/>
              </a:rPr>
              <a:t>sufficiently experienced </a:t>
            </a:r>
            <a:r>
              <a:rPr lang="en-US" sz="1800">
                <a:latin typeface="Times New Roman"/>
                <a:ea typeface="Times New Roman"/>
                <a:cs typeface="Times New Roman"/>
                <a:sym typeface="Times New Roman"/>
              </a:rPr>
              <a:t>and creative to develop such complex models.</a:t>
            </a:r>
            <a:endParaRPr/>
          </a:p>
          <a:p>
            <a:pPr indent="-228600" lvl="0" marL="457200" rtl="0" algn="just">
              <a:lnSpc>
                <a:spcPct val="90000"/>
              </a:lnSpc>
              <a:spcBef>
                <a:spcPts val="1000"/>
              </a:spcBef>
              <a:spcAft>
                <a:spcPts val="0"/>
              </a:spcAft>
              <a:buSzPts val="1800"/>
              <a:buNone/>
            </a:pPr>
            <a:r>
              <a:t/>
            </a:r>
            <a:endParaRPr sz="1800">
              <a:latin typeface="Times New Roman"/>
              <a:ea typeface="Times New Roman"/>
              <a:cs typeface="Times New Roman"/>
              <a:sym typeface="Times New Roman"/>
            </a:endParaRPr>
          </a:p>
          <a:p>
            <a:pPr indent="0" lvl="0" marL="0" rtl="0" algn="just">
              <a:lnSpc>
                <a:spcPct val="90000"/>
              </a:lnSpc>
              <a:spcBef>
                <a:spcPts val="1000"/>
              </a:spcBef>
              <a:spcAft>
                <a:spcPts val="0"/>
              </a:spcAft>
              <a:buSzPts val="1800"/>
              <a:buNone/>
            </a:pPr>
            <a:r>
              <a:rPr i="1" lang="en-US" sz="1800">
                <a:latin typeface="Times New Roman"/>
                <a:ea typeface="Times New Roman"/>
                <a:cs typeface="Times New Roman"/>
                <a:sym typeface="Times New Roman"/>
              </a:rPr>
              <a:t>All the above system types utilize </a:t>
            </a:r>
            <a:r>
              <a:rPr b="1" i="1" lang="en-US" sz="1800">
                <a:latin typeface="Times New Roman"/>
                <a:ea typeface="Times New Roman"/>
                <a:cs typeface="Times New Roman"/>
                <a:sym typeface="Times New Roman"/>
              </a:rPr>
              <a:t>different values of the constants </a:t>
            </a:r>
            <a:r>
              <a:rPr i="1" lang="en-US" sz="1800">
                <a:latin typeface="Times New Roman"/>
                <a:ea typeface="Times New Roman"/>
                <a:cs typeface="Times New Roman"/>
                <a:sym typeface="Times New Roman"/>
              </a:rPr>
              <a:t>used in Effort Calculations.</a:t>
            </a:r>
            <a:endParaRPr/>
          </a:p>
          <a:p>
            <a:pPr indent="-342900" lvl="0" marL="457200" rtl="0" algn="just">
              <a:lnSpc>
                <a:spcPct val="150000"/>
              </a:lnSpc>
              <a:spcBef>
                <a:spcPts val="1000"/>
              </a:spcBef>
              <a:spcAft>
                <a:spcPts val="0"/>
              </a:spcAft>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COCOMO Model</a:t>
            </a:r>
            <a:endParaRPr/>
          </a:p>
        </p:txBody>
      </p:sp>
      <p:sp>
        <p:nvSpPr>
          <p:cNvPr id="138" name="Google Shape;138;p1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pic>
        <p:nvPicPr>
          <p:cNvPr id="139" name="Google Shape;139;p10"/>
          <p:cNvPicPr preferRelativeResize="0"/>
          <p:nvPr/>
        </p:nvPicPr>
        <p:blipFill rotWithShape="1">
          <a:blip r:embed="rId3">
            <a:alphaModFix/>
          </a:blip>
          <a:srcRect b="0" l="0" r="0" t="0"/>
          <a:stretch/>
        </p:blipFill>
        <p:spPr>
          <a:xfrm>
            <a:off x="357158" y="928670"/>
            <a:ext cx="7897566" cy="5204782"/>
          </a:xfrm>
          <a:prstGeom prst="rect">
            <a:avLst/>
          </a:prstGeom>
          <a:noFill/>
          <a:ln>
            <a:noFill/>
          </a:ln>
        </p:spPr>
      </p:pic>
      <p:sp>
        <p:nvSpPr>
          <p:cNvPr id="140" name="Google Shape;140;p10"/>
          <p:cNvSpPr txBox="1"/>
          <p:nvPr/>
        </p:nvSpPr>
        <p:spPr>
          <a:xfrm>
            <a:off x="3000364" y="6286520"/>
            <a:ext cx="304923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Figure 1: Graph of COCOMO Model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Comparison of Types of Projects in COCOMO Model</a:t>
            </a:r>
            <a:endParaRPr b="1"/>
          </a:p>
        </p:txBody>
      </p:sp>
      <p:sp>
        <p:nvSpPr>
          <p:cNvPr id="146" name="Google Shape;146;p11"/>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p>
            <a:pPr indent="0" lvl="0" marL="114300" rtl="0" algn="l">
              <a:lnSpc>
                <a:spcPct val="90000"/>
              </a:lnSpc>
              <a:spcBef>
                <a:spcPts val="1000"/>
              </a:spcBef>
              <a:spcAft>
                <a:spcPts val="0"/>
              </a:spcAft>
              <a:buSzPts val="1800"/>
              <a:buNone/>
            </a:pPr>
            <a:r>
              <a:rPr lang="en-US"/>
              <a:t> </a:t>
            </a:r>
            <a:endParaRPr/>
          </a:p>
        </p:txBody>
      </p:sp>
      <p:pic>
        <p:nvPicPr>
          <p:cNvPr id="147" name="Google Shape;147;p11"/>
          <p:cNvPicPr preferRelativeResize="0"/>
          <p:nvPr/>
        </p:nvPicPr>
        <p:blipFill rotWithShape="1">
          <a:blip r:embed="rId3">
            <a:alphaModFix/>
          </a:blip>
          <a:srcRect b="0" l="0" r="0" t="0"/>
          <a:stretch/>
        </p:blipFill>
        <p:spPr>
          <a:xfrm>
            <a:off x="457200" y="1004887"/>
            <a:ext cx="8229240" cy="52387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COCOMO Model Types</a:t>
            </a:r>
            <a:endParaRPr/>
          </a:p>
        </p:txBody>
      </p:sp>
      <p:sp>
        <p:nvSpPr>
          <p:cNvPr id="153" name="Google Shape;153;p1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54" name="Google Shape;154;p12"/>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55" name="Google Shape;155;p12"/>
          <p:cNvSpPr txBox="1"/>
          <p:nvPr>
            <p:ph idx="1" type="body"/>
          </p:nvPr>
        </p:nvSpPr>
        <p:spPr>
          <a:xfrm>
            <a:off x="304800" y="870857"/>
            <a:ext cx="8229600" cy="5216525"/>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Char char="•"/>
            </a:pPr>
            <a:r>
              <a:rPr lang="en-US" sz="1800">
                <a:latin typeface="Times"/>
                <a:ea typeface="Times"/>
                <a:cs typeface="Times"/>
                <a:sym typeface="Times"/>
              </a:rPr>
              <a:t>COCOMO consists of a hierarchy of three increasingly detailed and accurate forms:</a:t>
            </a:r>
            <a:endParaRPr/>
          </a:p>
          <a:p>
            <a:pPr indent="-342900" lvl="1" marL="914400" rtl="0" algn="just">
              <a:lnSpc>
                <a:spcPct val="150000"/>
              </a:lnSpc>
              <a:spcBef>
                <a:spcPts val="500"/>
              </a:spcBef>
              <a:spcAft>
                <a:spcPts val="0"/>
              </a:spcAft>
              <a:buSzPts val="1800"/>
              <a:buFont typeface="Arial"/>
              <a:buAutoNum type="arabicPeriod"/>
            </a:pPr>
            <a:r>
              <a:rPr lang="en-US" sz="1800">
                <a:latin typeface="Times"/>
                <a:ea typeface="Times"/>
                <a:cs typeface="Times"/>
                <a:sym typeface="Times"/>
              </a:rPr>
              <a:t>Basic COCOMO Model</a:t>
            </a:r>
            <a:endParaRPr/>
          </a:p>
          <a:p>
            <a:pPr indent="-342900" lvl="1" marL="914400" rtl="0" algn="just">
              <a:lnSpc>
                <a:spcPct val="150000"/>
              </a:lnSpc>
              <a:spcBef>
                <a:spcPts val="500"/>
              </a:spcBef>
              <a:spcAft>
                <a:spcPts val="0"/>
              </a:spcAft>
              <a:buSzPts val="1800"/>
              <a:buFont typeface="Arial"/>
              <a:buAutoNum type="arabicPeriod"/>
            </a:pPr>
            <a:r>
              <a:rPr lang="en-US" sz="1800">
                <a:latin typeface="Times"/>
                <a:ea typeface="Times"/>
                <a:cs typeface="Times"/>
                <a:sym typeface="Times"/>
              </a:rPr>
              <a:t>Intermediate COCOMO Model</a:t>
            </a:r>
            <a:endParaRPr/>
          </a:p>
          <a:p>
            <a:pPr indent="-342900" lvl="1" marL="914400" rtl="0" algn="just">
              <a:lnSpc>
                <a:spcPct val="150000"/>
              </a:lnSpc>
              <a:spcBef>
                <a:spcPts val="500"/>
              </a:spcBef>
              <a:spcAft>
                <a:spcPts val="0"/>
              </a:spcAft>
              <a:buSzPts val="1800"/>
              <a:buFont typeface="Arial"/>
              <a:buAutoNum type="arabicPeriod"/>
            </a:pPr>
            <a:r>
              <a:rPr lang="en-US" sz="1800">
                <a:latin typeface="Times"/>
                <a:ea typeface="Times"/>
                <a:cs typeface="Times"/>
                <a:sym typeface="Times"/>
              </a:rPr>
              <a:t>Detailed COCOMO Model</a:t>
            </a:r>
            <a:endParaRPr/>
          </a:p>
          <a:p>
            <a:pPr indent="-342900" lvl="0" marL="457200" rtl="0" algn="just">
              <a:lnSpc>
                <a:spcPct val="150000"/>
              </a:lnSpc>
              <a:spcBef>
                <a:spcPts val="1000"/>
              </a:spcBef>
              <a:spcAft>
                <a:spcPts val="0"/>
              </a:spcAft>
              <a:buSzPts val="1800"/>
              <a:buChar char="•"/>
            </a:pPr>
            <a:r>
              <a:rPr lang="en-US" sz="1800">
                <a:latin typeface="Times"/>
                <a:ea typeface="Times"/>
                <a:cs typeface="Times"/>
                <a:sym typeface="Times"/>
              </a:rPr>
              <a:t>The first level, </a:t>
            </a:r>
            <a:r>
              <a:rPr b="1" lang="en-US" sz="1800">
                <a:solidFill>
                  <a:srgbClr val="C00000"/>
                </a:solidFill>
                <a:latin typeface="Times"/>
                <a:ea typeface="Times"/>
                <a:cs typeface="Times"/>
                <a:sym typeface="Times"/>
              </a:rPr>
              <a:t>Basic COCOMO</a:t>
            </a:r>
            <a:r>
              <a:rPr lang="en-US" sz="1800">
                <a:solidFill>
                  <a:srgbClr val="C00000"/>
                </a:solidFill>
                <a:latin typeface="Times"/>
                <a:ea typeface="Times"/>
                <a:cs typeface="Times"/>
                <a:sym typeface="Times"/>
              </a:rPr>
              <a:t> </a:t>
            </a:r>
            <a:r>
              <a:rPr lang="en-US" sz="1800">
                <a:latin typeface="Times"/>
                <a:ea typeface="Times"/>
                <a:cs typeface="Times"/>
                <a:sym typeface="Times"/>
              </a:rPr>
              <a:t>can be used for </a:t>
            </a:r>
            <a:r>
              <a:rPr b="1" lang="en-US" sz="1800">
                <a:latin typeface="Times"/>
                <a:ea typeface="Times"/>
                <a:cs typeface="Times"/>
                <a:sym typeface="Times"/>
              </a:rPr>
              <a:t>quick and slightly rough calculations of Software Costs</a:t>
            </a:r>
            <a:r>
              <a:rPr lang="en-US" sz="1800">
                <a:latin typeface="Times"/>
                <a:ea typeface="Times"/>
                <a:cs typeface="Times"/>
                <a:sym typeface="Times"/>
              </a:rPr>
              <a:t>. Its accuracy is somewhat restricted due to the absence of sufficient factor considerations.</a:t>
            </a:r>
            <a:endParaRPr/>
          </a:p>
          <a:p>
            <a:pPr indent="-342900" lvl="0" marL="457200" rtl="0" algn="just">
              <a:lnSpc>
                <a:spcPct val="150000"/>
              </a:lnSpc>
              <a:spcBef>
                <a:spcPts val="1000"/>
              </a:spcBef>
              <a:spcAft>
                <a:spcPts val="0"/>
              </a:spcAft>
              <a:buSzPts val="1800"/>
              <a:buChar char="•"/>
            </a:pPr>
            <a:r>
              <a:rPr b="1" lang="en-US" sz="1800">
                <a:solidFill>
                  <a:srgbClr val="C00000"/>
                </a:solidFill>
                <a:latin typeface="Times"/>
                <a:ea typeface="Times"/>
                <a:cs typeface="Times"/>
                <a:sym typeface="Times"/>
              </a:rPr>
              <a:t>Intermediate COCOMO </a:t>
            </a:r>
            <a:r>
              <a:rPr lang="en-US" sz="1800">
                <a:latin typeface="Times"/>
                <a:ea typeface="Times"/>
                <a:cs typeface="Times"/>
                <a:sym typeface="Times"/>
              </a:rPr>
              <a:t>takes these Cost Drivers into account and </a:t>
            </a:r>
            <a:r>
              <a:rPr b="1" lang="en-US" sz="1800">
                <a:solidFill>
                  <a:srgbClr val="C00000"/>
                </a:solidFill>
                <a:latin typeface="Times"/>
                <a:ea typeface="Times"/>
                <a:cs typeface="Times"/>
                <a:sym typeface="Times"/>
              </a:rPr>
              <a:t>Detailed COCOMO</a:t>
            </a:r>
            <a:r>
              <a:rPr b="1" lang="en-US" sz="1800">
                <a:latin typeface="Times"/>
                <a:ea typeface="Times"/>
                <a:cs typeface="Times"/>
                <a:sym typeface="Times"/>
              </a:rPr>
              <a:t> </a:t>
            </a:r>
            <a:r>
              <a:rPr lang="en-US" sz="1800">
                <a:latin typeface="Times"/>
                <a:ea typeface="Times"/>
                <a:cs typeface="Times"/>
                <a:sym typeface="Times"/>
              </a:rPr>
              <a:t>additionally accounts for the influence </a:t>
            </a:r>
            <a:r>
              <a:rPr b="1" lang="en-US" sz="1800">
                <a:latin typeface="Times"/>
                <a:ea typeface="Times"/>
                <a:cs typeface="Times"/>
                <a:sym typeface="Times"/>
              </a:rPr>
              <a:t>of individual project phases</a:t>
            </a:r>
            <a:r>
              <a:rPr lang="en-US" sz="1800">
                <a:latin typeface="Times"/>
                <a:ea typeface="Times"/>
                <a:cs typeface="Times"/>
                <a:sym typeface="Times"/>
              </a:rPr>
              <a:t>, i.e in case of detailed, it accounts for both these cost drivers and also </a:t>
            </a:r>
            <a:r>
              <a:rPr b="1" lang="en-US" sz="1800">
                <a:latin typeface="Times"/>
                <a:ea typeface="Times"/>
                <a:cs typeface="Times"/>
                <a:sym typeface="Times"/>
              </a:rPr>
              <a:t>calculations are performed phase wise </a:t>
            </a:r>
            <a:r>
              <a:rPr lang="en-US" sz="1800">
                <a:latin typeface="Times"/>
                <a:ea typeface="Times"/>
                <a:cs typeface="Times"/>
                <a:sym typeface="Times"/>
              </a:rPr>
              <a:t>henceforth producing a more accurate result. </a:t>
            </a:r>
            <a:endParaRPr/>
          </a:p>
          <a:p>
            <a:pPr indent="-228600" lvl="0" marL="457200" rtl="0" algn="just">
              <a:lnSpc>
                <a:spcPct val="150000"/>
              </a:lnSpc>
              <a:spcBef>
                <a:spcPts val="1000"/>
              </a:spcBef>
              <a:spcAft>
                <a:spcPts val="0"/>
              </a:spcAft>
              <a:buSzPts val="1800"/>
              <a:buNone/>
            </a:pPr>
            <a:r>
              <a:t/>
            </a:r>
            <a:endParaRPr sz="1800">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Basic Model - Estimation of Effort</a:t>
            </a:r>
            <a:endParaRPr/>
          </a:p>
        </p:txBody>
      </p:sp>
      <p:sp>
        <p:nvSpPr>
          <p:cNvPr id="161" name="Google Shape;161;p1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pic>
        <p:nvPicPr>
          <p:cNvPr id="162" name="Google Shape;162;p13"/>
          <p:cNvPicPr preferRelativeResize="0"/>
          <p:nvPr/>
        </p:nvPicPr>
        <p:blipFill rotWithShape="1">
          <a:blip r:embed="rId3">
            <a:alphaModFix/>
          </a:blip>
          <a:srcRect b="0" l="0" r="0" t="0"/>
          <a:stretch/>
        </p:blipFill>
        <p:spPr>
          <a:xfrm>
            <a:off x="685800" y="1108614"/>
            <a:ext cx="4071018" cy="2069193"/>
          </a:xfrm>
          <a:prstGeom prst="rect">
            <a:avLst/>
          </a:prstGeom>
          <a:noFill/>
          <a:ln>
            <a:noFill/>
          </a:ln>
        </p:spPr>
      </p:pic>
      <p:sp>
        <p:nvSpPr>
          <p:cNvPr id="163" name="Google Shape;163;p13"/>
          <p:cNvSpPr txBox="1"/>
          <p:nvPr/>
        </p:nvSpPr>
        <p:spPr>
          <a:xfrm>
            <a:off x="4876800" y="1066800"/>
            <a:ext cx="4071018" cy="4031873"/>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The above formula is used for the cost estimation for the basic COCOMO model, and also is used in the subsequent models. </a:t>
            </a:r>
            <a:endParaRPr/>
          </a:p>
          <a:p>
            <a:pPr indent="-184150" lvl="0" marL="28575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The constant values </a:t>
            </a:r>
            <a:r>
              <a:rPr b="0" i="1" lang="en-US" sz="1600" u="none" cap="none" strike="noStrike">
                <a:solidFill>
                  <a:srgbClr val="C00000"/>
                </a:solidFill>
                <a:latin typeface="Times New Roman"/>
                <a:ea typeface="Times New Roman"/>
                <a:cs typeface="Times New Roman"/>
                <a:sym typeface="Times New Roman"/>
              </a:rPr>
              <a:t>a, b, c </a:t>
            </a:r>
            <a:r>
              <a:rPr b="0" i="0" lang="en-US" sz="1600" u="none" cap="none" strike="noStrike">
                <a:solidFill>
                  <a:srgbClr val="000000"/>
                </a:solidFill>
                <a:latin typeface="Times New Roman"/>
                <a:ea typeface="Times New Roman"/>
                <a:cs typeface="Times New Roman"/>
                <a:sym typeface="Times New Roman"/>
              </a:rPr>
              <a:t>and </a:t>
            </a:r>
            <a:r>
              <a:rPr b="0" i="1" lang="en-US" sz="1600" u="none" cap="none" strike="noStrike">
                <a:solidFill>
                  <a:srgbClr val="C00000"/>
                </a:solidFill>
                <a:latin typeface="Times New Roman"/>
                <a:ea typeface="Times New Roman"/>
                <a:cs typeface="Times New Roman"/>
                <a:sym typeface="Times New Roman"/>
              </a:rPr>
              <a:t>d</a:t>
            </a:r>
            <a:r>
              <a:rPr b="0" i="0" lang="en-US" sz="1600" u="none" cap="none" strike="noStrike">
                <a:solidFill>
                  <a:srgbClr val="000000"/>
                </a:solidFill>
                <a:latin typeface="Times New Roman"/>
                <a:ea typeface="Times New Roman"/>
                <a:cs typeface="Times New Roman"/>
                <a:sym typeface="Times New Roman"/>
              </a:rPr>
              <a:t> for the Basic Model for the different categories of system are given in table.</a:t>
            </a:r>
            <a:endParaRPr/>
          </a:p>
          <a:p>
            <a:pPr indent="-184150" lvl="0" marL="28575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The effort is measured in Person-Months</a:t>
            </a:r>
            <a:endParaRPr/>
          </a:p>
          <a:p>
            <a:pPr indent="-184150" lvl="0" marL="28575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As evident from the formula is dependent on Kilo-Lines of code (KLOC).</a:t>
            </a:r>
            <a:endParaRPr/>
          </a:p>
          <a:p>
            <a:pPr indent="-184150" lvl="0" marL="28575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The development time is measured in months.</a:t>
            </a:r>
            <a:endParaRPr b="0" i="0" sz="16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164" name="Google Shape;164;p13"/>
          <p:cNvPicPr preferRelativeResize="0"/>
          <p:nvPr/>
        </p:nvPicPr>
        <p:blipFill rotWithShape="1">
          <a:blip r:embed="rId4">
            <a:alphaModFix/>
          </a:blip>
          <a:srcRect b="0" l="0" r="0" t="0"/>
          <a:stretch/>
        </p:blipFill>
        <p:spPr>
          <a:xfrm>
            <a:off x="723087" y="3407229"/>
            <a:ext cx="3935999" cy="245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Basic Model - Estimation of Effort</a:t>
            </a:r>
            <a:endParaRPr/>
          </a:p>
        </p:txBody>
      </p:sp>
      <p:sp>
        <p:nvSpPr>
          <p:cNvPr id="170" name="Google Shape;170;p1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71" name="Google Shape;171;p14"/>
          <p:cNvSpPr txBox="1"/>
          <p:nvPr/>
        </p:nvSpPr>
        <p:spPr>
          <a:xfrm>
            <a:off x="152400" y="852026"/>
            <a:ext cx="8991600" cy="544373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1" lang="en-US" sz="1800" u="none" cap="none" strike="noStrike">
                <a:solidFill>
                  <a:srgbClr val="333333"/>
                </a:solidFill>
                <a:latin typeface="Times New Roman"/>
                <a:ea typeface="Times New Roman"/>
                <a:cs typeface="Times New Roman"/>
                <a:sym typeface="Times New Roman"/>
              </a:rPr>
              <a:t>Example1:</a:t>
            </a:r>
            <a:r>
              <a:rPr b="0" i="1" lang="en-US" sz="1800" u="none" cap="none" strike="noStrike">
                <a:solidFill>
                  <a:srgbClr val="333333"/>
                </a:solidFill>
                <a:latin typeface="Times New Roman"/>
                <a:ea typeface="Times New Roman"/>
                <a:cs typeface="Times New Roman"/>
                <a:sym typeface="Times New Roman"/>
              </a:rPr>
              <a:t> Suppose a project was estimated to be 400 KLOC. Calculate the effort and development time for each of the three model i.e., organic, semi-detached &amp; embedded.</a:t>
            </a:r>
            <a:endParaRPr/>
          </a:p>
          <a:p>
            <a:pPr indent="0" lvl="0" marL="0" marR="0" rtl="0" algn="just">
              <a:lnSpc>
                <a:spcPct val="150000"/>
              </a:lnSpc>
              <a:spcBef>
                <a:spcPts val="0"/>
              </a:spcBef>
              <a:spcAft>
                <a:spcPts val="0"/>
              </a:spcAft>
              <a:buNone/>
            </a:pPr>
            <a:r>
              <a:rPr b="1" i="0" lang="en-US" sz="1800" u="none" cap="none" strike="noStrike">
                <a:solidFill>
                  <a:srgbClr val="333333"/>
                </a:solidFill>
                <a:latin typeface="Times New Roman"/>
                <a:ea typeface="Times New Roman"/>
                <a:cs typeface="Times New Roman"/>
                <a:sym typeface="Times New Roman"/>
              </a:rPr>
              <a:t>Solution:</a:t>
            </a:r>
            <a:r>
              <a:rPr b="0" i="0" lang="en-US" sz="1800" u="none" cap="none" strike="noStrike">
                <a:solidFill>
                  <a:srgbClr val="333333"/>
                </a:solidFill>
                <a:latin typeface="Times New Roman"/>
                <a:ea typeface="Times New Roman"/>
                <a:cs typeface="Times New Roman"/>
                <a:sym typeface="Times New Roman"/>
              </a:rPr>
              <a:t> The basic COCOMO equation takes the form:</a:t>
            </a:r>
            <a:endParaRPr/>
          </a:p>
          <a:p>
            <a:pPr indent="0" lvl="0" marL="0" marR="0" rtl="0" algn="just">
              <a:lnSpc>
                <a:spcPct val="150000"/>
              </a:lnSpc>
              <a:spcBef>
                <a:spcPts val="0"/>
              </a:spcBef>
              <a:spcAft>
                <a:spcPts val="0"/>
              </a:spcAft>
              <a:buNone/>
            </a:pPr>
            <a:r>
              <a:rPr b="0" i="0" lang="en-US" sz="1800" u="none" cap="none" strike="noStrike">
                <a:solidFill>
                  <a:srgbClr val="333333"/>
                </a:solidFill>
                <a:latin typeface="Times New Roman"/>
                <a:ea typeface="Times New Roman"/>
                <a:cs typeface="Times New Roman"/>
                <a:sym typeface="Times New Roman"/>
              </a:rPr>
              <a:t>  Estimated Size of project= 400 KLOC</a:t>
            </a:r>
            <a:endParaRPr/>
          </a:p>
          <a:p>
            <a:pPr indent="0" lvl="0" marL="0" marR="0" rtl="0" algn="just">
              <a:lnSpc>
                <a:spcPct val="150000"/>
              </a:lnSpc>
              <a:spcBef>
                <a:spcPts val="0"/>
              </a:spcBef>
              <a:spcAft>
                <a:spcPts val="0"/>
              </a:spcAft>
              <a:buNone/>
            </a:pPr>
            <a:r>
              <a:rPr b="1" i="0" lang="en-US" sz="1800" u="none" cap="none" strike="noStrike">
                <a:solidFill>
                  <a:srgbClr val="333333"/>
                </a:solidFill>
                <a:latin typeface="Times New Roman"/>
                <a:ea typeface="Times New Roman"/>
                <a:cs typeface="Times New Roman"/>
                <a:sym typeface="Times New Roman"/>
              </a:rPr>
              <a:t>(i)Organic Mode</a:t>
            </a:r>
            <a:endParaRPr b="0" i="0" sz="1800" u="none" cap="none" strike="noStrike">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US" sz="1800" u="none" cap="none" strike="noStrike">
                <a:solidFill>
                  <a:srgbClr val="333333"/>
                </a:solidFill>
                <a:latin typeface="Times New Roman"/>
                <a:ea typeface="Times New Roman"/>
                <a:cs typeface="Times New Roman"/>
                <a:sym typeface="Times New Roman"/>
              </a:rPr>
              <a:t>	E = 2.4 × (400)</a:t>
            </a:r>
            <a:r>
              <a:rPr b="0" baseline="30000" i="0" lang="en-US" sz="1800" u="none" cap="none" strike="noStrike">
                <a:solidFill>
                  <a:srgbClr val="333333"/>
                </a:solidFill>
                <a:latin typeface="Times New Roman"/>
                <a:ea typeface="Times New Roman"/>
                <a:cs typeface="Times New Roman"/>
                <a:sym typeface="Times New Roman"/>
              </a:rPr>
              <a:t>1.05</a:t>
            </a:r>
            <a:r>
              <a:rPr b="0" i="0" lang="en-US" sz="1800" u="none" cap="none" strike="noStrike">
                <a:solidFill>
                  <a:srgbClr val="333333"/>
                </a:solidFill>
                <a:latin typeface="Times New Roman"/>
                <a:ea typeface="Times New Roman"/>
                <a:cs typeface="Times New Roman"/>
                <a:sym typeface="Times New Roman"/>
              </a:rPr>
              <a:t> = 1295.31 PM</a:t>
            </a:r>
            <a:endParaRPr/>
          </a:p>
          <a:p>
            <a:pPr indent="0" lvl="0" marL="0" marR="0" rtl="0" algn="just">
              <a:lnSpc>
                <a:spcPct val="150000"/>
              </a:lnSpc>
              <a:spcBef>
                <a:spcPts val="0"/>
              </a:spcBef>
              <a:spcAft>
                <a:spcPts val="0"/>
              </a:spcAft>
              <a:buNone/>
            </a:pPr>
            <a:r>
              <a:rPr b="0" i="0" lang="en-US" sz="1800" u="none" cap="none" strike="noStrike">
                <a:solidFill>
                  <a:srgbClr val="333333"/>
                </a:solidFill>
                <a:latin typeface="Times New Roman"/>
                <a:ea typeface="Times New Roman"/>
                <a:cs typeface="Times New Roman"/>
                <a:sym typeface="Times New Roman"/>
              </a:rPr>
              <a:t>                D = 2.5 × (1295.31)</a:t>
            </a:r>
            <a:r>
              <a:rPr b="0" baseline="30000" i="0" lang="en-US" sz="1800" u="none" cap="none" strike="noStrike">
                <a:solidFill>
                  <a:srgbClr val="333333"/>
                </a:solidFill>
                <a:latin typeface="Times New Roman"/>
                <a:ea typeface="Times New Roman"/>
                <a:cs typeface="Times New Roman"/>
                <a:sym typeface="Times New Roman"/>
              </a:rPr>
              <a:t>0.38</a:t>
            </a:r>
            <a:r>
              <a:rPr b="0" i="0" lang="en-US" sz="1800" u="none" cap="none" strike="noStrike">
                <a:solidFill>
                  <a:srgbClr val="333333"/>
                </a:solidFill>
                <a:latin typeface="Times New Roman"/>
                <a:ea typeface="Times New Roman"/>
                <a:cs typeface="Times New Roman"/>
                <a:sym typeface="Times New Roman"/>
              </a:rPr>
              <a:t>=38.07 M</a:t>
            </a:r>
            <a:endParaRPr b="0" i="0" sz="1800" u="none" cap="none" strike="noStrike">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i="0" lang="en-US" sz="1800" u="none" cap="none" strike="noStrike">
                <a:solidFill>
                  <a:srgbClr val="333333"/>
                </a:solidFill>
                <a:latin typeface="Times New Roman"/>
                <a:ea typeface="Times New Roman"/>
                <a:cs typeface="Times New Roman"/>
                <a:sym typeface="Times New Roman"/>
              </a:rPr>
              <a:t>(ii)Semidetached Mode</a:t>
            </a:r>
            <a:endParaRPr b="0" i="0" sz="1800" u="none" cap="none" strike="noStrike">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US" sz="1800" u="none" cap="none" strike="noStrike">
                <a:solidFill>
                  <a:srgbClr val="333333"/>
                </a:solidFill>
                <a:latin typeface="Times New Roman"/>
                <a:ea typeface="Times New Roman"/>
                <a:cs typeface="Times New Roman"/>
                <a:sym typeface="Times New Roman"/>
              </a:rPr>
              <a:t>	E = 3.0 × (400)</a:t>
            </a:r>
            <a:r>
              <a:rPr b="0" baseline="30000" i="0" lang="en-US" sz="1800" u="none" cap="none" strike="noStrike">
                <a:solidFill>
                  <a:srgbClr val="333333"/>
                </a:solidFill>
                <a:latin typeface="Times New Roman"/>
                <a:ea typeface="Times New Roman"/>
                <a:cs typeface="Times New Roman"/>
                <a:sym typeface="Times New Roman"/>
              </a:rPr>
              <a:t>1.12</a:t>
            </a:r>
            <a:r>
              <a:rPr b="0" i="0" lang="en-US" sz="1800" u="none" cap="none" strike="noStrike">
                <a:solidFill>
                  <a:srgbClr val="333333"/>
                </a:solidFill>
                <a:latin typeface="Times New Roman"/>
                <a:ea typeface="Times New Roman"/>
                <a:cs typeface="Times New Roman"/>
                <a:sym typeface="Times New Roman"/>
              </a:rPr>
              <a:t>=2462.79 PM</a:t>
            </a:r>
            <a:endParaRPr/>
          </a:p>
          <a:p>
            <a:pPr indent="0" lvl="0" marL="0" marR="0" rtl="0" algn="just">
              <a:lnSpc>
                <a:spcPct val="150000"/>
              </a:lnSpc>
              <a:spcBef>
                <a:spcPts val="0"/>
              </a:spcBef>
              <a:spcAft>
                <a:spcPts val="0"/>
              </a:spcAft>
              <a:buNone/>
            </a:pPr>
            <a:r>
              <a:rPr b="0" i="0" lang="en-US" sz="1800" u="none" cap="none" strike="noStrike">
                <a:solidFill>
                  <a:srgbClr val="333333"/>
                </a:solidFill>
                <a:latin typeface="Times New Roman"/>
                <a:ea typeface="Times New Roman"/>
                <a:cs typeface="Times New Roman"/>
                <a:sym typeface="Times New Roman"/>
              </a:rPr>
              <a:t>	D = 2.5 × (2462.79)</a:t>
            </a:r>
            <a:r>
              <a:rPr b="0" baseline="30000" i="0" lang="en-US" sz="1800" u="none" cap="none" strike="noStrike">
                <a:solidFill>
                  <a:srgbClr val="333333"/>
                </a:solidFill>
                <a:latin typeface="Times New Roman"/>
                <a:ea typeface="Times New Roman"/>
                <a:cs typeface="Times New Roman"/>
                <a:sym typeface="Times New Roman"/>
              </a:rPr>
              <a:t>0.35</a:t>
            </a:r>
            <a:r>
              <a:rPr b="0" i="0" lang="en-US" sz="1800" u="none" cap="none" strike="noStrike">
                <a:solidFill>
                  <a:srgbClr val="333333"/>
                </a:solidFill>
                <a:latin typeface="Times New Roman"/>
                <a:ea typeface="Times New Roman"/>
                <a:cs typeface="Times New Roman"/>
                <a:sym typeface="Times New Roman"/>
              </a:rPr>
              <a:t>=38.45 M</a:t>
            </a:r>
            <a:endParaRPr b="0" i="0" sz="1800" u="none" cap="none" strike="noStrike">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i="0" lang="en-US" sz="1800" u="none" cap="none" strike="noStrike">
                <a:solidFill>
                  <a:srgbClr val="333333"/>
                </a:solidFill>
                <a:latin typeface="Times New Roman"/>
                <a:ea typeface="Times New Roman"/>
                <a:cs typeface="Times New Roman"/>
                <a:sym typeface="Times New Roman"/>
              </a:rPr>
              <a:t>(iii) Embedded Mode</a:t>
            </a:r>
            <a:endParaRPr b="0" i="0" sz="1800" u="none" cap="none" strike="noStrike">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US" sz="1800" u="none" cap="none" strike="noStrike">
                <a:solidFill>
                  <a:srgbClr val="333333"/>
                </a:solidFill>
                <a:latin typeface="Times New Roman"/>
                <a:ea typeface="Times New Roman"/>
                <a:cs typeface="Times New Roman"/>
                <a:sym typeface="Times New Roman"/>
              </a:rPr>
              <a:t>	E = 3.6 × (400)</a:t>
            </a:r>
            <a:r>
              <a:rPr b="0" baseline="30000" i="0" lang="en-US" sz="1800" u="none" cap="none" strike="noStrike">
                <a:solidFill>
                  <a:srgbClr val="333333"/>
                </a:solidFill>
                <a:latin typeface="Times New Roman"/>
                <a:ea typeface="Times New Roman"/>
                <a:cs typeface="Times New Roman"/>
                <a:sym typeface="Times New Roman"/>
              </a:rPr>
              <a:t>1.20</a:t>
            </a:r>
            <a:r>
              <a:rPr b="0" i="0" lang="en-US" sz="1800" u="none" cap="none" strike="noStrike">
                <a:solidFill>
                  <a:srgbClr val="333333"/>
                </a:solidFill>
                <a:latin typeface="Times New Roman"/>
                <a:ea typeface="Times New Roman"/>
                <a:cs typeface="Times New Roman"/>
                <a:sym typeface="Times New Roman"/>
              </a:rPr>
              <a:t> = 4772.81 PM</a:t>
            </a:r>
            <a:endParaRPr/>
          </a:p>
          <a:p>
            <a:pPr indent="0" lvl="0" marL="0" marR="0" rtl="0" algn="just">
              <a:lnSpc>
                <a:spcPct val="150000"/>
              </a:lnSpc>
              <a:spcBef>
                <a:spcPts val="0"/>
              </a:spcBef>
              <a:spcAft>
                <a:spcPts val="0"/>
              </a:spcAft>
              <a:buNone/>
            </a:pPr>
            <a:r>
              <a:rPr b="0" i="0" lang="en-US" sz="1800" u="none" cap="none" strike="noStrike">
                <a:solidFill>
                  <a:srgbClr val="333333"/>
                </a:solidFill>
                <a:latin typeface="Times New Roman"/>
                <a:ea typeface="Times New Roman"/>
                <a:cs typeface="Times New Roman"/>
                <a:sym typeface="Times New Roman"/>
              </a:rPr>
              <a:t>                D = 2.5 × (4772.8)</a:t>
            </a:r>
            <a:r>
              <a:rPr b="0" baseline="30000" i="0" lang="en-US" sz="1800" u="none" cap="none" strike="noStrike">
                <a:solidFill>
                  <a:srgbClr val="333333"/>
                </a:solidFill>
                <a:latin typeface="Times New Roman"/>
                <a:ea typeface="Times New Roman"/>
                <a:cs typeface="Times New Roman"/>
                <a:sym typeface="Times New Roman"/>
              </a:rPr>
              <a:t>0.32</a:t>
            </a:r>
            <a:r>
              <a:rPr b="0" i="0" lang="en-US" sz="1800" u="none" cap="none" strike="noStrike">
                <a:solidFill>
                  <a:srgbClr val="333333"/>
                </a:solidFill>
                <a:latin typeface="Times New Roman"/>
                <a:ea typeface="Times New Roman"/>
                <a:cs typeface="Times New Roman"/>
                <a:sym typeface="Times New Roman"/>
              </a:rPr>
              <a:t> = 38 M</a:t>
            </a:r>
            <a:endParaRPr b="0" i="0" sz="1800" u="none" cap="none" strike="noStrike">
              <a:solidFill>
                <a:srgbClr val="333333"/>
              </a:solidFill>
              <a:latin typeface="Times New Roman"/>
              <a:ea typeface="Times New Roman"/>
              <a:cs typeface="Times New Roman"/>
              <a:sym typeface="Times New Roman"/>
            </a:endParaRPr>
          </a:p>
        </p:txBody>
      </p:sp>
      <p:pic>
        <p:nvPicPr>
          <p:cNvPr id="172" name="Google Shape;172;p14"/>
          <p:cNvPicPr preferRelativeResize="0"/>
          <p:nvPr/>
        </p:nvPicPr>
        <p:blipFill rotWithShape="1">
          <a:blip r:embed="rId3">
            <a:alphaModFix/>
          </a:blip>
          <a:srcRect b="32051" l="0" r="38232" t="0"/>
          <a:stretch/>
        </p:blipFill>
        <p:spPr>
          <a:xfrm>
            <a:off x="6096000" y="1870614"/>
            <a:ext cx="2514600" cy="140598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Basic Model - Estimation of Effort</a:t>
            </a:r>
            <a:endParaRPr/>
          </a:p>
        </p:txBody>
      </p:sp>
      <p:sp>
        <p:nvSpPr>
          <p:cNvPr id="178" name="Google Shape;178;p1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79" name="Google Shape;179;p15"/>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80" name="Google Shape;180;p15"/>
          <p:cNvSpPr txBox="1"/>
          <p:nvPr>
            <p:ph idx="1" type="body"/>
          </p:nvPr>
        </p:nvSpPr>
        <p:spPr>
          <a:xfrm>
            <a:off x="381000" y="990600"/>
            <a:ext cx="8534400" cy="4525963"/>
          </a:xfrm>
          <a:prstGeom prst="rect">
            <a:avLst/>
          </a:prstGeom>
          <a:noFill/>
          <a:ln>
            <a:noFill/>
          </a:ln>
        </p:spPr>
        <p:txBody>
          <a:bodyPr anchorCtr="0" anchor="t" bIns="0" lIns="0" spcFirstLastPara="1" rIns="0" wrap="square" tIns="0">
            <a:normAutofit/>
          </a:bodyPr>
          <a:lstStyle/>
          <a:p>
            <a:pPr indent="0" lvl="0" marL="0" rtl="0" algn="l">
              <a:lnSpc>
                <a:spcPct val="150000"/>
              </a:lnSpc>
              <a:spcBef>
                <a:spcPts val="1000"/>
              </a:spcBef>
              <a:spcAft>
                <a:spcPts val="0"/>
              </a:spcAft>
              <a:buSzPts val="1800"/>
              <a:buNone/>
            </a:pPr>
            <a:r>
              <a:rPr b="1" i="1" lang="en-US" sz="1800">
                <a:latin typeface="Times"/>
                <a:ea typeface="Times"/>
                <a:cs typeface="Times"/>
                <a:sym typeface="Times"/>
              </a:rPr>
              <a:t>Example 2:</a:t>
            </a:r>
            <a:r>
              <a:rPr i="1" lang="en-US" sz="1800">
                <a:latin typeface="Times"/>
                <a:ea typeface="Times"/>
                <a:cs typeface="Times"/>
                <a:sym typeface="Times"/>
              </a:rPr>
              <a:t> A project size of 200 KLOC is to be developed. Software development team has average experience on similar type of projects. The project schedule is not very tight. Calculate the Effort, development time, average staff size, and productivity of the project.</a:t>
            </a:r>
            <a:endParaRPr/>
          </a:p>
          <a:p>
            <a:pPr indent="0" lvl="0" marL="0" rtl="0" algn="l">
              <a:lnSpc>
                <a:spcPct val="150000"/>
              </a:lnSpc>
              <a:spcBef>
                <a:spcPts val="1000"/>
              </a:spcBef>
              <a:spcAft>
                <a:spcPts val="0"/>
              </a:spcAft>
              <a:buSzPts val="1800"/>
              <a:buNone/>
            </a:pPr>
            <a:r>
              <a:t/>
            </a:r>
            <a:endParaRPr b="1" sz="1800">
              <a:latin typeface="Times"/>
              <a:ea typeface="Times"/>
              <a:cs typeface="Times"/>
              <a:sym typeface="Times"/>
            </a:endParaRPr>
          </a:p>
          <a:p>
            <a:pPr indent="0" lvl="0" marL="0" rtl="0" algn="l">
              <a:lnSpc>
                <a:spcPct val="150000"/>
              </a:lnSpc>
              <a:spcBef>
                <a:spcPts val="1000"/>
              </a:spcBef>
              <a:spcAft>
                <a:spcPts val="0"/>
              </a:spcAft>
              <a:buSzPts val="1800"/>
              <a:buNone/>
            </a:pPr>
            <a:r>
              <a:rPr b="1" lang="en-US" sz="1800">
                <a:latin typeface="Times"/>
                <a:ea typeface="Times"/>
                <a:cs typeface="Times"/>
                <a:sym typeface="Times"/>
              </a:rPr>
              <a:t>Solution:</a:t>
            </a:r>
            <a:r>
              <a:rPr lang="en-US" sz="1800">
                <a:latin typeface="Times"/>
                <a:ea typeface="Times"/>
                <a:cs typeface="Times"/>
                <a:sym typeface="Times"/>
              </a:rPr>
              <a:t> The </a:t>
            </a:r>
            <a:r>
              <a:rPr lang="en-US" sz="1800">
                <a:solidFill>
                  <a:srgbClr val="C00000"/>
                </a:solidFill>
                <a:latin typeface="Times"/>
                <a:ea typeface="Times"/>
                <a:cs typeface="Times"/>
                <a:sym typeface="Times"/>
              </a:rPr>
              <a:t>semidetached</a:t>
            </a:r>
            <a:r>
              <a:rPr lang="en-US" sz="1800">
                <a:latin typeface="Times"/>
                <a:ea typeface="Times"/>
                <a:cs typeface="Times"/>
                <a:sym typeface="Times"/>
              </a:rPr>
              <a:t> mode is the most appropriate mode, keeping in view the size, schedule and experience of development time. </a:t>
            </a:r>
            <a:endParaRPr/>
          </a:p>
          <a:p>
            <a:pPr indent="0" lvl="0" marL="0" rtl="0" algn="l">
              <a:lnSpc>
                <a:spcPct val="150000"/>
              </a:lnSpc>
              <a:spcBef>
                <a:spcPts val="1000"/>
              </a:spcBef>
              <a:spcAft>
                <a:spcPts val="0"/>
              </a:spcAft>
              <a:buSzPts val="1800"/>
              <a:buNone/>
            </a:pPr>
            <a:r>
              <a:rPr lang="en-US" sz="1800">
                <a:latin typeface="Times"/>
                <a:ea typeface="Times"/>
                <a:cs typeface="Times"/>
                <a:sym typeface="Times"/>
              </a:rPr>
              <a:t>E = 3.0×(200)</a:t>
            </a:r>
            <a:r>
              <a:rPr baseline="30000" lang="en-US" sz="1800">
                <a:latin typeface="Times"/>
                <a:ea typeface="Times"/>
                <a:cs typeface="Times"/>
                <a:sym typeface="Times"/>
              </a:rPr>
              <a:t>1.12</a:t>
            </a:r>
            <a:r>
              <a:rPr lang="en-US" sz="1800">
                <a:latin typeface="Times"/>
                <a:ea typeface="Times"/>
                <a:cs typeface="Times"/>
                <a:sym typeface="Times"/>
              </a:rPr>
              <a:t> = 1133.12 PM</a:t>
            </a:r>
            <a:br>
              <a:rPr lang="en-US" sz="1800">
                <a:latin typeface="Times"/>
                <a:ea typeface="Times"/>
                <a:cs typeface="Times"/>
                <a:sym typeface="Times"/>
              </a:rPr>
            </a:br>
            <a:r>
              <a:rPr lang="en-US" sz="1800">
                <a:latin typeface="Times"/>
                <a:ea typeface="Times"/>
                <a:cs typeface="Times"/>
                <a:sym typeface="Times"/>
              </a:rPr>
              <a:t>D = 2.5× (1133.12)</a:t>
            </a:r>
            <a:r>
              <a:rPr baseline="30000" lang="en-US" sz="1800">
                <a:latin typeface="Times"/>
                <a:ea typeface="Times"/>
                <a:cs typeface="Times"/>
                <a:sym typeface="Times"/>
              </a:rPr>
              <a:t>0.35</a:t>
            </a:r>
            <a:r>
              <a:rPr lang="en-US" sz="1800">
                <a:latin typeface="Times"/>
                <a:ea typeface="Times"/>
                <a:cs typeface="Times"/>
                <a:sym typeface="Times"/>
              </a:rPr>
              <a:t> = 29.3 M</a:t>
            </a:r>
            <a:endParaRPr sz="1800">
              <a:latin typeface="Times"/>
              <a:ea typeface="Times"/>
              <a:cs typeface="Times"/>
              <a:sym typeface="Times"/>
            </a:endParaRPr>
          </a:p>
          <a:p>
            <a:pPr indent="-228600" lvl="0" marL="457200" rtl="0" algn="l">
              <a:lnSpc>
                <a:spcPct val="90000"/>
              </a:lnSpc>
              <a:spcBef>
                <a:spcPts val="1000"/>
              </a:spcBef>
              <a:spcAft>
                <a:spcPts val="0"/>
              </a:spcAft>
              <a:buClr>
                <a:schemeClr val="dk1"/>
              </a:buClr>
              <a:buSzPts val="1800"/>
              <a:buNone/>
            </a:pPr>
            <a:r>
              <a:t/>
            </a:r>
            <a:endParaRPr>
              <a:latin typeface="Times"/>
              <a:ea typeface="Times"/>
              <a:cs typeface="Times"/>
              <a:sym typeface="Times"/>
            </a:endParaRPr>
          </a:p>
        </p:txBody>
      </p:sp>
      <p:pic>
        <p:nvPicPr>
          <p:cNvPr id="181" name="Google Shape;181;p15"/>
          <p:cNvPicPr preferRelativeResize="0"/>
          <p:nvPr/>
        </p:nvPicPr>
        <p:blipFill rotWithShape="1">
          <a:blip r:embed="rId3">
            <a:alphaModFix/>
          </a:blip>
          <a:srcRect b="0" l="0" r="0" t="0"/>
          <a:stretch/>
        </p:blipFill>
        <p:spPr>
          <a:xfrm>
            <a:off x="3946071" y="4028440"/>
            <a:ext cx="4740729" cy="22515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Intermediate Model - Estimation of Effort</a:t>
            </a:r>
            <a:endParaRPr/>
          </a:p>
        </p:txBody>
      </p:sp>
      <p:sp>
        <p:nvSpPr>
          <p:cNvPr id="187" name="Google Shape;187;p1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88" name="Google Shape;188;p16"/>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89" name="Google Shape;189;p16"/>
          <p:cNvSpPr txBox="1"/>
          <p:nvPr/>
        </p:nvSpPr>
        <p:spPr>
          <a:xfrm>
            <a:off x="228600" y="1066800"/>
            <a:ext cx="8719218" cy="4062651"/>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The basic COCOMO model assumes that the </a:t>
            </a:r>
            <a:r>
              <a:rPr b="1" i="0" lang="en-US" sz="2000" u="none" cap="none" strike="noStrike">
                <a:solidFill>
                  <a:srgbClr val="000000"/>
                </a:solidFill>
                <a:latin typeface="Times New Roman"/>
                <a:ea typeface="Times New Roman"/>
                <a:cs typeface="Times New Roman"/>
                <a:sym typeface="Times New Roman"/>
              </a:rPr>
              <a:t>effort is only a function of the number of lines of code</a:t>
            </a:r>
            <a:r>
              <a:rPr b="0" i="0" lang="en-US" sz="2000" u="none" cap="none" strike="noStrike">
                <a:solidFill>
                  <a:srgbClr val="000000"/>
                </a:solidFill>
                <a:latin typeface="Times New Roman"/>
                <a:ea typeface="Times New Roman"/>
                <a:cs typeface="Times New Roman"/>
                <a:sym typeface="Times New Roman"/>
              </a:rPr>
              <a:t> and some constants evaluated according to the different software systems. </a:t>
            </a:r>
            <a:endParaRPr/>
          </a:p>
          <a:p>
            <a:pPr indent="-285750" lvl="0" marL="285750" marR="0" rtl="0" algn="just">
              <a:lnSpc>
                <a:spcPct val="15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However, in reality, no system’s effort and schedule can be solely calculated on the basis of Lines of Code. </a:t>
            </a:r>
            <a:endParaRPr/>
          </a:p>
          <a:p>
            <a:pPr indent="-285750" lvl="0" marL="285750" marR="0" rtl="0" algn="just">
              <a:lnSpc>
                <a:spcPct val="15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For that, various other factors such as </a:t>
            </a:r>
            <a:r>
              <a:rPr b="1" i="0" lang="en-US" sz="2000" u="none" cap="none" strike="noStrike">
                <a:solidFill>
                  <a:srgbClr val="000000"/>
                </a:solidFill>
                <a:latin typeface="Times New Roman"/>
                <a:ea typeface="Times New Roman"/>
                <a:cs typeface="Times New Roman"/>
                <a:sym typeface="Times New Roman"/>
              </a:rPr>
              <a:t>reliability, experience, capability</a:t>
            </a:r>
            <a:r>
              <a:rPr b="0" i="0" lang="en-US" sz="2000" u="none" cap="none" strike="noStrike">
                <a:solidFill>
                  <a:srgbClr val="000000"/>
                </a:solidFill>
                <a:latin typeface="Times New Roman"/>
                <a:ea typeface="Times New Roman"/>
                <a:cs typeface="Times New Roman"/>
                <a:sym typeface="Times New Roman"/>
              </a:rPr>
              <a:t>. </a:t>
            </a:r>
            <a:endParaRPr/>
          </a:p>
          <a:p>
            <a:pPr indent="-285750" lvl="0" marL="285750" marR="0" rtl="0" algn="just">
              <a:lnSpc>
                <a:spcPct val="15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These factors are known as </a:t>
            </a:r>
            <a:r>
              <a:rPr b="0" i="0" lang="en-US" sz="2000" u="none" cap="none" strike="noStrike">
                <a:solidFill>
                  <a:srgbClr val="C00000"/>
                </a:solidFill>
                <a:latin typeface="Times New Roman"/>
                <a:ea typeface="Times New Roman"/>
                <a:cs typeface="Times New Roman"/>
                <a:sym typeface="Times New Roman"/>
              </a:rPr>
              <a:t>Cost Drivers </a:t>
            </a:r>
            <a:endParaRPr/>
          </a:p>
          <a:p>
            <a:pPr indent="-285750" lvl="0" marL="285750" marR="0" rtl="0" algn="just">
              <a:lnSpc>
                <a:spcPct val="150000"/>
              </a:lnSpc>
              <a:spcBef>
                <a:spcPts val="0"/>
              </a:spcBef>
              <a:spcAft>
                <a:spcPts val="0"/>
              </a:spcAft>
              <a:buClr>
                <a:srgbClr val="000000"/>
              </a:buClr>
              <a:buSzPts val="2000"/>
              <a:buFont typeface="Arial"/>
              <a:buChar char="•"/>
            </a:pPr>
            <a:r>
              <a:rPr b="0" i="0" lang="en-US" sz="2000" u="none" cap="none" strike="noStrike">
                <a:solidFill>
                  <a:srgbClr val="C00000"/>
                </a:solidFill>
                <a:latin typeface="Times New Roman"/>
                <a:ea typeface="Times New Roman"/>
                <a:cs typeface="Times New Roman"/>
                <a:sym typeface="Times New Roman"/>
              </a:rPr>
              <a:t>T</a:t>
            </a:r>
            <a:r>
              <a:rPr b="0" i="0" lang="en-US" sz="2000" u="none" cap="none" strike="noStrike">
                <a:solidFill>
                  <a:srgbClr val="000000"/>
                </a:solidFill>
                <a:latin typeface="Times New Roman"/>
                <a:ea typeface="Times New Roman"/>
                <a:cs typeface="Times New Roman"/>
                <a:sym typeface="Times New Roman"/>
              </a:rPr>
              <a:t>he Intermediate Model utilizes 15 such drivers for cost estimation.</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Intermediate Model - Estimation of Effort</a:t>
            </a:r>
            <a:endParaRPr/>
          </a:p>
        </p:txBody>
      </p:sp>
      <p:sp>
        <p:nvSpPr>
          <p:cNvPr id="195" name="Google Shape;195;p1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pic>
        <p:nvPicPr>
          <p:cNvPr id="196" name="Google Shape;196;p17"/>
          <p:cNvPicPr preferRelativeResize="0"/>
          <p:nvPr/>
        </p:nvPicPr>
        <p:blipFill rotWithShape="1">
          <a:blip r:embed="rId3">
            <a:alphaModFix/>
          </a:blip>
          <a:srcRect b="0" l="0" r="0" t="0"/>
          <a:stretch/>
        </p:blipFill>
        <p:spPr>
          <a:xfrm>
            <a:off x="243840" y="861660"/>
            <a:ext cx="8676640" cy="56610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Intermediate Model - Estimation of Effort</a:t>
            </a:r>
            <a:endParaRPr/>
          </a:p>
        </p:txBody>
      </p:sp>
      <p:sp>
        <p:nvSpPr>
          <p:cNvPr id="202" name="Google Shape;202;p1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pic>
        <p:nvPicPr>
          <p:cNvPr id="203" name="Google Shape;203;p18"/>
          <p:cNvPicPr preferRelativeResize="0"/>
          <p:nvPr>
            <p:ph idx="1" type="body"/>
          </p:nvPr>
        </p:nvPicPr>
        <p:blipFill rotWithShape="1">
          <a:blip r:embed="rId3">
            <a:alphaModFix/>
          </a:blip>
          <a:srcRect b="0" l="0" r="0" t="0"/>
          <a:stretch/>
        </p:blipFill>
        <p:spPr>
          <a:xfrm>
            <a:off x="284480" y="914040"/>
            <a:ext cx="8593717" cy="55645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Intermediate Model - Estimation of Effort</a:t>
            </a:r>
            <a:endParaRPr/>
          </a:p>
        </p:txBody>
      </p:sp>
      <p:sp>
        <p:nvSpPr>
          <p:cNvPr id="209" name="Google Shape;209;p1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210" name="Google Shape;210;p19"/>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211" name="Google Shape;211;p19"/>
          <p:cNvSpPr txBox="1"/>
          <p:nvPr/>
        </p:nvSpPr>
        <p:spPr>
          <a:xfrm>
            <a:off x="212391" y="937915"/>
            <a:ext cx="8719218" cy="565539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1" lang="en-US" sz="2000" u="none" cap="none" strike="noStrike">
                <a:solidFill>
                  <a:srgbClr val="000000"/>
                </a:solidFill>
                <a:latin typeface="Times New Roman"/>
                <a:ea typeface="Times New Roman"/>
                <a:cs typeface="Times New Roman"/>
                <a:sym typeface="Times New Roman"/>
              </a:rPr>
              <a:t>Example:</a:t>
            </a:r>
            <a:r>
              <a:rPr b="0" i="1" lang="en-US" sz="2000" u="none" cap="none" strike="noStrike">
                <a:solidFill>
                  <a:srgbClr val="000000"/>
                </a:solidFill>
                <a:latin typeface="Times New Roman"/>
                <a:ea typeface="Times New Roman"/>
                <a:cs typeface="Times New Roman"/>
                <a:sym typeface="Times New Roman"/>
              </a:rPr>
              <a:t> For a given project was estimated with a size of 300 KLOC. Calculate the Effort, Scheduled time for development by considering developer having very high application experience and very low experience in programming.</a:t>
            </a:r>
            <a:endParaRPr/>
          </a:p>
          <a:p>
            <a:pPr indent="0" lvl="0" marL="0" marR="0" rtl="0" algn="l">
              <a:lnSpc>
                <a:spcPct val="15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Solution:</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Given the estimated size of the project is: 300 KLOC</a:t>
            </a:r>
            <a:endParaRPr/>
          </a:p>
          <a:p>
            <a:pPr indent="0" lvl="0" marL="0" marR="0" rtl="0" algn="l">
              <a:lnSpc>
                <a:spcPct val="150000"/>
              </a:lnSpc>
              <a:spcBef>
                <a:spcPts val="0"/>
              </a:spcBef>
              <a:spcAft>
                <a:spcPts val="0"/>
              </a:spcAft>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Developer having highly application experience: 0.82 (as per cost driver table)</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Developer having very low experience in programming: 1.14 (as per cost driver table)</a:t>
            </a:r>
            <a:endParaRPr/>
          </a:p>
          <a:p>
            <a:pPr indent="0" lvl="0" marL="0" marR="0" rtl="0" algn="l">
              <a:lnSpc>
                <a:spcPct val="150000"/>
              </a:lnSpc>
              <a:spcBef>
                <a:spcPts val="0"/>
              </a:spcBef>
              <a:spcAft>
                <a:spcPts val="0"/>
              </a:spcAft>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EAF</a:t>
            </a:r>
            <a:r>
              <a:rPr b="0" i="0" lang="en-US" sz="1800" u="none" cap="none" strike="noStrike">
                <a:solidFill>
                  <a:srgbClr val="000000"/>
                </a:solidFill>
                <a:latin typeface="Times New Roman"/>
                <a:ea typeface="Times New Roman"/>
                <a:cs typeface="Times New Roman"/>
                <a:sym typeface="Times New Roman"/>
              </a:rPr>
              <a:t> = 0.82×1.14 = 0.9348</a:t>
            </a:r>
            <a:endParaRPr/>
          </a:p>
          <a:p>
            <a:pPr indent="0" lvl="0" marL="0" marR="0" rtl="0" algn="l">
              <a:lnSpc>
                <a:spcPct val="150000"/>
              </a:lnSpc>
              <a:spcBef>
                <a:spcPts val="0"/>
              </a:spcBef>
              <a:spcAft>
                <a:spcPts val="0"/>
              </a:spcAft>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Effort (E)</a:t>
            </a:r>
            <a:r>
              <a:rPr b="0" i="0" lang="en-US" sz="1800" u="none" cap="none" strike="noStrike">
                <a:solidFill>
                  <a:srgbClr val="000000"/>
                </a:solidFill>
                <a:latin typeface="Times New Roman"/>
                <a:ea typeface="Times New Roman"/>
                <a:cs typeface="Times New Roman"/>
                <a:sym typeface="Times New Roman"/>
              </a:rPr>
              <a:t> = a× (KLOC)</a:t>
            </a:r>
            <a:r>
              <a:rPr b="0" baseline="30000" i="0" lang="en-US" sz="1800" u="none" cap="none" strike="noStrike">
                <a:solidFill>
                  <a:srgbClr val="000000"/>
                </a:solidFill>
                <a:latin typeface="Times New Roman"/>
                <a:ea typeface="Times New Roman"/>
                <a:cs typeface="Times New Roman"/>
                <a:sym typeface="Times New Roman"/>
              </a:rPr>
              <a:t>b </a:t>
            </a:r>
            <a:r>
              <a:rPr b="0" i="0" lang="en-US" sz="1800" u="none" cap="none" strike="noStrike">
                <a:solidFill>
                  <a:srgbClr val="000000"/>
                </a:solidFill>
                <a:latin typeface="Times New Roman"/>
                <a:ea typeface="Times New Roman"/>
                <a:cs typeface="Times New Roman"/>
                <a:sym typeface="Times New Roman"/>
              </a:rPr>
              <a:t>×EAF = 3.0× (300)</a:t>
            </a:r>
            <a:r>
              <a:rPr b="0" baseline="30000" i="0" lang="en-US" sz="1800" u="none" cap="none" strike="noStrike">
                <a:solidFill>
                  <a:srgbClr val="000000"/>
                </a:solidFill>
                <a:latin typeface="Times New Roman"/>
                <a:ea typeface="Times New Roman"/>
                <a:cs typeface="Times New Roman"/>
                <a:sym typeface="Times New Roman"/>
              </a:rPr>
              <a:t>1.12 </a:t>
            </a:r>
            <a:r>
              <a:rPr b="0" i="0" lang="en-US" sz="1800" u="none" cap="none" strike="noStrike">
                <a:solidFill>
                  <a:srgbClr val="000000"/>
                </a:solidFill>
                <a:latin typeface="Times New Roman"/>
                <a:ea typeface="Times New Roman"/>
                <a:cs typeface="Times New Roman"/>
                <a:sym typeface="Times New Roman"/>
              </a:rPr>
              <a:t>×0.9348 = 1668.07 MM</a:t>
            </a:r>
            <a:endParaRPr/>
          </a:p>
          <a:p>
            <a:pPr indent="0" lvl="0" marL="0" marR="0" rtl="0" algn="l">
              <a:lnSpc>
                <a:spcPct val="150000"/>
              </a:lnSpc>
              <a:spcBef>
                <a:spcPts val="0"/>
              </a:spcBef>
              <a:spcAft>
                <a:spcPts val="0"/>
              </a:spcAft>
              <a:buNone/>
            </a:pPr>
            <a:r>
              <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Scheduled Time (D) </a:t>
            </a:r>
            <a:r>
              <a:rPr b="0" i="0" lang="en-US" sz="1800" u="none" cap="none" strike="noStrike">
                <a:solidFill>
                  <a:srgbClr val="000000"/>
                </a:solidFill>
                <a:latin typeface="Times New Roman"/>
                <a:ea typeface="Times New Roman"/>
                <a:cs typeface="Times New Roman"/>
                <a:sym typeface="Times New Roman"/>
              </a:rPr>
              <a:t>= c× (E)</a:t>
            </a:r>
            <a:r>
              <a:rPr b="0" baseline="30000" i="0" lang="en-US" sz="1800" u="none" cap="none" strike="noStrike">
                <a:solidFill>
                  <a:srgbClr val="000000"/>
                </a:solidFill>
                <a:latin typeface="Times New Roman"/>
                <a:ea typeface="Times New Roman"/>
                <a:cs typeface="Times New Roman"/>
                <a:sym typeface="Times New Roman"/>
              </a:rPr>
              <a:t>d</a:t>
            </a:r>
            <a:r>
              <a:rPr b="1" baseline="30000" i="0" lang="en-US" sz="1800" u="none" cap="none" strike="noStrike">
                <a:solidFill>
                  <a:srgbClr val="000000"/>
                </a:solidFill>
                <a:latin typeface="Times New Roman"/>
                <a:ea typeface="Times New Roman"/>
                <a:cs typeface="Times New Roman"/>
                <a:sym typeface="Times New Roman"/>
              </a:rPr>
              <a:t> </a:t>
            </a:r>
            <a:r>
              <a:rPr b="0" i="0" lang="en-US" sz="1800" u="none" cap="none" strike="noStrike">
                <a:solidFill>
                  <a:srgbClr val="000000"/>
                </a:solidFill>
                <a:latin typeface="Times New Roman"/>
                <a:ea typeface="Times New Roman"/>
                <a:cs typeface="Times New Roman"/>
                <a:sym typeface="Times New Roman"/>
              </a:rPr>
              <a:t> = 2.5× (1668.07)</a:t>
            </a:r>
            <a:r>
              <a:rPr b="0" baseline="30000" i="0" lang="en-US" sz="1800" u="none" cap="none" strike="noStrike">
                <a:solidFill>
                  <a:srgbClr val="000000"/>
                </a:solidFill>
                <a:latin typeface="Times New Roman"/>
                <a:ea typeface="Times New Roman"/>
                <a:cs typeface="Times New Roman"/>
                <a:sym typeface="Times New Roman"/>
              </a:rPr>
              <a:t>0.35</a:t>
            </a:r>
            <a:r>
              <a:rPr b="0" i="0" lang="en-US" sz="1800" u="none" cap="none" strike="noStrike">
                <a:solidFill>
                  <a:srgbClr val="000000"/>
                </a:solidFill>
                <a:latin typeface="Times New Roman"/>
                <a:ea typeface="Times New Roman"/>
                <a:cs typeface="Times New Roman"/>
                <a:sym typeface="Times New Roman"/>
              </a:rPr>
              <a:t> = 33.55 Months(M)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ph type="title"/>
          </p:nvPr>
        </p:nvSpPr>
        <p:spPr>
          <a:xfrm>
            <a:off x="0" y="0"/>
            <a:ext cx="626872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Detailed Model - Estimation of Effort</a:t>
            </a:r>
            <a:endParaRPr/>
          </a:p>
        </p:txBody>
      </p:sp>
      <p:sp>
        <p:nvSpPr>
          <p:cNvPr id="217" name="Google Shape;217;p2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218" name="Google Shape;218;p20"/>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219" name="Google Shape;219;p20"/>
          <p:cNvSpPr txBox="1"/>
          <p:nvPr/>
        </p:nvSpPr>
        <p:spPr>
          <a:xfrm>
            <a:off x="212391" y="937915"/>
            <a:ext cx="8719218" cy="5816977"/>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Detailed COCOMO incorporates all characteristics of the intermediate version with an assessment of the cost driver’s </a:t>
            </a:r>
            <a:r>
              <a:rPr b="1" i="0" lang="en-US" sz="1800" u="none" cap="none" strike="noStrike">
                <a:solidFill>
                  <a:srgbClr val="000000"/>
                </a:solidFill>
                <a:latin typeface="Times New Roman"/>
                <a:ea typeface="Times New Roman"/>
                <a:cs typeface="Times New Roman"/>
                <a:sym typeface="Times New Roman"/>
              </a:rPr>
              <a:t>impact on each step of the software engineering process</a:t>
            </a:r>
            <a:r>
              <a:rPr b="0" i="0" lang="en-US" sz="1800" u="none" cap="none" strike="noStrike">
                <a:solidFill>
                  <a:srgbClr val="000000"/>
                </a:solidFill>
                <a:latin typeface="Times New Roman"/>
                <a:ea typeface="Times New Roman"/>
                <a:cs typeface="Times New Roman"/>
                <a:sym typeface="Times New Roman"/>
              </a:rPr>
              <a:t>.</a:t>
            </a:r>
            <a:endParaRPr/>
          </a:p>
          <a:p>
            <a:pPr indent="-285750" lvl="0" marL="285750" marR="0" rtl="0" algn="just">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The detailed model uses </a:t>
            </a:r>
            <a:r>
              <a:rPr b="1" i="0" lang="en-US" sz="1800" u="none" cap="none" strike="noStrike">
                <a:solidFill>
                  <a:srgbClr val="000000"/>
                </a:solidFill>
                <a:latin typeface="Times New Roman"/>
                <a:ea typeface="Times New Roman"/>
                <a:cs typeface="Times New Roman"/>
                <a:sym typeface="Times New Roman"/>
              </a:rPr>
              <a:t>different effort multipliers for each cost driver attribute</a:t>
            </a:r>
            <a:r>
              <a:rPr b="0" i="0" lang="en-US" sz="1800" u="none" cap="none" strike="noStrike">
                <a:solidFill>
                  <a:srgbClr val="000000"/>
                </a:solidFill>
                <a:latin typeface="Times New Roman"/>
                <a:ea typeface="Times New Roman"/>
                <a:cs typeface="Times New Roman"/>
                <a:sym typeface="Times New Roman"/>
              </a:rPr>
              <a:t>. </a:t>
            </a:r>
            <a:endParaRPr/>
          </a:p>
          <a:p>
            <a:pPr indent="-285750" lvl="0" marL="285750" marR="0" rtl="0" algn="just">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In detailed COCOMO, the whole software is divided into different modules and then we apply COCOMO in different modules to estimate effort and then sum the effort.</a:t>
            </a:r>
            <a:endParaRPr/>
          </a:p>
          <a:p>
            <a:pPr indent="-285750" lvl="0" marL="285750" marR="0" rtl="0" algn="just">
              <a:lnSpc>
                <a:spcPct val="150000"/>
              </a:lnSpc>
              <a:spcBef>
                <a:spcPts val="0"/>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The Six phases of detailed COCOMO are:</a:t>
            </a:r>
            <a:endParaRPr/>
          </a:p>
          <a:p>
            <a:pPr indent="-114300" lvl="1" marL="0" marR="0" rtl="0" algn="just">
              <a:lnSpc>
                <a:spcPct val="15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 Planning and requirements</a:t>
            </a:r>
            <a:endParaRPr/>
          </a:p>
          <a:p>
            <a:pPr indent="-114300" lvl="1" marL="0" marR="0" rtl="0" algn="just">
              <a:lnSpc>
                <a:spcPct val="15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 System design</a:t>
            </a:r>
            <a:endParaRPr/>
          </a:p>
          <a:p>
            <a:pPr indent="-114300" lvl="1" marL="0" marR="0" rtl="0" algn="just">
              <a:lnSpc>
                <a:spcPct val="15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 Detailed design</a:t>
            </a:r>
            <a:endParaRPr/>
          </a:p>
          <a:p>
            <a:pPr indent="-114300" lvl="1" marL="0" marR="0" rtl="0" algn="just">
              <a:lnSpc>
                <a:spcPct val="15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 Module code and test</a:t>
            </a:r>
            <a:endParaRPr/>
          </a:p>
          <a:p>
            <a:pPr indent="-114300" lvl="1" marL="0" marR="0" rtl="0" algn="just">
              <a:lnSpc>
                <a:spcPct val="15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 Integration and test</a:t>
            </a:r>
            <a:endParaRPr/>
          </a:p>
          <a:p>
            <a:pPr indent="-114300" lvl="1" marL="0" marR="0" rtl="0" algn="just">
              <a:lnSpc>
                <a:spcPct val="15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 Cost Constructive model</a:t>
            </a:r>
            <a:endParaRPr/>
          </a:p>
          <a:p>
            <a:pPr indent="0" lvl="0" marL="0" marR="0" rtl="0" algn="just">
              <a:lnSpc>
                <a:spcPct val="150000"/>
              </a:lnSpc>
              <a:spcBef>
                <a:spcPts val="0"/>
              </a:spcBef>
              <a:spcAft>
                <a:spcPts val="0"/>
              </a:spcAft>
              <a:buNone/>
            </a:pPr>
            <a:r>
              <a:t/>
            </a:r>
            <a:endParaRPr b="0" i="1"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0" y="0"/>
            <a:ext cx="642112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Estimation of Object-Oriented Projects</a:t>
            </a:r>
            <a:endParaRPr/>
          </a:p>
        </p:txBody>
      </p:sp>
      <p:sp>
        <p:nvSpPr>
          <p:cNvPr id="225" name="Google Shape;225;p21"/>
          <p:cNvSpPr txBox="1"/>
          <p:nvPr>
            <p:ph idx="1" type="body"/>
          </p:nvPr>
        </p:nvSpPr>
        <p:spPr>
          <a:xfrm>
            <a:off x="284480" y="1035560"/>
            <a:ext cx="8229240" cy="5527800"/>
          </a:xfrm>
          <a:prstGeom prst="rect">
            <a:avLst/>
          </a:prstGeom>
          <a:noFill/>
          <a:ln>
            <a:noFill/>
          </a:ln>
        </p:spPr>
        <p:txBody>
          <a:bodyPr anchorCtr="0" anchor="t" bIns="0" lIns="0" spcFirstLastPara="1" rIns="0" wrap="square" tIns="0">
            <a:normAutofit/>
          </a:bodyPr>
          <a:lstStyle/>
          <a:p>
            <a:pPr indent="0" lvl="0" marL="114300" rtl="0" algn="just">
              <a:lnSpc>
                <a:spcPct val="90000"/>
              </a:lnSpc>
              <a:spcBef>
                <a:spcPts val="1000"/>
              </a:spcBef>
              <a:spcAft>
                <a:spcPts val="0"/>
              </a:spcAft>
              <a:buSzPts val="1800"/>
              <a:buNone/>
            </a:pPr>
            <a:r>
              <a:rPr lang="en-US" sz="2000">
                <a:latin typeface="Times New Roman"/>
                <a:ea typeface="Times New Roman"/>
                <a:cs typeface="Times New Roman"/>
                <a:sym typeface="Times New Roman"/>
              </a:rPr>
              <a:t>Object-oriented (OO) software estimation involves </a:t>
            </a:r>
            <a:r>
              <a:rPr b="1" lang="en-US" sz="2000">
                <a:latin typeface="Times New Roman"/>
                <a:ea typeface="Times New Roman"/>
                <a:cs typeface="Times New Roman"/>
                <a:sym typeface="Times New Roman"/>
              </a:rPr>
              <a:t>additional complexity due to the modular and reusable nature of objects. </a:t>
            </a:r>
            <a:r>
              <a:rPr lang="en-US" sz="2000">
                <a:latin typeface="Times New Roman"/>
                <a:ea typeface="Times New Roman"/>
                <a:cs typeface="Times New Roman"/>
                <a:sym typeface="Times New Roman"/>
              </a:rPr>
              <a:t>Standard estimation methods include:</a:t>
            </a:r>
            <a:endParaRPr/>
          </a:p>
          <a:p>
            <a:pPr indent="0" lvl="0" marL="114300" rtl="0" algn="just">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just">
              <a:lnSpc>
                <a:spcPct val="90000"/>
              </a:lnSpc>
              <a:spcBef>
                <a:spcPts val="1000"/>
              </a:spcBef>
              <a:spcAft>
                <a:spcPts val="0"/>
              </a:spcAft>
              <a:buSzPts val="1800"/>
              <a:buNone/>
            </a:pPr>
            <a:r>
              <a:rPr lang="en-US" sz="2000">
                <a:latin typeface="Times New Roman"/>
                <a:ea typeface="Times New Roman"/>
                <a:cs typeface="Times New Roman"/>
                <a:sym typeface="Times New Roman"/>
              </a:rPr>
              <a:t>Approaches:</a:t>
            </a:r>
            <a:endParaRPr/>
          </a:p>
          <a:p>
            <a:pPr indent="-342900" lvl="0" marL="457200" rtl="0" algn="just">
              <a:lnSpc>
                <a:spcPct val="90000"/>
              </a:lnSpc>
              <a:spcBef>
                <a:spcPts val="1000"/>
              </a:spcBef>
              <a:spcAft>
                <a:spcPts val="0"/>
              </a:spcAft>
              <a:buSzPts val="1800"/>
              <a:buChar char="•"/>
            </a:pPr>
            <a:r>
              <a:rPr b="1" lang="en-US" sz="2000">
                <a:latin typeface="Times New Roman"/>
                <a:ea typeface="Times New Roman"/>
                <a:cs typeface="Times New Roman"/>
                <a:sym typeface="Times New Roman"/>
              </a:rPr>
              <a:t>Object Points</a:t>
            </a:r>
            <a:r>
              <a:rPr lang="en-US" sz="2000">
                <a:latin typeface="Times New Roman"/>
                <a:ea typeface="Times New Roman"/>
                <a:cs typeface="Times New Roman"/>
                <a:sym typeface="Times New Roman"/>
              </a:rPr>
              <a:t> – Counts screens, reports, and third-party components.</a:t>
            </a:r>
            <a:endParaRPr/>
          </a:p>
          <a:p>
            <a:pPr indent="-342900" lvl="0" marL="457200" rtl="0" algn="just">
              <a:lnSpc>
                <a:spcPct val="90000"/>
              </a:lnSpc>
              <a:spcBef>
                <a:spcPts val="1000"/>
              </a:spcBef>
              <a:spcAft>
                <a:spcPts val="0"/>
              </a:spcAft>
              <a:buSzPts val="1800"/>
              <a:buChar char="•"/>
            </a:pPr>
            <a:r>
              <a:rPr b="1" lang="en-US" sz="2000">
                <a:latin typeface="Times New Roman"/>
                <a:ea typeface="Times New Roman"/>
                <a:cs typeface="Times New Roman"/>
                <a:sym typeface="Times New Roman"/>
              </a:rPr>
              <a:t>Use Case Points (UCP)</a:t>
            </a:r>
            <a:r>
              <a:rPr lang="en-US" sz="2000">
                <a:latin typeface="Times New Roman"/>
                <a:ea typeface="Times New Roman"/>
                <a:cs typeface="Times New Roman"/>
                <a:sym typeface="Times New Roman"/>
              </a:rPr>
              <a:t> – Estimates based on the complexity and number of use cases.</a:t>
            </a:r>
            <a:endParaRPr/>
          </a:p>
          <a:p>
            <a:pPr indent="-342900" lvl="0" marL="457200" rtl="0" algn="just">
              <a:lnSpc>
                <a:spcPct val="90000"/>
              </a:lnSpc>
              <a:spcBef>
                <a:spcPts val="1000"/>
              </a:spcBef>
              <a:spcAft>
                <a:spcPts val="0"/>
              </a:spcAft>
              <a:buSzPts val="1800"/>
              <a:buChar char="•"/>
            </a:pPr>
            <a:r>
              <a:rPr b="1" lang="en-US" sz="2000">
                <a:latin typeface="Times New Roman"/>
                <a:ea typeface="Times New Roman"/>
                <a:cs typeface="Times New Roman"/>
                <a:sym typeface="Times New Roman"/>
              </a:rPr>
              <a:t>Class Point</a:t>
            </a:r>
            <a:r>
              <a:rPr lang="en-US" sz="2000">
                <a:latin typeface="Times New Roman"/>
                <a:ea typeface="Times New Roman"/>
                <a:cs typeface="Times New Roman"/>
                <a:sym typeface="Times New Roman"/>
              </a:rPr>
              <a:t> – Estimates based on the number of classes and their complexity.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352540" y="0"/>
            <a:ext cx="513350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Object Points</a:t>
            </a:r>
            <a:endParaRPr b="1"/>
          </a:p>
        </p:txBody>
      </p:sp>
      <p:sp>
        <p:nvSpPr>
          <p:cNvPr id="231" name="Google Shape;231;p22"/>
          <p:cNvSpPr txBox="1"/>
          <p:nvPr>
            <p:ph idx="1" type="body"/>
          </p:nvPr>
        </p:nvSpPr>
        <p:spPr>
          <a:xfrm>
            <a:off x="457200" y="1604520"/>
            <a:ext cx="8229240" cy="3977280"/>
          </a:xfrm>
          <a:prstGeom prst="rect">
            <a:avLst/>
          </a:prstGeom>
          <a:noFill/>
          <a:ln>
            <a:noFill/>
          </a:ln>
        </p:spPr>
        <p:txBody>
          <a:bodyPr anchorCtr="0" anchor="t" bIns="0" lIns="0" spcFirstLastPara="1" rIns="0" wrap="square" tIns="0">
            <a:noAutofit/>
          </a:bodyPr>
          <a:lstStyle/>
          <a:p>
            <a:pPr indent="0" lvl="0" marL="114300" rtl="0" algn="l">
              <a:lnSpc>
                <a:spcPct val="90000"/>
              </a:lnSpc>
              <a:spcBef>
                <a:spcPts val="1000"/>
              </a:spcBef>
              <a:spcAft>
                <a:spcPts val="0"/>
              </a:spcAft>
              <a:buSzPts val="1800"/>
              <a:buNone/>
            </a:pPr>
            <a:r>
              <a:rPr b="1" lang="en-US" sz="1800">
                <a:latin typeface="Times New Roman"/>
                <a:ea typeface="Times New Roman"/>
                <a:cs typeface="Times New Roman"/>
                <a:sym typeface="Times New Roman"/>
              </a:rPr>
              <a:t>Object Points</a:t>
            </a:r>
            <a:r>
              <a:rPr lang="en-US" sz="1800">
                <a:latin typeface="Times New Roman"/>
                <a:ea typeface="Times New Roman"/>
                <a:cs typeface="Times New Roman"/>
                <a:sym typeface="Times New Roman"/>
              </a:rPr>
              <a:t> are a </a:t>
            </a:r>
            <a:r>
              <a:rPr b="1" lang="en-US" sz="1800">
                <a:latin typeface="Times New Roman"/>
                <a:ea typeface="Times New Roman"/>
                <a:cs typeface="Times New Roman"/>
                <a:sym typeface="Times New Roman"/>
              </a:rPr>
              <a:t>size metric</a:t>
            </a:r>
            <a:r>
              <a:rPr lang="en-US" sz="1800">
                <a:latin typeface="Times New Roman"/>
                <a:ea typeface="Times New Roman"/>
                <a:cs typeface="Times New Roman"/>
                <a:sym typeface="Times New Roman"/>
              </a:rPr>
              <a:t> used for early estimation of projects, especially </a:t>
            </a:r>
            <a:r>
              <a:rPr b="1" lang="en-US" sz="1800">
                <a:latin typeface="Times New Roman"/>
                <a:ea typeface="Times New Roman"/>
                <a:cs typeface="Times New Roman"/>
                <a:sym typeface="Times New Roman"/>
              </a:rPr>
              <a:t>GUI</a:t>
            </a:r>
            <a:r>
              <a:rPr lang="en-US" sz="1800">
                <a:latin typeface="Times New Roman"/>
                <a:ea typeface="Times New Roman"/>
                <a:cs typeface="Times New Roman"/>
                <a:sym typeface="Times New Roman"/>
              </a:rPr>
              <a:t> and </a:t>
            </a:r>
            <a:r>
              <a:rPr b="1" lang="en-US" sz="1800">
                <a:latin typeface="Times New Roman"/>
                <a:ea typeface="Times New Roman"/>
                <a:cs typeface="Times New Roman"/>
                <a:sym typeface="Times New Roman"/>
              </a:rPr>
              <a:t>event-driven</a:t>
            </a:r>
            <a:r>
              <a:rPr lang="en-US" sz="1800">
                <a:latin typeface="Times New Roman"/>
                <a:ea typeface="Times New Roman"/>
                <a:cs typeface="Times New Roman"/>
                <a:sym typeface="Times New Roman"/>
              </a:rPr>
              <a:t> applications.</a:t>
            </a:r>
            <a:endParaRPr/>
          </a:p>
          <a:p>
            <a:pPr indent="0" lvl="0" marL="114300" rtl="0" algn="l">
              <a:lnSpc>
                <a:spcPct val="90000"/>
              </a:lnSpc>
              <a:spcBef>
                <a:spcPts val="1000"/>
              </a:spcBef>
              <a:spcAft>
                <a:spcPts val="0"/>
              </a:spcAft>
              <a:buSzPts val="1800"/>
              <a:buNone/>
            </a:pPr>
            <a:r>
              <a:rPr b="1" lang="en-US" sz="1800">
                <a:latin typeface="Times New Roman"/>
                <a:ea typeface="Times New Roman"/>
                <a:cs typeface="Times New Roman"/>
                <a:sym typeface="Times New Roman"/>
              </a:rPr>
              <a:t>What you count:</a:t>
            </a:r>
            <a:endParaRPr sz="18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Char char="•"/>
            </a:pPr>
            <a:r>
              <a:rPr b="1" lang="en-US" sz="1600">
                <a:latin typeface="Times New Roman"/>
                <a:ea typeface="Times New Roman"/>
                <a:cs typeface="Times New Roman"/>
                <a:sym typeface="Times New Roman"/>
              </a:rPr>
              <a:t>Screens</a:t>
            </a:r>
            <a:r>
              <a:rPr lang="en-US" sz="1600">
                <a:latin typeface="Times New Roman"/>
                <a:ea typeface="Times New Roman"/>
                <a:cs typeface="Times New Roman"/>
                <a:sym typeface="Times New Roman"/>
              </a:rPr>
              <a:t> (user interfaces)</a:t>
            </a:r>
            <a:endParaRPr/>
          </a:p>
          <a:p>
            <a:pPr indent="-342900" lvl="1" marL="914400" rtl="0" algn="l">
              <a:lnSpc>
                <a:spcPct val="90000"/>
              </a:lnSpc>
              <a:spcBef>
                <a:spcPts val="500"/>
              </a:spcBef>
              <a:spcAft>
                <a:spcPts val="0"/>
              </a:spcAft>
              <a:buSzPts val="1800"/>
              <a:buChar char="•"/>
            </a:pPr>
            <a:r>
              <a:rPr b="1" lang="en-US" sz="1600">
                <a:latin typeface="Times New Roman"/>
                <a:ea typeface="Times New Roman"/>
                <a:cs typeface="Times New Roman"/>
                <a:sym typeface="Times New Roman"/>
              </a:rPr>
              <a:t>Reports</a:t>
            </a:r>
            <a:r>
              <a:rPr lang="en-US" sz="1600">
                <a:latin typeface="Times New Roman"/>
                <a:ea typeface="Times New Roman"/>
                <a:cs typeface="Times New Roman"/>
                <a:sym typeface="Times New Roman"/>
              </a:rPr>
              <a:t> (output documents)</a:t>
            </a:r>
            <a:endParaRPr/>
          </a:p>
          <a:p>
            <a:pPr indent="-342900" lvl="1" marL="914400" rtl="0" algn="l">
              <a:lnSpc>
                <a:spcPct val="90000"/>
              </a:lnSpc>
              <a:spcBef>
                <a:spcPts val="500"/>
              </a:spcBef>
              <a:spcAft>
                <a:spcPts val="0"/>
              </a:spcAft>
              <a:buSzPts val="1800"/>
              <a:buChar char="•"/>
            </a:pPr>
            <a:r>
              <a:rPr b="1" lang="en-US" sz="1600">
                <a:latin typeface="Times New Roman"/>
                <a:ea typeface="Times New Roman"/>
                <a:cs typeface="Times New Roman"/>
                <a:sym typeface="Times New Roman"/>
              </a:rPr>
              <a:t>3rd-party components</a:t>
            </a:r>
            <a:r>
              <a:rPr lang="en-US" sz="1600">
                <a:latin typeface="Times New Roman"/>
                <a:ea typeface="Times New Roman"/>
                <a:cs typeface="Times New Roman"/>
                <a:sym typeface="Times New Roman"/>
              </a:rPr>
              <a:t> (reusable modules)</a:t>
            </a:r>
            <a:endParaRPr/>
          </a:p>
          <a:p>
            <a:pPr indent="0" lvl="0" marL="114300" rtl="0" algn="l">
              <a:lnSpc>
                <a:spcPct val="90000"/>
              </a:lnSpc>
              <a:spcBef>
                <a:spcPts val="1000"/>
              </a:spcBef>
              <a:spcAft>
                <a:spcPts val="0"/>
              </a:spcAft>
              <a:buSzPts val="1800"/>
              <a:buNone/>
            </a:pPr>
            <a:r>
              <a:rPr b="1" lang="en-US" sz="1800">
                <a:latin typeface="Times New Roman"/>
                <a:ea typeface="Times New Roman"/>
                <a:cs typeface="Times New Roman"/>
                <a:sym typeface="Times New Roman"/>
              </a:rPr>
              <a:t>Steps:</a:t>
            </a:r>
            <a:endParaRPr sz="18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Count the number of </a:t>
            </a:r>
            <a:r>
              <a:rPr b="1" lang="en-US" sz="1800">
                <a:latin typeface="Times New Roman"/>
                <a:ea typeface="Times New Roman"/>
                <a:cs typeface="Times New Roman"/>
                <a:sym typeface="Times New Roman"/>
              </a:rPr>
              <a:t>screens</a:t>
            </a: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reports</a:t>
            </a:r>
            <a:r>
              <a:rPr lang="en-US" sz="1800">
                <a:latin typeface="Times New Roman"/>
                <a:ea typeface="Times New Roman"/>
                <a:cs typeface="Times New Roman"/>
                <a:sym typeface="Times New Roman"/>
              </a:rPr>
              <a:t>, and </a:t>
            </a:r>
            <a:r>
              <a:rPr b="1" lang="en-US" sz="1800">
                <a:latin typeface="Times New Roman"/>
                <a:ea typeface="Times New Roman"/>
                <a:cs typeface="Times New Roman"/>
                <a:sym typeface="Times New Roman"/>
              </a:rPr>
              <a:t>components</a:t>
            </a:r>
            <a:r>
              <a:rPr lang="en-US" sz="1800">
                <a:latin typeface="Times New Roman"/>
                <a:ea typeface="Times New Roman"/>
                <a:cs typeface="Times New Roman"/>
                <a:sym typeface="Times New Roman"/>
              </a:rPr>
              <a:t>.</a:t>
            </a:r>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Classify each one as:</a:t>
            </a:r>
            <a:endParaRPr/>
          </a:p>
          <a:p>
            <a:pPr indent="-342900" lvl="1" marL="914400" rtl="0" algn="l">
              <a:lnSpc>
                <a:spcPct val="90000"/>
              </a:lnSpc>
              <a:spcBef>
                <a:spcPts val="500"/>
              </a:spcBef>
              <a:spcAft>
                <a:spcPts val="0"/>
              </a:spcAft>
              <a:buSzPts val="1800"/>
              <a:buChar char="•"/>
            </a:pPr>
            <a:r>
              <a:rPr b="1" lang="en-US" sz="1800">
                <a:latin typeface="Times New Roman"/>
                <a:ea typeface="Times New Roman"/>
                <a:cs typeface="Times New Roman"/>
                <a:sym typeface="Times New Roman"/>
              </a:rPr>
              <a:t>Simple</a:t>
            </a: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Medium</a:t>
            </a:r>
            <a:r>
              <a:rPr lang="en-US" sz="1800">
                <a:latin typeface="Times New Roman"/>
                <a:ea typeface="Times New Roman"/>
                <a:cs typeface="Times New Roman"/>
                <a:sym typeface="Times New Roman"/>
              </a:rPr>
              <a:t>, or </a:t>
            </a:r>
            <a:r>
              <a:rPr b="1" lang="en-US" sz="1800">
                <a:latin typeface="Times New Roman"/>
                <a:ea typeface="Times New Roman"/>
                <a:cs typeface="Times New Roman"/>
                <a:sym typeface="Times New Roman"/>
              </a:rPr>
              <a:t>Complex</a:t>
            </a:r>
            <a:r>
              <a:rPr lang="en-US" sz="1800">
                <a:latin typeface="Times New Roman"/>
                <a:ea typeface="Times New Roman"/>
                <a:cs typeface="Times New Roman"/>
                <a:sym typeface="Times New Roman"/>
              </a:rPr>
              <a:t> based on the number of fields, buttons, links, etc.</a:t>
            </a:r>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Assign a </a:t>
            </a:r>
            <a:r>
              <a:rPr b="1" lang="en-US" sz="1800">
                <a:latin typeface="Times New Roman"/>
                <a:ea typeface="Times New Roman"/>
                <a:cs typeface="Times New Roman"/>
                <a:sym typeface="Times New Roman"/>
              </a:rPr>
              <a:t>weight</a:t>
            </a:r>
            <a:r>
              <a:rPr lang="en-US" sz="1800">
                <a:latin typeface="Times New Roman"/>
                <a:ea typeface="Times New Roman"/>
                <a:cs typeface="Times New Roman"/>
                <a:sym typeface="Times New Roman"/>
              </a:rPr>
              <a:t> (points) for each type and complexity.</a:t>
            </a:r>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Adjust the total for </a:t>
            </a:r>
            <a:r>
              <a:rPr b="1" lang="en-US" sz="1800">
                <a:latin typeface="Times New Roman"/>
                <a:ea typeface="Times New Roman"/>
                <a:cs typeface="Times New Roman"/>
                <a:sym typeface="Times New Roman"/>
              </a:rPr>
              <a:t>reuse</a:t>
            </a:r>
            <a:r>
              <a:rPr lang="en-US" sz="1800">
                <a:latin typeface="Times New Roman"/>
                <a:ea typeface="Times New Roman"/>
                <a:cs typeface="Times New Roman"/>
                <a:sym typeface="Times New Roman"/>
              </a:rPr>
              <a:t> (if reusing existing components).</a:t>
            </a:r>
            <a:endParaRPr/>
          </a:p>
          <a:p>
            <a:pPr indent="-228600" lvl="0" marL="4572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232" name="Google Shape;232;p22"/>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Computer Networks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Use Case Point Estimation</a:t>
            </a:r>
            <a:endParaRPr/>
          </a:p>
        </p:txBody>
      </p:sp>
      <p:sp>
        <p:nvSpPr>
          <p:cNvPr id="238" name="Google Shape;238;p23"/>
          <p:cNvSpPr txBox="1"/>
          <p:nvPr>
            <p:ph idx="1" type="body"/>
          </p:nvPr>
        </p:nvSpPr>
        <p:spPr>
          <a:xfrm>
            <a:off x="457200" y="1137920"/>
            <a:ext cx="8229240" cy="5293360"/>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Unadjusted Use Case Weight (UUCW)</a:t>
            </a:r>
            <a:r>
              <a:rPr lang="en-US" sz="1800">
                <a:latin typeface="Times New Roman"/>
                <a:ea typeface="Times New Roman"/>
                <a:cs typeface="Times New Roman"/>
                <a:sym typeface="Times New Roman"/>
              </a:rPr>
              <a:t>: Sum of the complexity weights for all use cases.</a:t>
            </a:r>
            <a:endParaRPr/>
          </a:p>
          <a:p>
            <a:pPr indent="-342900" lvl="0" marL="45720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Unadjusted Actor Weight (UAW)</a:t>
            </a:r>
            <a:r>
              <a:rPr lang="en-US" sz="1800">
                <a:latin typeface="Times New Roman"/>
                <a:ea typeface="Times New Roman"/>
                <a:cs typeface="Times New Roman"/>
                <a:sym typeface="Times New Roman"/>
              </a:rPr>
              <a:t>: Sum of actor complexity weights.</a:t>
            </a:r>
            <a:endParaRPr/>
          </a:p>
          <a:p>
            <a:pPr indent="-342900" lvl="0" marL="45720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Technical Complexity Factor (TCF)</a:t>
            </a:r>
            <a:r>
              <a:rPr lang="en-US" sz="1800">
                <a:latin typeface="Times New Roman"/>
                <a:ea typeface="Times New Roman"/>
                <a:cs typeface="Times New Roman"/>
                <a:sym typeface="Times New Roman"/>
              </a:rPr>
              <a:t>: Adjusts effort based on technical challenges.</a:t>
            </a:r>
            <a:endParaRPr/>
          </a:p>
          <a:p>
            <a:pPr indent="-342900" lvl="0" marL="45720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Environmental Factor (EF)</a:t>
            </a:r>
            <a:r>
              <a:rPr lang="en-US" sz="1800">
                <a:latin typeface="Times New Roman"/>
                <a:ea typeface="Times New Roman"/>
                <a:cs typeface="Times New Roman"/>
                <a:sym typeface="Times New Roman"/>
              </a:rPr>
              <a:t>: Considers team skills and tools.</a:t>
            </a:r>
            <a:endParaRPr/>
          </a:p>
          <a:p>
            <a:pPr indent="0" lvl="0" marL="114300" rtl="0" algn="l">
              <a:lnSpc>
                <a:spcPct val="90000"/>
              </a:lnSpc>
              <a:spcBef>
                <a:spcPts val="1000"/>
              </a:spcBef>
              <a:spcAft>
                <a:spcPts val="0"/>
              </a:spcAft>
              <a:buSzPts val="1800"/>
              <a:buNone/>
            </a:pPr>
            <a:r>
              <a:t/>
            </a:r>
            <a:endParaRPr sz="18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1800">
                <a:latin typeface="Times New Roman"/>
                <a:ea typeface="Times New Roman"/>
                <a:cs typeface="Times New Roman"/>
                <a:sym typeface="Times New Roman"/>
              </a:rPr>
              <a:t>Effort Calculation Formula:</a:t>
            </a:r>
            <a:endParaRPr/>
          </a:p>
          <a:p>
            <a:pPr indent="0" lvl="0" marL="114300" rtl="0" algn="l">
              <a:lnSpc>
                <a:spcPct val="90000"/>
              </a:lnSpc>
              <a:spcBef>
                <a:spcPts val="1000"/>
              </a:spcBef>
              <a:spcAft>
                <a:spcPts val="0"/>
              </a:spcAft>
              <a:buSzPts val="1800"/>
              <a:buNone/>
            </a:pPr>
            <a:r>
              <a:rPr b="1" lang="en-US" sz="1800">
                <a:latin typeface="Times New Roman"/>
                <a:ea typeface="Times New Roman"/>
                <a:cs typeface="Times New Roman"/>
                <a:sym typeface="Times New Roman"/>
              </a:rPr>
              <a:t>                                        Effort (PM) = (UUCW + UAW) × TCF × EF</a:t>
            </a:r>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Components:</a:t>
            </a:r>
            <a:endParaRPr/>
          </a:p>
          <a:p>
            <a:pPr indent="-173037" lvl="0" marL="630238" rtl="0" algn="l">
              <a:lnSpc>
                <a:spcPct val="90000"/>
              </a:lnSpc>
              <a:spcBef>
                <a:spcPts val="1000"/>
              </a:spcBef>
              <a:spcAft>
                <a:spcPts val="0"/>
              </a:spcAft>
              <a:buSzPts val="1800"/>
              <a:buChar char="•"/>
            </a:pPr>
            <a:r>
              <a:rPr lang="en-US" sz="1800">
                <a:latin typeface="Times New Roman"/>
                <a:ea typeface="Times New Roman"/>
                <a:cs typeface="Times New Roman"/>
                <a:sym typeface="Times New Roman"/>
              </a:rPr>
              <a:t>UUCW: Unadjusted Use Case Weight</a:t>
            </a:r>
            <a:endParaRPr/>
          </a:p>
          <a:p>
            <a:pPr indent="-173037" lvl="0" marL="630238" rtl="0" algn="l">
              <a:lnSpc>
                <a:spcPct val="90000"/>
              </a:lnSpc>
              <a:spcBef>
                <a:spcPts val="1000"/>
              </a:spcBef>
              <a:spcAft>
                <a:spcPts val="0"/>
              </a:spcAft>
              <a:buSzPts val="1800"/>
              <a:buChar char="•"/>
            </a:pPr>
            <a:r>
              <a:rPr lang="en-US" sz="1800">
                <a:latin typeface="Times New Roman"/>
                <a:ea typeface="Times New Roman"/>
                <a:cs typeface="Times New Roman"/>
                <a:sym typeface="Times New Roman"/>
              </a:rPr>
              <a:t>UAW: Unadjusted Actor Weight</a:t>
            </a:r>
            <a:endParaRPr/>
          </a:p>
          <a:p>
            <a:pPr indent="-173037" lvl="0" marL="630238" rtl="0" algn="l">
              <a:lnSpc>
                <a:spcPct val="90000"/>
              </a:lnSpc>
              <a:spcBef>
                <a:spcPts val="1000"/>
              </a:spcBef>
              <a:spcAft>
                <a:spcPts val="0"/>
              </a:spcAft>
              <a:buSzPts val="1800"/>
              <a:buChar char="•"/>
            </a:pPr>
            <a:r>
              <a:rPr lang="en-US" sz="1800">
                <a:latin typeface="Times New Roman"/>
                <a:ea typeface="Times New Roman"/>
                <a:cs typeface="Times New Roman"/>
                <a:sym typeface="Times New Roman"/>
              </a:rPr>
              <a:t>TCF: Technical Complexity Factor</a:t>
            </a:r>
            <a:endParaRPr/>
          </a:p>
          <a:p>
            <a:pPr indent="-173037" lvl="0" marL="630238" rtl="0" algn="l">
              <a:lnSpc>
                <a:spcPct val="90000"/>
              </a:lnSpc>
              <a:spcBef>
                <a:spcPts val="1000"/>
              </a:spcBef>
              <a:spcAft>
                <a:spcPts val="0"/>
              </a:spcAft>
              <a:buSzPts val="1800"/>
              <a:buChar char="•"/>
            </a:pPr>
            <a:r>
              <a:rPr lang="en-US" sz="1800">
                <a:latin typeface="Times New Roman"/>
                <a:ea typeface="Times New Roman"/>
                <a:cs typeface="Times New Roman"/>
                <a:sym typeface="Times New Roman"/>
              </a:rPr>
              <a:t>EF: Environmental Factor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Class Point Estimation</a:t>
            </a:r>
            <a:endParaRPr/>
          </a:p>
        </p:txBody>
      </p:sp>
      <p:sp>
        <p:nvSpPr>
          <p:cNvPr id="244" name="Google Shape;244;p24"/>
          <p:cNvSpPr txBox="1"/>
          <p:nvPr>
            <p:ph idx="1" type="body"/>
          </p:nvPr>
        </p:nvSpPr>
        <p:spPr>
          <a:xfrm>
            <a:off x="314960" y="1259079"/>
            <a:ext cx="8229240" cy="5184583"/>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Class Points estimate size </a:t>
            </a:r>
            <a:r>
              <a:rPr b="1" lang="en-US" sz="2000">
                <a:latin typeface="Times New Roman"/>
                <a:ea typeface="Times New Roman"/>
                <a:cs typeface="Times New Roman"/>
                <a:sym typeface="Times New Roman"/>
              </a:rPr>
              <a:t>based on class diagrams </a:t>
            </a:r>
            <a:r>
              <a:rPr lang="en-US" sz="2000">
                <a:latin typeface="Times New Roman"/>
                <a:ea typeface="Times New Roman"/>
                <a:cs typeface="Times New Roman"/>
                <a:sym typeface="Times New Roman"/>
              </a:rPr>
              <a:t>— it’s a bit more detailed than Object Points.</a:t>
            </a:r>
            <a:endParaRPr/>
          </a:p>
          <a:p>
            <a:pPr indent="-342900" lvl="0" marL="457200" rtl="0" algn="l">
              <a:lnSpc>
                <a:spcPct val="90000"/>
              </a:lnSpc>
              <a:spcBef>
                <a:spcPts val="1000"/>
              </a:spcBef>
              <a:spcAft>
                <a:spcPts val="0"/>
              </a:spcAft>
              <a:buClr>
                <a:schemeClr val="dk1"/>
              </a:buClr>
              <a:buSzPts val="1800"/>
              <a:buChar char="•"/>
            </a:pPr>
            <a:r>
              <a:rPr b="1" lang="en-US" sz="2000">
                <a:latin typeface="Times New Roman"/>
                <a:ea typeface="Times New Roman"/>
                <a:cs typeface="Times New Roman"/>
                <a:sym typeface="Times New Roman"/>
              </a:rPr>
              <a:t>What you count:</a:t>
            </a:r>
            <a:endParaRPr sz="20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Char char="•"/>
            </a:pPr>
            <a:r>
              <a:rPr b="1" lang="en-US" sz="1800">
                <a:latin typeface="Times New Roman"/>
                <a:ea typeface="Times New Roman"/>
                <a:cs typeface="Times New Roman"/>
                <a:sym typeface="Times New Roman"/>
              </a:rPr>
              <a:t>Classes</a:t>
            </a:r>
            <a:r>
              <a:rPr lang="en-US" sz="1800">
                <a:latin typeface="Times New Roman"/>
                <a:ea typeface="Times New Roman"/>
                <a:cs typeface="Times New Roman"/>
                <a:sym typeface="Times New Roman"/>
              </a:rPr>
              <a:t>: each class in your UML diagrams.</a:t>
            </a:r>
            <a:endParaRPr/>
          </a:p>
          <a:p>
            <a:pPr indent="-342900" lvl="1" marL="914400" rtl="0" algn="l">
              <a:lnSpc>
                <a:spcPct val="90000"/>
              </a:lnSpc>
              <a:spcBef>
                <a:spcPts val="500"/>
              </a:spcBef>
              <a:spcAft>
                <a:spcPts val="0"/>
              </a:spcAft>
              <a:buSzPts val="1800"/>
              <a:buChar char="•"/>
            </a:pPr>
            <a:r>
              <a:rPr b="1" lang="en-US" sz="1800">
                <a:latin typeface="Times New Roman"/>
                <a:ea typeface="Times New Roman"/>
                <a:cs typeface="Times New Roman"/>
                <a:sym typeface="Times New Roman"/>
              </a:rPr>
              <a:t>Attributes</a:t>
            </a:r>
            <a:r>
              <a:rPr lang="en-US" sz="1800">
                <a:latin typeface="Times New Roman"/>
                <a:ea typeface="Times New Roman"/>
                <a:cs typeface="Times New Roman"/>
                <a:sym typeface="Times New Roman"/>
              </a:rPr>
              <a:t> and </a:t>
            </a:r>
            <a:r>
              <a:rPr b="1" lang="en-US" sz="1800">
                <a:latin typeface="Times New Roman"/>
                <a:ea typeface="Times New Roman"/>
                <a:cs typeface="Times New Roman"/>
                <a:sym typeface="Times New Roman"/>
              </a:rPr>
              <a:t>Methods</a:t>
            </a:r>
            <a:r>
              <a:rPr lang="en-US" sz="1800">
                <a:latin typeface="Times New Roman"/>
                <a:ea typeface="Times New Roman"/>
                <a:cs typeface="Times New Roman"/>
                <a:sym typeface="Times New Roman"/>
              </a:rPr>
              <a:t> inside classes.</a:t>
            </a:r>
            <a:endParaRPr sz="20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Class Complexity: Simple, Medium, Complex</a:t>
            </a:r>
            <a:endParaRPr/>
          </a:p>
          <a:p>
            <a:pPr indent="-342900" lvl="0" marL="457200" rtl="0" algn="l">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Weight Assignment: Apply effort weights</a:t>
            </a:r>
            <a:endParaRPr/>
          </a:p>
          <a:p>
            <a:pPr indent="-342900" lvl="0" marL="457200" rtl="0" algn="l">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Effort Calculation: Sum of class weights adjusted by complexity factors</a:t>
            </a:r>
            <a:endParaRPr/>
          </a:p>
        </p:txBody>
      </p:sp>
      <p:sp>
        <p:nvSpPr>
          <p:cNvPr id="245" name="Google Shape;245;p24"/>
          <p:cNvSpPr/>
          <p:nvPr/>
        </p:nvSpPr>
        <p:spPr>
          <a:xfrm>
            <a:off x="414973" y="4376433"/>
            <a:ext cx="8412480"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Challenges in OO Estimation</a:t>
            </a:r>
            <a:endParaRPr/>
          </a:p>
          <a:p>
            <a:pPr indent="0" lvl="0" marL="0" marR="0" rtl="0" algn="just">
              <a:lnSpc>
                <a:spcPct val="100000"/>
              </a:lnSpc>
              <a:spcBef>
                <a:spcPts val="0"/>
              </a:spcBef>
              <a:spcAft>
                <a:spcPts val="0"/>
              </a:spcAft>
              <a:buNone/>
            </a:pPr>
            <a:r>
              <a:t/>
            </a:r>
            <a:endParaRPr b="1" i="0" sz="2000" u="none"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Inheritance &amp; Reusability</a:t>
            </a:r>
            <a:r>
              <a:rPr b="0" i="0" lang="en-US" sz="2000" u="none" cap="none" strike="noStrike">
                <a:solidFill>
                  <a:srgbClr val="000000"/>
                </a:solidFill>
                <a:latin typeface="Times New Roman"/>
                <a:ea typeface="Times New Roman"/>
                <a:cs typeface="Times New Roman"/>
                <a:sym typeface="Times New Roman"/>
              </a:rPr>
              <a:t> – Difficult to quantify reusable components.</a:t>
            </a:r>
            <a:endParaRPr/>
          </a:p>
          <a:p>
            <a:pPr indent="-342900" lvl="0" marL="342900" marR="0" rtl="0" algn="just">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Dynamic Behavior</a:t>
            </a:r>
            <a:r>
              <a:rPr b="0" i="0" lang="en-US" sz="2000" u="none" cap="none" strike="noStrike">
                <a:solidFill>
                  <a:srgbClr val="000000"/>
                </a:solidFill>
                <a:latin typeface="Times New Roman"/>
                <a:ea typeface="Times New Roman"/>
                <a:cs typeface="Times New Roman"/>
                <a:sym typeface="Times New Roman"/>
              </a:rPr>
              <a:t> – Hard to capture due to polymorphism and dynamic binding.</a:t>
            </a:r>
            <a:endParaRPr/>
          </a:p>
          <a:p>
            <a:pPr indent="-342900" lvl="0" marL="342900" marR="0" rtl="0" algn="just">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Component Interaction</a:t>
            </a:r>
            <a:r>
              <a:rPr b="0" i="0" lang="en-US" sz="2000" u="none" cap="none" strike="noStrike">
                <a:solidFill>
                  <a:srgbClr val="000000"/>
                </a:solidFill>
                <a:latin typeface="Times New Roman"/>
                <a:ea typeface="Times New Roman"/>
                <a:cs typeface="Times New Roman"/>
                <a:sym typeface="Times New Roman"/>
              </a:rPr>
              <a:t> – Increased complexity in estimating component dependencies.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ph type="title"/>
          </p:nvPr>
        </p:nvSpPr>
        <p:spPr>
          <a:xfrm>
            <a:off x="0" y="0"/>
            <a:ext cx="629920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Comparison</a:t>
            </a:r>
            <a:r>
              <a:rPr b="1" lang="en-US" sz="2400"/>
              <a:t>: COCOMO vs OO Estimation</a:t>
            </a:r>
            <a:endParaRPr/>
          </a:p>
        </p:txBody>
      </p:sp>
      <p:graphicFrame>
        <p:nvGraphicFramePr>
          <p:cNvPr id="251" name="Google Shape;251;p25"/>
          <p:cNvGraphicFramePr/>
          <p:nvPr/>
        </p:nvGraphicFramePr>
        <p:xfrm>
          <a:off x="650238" y="1422400"/>
          <a:ext cx="3000000" cy="3000000"/>
        </p:xfrm>
        <a:graphic>
          <a:graphicData uri="http://schemas.openxmlformats.org/drawingml/2006/table">
            <a:tbl>
              <a:tblPr bandRow="1" firstRow="1">
                <a:noFill/>
                <a:tableStyleId>{31292E2E-20E8-4A7D-92F8-3D3A8D68909F}</a:tableStyleId>
              </a:tblPr>
              <a:tblGrid>
                <a:gridCol w="2533225"/>
                <a:gridCol w="2533225"/>
                <a:gridCol w="2533225"/>
              </a:tblGrid>
              <a:tr h="789575">
                <a:tc>
                  <a:txBody>
                    <a:bodyPr/>
                    <a:lstStyle/>
                    <a:p>
                      <a:pPr indent="0" lvl="0" marL="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Feature</a:t>
                      </a:r>
                      <a:endParaRPr/>
                    </a:p>
                  </a:txBody>
                  <a:tcPr marT="45725" marB="45725" marR="91450" marL="91450" anchor="ctr"/>
                </a:tc>
                <a:tc>
                  <a:txBody>
                    <a:bodyPr/>
                    <a:lstStyle/>
                    <a:p>
                      <a:pPr indent="0" lvl="0" marL="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COCOMO Model</a:t>
                      </a:r>
                      <a:endParaRPr/>
                    </a:p>
                  </a:txBody>
                  <a:tcPr marT="45725" marB="45725" marR="91450" marL="91450" anchor="ctr"/>
                </a:tc>
                <a:tc>
                  <a:txBody>
                    <a:bodyPr/>
                    <a:lstStyle/>
                    <a:p>
                      <a:pPr indent="0" lvl="0" marL="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OO Estimation</a:t>
                      </a:r>
                      <a:endParaRPr/>
                    </a:p>
                  </a:txBody>
                  <a:tcPr marT="45725" marB="45725" marR="91450" marL="91450" anchor="ctr"/>
                </a:tc>
              </a:tr>
              <a:tr h="797400">
                <a:tc>
                  <a:txBody>
                    <a:bodyPr/>
                    <a:lstStyle/>
                    <a:p>
                      <a:pPr indent="0" lvl="0" marL="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Basis of Estimation</a:t>
                      </a:r>
                      <a:endParaRPr sz="16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Lines of Code (KLOC)</a:t>
                      </a:r>
                      <a:endParaRPr/>
                    </a:p>
                  </a:txBody>
                  <a:tcPr marT="45725" marB="45725" marR="91450" marL="91450" anchor="ctr"/>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Objects, Use Cases, Classes</a:t>
                      </a:r>
                      <a:endParaRPr/>
                    </a:p>
                  </a:txBody>
                  <a:tcPr marT="45725" marB="45725" marR="91450" marL="91450" anchor="ctr"/>
                </a:tc>
              </a:tr>
              <a:tr h="797400">
                <a:tc>
                  <a:txBody>
                    <a:bodyPr/>
                    <a:lstStyle/>
                    <a:p>
                      <a:pPr indent="0" lvl="0" marL="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Complexity Handling</a:t>
                      </a:r>
                      <a:endParaRPr sz="16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Cost</a:t>
                      </a:r>
                      <a:r>
                        <a:rPr lang="en-US" sz="1600" u="none" cap="none" strike="noStrike">
                          <a:latin typeface="Times New Roman"/>
                          <a:ea typeface="Times New Roman"/>
                          <a:cs typeface="Times New Roman"/>
                          <a:sym typeface="Times New Roman"/>
                        </a:rPr>
                        <a:t> Drivers</a:t>
                      </a:r>
                      <a:endParaRPr sz="16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Complexity factors (UCP, CP)</a:t>
                      </a:r>
                      <a:endParaRPr sz="1600" u="none" cap="none" strike="noStrike">
                        <a:latin typeface="Times New Roman"/>
                        <a:ea typeface="Times New Roman"/>
                        <a:cs typeface="Times New Roman"/>
                        <a:sym typeface="Times New Roman"/>
                      </a:endParaRPr>
                    </a:p>
                  </a:txBody>
                  <a:tcPr marT="45725" marB="45725" marR="91450" marL="91450" anchor="ctr"/>
                </a:tc>
              </a:tr>
              <a:tr h="797400">
                <a:tc>
                  <a:txBody>
                    <a:bodyPr/>
                    <a:lstStyle/>
                    <a:p>
                      <a:pPr indent="0" lvl="0" marL="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Flexibility</a:t>
                      </a:r>
                      <a:endParaRPr b="1" sz="16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Procedural systems </a:t>
                      </a:r>
                      <a:endParaRPr sz="16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Modern OO architectures</a:t>
                      </a:r>
                      <a:endParaRPr sz="1600" u="none" cap="none" strike="noStrike">
                        <a:latin typeface="Times New Roman"/>
                        <a:ea typeface="Times New Roman"/>
                        <a:cs typeface="Times New Roman"/>
                        <a:sym typeface="Times New Roman"/>
                      </a:endParaRPr>
                    </a:p>
                  </a:txBody>
                  <a:tcPr marT="45725" marB="45725" marR="91450" marL="91450"/>
                </a:tc>
              </a:tr>
              <a:tr h="435250">
                <a:tc>
                  <a:txBody>
                    <a:bodyPr/>
                    <a:lstStyle/>
                    <a:p>
                      <a:pPr indent="0" lvl="0" marL="0" marR="0" rtl="0" algn="l">
                        <a:lnSpc>
                          <a:spcPct val="100000"/>
                        </a:lnSpc>
                        <a:spcBef>
                          <a:spcPts val="0"/>
                        </a:spcBef>
                        <a:spcAft>
                          <a:spcPts val="0"/>
                        </a:spcAft>
                        <a:buNone/>
                      </a:pPr>
                      <a:r>
                        <a:rPr b="1" lang="en-US" sz="1600" u="none" cap="none" strike="noStrike">
                          <a:latin typeface="Times New Roman"/>
                          <a:ea typeface="Times New Roman"/>
                          <a:cs typeface="Times New Roman"/>
                          <a:sym typeface="Times New Roman"/>
                        </a:rPr>
                        <a:t>Accuracy</a:t>
                      </a:r>
                      <a:endParaRPr b="1" sz="16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Large systems </a:t>
                      </a:r>
                      <a:endParaRPr sz="16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Modular OO designs</a:t>
                      </a:r>
                      <a:endParaRPr sz="1600" u="none" cap="none" strike="noStrike">
                        <a:latin typeface="Times New Roman"/>
                        <a:ea typeface="Times New Roman"/>
                        <a:cs typeface="Times New Roman"/>
                        <a:sym typeface="Times New Roman"/>
                      </a:endParaRPr>
                    </a:p>
                  </a:txBody>
                  <a:tcPr marT="45725" marB="45725" marR="91450" marL="91450"/>
                </a:tc>
              </a:tr>
              <a:tr h="751800">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Evolution</a:t>
                      </a:r>
                      <a:endParaRPr b="1" sz="16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Advanced (COCOMO II) </a:t>
                      </a:r>
                      <a:endParaRPr sz="16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600" u="none" cap="none" strike="noStrike">
                          <a:latin typeface="Times New Roman"/>
                          <a:ea typeface="Times New Roman"/>
                          <a:cs typeface="Times New Roman"/>
                          <a:sym typeface="Times New Roman"/>
                        </a:rPr>
                        <a:t>Modern methods (Use Case Points)</a:t>
                      </a:r>
                      <a:endParaRPr sz="1600" u="none" cap="none" strike="noStrike">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Conclusion</a:t>
            </a:r>
            <a:endParaRPr/>
          </a:p>
        </p:txBody>
      </p:sp>
      <p:sp>
        <p:nvSpPr>
          <p:cNvPr id="257" name="Google Shape;257;p26"/>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COCOMO Model: Ideal for procedural systems using KLOC.</a:t>
            </a:r>
            <a:endParaRPr/>
          </a:p>
          <a:p>
            <a:pPr indent="-342900" lvl="0" marL="457200" rtl="0" algn="l">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OO Estimation: Better for object-oriented systems.</a:t>
            </a:r>
            <a:endParaRPr/>
          </a:p>
          <a:p>
            <a:pPr indent="-342900" lvl="0" marL="457200" rtl="0" algn="l">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Accurate estimation is crucial for project success.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96"/>
          <p:cNvSpPr txBox="1"/>
          <p:nvPr/>
        </p:nvSpPr>
        <p:spPr>
          <a:xfrm>
            <a:off x="147145" y="145656"/>
            <a:ext cx="654794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Practice Questions</a:t>
            </a:r>
            <a:endParaRPr b="1" i="0" sz="4000" u="none" cap="none" strike="noStrike">
              <a:solidFill>
                <a:schemeClr val="dk1"/>
              </a:solidFill>
              <a:latin typeface="Times New Roman"/>
              <a:ea typeface="Times New Roman"/>
              <a:cs typeface="Times New Roman"/>
              <a:sym typeface="Times New Roman"/>
            </a:endParaRPr>
          </a:p>
        </p:txBody>
      </p:sp>
      <p:graphicFrame>
        <p:nvGraphicFramePr>
          <p:cNvPr id="263" name="Google Shape;263;p96"/>
          <p:cNvGraphicFramePr/>
          <p:nvPr/>
        </p:nvGraphicFramePr>
        <p:xfrm>
          <a:off x="792339" y="2229597"/>
          <a:ext cx="3000000" cy="3000000"/>
        </p:xfrm>
        <a:graphic>
          <a:graphicData uri="http://schemas.openxmlformats.org/drawingml/2006/table">
            <a:tbl>
              <a:tblPr>
                <a:noFill/>
                <a:tableStyleId>{31292E2E-20E8-4A7D-92F8-3D3A8D68909F}</a:tableStyleId>
              </a:tblPr>
              <a:tblGrid>
                <a:gridCol w="1724625"/>
                <a:gridCol w="942675"/>
                <a:gridCol w="874350"/>
                <a:gridCol w="1180550"/>
                <a:gridCol w="1180550"/>
              </a:tblGrid>
              <a:tr h="17780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Software Product Type</a:t>
                      </a:r>
                      <a:endParaRPr/>
                    </a:p>
                  </a:txBody>
                  <a:tcPr marT="45725" marB="45725" marR="91450" marL="91450"/>
                </a:tc>
                <a:tc>
                  <a:txBody>
                    <a:bodyPr/>
                    <a:lstStyle/>
                    <a:p>
                      <a:pPr indent="0" lvl="0" marL="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a</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b</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c</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d</a:t>
                      </a:r>
                      <a:endParaRPr sz="1400" u="none" cap="none" strike="noStrike">
                        <a:latin typeface="Times New Roman"/>
                        <a:ea typeface="Times New Roman"/>
                        <a:cs typeface="Times New Roman"/>
                        <a:sym typeface="Times New Roman"/>
                      </a:endParaRPr>
                    </a:p>
                  </a:txBody>
                  <a:tcPr marT="45725" marB="45725" marR="91450" marL="91450"/>
                </a:tc>
              </a:tr>
              <a:tr h="177800">
                <a:tc>
                  <a:txBody>
                    <a:bodyPr/>
                    <a:lstStyle/>
                    <a:p>
                      <a:pPr indent="0" lvl="0" marL="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Organic</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2.4</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1.05</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2.5</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0.38</a:t>
                      </a:r>
                      <a:endParaRPr/>
                    </a:p>
                  </a:txBody>
                  <a:tcPr marT="45725" marB="45725" marR="91450" marL="91450"/>
                </a:tc>
              </a:tr>
              <a:tr h="177800">
                <a:tc>
                  <a:txBody>
                    <a:bodyPr/>
                    <a:lstStyle/>
                    <a:p>
                      <a:pPr indent="0" lvl="0" marL="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Semi-detached</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3.0</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1.12</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2.5</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0.35</a:t>
                      </a:r>
                      <a:endParaRPr/>
                    </a:p>
                  </a:txBody>
                  <a:tcPr marT="45725" marB="45725" marR="91450" marL="91450"/>
                </a:tc>
              </a:tr>
              <a:tr h="177800">
                <a:tc>
                  <a:txBody>
                    <a:bodyPr/>
                    <a:lstStyle/>
                    <a:p>
                      <a:pPr indent="0" lvl="0" marL="0" marR="0" rtl="0" algn="l">
                        <a:lnSpc>
                          <a:spcPct val="100000"/>
                        </a:lnSpc>
                        <a:spcBef>
                          <a:spcPts val="0"/>
                        </a:spcBef>
                        <a:spcAft>
                          <a:spcPts val="0"/>
                        </a:spcAft>
                        <a:buNone/>
                      </a:pPr>
                      <a:r>
                        <a:rPr b="1" lang="en-US" sz="1400" u="none" cap="none" strike="noStrike">
                          <a:latin typeface="Times New Roman"/>
                          <a:ea typeface="Times New Roman"/>
                          <a:cs typeface="Times New Roman"/>
                          <a:sym typeface="Times New Roman"/>
                        </a:rPr>
                        <a:t>Embedded</a:t>
                      </a:r>
                      <a:endParaRPr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3.6</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1.20</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2.5</a:t>
                      </a:r>
                      <a:endParaRPr/>
                    </a:p>
                  </a:txBody>
                  <a:tcPr marT="45725" marB="45725" marR="91450" marL="91450"/>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0.32</a:t>
                      </a:r>
                      <a:endParaRPr/>
                    </a:p>
                  </a:txBody>
                  <a:tcPr marT="45725" marB="45725" marR="91450" marL="91450"/>
                </a:tc>
              </a:tr>
            </a:tbl>
          </a:graphicData>
        </a:graphic>
      </p:graphicFrame>
      <p:sp>
        <p:nvSpPr>
          <p:cNvPr id="264" name="Google Shape;264;p96"/>
          <p:cNvSpPr txBox="1"/>
          <p:nvPr/>
        </p:nvSpPr>
        <p:spPr>
          <a:xfrm>
            <a:off x="487680" y="1366726"/>
            <a:ext cx="8067040"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Q1. Suppose that a project was estimated to be 300 KLOC. Calculate effort   &amp; time for each of 3 modes of development.</a:t>
            </a:r>
            <a:endParaRPr b="1" i="0" sz="1800" u="none" cap="none" strike="noStrike">
              <a:solidFill>
                <a:schemeClr val="dk1"/>
              </a:solidFill>
              <a:latin typeface="Times New Roman"/>
              <a:ea typeface="Times New Roman"/>
              <a:cs typeface="Times New Roman"/>
              <a:sym typeface="Times New Roman"/>
            </a:endParaRPr>
          </a:p>
        </p:txBody>
      </p:sp>
      <p:sp>
        <p:nvSpPr>
          <p:cNvPr id="265" name="Google Shape;265;p96"/>
          <p:cNvSpPr txBox="1"/>
          <p:nvPr/>
        </p:nvSpPr>
        <p:spPr>
          <a:xfrm>
            <a:off x="608030" y="3908926"/>
            <a:ext cx="7211504" cy="3693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How do you estimate the cost of a project?</a:t>
            </a:r>
            <a:endParaRPr/>
          </a:p>
        </p:txBody>
      </p:sp>
      <p:sp>
        <p:nvSpPr>
          <p:cNvPr id="266" name="Google Shape;266;p96"/>
          <p:cNvSpPr txBox="1"/>
          <p:nvPr/>
        </p:nvSpPr>
        <p:spPr>
          <a:xfrm>
            <a:off x="608030" y="4389831"/>
            <a:ext cx="7211504" cy="3693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What are some common cost estimating tools and techniques?</a:t>
            </a:r>
            <a:endParaRPr/>
          </a:p>
        </p:txBody>
      </p:sp>
      <p:sp>
        <p:nvSpPr>
          <p:cNvPr id="267" name="Google Shape;267;p96"/>
          <p:cNvSpPr txBox="1"/>
          <p:nvPr/>
        </p:nvSpPr>
        <p:spPr>
          <a:xfrm>
            <a:off x="608030" y="4936727"/>
            <a:ext cx="7211504" cy="3693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How do you develop a cost estimate for a new project?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97"/>
          <p:cNvSpPr/>
          <p:nvPr/>
        </p:nvSpPr>
        <p:spPr>
          <a:xfrm>
            <a:off x="136806" y="895459"/>
            <a:ext cx="7813040" cy="61863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What is the primary purpose of empirical estimation models?</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 Designing user interfaces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Estimating effort, time, and cost of software projects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Debugging complex software systems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D) Managing software repositories</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Answer:</a:t>
            </a:r>
            <a:r>
              <a:rPr b="0" i="0" lang="en-US" sz="1800" u="none" cap="none" strike="noStrike">
                <a:solidFill>
                  <a:srgbClr val="000000"/>
                </a:solidFill>
                <a:latin typeface="Times New Roman"/>
                <a:ea typeface="Times New Roman"/>
                <a:cs typeface="Times New Roman"/>
                <a:sym typeface="Times New Roman"/>
              </a:rPr>
              <a:t> B) Estimating effort, time, and cost of software projects</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In the Basic COCOMO model, what does 'KLOC' represent?</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 Key Level Object Components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Kernel-Level Object Code</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Thousands of Lines of Code</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D) Knowledge Logic of Components</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Answer:</a:t>
            </a:r>
            <a:r>
              <a:rPr b="0" i="0" lang="en-US" sz="1800" u="none" cap="none" strike="noStrike">
                <a:solidFill>
                  <a:srgbClr val="000000"/>
                </a:solidFill>
                <a:latin typeface="Times New Roman"/>
                <a:ea typeface="Times New Roman"/>
                <a:cs typeface="Times New Roman"/>
                <a:sym typeface="Times New Roman"/>
              </a:rPr>
              <a:t> C) Thousands of Lines of Code</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Which COCOMO model category is best suited for small, simple projects?</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 Semi-Detached</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Embedded</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Organic</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D) Modular</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Answer:</a:t>
            </a:r>
            <a:r>
              <a:rPr b="0" i="0" lang="en-US" sz="1800" u="none" cap="none" strike="noStrike">
                <a:solidFill>
                  <a:srgbClr val="000000"/>
                </a:solidFill>
                <a:latin typeface="Times New Roman"/>
                <a:ea typeface="Times New Roman"/>
                <a:cs typeface="Times New Roman"/>
                <a:sym typeface="Times New Roman"/>
              </a:rPr>
              <a:t> C) Organic</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p:txBody>
      </p:sp>
      <p:sp>
        <p:nvSpPr>
          <p:cNvPr id="273" name="Google Shape;273;p97"/>
          <p:cNvSpPr/>
          <p:nvPr/>
        </p:nvSpPr>
        <p:spPr>
          <a:xfrm>
            <a:off x="136806" y="135672"/>
            <a:ext cx="41809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chemeClr val="dk1"/>
                </a:solidFill>
                <a:latin typeface="Times"/>
                <a:ea typeface="Times"/>
                <a:cs typeface="Times"/>
                <a:sym typeface="Times"/>
              </a:rPr>
              <a:t>Practice Questions:MCQs</a:t>
            </a:r>
            <a:endParaRPr b="0" i="0" sz="2800" u="none" cap="none" strike="noStrike">
              <a:solidFill>
                <a:schemeClr val="dk1"/>
              </a:solidFill>
              <a:latin typeface="Times"/>
              <a:ea typeface="Times"/>
              <a:cs typeface="Times"/>
              <a:sym typeface="Times"/>
            </a:endParaRPr>
          </a:p>
        </p:txBody>
      </p:sp>
      <p:sp>
        <p:nvSpPr>
          <p:cNvPr id="274" name="Google Shape;274;p97"/>
          <p:cNvSpPr txBox="1"/>
          <p:nvPr/>
        </p:nvSpPr>
        <p:spPr>
          <a:xfrm>
            <a:off x="4079425" y="4154875"/>
            <a:ext cx="31290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p:txBody>
      </p:sp>
      <p:sp>
        <p:nvSpPr>
          <p:cNvPr id="275" name="Google Shape;275;p97"/>
          <p:cNvSpPr txBox="1"/>
          <p:nvPr/>
        </p:nvSpPr>
        <p:spPr>
          <a:xfrm>
            <a:off x="3442124" y="3661127"/>
            <a:ext cx="52293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p:txBody>
      </p:sp>
      <p:sp>
        <p:nvSpPr>
          <p:cNvPr id="276" name="Google Shape;276;p97"/>
          <p:cNvSpPr txBox="1"/>
          <p:nvPr/>
        </p:nvSpPr>
        <p:spPr>
          <a:xfrm>
            <a:off x="1085849" y="6157913"/>
            <a:ext cx="1228726"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98"/>
          <p:cNvSpPr/>
          <p:nvPr/>
        </p:nvSpPr>
        <p:spPr>
          <a:xfrm>
            <a:off x="619760" y="1318141"/>
            <a:ext cx="736600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What is a key challenge when estimating object-oriented projects?</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 Lack of technical resources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Inheritance and reusability</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Limited use of algorithms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D) Ignoring system documentation</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Answer:</a:t>
            </a:r>
            <a:r>
              <a:rPr b="0" i="0" lang="en-US" sz="1800" u="none" cap="none" strike="noStrike">
                <a:solidFill>
                  <a:srgbClr val="000000"/>
                </a:solidFill>
                <a:latin typeface="Times New Roman"/>
                <a:ea typeface="Times New Roman"/>
                <a:cs typeface="Times New Roman"/>
                <a:sym typeface="Times New Roman"/>
              </a:rPr>
              <a:t> B) Inheritance and reusability</a:t>
            </a:r>
            <a:endParaRPr/>
          </a:p>
        </p:txBody>
      </p:sp>
      <p:sp>
        <p:nvSpPr>
          <p:cNvPr id="282" name="Google Shape;282;p98"/>
          <p:cNvSpPr/>
          <p:nvPr/>
        </p:nvSpPr>
        <p:spPr>
          <a:xfrm>
            <a:off x="136806" y="125512"/>
            <a:ext cx="643671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Practice Questions: MCQs               </a:t>
            </a:r>
            <a:r>
              <a:rPr b="1" i="0" lang="en-US" sz="2000" u="none" cap="none" strike="noStrike">
                <a:solidFill>
                  <a:schemeClr val="dk1"/>
                </a:solidFill>
                <a:latin typeface="Times New Roman"/>
                <a:ea typeface="Times New Roman"/>
                <a:cs typeface="Times New Roman"/>
                <a:sym typeface="Times New Roman"/>
              </a:rPr>
              <a:t>Cont…</a:t>
            </a:r>
            <a:endParaRPr b="0" i="0" sz="2000" u="none" cap="none" strike="noStrike">
              <a:solidFill>
                <a:schemeClr val="dk1"/>
              </a:solidFill>
              <a:latin typeface="Times New Roman"/>
              <a:ea typeface="Times New Roman"/>
              <a:cs typeface="Times New Roman"/>
              <a:sym typeface="Times New Roman"/>
            </a:endParaRPr>
          </a:p>
        </p:txBody>
      </p:sp>
      <p:sp>
        <p:nvSpPr>
          <p:cNvPr id="283" name="Google Shape;283;p98"/>
          <p:cNvSpPr txBox="1"/>
          <p:nvPr/>
        </p:nvSpPr>
        <p:spPr>
          <a:xfrm>
            <a:off x="1557338" y="2757488"/>
            <a:ext cx="2900362" cy="31497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99"/>
          <p:cNvSpPr txBox="1"/>
          <p:nvPr/>
        </p:nvSpPr>
        <p:spPr>
          <a:xfrm>
            <a:off x="857840" y="1843950"/>
            <a:ext cx="7626284" cy="317009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https://www.tutorialspoint.com/estimation_techniques/estimation_techniques_overview.htm</a:t>
            </a:r>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http://www.zeepedia.com/read.php?decomposition_techniques_estimation_tools_software_project_management&amp;b=18&amp;c=30</a:t>
            </a:r>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https://www.geeksforgeeks.org/software-engineering-cocomo-model/</a:t>
            </a:r>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Times New Roman"/>
                <a:ea typeface="Times New Roman"/>
                <a:cs typeface="Times New Roman"/>
                <a:sym typeface="Times New Roman"/>
                <a:hlinkClick r:id="rId6">
                  <a:extLst>
                    <a:ext uri="{A12FA001-AC4F-418D-AE19-62706E023703}">
                      <ahyp:hlinkClr val="tx"/>
                    </a:ext>
                  </a:extLst>
                </a:hlinkClick>
              </a:rPr>
              <a:t>https://study.com/academy/lesson/what-is-system-analysis-in-software-engineering.html</a:t>
            </a:r>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Times New Roman"/>
                <a:ea typeface="Times New Roman"/>
                <a:cs typeface="Times New Roman"/>
                <a:sym typeface="Times New Roman"/>
                <a:hlinkClick r:id="rId7">
                  <a:extLst>
                    <a:ext uri="{A12FA001-AC4F-418D-AE19-62706E023703}">
                      <ahyp:hlinkClr val="tx"/>
                    </a:ext>
                  </a:extLst>
                </a:hlinkClick>
              </a:rPr>
              <a:t>https://www.tutorialspoint.com/What-is-Data-Dictionary</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Times New Roman"/>
                <a:ea typeface="Times New Roman"/>
                <a:cs typeface="Times New Roman"/>
                <a:sym typeface="Times New Roman"/>
                <a:hlinkClick r:id="rId8">
                  <a:extLst>
                    <a:ext uri="{A12FA001-AC4F-418D-AE19-62706E023703}">
                      <ahyp:hlinkClr val="tx"/>
                    </a:ext>
                  </a:extLst>
                </a:hlinkClick>
              </a:rPr>
              <a:t>https://www.lucidchart.com/pages/er-diagrams</a:t>
            </a:r>
            <a:r>
              <a:rPr b="0" i="0" lang="en-US" sz="2000" u="none" cap="none" strike="noStrike">
                <a:solidFill>
                  <a:srgbClr val="000000"/>
                </a:solidFill>
                <a:latin typeface="Times New Roman"/>
                <a:ea typeface="Times New Roman"/>
                <a:cs typeface="Times New Roman"/>
                <a:sym typeface="Times New Roman"/>
              </a:rPr>
              <a:t> </a:t>
            </a:r>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sng" cap="none" strike="noStrike">
                <a:solidFill>
                  <a:srgbClr val="000000"/>
                </a:solidFill>
                <a:latin typeface="Times New Roman"/>
                <a:ea typeface="Times New Roman"/>
                <a:cs typeface="Times New Roman"/>
                <a:sym typeface="Times New Roman"/>
                <a:hlinkClick r:id="rId9">
                  <a:extLst>
                    <a:ext uri="{A12FA001-AC4F-418D-AE19-62706E023703}">
                      <ahyp:hlinkClr val="tx"/>
                    </a:ext>
                  </a:extLst>
                </a:hlinkClick>
              </a:rPr>
              <a:t>https://www.datanamic.com/support/lt-dez006-what-is-an-erd.html</a:t>
            </a:r>
            <a:r>
              <a:rPr b="0" i="0" lang="en-US" sz="2000" u="none" cap="none" strike="noStrike">
                <a:solidFill>
                  <a:srgbClr val="000000"/>
                </a:solidFill>
                <a:latin typeface="Times New Roman"/>
                <a:ea typeface="Times New Roman"/>
                <a:cs typeface="Times New Roman"/>
                <a:sym typeface="Times New Roman"/>
              </a:rPr>
              <a:t> </a:t>
            </a:r>
            <a:endParaRPr/>
          </a:p>
        </p:txBody>
      </p:sp>
      <p:sp>
        <p:nvSpPr>
          <p:cNvPr id="289" name="Google Shape;289;p99"/>
          <p:cNvSpPr txBox="1"/>
          <p:nvPr/>
        </p:nvSpPr>
        <p:spPr>
          <a:xfrm>
            <a:off x="147145" y="145656"/>
            <a:ext cx="65479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Times"/>
                <a:ea typeface="Times"/>
                <a:cs typeface="Times"/>
                <a:sym typeface="Times"/>
              </a:rPr>
              <a:t>Bibliography</a:t>
            </a:r>
            <a:endParaRPr b="0" i="0" sz="3600" u="none" cap="none" strike="noStrike">
              <a:solidFill>
                <a:schemeClr val="dk1"/>
              </a:solidFill>
              <a:latin typeface="Times"/>
              <a:ea typeface="Times"/>
              <a:cs typeface="Times"/>
              <a:sym typeface="Time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7"/>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descr="See the source image" id="295" name="Google Shape;295;p27"/>
          <p:cNvPicPr preferRelativeResize="0"/>
          <p:nvPr/>
        </p:nvPicPr>
        <p:blipFill rotWithShape="1">
          <a:blip r:embed="rId3">
            <a:alphaModFix/>
          </a:blip>
          <a:srcRect b="0" l="0" r="0" t="0"/>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