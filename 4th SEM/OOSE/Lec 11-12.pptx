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hgjeiwO1Wchy+VBoy2o7DYpw2m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3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" name="Google Shape;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" name="Google Shape;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7" name="Google Shape;25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3" name="Google Shape;29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0" name="Google Shape;30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6"/>
          <p:cNvSpPr txBox="1">
            <a:spLocks noGrp="1"/>
          </p:cNvSpPr>
          <p:nvPr>
            <p:ph type="ftr" idx="11"/>
          </p:nvPr>
        </p:nvSpPr>
        <p:spPr>
          <a:xfrm>
            <a:off x="457559" y="6356520"/>
            <a:ext cx="8499154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70C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3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3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9" name="Google Shape;29;p33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" name="Google Shape;30;p33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31;p33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" name="Google Shape;32;p33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3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33"/>
          <p:cNvSpPr txBox="1">
            <a:spLocks noGrp="1"/>
          </p:cNvSpPr>
          <p:nvPr>
            <p:ph type="dt" idx="10"/>
          </p:nvPr>
        </p:nvSpPr>
        <p:spPr>
          <a:xfrm>
            <a:off x="152400" y="6629400"/>
            <a:ext cx="2286000" cy="17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ftr" idx="11"/>
          </p:nvPr>
        </p:nvSpPr>
        <p:spPr>
          <a:xfrm>
            <a:off x="3124200" y="6629400"/>
            <a:ext cx="28956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4"/>
          <p:cNvSpPr txBox="1"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34"/>
          <p:cNvSpPr txBox="1">
            <a:spLocks noGrp="1"/>
          </p:cNvSpPr>
          <p:nvPr>
            <p:ph type="dt" idx="10"/>
          </p:nvPr>
        </p:nvSpPr>
        <p:spPr>
          <a:xfrm>
            <a:off x="152400" y="6629400"/>
            <a:ext cx="2286000" cy="17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4"/>
          <p:cNvSpPr txBox="1">
            <a:spLocks noGrp="1"/>
          </p:cNvSpPr>
          <p:nvPr>
            <p:ph type="ftr" idx="11"/>
          </p:nvPr>
        </p:nvSpPr>
        <p:spPr>
          <a:xfrm>
            <a:off x="3124200" y="6629400"/>
            <a:ext cx="28956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4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2"/>
          <p:cNvSpPr/>
          <p:nvPr/>
        </p:nvSpPr>
        <p:spPr>
          <a:xfrm rot="10800000" flipH="1">
            <a:off x="0" y="6583684"/>
            <a:ext cx="9144000" cy="2743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4;p32" descr="LOGO.gif"/>
          <p:cNvPicPr preferRelativeResize="0"/>
          <p:nvPr/>
        </p:nvPicPr>
        <p:blipFill rotWithShape="1">
          <a:blip r:embed="rId5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2" descr="LOGO.gif"/>
          <p:cNvPicPr preferRelativeResize="0"/>
          <p:nvPr/>
        </p:nvPicPr>
        <p:blipFill rotWithShape="1">
          <a:blip r:embed="rId5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oogle Shape;16;p32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7" name="Google Shape;17;p32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" name="Google Shape;18;p32" descr="LOGO.gif"/>
            <p:cNvPicPr preferRelativeResize="0"/>
            <p:nvPr/>
          </p:nvPicPr>
          <p:blipFill rotWithShape="1">
            <a:blip r:embed="rId5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32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" name="Google Shape;20;p32" descr="logo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2"/>
          <p:cNvSpPr txBox="1">
            <a:spLocks noGrp="1"/>
          </p:cNvSpPr>
          <p:nvPr>
            <p:ph type="dt" idx="10"/>
          </p:nvPr>
        </p:nvSpPr>
        <p:spPr>
          <a:xfrm>
            <a:off x="76200" y="6594307"/>
            <a:ext cx="2362200" cy="263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ftr" idx="11"/>
          </p:nvPr>
        </p:nvSpPr>
        <p:spPr>
          <a:xfrm>
            <a:off x="3086100" y="6596246"/>
            <a:ext cx="2895600" cy="261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sldNum" idx="12"/>
          </p:nvPr>
        </p:nvSpPr>
        <p:spPr>
          <a:xfrm>
            <a:off x="6553200" y="6583684"/>
            <a:ext cx="2133600" cy="274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 txBox="1"/>
          <p:nvPr/>
        </p:nvSpPr>
        <p:spPr>
          <a:xfrm>
            <a:off x="729128" y="2932386"/>
            <a:ext cx="7564618" cy="2940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400" b="1" i="0" u="none" strike="noStrike" cap="none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Unified Modelling Language (UML)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400" b="1" i="0" u="none" strike="noStrike" cap="none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 (Theory)</a:t>
            </a:r>
            <a:endParaRPr sz="4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Dr. Suvarna Sharma</a:t>
            </a:r>
            <a:endParaRPr sz="4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br>
              <a:rPr lang="en-US" sz="4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3600" b="1" i="0" u="none" strike="noStrike" cap="none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5"/>
          <p:cNvSpPr txBox="1"/>
          <p:nvPr/>
        </p:nvSpPr>
        <p:spPr>
          <a:xfrm>
            <a:off x="1338236" y="1301969"/>
            <a:ext cx="6346401" cy="1436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Software Engineering (OOSE)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22CS017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Index</a:t>
            </a:r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8229600" cy="414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b="1"/>
              <a:t>Introduction to UML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b="1"/>
              <a:t>Goals of UML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b="1"/>
              <a:t>Characteristics of UML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b="1"/>
              <a:t>UML Building Blocks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b="1"/>
              <a:t>UML Modelling Software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b="1"/>
              <a:t>Introduction to Use Case Diagram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b="1"/>
              <a:t>Practice Questions</a:t>
            </a:r>
            <a:endParaRPr/>
          </a:p>
          <a:p>
            <a:pPr marL="342900" lvl="0" indent="-2032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b="1"/>
          </a:p>
          <a:p>
            <a:pPr marL="342900" lvl="0" indent="-2032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b="1"/>
          </a:p>
        </p:txBody>
      </p:sp>
      <p:sp>
        <p:nvSpPr>
          <p:cNvPr id="56" name="Google Shape;56;p2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Introduction to UML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2" name="Google Shape;62;p3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152400" y="1143000"/>
            <a:ext cx="8534400" cy="465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UML (Unified Modeling Language) is a general-purpose, graphical modeling language in the field of Software Engineering.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58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UML diagrams serve to describe, analyze, and test a system’s characteristics, behaviors, and other features.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58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was initially developed by Grady Booch, Ivar Jacobson, and James Rumbaugh in 1994-95 at Rational software.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58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1997, it got adopted as a standard by the Object Management Group.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Goals of UML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9" name="Google Shape;69;p4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152400" y="1143000"/>
            <a:ext cx="8763000" cy="3730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users with a ready-to-use, expressive visual modeling language so they can develop and exchange meaningful models.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extensibility and specialization mechanisms to extend the core concepts.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independent of particular programming languages and development processes.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 formal basis for understanding the modeling language.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higher-level development concepts such as collaborations, frameworks, patterns and components.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Characteristics of UML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6" name="Google Shape;76;p5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2400" y="1283148"/>
            <a:ext cx="8035636" cy="2345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generalized modeling language.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distinct from other programming languages like C++, Python, etc.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interrelated to object-oriented analysis and design.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used to visualize the workflow of the system.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pictorial language, used to generate powerful modeling artifacts.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UML Building Blocks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3" name="Google Shape;83;p6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304800" y="990600"/>
            <a:ext cx="8382000" cy="465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UML is composed of three main building blocks, i.e., 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things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relationships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diagrams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58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blocks generate one complete UML model diagram by rotating around several different blocks.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58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basic UML building blocks are enlisted below: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28900" marR="0" lvl="5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✔"/>
            </a:pPr>
            <a:r>
              <a:rPr lang="en-US" sz="20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28900" marR="0" lvl="5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✔"/>
            </a:pPr>
            <a:r>
              <a:rPr lang="en-US" sz="20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Relationships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28900" marR="0" lvl="5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✔"/>
            </a:pPr>
            <a:r>
              <a:rPr lang="en-US" sz="20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Things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609600" y="1259175"/>
            <a:ext cx="7543800" cy="2345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Things are the most important building blocks of UML. Things can be 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14550" marR="0" lvl="4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14550" marR="0" lvl="4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14550" marR="0" lvl="4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14550" marR="0" lvl="4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Annotational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Things (contd.)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7" name="Google Shape;97;p8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152400" y="975408"/>
            <a:ext cx="8740739" cy="3672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25375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imes New Roman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Structural Things:</a:t>
            </a:r>
            <a:endParaRPr sz="18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depict the static behavior of a model and display the physical and conceptual components.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include class, object, interface, node, collaboration, component, and a use case.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Class: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 Class is a set of identical things that outlines the functionality and properties of an object. It also represents the abstract class whose functionalities are not defined. Its notation is as follows;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" name="Google Shape;99;p8" descr="UML-Building Block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8500" y="4170362"/>
            <a:ext cx="2317750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/>
          <p:nvPr/>
        </p:nvSpPr>
        <p:spPr>
          <a:xfrm>
            <a:off x="0" y="27622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Things (contd.)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" name="Google Shape;106;p9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07" name="Google Shape;107;p9"/>
          <p:cNvSpPr/>
          <p:nvPr/>
        </p:nvSpPr>
        <p:spPr>
          <a:xfrm>
            <a:off x="0" y="27622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9" descr="UML-Building Block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98163" y="2286000"/>
            <a:ext cx="1964437" cy="1986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9" descr="UML-Building Block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62400" y="5059323"/>
            <a:ext cx="1330008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-7706" y="895507"/>
            <a:ext cx="9144000" cy="1289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Object: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 individual that describes the behavior and the functions of a system. The notation of the object is similar to that of the class; the only difference is that the object name is always underlined and its notation is given below;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-7706" y="4627394"/>
            <a:ext cx="9144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Interface: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 set of operations that describes the functionality of a class.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-7706" y="5366266"/>
            <a:ext cx="8991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Things (contd.)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" name="Google Shape;118;p10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19" name="Google Shape;119;p10"/>
          <p:cNvSpPr/>
          <p:nvPr/>
        </p:nvSpPr>
        <p:spPr>
          <a:xfrm>
            <a:off x="0" y="27622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10" descr="UML-Building Block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9438" y="2005412"/>
            <a:ext cx="2732723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0" descr="UML-Building Block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33800" y="5010865"/>
            <a:ext cx="1827848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0"/>
          <p:cNvSpPr/>
          <p:nvPr/>
        </p:nvSpPr>
        <p:spPr>
          <a:xfrm>
            <a:off x="152400" y="944583"/>
            <a:ext cx="8686800" cy="1289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Collaboration: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It represents the interaction between things that is done to meet the goal. It is symbolized as a dotted ellipse with its name written inside it.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152400" y="3892529"/>
            <a:ext cx="8686800" cy="1289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case: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Use case is the core concept of object-oriented modeling. It portrays a set of actions executed by a system to achieve the goal.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Things (contd.)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" name="Google Shape;129;p11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30" name="Google Shape;130;p11" descr="UML-Building Block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8600" y="1752600"/>
            <a:ext cx="986790" cy="144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1" descr="UML-Building Block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723" y="4442721"/>
            <a:ext cx="1867853" cy="1932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1" descr="UML-Building Blocks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76654" y="4343400"/>
            <a:ext cx="1867853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1"/>
          <p:cNvSpPr/>
          <p:nvPr/>
        </p:nvSpPr>
        <p:spPr>
          <a:xfrm>
            <a:off x="102312" y="975562"/>
            <a:ext cx="8736887" cy="873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Actor: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It comes under the use case diagrams. It is an object that interacts with the system, for example, a user.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114300" y="3124200"/>
            <a:ext cx="3238500" cy="1289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Component: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It represents the physical part of the system that reside on the node.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5715000" y="2971800"/>
            <a:ext cx="3048000" cy="1289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Node: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 physical element that exists. E.g., server, printer, etc.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Things (contd.)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" name="Google Shape;141;p12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42" name="Google Shape;142;p12"/>
          <p:cNvSpPr/>
          <p:nvPr/>
        </p:nvSpPr>
        <p:spPr>
          <a:xfrm>
            <a:off x="201630" y="1482298"/>
            <a:ext cx="8740739" cy="33460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25375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imes New Roman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Behavioral Things: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Behavioral things are the dynamic parts of UML models.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all, there are three primary kinds of behavioral things: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1650" marR="0" lvl="3" indent="-400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romanLcPeriod"/>
            </a:pP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1650" marR="0" lvl="3" indent="-400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romanLcPeriod"/>
            </a:pP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Machine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1650" marR="0" lvl="3" indent="-400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romanLcPeriod"/>
            </a:pP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2"/>
          <p:cNvSpPr/>
          <p:nvPr/>
        </p:nvSpPr>
        <p:spPr>
          <a:xfrm>
            <a:off x="0" y="27622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Things (contd.)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" name="Google Shape;149;p13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50" name="Google Shape;150;p13"/>
          <p:cNvSpPr/>
          <p:nvPr/>
        </p:nvSpPr>
        <p:spPr>
          <a:xfrm>
            <a:off x="125002" y="1544569"/>
            <a:ext cx="8740739" cy="40882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25375" rIns="91425" bIns="45700" anchor="ctr" anchorCtr="0">
            <a:spAutoFit/>
          </a:bodyPr>
          <a:lstStyle/>
          <a:p>
            <a:pPr marL="400050" marR="0" lvl="0" indent="-400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AutoNum type="romanLcPeriod"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Interaction: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behavior that comprises a set of messages exchanged among a set of objects or roles within a particular context to accomplish a specific purpose.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interaction involves a number of other elements, including messages, actions, and connectors (the connection between objects).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Graphically, a message is rendered as a directed line, almost always including the name of its operation, as shown below</a:t>
            </a:r>
            <a:endParaRPr sz="18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0" y="27622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13"/>
          <p:cNvPicPr preferRelativeResize="0"/>
          <p:nvPr/>
        </p:nvPicPr>
        <p:blipFill rotWithShape="1">
          <a:blip r:embed="rId3">
            <a:alphaModFix/>
          </a:blip>
          <a:srcRect b="28581"/>
          <a:stretch/>
        </p:blipFill>
        <p:spPr>
          <a:xfrm>
            <a:off x="3352800" y="5562600"/>
            <a:ext cx="3376613" cy="676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Things (contd.)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8" name="Google Shape;158;p14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59" name="Google Shape;159;p14"/>
          <p:cNvSpPr/>
          <p:nvPr/>
        </p:nvSpPr>
        <p:spPr>
          <a:xfrm>
            <a:off x="128426" y="859051"/>
            <a:ext cx="5815173" cy="5423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25375" rIns="91425" bIns="45700" anchor="ctr" anchorCtr="0">
            <a:spAutoFit/>
          </a:bodyPr>
          <a:lstStyle/>
          <a:p>
            <a:pPr marL="400050" marR="0" lvl="0" indent="-400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AutoNum type="romanLcPeriod" startAt="2"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Machine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behavior that specifies the sequences of states an object or an interaction goes through during its lifetime in response to events, together with its responses to those events.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state machine involves a number of other elements, including states, transitions (the flow from state to state), events (things that trigger a transition), and activities (the response to a transition).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Graphically, a state is rendered as a rounded rectangle, usually including its name and its substates, if any.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0" y="27622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6433" y="1837266"/>
            <a:ext cx="2651160" cy="3467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Things (contd.)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" name="Google Shape;167;p15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68" name="Google Shape;168;p15"/>
          <p:cNvSpPr/>
          <p:nvPr/>
        </p:nvSpPr>
        <p:spPr>
          <a:xfrm>
            <a:off x="128426" y="901072"/>
            <a:ext cx="5815173" cy="5423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25375" rIns="91425" bIns="45700" anchor="ctr" anchorCtr="0">
            <a:spAutoFit/>
          </a:bodyPr>
          <a:lstStyle/>
          <a:p>
            <a:pPr marL="400050" marR="0" lvl="0" indent="-400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AutoNum type="romanLcPeriod" startAt="3"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behavior that specifies the sequence of steps a computational process performs.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an </a:t>
            </a:r>
            <a:r>
              <a:rPr lang="en-US" sz="1800" b="0" i="1" u="none" strike="noStrike" cap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focus is on the set of objects that interact. In a </a:t>
            </a:r>
            <a:r>
              <a:rPr lang="en-US" sz="1800" b="0" i="1" u="none" strike="noStrike" cap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machine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focus is on the life cycle of one object at a time. In an </a:t>
            </a:r>
            <a:r>
              <a:rPr lang="en-US" sz="1800" b="0" i="1" u="none" strike="noStrike" cap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focus is on the flows among steps without regard to which object performs each step.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step of an activity is called an </a:t>
            </a:r>
            <a:r>
              <a:rPr lang="en-US" sz="1800" b="0" i="1" u="none" strike="noStrike" cap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Graphically, an action is rendered as a rounded rectangle with a name indicating its purpose.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States and actions are distinguished by their different contexts.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0" y="27622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2685" y="1819670"/>
            <a:ext cx="2438400" cy="3218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Things (contd.)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6" name="Google Shape;176;p16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76200" y="914400"/>
            <a:ext cx="8740739" cy="41770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25375" rIns="91425" bIns="45700" anchor="ctr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imes New Roman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Grouping Things:</a:t>
            </a:r>
            <a:endParaRPr sz="18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method that together binds the elements of the UML model</a:t>
            </a:r>
            <a:endParaRPr sz="1800" b="0" i="0" u="none" strike="noStrike" cap="none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one primary kind of grouping thing, namely, </a:t>
            </a:r>
            <a:r>
              <a:rPr lang="en-US" sz="1800" b="0" i="1" u="none" strike="noStrike" cap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packages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1800" b="0" i="1" u="none" strike="noStrike" cap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package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general-purpose mechanism for organizing the design itself, as opposed to classes, which organize implementation constructs. Structural things, behavioral things, and even other grouping things may be placed in a package.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Unlike components (which exist at run time), a package is purely conceptual (meaning that it exists only at development time).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Graphically, a package is rendered as a tabbed folder, usually including only its name and, sometimes, its contents</a:t>
            </a:r>
            <a:endParaRPr sz="1800" b="0" i="0" u="none" strike="noStrike" cap="none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0" y="27622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3800" y="4800600"/>
            <a:ext cx="1981200" cy="1552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Things (contd.)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" name="Google Shape;185;p17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152400" y="995191"/>
            <a:ext cx="8740739" cy="4015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25375" rIns="91425" bIns="45700" anchor="ctr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imes New Roman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Annotational Things: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Annotational things are the explanatory parts of UML models.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are the comments you may apply to describe, illuminate, and remark about any element in a model.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one primary kind of annotational thing, called a </a:t>
            </a:r>
            <a:r>
              <a:rPr lang="en-US" sz="1800" b="0" i="1" u="none" strike="noStrike" cap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1800" b="0" i="1" u="none" strike="noStrike" cap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simply a symbol for rendering constraints and comments attached to an element or a collection of elements.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Graphically, a note is rendered as a rectangle with a dog-eared corner, together with a textual or graphical comment.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0" y="27622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0" y="4953000"/>
            <a:ext cx="2043953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Relationships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4" name="Google Shape;194;p18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76200" y="1178071"/>
            <a:ext cx="8740739" cy="4869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25375" rIns="91425" bIns="45700" anchor="ctr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illustrates the meaningful connections between things. There are four types of relationships given below: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28950" marR="0" lvl="6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28950" marR="0" lvl="6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28950" marR="0" lvl="6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Generalization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28950" marR="0" lvl="6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Realization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Dependency: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semantic relationship between two model elements in which a change to one element (the independent one) may affect the semantics of the other element (the dependent one). Graphically, a dependency is rendered as a dashed line, possibly directed, and occasionally including a label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0" y="27622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21886" y="5791200"/>
            <a:ext cx="2849366" cy="456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Relationships (contd.)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" name="Google Shape;203;p19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152400" y="914400"/>
            <a:ext cx="8534399" cy="4197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Association: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structural relationship among classes that describes a set of links, a link being a connection among objects that are instances of the classes.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E.g.: city bus and riders.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Aggregation is a special kind of association, representing a structural relationship between a whole and its parts. E.g., shirt and pockets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Graphically, an association is rendered as a solid line or it is denoted by a dotted line with arrowheads on both sides to describe the relationship with the element on both sides.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5" name="Google Shape;20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9800" y="5086350"/>
            <a:ext cx="45434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descr="UML-Building Block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3125" y="5656616"/>
            <a:ext cx="3803875" cy="363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Relationships (contd.)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" name="Google Shape;212;p20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152400" y="914400"/>
            <a:ext cx="8534399" cy="4197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Generalization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specialization/generalization relationship in which the specialized element (the child) builds on the specification of the generalized element (the parent).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child shares the structure and the behavior of the parent.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vehicle is a bus, car, truck.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Graphically, a generalization relationship is rendered as a solid line with a hollow arrowhead pointing to the parent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4" name="Google Shape;214;p20"/>
          <p:cNvPicPr preferRelativeResize="0"/>
          <p:nvPr/>
        </p:nvPicPr>
        <p:blipFill rotWithShape="1">
          <a:blip r:embed="rId3">
            <a:alphaModFix/>
          </a:blip>
          <a:srcRect t="22036"/>
          <a:stretch/>
        </p:blipFill>
        <p:spPr>
          <a:xfrm>
            <a:off x="2225853" y="5232302"/>
            <a:ext cx="4286250" cy="482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Relationships (contd.)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" name="Google Shape;221;p21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152400" y="914400"/>
            <a:ext cx="8534399" cy="5028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Realization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semantic relationship between classifiers, wherein one classifier specifies a contract that another classifier guarantees to carry out.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You'll encounter realization relationships in these places: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between interfaces and the classes or components that realize them, and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between use cases and the collaborations that realize them.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Graphically, a realization relationship is rendered as a cross between a generalization and a dependency relationship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3" name="Google Shape;22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3637" y="5257800"/>
            <a:ext cx="427672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UML Modelling Software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0" name="Google Shape;230;p22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152400" y="914400"/>
            <a:ext cx="8534400" cy="49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"UML Modelling Software" refers to a computer program that allows users to create visual diagrams using the Unified Modeling Language (UML), a standardized way to represent the structure and behavior of a software system.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Essentially acting like a "blueprint" for designing software applications by visually depicting different components and their relationships through various types of diagrams.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UML itself is not a programming language but a standardized notation, meaning different UML modeling tools can interpret and display the diagrams in a consistent manner.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of popular UML modeling software: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Paradigm, Microsoft Visio, Lucidchart, StarUML, and Enterprise Architect.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Diagrams in UML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7" name="Google Shape;237;p23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2743200" y="6088734"/>
            <a:ext cx="3581400" cy="287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25375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1: Types of Diagrams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0" y="27622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23" descr="UML-Diagram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836129"/>
            <a:ext cx="7467600" cy="4928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Introduction to Use Case Diagram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6" name="Google Shape;246;p24"/>
          <p:cNvSpPr txBox="1">
            <a:spLocks noGrp="1"/>
          </p:cNvSpPr>
          <p:nvPr>
            <p:ph type="body" idx="1"/>
          </p:nvPr>
        </p:nvSpPr>
        <p:spPr>
          <a:xfrm>
            <a:off x="152400" y="955675"/>
            <a:ext cx="8534400" cy="521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/>
              <a:t>What are Use Cases? 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In software and systems engineering, a use case is a list of actions or event steps, typically defining the interactions between a role (known in the Unified Modeling Language as an actor) and a system, to achieve a goal. 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actor can be a human or an external system.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 use case describes a way in which a real-world actor interacts with the system. </a:t>
            </a:r>
            <a:endParaRPr/>
          </a:p>
        </p:txBody>
      </p:sp>
      <p:sp>
        <p:nvSpPr>
          <p:cNvPr id="247" name="Google Shape;247;p24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Importance of Use Case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3" name="Google Shape;253;p25"/>
          <p:cNvSpPr txBox="1">
            <a:spLocks noGrp="1"/>
          </p:cNvSpPr>
          <p:nvPr>
            <p:ph type="body" idx="1"/>
          </p:nvPr>
        </p:nvSpPr>
        <p:spPr>
          <a:xfrm>
            <a:off x="152400" y="1066800"/>
            <a:ext cx="8839200" cy="521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Use cases have been used extensively over the past few decades. 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advantages of Use cases include: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The list of goal names provides the shortest summary of what the system will offer.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It gives an overview of the roles of each and every component in the system. It will help us in defining the role of users, administrators, etc. </a:t>
            </a:r>
            <a:endParaRPr/>
          </a:p>
        </p:txBody>
      </p:sp>
      <p:sp>
        <p:nvSpPr>
          <p:cNvPr id="254" name="Google Shape;254;p25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Contd…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0" name="Google Shape;260;p26"/>
          <p:cNvSpPr txBox="1">
            <a:spLocks noGrp="1"/>
          </p:cNvSpPr>
          <p:nvPr>
            <p:ph type="body" idx="1"/>
          </p:nvPr>
        </p:nvSpPr>
        <p:spPr>
          <a:xfrm>
            <a:off x="457200" y="955675"/>
            <a:ext cx="8229600" cy="521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The features of the system depends on the users of it.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General use case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sp>
        <p:nvSpPr>
          <p:cNvPr id="261" name="Google Shape;261;p26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262" name="Google Shape;262;p26" descr="general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0200" y="1752600"/>
            <a:ext cx="5419725" cy="383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6"/>
          <p:cNvSpPr txBox="1"/>
          <p:nvPr/>
        </p:nvSpPr>
        <p:spPr>
          <a:xfrm>
            <a:off x="1143000" y="5638800"/>
            <a:ext cx="7010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2: General Use case diagram of Hospital Management System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Contd…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9" name="Google Shape;269;p27"/>
          <p:cNvSpPr txBox="1">
            <a:spLocks noGrp="1"/>
          </p:cNvSpPr>
          <p:nvPr>
            <p:ph type="body" idx="1"/>
          </p:nvPr>
        </p:nvSpPr>
        <p:spPr>
          <a:xfrm>
            <a:off x="457200" y="955675"/>
            <a:ext cx="8229600" cy="521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Monitor and Manage Patients’ Information and Status</a:t>
            </a:r>
            <a:endParaRPr/>
          </a:p>
        </p:txBody>
      </p:sp>
      <p:sp>
        <p:nvSpPr>
          <p:cNvPr id="270" name="Google Shape;270;p27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271" name="Google Shape;271;p27"/>
          <p:cNvSpPr txBox="1"/>
          <p:nvPr/>
        </p:nvSpPr>
        <p:spPr>
          <a:xfrm>
            <a:off x="762000" y="5410200"/>
            <a:ext cx="77724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3. Use case diagram of Monitor and Manage Patients’ Information and Status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2" name="Google Shape;272;p27" descr="uuu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1" y="1484761"/>
            <a:ext cx="5791200" cy="3925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Contd…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8" name="Google Shape;278;p28"/>
          <p:cNvSpPr txBox="1">
            <a:spLocks noGrp="1"/>
          </p:cNvSpPr>
          <p:nvPr>
            <p:ph type="body" idx="1"/>
          </p:nvPr>
        </p:nvSpPr>
        <p:spPr>
          <a:xfrm>
            <a:off x="457200" y="955675"/>
            <a:ext cx="8229600" cy="521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Manage Hospital Rooms and Physicians’ Info and Status</a:t>
            </a:r>
            <a:endParaRPr/>
          </a:p>
        </p:txBody>
      </p:sp>
      <p:sp>
        <p:nvSpPr>
          <p:cNvPr id="279" name="Google Shape;279;p28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280" name="Google Shape;280;p28"/>
          <p:cNvSpPr txBox="1"/>
          <p:nvPr/>
        </p:nvSpPr>
        <p:spPr>
          <a:xfrm>
            <a:off x="762000" y="5410200"/>
            <a:ext cx="7772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4. Use case diagram of Manage Hospital Rooms and Physicians’ Info and Status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28" descr="USECas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550" y="1438275"/>
            <a:ext cx="7200900" cy="39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Contd…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7" name="Google Shape;287;p29"/>
          <p:cNvSpPr txBox="1">
            <a:spLocks noGrp="1"/>
          </p:cNvSpPr>
          <p:nvPr>
            <p:ph type="body" idx="1"/>
          </p:nvPr>
        </p:nvSpPr>
        <p:spPr>
          <a:xfrm>
            <a:off x="457200" y="955675"/>
            <a:ext cx="8229600" cy="521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   Monitor Hospital Transaction Records</a:t>
            </a:r>
            <a:endParaRPr/>
          </a:p>
        </p:txBody>
      </p:sp>
      <p:sp>
        <p:nvSpPr>
          <p:cNvPr id="288" name="Google Shape;288;p29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289" name="Google Shape;289;p29"/>
          <p:cNvSpPr txBox="1"/>
          <p:nvPr/>
        </p:nvSpPr>
        <p:spPr>
          <a:xfrm>
            <a:off x="1143000" y="5334000"/>
            <a:ext cx="7010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5. Use case diagram of Monitor Hospital Transaction Records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29" descr="USE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1295400"/>
            <a:ext cx="4719638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Practice Questions</a:t>
            </a:r>
            <a:endParaRPr/>
          </a:p>
        </p:txBody>
      </p:sp>
      <p:sp>
        <p:nvSpPr>
          <p:cNvPr id="296" name="Google Shape;296;p30"/>
          <p:cNvSpPr txBox="1">
            <a:spLocks noGrp="1"/>
          </p:cNvSpPr>
          <p:nvPr>
            <p:ph type="body" idx="1"/>
          </p:nvPr>
        </p:nvSpPr>
        <p:spPr>
          <a:xfrm>
            <a:off x="464270" y="18288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0A0B"/>
              </a:buClr>
              <a:buSzPts val="2200"/>
              <a:buChar char="•"/>
            </a:pPr>
            <a:r>
              <a:rPr lang="en-US" b="1" i="0">
                <a:solidFill>
                  <a:srgbClr val="090A0B"/>
                </a:solidFill>
              </a:rPr>
              <a:t>What is a UML diagram </a:t>
            </a:r>
            <a:r>
              <a:rPr lang="en-US" b="1">
                <a:solidFill>
                  <a:srgbClr val="090A0B"/>
                </a:solidFill>
              </a:rPr>
              <a:t>stereotype,</a:t>
            </a:r>
            <a:r>
              <a:rPr lang="en-US" b="1" i="0">
                <a:solidFill>
                  <a:srgbClr val="090A0B"/>
                </a:solidFill>
              </a:rPr>
              <a:t> and how is it used?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90A0B"/>
              </a:buClr>
              <a:buSzPts val="2200"/>
              <a:buChar char="•"/>
            </a:pPr>
            <a:r>
              <a:rPr lang="en-US" b="1" i="0">
                <a:solidFill>
                  <a:srgbClr val="090A0B"/>
                </a:solidFill>
              </a:rPr>
              <a:t>How is inheritance represented in UML?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212121"/>
              </a:buClr>
              <a:buSzPts val="2200"/>
              <a:buChar char="•"/>
            </a:pPr>
            <a:r>
              <a:rPr lang="en-US" b="1" i="0">
                <a:solidFill>
                  <a:srgbClr val="212121"/>
                </a:solidFill>
              </a:rPr>
              <a:t>Can you explain use case diagrams?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212121"/>
              </a:buClr>
              <a:buSzPts val="2200"/>
              <a:buChar char="•"/>
            </a:pPr>
            <a:r>
              <a:rPr lang="en-US" b="1" i="0">
                <a:solidFill>
                  <a:srgbClr val="212121"/>
                </a:solidFill>
              </a:rPr>
              <a:t>Can you explain 'Extend' and 'Include' in use cases?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212121"/>
              </a:buClr>
              <a:buSzPts val="2200"/>
              <a:buChar char="•"/>
            </a:pPr>
            <a:r>
              <a:rPr lang="en-US" b="1" i="0">
                <a:solidFill>
                  <a:srgbClr val="212121"/>
                </a:solidFill>
              </a:rPr>
              <a:t>What do you mean by </a:t>
            </a:r>
            <a:r>
              <a:rPr lang="en-US" b="1">
                <a:solidFill>
                  <a:srgbClr val="212121"/>
                </a:solidFill>
              </a:rPr>
              <a:t>structure</a:t>
            </a:r>
            <a:r>
              <a:rPr lang="en-US" b="1" i="0">
                <a:solidFill>
                  <a:srgbClr val="212121"/>
                </a:solidFill>
              </a:rPr>
              <a:t> diagram?</a:t>
            </a:r>
            <a:endParaRPr/>
          </a:p>
          <a:p>
            <a:pPr marL="342900" lvl="0" indent="-2032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b="1" i="0">
              <a:solidFill>
                <a:srgbClr val="090A0B"/>
              </a:solidFill>
            </a:endParaRPr>
          </a:p>
          <a:p>
            <a:pPr marL="342900" lvl="0" indent="-2032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b="1"/>
          </a:p>
        </p:txBody>
      </p:sp>
      <p:sp>
        <p:nvSpPr>
          <p:cNvPr id="297" name="Google Shape;297;p30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1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63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endParaRPr sz="4400"/>
          </a:p>
          <a:p>
            <a:pPr marL="342900" lvl="0" indent="-63500" algn="ctr" rtl="0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endParaRPr sz="4400"/>
          </a:p>
          <a:p>
            <a:pPr marL="0" lvl="0" indent="0" algn="ctr" rtl="0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 sz="4400"/>
              <a:t>THANKS</a:t>
            </a:r>
            <a:endParaRPr/>
          </a:p>
        </p:txBody>
      </p:sp>
      <p:sp>
        <p:nvSpPr>
          <p:cNvPr id="303" name="Google Shape;303;p31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1930</Words>
  <Application>Microsoft Office PowerPoint</Application>
  <PresentationFormat>On-screen Show (4:3)</PresentationFormat>
  <Paragraphs>219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Noto Sans Symbols</vt:lpstr>
      <vt:lpstr>Times</vt:lpstr>
      <vt:lpstr>Times New Roman</vt:lpstr>
      <vt:lpstr>Office Theme</vt:lpstr>
      <vt:lpstr>PowerPoint Presentation</vt:lpstr>
      <vt:lpstr>Index</vt:lpstr>
      <vt:lpstr>Introduction to UML</vt:lpstr>
      <vt:lpstr>Goals of UML</vt:lpstr>
      <vt:lpstr>Characteristics of UML</vt:lpstr>
      <vt:lpstr>UML Building Blocks</vt:lpstr>
      <vt:lpstr>Things</vt:lpstr>
      <vt:lpstr>Things (contd.)</vt:lpstr>
      <vt:lpstr>Things (contd.)</vt:lpstr>
      <vt:lpstr>Things (contd.)</vt:lpstr>
      <vt:lpstr>Things (contd.)</vt:lpstr>
      <vt:lpstr>Things (contd.)</vt:lpstr>
      <vt:lpstr>Things (contd.)</vt:lpstr>
      <vt:lpstr>Things (contd.)</vt:lpstr>
      <vt:lpstr>Things (contd.)</vt:lpstr>
      <vt:lpstr>Things (contd.)</vt:lpstr>
      <vt:lpstr>Things (contd.)</vt:lpstr>
      <vt:lpstr>Relationships</vt:lpstr>
      <vt:lpstr>Relationships (contd.)</vt:lpstr>
      <vt:lpstr>Relationships (contd.)</vt:lpstr>
      <vt:lpstr>Relationships (contd.)</vt:lpstr>
      <vt:lpstr>UML Modelling Software</vt:lpstr>
      <vt:lpstr>Diagrams in UML</vt:lpstr>
      <vt:lpstr>Introduction to Use Case Diagram</vt:lpstr>
      <vt:lpstr>Importance of Use Case</vt:lpstr>
      <vt:lpstr>Contd…</vt:lpstr>
      <vt:lpstr>Contd…</vt:lpstr>
      <vt:lpstr>Contd…</vt:lpstr>
      <vt:lpstr>Contd…</vt:lpstr>
      <vt:lpstr>Practice Questions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ABC</dc:creator>
  <cp:lastModifiedBy>Suvarna Sharma</cp:lastModifiedBy>
  <cp:revision>1</cp:revision>
  <dcterms:created xsi:type="dcterms:W3CDTF">2021-07-05T10:09:00Z</dcterms:created>
  <dcterms:modified xsi:type="dcterms:W3CDTF">2024-12-27T06:51:00Z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1033-11.2.0.10463</vt:lpwstr>
  </property>
  <property fmtid="{D5CDD505-2E9C-101B-9397-08002B2CF9AE}" pid="3" name="ICV">
    <vt:lpwstr>C66E8A929365439D9183C5235316B3C9</vt:lpwstr>
  </property>
</Properties>
</file>