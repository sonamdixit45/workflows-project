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856" r:id="rId2"/>
    <p:sldId id="257" r:id="rId3"/>
    <p:sldId id="757" r:id="rId4"/>
    <p:sldId id="758" r:id="rId5"/>
    <p:sldId id="759" r:id="rId6"/>
    <p:sldId id="760" r:id="rId7"/>
    <p:sldId id="761" r:id="rId8"/>
    <p:sldId id="762" r:id="rId9"/>
    <p:sldId id="763" r:id="rId10"/>
    <p:sldId id="764" r:id="rId11"/>
    <p:sldId id="765" r:id="rId12"/>
    <p:sldId id="766" r:id="rId13"/>
    <p:sldId id="780" r:id="rId14"/>
    <p:sldId id="313" r:id="rId15"/>
  </p:sldIdLst>
  <p:sldSz cx="9144000" cy="6858000" type="screen4x3"/>
  <p:notesSz cx="7559675" cy="10691813"/>
  <p:embeddedFontLst>
    <p:embeddedFont>
      <p:font typeface="Times New Roman Bold" panose="02020803070505020304" pitchFamily="18" charset="0"/>
      <p:bold r:id="rId17"/>
    </p:embeddedFont>
    <p:embeddedFont>
      <p:font typeface="Times" panose="02020603050405020304" pitchFamily="18" charset="0"/>
      <p:regular r:id="rId18"/>
      <p:bold r:id="rId19"/>
      <p:italic r:id="rId20"/>
      <p:boldItalic r:id="rId21"/>
    </p:embeddedFont>
    <p:embeddedFont>
      <p:font typeface="MS PGothic" panose="020B0600070205080204" pitchFamily="34" charset="-128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jBLrMujGmK0mcIUsVW4HHj27wE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6D8C4D-A2DB-48BA-B2CD-EECFE764FD55}">
  <a:tblStyle styleId="{866D8C4D-A2DB-48BA-B2CD-EECFE764FD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39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7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563529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2775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3039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0" name="Google Shape;50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723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ftr" idx="11"/>
          </p:nvPr>
        </p:nvSpPr>
        <p:spPr>
          <a:xfrm>
            <a:off x="457559" y="6356520"/>
            <a:ext cx="8499154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70C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3932808" cy="674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3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3" name="Google Shape;33;p30"/>
          <p:cNvSpPr txBox="1">
            <a:spLocks noGrp="1"/>
          </p:cNvSpPr>
          <p:nvPr>
            <p:ph type="ftr" idx="11"/>
          </p:nvPr>
        </p:nvSpPr>
        <p:spPr>
          <a:xfrm>
            <a:off x="352540" y="6356520"/>
            <a:ext cx="83339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ftr" idx="11"/>
          </p:nvPr>
        </p:nvSpPr>
        <p:spPr>
          <a:xfrm>
            <a:off x="374573" y="6356350"/>
            <a:ext cx="84829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457199" y="6356520"/>
            <a:ext cx="8229239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ftr" idx="11"/>
          </p:nvPr>
        </p:nvSpPr>
        <p:spPr>
          <a:xfrm>
            <a:off x="352540" y="6356520"/>
            <a:ext cx="8361802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>
  <p:cSld name="Centered 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ftr" idx="11"/>
          </p:nvPr>
        </p:nvSpPr>
        <p:spPr>
          <a:xfrm>
            <a:off x="374573" y="6356350"/>
            <a:ext cx="84829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ftr" idx="11"/>
          </p:nvPr>
        </p:nvSpPr>
        <p:spPr>
          <a:xfrm>
            <a:off x="374573" y="6356350"/>
            <a:ext cx="84829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ftr" idx="11"/>
          </p:nvPr>
        </p:nvSpPr>
        <p:spPr>
          <a:xfrm>
            <a:off x="374573" y="6356350"/>
            <a:ext cx="84829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ftr" idx="11"/>
          </p:nvPr>
        </p:nvSpPr>
        <p:spPr>
          <a:xfrm>
            <a:off x="374573" y="6356350"/>
            <a:ext cx="84829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ftr" idx="11"/>
          </p:nvPr>
        </p:nvSpPr>
        <p:spPr>
          <a:xfrm>
            <a:off x="374573" y="6356350"/>
            <a:ext cx="84829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40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ftr" idx="11"/>
          </p:nvPr>
        </p:nvSpPr>
        <p:spPr>
          <a:xfrm>
            <a:off x="374573" y="6356350"/>
            <a:ext cx="84829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BLANK 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1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1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1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1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41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1"/>
          <p:cNvSpPr txBox="1">
            <a:spLocks noGrp="1"/>
          </p:cNvSpPr>
          <p:nvPr>
            <p:ph type="ftr" idx="11"/>
          </p:nvPr>
        </p:nvSpPr>
        <p:spPr>
          <a:xfrm>
            <a:off x="374573" y="6356350"/>
            <a:ext cx="84829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E11729AC-FBB6-50BF-140F-6DFFE9DCD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12.</a:t>
            </a:r>
            <a:fld id="{79B5908F-1003-4FE2-9619-748025AA96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17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8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8" descr="LOGO.gif"/>
          <p:cNvPicPr preferRelativeResize="0"/>
          <p:nvPr/>
        </p:nvPicPr>
        <p:blipFill rotWithShape="1">
          <a:blip r:embed="rId1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8" descr="LOGO.gif"/>
          <p:cNvPicPr preferRelativeResize="0"/>
          <p:nvPr/>
        </p:nvPicPr>
        <p:blipFill rotWithShape="1">
          <a:blip r:embed="rId1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8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28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6;p28" descr="LOGO.gif"/>
            <p:cNvPicPr preferRelativeResize="0"/>
            <p:nvPr/>
          </p:nvPicPr>
          <p:blipFill rotWithShape="1">
            <a:blip r:embed="rId15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28" descr="logo.jp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8" descr="LOGO.gif"/>
          <p:cNvPicPr preferRelativeResize="0"/>
          <p:nvPr/>
        </p:nvPicPr>
        <p:blipFill rotWithShape="1">
          <a:blip r:embed="rId1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28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28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28" descr="LOGO.gif"/>
            <p:cNvPicPr preferRelativeResize="0"/>
            <p:nvPr/>
          </p:nvPicPr>
          <p:blipFill rotWithShape="1">
            <a:blip r:embed="rId15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2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" name="Google Shape;24;p28" descr="logo.jp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ftr" idx="11"/>
          </p:nvPr>
        </p:nvSpPr>
        <p:spPr>
          <a:xfrm>
            <a:off x="374573" y="6356350"/>
            <a:ext cx="84829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Computer Networks               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/>
        </p:nvSpPr>
        <p:spPr>
          <a:xfrm>
            <a:off x="947786" y="2932386"/>
            <a:ext cx="7564618" cy="294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4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Risk Management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400" b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rtl="0">
              <a:spcBef>
                <a:spcPts val="400"/>
              </a:spcBef>
              <a:buNone/>
            </a:pPr>
            <a:r>
              <a:rPr lang="en-US" sz="2000" b="1" i="0" u="none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Lecture (Theory)</a:t>
            </a:r>
            <a:endParaRPr lang="en-US" sz="20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spcBef>
                <a:spcPts val="400"/>
              </a:spcBef>
              <a:buNone/>
            </a:pPr>
            <a:r>
              <a:rPr lang="en-US" sz="2000" b="1" i="0" u="none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Prepared By Dr. Neha Sharma</a:t>
            </a:r>
            <a:endParaRPr lang="en-US" sz="20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3200" b="0" dirty="0">
                <a:effectLst/>
              </a:rPr>
              <a:t/>
            </a:r>
            <a:br>
              <a:rPr lang="en-US" sz="3200" b="0" dirty="0">
                <a:effectLst/>
              </a:rPr>
            </a:br>
            <a:endParaRPr lang="en-US" sz="2400" b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4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36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9F80F3F-71B9-9667-D443-B755FD9B5632}"/>
              </a:ext>
            </a:extLst>
          </p:cNvPr>
          <p:cNvSpPr txBox="1"/>
          <p:nvPr/>
        </p:nvSpPr>
        <p:spPr>
          <a:xfrm>
            <a:off x="1398799" y="2102069"/>
            <a:ext cx="6346401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Software Engineering (OOSE)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381786" y="292407"/>
            <a:ext cx="6019560" cy="89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68990" y="963516"/>
            <a:ext cx="8838720" cy="494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675349" y="1529898"/>
            <a:ext cx="7826002" cy="485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What is Risk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200" b="1" dirty="0"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What are Software Risks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200" b="1" dirty="0"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Software Risk Categorization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200" b="1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Risk Management and Planning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200" b="1" i="0" dirty="0">
                <a:solidFill>
                  <a:srgbClr val="0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Risk Identification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200" b="1" i="0" dirty="0">
                <a:solidFill>
                  <a:srgbClr val="0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Risk Projection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sz="2200" dirty="0">
              <a:latin typeface="Times" panose="02020603050405020304" pitchFamily="18" charset="0"/>
              <a:ea typeface="Times New Roman"/>
              <a:cs typeface="Times" panose="02020603050405020304" pitchFamily="18" charset="0"/>
              <a:sym typeface="Times New Roman"/>
            </a:endParaRPr>
          </a:p>
          <a:p>
            <a:pPr marL="3429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sz="2200" dirty="0">
              <a:latin typeface="Times" panose="02020603050405020304" pitchFamily="18" charset="0"/>
              <a:ea typeface="Times New Roman"/>
              <a:cs typeface="Times" panose="02020603050405020304" pitchFamily="18" charset="0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endParaRPr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953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Risk Definition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87846"/>
            <a:ext cx="8991600" cy="433354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probability of suffering loss. Risk provides an opportunity to develop the project better.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difference between a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some event which has already occurred but risk is something that is unpredictable.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expectation of loss, a potential problem that may or may not occur in the future.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generally caused due to lack of information, control or time.</a:t>
            </a:r>
          </a:p>
        </p:txBody>
      </p:sp>
    </p:spTree>
    <p:extLst>
      <p:ext uri="{BB962C8B-B14F-4D97-AF65-F5344CB8AC3E}">
        <p14:creationId xmlns:p14="http://schemas.microsoft.com/office/powerpoint/2010/main" val="391231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Software Risk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87845"/>
            <a:ext cx="8991600" cy="47962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possibility of suffering from loss in software development process is called a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risk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can be anything,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production cost, development of poor quality software, not being able to complete the project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time.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risk exists because the future is uncertain and many known and unknown things cannot be incorporated in the project plan.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risk can be of two types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internal risks that are within the control of the project manager and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external risks that are beyond the control of project manager. </a:t>
            </a:r>
            <a:r>
              <a:rPr lang="en-US" sz="200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567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268825" cy="674703"/>
          </a:xfrm>
        </p:spPr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Software Risk Categorization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FAA57292-450D-AA4B-3F8D-EAFF97EB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1" y="878418"/>
            <a:ext cx="8991600" cy="5410200"/>
          </a:xfrm>
        </p:spPr>
        <p:txBody>
          <a:bodyPr>
            <a:noAutofit/>
          </a:bodyPr>
          <a:lstStyle/>
          <a:p>
            <a:pPr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risks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threaten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plan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That is, if project risks become real,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likely that the project schedule will slip and that costs will increase. </a:t>
            </a:r>
          </a:p>
          <a:p>
            <a:pPr marL="34290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risks identify potential budgetary, schedule, personnel (staffing and organization), resource, stakeholder, and requirements problems and their impact on a software project.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Technical risks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threaten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and timeliness of the software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produced. If a technical risk becomes a reality,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may become difficult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impossible. </a:t>
            </a:r>
          </a:p>
          <a:p>
            <a:pPr marL="34290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risks identify potential design, implementation, interface, verification, and maintenance problems.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303030"/>
                </a:solidFill>
              </a:rPr>
              <a:t> 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77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5448693" cy="697584"/>
          </a:xfrm>
        </p:spPr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Software Risk Categorization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FAA57292-450D-AA4B-3F8D-EAFF97EB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87845"/>
            <a:ext cx="8991600" cy="562607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3200" b="1" dirty="0">
                <a:solidFill>
                  <a:srgbClr val="C00000"/>
                </a:solidFill>
              </a:rPr>
              <a:t>.</a:t>
            </a:r>
            <a:r>
              <a:rPr lang="en-IN" sz="2000" b="1" dirty="0">
                <a:solidFill>
                  <a:srgbClr val="C00000"/>
                </a:solidFill>
              </a:rPr>
              <a:t> </a:t>
            </a:r>
            <a:r>
              <a:rPr lang="en-IN" sz="2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risks 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threaten </a:t>
            </a: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viability of the software 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built and often jeopardize the project or the product. Candidates for the top five business risks are: 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an excellent product or system that no one really wants </a:t>
            </a:r>
            <a:r>
              <a:rPr lang="en-IN" sz="2900" i="1" dirty="0">
                <a:solidFill>
                  <a:srgbClr val="3A30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(market risk)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product that no longer fits into the overall business strategy for the company </a:t>
            </a:r>
            <a:r>
              <a:rPr lang="en-IN" sz="2900" i="1" dirty="0">
                <a:solidFill>
                  <a:srgbClr val="3A30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(strategic risk)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product that the sales force doesn’t understand how to sell </a:t>
            </a:r>
            <a:r>
              <a:rPr lang="en-IN" sz="2900" i="1" dirty="0">
                <a:solidFill>
                  <a:srgbClr val="3A30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(sales risk)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losing the support of senior management due to a change in focus or a change in people </a:t>
            </a:r>
            <a:r>
              <a:rPr lang="en-IN" sz="2900" i="1" dirty="0">
                <a:solidFill>
                  <a:srgbClr val="3A30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(management risk)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losing budgetary or personnel commitment </a:t>
            </a:r>
            <a:r>
              <a:rPr lang="en-IN" sz="2900" i="1" dirty="0">
                <a:solidFill>
                  <a:srgbClr val="3A30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(budget risks).</a:t>
            </a:r>
          </a:p>
        </p:txBody>
      </p:sp>
    </p:spTree>
    <p:extLst>
      <p:ext uri="{BB962C8B-B14F-4D97-AF65-F5344CB8AC3E}">
        <p14:creationId xmlns:p14="http://schemas.microsoft.com/office/powerpoint/2010/main" val="3739730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231876" cy="744718"/>
          </a:xfrm>
        </p:spPr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Software Risk Categorization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FAA57292-450D-AA4B-3F8D-EAFF97EB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87845"/>
            <a:ext cx="8991600" cy="54102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Another general categorization of risks has been proposed by Charette: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Known risks </a:t>
            </a:r>
            <a:r>
              <a:rPr lang="en-US" sz="2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those that </a:t>
            </a:r>
            <a:r>
              <a:rPr lang="en-US" sz="22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uncovered after careful evaluation of the project plan, the business and technical environment</a:t>
            </a:r>
            <a:r>
              <a:rPr lang="en-US" sz="2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which the project is being developed, and other reliable information sources (e.g., unrealistic delivery date, lack of documented requirements or software scope, poor development environment).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Predictable risks </a:t>
            </a:r>
            <a:r>
              <a:rPr lang="en-US" sz="2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2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extrapolated from past project experience </a:t>
            </a:r>
            <a:r>
              <a:rPr lang="en-US" sz="2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(e.g., staff turnover, poor communication with the customer, dilution of staff effort as ongoing maintenance requests are serviced).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Unpredictable risks </a:t>
            </a:r>
            <a:r>
              <a:rPr lang="en-US" sz="2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the joker in the deck. They </a:t>
            </a:r>
            <a:r>
              <a:rPr lang="en-US" sz="22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and do occur</a:t>
            </a:r>
            <a:r>
              <a:rPr lang="en-US" sz="2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they are extremely difficult to identify in </a:t>
            </a:r>
            <a:r>
              <a:rPr lang="en-US" sz="2200" b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</a:t>
            </a:r>
            <a:r>
              <a:rPr lang="en-US" sz="2200" b="0" i="0" dirty="0" smtClean="0">
                <a:solidFill>
                  <a:srgbClr val="242021"/>
                </a:solidFill>
                <a:effectLst/>
              </a:rPr>
              <a:t>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1800" dirty="0" smtClean="0">
                <a:solidFill>
                  <a:srgbClr val="303030"/>
                </a:solidFill>
              </a:rPr>
              <a:t> 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049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Risk Strategies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FAA57292-450D-AA4B-3F8D-EAFF97EB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87844"/>
            <a:ext cx="9001812" cy="5541235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8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Reactive risk strategies: </a:t>
            </a:r>
          </a:p>
          <a:p>
            <a:pPr algn="just">
              <a:lnSpc>
                <a:spcPct val="15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software teams and managers rely on this approach</a:t>
            </a:r>
          </a:p>
          <a:p>
            <a:pPr algn="just">
              <a:lnSpc>
                <a:spcPct val="15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Nothing is done about risks until something goes wrong</a:t>
            </a:r>
          </a:p>
          <a:p>
            <a:pPr algn="just">
              <a:lnSpc>
                <a:spcPct val="15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then flies into action in an attempt </a:t>
            </a: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correct the problem rapidly </a:t>
            </a:r>
            <a:r>
              <a:rPr lang="en-IN" sz="8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(fire fighting mode)</a:t>
            </a:r>
          </a:p>
          <a:p>
            <a:pPr algn="just">
              <a:lnSpc>
                <a:spcPct val="15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management is the choice of management techniques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8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Proactive risk strategies:</a:t>
            </a:r>
          </a:p>
          <a:p>
            <a:pPr algn="just">
              <a:lnSpc>
                <a:spcPct val="15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proactive strategy begins long before technical work is initiated. </a:t>
            </a:r>
          </a:p>
          <a:p>
            <a:pPr algn="just">
              <a:lnSpc>
                <a:spcPct val="15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risks are identified, their probability and impact are assessed, and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ranked by importance.</a:t>
            </a:r>
          </a:p>
          <a:p>
            <a:pPr algn="just">
              <a:lnSpc>
                <a:spcPct val="15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 is to avoid risk and to have a contingency plan in place to handle unavoidable risks in a controlled and effective manner.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/>
              <a:t/>
            </a:r>
            <a:br>
              <a:rPr lang="en-US" sz="2600" dirty="0"/>
            </a:br>
            <a:r>
              <a:rPr lang="en-US" sz="1800" dirty="0">
                <a:solidFill>
                  <a:srgbClr val="303030"/>
                </a:solidFill>
              </a:rPr>
              <a:t> 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809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Risk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FAA57292-450D-AA4B-3F8D-EAFF97EB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87845"/>
            <a:ext cx="8991600" cy="5410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identification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systematic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to specify threats to the project plan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identifying known and predictable risks, the project manager takes a first step toward avoiding them when possible and controlling them when necessary</a:t>
            </a:r>
          </a:p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distinct types of risks: generic risks and product-specific risks.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risks </a:t>
            </a:r>
          </a:p>
          <a:p>
            <a:pPr lvl="1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that are a potential threat to every software project</a:t>
            </a: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Product-specific risks </a:t>
            </a:r>
          </a:p>
          <a:p>
            <a:pPr lvl="1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that can be identified only by those a with a clear understanding of the technology, the people, and the environment that is specific to the software that is to be built</a:t>
            </a:r>
          </a:p>
          <a:p>
            <a:pPr lvl="1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requires examination of the project plan and the statement of scope</a:t>
            </a:r>
          </a:p>
          <a:p>
            <a:pPr lvl="1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special characteristics of this product may threaten our project plan?"</a:t>
            </a:r>
            <a:r>
              <a:rPr lang="en-US" sz="1800" b="1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626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Risk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FAA57292-450D-AA4B-3F8D-EAFF97EB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87845"/>
            <a:ext cx="8991600" cy="5410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method for identifying risks is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risk item checklist.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checklist can be used for risk identification and focuses on some subset of known and predictable risks in the following generic subcategories: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size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—risks associated with the overall size of the software to be built or modified.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—risks associated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imposed by management or the marketplace.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 characteristics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—risks associated with the sophistication of the stakeholders and the developer’s ability to communicate with stakeholders in a timely manner.</a:t>
            </a:r>
          </a:p>
        </p:txBody>
      </p:sp>
    </p:spTree>
    <p:extLst>
      <p:ext uri="{BB962C8B-B14F-4D97-AF65-F5344CB8AC3E}">
        <p14:creationId xmlns:p14="http://schemas.microsoft.com/office/powerpoint/2010/main" val="3950277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Risk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87845"/>
            <a:ext cx="8991600" cy="4815371"/>
          </a:xfrm>
        </p:spPr>
        <p:txBody>
          <a:bodyPr>
            <a:normAutofit/>
          </a:bodyPr>
          <a:lstStyle/>
          <a:p>
            <a:pPr marL="800100" lvl="1" indent="-3429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definition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—Risks associated with the degree to which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process has been defined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is followed by the development organization.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—Risks associated with </a:t>
            </a:r>
            <a:r>
              <a:rPr lang="en-US" sz="20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availability and quality of the tools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be used to build the product.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to be built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—Risks associated with the </a:t>
            </a:r>
            <a:r>
              <a:rPr lang="en-US" sz="20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the system 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be built and the “newness” of the technology that is packaged by the system.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Staff size and experience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—Risks associated with the </a:t>
            </a:r>
            <a:r>
              <a:rPr lang="en-US" sz="20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technical and project experience of the software engineers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who will do the work</a:t>
            </a:r>
            <a:r>
              <a:rPr lang="en-US" sz="2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070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 Bold" panose="02020503050405090304" charset="0"/>
                <a:cs typeface="Times New Roman Bold" panose="02020503050405090304" charset="0"/>
              </a:rPr>
              <a:t>Risk Projection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8BD8F058-9003-4658-AA47-7D4800AF7EA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CD65C24-61BB-2F3E-29AA-8E064219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87845"/>
            <a:ext cx="8991600" cy="541020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200" b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projection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also called </a:t>
            </a:r>
            <a:r>
              <a:rPr lang="en-US" sz="3200" b="0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estimation</a:t>
            </a:r>
            <a:r>
              <a:rPr lang="en-US" sz="32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attempts to rate each risk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two ways— </a:t>
            </a:r>
          </a:p>
          <a:p>
            <a:pPr lvl="1" algn="just">
              <a:lnSpc>
                <a:spcPct val="150000"/>
              </a:lnSpc>
            </a:pP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likelihood or probability that the risk is real and </a:t>
            </a:r>
          </a:p>
          <a:p>
            <a:pPr lvl="1" algn="just">
              <a:lnSpc>
                <a:spcPct val="150000"/>
              </a:lnSpc>
            </a:pP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consequences of the problems associated with the risk, should it occur.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work along with other managers and technical staff to perform four risk projection steps:</a:t>
            </a:r>
          </a:p>
          <a:p>
            <a:pPr marL="800100" lvl="2" indent="-400050" algn="just">
              <a:lnSpc>
                <a:spcPct val="150000"/>
              </a:lnSpc>
              <a:buFont typeface="+mj-lt"/>
              <a:buAutoNum type="romanLcPeriod"/>
            </a:pPr>
            <a:r>
              <a:rPr lang="en-US" sz="32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 a scale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reflects the perceived likelihood of a risk.</a:t>
            </a:r>
          </a:p>
          <a:p>
            <a:pPr marL="800100" lvl="2" indent="-400050" algn="just">
              <a:lnSpc>
                <a:spcPct val="150000"/>
              </a:lnSpc>
              <a:buFont typeface="+mj-lt"/>
              <a:buAutoNum type="romanLcPeriod"/>
            </a:pPr>
            <a:r>
              <a:rPr lang="en-US" sz="32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Delineate the consequences 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the risk.</a:t>
            </a:r>
          </a:p>
          <a:p>
            <a:pPr marL="800100" lvl="2" indent="-400050" algn="just">
              <a:lnSpc>
                <a:spcPct val="150000"/>
              </a:lnSpc>
              <a:buFont typeface="+mj-lt"/>
              <a:buAutoNum type="romanLcPeriod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impact of the risk on the project and the product.</a:t>
            </a:r>
          </a:p>
          <a:p>
            <a:pPr marL="800100" lvl="2" indent="-400050" algn="just">
              <a:lnSpc>
                <a:spcPct val="150000"/>
              </a:lnSpc>
              <a:buFont typeface="+mj-lt"/>
              <a:buAutoNum type="romanLcPeriod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Assess the </a:t>
            </a:r>
            <a:r>
              <a:rPr lang="en-US" sz="32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 of the risk projection</a:t>
            </a:r>
            <a:r>
              <a:rPr lang="en-US" sz="32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that there will be no misunderstandings.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2" indent="0" algn="just">
              <a:lnSpc>
                <a:spcPct val="150000"/>
              </a:lnSpc>
              <a:buNone/>
            </a:pPr>
            <a:endParaRPr lang="en-US" sz="1800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827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DDC6A74-6C13-2D2F-C608-B1486FFA7C1B}"/>
              </a:ext>
            </a:extLst>
          </p:cNvPr>
          <p:cNvSpPr txBox="1"/>
          <p:nvPr/>
        </p:nvSpPr>
        <p:spPr>
          <a:xfrm>
            <a:off x="147145" y="145656"/>
            <a:ext cx="6547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Practice Questions</a:t>
            </a:r>
            <a:endParaRPr lang="en-IN" sz="36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B83B3E5-FBEE-1670-0A62-2CE34F0DCB96}"/>
              </a:ext>
            </a:extLst>
          </p:cNvPr>
          <p:cNvSpPr txBox="1"/>
          <p:nvPr/>
        </p:nvSpPr>
        <p:spPr>
          <a:xfrm>
            <a:off x="574710" y="1206992"/>
            <a:ext cx="75569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400" i="0" dirty="0"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sz="2400" i="0" dirty="0"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CBDD79C-6B67-F8B8-BBC4-C6413142AF10}"/>
              </a:ext>
            </a:extLst>
          </p:cNvPr>
          <p:cNvSpPr txBox="1"/>
          <p:nvPr/>
        </p:nvSpPr>
        <p:spPr>
          <a:xfrm>
            <a:off x="1" y="888999"/>
            <a:ext cx="91440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you describe the steps involved in the risk management process? 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would you priorities risks in a project?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techniques do you use for risk identification? 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would you assess the potential impact of a risk? 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you explain what risk appetite is? 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 you communicate risk-related information to stakeholders? 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you explain the importance of staying updated on the risk management trends and best practices?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you explain Risk Management and why it is important for organizations</a:t>
            </a:r>
            <a:r>
              <a:rPr lang="en-US" sz="16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   </a:t>
            </a:r>
          </a:p>
        </p:txBody>
      </p:sp>
    </p:spTree>
    <p:extLst>
      <p:ext uri="{BB962C8B-B14F-4D97-AF65-F5344CB8AC3E}">
        <p14:creationId xmlns:p14="http://schemas.microsoft.com/office/powerpoint/2010/main" val="1930141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503" name="Google Shape;503;p27"/>
          <p:cNvSpPr txBox="1">
            <a:spLocks noGrp="1"/>
          </p:cNvSpPr>
          <p:nvPr>
            <p:ph type="ftr" idx="11"/>
          </p:nvPr>
        </p:nvSpPr>
        <p:spPr>
          <a:xfrm>
            <a:off x="352540" y="6356520"/>
            <a:ext cx="83339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Computer Networks            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4" name="Google Shape;504;p27" descr="See the source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1129</Words>
  <Application>Microsoft Office PowerPoint</Application>
  <PresentationFormat>On-screen Show (4:3)</PresentationFormat>
  <Paragraphs>122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Times New Roman Bold</vt:lpstr>
      <vt:lpstr>Times</vt:lpstr>
      <vt:lpstr>MS PGothic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Risk Definition</vt:lpstr>
      <vt:lpstr>Software Risk</vt:lpstr>
      <vt:lpstr>Software Risk Categorization</vt:lpstr>
      <vt:lpstr>Software Risk Categorization</vt:lpstr>
      <vt:lpstr>Software Risk Categorization</vt:lpstr>
      <vt:lpstr>Risk Strategies</vt:lpstr>
      <vt:lpstr>Risk Identification</vt:lpstr>
      <vt:lpstr>Risk Identification</vt:lpstr>
      <vt:lpstr>Risk Identification</vt:lpstr>
      <vt:lpstr>Risk Projection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dell</cp:lastModifiedBy>
  <cp:revision>36</cp:revision>
  <dcterms:created xsi:type="dcterms:W3CDTF">2010-04-09T07:36:15Z</dcterms:created>
  <dcterms:modified xsi:type="dcterms:W3CDTF">2025-05-05T07:28:54Z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</Properties>
</file>