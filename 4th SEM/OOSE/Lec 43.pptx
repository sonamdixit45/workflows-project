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gHbHUoY06ke/pd75hzZW3vDtAL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04" name="Google Shape;104;p6: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48" name="Google Shape;148;p13: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56" name="Google Shape;156;p14: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2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28" name="Shape 28"/>
        <p:cNvGrpSpPr/>
        <p:nvPr/>
      </p:nvGrpSpPr>
      <p:grpSpPr>
        <a:xfrm>
          <a:off x="0" y="0"/>
          <a:ext cx="0" cy="0"/>
          <a:chOff x="0" y="0"/>
          <a:chExt cx="0" cy="0"/>
        </a:xfrm>
      </p:grpSpPr>
      <p:sp>
        <p:nvSpPr>
          <p:cNvPr id="29" name="Google Shape;29;p29"/>
          <p:cNvSpPr txBox="1"/>
          <p:nvPr>
            <p:ph idx="11" type="ftr"/>
          </p:nvPr>
        </p:nvSpPr>
        <p:spPr>
          <a:xfrm>
            <a:off x="457559" y="6356520"/>
            <a:ext cx="8499154"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0" name="Shape 30"/>
        <p:cNvGrpSpPr/>
        <p:nvPr/>
      </p:nvGrpSpPr>
      <p:grpSpPr>
        <a:xfrm>
          <a:off x="0" y="0"/>
          <a:ext cx="0" cy="0"/>
          <a:chOff x="0" y="0"/>
          <a:chExt cx="0" cy="0"/>
        </a:xfrm>
      </p:grpSpPr>
      <p:sp>
        <p:nvSpPr>
          <p:cNvPr id="31" name="Google Shape;31;p3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0"/>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1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32"/>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9" name="Shape 39"/>
        <p:cNvGrpSpPr/>
        <p:nvPr/>
      </p:nvGrpSpPr>
      <p:grpSpPr>
        <a:xfrm>
          <a:off x="0" y="0"/>
          <a:ext cx="0" cy="0"/>
          <a:chOff x="0" y="0"/>
          <a:chExt cx="0" cy="0"/>
        </a:xfrm>
      </p:grpSpPr>
      <p:sp>
        <p:nvSpPr>
          <p:cNvPr id="40" name="Google Shape;40;p3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3"/>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2" name="Google Shape;42;p33"/>
          <p:cNvSpPr txBox="1"/>
          <p:nvPr>
            <p:ph idx="11" type="ftr"/>
          </p:nvPr>
        </p:nvSpPr>
        <p:spPr>
          <a:xfrm>
            <a:off x="457199" y="6356520"/>
            <a:ext cx="8229239"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3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4"/>
          <p:cNvSpPr txBox="1"/>
          <p:nvPr>
            <p:ph idx="11" type="ftr"/>
          </p:nvPr>
        </p:nvSpPr>
        <p:spPr>
          <a:xfrm>
            <a:off x="352540" y="6356520"/>
            <a:ext cx="8361802"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p:cSld name="Centered Text">
    <p:spTree>
      <p:nvGrpSpPr>
        <p:cNvPr id="46" name="Shape 46"/>
        <p:cNvGrpSpPr/>
        <p:nvPr/>
      </p:nvGrpSpPr>
      <p:grpSpPr>
        <a:xfrm>
          <a:off x="0" y="0"/>
          <a:ext cx="0" cy="0"/>
          <a:chOff x="0" y="0"/>
          <a:chExt cx="0" cy="0"/>
        </a:xfrm>
      </p:grpSpPr>
      <p:sp>
        <p:nvSpPr>
          <p:cNvPr id="47" name="Google Shape;47;p35"/>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8" name="Google Shape;48;p35"/>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9" name="Shape 49"/>
        <p:cNvGrpSpPr/>
        <p:nvPr/>
      </p:nvGrpSpPr>
      <p:grpSpPr>
        <a:xfrm>
          <a:off x="0" y="0"/>
          <a:ext cx="0" cy="0"/>
          <a:chOff x="0" y="0"/>
          <a:chExt cx="0" cy="0"/>
        </a:xfrm>
      </p:grpSpPr>
      <p:sp>
        <p:nvSpPr>
          <p:cNvPr id="50" name="Google Shape;50;p3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6"/>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6"/>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5" name="Shape 55"/>
        <p:cNvGrpSpPr/>
        <p:nvPr/>
      </p:nvGrpSpPr>
      <p:grpSpPr>
        <a:xfrm>
          <a:off x="0" y="0"/>
          <a:ext cx="0" cy="0"/>
          <a:chOff x="0" y="0"/>
          <a:chExt cx="0" cy="0"/>
        </a:xfrm>
      </p:grpSpPr>
      <p:sp>
        <p:nvSpPr>
          <p:cNvPr id="56" name="Google Shape;56;p3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7"/>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7"/>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7"/>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1" name="Shape 61"/>
        <p:cNvGrpSpPr/>
        <p:nvPr/>
      </p:nvGrpSpPr>
      <p:grpSpPr>
        <a:xfrm>
          <a:off x="0" y="0"/>
          <a:ext cx="0" cy="0"/>
          <a:chOff x="0" y="0"/>
          <a:chExt cx="0" cy="0"/>
        </a:xfrm>
      </p:grpSpPr>
      <p:sp>
        <p:nvSpPr>
          <p:cNvPr id="62" name="Google Shape;62;p3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8"/>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7" name="Shape 67"/>
        <p:cNvGrpSpPr/>
        <p:nvPr/>
      </p:nvGrpSpPr>
      <p:grpSpPr>
        <a:xfrm>
          <a:off x="0" y="0"/>
          <a:ext cx="0" cy="0"/>
          <a:chOff x="0" y="0"/>
          <a:chExt cx="0" cy="0"/>
        </a:xfrm>
      </p:grpSpPr>
      <p:sp>
        <p:nvSpPr>
          <p:cNvPr id="68" name="Google Shape;68;p3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9"/>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9"/>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9"/>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2" name="Shape 72"/>
        <p:cNvGrpSpPr/>
        <p:nvPr/>
      </p:nvGrpSpPr>
      <p:grpSpPr>
        <a:xfrm>
          <a:off x="0" y="0"/>
          <a:ext cx="0" cy="0"/>
          <a:chOff x="0" y="0"/>
          <a:chExt cx="0" cy="0"/>
        </a:xfrm>
      </p:grpSpPr>
      <p:sp>
        <p:nvSpPr>
          <p:cNvPr id="73" name="Google Shape;73;p4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0"/>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0"/>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0"/>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BLANK 2">
    <p:spTree>
      <p:nvGrpSpPr>
        <p:cNvPr id="79" name="Shape 79"/>
        <p:cNvGrpSpPr/>
        <p:nvPr/>
      </p:nvGrpSpPr>
      <p:grpSpPr>
        <a:xfrm>
          <a:off x="0" y="0"/>
          <a:ext cx="0" cy="0"/>
          <a:chOff x="0" y="0"/>
          <a:chExt cx="0" cy="0"/>
        </a:xfrm>
      </p:grpSpPr>
      <p:sp>
        <p:nvSpPr>
          <p:cNvPr id="80" name="Google Shape;80;p4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1"/>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1"/>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1"/>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1"/>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1"/>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41"/>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1"/>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8"/>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28"/>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8"/>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292100" lvl="4" marL="2286000" marR="0" rtl="0" algn="l">
              <a:lnSpc>
                <a:spcPct val="90000"/>
              </a:lnSpc>
              <a:spcBef>
                <a:spcPts val="5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2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nvSpPr>
        <p:spPr>
          <a:xfrm>
            <a:off x="947786" y="2932386"/>
            <a:ext cx="7564618" cy="29405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i="0" lang="en-US" sz="2400" u="none" cap="none" strike="noStrike">
                <a:solidFill>
                  <a:srgbClr val="0070C0"/>
                </a:solidFill>
                <a:latin typeface="Times New Roman"/>
                <a:ea typeface="Times New Roman"/>
                <a:cs typeface="Times New Roman"/>
                <a:sym typeface="Times New Roman"/>
              </a:rPr>
              <a:t>Risk Mitigation, Monitoring and Management (RMMM) plan</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36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50000"/>
              </a:lnSpc>
              <a:spcBef>
                <a:spcPts val="40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3" name="Google Shape;93;p4"/>
          <p:cNvSpPr txBox="1"/>
          <p:nvPr/>
        </p:nvSpPr>
        <p:spPr>
          <a:xfrm>
            <a:off x="1398799" y="2102069"/>
            <a:ext cx="6346401" cy="1436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Object Oriented Software Engineering (OOSE)</a:t>
            </a:r>
            <a:endParaRPr/>
          </a:p>
          <a:p>
            <a:pPr indent="0" lvl="0" marL="0" marR="0" rtl="0" algn="ctr">
              <a:lnSpc>
                <a:spcPct val="100000"/>
              </a:lnSpc>
              <a:spcBef>
                <a:spcPts val="40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381786" y="292407"/>
            <a:ext cx="6019560" cy="8976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200" u="none" cap="none" strike="noStrike">
                <a:solidFill>
                  <a:srgbClr val="000000"/>
                </a:solidFill>
                <a:latin typeface="Times New Roman"/>
                <a:ea typeface="Times New Roman"/>
                <a:cs typeface="Times New Roman"/>
                <a:sym typeface="Times New Roman"/>
              </a:rPr>
              <a:t>Index</a:t>
            </a:r>
            <a:endParaRPr/>
          </a:p>
          <a:p>
            <a:pPr indent="0" lvl="0" marL="0" marR="0" rtl="0" algn="l">
              <a:lnSpc>
                <a:spcPct val="100000"/>
              </a:lnSpc>
              <a:spcBef>
                <a:spcPts val="0"/>
              </a:spcBef>
              <a:spcAft>
                <a:spcPts val="0"/>
              </a:spcAft>
              <a:buClr>
                <a:srgbClr val="000000"/>
              </a:buClr>
              <a:buSzPts val="3000"/>
              <a:buFont typeface="Arial"/>
              <a:buNone/>
            </a:pPr>
            <a:r>
              <a:t/>
            </a:r>
            <a:endParaRPr b="0" i="0" sz="3200" u="none" cap="none" strike="noStrike">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anchorCtr="0" anchor="t" bIns="45700" lIns="91425" spcFirstLastPara="1" rIns="91425" wrap="square" tIns="45700">
            <a:noAutofit/>
          </a:bodyPr>
          <a:lstStyle/>
          <a:p>
            <a:pPr indent="-222250" lvl="0" marL="342900" marR="0" rtl="0" algn="l">
              <a:lnSpc>
                <a:spcPct val="150000"/>
              </a:lnSpc>
              <a:spcBef>
                <a:spcPts val="0"/>
              </a:spcBef>
              <a:spcAft>
                <a:spcPts val="0"/>
              </a:spcAft>
              <a:buClr>
                <a:schemeClr val="dk1"/>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p:txBody>
      </p:sp>
      <p:sp>
        <p:nvSpPr>
          <p:cNvPr id="100" name="Google Shape;100;p2"/>
          <p:cNvSpPr txBox="1"/>
          <p:nvPr>
            <p:ph idx="1" type="body"/>
          </p:nvPr>
        </p:nvSpPr>
        <p:spPr>
          <a:xfrm>
            <a:off x="675349" y="1529898"/>
            <a:ext cx="7826002" cy="4039737"/>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2800"/>
              <a:buNone/>
            </a:pPr>
            <a:r>
              <a:t/>
            </a:r>
            <a:endParaRPr b="1" i="0" sz="2200">
              <a:solidFill>
                <a:srgbClr val="000000"/>
              </a:solidFill>
              <a:latin typeface="Times"/>
              <a:ea typeface="Times"/>
              <a:cs typeface="Times"/>
              <a:sym typeface="Times"/>
            </a:endParaRPr>
          </a:p>
          <a:p>
            <a:pPr indent="-342900" lvl="0" marL="342900" rtl="0" algn="l">
              <a:lnSpc>
                <a:spcPct val="150000"/>
              </a:lnSpc>
              <a:spcBef>
                <a:spcPts val="0"/>
              </a:spcBef>
              <a:spcAft>
                <a:spcPts val="0"/>
              </a:spcAft>
              <a:buSzPts val="2800"/>
              <a:buChar char="•"/>
            </a:pPr>
            <a:r>
              <a:rPr b="1" i="0" lang="en-US" sz="2200">
                <a:solidFill>
                  <a:srgbClr val="000000"/>
                </a:solidFill>
                <a:latin typeface="Times"/>
                <a:ea typeface="Times"/>
                <a:cs typeface="Times"/>
                <a:sym typeface="Times"/>
              </a:rPr>
              <a:t>Risk Mitigation </a:t>
            </a:r>
            <a:endParaRPr/>
          </a:p>
          <a:p>
            <a:pPr indent="-342900" lvl="0" marL="342900" rtl="0" algn="l">
              <a:lnSpc>
                <a:spcPct val="150000"/>
              </a:lnSpc>
              <a:spcBef>
                <a:spcPts val="0"/>
              </a:spcBef>
              <a:spcAft>
                <a:spcPts val="0"/>
              </a:spcAft>
              <a:buSzPts val="2800"/>
              <a:buChar char="•"/>
            </a:pPr>
            <a:r>
              <a:rPr b="1" lang="en-US" sz="2200">
                <a:solidFill>
                  <a:srgbClr val="000000"/>
                </a:solidFill>
                <a:latin typeface="Times"/>
                <a:ea typeface="Times"/>
                <a:cs typeface="Times"/>
                <a:sym typeface="Times"/>
              </a:rPr>
              <a:t>Risk Monitoring</a:t>
            </a:r>
            <a:endParaRPr/>
          </a:p>
          <a:p>
            <a:pPr indent="-342900" lvl="0" marL="342900" rtl="0" algn="l">
              <a:lnSpc>
                <a:spcPct val="150000"/>
              </a:lnSpc>
              <a:spcBef>
                <a:spcPts val="0"/>
              </a:spcBef>
              <a:spcAft>
                <a:spcPts val="0"/>
              </a:spcAft>
              <a:buSzPts val="2800"/>
              <a:buChar char="•"/>
            </a:pPr>
            <a:r>
              <a:rPr b="1" i="0" lang="en-US" sz="2200">
                <a:solidFill>
                  <a:srgbClr val="000000"/>
                </a:solidFill>
                <a:latin typeface="Times"/>
                <a:ea typeface="Times"/>
                <a:cs typeface="Times"/>
                <a:sym typeface="Times"/>
              </a:rPr>
              <a:t>Ris</a:t>
            </a:r>
            <a:r>
              <a:rPr b="1" lang="en-US" sz="2200">
                <a:solidFill>
                  <a:srgbClr val="000000"/>
                </a:solidFill>
                <a:latin typeface="Times"/>
                <a:ea typeface="Times"/>
                <a:cs typeface="Times"/>
                <a:sym typeface="Times"/>
              </a:rPr>
              <a:t>k Management and Planning</a:t>
            </a:r>
            <a:endParaRPr b="1" i="0" sz="2200">
              <a:solidFill>
                <a:srgbClr val="000000"/>
              </a:solidFill>
              <a:latin typeface="Times"/>
              <a:ea typeface="Times"/>
              <a:cs typeface="Times"/>
              <a:sym typeface="Times"/>
            </a:endParaRPr>
          </a:p>
          <a:p>
            <a:pPr indent="-342900" lvl="0" marL="342900" rtl="0" algn="l">
              <a:lnSpc>
                <a:spcPct val="150000"/>
              </a:lnSpc>
              <a:spcBef>
                <a:spcPts val="0"/>
              </a:spcBef>
              <a:spcAft>
                <a:spcPts val="0"/>
              </a:spcAft>
              <a:buSzPts val="2800"/>
              <a:buChar char="•"/>
            </a:pPr>
            <a:r>
              <a:rPr b="1" i="0" lang="en-US" sz="2200">
                <a:solidFill>
                  <a:srgbClr val="000000"/>
                </a:solidFill>
                <a:latin typeface="Times"/>
                <a:ea typeface="Times"/>
                <a:cs typeface="Times"/>
                <a:sym typeface="Times"/>
              </a:rPr>
              <a:t>RMMM plan</a:t>
            </a:r>
            <a:endParaRPr/>
          </a:p>
          <a:p>
            <a:pPr indent="-342900" lvl="0" marL="342900" rtl="0" algn="l">
              <a:lnSpc>
                <a:spcPct val="150000"/>
              </a:lnSpc>
              <a:spcBef>
                <a:spcPts val="0"/>
              </a:spcBef>
              <a:spcAft>
                <a:spcPts val="0"/>
              </a:spcAft>
              <a:buSzPts val="2800"/>
              <a:buChar char="•"/>
            </a:pPr>
            <a:r>
              <a:rPr b="1" lang="en-US" sz="2200">
                <a:solidFill>
                  <a:srgbClr val="000000"/>
                </a:solidFill>
                <a:latin typeface="Times"/>
                <a:ea typeface="Times"/>
                <a:cs typeface="Times"/>
                <a:sym typeface="Times"/>
              </a:rPr>
              <a:t>RMMM plan- RIS example</a:t>
            </a:r>
            <a:endParaRPr b="1" i="0" sz="2200">
              <a:solidFill>
                <a:srgbClr val="000000"/>
              </a:solidFill>
              <a:latin typeface="Times"/>
              <a:ea typeface="Times"/>
              <a:cs typeface="Times"/>
              <a:sym typeface="Times"/>
            </a:endParaRPr>
          </a:p>
          <a:p>
            <a:pPr indent="-342900" lvl="0" marL="342900" rtl="0" algn="l">
              <a:lnSpc>
                <a:spcPct val="150000"/>
              </a:lnSpc>
              <a:spcBef>
                <a:spcPts val="0"/>
              </a:spcBef>
              <a:spcAft>
                <a:spcPts val="0"/>
              </a:spcAft>
              <a:buSzPts val="2800"/>
              <a:buChar char="•"/>
            </a:pPr>
            <a:r>
              <a:rPr b="1" lang="en-US" sz="2200">
                <a:solidFill>
                  <a:schemeClr val="dk1"/>
                </a:solidFill>
                <a:latin typeface="Times"/>
                <a:ea typeface="Times"/>
                <a:cs typeface="Times"/>
                <a:sym typeface="Times"/>
              </a:rPr>
              <a:t>Practice Questions</a:t>
            </a:r>
            <a:endParaRPr/>
          </a:p>
          <a:p>
            <a:pPr indent="0" lvl="0" marL="0" rtl="0" algn="l">
              <a:lnSpc>
                <a:spcPct val="150000"/>
              </a:lnSpc>
              <a:spcBef>
                <a:spcPts val="0"/>
              </a:spcBef>
              <a:spcAft>
                <a:spcPts val="0"/>
              </a:spcAft>
              <a:buSzPts val="2800"/>
              <a:buNone/>
            </a:pPr>
            <a:r>
              <a:rPr b="1" i="0" lang="en-US" sz="2200">
                <a:solidFill>
                  <a:schemeClr val="dk1"/>
                </a:solidFill>
                <a:latin typeface="Times"/>
                <a:ea typeface="Times"/>
                <a:cs typeface="Times"/>
                <a:sym typeface="Times"/>
              </a:rPr>
              <a:t> </a:t>
            </a:r>
            <a:endParaRPr b="1" sz="2200">
              <a:solidFill>
                <a:schemeClr val="dk1"/>
              </a:solidFill>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None/>
            </a:pPr>
            <a:r>
              <a:t/>
            </a:r>
            <a:endParaRPr sz="2200">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None/>
            </a:pPr>
            <a:r>
              <a:t/>
            </a:r>
            <a:endParaRPr sz="2200">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None/>
            </a:pPr>
            <a:r>
              <a:t/>
            </a:r>
            <a:endParaRPr sz="2200">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Font typeface="Times New Roman"/>
              <a:buNone/>
            </a:pPr>
            <a:r>
              <a:t/>
            </a:r>
            <a:endParaRPr sz="2200">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3200">
                <a:latin typeface="Times"/>
                <a:ea typeface="Times"/>
                <a:cs typeface="Times"/>
                <a:sym typeface="Times"/>
              </a:rPr>
              <a:t>Risk Mitigation</a:t>
            </a:r>
            <a:endParaRPr/>
          </a:p>
        </p:txBody>
      </p:sp>
      <p:sp>
        <p:nvSpPr>
          <p:cNvPr id="107" name="Google Shape;107;p6"/>
          <p:cNvSpPr txBox="1"/>
          <p:nvPr>
            <p:ph idx="1" type="body"/>
          </p:nvPr>
        </p:nvSpPr>
        <p:spPr>
          <a:xfrm>
            <a:off x="76200" y="887845"/>
            <a:ext cx="8810625" cy="5370080"/>
          </a:xfrm>
          <a:prstGeom prst="rect">
            <a:avLst/>
          </a:prstGeom>
          <a:noFill/>
          <a:ln>
            <a:noFill/>
          </a:ln>
        </p:spPr>
        <p:txBody>
          <a:bodyPr anchorCtr="0" anchor="t" bIns="0" lIns="0" spcFirstLastPara="1" rIns="0" wrap="square" tIns="0">
            <a:noAutofit/>
          </a:bodyPr>
          <a:lstStyle/>
          <a:p>
            <a:pPr indent="-342900" lvl="2" marL="3429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All of the risk analysis activities presented to this point have a single goal—to assist the project team in developing a strategy for dealing with risk. </a:t>
            </a:r>
            <a:endParaRPr/>
          </a:p>
          <a:p>
            <a:pPr indent="-342900" lvl="2" marL="3429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An effective strategy must consider three issues: </a:t>
            </a:r>
            <a:r>
              <a:rPr i="1" lang="en-US" sz="1800">
                <a:solidFill>
                  <a:srgbClr val="C00000"/>
                </a:solidFill>
                <a:latin typeface="Times New Roman"/>
                <a:ea typeface="Times New Roman"/>
                <a:cs typeface="Times New Roman"/>
                <a:sym typeface="Times New Roman"/>
              </a:rPr>
              <a:t>risk mitigation</a:t>
            </a:r>
            <a:r>
              <a:rPr lang="en-US" sz="1800">
                <a:solidFill>
                  <a:srgbClr val="242021"/>
                </a:solidFill>
                <a:latin typeface="Times New Roman"/>
                <a:ea typeface="Times New Roman"/>
                <a:cs typeface="Times New Roman"/>
                <a:sym typeface="Times New Roman"/>
              </a:rPr>
              <a:t>, </a:t>
            </a:r>
            <a:r>
              <a:rPr i="1" lang="en-US" sz="1800">
                <a:solidFill>
                  <a:srgbClr val="C00000"/>
                </a:solidFill>
                <a:latin typeface="Times New Roman"/>
                <a:ea typeface="Times New Roman"/>
                <a:cs typeface="Times New Roman"/>
                <a:sym typeface="Times New Roman"/>
              </a:rPr>
              <a:t>risk monitoring</a:t>
            </a:r>
            <a:r>
              <a:rPr lang="en-US" sz="1800">
                <a:solidFill>
                  <a:srgbClr val="242021"/>
                </a:solidFill>
                <a:latin typeface="Times New Roman"/>
                <a:ea typeface="Times New Roman"/>
                <a:cs typeface="Times New Roman"/>
                <a:sym typeface="Times New Roman"/>
              </a:rPr>
              <a:t>, and </a:t>
            </a:r>
            <a:r>
              <a:rPr i="1" lang="en-US" sz="1800">
                <a:solidFill>
                  <a:srgbClr val="C00000"/>
                </a:solidFill>
                <a:latin typeface="Times New Roman"/>
                <a:ea typeface="Times New Roman"/>
                <a:cs typeface="Times New Roman"/>
                <a:sym typeface="Times New Roman"/>
              </a:rPr>
              <a:t>risk management and contingency planning</a:t>
            </a:r>
            <a:r>
              <a:rPr lang="en-US" sz="1800">
                <a:solidFill>
                  <a:srgbClr val="242021"/>
                </a:solidFill>
                <a:latin typeface="Times New Roman"/>
                <a:ea typeface="Times New Roman"/>
                <a:cs typeface="Times New Roman"/>
                <a:sym typeface="Times New Roman"/>
              </a:rPr>
              <a:t>. </a:t>
            </a:r>
            <a:endParaRPr/>
          </a:p>
          <a:p>
            <a:pPr indent="-342900" lvl="2" marL="3429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If a software team adopts a proactive approach to risk, avoidance is always the best strategy. This is achieved by developing a plan for </a:t>
            </a:r>
            <a:r>
              <a:rPr i="1" lang="en-US" sz="1800">
                <a:solidFill>
                  <a:srgbClr val="C00000"/>
                </a:solidFill>
                <a:latin typeface="Times New Roman"/>
                <a:ea typeface="Times New Roman"/>
                <a:cs typeface="Times New Roman"/>
                <a:sym typeface="Times New Roman"/>
              </a:rPr>
              <a:t>risk mitigation</a:t>
            </a:r>
            <a:r>
              <a:rPr lang="en-US" sz="1800">
                <a:solidFill>
                  <a:srgbClr val="242021"/>
                </a:solidFill>
                <a:latin typeface="Times New Roman"/>
                <a:ea typeface="Times New Roman"/>
                <a:cs typeface="Times New Roman"/>
                <a:sym typeface="Times New Roman"/>
              </a:rPr>
              <a:t>.</a:t>
            </a:r>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To mitigate this risk, you would </a:t>
            </a:r>
            <a:r>
              <a:rPr b="1" i="0" lang="en-US" sz="1800">
                <a:solidFill>
                  <a:srgbClr val="242021"/>
                </a:solidFill>
                <a:latin typeface="Times New Roman"/>
                <a:ea typeface="Times New Roman"/>
                <a:cs typeface="Times New Roman"/>
                <a:sym typeface="Times New Roman"/>
              </a:rPr>
              <a:t>develop a strategy for reducing turnover</a:t>
            </a:r>
            <a:r>
              <a:rPr b="0" i="0" lang="en-US" sz="1800">
                <a:solidFill>
                  <a:srgbClr val="242021"/>
                </a:solidFill>
                <a:latin typeface="Times New Roman"/>
                <a:ea typeface="Times New Roman"/>
                <a:cs typeface="Times New Roman"/>
                <a:sym typeface="Times New Roman"/>
              </a:rPr>
              <a:t>. Among the possible steps to be taken are:</a:t>
            </a:r>
            <a:endParaRPr/>
          </a:p>
          <a:p>
            <a:pPr indent="-342900" lvl="1" marL="914400" rtl="0" algn="just">
              <a:lnSpc>
                <a:spcPct val="150000"/>
              </a:lnSpc>
              <a:spcBef>
                <a:spcPts val="500"/>
              </a:spcBef>
              <a:spcAft>
                <a:spcPts val="0"/>
              </a:spcAft>
              <a:buSzPts val="1800"/>
              <a:buChar char="•"/>
            </a:pPr>
            <a:r>
              <a:rPr b="0" i="0" lang="en-US" sz="1800">
                <a:solidFill>
                  <a:srgbClr val="242021"/>
                </a:solidFill>
                <a:latin typeface="Times New Roman"/>
                <a:ea typeface="Times New Roman"/>
                <a:cs typeface="Times New Roman"/>
                <a:sym typeface="Times New Roman"/>
              </a:rPr>
              <a:t>Meet with current staff to determine causes for turnover (e.g., poor working conditions, low pay, competitive job market).</a:t>
            </a:r>
            <a:endParaRPr/>
          </a:p>
          <a:p>
            <a:pPr indent="-342900" lvl="1" marL="914400" rtl="0" algn="just">
              <a:lnSpc>
                <a:spcPct val="150000"/>
              </a:lnSpc>
              <a:spcBef>
                <a:spcPts val="500"/>
              </a:spcBef>
              <a:spcAft>
                <a:spcPts val="0"/>
              </a:spcAft>
              <a:buSzPts val="1800"/>
              <a:buChar char="•"/>
            </a:pPr>
            <a:r>
              <a:rPr b="0" i="0" lang="en-US" sz="1800">
                <a:solidFill>
                  <a:srgbClr val="242021"/>
                </a:solidFill>
                <a:latin typeface="Times New Roman"/>
                <a:ea typeface="Times New Roman"/>
                <a:cs typeface="Times New Roman"/>
                <a:sym typeface="Times New Roman"/>
              </a:rPr>
              <a:t>Mitigate those causes that are under your control before the project starts.</a:t>
            </a:r>
            <a:endParaRPr/>
          </a:p>
          <a:p>
            <a:pPr indent="0" lvl="1" marL="457200" rtl="0" algn="just">
              <a:lnSpc>
                <a:spcPct val="150000"/>
              </a:lnSpc>
              <a:spcBef>
                <a:spcPts val="500"/>
              </a:spcBef>
              <a:spcAft>
                <a:spcPts val="0"/>
              </a:spcAft>
              <a:buSzPts val="1800"/>
              <a:buNone/>
            </a:pP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303030"/>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endParaRPr sz="1800">
              <a:solidFill>
                <a:srgbClr val="30303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Risk Mitigation</a:t>
            </a:r>
            <a:endParaRPr/>
          </a:p>
        </p:txBody>
      </p:sp>
      <p:sp>
        <p:nvSpPr>
          <p:cNvPr id="113" name="Google Shape;113;p7"/>
          <p:cNvSpPr txBox="1"/>
          <p:nvPr>
            <p:ph idx="1" type="body"/>
          </p:nvPr>
        </p:nvSpPr>
        <p:spPr>
          <a:xfrm>
            <a:off x="76200" y="1371599"/>
            <a:ext cx="8610600" cy="4926445"/>
          </a:xfrm>
          <a:prstGeom prst="rect">
            <a:avLst/>
          </a:prstGeom>
          <a:noFill/>
          <a:ln>
            <a:noFill/>
          </a:ln>
        </p:spPr>
        <p:txBody>
          <a:bodyPr anchorCtr="0" anchor="t" bIns="0" lIns="0" spcFirstLastPara="1" rIns="0" wrap="square" tIns="0">
            <a:noAutofit/>
          </a:bodyPr>
          <a:lstStyle/>
          <a:p>
            <a:pPr indent="-342900" lvl="1" marL="9144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Once the project commences, assume turnover will occur and </a:t>
            </a:r>
            <a:r>
              <a:rPr b="1" lang="en-US" sz="1800">
                <a:solidFill>
                  <a:srgbClr val="242021"/>
                </a:solidFill>
                <a:latin typeface="Times New Roman"/>
                <a:ea typeface="Times New Roman"/>
                <a:cs typeface="Times New Roman"/>
                <a:sym typeface="Times New Roman"/>
              </a:rPr>
              <a:t>develop techniques to ensure continuity</a:t>
            </a:r>
            <a:r>
              <a:rPr lang="en-US" sz="1800">
                <a:solidFill>
                  <a:srgbClr val="242021"/>
                </a:solidFill>
                <a:latin typeface="Times New Roman"/>
                <a:ea typeface="Times New Roman"/>
                <a:cs typeface="Times New Roman"/>
                <a:sym typeface="Times New Roman"/>
              </a:rPr>
              <a:t> when people leave.</a:t>
            </a:r>
            <a:endParaRPr/>
          </a:p>
          <a:p>
            <a:pPr indent="-342900" lvl="1" marL="9144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Organize project teams so that information about each development activity is widely dispersed. </a:t>
            </a:r>
            <a:endParaRPr/>
          </a:p>
          <a:p>
            <a:pPr indent="-342900" lvl="1" marL="914400" rtl="0" algn="just">
              <a:lnSpc>
                <a:spcPct val="150000"/>
              </a:lnSpc>
              <a:spcBef>
                <a:spcPts val="500"/>
              </a:spcBef>
              <a:spcAft>
                <a:spcPts val="0"/>
              </a:spcAft>
              <a:buSzPts val="1800"/>
              <a:buChar char="•"/>
            </a:pPr>
            <a:r>
              <a:rPr b="1" lang="en-US" sz="1800">
                <a:solidFill>
                  <a:srgbClr val="242021"/>
                </a:solidFill>
                <a:latin typeface="Times New Roman"/>
                <a:ea typeface="Times New Roman"/>
                <a:cs typeface="Times New Roman"/>
                <a:sym typeface="Times New Roman"/>
              </a:rPr>
              <a:t>Define work product standards and establish mechanisms </a:t>
            </a:r>
            <a:r>
              <a:rPr lang="en-US" sz="1800">
                <a:solidFill>
                  <a:srgbClr val="242021"/>
                </a:solidFill>
                <a:latin typeface="Times New Roman"/>
                <a:ea typeface="Times New Roman"/>
                <a:cs typeface="Times New Roman"/>
                <a:sym typeface="Times New Roman"/>
              </a:rPr>
              <a:t>to be sure that all models and documents are developed in a timely manner.</a:t>
            </a:r>
            <a:endParaRPr/>
          </a:p>
          <a:p>
            <a:pPr indent="-342900" lvl="1" marL="9144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Conduct peer reviews of all work (so that more than one person is “up to speed”).</a:t>
            </a:r>
            <a:endParaRPr/>
          </a:p>
          <a:p>
            <a:pPr indent="-342900" lvl="1" marL="9144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Assign a </a:t>
            </a:r>
            <a:r>
              <a:rPr b="1" lang="en-US" sz="1800">
                <a:solidFill>
                  <a:srgbClr val="242021"/>
                </a:solidFill>
                <a:latin typeface="Times New Roman"/>
                <a:ea typeface="Times New Roman"/>
                <a:cs typeface="Times New Roman"/>
                <a:sym typeface="Times New Roman"/>
              </a:rPr>
              <a:t>backup staff member for every critica</a:t>
            </a:r>
            <a:r>
              <a:rPr lang="en-US" sz="1800">
                <a:solidFill>
                  <a:srgbClr val="242021"/>
                </a:solidFill>
                <a:latin typeface="Times New Roman"/>
                <a:ea typeface="Times New Roman"/>
                <a:cs typeface="Times New Roman"/>
                <a:sym typeface="Times New Roman"/>
              </a:rPr>
              <a:t>l technologist.</a:t>
            </a:r>
            <a:endParaRPr/>
          </a:p>
          <a:p>
            <a:pPr indent="0" lvl="1" marL="457200" rtl="0" algn="just">
              <a:lnSpc>
                <a:spcPct val="150000"/>
              </a:lnSpc>
              <a:spcBef>
                <a:spcPts val="500"/>
              </a:spcBef>
              <a:spcAft>
                <a:spcPts val="0"/>
              </a:spcAft>
              <a:buSzPts val="1800"/>
              <a:buNone/>
            </a:pPr>
            <a:r>
              <a:rPr lang="en-US" sz="1800">
                <a:solidFill>
                  <a:srgbClr val="242021"/>
                </a:solidFill>
                <a:latin typeface="Times New Roman"/>
                <a:ea typeface="Times New Roman"/>
                <a:cs typeface="Times New Roman"/>
                <a:sym typeface="Times New Roman"/>
              </a:rPr>
              <a:t> </a:t>
            </a:r>
            <a:br>
              <a:rPr lang="en-US" sz="1800">
                <a:solidFill>
                  <a:srgbClr val="242021"/>
                </a:solidFill>
                <a:latin typeface="Times New Roman"/>
                <a:ea typeface="Times New Roman"/>
                <a:cs typeface="Times New Roman"/>
                <a:sym typeface="Times New Roman"/>
              </a:rPr>
            </a:br>
            <a:r>
              <a:rPr lang="en-US" sz="1800">
                <a:solidFill>
                  <a:srgbClr val="242021"/>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303030"/>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endParaRPr sz="1800">
              <a:solidFill>
                <a:srgbClr val="30303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Risk Monitoring</a:t>
            </a:r>
            <a:endParaRPr/>
          </a:p>
        </p:txBody>
      </p:sp>
      <p:sp>
        <p:nvSpPr>
          <p:cNvPr id="119" name="Google Shape;119;p8"/>
          <p:cNvSpPr txBox="1"/>
          <p:nvPr>
            <p:ph idx="1" type="body"/>
          </p:nvPr>
        </p:nvSpPr>
        <p:spPr>
          <a:xfrm>
            <a:off x="428625" y="887845"/>
            <a:ext cx="8129700" cy="8909700"/>
          </a:xfrm>
          <a:prstGeom prst="rect">
            <a:avLst/>
          </a:prstGeom>
          <a:noFill/>
          <a:ln>
            <a:noFill/>
          </a:ln>
        </p:spPr>
        <p:txBody>
          <a:bodyPr anchorCtr="0" anchor="t" bIns="0" lIns="0" spcFirstLastPara="1" rIns="0" wrap="square" tIns="0">
            <a:noAutofit/>
          </a:bodyPr>
          <a:lstStyle/>
          <a:p>
            <a:pPr indent="-342900" lvl="2" marL="342900" rtl="0" algn="just">
              <a:lnSpc>
                <a:spcPct val="150000"/>
              </a:lnSpc>
              <a:spcBef>
                <a:spcPts val="500"/>
              </a:spcBef>
              <a:spcAft>
                <a:spcPts val="0"/>
              </a:spcAft>
              <a:buSzPts val="1800"/>
              <a:buChar char="•"/>
            </a:pPr>
            <a:r>
              <a:rPr b="0" i="0" lang="en-US" sz="1800">
                <a:solidFill>
                  <a:srgbClr val="242021"/>
                </a:solidFill>
                <a:latin typeface="Times New Roman"/>
                <a:ea typeface="Times New Roman"/>
                <a:cs typeface="Times New Roman"/>
                <a:sym typeface="Times New Roman"/>
              </a:rPr>
              <a:t>As the project proceeds, </a:t>
            </a:r>
            <a:r>
              <a:rPr b="0" i="1" lang="en-US" sz="1800">
                <a:solidFill>
                  <a:srgbClr val="C00000"/>
                </a:solidFill>
                <a:latin typeface="Times New Roman"/>
                <a:ea typeface="Times New Roman"/>
                <a:cs typeface="Times New Roman"/>
                <a:sym typeface="Times New Roman"/>
              </a:rPr>
              <a:t>risk-monitoring</a:t>
            </a:r>
            <a:r>
              <a:rPr b="0" i="1" lang="en-US" sz="1800">
                <a:solidFill>
                  <a:srgbClr val="242021"/>
                </a:solidFill>
                <a:latin typeface="Times New Roman"/>
                <a:ea typeface="Times New Roman"/>
                <a:cs typeface="Times New Roman"/>
                <a:sym typeface="Times New Roman"/>
              </a:rPr>
              <a:t> </a:t>
            </a:r>
            <a:r>
              <a:rPr b="0" i="0" lang="en-US" sz="1800">
                <a:solidFill>
                  <a:srgbClr val="242021"/>
                </a:solidFill>
                <a:latin typeface="Times New Roman"/>
                <a:ea typeface="Times New Roman"/>
                <a:cs typeface="Times New Roman"/>
                <a:sym typeface="Times New Roman"/>
              </a:rPr>
              <a:t>activities commence. </a:t>
            </a:r>
            <a:endParaRPr/>
          </a:p>
          <a:p>
            <a:pPr indent="-342900" lvl="2" marL="342900" rtl="0" algn="just">
              <a:lnSpc>
                <a:spcPct val="150000"/>
              </a:lnSpc>
              <a:spcBef>
                <a:spcPts val="500"/>
              </a:spcBef>
              <a:spcAft>
                <a:spcPts val="0"/>
              </a:spcAft>
              <a:buSzPts val="1800"/>
              <a:buChar char="•"/>
            </a:pPr>
            <a:r>
              <a:rPr b="0" i="0" lang="en-US" sz="1800">
                <a:solidFill>
                  <a:srgbClr val="242021"/>
                </a:solidFill>
                <a:latin typeface="Times New Roman"/>
                <a:ea typeface="Times New Roman"/>
                <a:cs typeface="Times New Roman"/>
                <a:sym typeface="Times New Roman"/>
              </a:rPr>
              <a:t>The project manager monitors factors that may provide an indication of whether the risk is becoming more or less likely. </a:t>
            </a:r>
            <a:endParaRPr/>
          </a:p>
          <a:p>
            <a:pPr indent="-342900" lvl="2" marL="342900" rtl="0" algn="just">
              <a:lnSpc>
                <a:spcPct val="150000"/>
              </a:lnSpc>
              <a:spcBef>
                <a:spcPts val="500"/>
              </a:spcBef>
              <a:spcAft>
                <a:spcPts val="0"/>
              </a:spcAft>
              <a:buSzPts val="1800"/>
              <a:buChar char="•"/>
            </a:pPr>
            <a:r>
              <a:rPr b="0" i="0" lang="en-US" sz="1800">
                <a:solidFill>
                  <a:srgbClr val="242021"/>
                </a:solidFill>
                <a:latin typeface="Times New Roman"/>
                <a:ea typeface="Times New Roman"/>
                <a:cs typeface="Times New Roman"/>
                <a:sym typeface="Times New Roman"/>
              </a:rPr>
              <a:t>In the case of high staff turnover, the general attitude of team members based on project pressures, the degree to which the team has jelled, </a:t>
            </a:r>
            <a:r>
              <a:rPr b="1" i="0" lang="en-US" sz="1800">
                <a:solidFill>
                  <a:srgbClr val="242021"/>
                </a:solidFill>
                <a:latin typeface="Times New Roman"/>
                <a:ea typeface="Times New Roman"/>
                <a:cs typeface="Times New Roman"/>
                <a:sym typeface="Times New Roman"/>
              </a:rPr>
              <a:t>interpersonal relationships among team members</a:t>
            </a:r>
            <a:r>
              <a:rPr b="0" i="0" lang="en-US" sz="1800">
                <a:solidFill>
                  <a:srgbClr val="242021"/>
                </a:solidFill>
                <a:latin typeface="Times New Roman"/>
                <a:ea typeface="Times New Roman"/>
                <a:cs typeface="Times New Roman"/>
                <a:sym typeface="Times New Roman"/>
              </a:rPr>
              <a:t>, potential problems with </a:t>
            </a:r>
            <a:r>
              <a:rPr b="1" i="0" lang="en-US" sz="1800">
                <a:solidFill>
                  <a:srgbClr val="242021"/>
                </a:solidFill>
                <a:latin typeface="Times New Roman"/>
                <a:ea typeface="Times New Roman"/>
                <a:cs typeface="Times New Roman"/>
                <a:sym typeface="Times New Roman"/>
              </a:rPr>
              <a:t>compensation and benefits</a:t>
            </a:r>
            <a:r>
              <a:rPr b="0" i="0" lang="en-US" sz="1800">
                <a:solidFill>
                  <a:srgbClr val="242021"/>
                </a:solidFill>
                <a:latin typeface="Times New Roman"/>
                <a:ea typeface="Times New Roman"/>
                <a:cs typeface="Times New Roman"/>
                <a:sym typeface="Times New Roman"/>
              </a:rPr>
              <a:t>, and the </a:t>
            </a:r>
            <a:r>
              <a:rPr b="1" i="0" lang="en-US" sz="1800">
                <a:solidFill>
                  <a:srgbClr val="242021"/>
                </a:solidFill>
                <a:latin typeface="Times New Roman"/>
                <a:ea typeface="Times New Roman"/>
                <a:cs typeface="Times New Roman"/>
                <a:sym typeface="Times New Roman"/>
              </a:rPr>
              <a:t>availability of jobs within the company </a:t>
            </a:r>
            <a:r>
              <a:rPr b="0" i="0" lang="en-US" sz="1800">
                <a:solidFill>
                  <a:srgbClr val="242021"/>
                </a:solidFill>
                <a:latin typeface="Times New Roman"/>
                <a:ea typeface="Times New Roman"/>
                <a:cs typeface="Times New Roman"/>
                <a:sym typeface="Times New Roman"/>
              </a:rPr>
              <a:t>and outside it are all monitored.</a:t>
            </a:r>
            <a:endParaRPr/>
          </a:p>
          <a:p>
            <a:pPr indent="-342900" lvl="2" marL="342900" rtl="0" algn="just">
              <a:lnSpc>
                <a:spcPct val="150000"/>
              </a:lnSpc>
              <a:spcBef>
                <a:spcPts val="500"/>
              </a:spcBef>
              <a:spcAft>
                <a:spcPts val="0"/>
              </a:spcAft>
              <a:buSzPts val="1800"/>
              <a:buChar char="•"/>
            </a:pPr>
            <a:r>
              <a:rPr lang="en-US" sz="1800">
                <a:solidFill>
                  <a:srgbClr val="242021"/>
                </a:solidFill>
                <a:latin typeface="Times New Roman"/>
                <a:ea typeface="Times New Roman"/>
                <a:cs typeface="Times New Roman"/>
                <a:sym typeface="Times New Roman"/>
              </a:rPr>
              <a:t>In addition to monitoring these factors, a project manager should monitor the </a:t>
            </a:r>
            <a:r>
              <a:rPr b="1" lang="en-US" sz="1800">
                <a:solidFill>
                  <a:srgbClr val="242021"/>
                </a:solidFill>
                <a:latin typeface="Times New Roman"/>
                <a:ea typeface="Times New Roman"/>
                <a:cs typeface="Times New Roman"/>
                <a:sym typeface="Times New Roman"/>
              </a:rPr>
              <a:t>effectiveness of risk mitigation steps</a:t>
            </a:r>
            <a:r>
              <a:rPr lang="en-US" sz="1800">
                <a:solidFill>
                  <a:srgbClr val="242021"/>
                </a:solidFill>
                <a:latin typeface="Times New Roman"/>
                <a:ea typeface="Times New Roman"/>
                <a:cs typeface="Times New Roman"/>
                <a:sym typeface="Times New Roman"/>
              </a:rPr>
              <a:t>.</a:t>
            </a:r>
            <a:endParaRPr/>
          </a:p>
          <a:p>
            <a:pPr indent="0" lvl="2" marL="0" rtl="0" algn="just">
              <a:lnSpc>
                <a:spcPct val="150000"/>
              </a:lnSpc>
              <a:spcBef>
                <a:spcPts val="500"/>
              </a:spcBef>
              <a:spcAft>
                <a:spcPts val="0"/>
              </a:spcAft>
              <a:buSzPts val="1800"/>
              <a:buNone/>
            </a:pPr>
            <a:r>
              <a:rPr lang="en-US" sz="1800">
                <a:solidFill>
                  <a:srgbClr val="242021"/>
                </a:solidFill>
                <a:latin typeface="Times New Roman"/>
                <a:ea typeface="Times New Roman"/>
                <a:cs typeface="Times New Roman"/>
                <a:sym typeface="Times New Roman"/>
              </a:rPr>
              <a:t> </a:t>
            </a:r>
            <a:br>
              <a:rPr lang="en-US" sz="1800">
                <a:solidFill>
                  <a:srgbClr val="242021"/>
                </a:solidFill>
                <a:latin typeface="Times New Roman"/>
                <a:ea typeface="Times New Roman"/>
                <a:cs typeface="Times New Roman"/>
                <a:sym typeface="Times New Roman"/>
              </a:rPr>
            </a:br>
            <a:endParaRPr sz="1800">
              <a:solidFill>
                <a:srgbClr val="242021"/>
              </a:solidFill>
              <a:latin typeface="Times New Roman"/>
              <a:ea typeface="Times New Roman"/>
              <a:cs typeface="Times New Roman"/>
              <a:sym typeface="Times New Roman"/>
            </a:endParaRPr>
          </a:p>
          <a:p>
            <a:pPr indent="0" lvl="2" marL="0" rtl="0" algn="just">
              <a:lnSpc>
                <a:spcPct val="150000"/>
              </a:lnSpc>
              <a:spcBef>
                <a:spcPts val="500"/>
              </a:spcBef>
              <a:spcAft>
                <a:spcPts val="0"/>
              </a:spcAft>
              <a:buSzPts val="1800"/>
              <a:buNone/>
            </a:pP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303030"/>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endParaRPr sz="1800">
              <a:solidFill>
                <a:srgbClr val="30303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Risk Management and Planning</a:t>
            </a:r>
            <a:endParaRPr/>
          </a:p>
        </p:txBody>
      </p:sp>
      <p:sp>
        <p:nvSpPr>
          <p:cNvPr id="125" name="Google Shape;125;p9"/>
          <p:cNvSpPr txBox="1"/>
          <p:nvPr>
            <p:ph idx="1" type="body"/>
          </p:nvPr>
        </p:nvSpPr>
        <p:spPr>
          <a:xfrm>
            <a:off x="328612" y="1084819"/>
            <a:ext cx="8358188" cy="5015944"/>
          </a:xfrm>
          <a:prstGeom prst="rect">
            <a:avLst/>
          </a:prstGeom>
          <a:noFill/>
          <a:ln>
            <a:noFill/>
          </a:ln>
        </p:spPr>
        <p:txBody>
          <a:bodyPr anchorCtr="0" anchor="t" bIns="0" lIns="0" spcFirstLastPara="1" rIns="0" wrap="square" tIns="0">
            <a:noAutofit/>
          </a:bodyPr>
          <a:lstStyle/>
          <a:p>
            <a:pPr indent="-342900" lvl="2" marL="342900" rtl="0" algn="just">
              <a:lnSpc>
                <a:spcPct val="150000"/>
              </a:lnSpc>
              <a:spcBef>
                <a:spcPts val="500"/>
              </a:spcBef>
              <a:spcAft>
                <a:spcPts val="0"/>
              </a:spcAft>
              <a:buSzPts val="1800"/>
              <a:buChar char="•"/>
            </a:pPr>
            <a:r>
              <a:rPr b="0" i="1" lang="en-US" sz="1750">
                <a:solidFill>
                  <a:srgbClr val="C00000"/>
                </a:solidFill>
                <a:latin typeface="Times New Roman"/>
                <a:ea typeface="Times New Roman"/>
                <a:cs typeface="Times New Roman"/>
                <a:sym typeface="Times New Roman"/>
              </a:rPr>
              <a:t>Risk management and contingency planning </a:t>
            </a:r>
            <a:r>
              <a:rPr b="0" i="0" lang="en-US" sz="1750">
                <a:solidFill>
                  <a:srgbClr val="242021"/>
                </a:solidFill>
                <a:latin typeface="Times New Roman"/>
                <a:ea typeface="Times New Roman"/>
                <a:cs typeface="Times New Roman"/>
                <a:sym typeface="Times New Roman"/>
              </a:rPr>
              <a:t>assumes that mitigation efforts have failed and that the risk has become a reality. </a:t>
            </a:r>
            <a:endParaRPr/>
          </a:p>
          <a:p>
            <a:pPr indent="-342900" lvl="2" marL="342900" rtl="0" algn="just">
              <a:lnSpc>
                <a:spcPct val="150000"/>
              </a:lnSpc>
              <a:spcBef>
                <a:spcPts val="500"/>
              </a:spcBef>
              <a:spcAft>
                <a:spcPts val="0"/>
              </a:spcAft>
              <a:buSzPts val="1800"/>
              <a:buChar char="•"/>
            </a:pPr>
            <a:r>
              <a:rPr b="0" i="0" lang="en-US" sz="1750">
                <a:solidFill>
                  <a:srgbClr val="242021"/>
                </a:solidFill>
                <a:latin typeface="Times New Roman"/>
                <a:ea typeface="Times New Roman"/>
                <a:cs typeface="Times New Roman"/>
                <a:sym typeface="Times New Roman"/>
              </a:rPr>
              <a:t>Continuing the example, the project is well under way and a number of people announce that they will be leaving. If </a:t>
            </a:r>
            <a:r>
              <a:rPr b="1" i="0" lang="en-US" sz="1750">
                <a:solidFill>
                  <a:srgbClr val="242021"/>
                </a:solidFill>
                <a:latin typeface="Times New Roman"/>
                <a:ea typeface="Times New Roman"/>
                <a:cs typeface="Times New Roman"/>
                <a:sym typeface="Times New Roman"/>
              </a:rPr>
              <a:t>the mitigation strategy has been followed, backup is available, information is documented, and knowledge has been dispersed across the team. </a:t>
            </a:r>
            <a:endParaRPr/>
          </a:p>
          <a:p>
            <a:pPr indent="-342900" lvl="2" marL="342900" rtl="0" algn="just">
              <a:lnSpc>
                <a:spcPct val="150000"/>
              </a:lnSpc>
              <a:spcBef>
                <a:spcPts val="500"/>
              </a:spcBef>
              <a:spcAft>
                <a:spcPts val="0"/>
              </a:spcAft>
              <a:buSzPts val="1800"/>
              <a:buChar char="•"/>
            </a:pPr>
            <a:r>
              <a:rPr b="0" i="0" lang="en-US" sz="1750">
                <a:solidFill>
                  <a:srgbClr val="242021"/>
                </a:solidFill>
                <a:latin typeface="Times New Roman"/>
                <a:ea typeface="Times New Roman"/>
                <a:cs typeface="Times New Roman"/>
                <a:sym typeface="Times New Roman"/>
              </a:rPr>
              <a:t>In addition, you can temporarily refocus resources (and readjust the project schedule) to those functions that are fully staffed, enabling newcomers who must be added to the team to “get up to speed.” </a:t>
            </a:r>
            <a:endParaRPr/>
          </a:p>
          <a:p>
            <a:pPr indent="-342900" lvl="2" marL="342900" rtl="0" algn="just">
              <a:lnSpc>
                <a:spcPct val="150000"/>
              </a:lnSpc>
              <a:spcBef>
                <a:spcPts val="500"/>
              </a:spcBef>
              <a:spcAft>
                <a:spcPts val="0"/>
              </a:spcAft>
              <a:buSzPts val="1800"/>
              <a:buChar char="•"/>
            </a:pPr>
            <a:r>
              <a:rPr b="0" i="0" lang="en-US" sz="1750">
                <a:solidFill>
                  <a:srgbClr val="242021"/>
                </a:solidFill>
                <a:latin typeface="Times New Roman"/>
                <a:ea typeface="Times New Roman"/>
                <a:cs typeface="Times New Roman"/>
                <a:sym typeface="Times New Roman"/>
              </a:rPr>
              <a:t>Those individuals who are leaving are asked to stop all work and </a:t>
            </a:r>
            <a:r>
              <a:rPr b="1" i="0" lang="en-US" sz="1750">
                <a:solidFill>
                  <a:srgbClr val="242021"/>
                </a:solidFill>
                <a:latin typeface="Times New Roman"/>
                <a:ea typeface="Times New Roman"/>
                <a:cs typeface="Times New Roman"/>
                <a:sym typeface="Times New Roman"/>
              </a:rPr>
              <a:t>spend their last weeks in “knowledge transfer mode.” </a:t>
            </a:r>
            <a:endParaRPr/>
          </a:p>
          <a:p>
            <a:pPr indent="-342900" lvl="2" marL="342900" rtl="0" algn="just">
              <a:lnSpc>
                <a:spcPct val="150000"/>
              </a:lnSpc>
              <a:spcBef>
                <a:spcPts val="500"/>
              </a:spcBef>
              <a:spcAft>
                <a:spcPts val="0"/>
              </a:spcAft>
              <a:buSzPts val="1800"/>
              <a:buChar char="•"/>
            </a:pPr>
            <a:r>
              <a:rPr b="0" i="0" lang="en-US" sz="1750">
                <a:solidFill>
                  <a:srgbClr val="242021"/>
                </a:solidFill>
                <a:latin typeface="Times New Roman"/>
                <a:ea typeface="Times New Roman"/>
                <a:cs typeface="Times New Roman"/>
                <a:sym typeface="Times New Roman"/>
              </a:rPr>
              <a:t>This might include video-based knowledge capture, the development of “commentary documents or Wikis,” and/or meeting with other team members who will remain on the project.</a:t>
            </a:r>
            <a:r>
              <a:rPr lang="en-US" sz="1750">
                <a:latin typeface="Times New Roman"/>
                <a:ea typeface="Times New Roman"/>
                <a:cs typeface="Times New Roman"/>
                <a:sym typeface="Times New Roman"/>
              </a:rPr>
              <a:t> </a:t>
            </a:r>
            <a:endParaRPr/>
          </a:p>
          <a:p>
            <a:pPr indent="0" lvl="2" marL="0" rtl="0" algn="just">
              <a:lnSpc>
                <a:spcPct val="150000"/>
              </a:lnSpc>
              <a:spcBef>
                <a:spcPts val="500"/>
              </a:spcBef>
              <a:spcAft>
                <a:spcPts val="0"/>
              </a:spcAft>
              <a:buSzPts val="1800"/>
              <a:buNone/>
            </a:pPr>
            <a:br>
              <a:rPr lang="en-US" sz="1750">
                <a:latin typeface="Times New Roman"/>
                <a:ea typeface="Times New Roman"/>
                <a:cs typeface="Times New Roman"/>
                <a:sym typeface="Times New Roman"/>
              </a:rPr>
            </a:br>
            <a:r>
              <a:rPr lang="en-US" sz="1750">
                <a:solidFill>
                  <a:srgbClr val="242021"/>
                </a:solidFill>
                <a:latin typeface="Times New Roman"/>
                <a:ea typeface="Times New Roman"/>
                <a:cs typeface="Times New Roman"/>
                <a:sym typeface="Times New Roman"/>
              </a:rPr>
              <a:t> </a:t>
            </a:r>
            <a:br>
              <a:rPr lang="en-US" sz="1750">
                <a:solidFill>
                  <a:srgbClr val="242021"/>
                </a:solidFill>
                <a:latin typeface="Times New Roman"/>
                <a:ea typeface="Times New Roman"/>
                <a:cs typeface="Times New Roman"/>
                <a:sym typeface="Times New Roman"/>
              </a:rPr>
            </a:br>
            <a:endParaRPr sz="1750">
              <a:solidFill>
                <a:srgbClr val="242021"/>
              </a:solidFill>
              <a:latin typeface="Times New Roman"/>
              <a:ea typeface="Times New Roman"/>
              <a:cs typeface="Times New Roman"/>
              <a:sym typeface="Times New Roman"/>
            </a:endParaRPr>
          </a:p>
          <a:p>
            <a:pPr indent="0" lvl="2" marL="0" rtl="0" algn="just">
              <a:lnSpc>
                <a:spcPct val="150000"/>
              </a:lnSpc>
              <a:spcBef>
                <a:spcPts val="500"/>
              </a:spcBef>
              <a:spcAft>
                <a:spcPts val="0"/>
              </a:spcAft>
              <a:buSzPts val="1800"/>
              <a:buNone/>
            </a:pPr>
            <a:r>
              <a:rPr lang="en-US" sz="1750">
                <a:latin typeface="Times New Roman"/>
                <a:ea typeface="Times New Roman"/>
                <a:cs typeface="Times New Roman"/>
                <a:sym typeface="Times New Roman"/>
              </a:rPr>
              <a:t> </a:t>
            </a:r>
            <a:br>
              <a:rPr lang="en-US" sz="1750">
                <a:latin typeface="Times New Roman"/>
                <a:ea typeface="Times New Roman"/>
                <a:cs typeface="Times New Roman"/>
                <a:sym typeface="Times New Roman"/>
              </a:rPr>
            </a:br>
            <a:r>
              <a:rPr lang="en-US" sz="1750">
                <a:latin typeface="Times New Roman"/>
                <a:ea typeface="Times New Roman"/>
                <a:cs typeface="Times New Roman"/>
                <a:sym typeface="Times New Roman"/>
              </a:rPr>
              <a:t> </a:t>
            </a:r>
            <a:br>
              <a:rPr lang="en-US" sz="1750">
                <a:latin typeface="Times New Roman"/>
                <a:ea typeface="Times New Roman"/>
                <a:cs typeface="Times New Roman"/>
                <a:sym typeface="Times New Roman"/>
              </a:rPr>
            </a:br>
            <a:r>
              <a:rPr lang="en-US" sz="1750">
                <a:latin typeface="Times New Roman"/>
                <a:ea typeface="Times New Roman"/>
                <a:cs typeface="Times New Roman"/>
                <a:sym typeface="Times New Roman"/>
              </a:rPr>
              <a:t> </a:t>
            </a:r>
            <a:br>
              <a:rPr lang="en-US" sz="1750">
                <a:latin typeface="Times New Roman"/>
                <a:ea typeface="Times New Roman"/>
                <a:cs typeface="Times New Roman"/>
                <a:sym typeface="Times New Roman"/>
              </a:rPr>
            </a:br>
            <a:br>
              <a:rPr lang="en-US" sz="1750">
                <a:latin typeface="Times New Roman"/>
                <a:ea typeface="Times New Roman"/>
                <a:cs typeface="Times New Roman"/>
                <a:sym typeface="Times New Roman"/>
              </a:rPr>
            </a:br>
            <a:br>
              <a:rPr lang="en-US" sz="1750">
                <a:latin typeface="Times New Roman"/>
                <a:ea typeface="Times New Roman"/>
                <a:cs typeface="Times New Roman"/>
                <a:sym typeface="Times New Roman"/>
              </a:rPr>
            </a:br>
            <a:br>
              <a:rPr lang="en-US" sz="1750">
                <a:latin typeface="Times New Roman"/>
                <a:ea typeface="Times New Roman"/>
                <a:cs typeface="Times New Roman"/>
                <a:sym typeface="Times New Roman"/>
              </a:rPr>
            </a:br>
            <a:br>
              <a:rPr lang="en-US" sz="1750">
                <a:latin typeface="Times New Roman"/>
                <a:ea typeface="Times New Roman"/>
                <a:cs typeface="Times New Roman"/>
                <a:sym typeface="Times New Roman"/>
              </a:rPr>
            </a:br>
            <a:r>
              <a:rPr lang="en-US" sz="1750">
                <a:solidFill>
                  <a:srgbClr val="303030"/>
                </a:solidFill>
                <a:latin typeface="Times New Roman"/>
                <a:ea typeface="Times New Roman"/>
                <a:cs typeface="Times New Roman"/>
                <a:sym typeface="Times New Roman"/>
              </a:rPr>
              <a:t> </a:t>
            </a:r>
            <a:br>
              <a:rPr lang="en-US" sz="1750">
                <a:latin typeface="Times New Roman"/>
                <a:ea typeface="Times New Roman"/>
                <a:cs typeface="Times New Roman"/>
                <a:sym typeface="Times New Roman"/>
              </a:rPr>
            </a:br>
            <a:endParaRPr sz="1750">
              <a:solidFill>
                <a:srgbClr val="30303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RMMM Plan</a:t>
            </a:r>
            <a:endParaRPr/>
          </a:p>
        </p:txBody>
      </p:sp>
      <p:sp>
        <p:nvSpPr>
          <p:cNvPr id="131" name="Google Shape;131;p10"/>
          <p:cNvSpPr txBox="1"/>
          <p:nvPr>
            <p:ph idx="1" type="body"/>
          </p:nvPr>
        </p:nvSpPr>
        <p:spPr>
          <a:xfrm>
            <a:off x="76200" y="887845"/>
            <a:ext cx="8991600" cy="5410200"/>
          </a:xfrm>
          <a:prstGeom prst="rect">
            <a:avLst/>
          </a:prstGeom>
          <a:noFill/>
          <a:ln>
            <a:noFill/>
          </a:ln>
        </p:spPr>
        <p:txBody>
          <a:bodyPr anchorCtr="0" anchor="t" bIns="0" lIns="0" spcFirstLastPara="1" rIns="0" wrap="square" tIns="0">
            <a:noAutofit/>
          </a:bodyPr>
          <a:lstStyle/>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The </a:t>
            </a:r>
            <a:r>
              <a:rPr b="0" i="1" lang="en-US" sz="1800">
                <a:solidFill>
                  <a:srgbClr val="C00000"/>
                </a:solidFill>
                <a:latin typeface="Times New Roman"/>
                <a:ea typeface="Times New Roman"/>
                <a:cs typeface="Times New Roman"/>
                <a:sym typeface="Times New Roman"/>
              </a:rPr>
              <a:t>risk mitigation, monitoring, and management </a:t>
            </a:r>
            <a:r>
              <a:rPr b="0" i="0" lang="en-US" sz="1800">
                <a:solidFill>
                  <a:srgbClr val="C00000"/>
                </a:solidFill>
                <a:latin typeface="Times New Roman"/>
                <a:ea typeface="Times New Roman"/>
                <a:cs typeface="Times New Roman"/>
                <a:sym typeface="Times New Roman"/>
              </a:rPr>
              <a:t>(RMMM) </a:t>
            </a:r>
            <a:r>
              <a:rPr b="0" i="0" lang="en-US" sz="1800">
                <a:solidFill>
                  <a:srgbClr val="242021"/>
                </a:solidFill>
                <a:latin typeface="Times New Roman"/>
                <a:ea typeface="Times New Roman"/>
                <a:cs typeface="Times New Roman"/>
                <a:sym typeface="Times New Roman"/>
              </a:rPr>
              <a:t>plan </a:t>
            </a:r>
            <a:r>
              <a:rPr lang="en-US" sz="1800">
                <a:latin typeface="Times New Roman"/>
                <a:ea typeface="Times New Roman"/>
                <a:cs typeface="Times New Roman"/>
                <a:sym typeface="Times New Roman"/>
              </a:rPr>
              <a:t>may be a part of the software development plan or may be a separate document</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Once RMMM has been documented and the project has begun, the risk mitigation, and monitoring steps begin</a:t>
            </a:r>
            <a:endParaRPr/>
          </a:p>
          <a:p>
            <a:pPr indent="-342900" lvl="1" marL="914400" rtl="0" algn="just">
              <a:lnSpc>
                <a:spcPct val="150000"/>
              </a:lnSpc>
              <a:spcBef>
                <a:spcPts val="500"/>
              </a:spcBef>
              <a:spcAft>
                <a:spcPts val="0"/>
              </a:spcAft>
              <a:buSzPts val="1800"/>
              <a:buChar char="•"/>
            </a:pPr>
            <a:r>
              <a:rPr lang="en-US" sz="1800">
                <a:latin typeface="Times New Roman"/>
                <a:ea typeface="Times New Roman"/>
                <a:cs typeface="Times New Roman"/>
                <a:sym typeface="Times New Roman"/>
              </a:rPr>
              <a:t>Risk mitigation is a problem avoidance activity</a:t>
            </a:r>
            <a:endParaRPr/>
          </a:p>
          <a:p>
            <a:pPr indent="-342900" lvl="1" marL="914400" rtl="0" algn="just">
              <a:lnSpc>
                <a:spcPct val="150000"/>
              </a:lnSpc>
              <a:spcBef>
                <a:spcPts val="500"/>
              </a:spcBef>
              <a:spcAft>
                <a:spcPts val="0"/>
              </a:spcAft>
              <a:buSzPts val="1800"/>
              <a:buChar char="•"/>
            </a:pPr>
            <a:r>
              <a:rPr lang="en-US" sz="1800">
                <a:latin typeface="Times New Roman"/>
                <a:ea typeface="Times New Roman"/>
                <a:cs typeface="Times New Roman"/>
                <a:sym typeface="Times New Roman"/>
              </a:rPr>
              <a:t>Risk monitoring is a project tracking activity</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Risk monitoring has three objectives</a:t>
            </a:r>
            <a:endParaRPr/>
          </a:p>
          <a:p>
            <a:pPr indent="-342900" lvl="1" marL="914400" rtl="0" algn="just">
              <a:lnSpc>
                <a:spcPct val="150000"/>
              </a:lnSpc>
              <a:spcBef>
                <a:spcPts val="500"/>
              </a:spcBef>
              <a:spcAft>
                <a:spcPts val="0"/>
              </a:spcAft>
              <a:buSzPts val="1800"/>
              <a:buChar char="•"/>
            </a:pPr>
            <a:r>
              <a:rPr lang="en-US" sz="1800">
                <a:latin typeface="Times New Roman"/>
                <a:ea typeface="Times New Roman"/>
                <a:cs typeface="Times New Roman"/>
                <a:sym typeface="Times New Roman"/>
              </a:rPr>
              <a:t>To assess whether predicted risks do, in fact, occur</a:t>
            </a:r>
            <a:endParaRPr/>
          </a:p>
          <a:p>
            <a:pPr indent="-342900" lvl="1" marL="914400" rtl="0" algn="just">
              <a:lnSpc>
                <a:spcPct val="150000"/>
              </a:lnSpc>
              <a:spcBef>
                <a:spcPts val="500"/>
              </a:spcBef>
              <a:spcAft>
                <a:spcPts val="0"/>
              </a:spcAft>
              <a:buSzPts val="1800"/>
              <a:buChar char="•"/>
            </a:pPr>
            <a:r>
              <a:rPr lang="en-US" sz="1800">
                <a:latin typeface="Times New Roman"/>
                <a:ea typeface="Times New Roman"/>
                <a:cs typeface="Times New Roman"/>
                <a:sym typeface="Times New Roman"/>
              </a:rPr>
              <a:t>To ensure that risk aversion steps defined for the risk are being properly applied</a:t>
            </a:r>
            <a:endParaRPr/>
          </a:p>
          <a:p>
            <a:pPr indent="-342900" lvl="1" marL="914400" rtl="0" algn="just">
              <a:lnSpc>
                <a:spcPct val="150000"/>
              </a:lnSpc>
              <a:spcBef>
                <a:spcPts val="500"/>
              </a:spcBef>
              <a:spcAft>
                <a:spcPts val="0"/>
              </a:spcAft>
              <a:buSzPts val="1800"/>
              <a:buChar char="•"/>
            </a:pPr>
            <a:r>
              <a:rPr lang="en-US" sz="1800">
                <a:latin typeface="Times New Roman"/>
                <a:ea typeface="Times New Roman"/>
                <a:cs typeface="Times New Roman"/>
                <a:sym typeface="Times New Roman"/>
              </a:rPr>
              <a:t>To collect information that can be used for future risk analysis</a:t>
            </a:r>
            <a:endParaRPr/>
          </a:p>
          <a:p>
            <a:pPr indent="0" lvl="2" marL="0" rtl="0" algn="just">
              <a:lnSpc>
                <a:spcPct val="150000"/>
              </a:lnSpc>
              <a:spcBef>
                <a:spcPts val="500"/>
              </a:spcBef>
              <a:spcAft>
                <a:spcPts val="0"/>
              </a:spcAft>
              <a:buSzPts val="1800"/>
              <a:buNone/>
            </a:pPr>
            <a:br>
              <a:rPr lang="en-US" sz="1800">
                <a:latin typeface="Times New Roman"/>
                <a:ea typeface="Times New Roman"/>
                <a:cs typeface="Times New Roman"/>
                <a:sym typeface="Times New Roman"/>
              </a:rPr>
            </a:br>
            <a:r>
              <a:rPr lang="en-US" sz="1800">
                <a:solidFill>
                  <a:srgbClr val="242021"/>
                </a:solidFill>
                <a:latin typeface="Times New Roman"/>
                <a:ea typeface="Times New Roman"/>
                <a:cs typeface="Times New Roman"/>
                <a:sym typeface="Times New Roman"/>
              </a:rPr>
              <a:t> </a:t>
            </a:r>
            <a:br>
              <a:rPr lang="en-US" sz="1800">
                <a:solidFill>
                  <a:srgbClr val="242021"/>
                </a:solidFill>
                <a:latin typeface="Times New Roman"/>
                <a:ea typeface="Times New Roman"/>
                <a:cs typeface="Times New Roman"/>
                <a:sym typeface="Times New Roman"/>
              </a:rPr>
            </a:br>
            <a:endParaRPr sz="1800">
              <a:solidFill>
                <a:srgbClr val="242021"/>
              </a:solidFill>
              <a:latin typeface="Times New Roman"/>
              <a:ea typeface="Times New Roman"/>
              <a:cs typeface="Times New Roman"/>
              <a:sym typeface="Times New Roman"/>
            </a:endParaRPr>
          </a:p>
          <a:p>
            <a:pPr indent="0" lvl="2" marL="0" rtl="0" algn="just">
              <a:lnSpc>
                <a:spcPct val="150000"/>
              </a:lnSpc>
              <a:spcBef>
                <a:spcPts val="500"/>
              </a:spcBef>
              <a:spcAft>
                <a:spcPts val="0"/>
              </a:spcAft>
              <a:buSzPts val="1800"/>
              <a:buNone/>
            </a:pP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303030"/>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endParaRPr sz="1800">
              <a:solidFill>
                <a:srgbClr val="30303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RMMM Plan</a:t>
            </a:r>
            <a:endParaRPr/>
          </a:p>
        </p:txBody>
      </p:sp>
      <p:sp>
        <p:nvSpPr>
          <p:cNvPr id="137" name="Google Shape;137;p11"/>
          <p:cNvSpPr txBox="1"/>
          <p:nvPr>
            <p:ph idx="1" type="body"/>
          </p:nvPr>
        </p:nvSpPr>
        <p:spPr>
          <a:xfrm>
            <a:off x="414338" y="887845"/>
            <a:ext cx="8272462" cy="5410200"/>
          </a:xfrm>
          <a:prstGeom prst="rect">
            <a:avLst/>
          </a:prstGeom>
          <a:noFill/>
          <a:ln>
            <a:noFill/>
          </a:ln>
        </p:spPr>
        <p:txBody>
          <a:bodyPr anchorCtr="0" anchor="t" bIns="0" lIns="0" spcFirstLastPara="1" rIns="0" wrap="square" tIns="0">
            <a:noAutofit/>
          </a:bodyPr>
          <a:lstStyle/>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The findings from risk monitoring may allow the project manager to ascertain what risks caused which problems throughout the project</a:t>
            </a:r>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Some software teams do not develop a formal RMMM document. Rather, each risk is documented individually using a </a:t>
            </a:r>
            <a:r>
              <a:rPr b="0" i="1" lang="en-US" sz="1800">
                <a:solidFill>
                  <a:srgbClr val="C00000"/>
                </a:solidFill>
                <a:latin typeface="Times New Roman"/>
                <a:ea typeface="Times New Roman"/>
                <a:cs typeface="Times New Roman"/>
                <a:sym typeface="Times New Roman"/>
              </a:rPr>
              <a:t>risk information sheet </a:t>
            </a:r>
            <a:r>
              <a:rPr b="0" i="0" lang="en-US" sz="1800">
                <a:solidFill>
                  <a:srgbClr val="C00000"/>
                </a:solidFill>
                <a:latin typeface="Times New Roman"/>
                <a:ea typeface="Times New Roman"/>
                <a:cs typeface="Times New Roman"/>
                <a:sym typeface="Times New Roman"/>
              </a:rPr>
              <a:t>(RIS)</a:t>
            </a:r>
            <a:r>
              <a:rPr b="0" i="0" lang="en-US" sz="1800">
                <a:solidFill>
                  <a:srgbClr val="242021"/>
                </a:solidFill>
                <a:latin typeface="Times New Roman"/>
                <a:ea typeface="Times New Roman"/>
                <a:cs typeface="Times New Roman"/>
                <a:sym typeface="Times New Roman"/>
              </a:rPr>
              <a:t>. </a:t>
            </a:r>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In most cases, the RIS is maintained using a database system so that creation and information entry, priority ordering, searches, and other analysis may be accomplished easily. </a:t>
            </a:r>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Once RMMM has been documented and the project has begun, risk mitigation and monitoring steps commence.</a:t>
            </a:r>
            <a:endParaRPr/>
          </a:p>
          <a:p>
            <a:pPr indent="0" lvl="0" marL="0" rtl="0" algn="just">
              <a:lnSpc>
                <a:spcPct val="150000"/>
              </a:lnSpc>
              <a:spcBef>
                <a:spcPts val="1000"/>
              </a:spcBef>
              <a:spcAft>
                <a:spcPts val="0"/>
              </a:spcAft>
              <a:buSzPts val="1800"/>
              <a:buNone/>
            </a:pPr>
            <a:r>
              <a:rPr b="0" i="0" lang="en-US" sz="1800">
                <a:solidFill>
                  <a:srgbClr val="242021"/>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242021"/>
                </a:solidFill>
                <a:latin typeface="Times New Roman"/>
                <a:ea typeface="Times New Roman"/>
                <a:cs typeface="Times New Roman"/>
                <a:sym typeface="Times New Roman"/>
              </a:rPr>
              <a:t> </a:t>
            </a:r>
            <a:br>
              <a:rPr lang="en-US" sz="1800">
                <a:solidFill>
                  <a:srgbClr val="242021"/>
                </a:solidFill>
                <a:latin typeface="Times New Roman"/>
                <a:ea typeface="Times New Roman"/>
                <a:cs typeface="Times New Roman"/>
                <a:sym typeface="Times New Roman"/>
              </a:rPr>
            </a:br>
            <a:endParaRPr sz="1800">
              <a:solidFill>
                <a:srgbClr val="242021"/>
              </a:solidFill>
              <a:latin typeface="Times New Roman"/>
              <a:ea typeface="Times New Roman"/>
              <a:cs typeface="Times New Roman"/>
              <a:sym typeface="Times New Roman"/>
            </a:endParaRPr>
          </a:p>
          <a:p>
            <a:pPr indent="0" lvl="2" marL="0" rtl="0" algn="just">
              <a:lnSpc>
                <a:spcPct val="150000"/>
              </a:lnSpc>
              <a:spcBef>
                <a:spcPts val="500"/>
              </a:spcBef>
              <a:spcAft>
                <a:spcPts val="0"/>
              </a:spcAft>
              <a:buSzPts val="1800"/>
              <a:buNone/>
            </a:pP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r>
              <a:rPr lang="en-US" sz="1800">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r>
              <a:rPr lang="en-US" sz="1800">
                <a:solidFill>
                  <a:srgbClr val="303030"/>
                </a:solidFill>
                <a:latin typeface="Times New Roman"/>
                <a:ea typeface="Times New Roman"/>
                <a:cs typeface="Times New Roman"/>
                <a:sym typeface="Times New Roman"/>
              </a:rPr>
              <a:t> </a:t>
            </a:r>
            <a:br>
              <a:rPr lang="en-US" sz="1800">
                <a:latin typeface="Times New Roman"/>
                <a:ea typeface="Times New Roman"/>
                <a:cs typeface="Times New Roman"/>
                <a:sym typeface="Times New Roman"/>
              </a:rPr>
            </a:br>
            <a:endParaRPr sz="1800">
              <a:solidFill>
                <a:srgbClr val="30303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2800">
                <a:latin typeface="Times"/>
                <a:ea typeface="Times"/>
                <a:cs typeface="Times"/>
                <a:sym typeface="Times"/>
              </a:rPr>
              <a:t>RMMM Plan – RIS Example</a:t>
            </a:r>
            <a:endParaRPr/>
          </a:p>
        </p:txBody>
      </p:sp>
      <p:sp>
        <p:nvSpPr>
          <p:cNvPr id="143" name="Google Shape;143;p12"/>
          <p:cNvSpPr txBox="1"/>
          <p:nvPr>
            <p:ph idx="1" type="body"/>
          </p:nvPr>
        </p:nvSpPr>
        <p:spPr>
          <a:xfrm>
            <a:off x="76200" y="887845"/>
            <a:ext cx="8991600" cy="5410200"/>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br>
              <a:rPr lang="en-US" sz="1100"/>
            </a:br>
            <a:br>
              <a:rPr lang="en-US" sz="1400"/>
            </a:br>
            <a:r>
              <a:rPr lang="en-US" sz="1800">
                <a:solidFill>
                  <a:srgbClr val="242021"/>
                </a:solidFill>
              </a:rPr>
              <a:t> </a:t>
            </a:r>
            <a:br>
              <a:rPr lang="en-US" sz="1800">
                <a:solidFill>
                  <a:srgbClr val="242021"/>
                </a:solidFill>
              </a:rPr>
            </a:br>
            <a:endParaRPr sz="1800">
              <a:solidFill>
                <a:srgbClr val="242021"/>
              </a:solidFill>
            </a:endParaRPr>
          </a:p>
          <a:p>
            <a:pPr indent="0" lvl="2" marL="0" rtl="0" algn="just">
              <a:lnSpc>
                <a:spcPct val="150000"/>
              </a:lnSpc>
              <a:spcBef>
                <a:spcPts val="500"/>
              </a:spcBef>
              <a:spcAft>
                <a:spcPts val="0"/>
              </a:spcAft>
              <a:buSzPts val="1800"/>
              <a:buNone/>
            </a:pPr>
            <a:r>
              <a:rPr lang="en-US" sz="1400"/>
              <a:t> </a:t>
            </a:r>
            <a:br>
              <a:rPr lang="en-US" sz="1400"/>
            </a:br>
            <a:r>
              <a:rPr lang="en-US" sz="1800"/>
              <a:t> </a:t>
            </a:r>
            <a:br>
              <a:rPr lang="en-US" sz="800"/>
            </a:br>
            <a:r>
              <a:rPr lang="en-US" sz="1000"/>
              <a:t> </a:t>
            </a:r>
            <a:br>
              <a:rPr lang="en-US" sz="1000"/>
            </a:br>
            <a:br>
              <a:rPr lang="en-US" sz="1100"/>
            </a:br>
            <a:br>
              <a:rPr lang="en-US" sz="1400"/>
            </a:br>
            <a:br>
              <a:rPr lang="en-US" sz="1800"/>
            </a:br>
            <a:br>
              <a:rPr lang="en-US" sz="1800"/>
            </a:br>
            <a:r>
              <a:rPr lang="en-US" sz="1800">
                <a:solidFill>
                  <a:srgbClr val="303030"/>
                </a:solidFill>
              </a:rPr>
              <a:t> </a:t>
            </a:r>
            <a:br>
              <a:rPr lang="en-US" sz="1800"/>
            </a:br>
            <a:endParaRPr sz="1800">
              <a:solidFill>
                <a:srgbClr val="303030"/>
              </a:solidFill>
            </a:endParaRPr>
          </a:p>
        </p:txBody>
      </p:sp>
      <p:pic>
        <p:nvPicPr>
          <p:cNvPr id="144" name="Google Shape;144;p12"/>
          <p:cNvPicPr preferRelativeResize="0"/>
          <p:nvPr/>
        </p:nvPicPr>
        <p:blipFill rotWithShape="1">
          <a:blip r:embed="rId3">
            <a:alphaModFix/>
          </a:blip>
          <a:srcRect b="0" l="0" r="0" t="0"/>
          <a:stretch/>
        </p:blipFill>
        <p:spPr>
          <a:xfrm>
            <a:off x="2098761" y="838200"/>
            <a:ext cx="5403677" cy="5715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3"/>
          <p:cNvSpPr txBox="1"/>
          <p:nvPr/>
        </p:nvSpPr>
        <p:spPr>
          <a:xfrm>
            <a:off x="147145" y="145656"/>
            <a:ext cx="65479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Times"/>
                <a:ea typeface="Times"/>
                <a:cs typeface="Times"/>
                <a:sym typeface="Times"/>
              </a:rPr>
              <a:t>Practice Questions</a:t>
            </a:r>
            <a:endParaRPr b="0" i="0" sz="3600" u="none" cap="none" strike="noStrike">
              <a:solidFill>
                <a:schemeClr val="dk1"/>
              </a:solidFill>
              <a:latin typeface="Times"/>
              <a:ea typeface="Times"/>
              <a:cs typeface="Times"/>
              <a:sym typeface="Times"/>
            </a:endParaRPr>
          </a:p>
        </p:txBody>
      </p:sp>
      <p:sp>
        <p:nvSpPr>
          <p:cNvPr id="151" name="Google Shape;151;p13"/>
          <p:cNvSpPr txBox="1"/>
          <p:nvPr/>
        </p:nvSpPr>
        <p:spPr>
          <a:xfrm>
            <a:off x="574710" y="1206992"/>
            <a:ext cx="7556938" cy="830997"/>
          </a:xfrm>
          <a:prstGeom prst="rect">
            <a:avLst/>
          </a:prstGeom>
          <a:noFill/>
          <a:ln>
            <a:noFill/>
          </a:ln>
        </p:spPr>
        <p:txBody>
          <a:bodyPr anchorCtr="0" anchor="t" bIns="45700" lIns="91425" spcFirstLastPara="1" rIns="91425" wrap="square" tIns="45700">
            <a:spAutoFit/>
          </a:bodyPr>
          <a:lstStyle/>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52" name="Google Shape;152;p13"/>
          <p:cNvSpPr txBox="1"/>
          <p:nvPr/>
        </p:nvSpPr>
        <p:spPr>
          <a:xfrm>
            <a:off x="913073" y="895922"/>
            <a:ext cx="7218575" cy="618630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What is the primary purpose of a Risk Mitigation, Monitoring, and Management (RMMM) plan?</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a) To eliminate all project risks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b) To identify, assess, and address potential risks in a project</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c) To guarantee project success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d) To assign blame for project failures</a:t>
            </a:r>
            <a:endParaRPr/>
          </a:p>
          <a:p>
            <a:pPr indent="0" lvl="0" marL="0" marR="0" rtl="0" algn="l">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Answer:</a:t>
            </a:r>
            <a:r>
              <a:rPr b="0" i="0" lang="en-US" sz="1800" u="none" cap="none" strike="noStrike">
                <a:solidFill>
                  <a:schemeClr val="dk1"/>
                </a:solidFill>
                <a:latin typeface="Times New Roman"/>
                <a:ea typeface="Times New Roman"/>
                <a:cs typeface="Times New Roman"/>
                <a:sym typeface="Times New Roman"/>
              </a:rPr>
              <a:t> b) To identify, assess, and address potential risks in a project</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1800"/>
              <a:buFont typeface="Arial"/>
              <a:buAutoNum type="arabicPeriod" startAt="2"/>
            </a:pPr>
            <a:r>
              <a:rPr b="1" i="0" lang="en-US" sz="1800" u="none" cap="none" strike="noStrike">
                <a:solidFill>
                  <a:schemeClr val="dk1"/>
                </a:solidFill>
                <a:latin typeface="Times New Roman"/>
                <a:ea typeface="Times New Roman"/>
                <a:cs typeface="Times New Roman"/>
                <a:sym typeface="Times New Roman"/>
              </a:rPr>
              <a:t>Which of the following is NOT a key component of an RMMM plan?</a:t>
            </a:r>
            <a:br>
              <a:rPr b="1"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a) Risk Identification</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b) Risk Elimination</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c) Risk Monitoring</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d) Risk Mitigation</a:t>
            </a:r>
            <a:endParaRPr/>
          </a:p>
          <a:p>
            <a:pPr indent="0" lvl="0" marL="0" marR="0" rtl="0" algn="l">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Answer:</a:t>
            </a:r>
            <a:r>
              <a:rPr b="0" i="0" lang="en-US" sz="1800" u="none" cap="none" strike="noStrike">
                <a:solidFill>
                  <a:schemeClr val="dk1"/>
                </a:solidFill>
                <a:latin typeface="Times New Roman"/>
                <a:ea typeface="Times New Roman"/>
                <a:cs typeface="Times New Roman"/>
                <a:sym typeface="Times New Roman"/>
              </a:rPr>
              <a:t> b) Risk Elimination</a:t>
            </a:r>
            <a:endParaRPr/>
          </a:p>
          <a:p>
            <a:pPr indent="-342900" lvl="0" marL="342900" marR="0" rtl="0" algn="l">
              <a:lnSpc>
                <a:spcPct val="100000"/>
              </a:lnSpc>
              <a:spcBef>
                <a:spcPts val="0"/>
              </a:spcBef>
              <a:spcAft>
                <a:spcPts val="0"/>
              </a:spcAft>
              <a:buClr>
                <a:schemeClr val="dk1"/>
              </a:buClr>
              <a:buSzPts val="1800"/>
              <a:buFont typeface="Arial"/>
              <a:buAutoNum type="arabicPeriod" startAt="3"/>
            </a:pPr>
            <a:r>
              <a:rPr b="1" i="0" lang="en-US" sz="1800" u="none" cap="none" strike="noStrike">
                <a:solidFill>
                  <a:schemeClr val="dk1"/>
                </a:solidFill>
                <a:latin typeface="Times New Roman"/>
                <a:ea typeface="Times New Roman"/>
                <a:cs typeface="Times New Roman"/>
                <a:sym typeface="Times New Roman"/>
              </a:rPr>
              <a:t>Risk mitigation involves which of the following actions?</a:t>
            </a:r>
            <a:br>
              <a:rPr b="1"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a) Avoiding all risks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b) Developing strategies to reduce the impact or likelihood of risks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c) Ignoring minor risks to focus on major ones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d) Reporting risks without taking action</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b) Developing strategies to reduce the impact or likelihood of risks</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nvSpPr>
        <p:spPr>
          <a:xfrm>
            <a:off x="147145" y="145656"/>
            <a:ext cx="65479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Times"/>
                <a:ea typeface="Times"/>
                <a:cs typeface="Times"/>
                <a:sym typeface="Times"/>
              </a:rPr>
              <a:t>Practice Questions</a:t>
            </a:r>
            <a:endParaRPr b="0" i="0" sz="3600" u="none" cap="none" strike="noStrike">
              <a:solidFill>
                <a:schemeClr val="dk1"/>
              </a:solidFill>
              <a:latin typeface="Times"/>
              <a:ea typeface="Times"/>
              <a:cs typeface="Times"/>
              <a:sym typeface="Times"/>
            </a:endParaRPr>
          </a:p>
        </p:txBody>
      </p:sp>
      <p:sp>
        <p:nvSpPr>
          <p:cNvPr id="159" name="Google Shape;159;p14"/>
          <p:cNvSpPr txBox="1"/>
          <p:nvPr/>
        </p:nvSpPr>
        <p:spPr>
          <a:xfrm>
            <a:off x="574710" y="1206992"/>
            <a:ext cx="7556938" cy="830997"/>
          </a:xfrm>
          <a:prstGeom prst="rect">
            <a:avLst/>
          </a:prstGeom>
          <a:noFill/>
          <a:ln>
            <a:noFill/>
          </a:ln>
        </p:spPr>
        <p:txBody>
          <a:bodyPr anchorCtr="0" anchor="t" bIns="45700" lIns="91425" spcFirstLastPara="1" rIns="91425" wrap="square" tIns="45700">
            <a:spAutoFit/>
          </a:bodyPr>
          <a:lstStyle/>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160" name="Google Shape;160;p14"/>
          <p:cNvSpPr txBox="1"/>
          <p:nvPr/>
        </p:nvSpPr>
        <p:spPr>
          <a:xfrm>
            <a:off x="913073" y="1622490"/>
            <a:ext cx="7218575" cy="369331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Arial"/>
              <a:buAutoNum type="arabicPeriod" startAt="4"/>
            </a:pPr>
            <a:r>
              <a:rPr b="1" i="0" lang="en-US" sz="1800" u="none" cap="none" strike="noStrike">
                <a:solidFill>
                  <a:schemeClr val="dk1"/>
                </a:solidFill>
                <a:latin typeface="Times New Roman"/>
                <a:ea typeface="Times New Roman"/>
                <a:cs typeface="Times New Roman"/>
                <a:sym typeface="Times New Roman"/>
              </a:rPr>
              <a:t>What is the role of risk monitoring in an RMMM plan?</a:t>
            </a:r>
            <a:br>
              <a:rPr b="1"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a) To track identified risks and evaluate their status over time</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b) To remove all project uncertainties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c) To assign responsibility for project delays</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d) To increase project costs</a:t>
            </a:r>
            <a:endParaRPr/>
          </a:p>
          <a:p>
            <a:pPr indent="0" lvl="0" marL="0" marR="0" rtl="0" algn="l">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Answer:</a:t>
            </a:r>
            <a:r>
              <a:rPr b="0" i="0" lang="en-US" sz="1800" u="none" cap="none" strike="noStrike">
                <a:solidFill>
                  <a:schemeClr val="dk1"/>
                </a:solidFill>
                <a:latin typeface="Times New Roman"/>
                <a:ea typeface="Times New Roman"/>
                <a:cs typeface="Times New Roman"/>
                <a:sym typeface="Times New Roman"/>
              </a:rPr>
              <a:t> a) To track identified risks and evaluate their status over time</a:t>
            </a:r>
            <a:endParaRPr/>
          </a:p>
          <a:p>
            <a:pPr indent="-342900" lvl="0" marL="342900" marR="0" rtl="0" algn="l">
              <a:lnSpc>
                <a:spcPct val="100000"/>
              </a:lnSpc>
              <a:spcBef>
                <a:spcPts val="0"/>
              </a:spcBef>
              <a:spcAft>
                <a:spcPts val="0"/>
              </a:spcAft>
              <a:buClr>
                <a:schemeClr val="dk1"/>
              </a:buClr>
              <a:buSzPts val="1800"/>
              <a:buFont typeface="Arial"/>
              <a:buAutoNum type="arabicPeriod" startAt="5"/>
            </a:pPr>
            <a:r>
              <a:rPr b="1" i="0" lang="en-US" sz="1800" u="none" cap="none" strike="noStrike">
                <a:solidFill>
                  <a:schemeClr val="dk1"/>
                </a:solidFill>
                <a:latin typeface="Times New Roman"/>
                <a:ea typeface="Times New Roman"/>
                <a:cs typeface="Times New Roman"/>
                <a:sym typeface="Times New Roman"/>
              </a:rPr>
              <a:t>Which of the following is a key strategy in risk mitigation?</a:t>
            </a:r>
            <a:br>
              <a:rPr b="1"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a) Avoidance</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b) Transfer</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c) Acceptance</a:t>
            </a:r>
            <a:br>
              <a:rPr b="0" i="0" lang="en-US" sz="1800" u="none" cap="none" strike="noStrike">
                <a:solidFill>
                  <a:schemeClr val="dk1"/>
                </a:solidFill>
                <a:latin typeface="Times New Roman"/>
                <a:ea typeface="Times New Roman"/>
                <a:cs typeface="Times New Roman"/>
                <a:sym typeface="Times New Roman"/>
              </a:rPr>
            </a:br>
            <a:r>
              <a:rPr b="0" i="0" lang="en-US" sz="1800" u="none" cap="none" strike="noStrike">
                <a:solidFill>
                  <a:schemeClr val="dk1"/>
                </a:solidFill>
                <a:latin typeface="Times New Roman"/>
                <a:ea typeface="Times New Roman"/>
                <a:cs typeface="Times New Roman"/>
                <a:sym typeface="Times New Roman"/>
              </a:rPr>
              <a:t>d) All of the above</a:t>
            </a:r>
            <a:endParaRPr/>
          </a:p>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Answer:</a:t>
            </a:r>
            <a:r>
              <a:rPr b="0" i="0" lang="en-US" sz="1800" u="none" cap="none" strike="noStrike">
                <a:solidFill>
                  <a:srgbClr val="000000"/>
                </a:solidFill>
                <a:latin typeface="Times New Roman"/>
                <a:ea typeface="Times New Roman"/>
                <a:cs typeface="Times New Roman"/>
                <a:sym typeface="Times New Roman"/>
              </a:rPr>
              <a:t> d) All of the above</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61" name="Google Shape;161;p14"/>
          <p:cNvSpPr/>
          <p:nvPr/>
        </p:nvSpPr>
        <p:spPr>
          <a:xfrm>
            <a:off x="0" y="-323165"/>
            <a:ext cx="264816"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800"/>
              <a:buFont typeface="Times New Roman"/>
              <a:buNone/>
            </a:pPr>
            <a:r>
              <a:t/>
            </a:r>
            <a:endParaRPr/>
          </a:p>
        </p:txBody>
      </p:sp>
      <p:pic>
        <p:nvPicPr>
          <p:cNvPr descr="See the source image" id="167" name="Google Shape;167;p27"/>
          <p:cNvPicPr preferRelativeResize="0"/>
          <p:nvPr/>
        </p:nvPicPr>
        <p:blipFill rotWithShape="1">
          <a:blip r:embed="rId3">
            <a:alphaModFix/>
          </a:blip>
          <a:srcRect b="0" l="0" r="0" t="0"/>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