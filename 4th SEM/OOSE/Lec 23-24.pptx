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BBzHjGdFzqQGXBRFsNMayzxq/9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2" name="Google Shape;102;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11" name="Google Shape;111;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 name="Google Shape;112;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20" name="Google Shape;120;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31" name="Google Shape;131;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42" name="Google Shape;142;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51" name="Google Shape;151;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60" name="Google Shape;160;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69" name="Google Shape;169;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178" name="Google Shape;178;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sp>
        <p:nvSpPr>
          <p:cNvPr id="187" name="Google Shape;187;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196" name="Google Shape;196;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205" name="Google Shape;205;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6" name="Google Shape;206;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15</a:t>
            </a:fld>
            <a:endParaRPr/>
          </a:p>
        </p:txBody>
      </p:sp>
      <p:sp>
        <p:nvSpPr>
          <p:cNvPr id="214" name="Google Shape;214;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223" name="Google Shape;223;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sz="16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0"/>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28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2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hyperlink" Target="https://www.tutorialspoint.com/software_testing_dictionary/alpha_testing.htm" TargetMode="External"/><Relationship Id="rId3" Type="http://schemas.openxmlformats.org/officeDocument/2006/relationships/hyperlink" Target="https://www.javatpoint.com/white-box-testing" TargetMode="External"/><Relationship Id="rId7" Type="http://schemas.openxmlformats.org/officeDocument/2006/relationships/hyperlink" Target="https://www.tutorialspoint.com/software_engineering/software_design_strategies.htm"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www.softwaretestinghelp.com/types-of-software-testing/" TargetMode="External"/><Relationship Id="rId5" Type="http://schemas.openxmlformats.org/officeDocument/2006/relationships/hyperlink" Target="https://www.softwaretestinghelp.com/white-box-testing-techniques-with-example/" TargetMode="External"/><Relationship Id="rId10" Type="http://schemas.openxmlformats.org/officeDocument/2006/relationships/hyperlink" Target="https://www.tutorialspoint.com/software_testing_dictionary/acceptance_testing.htm" TargetMode="External"/><Relationship Id="rId4" Type="http://schemas.openxmlformats.org/officeDocument/2006/relationships/hyperlink" Target="https://www.tutorialspoint.com/software_testing_dictionary/white_box_testing.htm" TargetMode="External"/><Relationship Id="rId9" Type="http://schemas.openxmlformats.org/officeDocument/2006/relationships/hyperlink" Target="https://www.tutorialspoint.com/software_testing_dictionary/validation_testing.htm"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947786" y="2564732"/>
            <a:ext cx="7564618" cy="406295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r>
              <a:rPr lang="en-US" sz="2400" b="1" i="0" u="none" strike="noStrike" cap="none" dirty="0">
                <a:solidFill>
                  <a:schemeClr val="dk1"/>
                </a:solidFill>
                <a:latin typeface="Times New Roman"/>
                <a:ea typeface="Times New Roman"/>
                <a:cs typeface="Times New Roman"/>
                <a:sym typeface="Times New Roman"/>
              </a:rPr>
              <a:t>White-Box Testing Techniques</a:t>
            </a:r>
            <a:endParaRPr dirty="0"/>
          </a:p>
          <a:p>
            <a:pPr marL="0" marR="0" lvl="0" indent="0" algn="ctr" rtl="0">
              <a:lnSpc>
                <a:spcPct val="100000"/>
              </a:lnSpc>
              <a:spcBef>
                <a:spcPts val="400"/>
              </a:spcBef>
              <a:spcAft>
                <a:spcPts val="0"/>
              </a:spcAft>
              <a:buClr>
                <a:srgbClr val="000000"/>
              </a:buClr>
              <a:buSzPts val="2400"/>
              <a:buFont typeface="Arial"/>
              <a:buNone/>
            </a:pPr>
            <a:endParaRPr sz="24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None/>
            </a:pPr>
            <a:r>
              <a:rPr lang="en-US" sz="2400" b="1" i="0" u="none" strike="noStrike" cap="none" dirty="0">
                <a:solidFill>
                  <a:srgbClr val="0070C0"/>
                </a:solidFill>
                <a:latin typeface="Times New Roman"/>
                <a:ea typeface="Times New Roman"/>
                <a:cs typeface="Times New Roman"/>
                <a:sym typeface="Times New Roman"/>
              </a:rPr>
              <a:t>Lecture (Theory)</a:t>
            </a:r>
            <a:endParaRPr sz="2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b="1" i="0" u="none" strike="noStrike" cap="none" dirty="0">
                <a:solidFill>
                  <a:srgbClr val="0070C0"/>
                </a:solidFill>
                <a:latin typeface="Times New Roman"/>
                <a:ea typeface="Times New Roman"/>
                <a:cs typeface="Times New Roman"/>
                <a:sym typeface="Times New Roman"/>
              </a:rPr>
              <a:t>Prepared By Dr. Suvarna Sharma</a:t>
            </a:r>
            <a:endParaRPr sz="24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93" name="Google Shape;93;p1"/>
          <p:cNvSpPr txBox="1"/>
          <p:nvPr/>
        </p:nvSpPr>
        <p:spPr>
          <a:xfrm>
            <a:off x="1292453" y="1243190"/>
            <a:ext cx="721995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75703" y="-62060"/>
            <a:ext cx="2366400" cy="89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200" b="1" i="0" u="none" strike="noStrike" cap="none">
                <a:solidFill>
                  <a:srgbClr val="000000"/>
                </a:solidFill>
                <a:latin typeface="Times New Roman"/>
                <a:ea typeface="Times New Roman"/>
                <a:cs typeface="Times New Roman"/>
                <a:sym typeface="Times New Roman"/>
              </a:rPr>
              <a:t>Index</a:t>
            </a:r>
            <a:endParaRPr sz="1400" b="0" i="0" u="none" strike="noStrike" cap="none">
              <a:solidFill>
                <a:srgbClr val="000000"/>
              </a:solidFill>
              <a:latin typeface="Arial"/>
              <a:ea typeface="Arial"/>
              <a:cs typeface="Arial"/>
              <a:sym typeface="Arial"/>
            </a:endParaRPr>
          </a:p>
        </p:txBody>
      </p:sp>
      <p:sp>
        <p:nvSpPr>
          <p:cNvPr id="99" name="Google Shape;99;p2"/>
          <p:cNvSpPr txBox="1"/>
          <p:nvPr/>
        </p:nvSpPr>
        <p:spPr>
          <a:xfrm>
            <a:off x="178586" y="1628100"/>
            <a:ext cx="8343114" cy="1369624"/>
          </a:xfrm>
          <a:prstGeom prst="rect">
            <a:avLst/>
          </a:prstGeom>
          <a:noFill/>
          <a:ln>
            <a:noFill/>
          </a:ln>
        </p:spPr>
        <p:txBody>
          <a:bodyPr spcFirstLastPara="1" wrap="square" lIns="91425" tIns="45700" rIns="91425" bIns="45700" anchor="t" anchorCtr="0">
            <a:noAutofit/>
          </a:bodyPr>
          <a:lstStyle/>
          <a:p>
            <a:pPr marL="463550" marR="0" lvl="0" indent="-342900" algn="just" rtl="0">
              <a:lnSpc>
                <a:spcPct val="150000"/>
              </a:lnSpc>
              <a:spcBef>
                <a:spcPts val="0"/>
              </a:spcBef>
              <a:spcAft>
                <a:spcPts val="0"/>
              </a:spcAft>
              <a:buClr>
                <a:schemeClr val="dk1"/>
              </a:buClr>
              <a:buSzPts val="1900"/>
              <a:buFont typeface="Arial"/>
              <a:buChar char="•"/>
            </a:pPr>
            <a:r>
              <a:rPr lang="en-US" sz="2000" b="1" i="0" u="none" strike="noStrike" cap="none">
                <a:solidFill>
                  <a:srgbClr val="000000"/>
                </a:solidFill>
                <a:latin typeface="Times New Roman"/>
                <a:ea typeface="Times New Roman"/>
                <a:cs typeface="Times New Roman"/>
                <a:sym typeface="Times New Roman"/>
              </a:rPr>
              <a:t>White-Box Testing Techniques: </a:t>
            </a:r>
            <a:endParaRPr/>
          </a:p>
          <a:p>
            <a:pPr marL="120650" marR="0" lvl="0" indent="0" algn="just" rtl="0">
              <a:lnSpc>
                <a:spcPct val="15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1193800" marR="0" lvl="4" indent="-342900" algn="just" rtl="0">
              <a:lnSpc>
                <a:spcPct val="150000"/>
              </a:lnSpc>
              <a:spcBef>
                <a:spcPts val="0"/>
              </a:spcBef>
              <a:spcAft>
                <a:spcPts val="0"/>
              </a:spcAft>
              <a:buClr>
                <a:schemeClr val="dk1"/>
              </a:buClr>
              <a:buSzPts val="1900"/>
              <a:buFont typeface="Arial"/>
              <a:buChar char="•"/>
            </a:pPr>
            <a:r>
              <a:rPr lang="en-US" sz="2000" b="1" i="0" u="none" strike="noStrike" cap="none">
                <a:solidFill>
                  <a:srgbClr val="000000"/>
                </a:solidFill>
                <a:latin typeface="Times New Roman"/>
                <a:ea typeface="Times New Roman"/>
                <a:cs typeface="Times New Roman"/>
                <a:sym typeface="Times New Roman"/>
              </a:rPr>
              <a:t>Basis Path Testing</a:t>
            </a:r>
            <a:endParaRPr sz="2000" b="1" i="0" u="none" strike="noStrike" cap="none">
              <a:solidFill>
                <a:srgbClr val="000000"/>
              </a:solidFill>
              <a:latin typeface="Times New Roman"/>
              <a:ea typeface="Times New Roman"/>
              <a:cs typeface="Times New Roman"/>
              <a:sym typeface="Times New Roman"/>
            </a:endParaRPr>
          </a:p>
          <a:p>
            <a:pPr marL="850900" marR="0" lvl="4" indent="0" algn="just" rtl="0">
              <a:lnSpc>
                <a:spcPct val="15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1193800" marR="0" lvl="4" indent="-342900" algn="just" rtl="0">
              <a:lnSpc>
                <a:spcPct val="150000"/>
              </a:lnSpc>
              <a:spcBef>
                <a:spcPts val="0"/>
              </a:spcBef>
              <a:spcAft>
                <a:spcPts val="0"/>
              </a:spcAft>
              <a:buClr>
                <a:schemeClr val="dk1"/>
              </a:buClr>
              <a:buSzPts val="1900"/>
              <a:buFont typeface="Arial"/>
              <a:buChar char="•"/>
            </a:pPr>
            <a:r>
              <a:rPr lang="en-US" sz="2000" b="1" i="0" u="none" strike="noStrike" cap="none">
                <a:solidFill>
                  <a:srgbClr val="000000"/>
                </a:solidFill>
                <a:latin typeface="Times New Roman"/>
                <a:ea typeface="Times New Roman"/>
                <a:cs typeface="Times New Roman"/>
                <a:sym typeface="Times New Roman"/>
              </a:rPr>
              <a:t>Control Structure Testing: condition and loop testing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6" name="Google Shape;106;p4"/>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07" name="Google Shape;107;p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 name="Google Shape;108;p4"/>
          <p:cNvSpPr/>
          <p:nvPr/>
        </p:nvSpPr>
        <p:spPr>
          <a:xfrm>
            <a:off x="241300" y="720889"/>
            <a:ext cx="8661400" cy="6093936"/>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A software testing technique that involves testing a software application's internal structure and workings. </a:t>
            </a:r>
            <a:endParaRPr sz="14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The tester has access to the source code and uses this knowledge to design test cases that can verify the correctness of the software at the code level.</a:t>
            </a:r>
            <a:endParaRPr sz="14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Analyze the internal structures of the used data structures, internal design, code structure, and the software’s working rather than just the functionality as in black box testing. </a:t>
            </a:r>
            <a:endParaRPr sz="14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Also, called glass box testing clear box testing, or structural testing. </a:t>
            </a:r>
            <a:endParaRPr sz="14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Also, known as transparent testing or open-box testing. </a:t>
            </a:r>
            <a:endParaRPr sz="14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Also, known as structural testing or code-based testing, it is used to test the software’s internal logic, flow, and structure. </a:t>
            </a:r>
            <a:endParaRPr sz="1400" b="0" i="0" u="none" strike="noStrike" cap="none" dirty="0">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imes New Roman"/>
                <a:ea typeface="Times New Roman"/>
                <a:cs typeface="Times New Roman"/>
                <a:sym typeface="Times New Roman"/>
              </a:rPr>
              <a:t>The tester creates test cases to examine the code paths and logic flows to ensure they meet the specified requirements.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15" name="Google Shape;115;p6"/>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16" name="Google Shape;116;p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 name="Google Shape;117;p6"/>
          <p:cNvSpPr/>
          <p:nvPr/>
        </p:nvSpPr>
        <p:spPr>
          <a:xfrm>
            <a:off x="241300" y="1051446"/>
            <a:ext cx="8661400" cy="4755108"/>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Process of White Box Testing</a:t>
            </a:r>
            <a:endParaRPr sz="1400" b="0" i="0" u="none" strike="noStrike" cap="none">
              <a:solidFill>
                <a:srgbClr val="000000"/>
              </a:solidFill>
              <a:latin typeface="Arial"/>
              <a:ea typeface="Arial"/>
              <a:cs typeface="Arial"/>
              <a:sym typeface="Arial"/>
            </a:endParaRPr>
          </a:p>
          <a:p>
            <a:pPr marL="330200" marR="0" lvl="0" indent="-3302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273239"/>
                </a:solidFill>
                <a:latin typeface="Times New Roman"/>
                <a:ea typeface="Times New Roman"/>
                <a:cs typeface="Times New Roman"/>
                <a:sym typeface="Times New Roman"/>
              </a:rPr>
              <a:t>Input:</a:t>
            </a:r>
            <a:r>
              <a:rPr lang="en-US" sz="2000" b="0" i="0" u="none" strike="noStrike" cap="none">
                <a:solidFill>
                  <a:srgbClr val="273239"/>
                </a:solidFill>
                <a:latin typeface="Times New Roman"/>
                <a:ea typeface="Times New Roman"/>
                <a:cs typeface="Times New Roman"/>
                <a:sym typeface="Times New Roman"/>
              </a:rPr>
              <a:t> Requirements, Functional specifications, design documents, source code.</a:t>
            </a:r>
            <a:endParaRPr/>
          </a:p>
          <a:p>
            <a:pPr marL="342900" marR="0" lvl="0" indent="-215900" algn="just" rtl="0">
              <a:lnSpc>
                <a:spcPct val="150000"/>
              </a:lnSpc>
              <a:spcBef>
                <a:spcPts val="0"/>
              </a:spcBef>
              <a:spcAft>
                <a:spcPts val="0"/>
              </a:spcAft>
              <a:buClr>
                <a:srgbClr val="000000"/>
              </a:buClr>
              <a:buSzPts val="2000"/>
              <a:buFont typeface="Times New Roman"/>
              <a:buNone/>
            </a:pPr>
            <a:endParaRPr sz="1400" b="0" i="0" u="none" strike="noStrike" cap="none">
              <a:solidFill>
                <a:srgbClr val="000000"/>
              </a:solidFill>
              <a:latin typeface="Arial"/>
              <a:ea typeface="Arial"/>
              <a:cs typeface="Arial"/>
              <a:sym typeface="Arial"/>
            </a:endParaRPr>
          </a:p>
          <a:p>
            <a:pPr marL="330200" marR="0" lvl="0" indent="-3302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273239"/>
                </a:solidFill>
                <a:latin typeface="Times New Roman"/>
                <a:ea typeface="Times New Roman"/>
                <a:cs typeface="Times New Roman"/>
                <a:sym typeface="Times New Roman"/>
              </a:rPr>
              <a:t>Processing:</a:t>
            </a:r>
            <a:r>
              <a:rPr lang="en-US" sz="2000" b="0" i="0" u="none" strike="noStrike" cap="none">
                <a:solidFill>
                  <a:srgbClr val="273239"/>
                </a:solidFill>
                <a:latin typeface="Times New Roman"/>
                <a:ea typeface="Times New Roman"/>
                <a:cs typeface="Times New Roman"/>
                <a:sym typeface="Times New Roman"/>
              </a:rPr>
              <a:t> Performing risk analysis to guide through the entire process.</a:t>
            </a:r>
            <a:endParaRPr/>
          </a:p>
          <a:p>
            <a:pPr marL="342900" marR="0" lvl="0" indent="-215900" algn="just" rtl="0">
              <a:lnSpc>
                <a:spcPct val="150000"/>
              </a:lnSpc>
              <a:spcBef>
                <a:spcPts val="0"/>
              </a:spcBef>
              <a:spcAft>
                <a:spcPts val="0"/>
              </a:spcAft>
              <a:buClr>
                <a:srgbClr val="000000"/>
              </a:buClr>
              <a:buSzPts val="2000"/>
              <a:buFont typeface="Times New Roman"/>
              <a:buNone/>
            </a:pPr>
            <a:endParaRPr sz="1400" b="0" i="0" u="none" strike="noStrike" cap="none">
              <a:solidFill>
                <a:srgbClr val="000000"/>
              </a:solidFill>
              <a:latin typeface="Arial"/>
              <a:ea typeface="Arial"/>
              <a:cs typeface="Arial"/>
              <a:sym typeface="Arial"/>
            </a:endParaRPr>
          </a:p>
          <a:p>
            <a:pPr marL="330200" marR="0" lvl="0" indent="-3302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273239"/>
                </a:solidFill>
                <a:latin typeface="Times New Roman"/>
                <a:ea typeface="Times New Roman"/>
                <a:cs typeface="Times New Roman"/>
                <a:sym typeface="Times New Roman"/>
              </a:rPr>
              <a:t>Proper test planning:</a:t>
            </a:r>
            <a:r>
              <a:rPr lang="en-US" sz="2000" b="0" i="0" u="none" strike="noStrike" cap="none">
                <a:solidFill>
                  <a:srgbClr val="273239"/>
                </a:solidFill>
                <a:latin typeface="Times New Roman"/>
                <a:ea typeface="Times New Roman"/>
                <a:cs typeface="Times New Roman"/>
                <a:sym typeface="Times New Roman"/>
              </a:rPr>
              <a:t> Designing test cases to cover the entire code. Execute rinse-repeat until error-free software is reached. Also, the results are communicated.</a:t>
            </a:r>
            <a:endParaRPr/>
          </a:p>
          <a:p>
            <a:pPr marL="342900" marR="0" lvl="0" indent="-215900" algn="just" rtl="0">
              <a:lnSpc>
                <a:spcPct val="150000"/>
              </a:lnSpc>
              <a:spcBef>
                <a:spcPts val="0"/>
              </a:spcBef>
              <a:spcAft>
                <a:spcPts val="0"/>
              </a:spcAft>
              <a:buClr>
                <a:srgbClr val="000000"/>
              </a:buClr>
              <a:buSzPts val="2000"/>
              <a:buFont typeface="Times New Roman"/>
              <a:buNone/>
            </a:pPr>
            <a:endParaRPr sz="1400" b="0" i="0" u="none" strike="noStrike" cap="none">
              <a:solidFill>
                <a:srgbClr val="000000"/>
              </a:solidFill>
              <a:latin typeface="Arial"/>
              <a:ea typeface="Arial"/>
              <a:cs typeface="Arial"/>
              <a:sym typeface="Arial"/>
            </a:endParaRPr>
          </a:p>
          <a:p>
            <a:pPr marL="330200" marR="0" lvl="0" indent="-3302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273239"/>
                </a:solidFill>
                <a:latin typeface="Times New Roman"/>
                <a:ea typeface="Times New Roman"/>
                <a:cs typeface="Times New Roman"/>
                <a:sym typeface="Times New Roman"/>
              </a:rPr>
              <a:t>Output:</a:t>
            </a:r>
            <a:r>
              <a:rPr lang="en-US" sz="2000" b="0" i="0" u="none" strike="noStrike" cap="none">
                <a:solidFill>
                  <a:srgbClr val="273239"/>
                </a:solidFill>
                <a:latin typeface="Times New Roman"/>
                <a:ea typeface="Times New Roman"/>
                <a:cs typeface="Times New Roman"/>
                <a:sym typeface="Times New Roman"/>
              </a:rPr>
              <a:t> Preparing the final report of the entire testing process.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24" name="Google Shape;124;p7"/>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25" name="Google Shape;125;p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 name="Google Shape;126;p7"/>
          <p:cNvSpPr/>
          <p:nvPr/>
        </p:nvSpPr>
        <p:spPr>
          <a:xfrm>
            <a:off x="241300" y="687810"/>
            <a:ext cx="8661400" cy="2862282"/>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Testing Techniques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1. Statement Coverage</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In this technique as shown in Figure 1, the aim is to traverse all statements at least once. Hence, each line of code is tested. In the case of a flowchart, every node must be traversed at least once. Since all lines of code are covered, it helps in pointing out faulty code.</a:t>
            </a:r>
            <a:endParaRPr sz="2000" b="0" i="0" u="none" strike="noStrike" cap="none">
              <a:solidFill>
                <a:srgbClr val="273239"/>
              </a:solidFill>
              <a:latin typeface="Times New Roman"/>
              <a:ea typeface="Times New Roman"/>
              <a:cs typeface="Times New Roman"/>
              <a:sym typeface="Times New Roman"/>
            </a:endParaRPr>
          </a:p>
        </p:txBody>
      </p:sp>
      <p:pic>
        <p:nvPicPr>
          <p:cNvPr id="127" name="Google Shape;127;p7" descr="Lightbox"/>
          <p:cNvPicPr preferRelativeResize="0"/>
          <p:nvPr/>
        </p:nvPicPr>
        <p:blipFill rotWithShape="1">
          <a:blip r:embed="rId3">
            <a:alphaModFix/>
          </a:blip>
          <a:srcRect/>
          <a:stretch/>
        </p:blipFill>
        <p:spPr>
          <a:xfrm>
            <a:off x="1384300" y="3550092"/>
            <a:ext cx="6298545" cy="2957864"/>
          </a:xfrm>
          <a:prstGeom prst="rect">
            <a:avLst/>
          </a:prstGeom>
          <a:noFill/>
          <a:ln>
            <a:noFill/>
          </a:ln>
        </p:spPr>
      </p:pic>
      <p:sp>
        <p:nvSpPr>
          <p:cNvPr id="128" name="Google Shape;128;p7"/>
          <p:cNvSpPr txBox="1"/>
          <p:nvPr/>
        </p:nvSpPr>
        <p:spPr>
          <a:xfrm>
            <a:off x="2764672" y="6289079"/>
            <a:ext cx="395663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folHlink"/>
                </a:solidFill>
                <a:latin typeface="Times"/>
                <a:ea typeface="Times"/>
                <a:cs typeface="Times"/>
                <a:sym typeface="Times"/>
              </a:rPr>
              <a:t>Figure 1:  </a:t>
            </a:r>
            <a:r>
              <a:rPr lang="en-US" sz="1400" b="0" i="0" u="none" strike="noStrike" cap="none">
                <a:solidFill>
                  <a:srgbClr val="000000"/>
                </a:solidFill>
                <a:latin typeface="Times"/>
                <a:ea typeface="Times"/>
                <a:cs typeface="Times"/>
                <a:sym typeface="Times"/>
              </a:rPr>
              <a:t>Statement Coverage Example.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35" name="Google Shape;135;p8"/>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36" name="Google Shape;136;p8"/>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 name="Google Shape;137;p8"/>
          <p:cNvSpPr/>
          <p:nvPr/>
        </p:nvSpPr>
        <p:spPr>
          <a:xfrm>
            <a:off x="128286" y="832704"/>
            <a:ext cx="8661400" cy="132343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2. Branch Coverage: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In this technique as shown in Figure 2, test cases are designed so that each branch from all decision points is traversed at least once. In a flowchart, all edges must be traversed at least once.</a:t>
            </a:r>
            <a:endParaRPr sz="1400" b="0" i="0" u="none" strike="noStrike" cap="none">
              <a:solidFill>
                <a:srgbClr val="000000"/>
              </a:solidFill>
              <a:latin typeface="Arial"/>
              <a:ea typeface="Arial"/>
              <a:cs typeface="Arial"/>
              <a:sym typeface="Arial"/>
            </a:endParaRPr>
          </a:p>
        </p:txBody>
      </p:sp>
      <p:sp>
        <p:nvSpPr>
          <p:cNvPr id="138" name="Google Shape;138;p8"/>
          <p:cNvSpPr txBox="1"/>
          <p:nvPr/>
        </p:nvSpPr>
        <p:spPr>
          <a:xfrm>
            <a:off x="76200" y="6390679"/>
            <a:ext cx="931376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folHlink"/>
                </a:solidFill>
                <a:latin typeface="Times"/>
                <a:ea typeface="Times"/>
                <a:cs typeface="Times"/>
                <a:sym typeface="Times"/>
              </a:rPr>
              <a:t>Figure 2:  </a:t>
            </a:r>
            <a:r>
              <a:rPr lang="en-US" sz="1400" b="0" i="0" u="none" strike="noStrike" cap="none">
                <a:solidFill>
                  <a:srgbClr val="000000"/>
                </a:solidFill>
                <a:latin typeface="Times"/>
                <a:ea typeface="Times"/>
                <a:cs typeface="Times"/>
                <a:sym typeface="Times"/>
              </a:rPr>
              <a:t>4 test cases are required such that all branches of all decisions are covered, i.e, all edges of the flowchart are covered</a:t>
            </a:r>
            <a:endParaRPr sz="1400" b="0" i="0" u="none" strike="noStrike" cap="none">
              <a:solidFill>
                <a:srgbClr val="000000"/>
              </a:solidFill>
              <a:latin typeface="Arial"/>
              <a:ea typeface="Arial"/>
              <a:cs typeface="Arial"/>
              <a:sym typeface="Arial"/>
            </a:endParaRPr>
          </a:p>
        </p:txBody>
      </p:sp>
      <p:pic>
        <p:nvPicPr>
          <p:cNvPr id="139" name="Google Shape;139;p8" descr="Lightbox"/>
          <p:cNvPicPr preferRelativeResize="0"/>
          <p:nvPr/>
        </p:nvPicPr>
        <p:blipFill rotWithShape="1">
          <a:blip r:embed="rId3">
            <a:alphaModFix/>
          </a:blip>
          <a:srcRect/>
          <a:stretch/>
        </p:blipFill>
        <p:spPr>
          <a:xfrm>
            <a:off x="1398286" y="2259974"/>
            <a:ext cx="6831314" cy="4140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46" name="Google Shape;146;p9"/>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47" name="Google Shape;147;p9"/>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 name="Google Shape;148;p9"/>
          <p:cNvSpPr/>
          <p:nvPr/>
        </p:nvSpPr>
        <p:spPr>
          <a:xfrm>
            <a:off x="241300" y="861165"/>
            <a:ext cx="8661400" cy="3730317"/>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3. Condition Coverage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In this technique, all individual conditions must be covered as shown in the following example: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READ X, Y</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IF(X == 0 || Y == 0)</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PRINT ‘0’</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#TC1 – X = 0, Y = 55</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#TC2 – X = 5, Y = 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55" name="Google Shape;155;p10"/>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56" name="Google Shape;156;p10"/>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 name="Google Shape;157;p10"/>
          <p:cNvSpPr/>
          <p:nvPr/>
        </p:nvSpPr>
        <p:spPr>
          <a:xfrm>
            <a:off x="241300" y="971001"/>
            <a:ext cx="8661400" cy="4653646"/>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4. Multiple Condition Coverage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In this technique, all the possible combinations of the possible outcomes of conditions are tested at least once. Let’s consider the following example: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READ X, Y</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IF(X == 0 || Y == 0)</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PRINT ‘0’</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#TC1: X = 0, Y = 0</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#TC2: X = 0, Y = 5</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#TC3: X = 55, Y = 0</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#TC4: X = 55, Y = 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64" name="Google Shape;164;p11"/>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65" name="Google Shape;165;p11"/>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6" name="Google Shape;166;p11"/>
          <p:cNvSpPr/>
          <p:nvPr/>
        </p:nvSpPr>
        <p:spPr>
          <a:xfrm>
            <a:off x="241300" y="922397"/>
            <a:ext cx="8661400" cy="5632271"/>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5. Basis Path Testing</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dirty="0">
                <a:solidFill>
                  <a:srgbClr val="273239"/>
                </a:solidFill>
                <a:latin typeface="Times New Roman"/>
                <a:ea typeface="Times New Roman"/>
                <a:cs typeface="Times New Roman"/>
                <a:sym typeface="Times New Roman"/>
              </a:rPr>
              <a:t>In this technique, control flow graphs are made from code or flowchart and then Cyclomatic complexity is calculated which defines the number of independent paths so that the minimal number of test cases can be designed for each independent path. </a:t>
            </a:r>
            <a:endParaRPr dirty="0"/>
          </a:p>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Steps:</a:t>
            </a:r>
            <a:endParaRPr lang="en-US" sz="2000" b="0" i="0" u="none" strike="noStrike" cap="none" dirty="0">
              <a:solidFill>
                <a:srgbClr val="273239"/>
              </a:solidFill>
              <a:latin typeface="Times New Roman"/>
              <a:ea typeface="Times New Roman"/>
              <a:cs typeface="Times New Roman"/>
              <a:sym typeface="Times New Roman"/>
            </a:endParaRPr>
          </a:p>
          <a:p>
            <a:pPr marL="342900" marR="0" lvl="0" indent="287338" algn="just" rtl="0">
              <a:lnSpc>
                <a:spcPct val="100000"/>
              </a:lnSpc>
              <a:spcBef>
                <a:spcPts val="0"/>
              </a:spcBef>
              <a:spcAft>
                <a:spcPts val="0"/>
              </a:spcAft>
              <a:buClr>
                <a:srgbClr val="000000"/>
              </a:buClr>
              <a:buSzPts val="2000"/>
              <a:buFont typeface="Arial" panose="020B0604020202020204" pitchFamily="34" charset="0"/>
              <a:buChar char="•"/>
              <a:tabLst>
                <a:tab pos="720725" algn="l"/>
              </a:tabLst>
            </a:pPr>
            <a:r>
              <a:rPr lang="en-US" sz="2000" b="0" i="0" u="none" strike="noStrike" cap="none" dirty="0">
                <a:solidFill>
                  <a:srgbClr val="273239"/>
                </a:solidFill>
                <a:latin typeface="Times New Roman"/>
                <a:ea typeface="Times New Roman"/>
                <a:cs typeface="Times New Roman"/>
                <a:sym typeface="Times New Roman"/>
              </a:rPr>
              <a:t>Make the corresponding control flow graph</a:t>
            </a:r>
            <a:endParaRPr lang="en-US" dirty="0">
              <a:ea typeface="Times New Roman"/>
            </a:endParaRPr>
          </a:p>
          <a:p>
            <a:pPr marL="342900" marR="0" lvl="0" indent="287338" algn="just" rtl="0">
              <a:lnSpc>
                <a:spcPct val="100000"/>
              </a:lnSpc>
              <a:spcBef>
                <a:spcPts val="0"/>
              </a:spcBef>
              <a:spcAft>
                <a:spcPts val="0"/>
              </a:spcAft>
              <a:buClr>
                <a:srgbClr val="000000"/>
              </a:buClr>
              <a:buSzPts val="2000"/>
              <a:buFont typeface="Arial" panose="020B0604020202020204" pitchFamily="34" charset="0"/>
              <a:buChar char="•"/>
              <a:tabLst>
                <a:tab pos="720725" algn="l"/>
              </a:tabLst>
            </a:pPr>
            <a:r>
              <a:rPr lang="en-US" sz="2000" b="0" i="0" u="none" strike="noStrike" cap="none" dirty="0">
                <a:solidFill>
                  <a:srgbClr val="273239"/>
                </a:solidFill>
                <a:latin typeface="Times New Roman"/>
                <a:ea typeface="Times New Roman"/>
                <a:cs typeface="Times New Roman"/>
                <a:sym typeface="Times New Roman"/>
              </a:rPr>
              <a:t>Calculate the cyclomatic complexity</a:t>
            </a:r>
            <a:endParaRPr lang="en-US" dirty="0">
              <a:ea typeface="Times New Roman"/>
            </a:endParaRPr>
          </a:p>
          <a:p>
            <a:pPr marL="342900" marR="0" lvl="0" indent="287338" algn="just" rtl="0">
              <a:lnSpc>
                <a:spcPct val="100000"/>
              </a:lnSpc>
              <a:spcBef>
                <a:spcPts val="0"/>
              </a:spcBef>
              <a:spcAft>
                <a:spcPts val="0"/>
              </a:spcAft>
              <a:buClr>
                <a:srgbClr val="000000"/>
              </a:buClr>
              <a:buSzPts val="2000"/>
              <a:buFont typeface="Arial" panose="020B0604020202020204" pitchFamily="34" charset="0"/>
              <a:buChar char="•"/>
              <a:tabLst>
                <a:tab pos="720725" algn="l"/>
              </a:tabLst>
            </a:pPr>
            <a:r>
              <a:rPr lang="en-US" sz="2000" b="0" i="0" u="none" strike="noStrike" cap="none" dirty="0">
                <a:solidFill>
                  <a:srgbClr val="273239"/>
                </a:solidFill>
                <a:latin typeface="Times New Roman"/>
                <a:ea typeface="Times New Roman"/>
                <a:cs typeface="Times New Roman"/>
                <a:sym typeface="Times New Roman"/>
              </a:rPr>
              <a:t>Find the independent paths</a:t>
            </a:r>
            <a:endParaRPr lang="en-US" dirty="0">
              <a:ea typeface="Times New Roman"/>
            </a:endParaRPr>
          </a:p>
          <a:p>
            <a:pPr marL="342900" marR="0" lvl="0" indent="287338" algn="just" rtl="0">
              <a:lnSpc>
                <a:spcPct val="100000"/>
              </a:lnSpc>
              <a:spcBef>
                <a:spcPts val="0"/>
              </a:spcBef>
              <a:spcAft>
                <a:spcPts val="0"/>
              </a:spcAft>
              <a:buClr>
                <a:srgbClr val="000000"/>
              </a:buClr>
              <a:buSzPts val="2000"/>
              <a:buFont typeface="Arial" panose="020B0604020202020204" pitchFamily="34" charset="0"/>
              <a:buChar char="•"/>
              <a:tabLst>
                <a:tab pos="720725" algn="l"/>
              </a:tabLst>
            </a:pPr>
            <a:r>
              <a:rPr lang="en-US" sz="2000" b="0" i="0" u="none" strike="noStrike" cap="none" dirty="0">
                <a:solidFill>
                  <a:srgbClr val="273239"/>
                </a:solidFill>
                <a:latin typeface="Times New Roman"/>
                <a:ea typeface="Times New Roman"/>
                <a:cs typeface="Times New Roman"/>
                <a:sym typeface="Times New Roman"/>
              </a:rPr>
              <a:t>Design test cases corresponding to each independent path</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V(G) = P + 1, where P is the number of predicate nodes in the flow graph</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V(G) = E – N + 2, where E is the number of edges and N is the total number of nodes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V(G) = Number of non-overlapping regions in the graph</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#P1: 1 – 2 – 4 – 7 – 8</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#P2: 1 – 2 – 3 – 5 – 7 – 8</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#P3: 1 – 2 – 3 – 6 – 7 – 8</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#P4: 1 – 2 – 4 – 7 – 1 – . . . – 7 – 8</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73" name="Google Shape;173;p12"/>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74" name="Google Shape;174;p12"/>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 name="Google Shape;175;p12"/>
          <p:cNvSpPr/>
          <p:nvPr/>
        </p:nvSpPr>
        <p:spPr>
          <a:xfrm>
            <a:off x="0" y="858876"/>
            <a:ext cx="8902700" cy="4570442"/>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6. Loop Testing</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dirty="0">
                <a:solidFill>
                  <a:srgbClr val="273239"/>
                </a:solidFill>
                <a:latin typeface="Times New Roman"/>
                <a:ea typeface="Times New Roman"/>
                <a:cs typeface="Times New Roman"/>
                <a:sym typeface="Times New Roman"/>
              </a:rPr>
              <a:t>Loops are widely used and these are fundamental to many algorithms hence, their testing is very important. Errors often occur at the beginnings and ends of loops.</a:t>
            </a:r>
            <a:endParaRPr dirty="0"/>
          </a:p>
          <a:p>
            <a:pPr marL="0" marR="0" lvl="0" indent="0" algn="l" rtl="0">
              <a:lnSpc>
                <a:spcPct val="15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Char char="•"/>
            </a:pPr>
            <a:r>
              <a:rPr lang="en-US" sz="2000" b="1" i="0" u="none" strike="noStrike" cap="none" dirty="0">
                <a:solidFill>
                  <a:srgbClr val="273239"/>
                </a:solidFill>
                <a:latin typeface="Times New Roman"/>
                <a:ea typeface="Times New Roman"/>
                <a:cs typeface="Times New Roman"/>
                <a:sym typeface="Times New Roman"/>
              </a:rPr>
              <a:t>Simple loops:</a:t>
            </a:r>
            <a:r>
              <a:rPr lang="en-US" sz="2000" b="0" i="0" u="none" strike="noStrike" cap="none" dirty="0">
                <a:solidFill>
                  <a:srgbClr val="273239"/>
                </a:solidFill>
                <a:latin typeface="Times New Roman"/>
                <a:ea typeface="Times New Roman"/>
                <a:cs typeface="Times New Roman"/>
                <a:sym typeface="Times New Roman"/>
              </a:rPr>
              <a:t> For simple loops of size n, test cases are designed that:</a:t>
            </a:r>
            <a:endParaRPr sz="1400" b="0" i="0" u="none" strike="noStrike" cap="none" dirty="0">
              <a:solidFill>
                <a:srgbClr val="000000"/>
              </a:solidFill>
              <a:latin typeface="Arial"/>
              <a:ea typeface="Arial"/>
              <a:cs typeface="Arial"/>
              <a:sym typeface="Arial"/>
            </a:endParaRPr>
          </a:p>
          <a:p>
            <a:pPr marL="457200" lvl="3" indent="-457200">
              <a:lnSpc>
                <a:spcPct val="150000"/>
              </a:lnSpc>
              <a:buSzPts val="2000"/>
              <a:buFont typeface="+mj-lt"/>
              <a:buAutoNum type="arabicPeriod"/>
            </a:pPr>
            <a:r>
              <a:rPr lang="en-US" sz="2000" b="0" i="0" u="none" strike="noStrike" cap="none" dirty="0">
                <a:solidFill>
                  <a:srgbClr val="273239"/>
                </a:solidFill>
                <a:latin typeface="Times New Roman"/>
                <a:ea typeface="Times New Roman"/>
                <a:cs typeface="Times New Roman"/>
                <a:sym typeface="Times New Roman"/>
              </a:rPr>
              <a:t>Skip the loop entirely</a:t>
            </a:r>
            <a:endParaRPr lang="en-US" sz="2000" dirty="0">
              <a:solidFill>
                <a:srgbClr val="273239"/>
              </a:solidFill>
              <a:latin typeface="Times New Roman"/>
              <a:ea typeface="Times New Roman"/>
              <a:cs typeface="Times New Roman"/>
              <a:sym typeface="Times New Roman"/>
            </a:endParaRPr>
          </a:p>
          <a:p>
            <a:pPr marL="457200" lvl="3" indent="-457200">
              <a:lnSpc>
                <a:spcPct val="150000"/>
              </a:lnSpc>
              <a:buSzPts val="2000"/>
              <a:buFont typeface="+mj-lt"/>
              <a:buAutoNum type="arabicPeriod"/>
            </a:pPr>
            <a:r>
              <a:rPr lang="en-US" sz="2000" b="0" i="0" u="none" strike="noStrike" cap="none" dirty="0">
                <a:solidFill>
                  <a:srgbClr val="273239"/>
                </a:solidFill>
                <a:latin typeface="Times New Roman"/>
                <a:ea typeface="Times New Roman"/>
                <a:cs typeface="Times New Roman"/>
                <a:sym typeface="Times New Roman"/>
              </a:rPr>
              <a:t>Only one pass through the loop</a:t>
            </a:r>
            <a:endParaRPr lang="en-US" dirty="0">
              <a:ea typeface="Times New Roman"/>
            </a:endParaRPr>
          </a:p>
          <a:p>
            <a:pPr marL="457200" lvl="3" indent="-457200">
              <a:lnSpc>
                <a:spcPct val="150000"/>
              </a:lnSpc>
              <a:buSzPts val="2000"/>
              <a:buFont typeface="+mj-lt"/>
              <a:buAutoNum type="arabicPeriod"/>
            </a:pPr>
            <a:r>
              <a:rPr lang="en-US" sz="2000" b="0" i="0" u="none" strike="noStrike" cap="none" dirty="0">
                <a:solidFill>
                  <a:srgbClr val="273239"/>
                </a:solidFill>
                <a:latin typeface="Times New Roman"/>
                <a:ea typeface="Times New Roman"/>
                <a:cs typeface="Times New Roman"/>
                <a:sym typeface="Times New Roman"/>
              </a:rPr>
              <a:t>Passes</a:t>
            </a:r>
            <a:endParaRPr lang="en-US" dirty="0">
              <a:ea typeface="Times New Roman"/>
            </a:endParaRPr>
          </a:p>
          <a:p>
            <a:pPr marL="457200" lvl="3" indent="-457200">
              <a:lnSpc>
                <a:spcPct val="150000"/>
              </a:lnSpc>
              <a:buSzPts val="2000"/>
              <a:buFont typeface="+mj-lt"/>
              <a:buAutoNum type="arabicPeriod"/>
            </a:pPr>
            <a:r>
              <a:rPr lang="en-US" sz="2000" b="0" i="0" u="none" strike="noStrike" cap="none" dirty="0">
                <a:solidFill>
                  <a:srgbClr val="273239"/>
                </a:solidFill>
                <a:latin typeface="Times New Roman"/>
                <a:ea typeface="Times New Roman"/>
                <a:cs typeface="Times New Roman"/>
                <a:sym typeface="Times New Roman"/>
              </a:rPr>
              <a:t>m passes, where m &lt; n</a:t>
            </a:r>
            <a:endParaRPr lang="pt-BR" dirty="0">
              <a:ea typeface="Times New Roman"/>
            </a:endParaRPr>
          </a:p>
          <a:p>
            <a:pPr marL="457200" lvl="3" indent="-457200">
              <a:lnSpc>
                <a:spcPct val="150000"/>
              </a:lnSpc>
              <a:buSzPts val="2000"/>
              <a:buFont typeface="+mj-lt"/>
              <a:buAutoNum type="arabicPeriod"/>
            </a:pPr>
            <a:r>
              <a:rPr lang="pt-BR" sz="2000" b="0" i="0" u="none" strike="noStrike" cap="none" dirty="0">
                <a:solidFill>
                  <a:srgbClr val="273239"/>
                </a:solidFill>
                <a:latin typeface="Times New Roman"/>
                <a:ea typeface="Times New Roman"/>
                <a:cs typeface="Times New Roman"/>
                <a:sym typeface="Times New Roman"/>
              </a:rPr>
              <a:t>n-1 ans n+1 passes</a:t>
            </a:r>
            <a:endParaRPr lang="pt-BR"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182" name="Google Shape;182;p13"/>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83" name="Google Shape;183;p13"/>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 name="Google Shape;184;p13"/>
          <p:cNvSpPr/>
          <p:nvPr/>
        </p:nvSpPr>
        <p:spPr>
          <a:xfrm>
            <a:off x="241300" y="1205243"/>
            <a:ext cx="8902700" cy="4191981"/>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6. Loop Testing (cont’d)</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Char char="•"/>
            </a:pPr>
            <a:r>
              <a:rPr lang="en-US" sz="2000" b="1" i="0" u="none" strike="noStrike" cap="none">
                <a:solidFill>
                  <a:srgbClr val="273239"/>
                </a:solidFill>
                <a:latin typeface="Times New Roman"/>
                <a:ea typeface="Times New Roman"/>
                <a:cs typeface="Times New Roman"/>
                <a:sym typeface="Times New Roman"/>
              </a:rPr>
              <a:t>Nested loops:</a:t>
            </a:r>
            <a:r>
              <a:rPr lang="en-US" sz="2000" b="0" i="0" u="none" strike="noStrike" cap="none">
                <a:solidFill>
                  <a:srgbClr val="273239"/>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533400" marR="0" lvl="2" indent="-139700" algn="l"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For nested loops, all the loops are set to their minimum count, and we start from the innermost loop. </a:t>
            </a:r>
            <a:endParaRPr sz="1400" b="0" i="0" u="none" strike="noStrike" cap="none">
              <a:solidFill>
                <a:srgbClr val="000000"/>
              </a:solidFill>
              <a:latin typeface="Arial"/>
              <a:ea typeface="Arial"/>
              <a:cs typeface="Arial"/>
              <a:sym typeface="Arial"/>
            </a:endParaRPr>
          </a:p>
          <a:p>
            <a:pPr marL="533400" marR="0" lvl="2" indent="-139700" algn="l"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Simple loop tests are conducted for the innermost loop and this is worked outwards till all the loops have been tested.</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Char char="•"/>
            </a:pPr>
            <a:r>
              <a:rPr lang="en-US" sz="2000" b="1" i="0" u="none" strike="noStrike" cap="none">
                <a:solidFill>
                  <a:srgbClr val="273239"/>
                </a:solidFill>
                <a:latin typeface="Times New Roman"/>
                <a:ea typeface="Times New Roman"/>
                <a:cs typeface="Times New Roman"/>
                <a:sym typeface="Times New Roman"/>
              </a:rPr>
              <a:t>Concatenated loops:</a:t>
            </a:r>
            <a:r>
              <a:rPr lang="en-US" sz="2000" b="0" i="0" u="none" strike="noStrike" cap="none">
                <a:solidFill>
                  <a:srgbClr val="273239"/>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571500" marR="0" lvl="0" indent="-127000" algn="l"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Independent loops, one after another. Simple loop tests are applied for each. If they’re not independent, treat them like nesting.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sp>
        <p:nvSpPr>
          <p:cNvPr id="191" name="Google Shape;191;p14"/>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192" name="Google Shape;192;p1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 name="Google Shape;193;p14"/>
          <p:cNvSpPr/>
          <p:nvPr/>
        </p:nvSpPr>
        <p:spPr>
          <a:xfrm>
            <a:off x="120650" y="888678"/>
            <a:ext cx="8806534" cy="550916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273239"/>
                </a:solidFill>
                <a:latin typeface="Times New Roman"/>
                <a:ea typeface="Times New Roman"/>
                <a:cs typeface="Times New Roman"/>
                <a:sym typeface="Times New Roman"/>
              </a:rPr>
              <a:t>White Testing is performed in 2 Steps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273239"/>
                </a:solidFill>
                <a:latin typeface="Times New Roman"/>
                <a:ea typeface="Times New Roman"/>
                <a:cs typeface="Times New Roman"/>
                <a:sym typeface="Times New Roman"/>
              </a:rPr>
              <a:t>Tester should understand the code well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273239"/>
                </a:solidFill>
                <a:latin typeface="Times New Roman"/>
                <a:ea typeface="Times New Roman"/>
                <a:cs typeface="Times New Roman"/>
                <a:sym typeface="Times New Roman"/>
              </a:rPr>
              <a:t>Tester should write some code for test cases and execute them</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273239"/>
                </a:solidFill>
                <a:latin typeface="Times New Roman"/>
                <a:ea typeface="Times New Roman"/>
                <a:cs typeface="Times New Roman"/>
                <a:sym typeface="Times New Roman"/>
              </a:rPr>
              <a:t>Tools required for White box testing:</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PyUnit</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Sqlmap</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Nmap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Parasoft Jtest</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Nunit</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VeraUnit</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CppUnit</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Bugzilla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Fiddler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JSUnit.net</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OpenGrok</a:t>
            </a:r>
            <a:endParaRPr sz="1800" b="0" i="0" u="none" strike="noStrike" cap="none">
              <a:solidFill>
                <a:srgbClr val="273239"/>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Wireshark</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HP Fortify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Char char="•"/>
            </a:pPr>
            <a:r>
              <a:rPr lang="en-US" sz="1800" b="0" i="0" u="none" strike="noStrike" cap="none">
                <a:solidFill>
                  <a:srgbClr val="273239"/>
                </a:solidFill>
                <a:latin typeface="Times New Roman"/>
                <a:ea typeface="Times New Roman"/>
                <a:cs typeface="Times New Roman"/>
                <a:sym typeface="Times New Roman"/>
              </a:rPr>
              <a:t>CSUnit</a:t>
            </a:r>
            <a:endParaRPr sz="1800" b="0" i="0" u="none" strike="noStrike" cap="none">
              <a:solidFill>
                <a:srgbClr val="273239"/>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200" name="Google Shape;200;p15"/>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201" name="Google Shape;201;p15"/>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 name="Google Shape;202;p15"/>
          <p:cNvSpPr/>
          <p:nvPr/>
        </p:nvSpPr>
        <p:spPr>
          <a:xfrm>
            <a:off x="120650" y="724667"/>
            <a:ext cx="8902700" cy="5859489"/>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1800"/>
              <a:buFont typeface="Arial"/>
              <a:buNone/>
            </a:pPr>
            <a:r>
              <a:rPr lang="en-US" sz="1800" b="1" i="0" u="none" strike="noStrike" cap="none">
                <a:solidFill>
                  <a:srgbClr val="273239"/>
                </a:solidFill>
                <a:latin typeface="Times New Roman"/>
                <a:ea typeface="Times New Roman"/>
                <a:cs typeface="Times New Roman"/>
                <a:sym typeface="Times New Roman"/>
              </a:rPr>
              <a:t>Features of White-Box Testing</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Code coverage analysis:</a:t>
            </a:r>
            <a:r>
              <a:rPr lang="en-US" sz="1800" b="0" i="0" u="none" strike="noStrike" cap="none">
                <a:solidFill>
                  <a:srgbClr val="273239"/>
                </a:solidFill>
                <a:latin typeface="Times New Roman"/>
                <a:ea typeface="Times New Roman"/>
                <a:cs typeface="Times New Roman"/>
                <a:sym typeface="Times New Roman"/>
              </a:rPr>
              <a:t> White box testing helps to analyze the code coverage of an application, which helps to identify the areas of the code that are not being tested.</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Access to the source code:</a:t>
            </a:r>
            <a:r>
              <a:rPr lang="en-US" sz="1800" b="0" i="0" u="none" strike="noStrike" cap="none">
                <a:solidFill>
                  <a:srgbClr val="273239"/>
                </a:solidFill>
                <a:latin typeface="Times New Roman"/>
                <a:ea typeface="Times New Roman"/>
                <a:cs typeface="Times New Roman"/>
                <a:sym typeface="Times New Roman"/>
              </a:rPr>
              <a:t> White box testing requires access to the application’s source code, which makes it possible to test individual functions, methods, and modules.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Knowledge of programming languages:</a:t>
            </a:r>
            <a:r>
              <a:rPr lang="en-US" sz="1800" b="0" i="0" u="none" strike="noStrike" cap="none">
                <a:solidFill>
                  <a:srgbClr val="273239"/>
                </a:solidFill>
                <a:latin typeface="Times New Roman"/>
                <a:ea typeface="Times New Roman"/>
                <a:cs typeface="Times New Roman"/>
                <a:sym typeface="Times New Roman"/>
              </a:rPr>
              <a:t> Testers performing white box testing must have knowledge of programming languages like Java, C++, Python, and PHP to understand the code structure and write tests.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Identifying logical errors:</a:t>
            </a:r>
            <a:r>
              <a:rPr lang="en-US" sz="1800" b="0" i="0" u="none" strike="noStrike" cap="none">
                <a:solidFill>
                  <a:srgbClr val="273239"/>
                </a:solidFill>
                <a:latin typeface="Times New Roman"/>
                <a:ea typeface="Times New Roman"/>
                <a:cs typeface="Times New Roman"/>
                <a:sym typeface="Times New Roman"/>
              </a:rPr>
              <a:t> White box testing helps to identify logical errors in the code, such as infinite loops or incorrect conditional statements.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Integration testing: </a:t>
            </a:r>
            <a:r>
              <a:rPr lang="en-US" sz="1800" b="0" i="0" u="none" strike="noStrike" cap="none">
                <a:solidFill>
                  <a:srgbClr val="273239"/>
                </a:solidFill>
                <a:latin typeface="Times New Roman"/>
                <a:ea typeface="Times New Roman"/>
                <a:cs typeface="Times New Roman"/>
                <a:sym typeface="Times New Roman"/>
              </a:rPr>
              <a:t>White box testing is useful for integration testing, as it allows testers to verify that the different components of an application are working together as expected.</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Unit testing:</a:t>
            </a:r>
            <a:r>
              <a:rPr lang="en-US" sz="1800" b="0" i="0" u="none" strike="noStrike" cap="none">
                <a:solidFill>
                  <a:srgbClr val="273239"/>
                </a:solidFill>
                <a:latin typeface="Times New Roman"/>
                <a:ea typeface="Times New Roman"/>
                <a:cs typeface="Times New Roman"/>
                <a:sym typeface="Times New Roman"/>
              </a:rPr>
              <a:t> White box testing is also used for unit testing, which involves testing individual units of code to ensure that they are working correctly.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209" name="Google Shape;209;p16"/>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210" name="Google Shape;210;p1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1" name="Google Shape;211;p16"/>
          <p:cNvSpPr/>
          <p:nvPr/>
        </p:nvSpPr>
        <p:spPr>
          <a:xfrm>
            <a:off x="385200" y="1089025"/>
            <a:ext cx="8328000" cy="5262900"/>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1" i="0" u="none" strike="noStrike" cap="none">
                <a:solidFill>
                  <a:srgbClr val="273239"/>
                </a:solidFill>
                <a:latin typeface="Times New Roman"/>
                <a:ea typeface="Times New Roman"/>
                <a:cs typeface="Times New Roman"/>
                <a:sym typeface="Times New Roman"/>
              </a:rPr>
              <a:t>Features of White-Box Testing (continued…)</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Optimization of code: </a:t>
            </a:r>
            <a:r>
              <a:rPr lang="en-US" sz="1600" b="0" i="0" u="none" strike="noStrike" cap="none">
                <a:solidFill>
                  <a:srgbClr val="273239"/>
                </a:solidFill>
                <a:latin typeface="Times New Roman"/>
                <a:ea typeface="Times New Roman"/>
                <a:cs typeface="Times New Roman"/>
                <a:sym typeface="Times New Roman"/>
              </a:rPr>
              <a:t>White box testing can help to optimize the code by identifying any performance issues, redundant code, or other areas that can be improved.</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Security testing:</a:t>
            </a:r>
            <a:r>
              <a:rPr lang="en-US" sz="1600" b="0" i="0" u="none" strike="noStrike" cap="none">
                <a:solidFill>
                  <a:srgbClr val="273239"/>
                </a:solidFill>
                <a:latin typeface="Times New Roman"/>
                <a:ea typeface="Times New Roman"/>
                <a:cs typeface="Times New Roman"/>
                <a:sym typeface="Times New Roman"/>
              </a:rPr>
              <a:t> White box testing can also be used for security testing, as it allows testers to identify any vulnerabilities in the application’s code.</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Verification of Design:</a:t>
            </a:r>
            <a:r>
              <a:rPr lang="en-US" sz="1600" b="0" i="0" u="none" strike="noStrike" cap="none">
                <a:solidFill>
                  <a:srgbClr val="273239"/>
                </a:solidFill>
                <a:latin typeface="Times New Roman"/>
                <a:ea typeface="Times New Roman"/>
                <a:cs typeface="Times New Roman"/>
                <a:sym typeface="Times New Roman"/>
              </a:rPr>
              <a:t> It verifies that the software’s internal design is implemented by the designated design documents.</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Check for Accurate Code:</a:t>
            </a:r>
            <a:r>
              <a:rPr lang="en-US" sz="1600" b="0" i="0" u="none" strike="noStrike" cap="none">
                <a:solidFill>
                  <a:srgbClr val="273239"/>
                </a:solidFill>
                <a:latin typeface="Times New Roman"/>
                <a:ea typeface="Times New Roman"/>
                <a:cs typeface="Times New Roman"/>
                <a:sym typeface="Times New Roman"/>
              </a:rPr>
              <a:t> It verifies that the code operates per the guidelines and specifications.</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Identifying Coding Mistakes:</a:t>
            </a:r>
            <a:r>
              <a:rPr lang="en-US" sz="1600" b="0" i="0" u="none" strike="noStrike" cap="none">
                <a:solidFill>
                  <a:srgbClr val="273239"/>
                </a:solidFill>
                <a:latin typeface="Times New Roman"/>
                <a:ea typeface="Times New Roman"/>
                <a:cs typeface="Times New Roman"/>
                <a:sym typeface="Times New Roman"/>
              </a:rPr>
              <a:t> It finds and fixes programming flaws in your code, including syntactic and logical errors.</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Path Examination:</a:t>
            </a:r>
            <a:r>
              <a:rPr lang="en-US" sz="1600" b="0" i="0" u="none" strike="noStrike" cap="none">
                <a:solidFill>
                  <a:srgbClr val="273239"/>
                </a:solidFill>
                <a:latin typeface="Times New Roman"/>
                <a:ea typeface="Times New Roman"/>
                <a:cs typeface="Times New Roman"/>
                <a:sym typeface="Times New Roman"/>
              </a:rPr>
              <a:t> It ensures that each possible path of code execution is explored and tests various iterations of the code.</a:t>
            </a:r>
            <a:endParaRPr sz="16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AutoNum type="arabicPeriod" startAt="7"/>
            </a:pPr>
            <a:r>
              <a:rPr lang="en-US" sz="1600" b="1" i="0" u="none" strike="noStrike" cap="none">
                <a:solidFill>
                  <a:srgbClr val="273239"/>
                </a:solidFill>
                <a:latin typeface="Times New Roman"/>
                <a:ea typeface="Times New Roman"/>
                <a:cs typeface="Times New Roman"/>
                <a:sym typeface="Times New Roman"/>
              </a:rPr>
              <a:t>Determining the Dead Code:</a:t>
            </a:r>
            <a:r>
              <a:rPr lang="en-US" sz="1600" b="0" i="0" u="none" strike="noStrike" cap="none">
                <a:solidFill>
                  <a:srgbClr val="273239"/>
                </a:solidFill>
                <a:latin typeface="Times New Roman"/>
                <a:ea typeface="Times New Roman"/>
                <a:cs typeface="Times New Roman"/>
                <a:sym typeface="Times New Roman"/>
              </a:rPr>
              <a:t> It finds and removes any code that isn’t used when the program is running normally (dead code).</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15</a:t>
            </a:fld>
            <a:endParaRPr/>
          </a:p>
        </p:txBody>
      </p:sp>
      <p:sp>
        <p:nvSpPr>
          <p:cNvPr id="218" name="Google Shape;218;p17"/>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219" name="Google Shape;219;p1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 name="Google Shape;220;p17"/>
          <p:cNvSpPr/>
          <p:nvPr/>
        </p:nvSpPr>
        <p:spPr>
          <a:xfrm>
            <a:off x="120650" y="790762"/>
            <a:ext cx="8902700" cy="5859489"/>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1800"/>
              <a:buFont typeface="Arial"/>
              <a:buNone/>
            </a:pPr>
            <a:r>
              <a:rPr lang="en-US" sz="1800" b="1" i="0" u="none" strike="noStrike" cap="none">
                <a:solidFill>
                  <a:srgbClr val="273239"/>
                </a:solidFill>
                <a:latin typeface="Times New Roman"/>
                <a:ea typeface="Times New Roman"/>
                <a:cs typeface="Times New Roman"/>
                <a:sym typeface="Times New Roman"/>
              </a:rPr>
              <a:t>Advantages of Whitebox Testing</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Thorough Testing</a:t>
            </a:r>
            <a:r>
              <a:rPr lang="en-US" sz="1800" b="0" i="0" u="none" strike="noStrike" cap="none">
                <a:solidFill>
                  <a:srgbClr val="273239"/>
                </a:solidFill>
                <a:latin typeface="Times New Roman"/>
                <a:ea typeface="Times New Roman"/>
                <a:cs typeface="Times New Roman"/>
                <a:sym typeface="Times New Roman"/>
              </a:rPr>
              <a:t>: White box testing is thorough as the entire code and structures are tested.</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Code Optimization:</a:t>
            </a:r>
            <a:r>
              <a:rPr lang="en-US" sz="1800" b="0" i="0" u="none" strike="noStrike" cap="none">
                <a:solidFill>
                  <a:srgbClr val="273239"/>
                </a:solidFill>
                <a:latin typeface="Times New Roman"/>
                <a:ea typeface="Times New Roman"/>
                <a:cs typeface="Times New Roman"/>
                <a:sym typeface="Times New Roman"/>
              </a:rPr>
              <a:t> It results in the optimization of code removing errors and helps in removing extra lines of code.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Early Detection of Defects:</a:t>
            </a:r>
            <a:r>
              <a:rPr lang="en-US" sz="1800" b="0" i="0" u="none" strike="noStrike" cap="none">
                <a:solidFill>
                  <a:srgbClr val="273239"/>
                </a:solidFill>
                <a:latin typeface="Times New Roman"/>
                <a:ea typeface="Times New Roman"/>
                <a:cs typeface="Times New Roman"/>
                <a:sym typeface="Times New Roman"/>
              </a:rPr>
              <a:t> It can start at an earlier stage as it doesn’t require any interface as in the case of black box testing.</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Integration with SDLC:</a:t>
            </a:r>
            <a:r>
              <a:rPr lang="en-US" sz="1800" b="0" i="0" u="none" strike="noStrike" cap="none">
                <a:solidFill>
                  <a:srgbClr val="273239"/>
                </a:solidFill>
                <a:latin typeface="Times New Roman"/>
                <a:ea typeface="Times New Roman"/>
                <a:cs typeface="Times New Roman"/>
                <a:sym typeface="Times New Roman"/>
              </a:rPr>
              <a:t> White box testing can be easily started in the Software Development Life Cycle.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Detection of Complex Defects:</a:t>
            </a:r>
            <a:r>
              <a:rPr lang="en-US" sz="1800" b="0" i="0" u="none" strike="noStrike" cap="none">
                <a:solidFill>
                  <a:srgbClr val="273239"/>
                </a:solidFill>
                <a:latin typeface="Times New Roman"/>
                <a:ea typeface="Times New Roman"/>
                <a:cs typeface="Times New Roman"/>
                <a:sym typeface="Times New Roman"/>
              </a:rPr>
              <a:t> Testers can identify defects that cannot be detected through other testing techniques.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Comprehensive Test Cases:</a:t>
            </a:r>
            <a:r>
              <a:rPr lang="en-US" sz="1800" b="0" i="0" u="none" strike="noStrike" cap="none">
                <a:solidFill>
                  <a:srgbClr val="273239"/>
                </a:solidFill>
                <a:latin typeface="Times New Roman"/>
                <a:ea typeface="Times New Roman"/>
                <a:cs typeface="Times New Roman"/>
                <a:sym typeface="Times New Roman"/>
              </a:rPr>
              <a:t> Testers can create more comprehensive and effective test cases that cover all code paths.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0" i="0" u="none" strike="noStrike" cap="none">
                <a:solidFill>
                  <a:srgbClr val="273239"/>
                </a:solidFill>
                <a:latin typeface="Times New Roman"/>
                <a:ea typeface="Times New Roman"/>
                <a:cs typeface="Times New Roman"/>
                <a:sym typeface="Times New Roman"/>
              </a:rPr>
              <a:t>Testers can ensure that the code meets coding standards and is optimized for performance.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227" name="Google Shape;227;p18"/>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White-Box Testing Techniques</a:t>
            </a:r>
            <a:endParaRPr sz="1400" b="0" i="0" u="none" strike="noStrike" cap="none">
              <a:solidFill>
                <a:srgbClr val="000000"/>
              </a:solidFill>
              <a:latin typeface="Arial"/>
              <a:ea typeface="Arial"/>
              <a:cs typeface="Arial"/>
              <a:sym typeface="Arial"/>
            </a:endParaRPr>
          </a:p>
        </p:txBody>
      </p:sp>
      <p:sp>
        <p:nvSpPr>
          <p:cNvPr id="228" name="Google Shape;228;p18"/>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9" name="Google Shape;229;p18"/>
          <p:cNvSpPr/>
          <p:nvPr/>
        </p:nvSpPr>
        <p:spPr>
          <a:xfrm>
            <a:off x="120650" y="728872"/>
            <a:ext cx="8902700" cy="6274988"/>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1800"/>
              <a:buFont typeface="Arial"/>
              <a:buNone/>
            </a:pPr>
            <a:r>
              <a:rPr lang="en-US" sz="1800" b="1" i="0" u="none" strike="noStrike" cap="none">
                <a:solidFill>
                  <a:srgbClr val="273239"/>
                </a:solidFill>
                <a:latin typeface="Times New Roman"/>
                <a:ea typeface="Times New Roman"/>
                <a:cs typeface="Times New Roman"/>
                <a:sym typeface="Times New Roman"/>
              </a:rPr>
              <a:t>Disadvantages of White box Testing</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Programming Knowledge and Source Code Access:</a:t>
            </a:r>
            <a:r>
              <a:rPr lang="en-US" sz="1800" b="0" i="0" u="none" strike="noStrike" cap="none">
                <a:solidFill>
                  <a:srgbClr val="273239"/>
                </a:solidFill>
                <a:latin typeface="Times New Roman"/>
                <a:ea typeface="Times New Roman"/>
                <a:cs typeface="Times New Roman"/>
                <a:sym typeface="Times New Roman"/>
              </a:rPr>
              <a:t> Testers need to have programming knowledge and access to the source code to perform tests.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Overemphasis on Internal Workings:</a:t>
            </a:r>
            <a:r>
              <a:rPr lang="en-US" sz="1800" b="0" i="0" u="none" strike="noStrike" cap="none">
                <a:solidFill>
                  <a:srgbClr val="273239"/>
                </a:solidFill>
                <a:latin typeface="Times New Roman"/>
                <a:ea typeface="Times New Roman"/>
                <a:cs typeface="Times New Roman"/>
                <a:sym typeface="Times New Roman"/>
              </a:rPr>
              <a:t> Testers may focus too much on the internal workings of the software and may miss external issues.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Bias in Testing:</a:t>
            </a:r>
            <a:r>
              <a:rPr lang="en-US" sz="1800" b="0" i="0" u="none" strike="noStrike" cap="none">
                <a:solidFill>
                  <a:srgbClr val="273239"/>
                </a:solidFill>
                <a:latin typeface="Times New Roman"/>
                <a:ea typeface="Times New Roman"/>
                <a:cs typeface="Times New Roman"/>
                <a:sym typeface="Times New Roman"/>
              </a:rPr>
              <a:t> Testers may have a biased view of the software since they are familiar with its internal workings.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Test Case Overhead:</a:t>
            </a:r>
            <a:r>
              <a:rPr lang="en-US" sz="1800" b="0" i="0" u="none" strike="noStrike" cap="none">
                <a:solidFill>
                  <a:srgbClr val="273239"/>
                </a:solidFill>
                <a:latin typeface="Times New Roman"/>
                <a:ea typeface="Times New Roman"/>
                <a:cs typeface="Times New Roman"/>
                <a:sym typeface="Times New Roman"/>
              </a:rPr>
              <a:t> Redesigning code and rewriting code needs test cases to be written again.</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Dependency on Tester Expertise:</a:t>
            </a:r>
            <a:r>
              <a:rPr lang="en-US" sz="1800" b="0" i="0" u="none" strike="noStrike" cap="none">
                <a:solidFill>
                  <a:srgbClr val="273239"/>
                </a:solidFill>
                <a:latin typeface="Times New Roman"/>
                <a:ea typeface="Times New Roman"/>
                <a:cs typeface="Times New Roman"/>
                <a:sym typeface="Times New Roman"/>
              </a:rPr>
              <a:t> Testers are required to have in-depth knowledge of the code and programming language as opposed to black-box testing.</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Inability to Detect Missing Functionalities:</a:t>
            </a:r>
            <a:r>
              <a:rPr lang="en-US" sz="1800" b="0" i="0" u="none" strike="noStrike" cap="none">
                <a:solidFill>
                  <a:srgbClr val="273239"/>
                </a:solidFill>
                <a:latin typeface="Times New Roman"/>
                <a:ea typeface="Times New Roman"/>
                <a:cs typeface="Times New Roman"/>
                <a:sym typeface="Times New Roman"/>
              </a:rPr>
              <a:t> Missing functionalities cannot be detected as the code that exists is tested.</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1800" b="1" i="0" u="none" strike="noStrike" cap="none">
                <a:solidFill>
                  <a:srgbClr val="273239"/>
                </a:solidFill>
                <a:latin typeface="Times New Roman"/>
                <a:ea typeface="Times New Roman"/>
                <a:cs typeface="Times New Roman"/>
                <a:sym typeface="Times New Roman"/>
              </a:rPr>
              <a:t>Increased Production Errors:</a:t>
            </a:r>
            <a:r>
              <a:rPr lang="en-US" sz="1800" b="0" i="0" u="none" strike="noStrike" cap="none">
                <a:solidFill>
                  <a:srgbClr val="273239"/>
                </a:solidFill>
                <a:latin typeface="Times New Roman"/>
                <a:ea typeface="Times New Roman"/>
                <a:cs typeface="Times New Roman"/>
                <a:sym typeface="Times New Roman"/>
              </a:rPr>
              <a:t> High chances of errors in production.</a:t>
            </a:r>
            <a:br>
              <a:rPr lang="en-US" sz="1800" b="0" i="0" u="none" strike="noStrike" cap="none">
                <a:solidFill>
                  <a:srgbClr val="000000"/>
                </a:solidFill>
                <a:latin typeface="Times New Roman"/>
                <a:ea typeface="Times New Roman"/>
                <a:cs typeface="Times New Roman"/>
                <a:sym typeface="Times New Roman"/>
              </a:rPr>
            </a:br>
            <a:endParaRPr sz="1800" b="0" i="0" u="none" strike="noStrike" cap="none">
              <a:solidFill>
                <a:srgbClr val="273239"/>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9"/>
          <p:cNvSpPr txBox="1"/>
          <p:nvPr/>
        </p:nvSpPr>
        <p:spPr>
          <a:xfrm>
            <a:off x="89554" y="275717"/>
            <a:ext cx="73953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Practice Questions </a:t>
            </a:r>
            <a:endParaRPr sz="1400" b="0" i="0" u="none" strike="noStrike" cap="none">
              <a:solidFill>
                <a:srgbClr val="000000"/>
              </a:solidFill>
              <a:latin typeface="Arial"/>
              <a:ea typeface="Arial"/>
              <a:cs typeface="Arial"/>
              <a:sym typeface="Arial"/>
            </a:endParaRPr>
          </a:p>
        </p:txBody>
      </p:sp>
      <p:sp>
        <p:nvSpPr>
          <p:cNvPr id="235" name="Google Shape;235;p19"/>
          <p:cNvSpPr txBox="1"/>
          <p:nvPr/>
        </p:nvSpPr>
        <p:spPr>
          <a:xfrm>
            <a:off x="89554" y="949972"/>
            <a:ext cx="9054445" cy="59093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333333"/>
                </a:solidFill>
                <a:latin typeface="Times New Roman"/>
                <a:ea typeface="Times New Roman"/>
                <a:cs typeface="Times New Roman"/>
                <a:sym typeface="Times New Roman"/>
              </a:rPr>
              <a:t>Q1. What are the various Testing Levels?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a) Unit Testing</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b) System Testing</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c) Integration Testing</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d) All of the above</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Answer: 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33333"/>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333333"/>
                </a:solidFill>
                <a:latin typeface="Times New Roman"/>
                <a:ea typeface="Times New Roman"/>
                <a:cs typeface="Times New Roman"/>
                <a:sym typeface="Times New Roman"/>
              </a:rPr>
              <a:t>Q2. Which of the following testing is also known as white-box testing?</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Structural testing</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Error guessing technique</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Design based testing</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None of the above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Answer: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Q3. </a:t>
            </a:r>
            <a:r>
              <a:rPr lang="en-US" sz="1800" b="0" i="0" u="none" strike="noStrike" cap="none">
                <a:solidFill>
                  <a:srgbClr val="333333"/>
                </a:solidFill>
                <a:latin typeface="Times New Roman"/>
                <a:ea typeface="Times New Roman"/>
                <a:cs typeface="Times New Roman"/>
                <a:sym typeface="Times New Roman"/>
              </a:rPr>
              <a:t>The white box testing can be proceeded after --------- phase?</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 coding phase</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 designing phase</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 SRS creation</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000000"/>
                </a:solidFill>
                <a:latin typeface="Times New Roman"/>
                <a:ea typeface="Times New Roman"/>
                <a:cs typeface="Times New Roman"/>
                <a:sym typeface="Times New Roman"/>
              </a:rPr>
              <a:t> installation phase</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Answer: a</a:t>
            </a: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p:nvPr/>
        </p:nvSpPr>
        <p:spPr>
          <a:xfrm>
            <a:off x="89554" y="275717"/>
            <a:ext cx="739532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Bibliography</a:t>
            </a:r>
            <a:endParaRPr sz="1400" b="0" i="0" u="none" strike="noStrike" cap="none">
              <a:solidFill>
                <a:srgbClr val="000000"/>
              </a:solidFill>
              <a:latin typeface="Arial"/>
              <a:ea typeface="Arial"/>
              <a:cs typeface="Arial"/>
              <a:sym typeface="Arial"/>
            </a:endParaRPr>
          </a:p>
        </p:txBody>
      </p:sp>
      <p:sp>
        <p:nvSpPr>
          <p:cNvPr id="241" name="Google Shape;241;p20"/>
          <p:cNvSpPr txBox="1"/>
          <p:nvPr/>
        </p:nvSpPr>
        <p:spPr>
          <a:xfrm>
            <a:off x="623871" y="1069982"/>
            <a:ext cx="7395327" cy="535531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https://www.javatpoint.com/white-box-testing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https://www.tutorialspoint.com/software_testing_dictionary/white_box_testing.htm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https://www.softwaretestinghelp.com/white-box-testing-techniques-with-example/</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https://www.softwaretestinghelp.com/types-of-software-testing/</a:t>
            </a: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https://www.tutorialspoint.com/software_engineering/software_design_strategies.htm</a:t>
            </a:r>
            <a:r>
              <a:rPr lang="en-US" sz="18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https://www.softwaretestinghelp.com/types-of-software-testing/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https://www.tutorialspoint.com/software_testing_dictionary/alpha_testing.htm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https://www.tutorialspoint.com/software_testing_dictionary/validation_testing.htm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https://www.tutorialspoint.com/software_testing_dictionary/acceptance_testing.htm</a:t>
            </a: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7"/>
          <p:cNvSpPr txBox="1">
            <a:spLocks noGrp="1"/>
          </p:cNvSpPr>
          <p:nvPr>
            <p:ph type="title"/>
          </p:nvPr>
        </p:nvSpPr>
        <p:spPr>
          <a:xfrm>
            <a:off x="1776470" y="220980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dk1"/>
              </a:buClr>
              <a:buSzPts val="2800"/>
              <a:buFont typeface="Times New Roman"/>
              <a:buNone/>
            </a:pPr>
            <a:r>
              <a:rPr lang="en-US" sz="4000" b="1"/>
              <a:t>THANK YOU</a:t>
            </a:r>
            <a:endParaRPr sz="4000" b="1"/>
          </a:p>
        </p:txBody>
      </p:sp>
      <p:sp>
        <p:nvSpPr>
          <p:cNvPr id="247" name="Google Shape;247;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OOSE</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1882</Words>
  <Application>Microsoft Office PowerPoint</Application>
  <PresentationFormat>On-screen Show (4:3)</PresentationFormat>
  <Paragraphs>208</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Suvarna Sharma</cp:lastModifiedBy>
  <cp:revision>6</cp:revision>
  <dcterms:created xsi:type="dcterms:W3CDTF">2010-04-09T07:36:15Z</dcterms:created>
  <dcterms:modified xsi:type="dcterms:W3CDTF">2025-02-27T04:38:22Z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