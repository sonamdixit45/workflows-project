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gdektAQv0tqsJBPaX7y6QPxV2W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04" name="Google Shape;104;p6: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2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2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19" name="Google Shape;219;p2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2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27" name="Google Shape;227;p22: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52" name="Google Shape;252;p25: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9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9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2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28" name="Shape 28"/>
        <p:cNvGrpSpPr/>
        <p:nvPr/>
      </p:nvGrpSpPr>
      <p:grpSpPr>
        <a:xfrm>
          <a:off x="0" y="0"/>
          <a:ext cx="0" cy="0"/>
          <a:chOff x="0" y="0"/>
          <a:chExt cx="0" cy="0"/>
        </a:xfrm>
      </p:grpSpPr>
      <p:sp>
        <p:nvSpPr>
          <p:cNvPr id="29" name="Google Shape;29;p29"/>
          <p:cNvSpPr txBox="1"/>
          <p:nvPr>
            <p:ph idx="11" type="ftr"/>
          </p:nvPr>
        </p:nvSpPr>
        <p:spPr>
          <a:xfrm>
            <a:off x="457559" y="6356520"/>
            <a:ext cx="8499154"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0" name="Shape 30"/>
        <p:cNvGrpSpPr/>
        <p:nvPr/>
      </p:nvGrpSpPr>
      <p:grpSpPr>
        <a:xfrm>
          <a:off x="0" y="0"/>
          <a:ext cx="0" cy="0"/>
          <a:chOff x="0" y="0"/>
          <a:chExt cx="0" cy="0"/>
        </a:xfrm>
      </p:grpSpPr>
      <p:sp>
        <p:nvSpPr>
          <p:cNvPr id="31" name="Google Shape;31;p3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0"/>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0"/>
          <p:cNvSpPr txBox="1"/>
          <p:nvPr>
            <p:ph idx="11" type="ftr"/>
          </p:nvPr>
        </p:nvSpPr>
        <p:spPr>
          <a:xfrm>
            <a:off x="352540" y="6356520"/>
            <a:ext cx="8333900"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9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6" name="Shape 36"/>
        <p:cNvGrpSpPr/>
        <p:nvPr/>
      </p:nvGrpSpPr>
      <p:grpSpPr>
        <a:xfrm>
          <a:off x="0" y="0"/>
          <a:ext cx="0" cy="0"/>
          <a:chOff x="0" y="0"/>
          <a:chExt cx="0" cy="0"/>
        </a:xfrm>
      </p:grpSpPr>
      <p:sp>
        <p:nvSpPr>
          <p:cNvPr id="37" name="Google Shape;37;p32"/>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9" name="Shape 39"/>
        <p:cNvGrpSpPr/>
        <p:nvPr/>
      </p:nvGrpSpPr>
      <p:grpSpPr>
        <a:xfrm>
          <a:off x="0" y="0"/>
          <a:ext cx="0" cy="0"/>
          <a:chOff x="0" y="0"/>
          <a:chExt cx="0" cy="0"/>
        </a:xfrm>
      </p:grpSpPr>
      <p:sp>
        <p:nvSpPr>
          <p:cNvPr id="40" name="Google Shape;40;p3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3"/>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2" name="Google Shape;42;p33"/>
          <p:cNvSpPr txBox="1"/>
          <p:nvPr>
            <p:ph idx="11" type="ftr"/>
          </p:nvPr>
        </p:nvSpPr>
        <p:spPr>
          <a:xfrm>
            <a:off x="457199" y="6356520"/>
            <a:ext cx="8229239"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3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4"/>
          <p:cNvSpPr txBox="1"/>
          <p:nvPr>
            <p:ph idx="11" type="ftr"/>
          </p:nvPr>
        </p:nvSpPr>
        <p:spPr>
          <a:xfrm>
            <a:off x="352540" y="6356520"/>
            <a:ext cx="8361802" cy="36468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p:cSld name="Centered Text">
    <p:spTree>
      <p:nvGrpSpPr>
        <p:cNvPr id="46" name="Shape 46"/>
        <p:cNvGrpSpPr/>
        <p:nvPr/>
      </p:nvGrpSpPr>
      <p:grpSpPr>
        <a:xfrm>
          <a:off x="0" y="0"/>
          <a:ext cx="0" cy="0"/>
          <a:chOff x="0" y="0"/>
          <a:chExt cx="0" cy="0"/>
        </a:xfrm>
      </p:grpSpPr>
      <p:sp>
        <p:nvSpPr>
          <p:cNvPr id="47" name="Google Shape;47;p35"/>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48" name="Google Shape;48;p35"/>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9" name="Shape 49"/>
        <p:cNvGrpSpPr/>
        <p:nvPr/>
      </p:nvGrpSpPr>
      <p:grpSpPr>
        <a:xfrm>
          <a:off x="0" y="0"/>
          <a:ext cx="0" cy="0"/>
          <a:chOff x="0" y="0"/>
          <a:chExt cx="0" cy="0"/>
        </a:xfrm>
      </p:grpSpPr>
      <p:sp>
        <p:nvSpPr>
          <p:cNvPr id="50" name="Google Shape;50;p3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6"/>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6"/>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6"/>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6"/>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5" name="Shape 55"/>
        <p:cNvGrpSpPr/>
        <p:nvPr/>
      </p:nvGrpSpPr>
      <p:grpSpPr>
        <a:xfrm>
          <a:off x="0" y="0"/>
          <a:ext cx="0" cy="0"/>
          <a:chOff x="0" y="0"/>
          <a:chExt cx="0" cy="0"/>
        </a:xfrm>
      </p:grpSpPr>
      <p:sp>
        <p:nvSpPr>
          <p:cNvPr id="56" name="Google Shape;56;p3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7"/>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37"/>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37"/>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61" name="Shape 61"/>
        <p:cNvGrpSpPr/>
        <p:nvPr/>
      </p:nvGrpSpPr>
      <p:grpSpPr>
        <a:xfrm>
          <a:off x="0" y="0"/>
          <a:ext cx="0" cy="0"/>
          <a:chOff x="0" y="0"/>
          <a:chExt cx="0" cy="0"/>
        </a:xfrm>
      </p:grpSpPr>
      <p:sp>
        <p:nvSpPr>
          <p:cNvPr id="62" name="Google Shape;62;p3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8"/>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8"/>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8"/>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38"/>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7" name="Shape 67"/>
        <p:cNvGrpSpPr/>
        <p:nvPr/>
      </p:nvGrpSpPr>
      <p:grpSpPr>
        <a:xfrm>
          <a:off x="0" y="0"/>
          <a:ext cx="0" cy="0"/>
          <a:chOff x="0" y="0"/>
          <a:chExt cx="0" cy="0"/>
        </a:xfrm>
      </p:grpSpPr>
      <p:sp>
        <p:nvSpPr>
          <p:cNvPr id="68" name="Google Shape;68;p3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9"/>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39"/>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9"/>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72" name="Shape 72"/>
        <p:cNvGrpSpPr/>
        <p:nvPr/>
      </p:nvGrpSpPr>
      <p:grpSpPr>
        <a:xfrm>
          <a:off x="0" y="0"/>
          <a:ext cx="0" cy="0"/>
          <a:chOff x="0" y="0"/>
          <a:chExt cx="0" cy="0"/>
        </a:xfrm>
      </p:grpSpPr>
      <p:sp>
        <p:nvSpPr>
          <p:cNvPr id="73" name="Google Shape;73;p4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0"/>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0"/>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40"/>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0"/>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40"/>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BLANK 2">
    <p:spTree>
      <p:nvGrpSpPr>
        <p:cNvPr id="79" name="Shape 79"/>
        <p:cNvGrpSpPr/>
        <p:nvPr/>
      </p:nvGrpSpPr>
      <p:grpSpPr>
        <a:xfrm>
          <a:off x="0" y="0"/>
          <a:ext cx="0" cy="0"/>
          <a:chOff x="0" y="0"/>
          <a:chExt cx="0" cy="0"/>
        </a:xfrm>
      </p:grpSpPr>
      <p:sp>
        <p:nvSpPr>
          <p:cNvPr id="80" name="Google Shape;80;p4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1"/>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1"/>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41"/>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1"/>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1"/>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41"/>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41"/>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3.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6"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8"/>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2" name="Google Shape;12;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16" name="Google Shape;16;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18" name="Google Shape;18;p28"/>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gif" id="22" name="Google Shape;22;p28"/>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logo.jpg" id="24" name="Google Shape;24;p28"/>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28"/>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Times New Roman"/>
              <a:buNone/>
              <a:defRPr b="0" i="0" sz="28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28"/>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330200" lvl="0" marL="457200" marR="0" rtl="0" algn="l">
              <a:lnSpc>
                <a:spcPct val="90000"/>
              </a:lnSpc>
              <a:spcBef>
                <a:spcPts val="10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17500" lvl="1" marL="9144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04800" lvl="3" marL="1828800" marR="0" rtl="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4pPr>
            <a:lvl5pPr indent="-292100" lvl="4" marL="2286000" marR="0" rtl="0" algn="l">
              <a:lnSpc>
                <a:spcPct val="90000"/>
              </a:lnSpc>
              <a:spcBef>
                <a:spcPts val="5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28"/>
          <p:cNvSpPr txBox="1"/>
          <p:nvPr>
            <p:ph idx="11" type="ftr"/>
          </p:nvPr>
        </p:nvSpPr>
        <p:spPr>
          <a:xfrm>
            <a:off x="374573" y="6356350"/>
            <a:ext cx="8482988"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institutedata.com/us/blog/important-software-engineer-skill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boomandbucket.com/blog/project-schedule-optimization-and-time-management-strategi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4"/>
          <p:cNvSpPr txBox="1"/>
          <p:nvPr/>
        </p:nvSpPr>
        <p:spPr>
          <a:xfrm>
            <a:off x="590598" y="2803799"/>
            <a:ext cx="7564618" cy="29405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1" i="0" lang="en-US" sz="2400" u="none" cap="none" strike="noStrike">
                <a:solidFill>
                  <a:srgbClr val="0070C0"/>
                </a:solidFill>
                <a:latin typeface="Times New Roman"/>
                <a:ea typeface="Times New Roman"/>
                <a:cs typeface="Times New Roman"/>
                <a:sym typeface="Times New Roman"/>
              </a:rPr>
              <a:t>Project Scheduling</a:t>
            </a:r>
            <a:endParaRPr/>
          </a:p>
          <a:p>
            <a:pPr indent="0" lvl="0" marL="0" marR="0" rtl="0" algn="ctr">
              <a:lnSpc>
                <a:spcPct val="100000"/>
              </a:lnSpc>
              <a:spcBef>
                <a:spcPts val="400"/>
              </a:spcBef>
              <a:spcAft>
                <a:spcPts val="0"/>
              </a:spcAft>
              <a:buClr>
                <a:srgbClr val="000000"/>
              </a:buClr>
              <a:buSzPts val="2000"/>
              <a:buFont typeface="Arial"/>
              <a:buNone/>
            </a:pPr>
            <a:r>
              <a:rPr b="1" i="0" lang="en-US" sz="2400" u="none" cap="none" strike="noStrike">
                <a:solidFill>
                  <a:srgbClr val="0070C0"/>
                </a:solidFill>
                <a:latin typeface="Times New Roman"/>
                <a:ea typeface="Times New Roman"/>
                <a:cs typeface="Times New Roman"/>
                <a:sym typeface="Times New Roman"/>
              </a:rPr>
              <a:t>By </a:t>
            </a:r>
            <a:endParaRPr/>
          </a:p>
          <a:p>
            <a:pPr indent="0" lvl="0" marL="0" marR="0" rtl="0" algn="ctr">
              <a:lnSpc>
                <a:spcPct val="100000"/>
              </a:lnSpc>
              <a:spcBef>
                <a:spcPts val="400"/>
              </a:spcBef>
              <a:spcAft>
                <a:spcPts val="0"/>
              </a:spcAft>
              <a:buClr>
                <a:srgbClr val="000000"/>
              </a:buClr>
              <a:buSzPts val="2000"/>
              <a:buFont typeface="Arial"/>
              <a:buNone/>
            </a:pPr>
            <a:r>
              <a:rPr b="1" i="0" lang="en-US" sz="2400" u="none" cap="none" strike="noStrike">
                <a:solidFill>
                  <a:srgbClr val="0070C0"/>
                </a:solidFill>
                <a:latin typeface="Times New Roman"/>
                <a:ea typeface="Times New Roman"/>
                <a:cs typeface="Times New Roman"/>
                <a:sym typeface="Times New Roman"/>
              </a:rPr>
              <a:t>Dr. Annu Priya</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4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36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000" u="none" cap="none" strike="noStrike">
              <a:solidFill>
                <a:srgbClr val="0070C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000" u="none" cap="none" strike="noStrike">
              <a:solidFill>
                <a:srgbClr val="0070C0"/>
              </a:solidFill>
              <a:latin typeface="Times New Roman"/>
              <a:ea typeface="Times New Roman"/>
              <a:cs typeface="Times New Roman"/>
              <a:sym typeface="Times New Roman"/>
            </a:endParaRPr>
          </a:p>
          <a:p>
            <a:pPr indent="0" lvl="0" marL="0" marR="0" rtl="0" algn="ctr">
              <a:lnSpc>
                <a:spcPct val="150000"/>
              </a:lnSpc>
              <a:spcBef>
                <a:spcPts val="400"/>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Clr>
                <a:srgbClr val="000000"/>
              </a:buClr>
              <a:buSzPts val="2000"/>
              <a:buFont typeface="Arial"/>
              <a:buNone/>
            </a:pPr>
            <a:r>
              <a:t/>
            </a:r>
            <a:endParaRPr b="0" i="0" sz="2000" u="none" cap="none" strike="noStrike">
              <a:solidFill>
                <a:srgbClr val="000000"/>
              </a:solidFill>
              <a:latin typeface="Calibri"/>
              <a:ea typeface="Calibri"/>
              <a:cs typeface="Calibri"/>
              <a:sym typeface="Calibri"/>
            </a:endParaRPr>
          </a:p>
        </p:txBody>
      </p:sp>
      <p:sp>
        <p:nvSpPr>
          <p:cNvPr id="93" name="Google Shape;93;p4"/>
          <p:cNvSpPr txBox="1"/>
          <p:nvPr/>
        </p:nvSpPr>
        <p:spPr>
          <a:xfrm>
            <a:off x="1398799" y="2102069"/>
            <a:ext cx="6346401" cy="1436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800" u="none" cap="none" strike="noStrike">
                <a:solidFill>
                  <a:schemeClr val="dk1"/>
                </a:solidFill>
                <a:latin typeface="Times New Roman"/>
                <a:ea typeface="Times New Roman"/>
                <a:cs typeface="Times New Roman"/>
                <a:sym typeface="Times New Roman"/>
              </a:rPr>
              <a:t>Object Oriented Software Engineering (OOSE)</a:t>
            </a:r>
            <a:endParaRPr/>
          </a:p>
          <a:p>
            <a:pPr indent="0" lvl="0" marL="0" marR="0" rtl="0" algn="ctr">
              <a:lnSpc>
                <a:spcPct val="100000"/>
              </a:lnSpc>
              <a:spcBef>
                <a:spcPts val="400"/>
              </a:spcBef>
              <a:spcAft>
                <a:spcPts val="0"/>
              </a:spcAft>
              <a:buClr>
                <a:srgbClr val="000000"/>
              </a:buClr>
              <a:buSzPts val="2000"/>
              <a:buFont typeface="Arial"/>
              <a:buNone/>
            </a:pPr>
            <a:r>
              <a:rPr b="1" i="0" lang="en-US" sz="2800" u="none" cap="none" strike="noStrike">
                <a:solidFill>
                  <a:schemeClr val="dk1"/>
                </a:solidFill>
                <a:latin typeface="Times New Roman"/>
                <a:ea typeface="Times New Roman"/>
                <a:cs typeface="Times New Roman"/>
                <a:sym typeface="Times New Roman"/>
              </a:rPr>
              <a:t>22CS017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nvSpPr>
        <p:spPr>
          <a:xfrm>
            <a:off x="381786" y="292407"/>
            <a:ext cx="6019560" cy="89764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000"/>
              <a:buFont typeface="Arial"/>
              <a:buNone/>
            </a:pPr>
            <a:r>
              <a:rPr b="1" i="0" lang="en-US" sz="3200" u="none" cap="none" strike="noStrike">
                <a:solidFill>
                  <a:srgbClr val="000000"/>
                </a:solidFill>
                <a:latin typeface="Times New Roman"/>
                <a:ea typeface="Times New Roman"/>
                <a:cs typeface="Times New Roman"/>
                <a:sym typeface="Times New Roman"/>
              </a:rPr>
              <a:t>Index</a:t>
            </a:r>
            <a:endParaRPr/>
          </a:p>
          <a:p>
            <a:pPr indent="0" lvl="0" marL="0" marR="0" rtl="0" algn="l">
              <a:lnSpc>
                <a:spcPct val="100000"/>
              </a:lnSpc>
              <a:spcBef>
                <a:spcPts val="0"/>
              </a:spcBef>
              <a:spcAft>
                <a:spcPts val="0"/>
              </a:spcAft>
              <a:buClr>
                <a:srgbClr val="000000"/>
              </a:buClr>
              <a:buSzPts val="3000"/>
              <a:buFont typeface="Arial"/>
              <a:buNone/>
            </a:pPr>
            <a:r>
              <a:t/>
            </a:r>
            <a:endParaRPr b="0" i="0" sz="3200" u="none" cap="none" strike="noStrike">
              <a:solidFill>
                <a:srgbClr val="000000"/>
              </a:solidFill>
              <a:latin typeface="Arial"/>
              <a:ea typeface="Arial"/>
              <a:cs typeface="Arial"/>
              <a:sym typeface="Arial"/>
            </a:endParaRPr>
          </a:p>
        </p:txBody>
      </p:sp>
      <p:sp>
        <p:nvSpPr>
          <p:cNvPr id="99" name="Google Shape;99;p2"/>
          <p:cNvSpPr txBox="1"/>
          <p:nvPr/>
        </p:nvSpPr>
        <p:spPr>
          <a:xfrm>
            <a:off x="168990" y="963516"/>
            <a:ext cx="8838720" cy="4945966"/>
          </a:xfrm>
          <a:prstGeom prst="rect">
            <a:avLst/>
          </a:prstGeom>
          <a:noFill/>
          <a:ln>
            <a:noFill/>
          </a:ln>
        </p:spPr>
        <p:txBody>
          <a:bodyPr anchorCtr="0" anchor="t" bIns="45700" lIns="91425" spcFirstLastPara="1" rIns="91425" wrap="square" tIns="45700">
            <a:noAutofit/>
          </a:bodyPr>
          <a:lstStyle/>
          <a:p>
            <a:pPr indent="-222250" lvl="0" marL="342900" marR="0" rtl="0" algn="l">
              <a:lnSpc>
                <a:spcPct val="150000"/>
              </a:lnSpc>
              <a:spcBef>
                <a:spcPts val="0"/>
              </a:spcBef>
              <a:spcAft>
                <a:spcPts val="0"/>
              </a:spcAft>
              <a:buClr>
                <a:schemeClr val="dk1"/>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5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400"/>
              </a:spcBef>
              <a:spcAft>
                <a:spcPts val="0"/>
              </a:spcAft>
              <a:buClr>
                <a:srgbClr val="000000"/>
              </a:buClr>
              <a:buSzPts val="1900"/>
              <a:buFont typeface="Arial"/>
              <a:buNone/>
            </a:pPr>
            <a:r>
              <a:t/>
            </a:r>
            <a:endParaRPr b="0" i="0" sz="1900" u="none" cap="none" strike="noStrike">
              <a:solidFill>
                <a:srgbClr val="000000"/>
              </a:solidFill>
              <a:latin typeface="Calibri"/>
              <a:ea typeface="Calibri"/>
              <a:cs typeface="Calibri"/>
              <a:sym typeface="Calibri"/>
            </a:endParaRPr>
          </a:p>
        </p:txBody>
      </p:sp>
      <p:sp>
        <p:nvSpPr>
          <p:cNvPr id="100" name="Google Shape;100;p2"/>
          <p:cNvSpPr txBox="1"/>
          <p:nvPr>
            <p:ph idx="1" type="body"/>
          </p:nvPr>
        </p:nvSpPr>
        <p:spPr>
          <a:xfrm>
            <a:off x="901592" y="1854747"/>
            <a:ext cx="7826002" cy="4039737"/>
          </a:xfrm>
          <a:prstGeom prst="rect">
            <a:avLst/>
          </a:prstGeom>
          <a:noFill/>
          <a:ln>
            <a:noFill/>
          </a:ln>
        </p:spPr>
        <p:txBody>
          <a:bodyPr anchorCtr="0" anchor="t" bIns="0" lIns="0" spcFirstLastPara="1" rIns="0" wrap="square" tIns="0">
            <a:noAutofit/>
          </a:bodyPr>
          <a:lstStyle/>
          <a:p>
            <a:pPr indent="-342900" lvl="0" marL="342900" rtl="0" algn="l">
              <a:lnSpc>
                <a:spcPct val="150000"/>
              </a:lnSpc>
              <a:spcBef>
                <a:spcPts val="0"/>
              </a:spcBef>
              <a:spcAft>
                <a:spcPts val="0"/>
              </a:spcAft>
              <a:buSzPts val="2800"/>
              <a:buChar char="•"/>
            </a:pPr>
            <a:r>
              <a:rPr b="1" i="0" lang="en-US" sz="2000" u="none" cap="none" strike="noStrike">
                <a:solidFill>
                  <a:schemeClr val="dk1"/>
                </a:solidFill>
                <a:latin typeface="Times"/>
                <a:ea typeface="Times"/>
                <a:cs typeface="Times"/>
                <a:sym typeface="Times"/>
              </a:rPr>
              <a:t>What is Project Scheduling</a:t>
            </a:r>
            <a:endParaRPr/>
          </a:p>
          <a:p>
            <a:pPr indent="-342900" lvl="0" marL="342900" rtl="0" algn="l">
              <a:lnSpc>
                <a:spcPct val="150000"/>
              </a:lnSpc>
              <a:spcBef>
                <a:spcPts val="0"/>
              </a:spcBef>
              <a:spcAft>
                <a:spcPts val="0"/>
              </a:spcAft>
              <a:buSzPts val="2800"/>
              <a:buChar char="•"/>
            </a:pPr>
            <a:r>
              <a:rPr b="1" i="0" lang="en-US" sz="2000" u="none" cap="none" strike="noStrike">
                <a:solidFill>
                  <a:schemeClr val="dk1"/>
                </a:solidFill>
                <a:latin typeface="Times"/>
                <a:ea typeface="Times"/>
                <a:cs typeface="Times"/>
                <a:sym typeface="Times"/>
              </a:rPr>
              <a:t>Basic Principle of Project Scheduling</a:t>
            </a:r>
            <a:endParaRPr b="1" sz="2000">
              <a:latin typeface="Times"/>
              <a:ea typeface="Times"/>
              <a:cs typeface="Times"/>
              <a:sym typeface="Times"/>
            </a:endParaRPr>
          </a:p>
          <a:p>
            <a:pPr indent="-342900" lvl="0" marL="342900" rtl="0" algn="l">
              <a:lnSpc>
                <a:spcPct val="150000"/>
              </a:lnSpc>
              <a:spcBef>
                <a:spcPts val="0"/>
              </a:spcBef>
              <a:spcAft>
                <a:spcPts val="0"/>
              </a:spcAft>
              <a:buSzPts val="2800"/>
              <a:buChar char="•"/>
            </a:pPr>
            <a:r>
              <a:rPr b="1" i="0" lang="en-US" sz="2000" u="none" cap="none" strike="noStrike">
                <a:solidFill>
                  <a:schemeClr val="dk1"/>
                </a:solidFill>
                <a:latin typeface="Times"/>
                <a:ea typeface="Times"/>
                <a:cs typeface="Times"/>
                <a:sym typeface="Times"/>
              </a:rPr>
              <a:t>Project Scheduling  Techniques</a:t>
            </a:r>
            <a:endParaRPr/>
          </a:p>
          <a:p>
            <a:pPr indent="-342900" lvl="0" marL="342900" rtl="0" algn="l">
              <a:lnSpc>
                <a:spcPct val="150000"/>
              </a:lnSpc>
              <a:spcBef>
                <a:spcPts val="0"/>
              </a:spcBef>
              <a:spcAft>
                <a:spcPts val="0"/>
              </a:spcAft>
              <a:buSzPts val="2800"/>
              <a:buChar char="•"/>
            </a:pPr>
            <a:r>
              <a:rPr b="1" lang="en-US" sz="2000">
                <a:latin typeface="Times"/>
                <a:ea typeface="Times"/>
                <a:cs typeface="Times"/>
                <a:sym typeface="Times"/>
              </a:rPr>
              <a:t>Earned Value Analysis</a:t>
            </a:r>
            <a:endParaRPr/>
          </a:p>
          <a:p>
            <a:pPr indent="-342900" lvl="0" marL="342900" rtl="0" algn="l">
              <a:lnSpc>
                <a:spcPct val="150000"/>
              </a:lnSpc>
              <a:spcBef>
                <a:spcPts val="0"/>
              </a:spcBef>
              <a:spcAft>
                <a:spcPts val="0"/>
              </a:spcAft>
              <a:buSzPts val="2800"/>
              <a:buChar char="•"/>
            </a:pPr>
            <a:r>
              <a:rPr b="1" lang="en-US" sz="2000">
                <a:solidFill>
                  <a:schemeClr val="dk1"/>
                </a:solidFill>
                <a:latin typeface="Times"/>
                <a:ea typeface="Times"/>
                <a:cs typeface="Times"/>
                <a:sym typeface="Times"/>
              </a:rPr>
              <a:t>Practice Questions</a:t>
            </a:r>
            <a:endParaRPr/>
          </a:p>
          <a:p>
            <a:pPr indent="0" lvl="0" marL="0" rtl="0" algn="l">
              <a:lnSpc>
                <a:spcPct val="150000"/>
              </a:lnSpc>
              <a:spcBef>
                <a:spcPts val="0"/>
              </a:spcBef>
              <a:spcAft>
                <a:spcPts val="0"/>
              </a:spcAft>
              <a:buSzPts val="2800"/>
              <a:buNone/>
            </a:pPr>
            <a:r>
              <a:rPr b="1" i="0" lang="en-US" sz="2000">
                <a:solidFill>
                  <a:schemeClr val="dk1"/>
                </a:solidFill>
                <a:latin typeface="Times"/>
                <a:ea typeface="Times"/>
                <a:cs typeface="Times"/>
                <a:sym typeface="Times"/>
              </a:rPr>
              <a:t> </a:t>
            </a:r>
            <a:endParaRPr b="1" sz="2000">
              <a:solidFill>
                <a:schemeClr val="dk1"/>
              </a:solidFill>
              <a:latin typeface="Times"/>
              <a:ea typeface="Times"/>
              <a:cs typeface="Times"/>
              <a:sym typeface="Times"/>
            </a:endParaRPr>
          </a:p>
          <a:p>
            <a:pPr indent="-165100" lvl="0" marL="342900" marR="0" rtl="0" algn="l">
              <a:lnSpc>
                <a:spcPct val="150000"/>
              </a:lnSpc>
              <a:spcBef>
                <a:spcPts val="0"/>
              </a:spcBef>
              <a:spcAft>
                <a:spcPts val="0"/>
              </a:spcAft>
              <a:buClr>
                <a:schemeClr val="dk1"/>
              </a:buClr>
              <a:buSzPts val="2800"/>
              <a:buNone/>
            </a:pPr>
            <a:r>
              <a:t/>
            </a:r>
            <a:endParaRPr sz="1800">
              <a:latin typeface="Times New Roman"/>
              <a:ea typeface="Times New Roman"/>
              <a:cs typeface="Times New Roman"/>
              <a:sym typeface="Times New Roman"/>
            </a:endParaRPr>
          </a:p>
          <a:p>
            <a:pPr indent="-165100" lvl="0" marL="342900" marR="0" rtl="0" algn="l">
              <a:lnSpc>
                <a:spcPct val="150000"/>
              </a:lnSpc>
              <a:spcBef>
                <a:spcPts val="0"/>
              </a:spcBef>
              <a:spcAft>
                <a:spcPts val="0"/>
              </a:spcAft>
              <a:buClr>
                <a:schemeClr val="dk1"/>
              </a:buClr>
              <a:buSzPts val="2800"/>
              <a:buNone/>
            </a:pPr>
            <a:r>
              <a:t/>
            </a:r>
            <a:endParaRPr sz="1800">
              <a:latin typeface="Times New Roman"/>
              <a:ea typeface="Times New Roman"/>
              <a:cs typeface="Times New Roman"/>
              <a:sym typeface="Times New Roman"/>
            </a:endParaRPr>
          </a:p>
          <a:p>
            <a:pPr indent="-165100" lvl="0" marL="342900" marR="0" rtl="0" algn="l">
              <a:lnSpc>
                <a:spcPct val="150000"/>
              </a:lnSpc>
              <a:spcBef>
                <a:spcPts val="0"/>
              </a:spcBef>
              <a:spcAft>
                <a:spcPts val="0"/>
              </a:spcAft>
              <a:buClr>
                <a:schemeClr val="dk1"/>
              </a:buClr>
              <a:buSzPts val="2800"/>
              <a:buNone/>
            </a:pPr>
            <a:r>
              <a:t/>
            </a:r>
            <a:endParaRPr sz="1600">
              <a:latin typeface="Times"/>
              <a:ea typeface="Times"/>
              <a:cs typeface="Times"/>
              <a:sym typeface="Times"/>
            </a:endParaRPr>
          </a:p>
          <a:p>
            <a:pPr indent="-165100" lvl="0" marL="342900" marR="0" rtl="0" algn="l">
              <a:lnSpc>
                <a:spcPct val="150000"/>
              </a:lnSpc>
              <a:spcBef>
                <a:spcPts val="0"/>
              </a:spcBef>
              <a:spcAft>
                <a:spcPts val="0"/>
              </a:spcAft>
              <a:buClr>
                <a:schemeClr val="dk1"/>
              </a:buClr>
              <a:buSzPts val="2800"/>
              <a:buFont typeface="Times New Roman"/>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Introduction to Project Scheduling</a:t>
            </a:r>
            <a:endParaRPr/>
          </a:p>
        </p:txBody>
      </p:sp>
      <p:sp>
        <p:nvSpPr>
          <p:cNvPr id="107" name="Google Shape;107;p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08" name="Google Shape;108;p6"/>
          <p:cNvSpPr txBox="1"/>
          <p:nvPr>
            <p:ph idx="1" type="body"/>
          </p:nvPr>
        </p:nvSpPr>
        <p:spPr>
          <a:xfrm>
            <a:off x="304800" y="887845"/>
            <a:ext cx="8534400" cy="5410200"/>
          </a:xfrm>
          <a:prstGeom prst="rect">
            <a:avLst/>
          </a:prstGeom>
          <a:noFill/>
          <a:ln>
            <a:noFill/>
          </a:ln>
        </p:spPr>
        <p:txBody>
          <a:bodyPr anchorCtr="0" anchor="t" bIns="0" lIns="0" spcFirstLastPara="1" rIns="0" wrap="square" tIns="0">
            <a:noAutofit/>
          </a:bodyPr>
          <a:lstStyle/>
          <a:p>
            <a:pPr indent="-342900" lvl="0" marL="457200" rtl="0" algn="just">
              <a:lnSpc>
                <a:spcPct val="90000"/>
              </a:lnSpc>
              <a:spcBef>
                <a:spcPts val="1000"/>
              </a:spcBef>
              <a:spcAft>
                <a:spcPts val="0"/>
              </a:spcAft>
              <a:buSzPts val="1800"/>
              <a:buChar char="•"/>
            </a:pPr>
            <a:r>
              <a:rPr lang="en-US" sz="1800">
                <a:latin typeface="Times"/>
                <a:ea typeface="Times"/>
                <a:cs typeface="Times"/>
                <a:sym typeface="Times"/>
              </a:rPr>
              <a:t>Scheduling in project management is the listing of activities, deliverables, and milestones within a project. </a:t>
            </a:r>
            <a:endParaRPr/>
          </a:p>
          <a:p>
            <a:pPr indent="-342900" lvl="0" marL="457200" rtl="0" algn="just">
              <a:lnSpc>
                <a:spcPct val="90000"/>
              </a:lnSpc>
              <a:spcBef>
                <a:spcPts val="1000"/>
              </a:spcBef>
              <a:spcAft>
                <a:spcPts val="0"/>
              </a:spcAft>
              <a:buSzPts val="1800"/>
              <a:buChar char="•"/>
            </a:pPr>
            <a:r>
              <a:rPr lang="en-US" sz="1800">
                <a:latin typeface="Times"/>
                <a:ea typeface="Times"/>
                <a:cs typeface="Times"/>
                <a:sym typeface="Times"/>
              </a:rPr>
              <a:t>A schedule also usually includes a planned start and finish date, duration, and resources assigned to each activity. </a:t>
            </a:r>
            <a:endParaRPr/>
          </a:p>
          <a:p>
            <a:pPr indent="-342900" lvl="0" marL="457200" rtl="0" algn="just">
              <a:lnSpc>
                <a:spcPct val="90000"/>
              </a:lnSpc>
              <a:spcBef>
                <a:spcPts val="1000"/>
              </a:spcBef>
              <a:spcAft>
                <a:spcPts val="0"/>
              </a:spcAft>
              <a:buSzPts val="1800"/>
              <a:buChar char="•"/>
            </a:pPr>
            <a:r>
              <a:rPr lang="en-US" sz="1800">
                <a:latin typeface="Times"/>
                <a:ea typeface="Times"/>
                <a:cs typeface="Times"/>
                <a:sym typeface="Times"/>
              </a:rPr>
              <a:t>Effective project scheduling is a critical component of successful time management.</a:t>
            </a:r>
            <a:endParaRPr/>
          </a:p>
          <a:p>
            <a:pPr indent="-342900" lvl="0" marL="457200" rtl="0" algn="just">
              <a:lnSpc>
                <a:spcPct val="90000"/>
              </a:lnSpc>
              <a:spcBef>
                <a:spcPts val="1000"/>
              </a:spcBef>
              <a:spcAft>
                <a:spcPts val="0"/>
              </a:spcAft>
              <a:buSzPts val="1800"/>
              <a:buChar char="•"/>
            </a:pPr>
            <a:r>
              <a:rPr lang="en-US" sz="1800">
                <a:latin typeface="Times"/>
                <a:ea typeface="Times"/>
                <a:cs typeface="Times"/>
                <a:sym typeface="Times"/>
              </a:rPr>
              <a:t>When people discuss the processes for building a schedule, they are usually referring to the first six processes of time management:</a:t>
            </a:r>
            <a:endParaRPr/>
          </a:p>
          <a:p>
            <a:pPr indent="-228600" lvl="0" marL="457200" rtl="0" algn="just">
              <a:lnSpc>
                <a:spcPct val="90000"/>
              </a:lnSpc>
              <a:spcBef>
                <a:spcPts val="1000"/>
              </a:spcBef>
              <a:spcAft>
                <a:spcPts val="0"/>
              </a:spcAft>
              <a:buSzPts val="1800"/>
              <a:buNone/>
            </a:pPr>
            <a:r>
              <a:t/>
            </a:r>
            <a:endParaRPr sz="1800">
              <a:latin typeface="Times"/>
              <a:ea typeface="Times"/>
              <a:cs typeface="Times"/>
              <a:sym typeface="Times"/>
            </a:endParaRPr>
          </a:p>
          <a:p>
            <a:pPr indent="-342900" lvl="1" marL="914400" rtl="0" algn="just">
              <a:lnSpc>
                <a:spcPct val="90000"/>
              </a:lnSpc>
              <a:spcBef>
                <a:spcPts val="500"/>
              </a:spcBef>
              <a:spcAft>
                <a:spcPts val="0"/>
              </a:spcAft>
              <a:buSzPts val="1800"/>
              <a:buChar char="•"/>
            </a:pPr>
            <a:r>
              <a:rPr lang="en-US" sz="1800">
                <a:latin typeface="Times"/>
                <a:ea typeface="Times"/>
                <a:cs typeface="Times"/>
                <a:sym typeface="Times"/>
              </a:rPr>
              <a:t>Plan schedule management</a:t>
            </a:r>
            <a:endParaRPr/>
          </a:p>
          <a:p>
            <a:pPr indent="-342900" lvl="1" marL="914400" rtl="0" algn="just">
              <a:lnSpc>
                <a:spcPct val="90000"/>
              </a:lnSpc>
              <a:spcBef>
                <a:spcPts val="500"/>
              </a:spcBef>
              <a:spcAft>
                <a:spcPts val="0"/>
              </a:spcAft>
              <a:buSzPts val="1800"/>
              <a:buChar char="•"/>
            </a:pPr>
            <a:r>
              <a:rPr lang="en-US" sz="1800">
                <a:latin typeface="Times"/>
                <a:ea typeface="Times"/>
                <a:cs typeface="Times"/>
                <a:sym typeface="Times"/>
              </a:rPr>
              <a:t>Define project activities</a:t>
            </a:r>
            <a:endParaRPr/>
          </a:p>
          <a:p>
            <a:pPr indent="-342900" lvl="1" marL="914400" rtl="0" algn="just">
              <a:lnSpc>
                <a:spcPct val="90000"/>
              </a:lnSpc>
              <a:spcBef>
                <a:spcPts val="500"/>
              </a:spcBef>
              <a:spcAft>
                <a:spcPts val="0"/>
              </a:spcAft>
              <a:buSzPts val="1800"/>
              <a:buChar char="•"/>
            </a:pPr>
            <a:r>
              <a:rPr lang="en-US" sz="1800">
                <a:latin typeface="Times"/>
                <a:ea typeface="Times"/>
                <a:cs typeface="Times"/>
                <a:sym typeface="Times"/>
              </a:rPr>
              <a:t>Sequence activities</a:t>
            </a:r>
            <a:endParaRPr/>
          </a:p>
          <a:p>
            <a:pPr indent="-342900" lvl="1" marL="914400" rtl="0" algn="just">
              <a:lnSpc>
                <a:spcPct val="90000"/>
              </a:lnSpc>
              <a:spcBef>
                <a:spcPts val="500"/>
              </a:spcBef>
              <a:spcAft>
                <a:spcPts val="0"/>
              </a:spcAft>
              <a:buSzPts val="1800"/>
              <a:buChar char="•"/>
            </a:pPr>
            <a:r>
              <a:rPr lang="en-US" sz="1800">
                <a:latin typeface="Times"/>
                <a:ea typeface="Times"/>
                <a:cs typeface="Times"/>
                <a:sym typeface="Times"/>
              </a:rPr>
              <a:t>Estimate resources</a:t>
            </a:r>
            <a:endParaRPr/>
          </a:p>
          <a:p>
            <a:pPr indent="-342900" lvl="1" marL="914400" rtl="0" algn="just">
              <a:lnSpc>
                <a:spcPct val="90000"/>
              </a:lnSpc>
              <a:spcBef>
                <a:spcPts val="500"/>
              </a:spcBef>
              <a:spcAft>
                <a:spcPts val="0"/>
              </a:spcAft>
              <a:buSzPts val="1800"/>
              <a:buChar char="•"/>
            </a:pPr>
            <a:r>
              <a:rPr lang="en-US" sz="1800">
                <a:latin typeface="Times"/>
                <a:ea typeface="Times"/>
                <a:cs typeface="Times"/>
                <a:sym typeface="Times"/>
              </a:rPr>
              <a:t>Estimate durations</a:t>
            </a:r>
            <a:endParaRPr/>
          </a:p>
          <a:p>
            <a:pPr indent="-342900" lvl="1" marL="914400" rtl="0" algn="just">
              <a:lnSpc>
                <a:spcPct val="90000"/>
              </a:lnSpc>
              <a:spcBef>
                <a:spcPts val="500"/>
              </a:spcBef>
              <a:spcAft>
                <a:spcPts val="0"/>
              </a:spcAft>
              <a:buSzPts val="1800"/>
              <a:buChar char="•"/>
            </a:pPr>
            <a:r>
              <a:rPr lang="en-US" sz="1800">
                <a:latin typeface="Times"/>
                <a:ea typeface="Times"/>
                <a:cs typeface="Times"/>
                <a:sym typeface="Times"/>
              </a:rPr>
              <a:t>Develop the project schedule</a:t>
            </a:r>
            <a:endParaRPr/>
          </a:p>
          <a:p>
            <a:pPr indent="0" lvl="0" marL="0" rtl="0" algn="just">
              <a:lnSpc>
                <a:spcPct val="150000"/>
              </a:lnSpc>
              <a:spcBef>
                <a:spcPts val="1000"/>
              </a:spcBef>
              <a:spcAft>
                <a:spcPts val="0"/>
              </a:spcAft>
              <a:buSzPts val="1800"/>
              <a:buNone/>
            </a:pPr>
            <a:br>
              <a:rPr lang="en-US">
                <a:latin typeface="Times"/>
                <a:ea typeface="Times"/>
                <a:cs typeface="Times"/>
                <a:sym typeface="Times"/>
              </a:rPr>
            </a:br>
            <a:r>
              <a:rPr lang="en-US">
                <a:solidFill>
                  <a:srgbClr val="303030"/>
                </a:solidFill>
                <a:latin typeface="Times"/>
                <a:ea typeface="Times"/>
                <a:cs typeface="Times"/>
                <a:sym typeface="Times"/>
              </a:rPr>
              <a:t> </a:t>
            </a:r>
            <a:br>
              <a:rPr lang="en-US">
                <a:latin typeface="Times"/>
                <a:ea typeface="Times"/>
                <a:cs typeface="Times"/>
                <a:sym typeface="Times"/>
              </a:rPr>
            </a:br>
            <a:endParaRPr>
              <a:solidFill>
                <a:srgbClr val="303030"/>
              </a:solidFill>
              <a:latin typeface="Times"/>
              <a:ea typeface="Times"/>
              <a:cs typeface="Times"/>
              <a:sym typeface="Time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Project Scheduling</a:t>
            </a:r>
            <a:endParaRPr/>
          </a:p>
        </p:txBody>
      </p:sp>
      <p:sp>
        <p:nvSpPr>
          <p:cNvPr id="114" name="Google Shape;114;p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15" name="Google Shape;115;p7"/>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16" name="Google Shape;116;p7"/>
          <p:cNvSpPr txBox="1"/>
          <p:nvPr>
            <p:ph idx="1" type="body"/>
          </p:nvPr>
        </p:nvSpPr>
        <p:spPr>
          <a:xfrm>
            <a:off x="76200" y="887845"/>
            <a:ext cx="8763000" cy="5410200"/>
          </a:xfrm>
          <a:prstGeom prst="rect">
            <a:avLst/>
          </a:prstGeom>
          <a:noFill/>
          <a:ln>
            <a:noFill/>
          </a:ln>
        </p:spPr>
        <p:txBody>
          <a:bodyPr anchorCtr="0" anchor="t" bIns="0" lIns="0" spcFirstLastPara="1" rIns="0" wrap="square" tIns="0">
            <a:noAutofit/>
          </a:bodyPr>
          <a:lstStyle/>
          <a:p>
            <a:pPr indent="-342900" lvl="0" marL="457200" rtl="0" algn="just">
              <a:lnSpc>
                <a:spcPct val="150000"/>
              </a:lnSpc>
              <a:spcBef>
                <a:spcPts val="1000"/>
              </a:spcBef>
              <a:spcAft>
                <a:spcPts val="0"/>
              </a:spcAft>
              <a:buSzPts val="1800"/>
              <a:buChar char="•"/>
            </a:pPr>
            <a:r>
              <a:rPr lang="en-US" sz="1800">
                <a:latin typeface="Times"/>
                <a:ea typeface="Times"/>
                <a:cs typeface="Times"/>
                <a:sym typeface="Times"/>
              </a:rPr>
              <a:t>Project-task scheduling is a significant project planning activity. It comprises deciding which functions would be taken up when. </a:t>
            </a:r>
            <a:endParaRPr/>
          </a:p>
          <a:p>
            <a:pPr indent="-342900" lvl="0" marL="457200" rtl="0" algn="just">
              <a:lnSpc>
                <a:spcPct val="150000"/>
              </a:lnSpc>
              <a:spcBef>
                <a:spcPts val="1000"/>
              </a:spcBef>
              <a:spcAft>
                <a:spcPts val="0"/>
              </a:spcAft>
              <a:buSzPts val="1800"/>
              <a:buChar char="•"/>
            </a:pPr>
            <a:r>
              <a:rPr b="1" lang="en-US" sz="1800">
                <a:latin typeface="Times"/>
                <a:ea typeface="Times"/>
                <a:cs typeface="Times"/>
                <a:sym typeface="Times"/>
              </a:rPr>
              <a:t>To schedule the project plan, a software project manager wants to do the following:</a:t>
            </a:r>
            <a:endParaRPr sz="1800">
              <a:latin typeface="Times"/>
              <a:ea typeface="Times"/>
              <a:cs typeface="Times"/>
              <a:sym typeface="Times"/>
            </a:endParaRPr>
          </a:p>
          <a:p>
            <a:pPr indent="-342900" lvl="1" marL="914400" rtl="0" algn="just">
              <a:lnSpc>
                <a:spcPct val="150000"/>
              </a:lnSpc>
              <a:spcBef>
                <a:spcPts val="500"/>
              </a:spcBef>
              <a:spcAft>
                <a:spcPts val="0"/>
              </a:spcAft>
              <a:buSzPts val="1800"/>
              <a:buChar char="•"/>
            </a:pPr>
            <a:r>
              <a:rPr lang="en-US" sz="1800">
                <a:latin typeface="Times"/>
                <a:ea typeface="Times"/>
                <a:cs typeface="Times"/>
                <a:sym typeface="Times"/>
              </a:rPr>
              <a:t>Identify all the functions required to complete the project.</a:t>
            </a:r>
            <a:endParaRPr/>
          </a:p>
          <a:p>
            <a:pPr indent="-342900" lvl="1" marL="914400" rtl="0" algn="just">
              <a:lnSpc>
                <a:spcPct val="150000"/>
              </a:lnSpc>
              <a:spcBef>
                <a:spcPts val="500"/>
              </a:spcBef>
              <a:spcAft>
                <a:spcPts val="0"/>
              </a:spcAft>
              <a:buSzPts val="1800"/>
              <a:buChar char="•"/>
            </a:pPr>
            <a:r>
              <a:rPr lang="en-US" sz="1800">
                <a:latin typeface="Times"/>
                <a:ea typeface="Times"/>
                <a:cs typeface="Times"/>
                <a:sym typeface="Times"/>
              </a:rPr>
              <a:t>Break down large functions into small activities.</a:t>
            </a:r>
            <a:endParaRPr/>
          </a:p>
          <a:p>
            <a:pPr indent="-342900" lvl="1" marL="914400" rtl="0" algn="just">
              <a:lnSpc>
                <a:spcPct val="150000"/>
              </a:lnSpc>
              <a:spcBef>
                <a:spcPts val="500"/>
              </a:spcBef>
              <a:spcAft>
                <a:spcPts val="0"/>
              </a:spcAft>
              <a:buSzPts val="1800"/>
              <a:buChar char="•"/>
            </a:pPr>
            <a:r>
              <a:rPr lang="en-US" sz="1800">
                <a:latin typeface="Times"/>
                <a:ea typeface="Times"/>
                <a:cs typeface="Times"/>
                <a:sym typeface="Times"/>
              </a:rPr>
              <a:t>Determine the dependency among various activities.</a:t>
            </a:r>
            <a:endParaRPr/>
          </a:p>
          <a:p>
            <a:pPr indent="-342900" lvl="1" marL="914400" rtl="0" algn="just">
              <a:lnSpc>
                <a:spcPct val="150000"/>
              </a:lnSpc>
              <a:spcBef>
                <a:spcPts val="500"/>
              </a:spcBef>
              <a:spcAft>
                <a:spcPts val="0"/>
              </a:spcAft>
              <a:buSzPts val="1800"/>
              <a:buChar char="•"/>
            </a:pPr>
            <a:r>
              <a:rPr lang="en-US" sz="1800">
                <a:latin typeface="Times"/>
                <a:ea typeface="Times"/>
                <a:cs typeface="Times"/>
                <a:sym typeface="Times"/>
              </a:rPr>
              <a:t>Establish the most likely size for the time duration required to complete the activities.</a:t>
            </a:r>
            <a:endParaRPr/>
          </a:p>
          <a:p>
            <a:pPr indent="-342900" lvl="1" marL="914400" rtl="0" algn="just">
              <a:lnSpc>
                <a:spcPct val="150000"/>
              </a:lnSpc>
              <a:spcBef>
                <a:spcPts val="500"/>
              </a:spcBef>
              <a:spcAft>
                <a:spcPts val="0"/>
              </a:spcAft>
              <a:buSzPts val="1800"/>
              <a:buChar char="•"/>
            </a:pPr>
            <a:r>
              <a:rPr lang="en-US" sz="1800">
                <a:latin typeface="Times"/>
                <a:ea typeface="Times"/>
                <a:cs typeface="Times"/>
                <a:sym typeface="Times"/>
              </a:rPr>
              <a:t>Allocate resources to activities.</a:t>
            </a:r>
            <a:endParaRPr/>
          </a:p>
          <a:p>
            <a:pPr indent="-342900" lvl="1" marL="914400" rtl="0" algn="just">
              <a:lnSpc>
                <a:spcPct val="150000"/>
              </a:lnSpc>
              <a:spcBef>
                <a:spcPts val="500"/>
              </a:spcBef>
              <a:spcAft>
                <a:spcPts val="0"/>
              </a:spcAft>
              <a:buSzPts val="1800"/>
              <a:buChar char="•"/>
            </a:pPr>
            <a:r>
              <a:rPr lang="en-US" sz="1800">
                <a:latin typeface="Times"/>
                <a:ea typeface="Times"/>
                <a:cs typeface="Times"/>
                <a:sym typeface="Times"/>
              </a:rPr>
              <a:t>Plan the beginning and ending dates for different activities.</a:t>
            </a:r>
            <a:endParaRPr/>
          </a:p>
          <a:p>
            <a:pPr indent="-342900" lvl="1" marL="914400" rtl="0" algn="just">
              <a:lnSpc>
                <a:spcPct val="150000"/>
              </a:lnSpc>
              <a:spcBef>
                <a:spcPts val="500"/>
              </a:spcBef>
              <a:spcAft>
                <a:spcPts val="0"/>
              </a:spcAft>
              <a:buSzPts val="1800"/>
              <a:buChar char="•"/>
            </a:pPr>
            <a:r>
              <a:rPr lang="en-US" sz="1800">
                <a:latin typeface="Times"/>
                <a:ea typeface="Times"/>
                <a:cs typeface="Times"/>
                <a:sym typeface="Times"/>
              </a:rPr>
              <a:t>Determine the critical path. A critical way is the group of activities that decide the duration of the project.</a:t>
            </a:r>
            <a:endParaRPr/>
          </a:p>
          <a:p>
            <a:pPr indent="0" lvl="0" marL="0" rtl="0" algn="just">
              <a:lnSpc>
                <a:spcPct val="150000"/>
              </a:lnSpc>
              <a:spcBef>
                <a:spcPts val="1000"/>
              </a:spcBef>
              <a:spcAft>
                <a:spcPts val="0"/>
              </a:spcAft>
              <a:buSzPts val="1800"/>
              <a:buNone/>
            </a:pPr>
            <a:br>
              <a:rPr lang="en-US">
                <a:latin typeface="Times"/>
                <a:ea typeface="Times"/>
                <a:cs typeface="Times"/>
                <a:sym typeface="Times"/>
              </a:rPr>
            </a:br>
            <a:r>
              <a:rPr lang="en-US">
                <a:solidFill>
                  <a:srgbClr val="303030"/>
                </a:solidFill>
                <a:latin typeface="Times"/>
                <a:ea typeface="Times"/>
                <a:cs typeface="Times"/>
                <a:sym typeface="Times"/>
              </a:rPr>
              <a:t> </a:t>
            </a:r>
            <a:br>
              <a:rPr lang="en-US">
                <a:latin typeface="Times"/>
                <a:ea typeface="Times"/>
                <a:cs typeface="Times"/>
                <a:sym typeface="Times"/>
              </a:rPr>
            </a:br>
            <a:endParaRPr>
              <a:solidFill>
                <a:srgbClr val="303030"/>
              </a:solidFill>
              <a:latin typeface="Times"/>
              <a:ea typeface="Times"/>
              <a:cs typeface="Times"/>
              <a:sym typeface="Time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 name="Shape 120"/>
        <p:cNvGrpSpPr/>
        <p:nvPr/>
      </p:nvGrpSpPr>
      <p:grpSpPr>
        <a:xfrm>
          <a:off x="0" y="0"/>
          <a:ext cx="0" cy="0"/>
          <a:chOff x="0" y="0"/>
          <a:chExt cx="0" cy="0"/>
        </a:xfrm>
      </p:grpSpPr>
      <p:sp>
        <p:nvSpPr>
          <p:cNvPr id="121" name="Google Shape;121;p8"/>
          <p:cNvSpPr txBox="1"/>
          <p:nvPr>
            <p:ph type="title"/>
          </p:nvPr>
        </p:nvSpPr>
        <p:spPr>
          <a:xfrm>
            <a:off x="352540" y="128588"/>
            <a:ext cx="6129338"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The role of project scheduling in software engineering</a:t>
            </a:r>
            <a:br>
              <a:rPr b="1" lang="en-US"/>
            </a:br>
            <a:endParaRPr/>
          </a:p>
        </p:txBody>
      </p:sp>
      <p:sp>
        <p:nvSpPr>
          <p:cNvPr id="122" name="Google Shape;122;p8"/>
          <p:cNvSpPr txBox="1"/>
          <p:nvPr>
            <p:ph idx="1" type="body"/>
          </p:nvPr>
        </p:nvSpPr>
        <p:spPr>
          <a:xfrm>
            <a:off x="352540" y="1042627"/>
            <a:ext cx="8333900" cy="5115285"/>
          </a:xfrm>
          <a:prstGeom prst="rect">
            <a:avLst/>
          </a:prstGeom>
          <a:noFill/>
          <a:ln>
            <a:noFill/>
          </a:ln>
        </p:spPr>
        <p:txBody>
          <a:bodyPr anchorCtr="0" anchor="t" bIns="0" lIns="0" spcFirstLastPara="1" rIns="0" wrap="square" tIns="0">
            <a:normAutofit lnSpcReduction="10000"/>
          </a:bodyPr>
          <a:lstStyle/>
          <a:p>
            <a:pPr indent="-342900" lvl="0" marL="457200" rtl="0" algn="l">
              <a:lnSpc>
                <a:spcPct val="150000"/>
              </a:lnSpc>
              <a:spcBef>
                <a:spcPts val="1000"/>
              </a:spcBef>
              <a:spcAft>
                <a:spcPts val="0"/>
              </a:spcAft>
              <a:buSzPts val="1800"/>
              <a:buChar char="•"/>
            </a:pPr>
            <a:r>
              <a:rPr lang="en-US" sz="1800">
                <a:latin typeface="Times New Roman"/>
                <a:ea typeface="Times New Roman"/>
                <a:cs typeface="Times New Roman"/>
                <a:sym typeface="Times New Roman"/>
              </a:rPr>
              <a:t>Project scheduling plays a vital role in software engineering. It helps in managing resources effectively, ensuring that they are allocated optimally to achieve project goals.</a:t>
            </a:r>
            <a:endParaRPr/>
          </a:p>
          <a:p>
            <a:pPr indent="-342900" lvl="0" marL="457200" rtl="0" algn="l">
              <a:lnSpc>
                <a:spcPct val="150000"/>
              </a:lnSpc>
              <a:spcBef>
                <a:spcPts val="1000"/>
              </a:spcBef>
              <a:spcAft>
                <a:spcPts val="0"/>
              </a:spcAft>
              <a:buSzPts val="1800"/>
              <a:buChar char="•"/>
            </a:pPr>
            <a:r>
              <a:rPr lang="en-US" sz="1800">
                <a:latin typeface="Times New Roman"/>
                <a:ea typeface="Times New Roman"/>
                <a:cs typeface="Times New Roman"/>
                <a:sym typeface="Times New Roman"/>
              </a:rPr>
              <a:t>By breaking down the project into smaller tasks and assigning time frames to each, project scheduling allows for better control and monitoring of progress.</a:t>
            </a:r>
            <a:endParaRPr/>
          </a:p>
          <a:p>
            <a:pPr indent="-342900" lvl="0" marL="457200" rtl="0" algn="l">
              <a:lnSpc>
                <a:spcPct val="150000"/>
              </a:lnSpc>
              <a:spcBef>
                <a:spcPts val="1000"/>
              </a:spcBef>
              <a:spcAft>
                <a:spcPts val="0"/>
              </a:spcAft>
              <a:buSzPts val="1800"/>
              <a:buChar char="•"/>
            </a:pPr>
            <a:r>
              <a:rPr lang="en-US" sz="1800">
                <a:latin typeface="Times New Roman"/>
                <a:ea typeface="Times New Roman"/>
                <a:cs typeface="Times New Roman"/>
                <a:sym typeface="Times New Roman"/>
              </a:rPr>
              <a:t>Furthermore, project scheduling in software engineering </a:t>
            </a:r>
            <a:r>
              <a:rPr lang="en-US" sz="1800" u="sng">
                <a:solidFill>
                  <a:schemeClr val="hlink"/>
                </a:solidFill>
                <a:latin typeface="Times New Roman"/>
                <a:ea typeface="Times New Roman"/>
                <a:cs typeface="Times New Roman"/>
                <a:sym typeface="Times New Roman"/>
                <a:hlinkClick r:id="rId3"/>
              </a:rPr>
              <a:t>enables developers to identify critical paths and milestones within a project</a:t>
            </a:r>
            <a:r>
              <a:rPr lang="en-US" sz="1800">
                <a:latin typeface="Times New Roman"/>
                <a:ea typeface="Times New Roman"/>
                <a:cs typeface="Times New Roman"/>
                <a:sym typeface="Times New Roman"/>
              </a:rPr>
              <a:t>.</a:t>
            </a:r>
            <a:endParaRPr/>
          </a:p>
          <a:p>
            <a:pPr indent="-342900" lvl="0" marL="457200" rtl="0" algn="l">
              <a:lnSpc>
                <a:spcPct val="150000"/>
              </a:lnSpc>
              <a:spcBef>
                <a:spcPts val="1000"/>
              </a:spcBef>
              <a:spcAft>
                <a:spcPts val="0"/>
              </a:spcAft>
              <a:buSzPts val="1800"/>
              <a:buChar char="•"/>
            </a:pPr>
            <a:r>
              <a:rPr lang="en-US" sz="1800">
                <a:latin typeface="Times New Roman"/>
                <a:ea typeface="Times New Roman"/>
                <a:cs typeface="Times New Roman"/>
                <a:sym typeface="Times New Roman"/>
              </a:rPr>
              <a:t>It helps prioritize tasks and activities, ensuring that the most critical elements are addressed first.</a:t>
            </a:r>
            <a:endParaRPr/>
          </a:p>
          <a:p>
            <a:pPr indent="-342900" lvl="0" marL="457200" rtl="0" algn="l">
              <a:lnSpc>
                <a:spcPct val="150000"/>
              </a:lnSpc>
              <a:spcBef>
                <a:spcPts val="1000"/>
              </a:spcBef>
              <a:spcAft>
                <a:spcPts val="0"/>
              </a:spcAft>
              <a:buSzPts val="1800"/>
              <a:buChar char="•"/>
            </a:pPr>
            <a:r>
              <a:rPr lang="en-US" sz="1800">
                <a:latin typeface="Times New Roman"/>
                <a:ea typeface="Times New Roman"/>
                <a:cs typeface="Times New Roman"/>
                <a:sym typeface="Times New Roman"/>
              </a:rPr>
              <a:t>This not only enhances project efficiency but also reduces the risk of delays and cost overruns.</a:t>
            </a:r>
            <a:endParaRPr/>
          </a:p>
          <a:p>
            <a:pPr indent="-228600" lvl="0" marL="457200" rtl="0" algn="l">
              <a:lnSpc>
                <a:spcPct val="150000"/>
              </a:lnSpc>
              <a:spcBef>
                <a:spcPts val="1000"/>
              </a:spcBef>
              <a:spcAft>
                <a:spcPts val="0"/>
              </a:spcAft>
              <a:buSzPts val="1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sp>
        <p:nvSpPr>
          <p:cNvPr id="127" name="Google Shape;127;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Needs of </a:t>
            </a:r>
            <a:r>
              <a:rPr b="1" lang="en-US">
                <a:latin typeface="Times"/>
                <a:ea typeface="Times"/>
                <a:cs typeface="Times"/>
                <a:sym typeface="Times"/>
              </a:rPr>
              <a:t>Project Scheduling</a:t>
            </a:r>
            <a:endParaRPr b="1"/>
          </a:p>
        </p:txBody>
      </p:sp>
      <p:sp>
        <p:nvSpPr>
          <p:cNvPr id="128" name="Google Shape;128;p9"/>
          <p:cNvSpPr txBox="1"/>
          <p:nvPr>
            <p:ph idx="1" type="body"/>
          </p:nvPr>
        </p:nvSpPr>
        <p:spPr>
          <a:xfrm>
            <a:off x="457200" y="1604519"/>
            <a:ext cx="8358188" cy="4653405"/>
          </a:xfrm>
          <a:prstGeom prst="rect">
            <a:avLst/>
          </a:prstGeom>
          <a:noFill/>
          <a:ln>
            <a:noFill/>
          </a:ln>
        </p:spPr>
        <p:txBody>
          <a:bodyPr anchorCtr="0" anchor="t" bIns="0" lIns="0" spcFirstLastPara="1" rIns="0" wrap="square" tIns="0">
            <a:normAutofit/>
          </a:bodyPr>
          <a:lstStyle/>
          <a:p>
            <a:pPr indent="-342900" lvl="0" marL="457200" rtl="0" algn="just">
              <a:lnSpc>
                <a:spcPct val="150000"/>
              </a:lnSpc>
              <a:spcBef>
                <a:spcPts val="1000"/>
              </a:spcBef>
              <a:spcAft>
                <a:spcPts val="0"/>
              </a:spcAft>
              <a:buSzPts val="1800"/>
              <a:buChar char="•"/>
            </a:pPr>
            <a:r>
              <a:rPr lang="en-US" sz="1800">
                <a:latin typeface="Times"/>
                <a:ea typeface="Times"/>
                <a:cs typeface="Times"/>
                <a:sym typeface="Times"/>
              </a:rPr>
              <a:t>Today’s software systems are large , sophisticated and complex</a:t>
            </a:r>
            <a:endParaRPr/>
          </a:p>
          <a:p>
            <a:pPr indent="-342900" lvl="0" marL="457200" rtl="0" algn="just">
              <a:lnSpc>
                <a:spcPct val="150000"/>
              </a:lnSpc>
              <a:spcBef>
                <a:spcPts val="1000"/>
              </a:spcBef>
              <a:spcAft>
                <a:spcPts val="0"/>
              </a:spcAft>
              <a:buSzPts val="1800"/>
              <a:buFont typeface="Times"/>
              <a:buChar char="-"/>
            </a:pPr>
            <a:r>
              <a:rPr lang="en-US" sz="1800">
                <a:latin typeface="Times"/>
                <a:ea typeface="Times"/>
                <a:cs typeface="Times"/>
                <a:sym typeface="Times"/>
              </a:rPr>
              <a:t>Many software engineering tasks occur in parallel</a:t>
            </a:r>
            <a:endParaRPr/>
          </a:p>
          <a:p>
            <a:pPr indent="-342900" lvl="0" marL="457200" rtl="0" algn="just">
              <a:lnSpc>
                <a:spcPct val="150000"/>
              </a:lnSpc>
              <a:spcBef>
                <a:spcPts val="1000"/>
              </a:spcBef>
              <a:spcAft>
                <a:spcPts val="0"/>
              </a:spcAft>
              <a:buSzPts val="1800"/>
              <a:buFont typeface="Times"/>
              <a:buChar char="-"/>
            </a:pPr>
            <a:r>
              <a:rPr lang="en-US" sz="1800">
                <a:latin typeface="Times"/>
                <a:ea typeface="Times"/>
                <a:cs typeface="Times"/>
                <a:sym typeface="Times"/>
              </a:rPr>
              <a:t>Result of work performed during one task may have a profound effect on work conducted in another task.</a:t>
            </a:r>
            <a:endParaRPr/>
          </a:p>
          <a:p>
            <a:pPr indent="-342900" lvl="0" marL="457200" rtl="0" algn="just">
              <a:lnSpc>
                <a:spcPct val="150000"/>
              </a:lnSpc>
              <a:spcBef>
                <a:spcPts val="1000"/>
              </a:spcBef>
              <a:spcAft>
                <a:spcPts val="0"/>
              </a:spcAft>
              <a:buSzPts val="1800"/>
              <a:buFont typeface="Times"/>
              <a:buChar char="-"/>
            </a:pPr>
            <a:r>
              <a:rPr lang="en-US" sz="1800">
                <a:latin typeface="Times"/>
                <a:ea typeface="Times"/>
                <a:cs typeface="Times"/>
                <a:sym typeface="Times"/>
              </a:rPr>
              <a:t>Task interdependencies are very difficult to understand without a schedule</a:t>
            </a:r>
            <a:endParaRPr/>
          </a:p>
          <a:p>
            <a:pPr indent="-342900" lvl="0" marL="457200" rtl="0" algn="just">
              <a:lnSpc>
                <a:spcPct val="150000"/>
              </a:lnSpc>
              <a:spcBef>
                <a:spcPts val="1000"/>
              </a:spcBef>
              <a:spcAft>
                <a:spcPts val="0"/>
              </a:spcAft>
              <a:buSzPts val="1800"/>
              <a:buFont typeface="Times"/>
              <a:buChar char="-"/>
            </a:pPr>
            <a:r>
              <a:rPr lang="en-US" sz="1800">
                <a:latin typeface="Times"/>
                <a:ea typeface="Times"/>
                <a:cs typeface="Times"/>
                <a:sym typeface="Times"/>
              </a:rPr>
              <a:t>It is virtually impossible to access progress on a large software project without a detailed schedule.</a:t>
            </a:r>
            <a:endParaRPr/>
          </a:p>
          <a:p>
            <a:pPr indent="-228600" lvl="0" marL="457200" rtl="0" algn="l">
              <a:lnSpc>
                <a:spcPct val="90000"/>
              </a:lnSpc>
              <a:spcBef>
                <a:spcPts val="1000"/>
              </a:spcBef>
              <a:spcAft>
                <a:spcPts val="0"/>
              </a:spcAft>
              <a:buSzPts val="18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Project Scheduling Basic Principles</a:t>
            </a:r>
            <a:endParaRPr/>
          </a:p>
        </p:txBody>
      </p:sp>
      <p:sp>
        <p:nvSpPr>
          <p:cNvPr id="134" name="Google Shape;134;p1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35" name="Google Shape;135;p10"/>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36" name="Google Shape;136;p10"/>
          <p:cNvSpPr txBox="1"/>
          <p:nvPr>
            <p:ph idx="1" type="body"/>
          </p:nvPr>
        </p:nvSpPr>
        <p:spPr>
          <a:xfrm>
            <a:off x="76200" y="887845"/>
            <a:ext cx="8763000" cy="5410200"/>
          </a:xfrm>
          <a:prstGeom prst="rect">
            <a:avLst/>
          </a:prstGeom>
          <a:noFill/>
          <a:ln>
            <a:noFill/>
          </a:ln>
        </p:spPr>
        <p:txBody>
          <a:bodyPr anchorCtr="0" anchor="t" bIns="0" lIns="0" spcFirstLastPara="1" rIns="0" wrap="square" tIns="0">
            <a:noAutofit/>
          </a:bodyPr>
          <a:lstStyle/>
          <a:p>
            <a:pPr indent="-342900" lvl="0" marL="457200" rtl="0" algn="just">
              <a:lnSpc>
                <a:spcPct val="150000"/>
              </a:lnSpc>
              <a:spcBef>
                <a:spcPts val="1000"/>
              </a:spcBef>
              <a:spcAft>
                <a:spcPts val="0"/>
              </a:spcAft>
              <a:buSzPts val="1800"/>
              <a:buFont typeface="Arial"/>
              <a:buAutoNum type="arabicPeriod"/>
            </a:pPr>
            <a:r>
              <a:rPr b="1" i="1" lang="en-US" sz="1800">
                <a:solidFill>
                  <a:srgbClr val="C00000"/>
                </a:solidFill>
                <a:latin typeface="Times New Roman"/>
                <a:ea typeface="Times New Roman"/>
                <a:cs typeface="Times New Roman"/>
                <a:sym typeface="Times New Roman"/>
              </a:rPr>
              <a:t>Compartmentalization</a:t>
            </a:r>
            <a:r>
              <a:rPr b="0" i="1" lang="en-US" sz="1800">
                <a:solidFill>
                  <a:srgbClr val="242021"/>
                </a:solidFill>
                <a:latin typeface="Times New Roman"/>
                <a:ea typeface="Times New Roman"/>
                <a:cs typeface="Times New Roman"/>
                <a:sym typeface="Times New Roman"/>
              </a:rPr>
              <a:t>. </a:t>
            </a:r>
            <a:r>
              <a:rPr b="0" i="0" lang="en-US" sz="1800">
                <a:solidFill>
                  <a:srgbClr val="242021"/>
                </a:solidFill>
                <a:latin typeface="Times New Roman"/>
                <a:ea typeface="Times New Roman"/>
                <a:cs typeface="Times New Roman"/>
                <a:sym typeface="Times New Roman"/>
              </a:rPr>
              <a:t>The project must be compartmentalized into a number of manageable activities and tasks. To accomplish compartmentalization, both the product and the process are refined.</a:t>
            </a:r>
            <a:endParaRPr/>
          </a:p>
          <a:p>
            <a:pPr indent="-342900" lvl="0" marL="457200" rtl="0" algn="just">
              <a:lnSpc>
                <a:spcPct val="150000"/>
              </a:lnSpc>
              <a:spcBef>
                <a:spcPts val="1000"/>
              </a:spcBef>
              <a:spcAft>
                <a:spcPts val="0"/>
              </a:spcAft>
              <a:buSzPts val="1800"/>
              <a:buFont typeface="Arial"/>
              <a:buAutoNum type="arabicPeriod"/>
            </a:pPr>
            <a:r>
              <a:rPr b="1" i="1" lang="en-US" sz="1800">
                <a:solidFill>
                  <a:srgbClr val="C00000"/>
                </a:solidFill>
                <a:latin typeface="Times New Roman"/>
                <a:ea typeface="Times New Roman"/>
                <a:cs typeface="Times New Roman"/>
                <a:sym typeface="Times New Roman"/>
              </a:rPr>
              <a:t>Interdependency.</a:t>
            </a:r>
            <a:r>
              <a:rPr b="0" i="1" lang="en-US" sz="1800">
                <a:solidFill>
                  <a:srgbClr val="242021"/>
                </a:solidFill>
                <a:latin typeface="Times New Roman"/>
                <a:ea typeface="Times New Roman"/>
                <a:cs typeface="Times New Roman"/>
                <a:sym typeface="Times New Roman"/>
              </a:rPr>
              <a:t> </a:t>
            </a:r>
            <a:r>
              <a:rPr b="0" i="0" lang="en-US" sz="1800">
                <a:solidFill>
                  <a:srgbClr val="242021"/>
                </a:solidFill>
                <a:latin typeface="Times New Roman"/>
                <a:ea typeface="Times New Roman"/>
                <a:cs typeface="Times New Roman"/>
                <a:sym typeface="Times New Roman"/>
              </a:rPr>
              <a:t>The interdependency of each compartmentalized activity or task must be determined. Some tasks must occur in sequence, while others can occur in parallel. Some activities cannot commence until the work product produced by another is available. Other activities can occur independently.</a:t>
            </a:r>
            <a:endParaRPr/>
          </a:p>
          <a:p>
            <a:pPr indent="-342900" lvl="0" marL="457200" rtl="0" algn="just">
              <a:lnSpc>
                <a:spcPct val="150000"/>
              </a:lnSpc>
              <a:spcBef>
                <a:spcPts val="1000"/>
              </a:spcBef>
              <a:spcAft>
                <a:spcPts val="0"/>
              </a:spcAft>
              <a:buSzPts val="1800"/>
              <a:buFont typeface="Arial"/>
              <a:buAutoNum type="arabicPeriod"/>
            </a:pPr>
            <a:r>
              <a:rPr b="1" i="1" lang="en-US" sz="1800">
                <a:solidFill>
                  <a:srgbClr val="C00000"/>
                </a:solidFill>
                <a:latin typeface="Times New Roman"/>
                <a:ea typeface="Times New Roman"/>
                <a:cs typeface="Times New Roman"/>
                <a:sym typeface="Times New Roman"/>
              </a:rPr>
              <a:t>Time allocation. </a:t>
            </a:r>
            <a:r>
              <a:rPr b="0" i="0" lang="en-US" sz="1800">
                <a:solidFill>
                  <a:srgbClr val="242021"/>
                </a:solidFill>
                <a:latin typeface="Times New Roman"/>
                <a:ea typeface="Times New Roman"/>
                <a:cs typeface="Times New Roman"/>
                <a:sym typeface="Times New Roman"/>
              </a:rPr>
              <a:t>Each task to be scheduled must be allocated some number of work units (e.g., person-days of effort). In addition, each task must be assigned a start date and a completion date that are a function of the interdependencies and whether work will be conducted on a full-time or part-time basis.</a:t>
            </a:r>
            <a:endParaRPr/>
          </a:p>
          <a:p>
            <a:pPr indent="0" lvl="0" marL="0" rtl="0" algn="just">
              <a:lnSpc>
                <a:spcPct val="150000"/>
              </a:lnSpc>
              <a:spcBef>
                <a:spcPts val="1000"/>
              </a:spcBef>
              <a:spcAft>
                <a:spcPts val="0"/>
              </a:spcAft>
              <a:buSzPts val="1800"/>
              <a:buNone/>
            </a:pPr>
            <a:br>
              <a:rPr lang="en-US"/>
            </a:br>
            <a:r>
              <a:rPr lang="en-US">
                <a:solidFill>
                  <a:srgbClr val="303030"/>
                </a:solidFill>
              </a:rPr>
              <a:t> </a:t>
            </a:r>
            <a:br>
              <a:rPr lang="en-US"/>
            </a:br>
            <a:endParaRPr>
              <a:solidFill>
                <a:srgbClr val="30303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Project Scheduling Basic Principles (Conti.)</a:t>
            </a:r>
            <a:endParaRPr b="1">
              <a:latin typeface="Times"/>
              <a:ea typeface="Times"/>
              <a:cs typeface="Times"/>
              <a:sym typeface="Times"/>
            </a:endParaRPr>
          </a:p>
        </p:txBody>
      </p:sp>
      <p:sp>
        <p:nvSpPr>
          <p:cNvPr id="142" name="Google Shape;142;p1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43" name="Google Shape;143;p11"/>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44" name="Google Shape;144;p11"/>
          <p:cNvSpPr txBox="1"/>
          <p:nvPr>
            <p:ph idx="1" type="body"/>
          </p:nvPr>
        </p:nvSpPr>
        <p:spPr>
          <a:xfrm>
            <a:off x="371475" y="914040"/>
            <a:ext cx="8086725" cy="5715360"/>
          </a:xfrm>
          <a:prstGeom prst="rect">
            <a:avLst/>
          </a:prstGeom>
          <a:noFill/>
          <a:ln>
            <a:noFill/>
          </a:ln>
        </p:spPr>
        <p:txBody>
          <a:bodyPr anchorCtr="0" anchor="t" bIns="0" lIns="0" spcFirstLastPara="1" rIns="0" wrap="square" tIns="0">
            <a:normAutofit/>
          </a:bodyPr>
          <a:lstStyle/>
          <a:p>
            <a:pPr indent="-342900" lvl="0" marL="457200" rtl="0" algn="just">
              <a:lnSpc>
                <a:spcPct val="150000"/>
              </a:lnSpc>
              <a:spcBef>
                <a:spcPts val="1000"/>
              </a:spcBef>
              <a:spcAft>
                <a:spcPts val="0"/>
              </a:spcAft>
              <a:buSzPts val="1800"/>
              <a:buFont typeface="Arial"/>
              <a:buAutoNum type="arabicPeriod" startAt="4"/>
            </a:pPr>
            <a:r>
              <a:rPr b="1" i="1" lang="en-US" sz="1800">
                <a:solidFill>
                  <a:srgbClr val="C00000"/>
                </a:solidFill>
                <a:latin typeface="Times New Roman"/>
                <a:ea typeface="Times New Roman"/>
                <a:cs typeface="Times New Roman"/>
                <a:sym typeface="Times New Roman"/>
              </a:rPr>
              <a:t>Effort validation. </a:t>
            </a:r>
            <a:r>
              <a:rPr lang="en-US" sz="1800">
                <a:solidFill>
                  <a:srgbClr val="242021"/>
                </a:solidFill>
                <a:latin typeface="Times New Roman"/>
                <a:ea typeface="Times New Roman"/>
                <a:cs typeface="Times New Roman"/>
                <a:sym typeface="Times New Roman"/>
              </a:rPr>
              <a:t>Every project has a defined number of people on the software team. As time allocation occurs, you must ensure that no more than the allocated number of people have been scheduled at any given time. </a:t>
            </a:r>
            <a:endParaRPr/>
          </a:p>
          <a:p>
            <a:pPr indent="-342900" lvl="0" marL="457200" rtl="0" algn="just">
              <a:lnSpc>
                <a:spcPct val="150000"/>
              </a:lnSpc>
              <a:spcBef>
                <a:spcPts val="1000"/>
              </a:spcBef>
              <a:spcAft>
                <a:spcPts val="0"/>
              </a:spcAft>
              <a:buSzPts val="1800"/>
              <a:buFont typeface="Arial"/>
              <a:buAutoNum type="arabicPeriod" startAt="4"/>
            </a:pPr>
            <a:r>
              <a:rPr b="1" i="1" lang="en-US" sz="1800">
                <a:solidFill>
                  <a:srgbClr val="C00000"/>
                </a:solidFill>
                <a:latin typeface="Times New Roman"/>
                <a:ea typeface="Times New Roman"/>
                <a:cs typeface="Times New Roman"/>
                <a:sym typeface="Times New Roman"/>
              </a:rPr>
              <a:t>Defined responsibilities. </a:t>
            </a:r>
            <a:r>
              <a:rPr lang="en-US" sz="1800">
                <a:solidFill>
                  <a:srgbClr val="242021"/>
                </a:solidFill>
                <a:latin typeface="Times New Roman"/>
                <a:ea typeface="Times New Roman"/>
                <a:cs typeface="Times New Roman"/>
                <a:sym typeface="Times New Roman"/>
              </a:rPr>
              <a:t>Every task that is scheduled should be assigned to a specific team member.</a:t>
            </a:r>
            <a:endParaRPr/>
          </a:p>
          <a:p>
            <a:pPr indent="-342900" lvl="0" marL="457200" rtl="0" algn="just">
              <a:lnSpc>
                <a:spcPct val="150000"/>
              </a:lnSpc>
              <a:spcBef>
                <a:spcPts val="1000"/>
              </a:spcBef>
              <a:spcAft>
                <a:spcPts val="0"/>
              </a:spcAft>
              <a:buSzPts val="1800"/>
              <a:buFont typeface="Arial"/>
              <a:buAutoNum type="arabicPeriod" startAt="4"/>
            </a:pPr>
            <a:r>
              <a:rPr b="1" i="1" lang="en-US" sz="1800">
                <a:solidFill>
                  <a:srgbClr val="C00000"/>
                </a:solidFill>
                <a:latin typeface="Times New Roman"/>
                <a:ea typeface="Times New Roman"/>
                <a:cs typeface="Times New Roman"/>
                <a:sym typeface="Times New Roman"/>
              </a:rPr>
              <a:t>Defined outcomes</a:t>
            </a:r>
            <a:r>
              <a:rPr i="1" lang="en-US" sz="1800">
                <a:solidFill>
                  <a:srgbClr val="242021"/>
                </a:solidFill>
                <a:latin typeface="Times New Roman"/>
                <a:ea typeface="Times New Roman"/>
                <a:cs typeface="Times New Roman"/>
                <a:sym typeface="Times New Roman"/>
              </a:rPr>
              <a:t>. </a:t>
            </a:r>
            <a:r>
              <a:rPr lang="en-US" sz="1800">
                <a:solidFill>
                  <a:srgbClr val="242021"/>
                </a:solidFill>
                <a:latin typeface="Times New Roman"/>
                <a:ea typeface="Times New Roman"/>
                <a:cs typeface="Times New Roman"/>
                <a:sym typeface="Times New Roman"/>
              </a:rPr>
              <a:t>Every task that is scheduled should have a defined outcome. For software projects, the outcome is normally a work product (e.g., the design of a component) or a part of a work product. Work products are often combined in deliverables.</a:t>
            </a:r>
            <a:endParaRPr/>
          </a:p>
          <a:p>
            <a:pPr indent="-342900" lvl="0" marL="457200" rtl="0" algn="just">
              <a:lnSpc>
                <a:spcPct val="150000"/>
              </a:lnSpc>
              <a:spcBef>
                <a:spcPts val="1000"/>
              </a:spcBef>
              <a:spcAft>
                <a:spcPts val="0"/>
              </a:spcAft>
              <a:buSzPts val="1800"/>
              <a:buFont typeface="Arial"/>
              <a:buAutoNum type="arabicPeriod" startAt="4"/>
            </a:pPr>
            <a:r>
              <a:rPr b="1" i="1" lang="en-US" sz="1800">
                <a:solidFill>
                  <a:srgbClr val="C00000"/>
                </a:solidFill>
                <a:latin typeface="Times New Roman"/>
                <a:ea typeface="Times New Roman"/>
                <a:cs typeface="Times New Roman"/>
                <a:sym typeface="Times New Roman"/>
              </a:rPr>
              <a:t>Defined milestones. </a:t>
            </a:r>
            <a:r>
              <a:rPr lang="en-US" sz="1800">
                <a:solidFill>
                  <a:srgbClr val="242021"/>
                </a:solidFill>
                <a:latin typeface="Times New Roman"/>
                <a:ea typeface="Times New Roman"/>
                <a:cs typeface="Times New Roman"/>
                <a:sym typeface="Times New Roman"/>
              </a:rPr>
              <a:t>Every task or group of tasks should be associated with a project milestone. A milestone is accomplished when one or more work products has been reviewed for quality and has been approved.</a:t>
            </a:r>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Project Scheduling Techniques</a:t>
            </a:r>
            <a:endParaRPr/>
          </a:p>
        </p:txBody>
      </p:sp>
      <p:sp>
        <p:nvSpPr>
          <p:cNvPr id="150" name="Google Shape;150;p1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51" name="Google Shape;151;p12"/>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52" name="Google Shape;152;p12"/>
          <p:cNvSpPr/>
          <p:nvPr/>
        </p:nvSpPr>
        <p:spPr>
          <a:xfrm>
            <a:off x="371475" y="914040"/>
            <a:ext cx="8315325" cy="507831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1" i="1" lang="en-US" sz="1800" u="none" cap="none" strike="noStrike">
                <a:solidFill>
                  <a:srgbClr val="FF0000"/>
                </a:solidFill>
                <a:latin typeface="Times New Roman"/>
                <a:ea typeface="Times New Roman"/>
                <a:cs typeface="Times New Roman"/>
                <a:sym typeface="Times New Roman"/>
              </a:rPr>
              <a:t>1. Mathematical Analysis</a:t>
            </a:r>
            <a:endParaRPr/>
          </a:p>
          <a:p>
            <a:pPr indent="0" lvl="0" marL="114300" marR="0" rtl="0" algn="just">
              <a:lnSpc>
                <a:spcPct val="150000"/>
              </a:lnSpc>
              <a:spcBef>
                <a:spcPts val="0"/>
              </a:spcBef>
              <a:spcAft>
                <a:spcPts val="0"/>
              </a:spcAft>
              <a:buClr>
                <a:srgbClr val="000000"/>
              </a:buClr>
              <a:buSzPts val="1800"/>
              <a:buFont typeface="Arial"/>
              <a:buNone/>
            </a:pPr>
            <a:r>
              <a:rPr b="0" i="0" lang="en-US" sz="1800" u="none" cap="none" strike="noStrike">
                <a:solidFill>
                  <a:srgbClr val="3A30FA"/>
                </a:solidFill>
                <a:latin typeface="Times New Roman"/>
                <a:ea typeface="Times New Roman"/>
                <a:cs typeface="Times New Roman"/>
                <a:sym typeface="Times New Roman"/>
              </a:rPr>
              <a:t>i. Critical Path Method (CPM) </a:t>
            </a:r>
            <a:r>
              <a:rPr b="0" i="0" lang="en-US" sz="1800" u="none" cap="none" strike="noStrike">
                <a:solidFill>
                  <a:srgbClr val="000000"/>
                </a:solidFill>
                <a:latin typeface="Times New Roman"/>
                <a:ea typeface="Times New Roman"/>
                <a:cs typeface="Times New Roman"/>
                <a:sym typeface="Times New Roman"/>
              </a:rPr>
              <a:t>and </a:t>
            </a:r>
            <a:r>
              <a:rPr b="0" i="0" lang="en-US" sz="1800" u="none" cap="none" strike="noStrike">
                <a:solidFill>
                  <a:srgbClr val="3A30FA"/>
                </a:solidFill>
                <a:latin typeface="Times New Roman"/>
                <a:ea typeface="Times New Roman"/>
                <a:cs typeface="Times New Roman"/>
                <a:sym typeface="Times New Roman"/>
              </a:rPr>
              <a:t>Program Evaluation and Review Technique (PERT) </a:t>
            </a:r>
            <a:r>
              <a:rPr b="0" i="0" lang="en-US" sz="1800" u="none" cap="none" strike="noStrike">
                <a:solidFill>
                  <a:srgbClr val="000000"/>
                </a:solidFill>
                <a:latin typeface="Times New Roman"/>
                <a:ea typeface="Times New Roman"/>
                <a:cs typeface="Times New Roman"/>
                <a:sym typeface="Times New Roman"/>
              </a:rPr>
              <a:t>are the two most commonly used techniques by project managers. These methods are used to calculate the time span of the project through the scope of the project.</a:t>
            </a:r>
            <a:endParaRPr/>
          </a:p>
          <a:p>
            <a:pPr indent="0" lvl="0" marL="0" marR="0" rtl="0" algn="just">
              <a:lnSpc>
                <a:spcPct val="150000"/>
              </a:lnSpc>
              <a:spcBef>
                <a:spcPts val="0"/>
              </a:spcBef>
              <a:spcAft>
                <a:spcPts val="0"/>
              </a:spcAft>
              <a:buNone/>
            </a:pPr>
            <a:r>
              <a:rPr b="1" i="0" lang="en-US" sz="1800" u="none" cap="none" strike="noStrike">
                <a:solidFill>
                  <a:srgbClr val="3A30FA"/>
                </a:solidFill>
                <a:latin typeface="Times New Roman"/>
                <a:ea typeface="Times New Roman"/>
                <a:cs typeface="Times New Roman"/>
                <a:sym typeface="Times New Roman"/>
              </a:rPr>
              <a:t>Critical Path Method: </a:t>
            </a:r>
            <a:r>
              <a:rPr b="0" i="0" lang="en-US" sz="1800" u="none" cap="none" strike="noStrike">
                <a:solidFill>
                  <a:srgbClr val="000000"/>
                </a:solidFill>
                <a:latin typeface="Times New Roman"/>
                <a:ea typeface="Times New Roman"/>
                <a:cs typeface="Times New Roman"/>
                <a:sym typeface="Times New Roman"/>
              </a:rPr>
              <a:t>The Critical Path Method estimates the maximum and minimum time required to complete a project. </a:t>
            </a:r>
            <a:endParaRPr/>
          </a:p>
          <a:p>
            <a:pPr indent="0" lvl="0" marL="0" marR="0" rtl="0" algn="just">
              <a:lnSpc>
                <a:spcPct val="15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CPM also </a:t>
            </a:r>
            <a:r>
              <a:rPr b="1" i="0" lang="en-US" sz="1800" u="none" cap="none" strike="noStrike">
                <a:solidFill>
                  <a:srgbClr val="000000"/>
                </a:solidFill>
                <a:latin typeface="Times New Roman"/>
                <a:ea typeface="Times New Roman"/>
                <a:cs typeface="Times New Roman"/>
                <a:sym typeface="Times New Roman"/>
              </a:rPr>
              <a:t>helps to identify critical tasks that should be incorporated into a project</a:t>
            </a:r>
            <a:r>
              <a:rPr b="0" i="0" lang="en-US" sz="1800" u="none" cap="none" strike="noStrike">
                <a:solidFill>
                  <a:srgbClr val="000000"/>
                </a:solidFill>
                <a:latin typeface="Times New Roman"/>
                <a:ea typeface="Times New Roman"/>
                <a:cs typeface="Times New Roman"/>
                <a:sym typeface="Times New Roman"/>
              </a:rPr>
              <a:t>. Delivery time changes do not affect the schedule. </a:t>
            </a:r>
            <a:endParaRPr/>
          </a:p>
          <a:p>
            <a:pPr indent="0" lvl="0" marL="0" marR="0" rtl="0" algn="just">
              <a:lnSpc>
                <a:spcPct val="15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The </a:t>
            </a:r>
            <a:r>
              <a:rPr b="1" i="0" lang="en-US" sz="1800" u="none" cap="none" strike="noStrike">
                <a:solidFill>
                  <a:srgbClr val="000000"/>
                </a:solidFill>
                <a:latin typeface="Times New Roman"/>
                <a:ea typeface="Times New Roman"/>
                <a:cs typeface="Times New Roman"/>
                <a:sym typeface="Times New Roman"/>
              </a:rPr>
              <a:t>scope of the project and the list of activities </a:t>
            </a:r>
            <a:r>
              <a:rPr b="0" i="0" lang="en-US" sz="1800" u="none" cap="none" strike="noStrike">
                <a:solidFill>
                  <a:srgbClr val="000000"/>
                </a:solidFill>
                <a:latin typeface="Times New Roman"/>
                <a:ea typeface="Times New Roman"/>
                <a:cs typeface="Times New Roman"/>
                <a:sym typeface="Times New Roman"/>
              </a:rPr>
              <a:t>necessary for the completion of the project are needed for using CPM. Next, the time taken by each activity is calculated. </a:t>
            </a:r>
            <a:endParaRPr/>
          </a:p>
          <a:p>
            <a:pPr indent="0" lvl="0" marL="0" marR="0" rtl="0" algn="just">
              <a:lnSpc>
                <a:spcPct val="15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Then, all the dependent variables are identified. This helps in identifying and separating the independent variables. Finally, it adds milestones to the project.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Project Scheduling Techniques (Conti.)</a:t>
            </a:r>
            <a:endParaRPr b="1">
              <a:latin typeface="Times"/>
              <a:ea typeface="Times"/>
              <a:cs typeface="Times"/>
              <a:sym typeface="Times"/>
            </a:endParaRPr>
          </a:p>
        </p:txBody>
      </p:sp>
      <p:sp>
        <p:nvSpPr>
          <p:cNvPr id="158" name="Google Shape;158;p1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59" name="Google Shape;159;p13"/>
          <p:cNvSpPr txBox="1"/>
          <p:nvPr>
            <p:ph idx="1" type="body"/>
          </p:nvPr>
        </p:nvSpPr>
        <p:spPr>
          <a:xfrm>
            <a:off x="542924" y="887845"/>
            <a:ext cx="8143875" cy="5410200"/>
          </a:xfrm>
          <a:prstGeom prst="rect">
            <a:avLst/>
          </a:prstGeom>
          <a:noFill/>
          <a:ln>
            <a:noFill/>
          </a:ln>
        </p:spPr>
        <p:txBody>
          <a:bodyPr anchorCtr="0" anchor="t" bIns="0" lIns="0" spcFirstLastPara="1" rIns="0" wrap="square" tIns="0">
            <a:normAutofit/>
          </a:bodyPr>
          <a:lstStyle/>
          <a:p>
            <a:pPr indent="-514350" lvl="0" marL="514350" rtl="0" algn="just">
              <a:lnSpc>
                <a:spcPct val="90000"/>
              </a:lnSpc>
              <a:spcBef>
                <a:spcPts val="1000"/>
              </a:spcBef>
              <a:spcAft>
                <a:spcPts val="0"/>
              </a:spcAft>
              <a:buSzPts val="1800"/>
              <a:buFont typeface="Arial"/>
              <a:buAutoNum type="romanLcPeriod" startAt="2"/>
            </a:pPr>
            <a:r>
              <a:rPr b="1" lang="en-US" sz="1800">
                <a:solidFill>
                  <a:srgbClr val="3A30FA"/>
                </a:solidFill>
                <a:latin typeface="Times New Roman"/>
                <a:ea typeface="Times New Roman"/>
                <a:cs typeface="Times New Roman"/>
                <a:sym typeface="Times New Roman"/>
              </a:rPr>
              <a:t>Program Evaluation and Review Technique (PERT)</a:t>
            </a:r>
            <a:endParaRPr sz="1800">
              <a:latin typeface="Times New Roman"/>
              <a:ea typeface="Times New Roman"/>
              <a:cs typeface="Times New Roman"/>
              <a:sym typeface="Times New Roman"/>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PERT is a way to schedule the flow of tasks in a project and estimate the total time taken to complete it.</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This technique helps represent how each task is dependent on the other.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To schedule a project using PERT, one has to define activities, arrange them in an orderly manner and define milestones.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You can calculate timelines for a project on the basis of the level of confidence:</a:t>
            </a:r>
            <a:endParaRPr/>
          </a:p>
          <a:p>
            <a:pPr indent="-342900" lvl="1" marL="914400" rtl="0" algn="l">
              <a:lnSpc>
                <a:spcPct val="150000"/>
              </a:lnSpc>
              <a:spcBef>
                <a:spcPts val="500"/>
              </a:spcBef>
              <a:spcAft>
                <a:spcPts val="0"/>
              </a:spcAft>
              <a:buSzPts val="1800"/>
              <a:buChar char="•"/>
            </a:pPr>
            <a:r>
              <a:rPr lang="en-US" sz="1800">
                <a:latin typeface="Times New Roman"/>
                <a:ea typeface="Times New Roman"/>
                <a:cs typeface="Times New Roman"/>
                <a:sym typeface="Times New Roman"/>
              </a:rPr>
              <a:t>Optimistic timing</a:t>
            </a:r>
            <a:endParaRPr/>
          </a:p>
          <a:p>
            <a:pPr indent="-342900" lvl="1" marL="914400" rtl="0" algn="l">
              <a:lnSpc>
                <a:spcPct val="150000"/>
              </a:lnSpc>
              <a:spcBef>
                <a:spcPts val="500"/>
              </a:spcBef>
              <a:spcAft>
                <a:spcPts val="0"/>
              </a:spcAft>
              <a:buSzPts val="1800"/>
              <a:buChar char="•"/>
            </a:pPr>
            <a:r>
              <a:rPr lang="en-US" sz="1800">
                <a:latin typeface="Times New Roman"/>
                <a:ea typeface="Times New Roman"/>
                <a:cs typeface="Times New Roman"/>
                <a:sym typeface="Times New Roman"/>
              </a:rPr>
              <a:t>Most-likely timing</a:t>
            </a:r>
            <a:endParaRPr/>
          </a:p>
          <a:p>
            <a:pPr indent="-342900" lvl="1" marL="914400" rtl="0" algn="l">
              <a:lnSpc>
                <a:spcPct val="150000"/>
              </a:lnSpc>
              <a:spcBef>
                <a:spcPts val="500"/>
              </a:spcBef>
              <a:spcAft>
                <a:spcPts val="0"/>
              </a:spcAft>
              <a:buSzPts val="1800"/>
              <a:buChar char="•"/>
            </a:pPr>
            <a:r>
              <a:rPr lang="en-US" sz="1800">
                <a:latin typeface="Times New Roman"/>
                <a:ea typeface="Times New Roman"/>
                <a:cs typeface="Times New Roman"/>
                <a:sym typeface="Times New Roman"/>
              </a:rPr>
              <a:t>Pessimistic timing</a:t>
            </a:r>
            <a:endParaRPr/>
          </a:p>
          <a:p>
            <a:pPr indent="0" lvl="0" marL="0" rtl="0" algn="just">
              <a:lnSpc>
                <a:spcPct val="150000"/>
              </a:lnSpc>
              <a:spcBef>
                <a:spcPts val="1000"/>
              </a:spcBef>
              <a:spcAft>
                <a:spcPts val="0"/>
              </a:spcAft>
              <a:buSzPts val="1800"/>
              <a:buNone/>
            </a:pPr>
            <a:r>
              <a:t/>
            </a:r>
            <a:endParaRPr>
              <a:solidFill>
                <a:srgbClr val="30303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Project Scheduling Techniques (Conti.)</a:t>
            </a:r>
            <a:endParaRPr b="1">
              <a:latin typeface="Times"/>
              <a:ea typeface="Times"/>
              <a:cs typeface="Times"/>
              <a:sym typeface="Times"/>
            </a:endParaRPr>
          </a:p>
        </p:txBody>
      </p:sp>
      <p:sp>
        <p:nvSpPr>
          <p:cNvPr id="165" name="Google Shape;165;p1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66" name="Google Shape;166;p14"/>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67" name="Google Shape;167;p14"/>
          <p:cNvSpPr txBox="1"/>
          <p:nvPr>
            <p:ph idx="1" type="body"/>
          </p:nvPr>
        </p:nvSpPr>
        <p:spPr>
          <a:xfrm>
            <a:off x="357188" y="887844"/>
            <a:ext cx="8329612" cy="5741555"/>
          </a:xfrm>
          <a:prstGeom prst="rect">
            <a:avLst/>
          </a:prstGeom>
          <a:noFill/>
          <a:ln>
            <a:noFill/>
          </a:ln>
        </p:spPr>
        <p:txBody>
          <a:bodyPr anchorCtr="0" anchor="t" bIns="0" lIns="0" spcFirstLastPara="1" rIns="0" wrap="square" tIns="0">
            <a:normAutofit/>
          </a:bodyPr>
          <a:lstStyle/>
          <a:p>
            <a:pPr indent="0" lvl="0" marL="0" rtl="0" algn="just">
              <a:lnSpc>
                <a:spcPct val="150000"/>
              </a:lnSpc>
              <a:spcBef>
                <a:spcPts val="1000"/>
              </a:spcBef>
              <a:spcAft>
                <a:spcPts val="0"/>
              </a:spcAft>
              <a:buSzPts val="1800"/>
              <a:buNone/>
            </a:pPr>
            <a:r>
              <a:rPr b="1" lang="en-US" sz="1800">
                <a:solidFill>
                  <a:srgbClr val="FF0000"/>
                </a:solidFill>
                <a:latin typeface="Times New Roman"/>
                <a:ea typeface="Times New Roman"/>
                <a:cs typeface="Times New Roman"/>
                <a:sym typeface="Times New Roman"/>
              </a:rPr>
              <a:t>2. Duration Compression</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Duration compression </a:t>
            </a:r>
            <a:r>
              <a:rPr b="1" lang="en-US" sz="1800">
                <a:latin typeface="Times New Roman"/>
                <a:ea typeface="Times New Roman"/>
                <a:cs typeface="Times New Roman"/>
                <a:sym typeface="Times New Roman"/>
              </a:rPr>
              <a:t>helps to cut short a schedule </a:t>
            </a:r>
            <a:r>
              <a:rPr lang="en-US" sz="1800">
                <a:latin typeface="Times New Roman"/>
                <a:ea typeface="Times New Roman"/>
                <a:cs typeface="Times New Roman"/>
                <a:sym typeface="Times New Roman"/>
              </a:rPr>
              <a:t>if needed. It can adjust the set schedule by making changes without changing the scope in case, the project is running late. Two methodologies that can be applied: </a:t>
            </a:r>
            <a:endParaRPr/>
          </a:p>
          <a:p>
            <a:pPr indent="-400050" lvl="0" marL="400050" rtl="0" algn="just">
              <a:lnSpc>
                <a:spcPct val="150000"/>
              </a:lnSpc>
              <a:spcBef>
                <a:spcPts val="1000"/>
              </a:spcBef>
              <a:spcAft>
                <a:spcPts val="0"/>
              </a:spcAft>
              <a:buSzPts val="1800"/>
              <a:buFont typeface="Arial"/>
              <a:buAutoNum type="romanLcPeriod"/>
            </a:pPr>
            <a:r>
              <a:rPr b="1" lang="en-US" sz="1800">
                <a:solidFill>
                  <a:srgbClr val="3A30FA"/>
                </a:solidFill>
                <a:latin typeface="Times New Roman"/>
                <a:ea typeface="Times New Roman"/>
                <a:cs typeface="Times New Roman"/>
                <a:sym typeface="Times New Roman"/>
              </a:rPr>
              <a:t>Fast Tracking: </a:t>
            </a:r>
            <a:r>
              <a:rPr lang="en-US" sz="1800">
                <a:latin typeface="Times New Roman"/>
                <a:ea typeface="Times New Roman"/>
                <a:cs typeface="Times New Roman"/>
                <a:sym typeface="Times New Roman"/>
              </a:rPr>
              <a:t>Fast-tracking is another way to use CPM.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Fast-tracking finds ways to speed up the pace at which a project is being implemented by either </a:t>
            </a:r>
            <a:r>
              <a:rPr b="1" lang="en-US" sz="1800">
                <a:latin typeface="Times New Roman"/>
                <a:ea typeface="Times New Roman"/>
                <a:cs typeface="Times New Roman"/>
                <a:sym typeface="Times New Roman"/>
              </a:rPr>
              <a:t>simultaneously executing many tasks or by overlapping many tasks to each other.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CPM helps us identify activities that can be used to speed up the pace of the project. Although it is an appealing technique, it has its own share of risks too.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As many activities will be simultaneously implemented, it is highly to make mistakes and compromise on quality.</a:t>
            </a:r>
            <a:endParaRPr/>
          </a:p>
          <a:p>
            <a:pPr indent="0" lvl="0" marL="0" rtl="0" algn="just">
              <a:lnSpc>
                <a:spcPct val="150000"/>
              </a:lnSpc>
              <a:spcBef>
                <a:spcPts val="1000"/>
              </a:spcBef>
              <a:spcAft>
                <a:spcPts val="0"/>
              </a:spcAft>
              <a:buSzPts val="1800"/>
              <a:buNone/>
            </a:pPr>
            <a:r>
              <a:t/>
            </a:r>
            <a:endParaRPr sz="1800">
              <a:solidFill>
                <a:srgbClr val="30303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Project Scheduling Techniques (Conti.)</a:t>
            </a:r>
            <a:endParaRPr b="1">
              <a:latin typeface="Times"/>
              <a:ea typeface="Times"/>
              <a:cs typeface="Times"/>
              <a:sym typeface="Times"/>
            </a:endParaRPr>
          </a:p>
        </p:txBody>
      </p:sp>
      <p:sp>
        <p:nvSpPr>
          <p:cNvPr id="173" name="Google Shape;173;p1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74" name="Google Shape;174;p15"/>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75" name="Google Shape;175;p15"/>
          <p:cNvSpPr txBox="1"/>
          <p:nvPr>
            <p:ph idx="1" type="body"/>
          </p:nvPr>
        </p:nvSpPr>
        <p:spPr>
          <a:xfrm>
            <a:off x="300398" y="914040"/>
            <a:ext cx="8386402" cy="4910580"/>
          </a:xfrm>
          <a:prstGeom prst="rect">
            <a:avLst/>
          </a:prstGeom>
          <a:noFill/>
          <a:ln>
            <a:noFill/>
          </a:ln>
        </p:spPr>
        <p:txBody>
          <a:bodyPr anchorCtr="0" anchor="t" bIns="0" lIns="0" spcFirstLastPara="1" rIns="0" wrap="square" tIns="0">
            <a:normAutofit/>
          </a:bodyPr>
          <a:lstStyle/>
          <a:p>
            <a:pPr indent="-514350" lvl="0" marL="514350" rtl="0" algn="just">
              <a:lnSpc>
                <a:spcPct val="150000"/>
              </a:lnSpc>
              <a:spcBef>
                <a:spcPts val="1000"/>
              </a:spcBef>
              <a:spcAft>
                <a:spcPts val="0"/>
              </a:spcAft>
              <a:buSzPts val="1800"/>
              <a:buFont typeface="Arial"/>
              <a:buAutoNum type="romanLcPeriod" startAt="2"/>
            </a:pPr>
            <a:r>
              <a:rPr b="1" lang="en-US" sz="1800">
                <a:solidFill>
                  <a:srgbClr val="3A30FA"/>
                </a:solidFill>
                <a:latin typeface="Times New Roman"/>
                <a:ea typeface="Times New Roman"/>
                <a:cs typeface="Times New Roman"/>
                <a:sym typeface="Times New Roman"/>
              </a:rPr>
              <a:t>Crashing</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Crashing deals with involving </a:t>
            </a:r>
            <a:r>
              <a:rPr b="1" lang="en-US" sz="1800">
                <a:latin typeface="Times New Roman"/>
                <a:ea typeface="Times New Roman"/>
                <a:cs typeface="Times New Roman"/>
                <a:sym typeface="Times New Roman"/>
              </a:rPr>
              <a:t>more resources to finish the project on time</a:t>
            </a:r>
            <a:r>
              <a:rPr lang="en-US" sz="1800">
                <a:latin typeface="Times New Roman"/>
                <a:ea typeface="Times New Roman"/>
                <a:cs typeface="Times New Roman"/>
                <a:sym typeface="Times New Roman"/>
              </a:rPr>
              <a:t>. For this to happen, you need spare resources to be available at your disposal.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Need to </a:t>
            </a:r>
            <a:r>
              <a:rPr b="1" lang="en-US" sz="1800">
                <a:latin typeface="Times New Roman"/>
                <a:ea typeface="Times New Roman"/>
                <a:cs typeface="Times New Roman"/>
                <a:sym typeface="Times New Roman"/>
              </a:rPr>
              <a:t>add new team members to a project and limited divisibility of tasks </a:t>
            </a:r>
            <a:r>
              <a:rPr lang="en-US" sz="1800">
                <a:latin typeface="Times New Roman"/>
                <a:ea typeface="Times New Roman"/>
                <a:cs typeface="Times New Roman"/>
                <a:sym typeface="Times New Roman"/>
              </a:rPr>
              <a:t>leads to increase communication.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The crashing technique can also be used by adding time, paid overtime, but it should stay within the decided deadline.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It, unfortunately, leads to </a:t>
            </a:r>
            <a:r>
              <a:rPr b="1" lang="en-US" sz="1800">
                <a:latin typeface="Times New Roman"/>
                <a:ea typeface="Times New Roman"/>
                <a:cs typeface="Times New Roman"/>
                <a:sym typeface="Times New Roman"/>
              </a:rPr>
              <a:t>raising the cost of the project</a:t>
            </a:r>
            <a:r>
              <a:rPr lang="en-US" sz="1800">
                <a:latin typeface="Times New Roman"/>
                <a:ea typeface="Times New Roman"/>
                <a:cs typeface="Times New Roman"/>
                <a:sym typeface="Times New Roman"/>
              </a:rPr>
              <a:t>.</a:t>
            </a:r>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Project Scheduling Techniques (Conti.)</a:t>
            </a:r>
            <a:endParaRPr b="1">
              <a:latin typeface="Times"/>
              <a:ea typeface="Times"/>
              <a:cs typeface="Times"/>
              <a:sym typeface="Times"/>
            </a:endParaRPr>
          </a:p>
        </p:txBody>
      </p:sp>
      <p:sp>
        <p:nvSpPr>
          <p:cNvPr id="181" name="Google Shape;181;p1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82" name="Google Shape;182;p16"/>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83" name="Google Shape;183;p16"/>
          <p:cNvSpPr txBox="1"/>
          <p:nvPr>
            <p:ph idx="1" type="body"/>
          </p:nvPr>
        </p:nvSpPr>
        <p:spPr>
          <a:xfrm>
            <a:off x="385762" y="914039"/>
            <a:ext cx="8200665" cy="5458185"/>
          </a:xfrm>
          <a:prstGeom prst="rect">
            <a:avLst/>
          </a:prstGeom>
          <a:noFill/>
          <a:ln>
            <a:noFill/>
          </a:ln>
        </p:spPr>
        <p:txBody>
          <a:bodyPr anchorCtr="0" anchor="t" bIns="0" lIns="0" spcFirstLastPara="1" rIns="0" wrap="square" tIns="0">
            <a:normAutofit/>
          </a:bodyPr>
          <a:lstStyle/>
          <a:p>
            <a:pPr indent="0" lvl="0" marL="0" rtl="0" algn="just">
              <a:lnSpc>
                <a:spcPct val="150000"/>
              </a:lnSpc>
              <a:spcBef>
                <a:spcPts val="1000"/>
              </a:spcBef>
              <a:spcAft>
                <a:spcPts val="0"/>
              </a:spcAft>
              <a:buSzPts val="1800"/>
              <a:buNone/>
            </a:pPr>
            <a:r>
              <a:rPr b="1" lang="en-US" sz="1800">
                <a:solidFill>
                  <a:srgbClr val="FF0000"/>
                </a:solidFill>
                <a:latin typeface="Times New Roman"/>
                <a:ea typeface="Times New Roman"/>
                <a:cs typeface="Times New Roman"/>
                <a:sym typeface="Times New Roman"/>
              </a:rPr>
              <a:t>3. Task List</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The task list is the simplest project scheduling technique of all the techniques available.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Documented in a spreadsheet or word processor is the list of all possible tasks involved in a project.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This method is simple and the most popular of all methods.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It is very useful while implementing small projects.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But for large projects with numerous aspects to consider task list is not a feasible method.</a:t>
            </a:r>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Project Scheduling Techniques (Conti.)</a:t>
            </a:r>
            <a:endParaRPr b="1">
              <a:latin typeface="Times"/>
              <a:ea typeface="Times"/>
              <a:cs typeface="Times"/>
              <a:sym typeface="Times"/>
            </a:endParaRPr>
          </a:p>
        </p:txBody>
      </p:sp>
      <p:sp>
        <p:nvSpPr>
          <p:cNvPr id="189" name="Google Shape;189;p1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190" name="Google Shape;190;p17"/>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191" name="Google Shape;191;p17"/>
          <p:cNvSpPr txBox="1"/>
          <p:nvPr>
            <p:ph idx="1" type="body"/>
          </p:nvPr>
        </p:nvSpPr>
        <p:spPr>
          <a:xfrm>
            <a:off x="428985" y="1259280"/>
            <a:ext cx="8257815" cy="5024880"/>
          </a:xfrm>
          <a:prstGeom prst="rect">
            <a:avLst/>
          </a:prstGeom>
          <a:noFill/>
          <a:ln>
            <a:noFill/>
          </a:ln>
        </p:spPr>
        <p:txBody>
          <a:bodyPr anchorCtr="0" anchor="t" bIns="0" lIns="0" spcFirstLastPara="1" rIns="0" wrap="square" tIns="0">
            <a:normAutofit/>
          </a:bodyPr>
          <a:lstStyle/>
          <a:p>
            <a:pPr indent="0" lvl="0" marL="0" rtl="0" algn="just">
              <a:lnSpc>
                <a:spcPct val="150000"/>
              </a:lnSpc>
              <a:spcBef>
                <a:spcPts val="1000"/>
              </a:spcBef>
              <a:spcAft>
                <a:spcPts val="0"/>
              </a:spcAft>
              <a:buSzPts val="1800"/>
              <a:buNone/>
            </a:pPr>
            <a:r>
              <a:rPr b="1" lang="en-US" sz="1800">
                <a:solidFill>
                  <a:srgbClr val="FF0000"/>
                </a:solidFill>
                <a:latin typeface="Times New Roman"/>
                <a:ea typeface="Times New Roman"/>
                <a:cs typeface="Times New Roman"/>
                <a:sym typeface="Times New Roman"/>
              </a:rPr>
              <a:t>4. Gantt Chart</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For tracking progress and reporting purposes, the Gantt Chart is a visualization technique used in project management.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It is used by project managers most of the time </a:t>
            </a:r>
            <a:r>
              <a:rPr b="1" lang="en-US" sz="1800">
                <a:latin typeface="Times New Roman"/>
                <a:ea typeface="Times New Roman"/>
                <a:cs typeface="Times New Roman"/>
                <a:sym typeface="Times New Roman"/>
              </a:rPr>
              <a:t>to get an idea about the average time needed to finish a project.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A project schedule Gantt chart is a bar chart that represents key activities in sequence on the left vs time. </a:t>
            </a:r>
            <a:endParaRPr/>
          </a:p>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Each task is represented by a bar that reflects the start and date of the activity, and therefore its duration.</a:t>
            </a:r>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Project Scheduling Techniques (Conti.)</a:t>
            </a:r>
            <a:endParaRPr b="1">
              <a:latin typeface="Times"/>
              <a:ea typeface="Times"/>
              <a:cs typeface="Times"/>
              <a:sym typeface="Times"/>
            </a:endParaRPr>
          </a:p>
        </p:txBody>
      </p:sp>
      <p:sp>
        <p:nvSpPr>
          <p:cNvPr id="197" name="Google Shape;197;p1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pic>
        <p:nvPicPr>
          <p:cNvPr id="198" name="Google Shape;198;p18"/>
          <p:cNvPicPr preferRelativeResize="0"/>
          <p:nvPr/>
        </p:nvPicPr>
        <p:blipFill rotWithShape="1">
          <a:blip r:embed="rId3">
            <a:alphaModFix/>
          </a:blip>
          <a:srcRect b="0" l="0" r="0" t="23764"/>
          <a:stretch/>
        </p:blipFill>
        <p:spPr>
          <a:xfrm>
            <a:off x="533400" y="1676400"/>
            <a:ext cx="7924800" cy="4029816"/>
          </a:xfrm>
          <a:prstGeom prst="rect">
            <a:avLst/>
          </a:prstGeom>
          <a:noFill/>
          <a:ln>
            <a:noFill/>
          </a:ln>
        </p:spPr>
      </p:pic>
      <p:sp>
        <p:nvSpPr>
          <p:cNvPr id="199" name="Google Shape;199;p18"/>
          <p:cNvSpPr txBox="1"/>
          <p:nvPr/>
        </p:nvSpPr>
        <p:spPr>
          <a:xfrm>
            <a:off x="3141159" y="5942814"/>
            <a:ext cx="197361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Figure 1: Gantt Chart</a:t>
            </a:r>
            <a:endParaRPr b="1" i="0" sz="1400" u="none" cap="none" strike="noStrike">
              <a:solidFill>
                <a:srgbClr val="000000"/>
              </a:solidFill>
              <a:latin typeface="Arial"/>
              <a:ea typeface="Arial"/>
              <a:cs typeface="Arial"/>
              <a:sym typeface="Arial"/>
            </a:endParaRPr>
          </a:p>
        </p:txBody>
      </p:sp>
      <p:sp>
        <p:nvSpPr>
          <p:cNvPr id="200" name="Google Shape;200;p18"/>
          <p:cNvSpPr txBox="1"/>
          <p:nvPr>
            <p:ph idx="1" type="body"/>
          </p:nvPr>
        </p:nvSpPr>
        <p:spPr>
          <a:xfrm>
            <a:off x="300038" y="914040"/>
            <a:ext cx="8386402" cy="4667760"/>
          </a:xfrm>
          <a:prstGeom prst="rect">
            <a:avLst/>
          </a:prstGeom>
          <a:noFill/>
          <a:ln>
            <a:noFill/>
          </a:ln>
        </p:spPr>
        <p:txBody>
          <a:bodyPr anchorCtr="0" anchor="t" bIns="0" lIns="0" spcFirstLastPara="1" rIns="0" wrap="square" tIns="0">
            <a:normAutofit/>
          </a:bodyPr>
          <a:lstStyle/>
          <a:p>
            <a:pPr indent="-342900" lvl="0" marL="457200" rtl="0" algn="l">
              <a:lnSpc>
                <a:spcPct val="90000"/>
              </a:lnSpc>
              <a:spcBef>
                <a:spcPts val="1000"/>
              </a:spcBef>
              <a:spcAft>
                <a:spcPts val="0"/>
              </a:spcAft>
              <a:buClr>
                <a:schemeClr val="dk1"/>
              </a:buClr>
              <a:buSzPts val="1800"/>
              <a:buChar char="•"/>
            </a:pPr>
            <a:r>
              <a:rPr b="1" lang="en-US" sz="1800">
                <a:solidFill>
                  <a:srgbClr val="FF0000"/>
                </a:solidFill>
                <a:latin typeface="Times New Roman"/>
                <a:ea typeface="Times New Roman"/>
                <a:cs typeface="Times New Roman"/>
                <a:sym typeface="Times New Roman"/>
              </a:rPr>
              <a:t> Gantt Chart Example</a:t>
            </a:r>
            <a:endParaRPr sz="1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Project Scheduling Techniques (Conti.)</a:t>
            </a:r>
            <a:endParaRPr b="1">
              <a:latin typeface="Times"/>
              <a:ea typeface="Times"/>
              <a:cs typeface="Times"/>
              <a:sym typeface="Times"/>
            </a:endParaRPr>
          </a:p>
        </p:txBody>
      </p:sp>
      <p:sp>
        <p:nvSpPr>
          <p:cNvPr id="206" name="Google Shape;206;p1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207" name="Google Shape;207;p19"/>
          <p:cNvSpPr txBox="1"/>
          <p:nvPr>
            <p:ph idx="1" type="body"/>
          </p:nvPr>
        </p:nvSpPr>
        <p:spPr>
          <a:xfrm>
            <a:off x="76200" y="887845"/>
            <a:ext cx="2101424" cy="5410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1000"/>
              </a:spcBef>
              <a:spcAft>
                <a:spcPts val="0"/>
              </a:spcAft>
              <a:buSzPts val="1800"/>
              <a:buNone/>
            </a:pPr>
            <a:r>
              <a:t/>
            </a:r>
            <a:endParaRPr b="1" sz="2000"/>
          </a:p>
          <a:p>
            <a:pPr indent="0" lvl="0" marL="0" rtl="0" algn="l">
              <a:lnSpc>
                <a:spcPct val="90000"/>
              </a:lnSpc>
              <a:spcBef>
                <a:spcPts val="1000"/>
              </a:spcBef>
              <a:spcAft>
                <a:spcPts val="0"/>
              </a:spcAft>
              <a:buSzPts val="1800"/>
              <a:buNone/>
            </a:pPr>
            <a:r>
              <a:t/>
            </a:r>
            <a:endParaRPr b="1" sz="2000"/>
          </a:p>
          <a:p>
            <a:pPr indent="0" lvl="0" marL="0" rtl="0" algn="l">
              <a:lnSpc>
                <a:spcPct val="90000"/>
              </a:lnSpc>
              <a:spcBef>
                <a:spcPts val="1000"/>
              </a:spcBef>
              <a:spcAft>
                <a:spcPts val="0"/>
              </a:spcAft>
              <a:buSzPts val="1800"/>
              <a:buNone/>
            </a:pPr>
            <a:r>
              <a:t/>
            </a:r>
            <a:endParaRPr b="1" sz="2000"/>
          </a:p>
          <a:p>
            <a:pPr indent="0" lvl="0" marL="0" rtl="0" algn="l">
              <a:lnSpc>
                <a:spcPct val="90000"/>
              </a:lnSpc>
              <a:spcBef>
                <a:spcPts val="1000"/>
              </a:spcBef>
              <a:spcAft>
                <a:spcPts val="0"/>
              </a:spcAft>
              <a:buSzPts val="1800"/>
              <a:buNone/>
            </a:pPr>
            <a:r>
              <a:t/>
            </a:r>
            <a:endParaRPr b="1" sz="2000"/>
          </a:p>
          <a:p>
            <a:pPr indent="0" lvl="0" marL="0" rtl="0" algn="l">
              <a:lnSpc>
                <a:spcPct val="90000"/>
              </a:lnSpc>
              <a:spcBef>
                <a:spcPts val="1000"/>
              </a:spcBef>
              <a:spcAft>
                <a:spcPts val="0"/>
              </a:spcAft>
              <a:buSzPts val="1800"/>
              <a:buNone/>
            </a:pPr>
            <a:r>
              <a:t/>
            </a:r>
            <a:endParaRPr b="1" sz="2000"/>
          </a:p>
          <a:p>
            <a:pPr indent="0" lvl="0" marL="0" rtl="0" algn="l">
              <a:lnSpc>
                <a:spcPct val="90000"/>
              </a:lnSpc>
              <a:spcBef>
                <a:spcPts val="1000"/>
              </a:spcBef>
              <a:spcAft>
                <a:spcPts val="0"/>
              </a:spcAft>
              <a:buSzPts val="1800"/>
              <a:buNone/>
            </a:pPr>
            <a:r>
              <a:rPr b="1" lang="en-US" sz="1800">
                <a:latin typeface="Times New Roman"/>
                <a:ea typeface="Times New Roman"/>
                <a:cs typeface="Times New Roman"/>
                <a:sym typeface="Times New Roman"/>
              </a:rPr>
              <a:t>Gantt Chart Example for software project schedule</a:t>
            </a:r>
            <a:endParaRPr/>
          </a:p>
          <a:p>
            <a:pPr indent="0" lvl="0" marL="0" rtl="0" algn="l">
              <a:lnSpc>
                <a:spcPct val="150000"/>
              </a:lnSpc>
              <a:spcBef>
                <a:spcPts val="1000"/>
              </a:spcBef>
              <a:spcAft>
                <a:spcPts val="0"/>
              </a:spcAft>
              <a:buSzPts val="1800"/>
              <a:buNone/>
            </a:pPr>
            <a:br>
              <a:rPr lang="en-US" sz="1800"/>
            </a:br>
            <a:r>
              <a:rPr lang="en-US" sz="1800">
                <a:solidFill>
                  <a:srgbClr val="303030"/>
                </a:solidFill>
              </a:rPr>
              <a:t> </a:t>
            </a:r>
            <a:br>
              <a:rPr lang="en-US" sz="1800"/>
            </a:br>
            <a:endParaRPr sz="1800">
              <a:solidFill>
                <a:srgbClr val="303030"/>
              </a:solidFill>
            </a:endParaRPr>
          </a:p>
        </p:txBody>
      </p:sp>
      <p:pic>
        <p:nvPicPr>
          <p:cNvPr id="208" name="Google Shape;208;p19"/>
          <p:cNvPicPr preferRelativeResize="0"/>
          <p:nvPr/>
        </p:nvPicPr>
        <p:blipFill rotWithShape="1">
          <a:blip r:embed="rId3">
            <a:alphaModFix/>
          </a:blip>
          <a:srcRect b="0" l="0" r="0" t="0"/>
          <a:stretch/>
        </p:blipFill>
        <p:spPr>
          <a:xfrm>
            <a:off x="2177624" y="1130946"/>
            <a:ext cx="6616831" cy="4923997"/>
          </a:xfrm>
          <a:prstGeom prst="rect">
            <a:avLst/>
          </a:prstGeom>
          <a:noFill/>
          <a:ln>
            <a:noFill/>
          </a:ln>
        </p:spPr>
      </p:pic>
      <p:sp>
        <p:nvSpPr>
          <p:cNvPr id="209" name="Google Shape;209;p19"/>
          <p:cNvSpPr txBox="1"/>
          <p:nvPr/>
        </p:nvSpPr>
        <p:spPr>
          <a:xfrm>
            <a:off x="3191654" y="6271849"/>
            <a:ext cx="276069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Figure 2: Gantt Chart Example</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0"/>
          <p:cNvSpPr txBox="1"/>
          <p:nvPr>
            <p:ph type="title"/>
          </p:nvPr>
        </p:nvSpPr>
        <p:spPr>
          <a:xfrm>
            <a:off x="352540" y="30312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t>Top 10 Project Scheduling Tools</a:t>
            </a:r>
            <a:br>
              <a:rPr b="1" lang="en-US"/>
            </a:br>
            <a:endParaRPr/>
          </a:p>
        </p:txBody>
      </p:sp>
      <p:sp>
        <p:nvSpPr>
          <p:cNvPr id="215" name="Google Shape;215;p20"/>
          <p:cNvSpPr txBox="1"/>
          <p:nvPr>
            <p:ph idx="1" type="body"/>
          </p:nvPr>
        </p:nvSpPr>
        <p:spPr>
          <a:xfrm>
            <a:off x="352540" y="961582"/>
            <a:ext cx="8214952" cy="5282055"/>
          </a:xfrm>
          <a:prstGeom prst="rect">
            <a:avLst/>
          </a:prstGeom>
          <a:noFill/>
          <a:ln>
            <a:noFill/>
          </a:ln>
        </p:spPr>
        <p:txBody>
          <a:bodyPr anchorCtr="0" anchor="t" bIns="0" lIns="0" spcFirstLastPara="1" rIns="0" wrap="square" tIns="0">
            <a:normAutofit lnSpcReduction="10000"/>
          </a:bodyPr>
          <a:lstStyle/>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Microsoft Project</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Daily Activity Reporting and Tracking (DART)</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Monday.com</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ProjectManager.com</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SmartTask</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ProofHub</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Asana</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Wrike</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GanttPRO</a:t>
            </a:r>
            <a:endParaRPr sz="1800">
              <a:latin typeface="Times New Roman"/>
              <a:ea typeface="Times New Roman"/>
              <a:cs typeface="Times New Roman"/>
              <a:sym typeface="Times New Roman"/>
            </a:endParaRPr>
          </a:p>
          <a:p>
            <a:pPr indent="-342900" lvl="0" marL="457200" rtl="0" algn="l">
              <a:lnSpc>
                <a:spcPct val="150000"/>
              </a:lnSpc>
              <a:spcBef>
                <a:spcPts val="1000"/>
              </a:spcBef>
              <a:spcAft>
                <a:spcPts val="0"/>
              </a:spcAft>
              <a:buSzPts val="1800"/>
              <a:buChar char="•"/>
            </a:pPr>
            <a:r>
              <a:rPr b="1" lang="en-US" sz="1800">
                <a:latin typeface="Times New Roman"/>
                <a:ea typeface="Times New Roman"/>
                <a:cs typeface="Times New Roman"/>
                <a:sym typeface="Times New Roman"/>
              </a:rPr>
              <a:t>Zoho Projects</a:t>
            </a:r>
            <a:endParaRPr sz="18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a:latin typeface="Times"/>
                <a:ea typeface="Times"/>
                <a:cs typeface="Times"/>
                <a:sym typeface="Times"/>
              </a:rPr>
              <a:t>Earned Value Analysis</a:t>
            </a:r>
            <a:endParaRPr b="1">
              <a:latin typeface="Times"/>
              <a:ea typeface="Times"/>
              <a:cs typeface="Times"/>
              <a:sym typeface="Times"/>
            </a:endParaRPr>
          </a:p>
        </p:txBody>
      </p:sp>
      <p:sp>
        <p:nvSpPr>
          <p:cNvPr id="222" name="Google Shape;222;p2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223" name="Google Shape;223;p21"/>
          <p:cNvSpPr txBox="1"/>
          <p:nvPr>
            <p:ph idx="1" type="body"/>
          </p:nvPr>
        </p:nvSpPr>
        <p:spPr>
          <a:xfrm>
            <a:off x="0" y="667580"/>
            <a:ext cx="8886825" cy="6051297"/>
          </a:xfrm>
          <a:prstGeom prst="rect">
            <a:avLst/>
          </a:prstGeom>
          <a:noFill/>
          <a:ln>
            <a:noFill/>
          </a:ln>
        </p:spPr>
        <p:txBody>
          <a:bodyPr anchorCtr="0" anchor="t" bIns="0" lIns="0" spcFirstLastPara="1" rIns="0" wrap="square" tIns="0">
            <a:noAutofit/>
          </a:bodyPr>
          <a:lstStyle/>
          <a:p>
            <a:pPr indent="-342900" lvl="0" marL="457200" rtl="0" algn="just">
              <a:lnSpc>
                <a:spcPct val="100000"/>
              </a:lnSpc>
              <a:spcBef>
                <a:spcPts val="1000"/>
              </a:spcBef>
              <a:spcAft>
                <a:spcPts val="0"/>
              </a:spcAft>
              <a:buSzPts val="1800"/>
              <a:buChar char="•"/>
            </a:pPr>
            <a:r>
              <a:rPr lang="en-US" sz="1800">
                <a:solidFill>
                  <a:srgbClr val="C00000"/>
                </a:solidFill>
                <a:latin typeface="Times New Roman"/>
                <a:ea typeface="Times New Roman"/>
                <a:cs typeface="Times New Roman"/>
                <a:sym typeface="Times New Roman"/>
              </a:rPr>
              <a:t>What is Earn Value </a:t>
            </a:r>
            <a:endParaRPr/>
          </a:p>
          <a:p>
            <a:pPr indent="-342900" lvl="0" marL="457200" rtl="0" algn="just">
              <a:lnSpc>
                <a:spcPct val="100000"/>
              </a:lnSpc>
              <a:spcBef>
                <a:spcPts val="1000"/>
              </a:spcBef>
              <a:spcAft>
                <a:spcPts val="0"/>
              </a:spcAft>
              <a:buSzPts val="1800"/>
              <a:buFont typeface="Times New Roman"/>
              <a:buChar char="-"/>
            </a:pPr>
            <a:r>
              <a:rPr lang="en-US" sz="1800">
                <a:solidFill>
                  <a:schemeClr val="dk1"/>
                </a:solidFill>
                <a:latin typeface="Times New Roman"/>
                <a:ea typeface="Times New Roman"/>
                <a:cs typeface="Times New Roman"/>
                <a:sym typeface="Times New Roman"/>
              </a:rPr>
              <a:t>is a measure of progress</a:t>
            </a:r>
            <a:endParaRPr/>
          </a:p>
          <a:p>
            <a:pPr indent="-342900" lvl="0" marL="457200" rtl="0" algn="just">
              <a:lnSpc>
                <a:spcPct val="100000"/>
              </a:lnSpc>
              <a:spcBef>
                <a:spcPts val="1000"/>
              </a:spcBef>
              <a:spcAft>
                <a:spcPts val="0"/>
              </a:spcAft>
              <a:buSzPts val="1800"/>
              <a:buFont typeface="Times New Roman"/>
              <a:buChar char="-"/>
            </a:pPr>
            <a:r>
              <a:rPr lang="en-US" sz="1800">
                <a:solidFill>
                  <a:schemeClr val="dk1"/>
                </a:solidFill>
                <a:latin typeface="Times New Roman"/>
                <a:ea typeface="Times New Roman"/>
                <a:cs typeface="Times New Roman"/>
                <a:sym typeface="Times New Roman"/>
              </a:rPr>
              <a:t>Provides a quantitative indication of progress</a:t>
            </a:r>
            <a:endParaRPr/>
          </a:p>
          <a:p>
            <a:pPr indent="-342900" lvl="0" marL="457200" rtl="0" algn="just">
              <a:lnSpc>
                <a:spcPct val="100000"/>
              </a:lnSpc>
              <a:spcBef>
                <a:spcPts val="1000"/>
              </a:spcBef>
              <a:spcAft>
                <a:spcPts val="0"/>
              </a:spcAft>
              <a:buSzPts val="1800"/>
              <a:buFont typeface="Times New Roman"/>
              <a:buChar char="-"/>
            </a:pPr>
            <a:r>
              <a:rPr lang="en-US" sz="1800">
                <a:solidFill>
                  <a:schemeClr val="dk1"/>
                </a:solidFill>
                <a:latin typeface="Times New Roman"/>
                <a:ea typeface="Times New Roman"/>
                <a:cs typeface="Times New Roman"/>
                <a:sym typeface="Times New Roman"/>
              </a:rPr>
              <a:t>Enables us </a:t>
            </a:r>
            <a:r>
              <a:rPr b="1" lang="en-US" sz="1800">
                <a:solidFill>
                  <a:schemeClr val="dk1"/>
                </a:solidFill>
                <a:latin typeface="Times New Roman"/>
                <a:ea typeface="Times New Roman"/>
                <a:cs typeface="Times New Roman"/>
                <a:sym typeface="Times New Roman"/>
              </a:rPr>
              <a:t>to assess the “percentage of completeness” of a project </a:t>
            </a:r>
            <a:r>
              <a:rPr lang="en-US" sz="1800">
                <a:solidFill>
                  <a:schemeClr val="dk1"/>
                </a:solidFill>
                <a:latin typeface="Times New Roman"/>
                <a:ea typeface="Times New Roman"/>
                <a:cs typeface="Times New Roman"/>
                <a:sym typeface="Times New Roman"/>
              </a:rPr>
              <a:t>using quantitative analysis </a:t>
            </a:r>
            <a:r>
              <a:rPr lang="en-US" sz="1800">
                <a:solidFill>
                  <a:srgbClr val="242021"/>
                </a:solidFill>
                <a:latin typeface="Times New Roman"/>
                <a:ea typeface="Times New Roman"/>
                <a:cs typeface="Times New Roman"/>
                <a:sym typeface="Times New Roman"/>
              </a:rPr>
              <a:t>rather than rely on a gut feeling.</a:t>
            </a:r>
            <a:r>
              <a:rPr lang="en-US" sz="1800">
                <a:solidFill>
                  <a:srgbClr val="303030"/>
                </a:solidFill>
              </a:rPr>
              <a:t> </a:t>
            </a:r>
            <a:endParaRPr sz="1800">
              <a:solidFill>
                <a:schemeClr val="dk1"/>
              </a:solidFill>
              <a:latin typeface="Times New Roman"/>
              <a:ea typeface="Times New Roman"/>
              <a:cs typeface="Times New Roman"/>
              <a:sym typeface="Times New Roman"/>
            </a:endParaRPr>
          </a:p>
          <a:p>
            <a:pPr indent="-342900" lvl="0" marL="457200" rtl="0" algn="just">
              <a:lnSpc>
                <a:spcPct val="100000"/>
              </a:lnSpc>
              <a:spcBef>
                <a:spcPts val="1000"/>
              </a:spcBef>
              <a:spcAft>
                <a:spcPts val="0"/>
              </a:spcAft>
              <a:buSzPts val="1800"/>
              <a:buChar char="•"/>
            </a:pPr>
            <a:r>
              <a:rPr lang="en-US" sz="1800">
                <a:solidFill>
                  <a:srgbClr val="C00000"/>
                </a:solidFill>
                <a:latin typeface="Times New Roman"/>
                <a:ea typeface="Times New Roman"/>
                <a:cs typeface="Times New Roman"/>
                <a:sym typeface="Times New Roman"/>
              </a:rPr>
              <a:t>What is Earned Value Analysis(EVA)</a:t>
            </a:r>
            <a:endParaRPr/>
          </a:p>
          <a:p>
            <a:pPr indent="-342900" lvl="0" marL="457200" rtl="0" algn="just">
              <a:lnSpc>
                <a:spcPct val="100000"/>
              </a:lnSpc>
              <a:spcBef>
                <a:spcPts val="1000"/>
              </a:spcBef>
              <a:spcAft>
                <a:spcPts val="0"/>
              </a:spcAft>
              <a:buSzPts val="1800"/>
              <a:buFont typeface="Times New Roman"/>
              <a:buChar char="-"/>
            </a:pPr>
            <a:r>
              <a:rPr lang="en-US" sz="1800">
                <a:latin typeface="Times New Roman"/>
                <a:ea typeface="Times New Roman"/>
                <a:cs typeface="Times New Roman"/>
                <a:sym typeface="Times New Roman"/>
              </a:rPr>
              <a:t>is a quantitative technique </a:t>
            </a:r>
            <a:r>
              <a:rPr b="1" lang="en-US" sz="1800">
                <a:latin typeface="Times New Roman"/>
                <a:ea typeface="Times New Roman"/>
                <a:cs typeface="Times New Roman"/>
                <a:sym typeface="Times New Roman"/>
              </a:rPr>
              <a:t>for assessing progress</a:t>
            </a:r>
            <a:r>
              <a:rPr lang="en-US" sz="1800">
                <a:latin typeface="Times New Roman"/>
                <a:ea typeface="Times New Roman"/>
                <a:cs typeface="Times New Roman"/>
                <a:sym typeface="Times New Roman"/>
              </a:rPr>
              <a:t> as the software project team moves through the work tasks, allocated to the Project Schedule.</a:t>
            </a:r>
            <a:endParaRPr/>
          </a:p>
          <a:p>
            <a:pPr indent="-342900" lvl="0" marL="457200" rtl="0" algn="just">
              <a:lnSpc>
                <a:spcPct val="100000"/>
              </a:lnSpc>
              <a:spcBef>
                <a:spcPts val="1000"/>
              </a:spcBef>
              <a:spcAft>
                <a:spcPts val="0"/>
              </a:spcAft>
              <a:buSzPts val="1800"/>
              <a:buChar char="•"/>
            </a:pPr>
            <a:r>
              <a:rPr lang="en-US" sz="1800">
                <a:latin typeface="Times New Roman"/>
                <a:ea typeface="Times New Roman"/>
                <a:cs typeface="Times New Roman"/>
                <a:sym typeface="Times New Roman"/>
              </a:rPr>
              <a:t>Total hours to complete the project are estimated and every task is given an Earned Value, based on its estimated (%) of the total.</a:t>
            </a:r>
            <a:endParaRPr/>
          </a:p>
          <a:p>
            <a:pPr indent="0" lvl="0" marL="114300" rtl="0" algn="just">
              <a:lnSpc>
                <a:spcPct val="100000"/>
              </a:lnSpc>
              <a:spcBef>
                <a:spcPts val="1000"/>
              </a:spcBef>
              <a:spcAft>
                <a:spcPts val="0"/>
              </a:spcAft>
              <a:buSzPts val="1800"/>
              <a:buNone/>
            </a:pPr>
            <a:r>
              <a:t/>
            </a:r>
            <a:endParaRPr sz="1800">
              <a:latin typeface="Times New Roman"/>
              <a:ea typeface="Times New Roman"/>
              <a:cs typeface="Times New Roman"/>
              <a:sym typeface="Times New Roman"/>
            </a:endParaRPr>
          </a:p>
          <a:p>
            <a:pPr indent="-328613" lvl="0" marL="442913" rtl="0" algn="just">
              <a:lnSpc>
                <a:spcPct val="100000"/>
              </a:lnSpc>
              <a:spcBef>
                <a:spcPts val="1000"/>
              </a:spcBef>
              <a:spcAft>
                <a:spcPts val="0"/>
              </a:spcAft>
              <a:buSzPts val="1800"/>
              <a:buNone/>
            </a:pPr>
            <a:r>
              <a:rPr b="1" lang="en-US" sz="1800"/>
              <a:t>       “</a:t>
            </a:r>
            <a:r>
              <a:rPr b="1" lang="en-US" sz="1800">
                <a:solidFill>
                  <a:schemeClr val="dk2"/>
                </a:solidFill>
                <a:latin typeface="Times New Roman"/>
                <a:ea typeface="Times New Roman"/>
                <a:cs typeface="Times New Roman"/>
                <a:sym typeface="Times New Roman"/>
              </a:rPr>
              <a:t>Earned Value Analysis (EVA)</a:t>
            </a:r>
            <a:r>
              <a:rPr lang="en-US" sz="1800">
                <a:solidFill>
                  <a:schemeClr val="dk2"/>
                </a:solidFill>
                <a:latin typeface="Times New Roman"/>
                <a:ea typeface="Times New Roman"/>
                <a:cs typeface="Times New Roman"/>
                <a:sym typeface="Times New Roman"/>
              </a:rPr>
              <a:t> is a </a:t>
            </a:r>
            <a:r>
              <a:rPr lang="en-US" sz="1800" u="sng">
                <a:solidFill>
                  <a:schemeClr val="dk2"/>
                </a:solidFill>
                <a:latin typeface="Times New Roman"/>
                <a:ea typeface="Times New Roman"/>
                <a:cs typeface="Times New Roman"/>
                <a:sym typeface="Times New Roman"/>
                <a:hlinkClick r:id="rId3">
                  <a:extLst>
                    <a:ext uri="{A12FA001-AC4F-418D-AE19-62706E023703}">
                      <ahyp:hlinkClr val="tx"/>
                    </a:ext>
                  </a:extLst>
                </a:hlinkClick>
              </a:rPr>
              <a:t>project management</a:t>
            </a:r>
            <a:r>
              <a:rPr lang="en-US" sz="1800">
                <a:solidFill>
                  <a:schemeClr val="dk2"/>
                </a:solidFill>
                <a:latin typeface="Times New Roman"/>
                <a:ea typeface="Times New Roman"/>
                <a:cs typeface="Times New Roman"/>
                <a:sym typeface="Times New Roman"/>
              </a:rPr>
              <a:t> technique used to measure project performance by comparing the planned progress with actual progress. It integrates scope, schedule, and cost data to provide a clear picture of project health”</a:t>
            </a:r>
            <a:endParaRPr/>
          </a:p>
          <a:p>
            <a:pPr indent="-328613" lvl="0" marL="442913" rtl="0" algn="just">
              <a:lnSpc>
                <a:spcPct val="100000"/>
              </a:lnSpc>
              <a:spcBef>
                <a:spcPts val="1000"/>
              </a:spcBef>
              <a:spcAft>
                <a:spcPts val="0"/>
              </a:spcAft>
              <a:buSzPts val="1800"/>
              <a:buNone/>
            </a:pPr>
            <a:r>
              <a:t/>
            </a:r>
            <a:endParaRPr sz="1800">
              <a:solidFill>
                <a:schemeClr val="dk2"/>
              </a:solidFill>
              <a:latin typeface="Times New Roman"/>
              <a:ea typeface="Times New Roman"/>
              <a:cs typeface="Times New Roman"/>
              <a:sym typeface="Times New Roman"/>
            </a:endParaRPr>
          </a:p>
          <a:p>
            <a:pPr indent="-342900" lvl="0" marL="457200" rtl="0" algn="just">
              <a:lnSpc>
                <a:spcPct val="10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The </a:t>
            </a:r>
            <a:r>
              <a:rPr b="0" i="0" lang="en-US" sz="1800">
                <a:solidFill>
                  <a:srgbClr val="C00000"/>
                </a:solidFill>
                <a:latin typeface="Times New Roman"/>
                <a:ea typeface="Times New Roman"/>
                <a:cs typeface="Times New Roman"/>
                <a:sym typeface="Times New Roman"/>
              </a:rPr>
              <a:t>earned value system </a:t>
            </a:r>
            <a:r>
              <a:rPr b="0" i="0" lang="en-US" sz="1800">
                <a:solidFill>
                  <a:srgbClr val="242021"/>
                </a:solidFill>
                <a:latin typeface="Times New Roman"/>
                <a:ea typeface="Times New Roman"/>
                <a:cs typeface="Times New Roman"/>
                <a:sym typeface="Times New Roman"/>
              </a:rPr>
              <a:t>provides a common value scale for every [software project] task, regardless of the type of work being performed.</a:t>
            </a:r>
            <a:r>
              <a:rPr lang="en-US" sz="1800">
                <a:solidFill>
                  <a:srgbClr val="242021"/>
                </a:solidFill>
                <a:latin typeface="Times New Roman"/>
                <a:ea typeface="Times New Roman"/>
                <a:cs typeface="Times New Roman"/>
                <a:sym typeface="Times New Roman"/>
              </a:rPr>
              <a:t> </a:t>
            </a:r>
            <a:endParaRPr sz="1800">
              <a:solidFill>
                <a:srgbClr val="242021"/>
              </a:solidFill>
              <a:latin typeface="Times New Roman"/>
              <a:ea typeface="Times New Roman"/>
              <a:cs typeface="Times New Roman"/>
              <a:sym typeface="Times New Roman"/>
            </a:endParaRPr>
          </a:p>
          <a:p>
            <a:pPr indent="0" lvl="0" marL="114300" rtl="0" algn="just">
              <a:lnSpc>
                <a:spcPct val="100000"/>
              </a:lnSpc>
              <a:spcBef>
                <a:spcPts val="1000"/>
              </a:spcBef>
              <a:spcAft>
                <a:spcPts val="0"/>
              </a:spcAft>
              <a:buSzPts val="1800"/>
              <a:buNone/>
            </a:pPr>
            <a:br>
              <a:rPr lang="en-US" sz="1800"/>
            </a:br>
            <a:endParaRPr sz="1800">
              <a:solidFill>
                <a:srgbClr val="30303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Earned Value Analysis (Conti.)</a:t>
            </a:r>
            <a:endParaRPr b="1">
              <a:latin typeface="Times"/>
              <a:ea typeface="Times"/>
              <a:cs typeface="Times"/>
              <a:sym typeface="Times"/>
            </a:endParaRPr>
          </a:p>
        </p:txBody>
      </p:sp>
      <p:sp>
        <p:nvSpPr>
          <p:cNvPr id="230" name="Google Shape;230;p2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231" name="Google Shape;231;p22"/>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232" name="Google Shape;232;p22"/>
          <p:cNvSpPr txBox="1"/>
          <p:nvPr>
            <p:ph idx="1" type="body"/>
          </p:nvPr>
        </p:nvSpPr>
        <p:spPr>
          <a:xfrm>
            <a:off x="228600" y="1447800"/>
            <a:ext cx="8534400" cy="5410200"/>
          </a:xfrm>
          <a:prstGeom prst="rect">
            <a:avLst/>
          </a:prstGeom>
          <a:noFill/>
          <a:ln>
            <a:noFill/>
          </a:ln>
        </p:spPr>
        <p:txBody>
          <a:bodyPr anchorCtr="0" anchor="t" bIns="0" lIns="0" spcFirstLastPara="1" rIns="0" wrap="square" tIns="0">
            <a:normAutofit/>
          </a:bodyPr>
          <a:lstStyle/>
          <a:p>
            <a:pPr indent="-342900" lvl="0" marL="457200" rtl="0" algn="just">
              <a:lnSpc>
                <a:spcPct val="150000"/>
              </a:lnSpc>
              <a:spcBef>
                <a:spcPts val="1000"/>
              </a:spcBef>
              <a:spcAft>
                <a:spcPts val="0"/>
              </a:spcAft>
              <a:buSzPts val="1800"/>
              <a:buChar char="•"/>
            </a:pPr>
            <a:r>
              <a:rPr lang="en-US" sz="1800">
                <a:latin typeface="Times New Roman"/>
                <a:ea typeface="Times New Roman"/>
                <a:cs typeface="Times New Roman"/>
                <a:sym typeface="Times New Roman"/>
              </a:rPr>
              <a:t> </a:t>
            </a:r>
            <a:r>
              <a:rPr b="1" lang="en-US" sz="1800">
                <a:solidFill>
                  <a:srgbClr val="C00000"/>
                </a:solidFill>
                <a:latin typeface="Times New Roman"/>
                <a:ea typeface="Times New Roman"/>
                <a:cs typeface="Times New Roman"/>
                <a:sym typeface="Times New Roman"/>
              </a:rPr>
              <a:t>Planned Value (PV)</a:t>
            </a:r>
            <a:r>
              <a:rPr lang="en-US" sz="1800">
                <a:solidFill>
                  <a:srgbClr val="C00000"/>
                </a:solidFill>
                <a:latin typeface="Times New Roman"/>
                <a:ea typeface="Times New Roman"/>
                <a:cs typeface="Times New Roman"/>
                <a:sym typeface="Times New Roman"/>
              </a:rPr>
              <a:t> – </a:t>
            </a:r>
            <a:r>
              <a:rPr lang="en-US" sz="1800">
                <a:latin typeface="Times New Roman"/>
                <a:ea typeface="Times New Roman"/>
                <a:cs typeface="Times New Roman"/>
                <a:sym typeface="Times New Roman"/>
              </a:rPr>
              <a:t>The approved cost baseline for the work package. It was earlier known as Budgeted Cost of Work Scheduled (BCWS).</a:t>
            </a:r>
            <a:endParaRPr b="1" sz="1800">
              <a:latin typeface="Times New Roman"/>
              <a:ea typeface="Times New Roman"/>
              <a:cs typeface="Times New Roman"/>
              <a:sym typeface="Times New Roman"/>
            </a:endParaRPr>
          </a:p>
          <a:p>
            <a:pPr indent="-342900" lvl="0" marL="457200" rtl="0" algn="just">
              <a:lnSpc>
                <a:spcPct val="150000"/>
              </a:lnSpc>
              <a:spcBef>
                <a:spcPts val="1000"/>
              </a:spcBef>
              <a:spcAft>
                <a:spcPts val="0"/>
              </a:spcAft>
              <a:buSzPts val="1800"/>
              <a:buChar char="•"/>
            </a:pPr>
            <a:r>
              <a:rPr b="1" lang="en-US" sz="1800">
                <a:solidFill>
                  <a:srgbClr val="C00000"/>
                </a:solidFill>
                <a:latin typeface="Times New Roman"/>
                <a:ea typeface="Times New Roman"/>
                <a:cs typeface="Times New Roman"/>
                <a:sym typeface="Times New Roman"/>
              </a:rPr>
              <a:t>Earned Value (EV)</a:t>
            </a:r>
            <a:r>
              <a:rPr lang="en-US" sz="1800">
                <a:solidFill>
                  <a:srgbClr val="C00000"/>
                </a:solidFill>
                <a:latin typeface="Times New Roman"/>
                <a:ea typeface="Times New Roman"/>
                <a:cs typeface="Times New Roman"/>
                <a:sym typeface="Times New Roman"/>
              </a:rPr>
              <a:t> – </a:t>
            </a:r>
            <a:r>
              <a:rPr lang="en-US" sz="1800">
                <a:latin typeface="Times New Roman"/>
                <a:ea typeface="Times New Roman"/>
                <a:cs typeface="Times New Roman"/>
                <a:sym typeface="Times New Roman"/>
              </a:rPr>
              <a:t>The budgeted value of the completed work packages. It used to be known as Budgeted Cost of Work Performance at a specified point (BCWP).</a:t>
            </a:r>
            <a:endParaRPr b="1" sz="1800">
              <a:latin typeface="Times New Roman"/>
              <a:ea typeface="Times New Roman"/>
              <a:cs typeface="Times New Roman"/>
              <a:sym typeface="Times New Roman"/>
            </a:endParaRPr>
          </a:p>
          <a:p>
            <a:pPr indent="-342900" lvl="0" marL="457200" rtl="0" algn="just">
              <a:lnSpc>
                <a:spcPct val="150000"/>
              </a:lnSpc>
              <a:spcBef>
                <a:spcPts val="1000"/>
              </a:spcBef>
              <a:spcAft>
                <a:spcPts val="0"/>
              </a:spcAft>
              <a:buSzPts val="1800"/>
              <a:buChar char="•"/>
            </a:pPr>
            <a:r>
              <a:rPr b="1" lang="en-US" sz="1800">
                <a:solidFill>
                  <a:srgbClr val="C00000"/>
                </a:solidFill>
                <a:latin typeface="Times New Roman"/>
                <a:ea typeface="Times New Roman"/>
                <a:cs typeface="Times New Roman"/>
                <a:sym typeface="Times New Roman"/>
              </a:rPr>
              <a:t>Actual Cost (AC)</a:t>
            </a:r>
            <a:r>
              <a:rPr lang="en-US" sz="1800">
                <a:solidFill>
                  <a:srgbClr val="C00000"/>
                </a:solidFill>
                <a:latin typeface="Times New Roman"/>
                <a:ea typeface="Times New Roman"/>
                <a:cs typeface="Times New Roman"/>
                <a:sym typeface="Times New Roman"/>
              </a:rPr>
              <a:t> – </a:t>
            </a:r>
            <a:r>
              <a:rPr lang="en-US" sz="1800">
                <a:latin typeface="Times New Roman"/>
                <a:ea typeface="Times New Roman"/>
                <a:cs typeface="Times New Roman"/>
                <a:sym typeface="Times New Roman"/>
              </a:rPr>
              <a:t>The actual cost incurred during the execution of work packages up to a specified point in time. It was previously called Actual Cost of Work Performed (ACWP).</a:t>
            </a:r>
            <a:endParaRPr/>
          </a:p>
          <a:p>
            <a:pPr indent="0" lvl="0" marL="0" rtl="0" algn="just">
              <a:lnSpc>
                <a:spcPct val="150000"/>
              </a:lnSpc>
              <a:spcBef>
                <a:spcPts val="1000"/>
              </a:spcBef>
              <a:spcAft>
                <a:spcPts val="0"/>
              </a:spcAft>
              <a:buSzPts val="1800"/>
              <a:buNone/>
            </a:pPr>
            <a:br>
              <a:rPr lang="en-US" sz="1800"/>
            </a:br>
            <a:br>
              <a:rPr lang="en-US" sz="1800"/>
            </a:br>
            <a:r>
              <a:rPr lang="en-US" sz="1800">
                <a:solidFill>
                  <a:srgbClr val="303030"/>
                </a:solidFill>
              </a:rPr>
              <a:t> </a:t>
            </a:r>
            <a:br>
              <a:rPr lang="en-US" sz="1800"/>
            </a:br>
            <a:endParaRPr sz="1800">
              <a:solidFill>
                <a:srgbClr val="30303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Earned Value Computing – Steps (Conti.)</a:t>
            </a:r>
            <a:endParaRPr/>
          </a:p>
        </p:txBody>
      </p:sp>
      <p:sp>
        <p:nvSpPr>
          <p:cNvPr id="238" name="Google Shape;238;p23"/>
          <p:cNvSpPr txBox="1"/>
          <p:nvPr>
            <p:ph idx="1" type="body"/>
          </p:nvPr>
        </p:nvSpPr>
        <p:spPr>
          <a:xfrm>
            <a:off x="352540" y="914040"/>
            <a:ext cx="8281570" cy="5442480"/>
          </a:xfrm>
          <a:prstGeom prst="rect">
            <a:avLst/>
          </a:prstGeom>
          <a:noFill/>
          <a:ln>
            <a:noFill/>
          </a:ln>
        </p:spPr>
        <p:txBody>
          <a:bodyPr anchorCtr="0" anchor="t" bIns="0" lIns="0" spcFirstLastPara="1" rIns="0" wrap="square" tIns="0">
            <a:normAutofit/>
          </a:bodyPr>
          <a:lstStyle/>
          <a:p>
            <a:pPr indent="-342900" lvl="0" marL="457200" rtl="0" algn="just">
              <a:lnSpc>
                <a:spcPct val="150000"/>
              </a:lnSpc>
              <a:spcBef>
                <a:spcPts val="1000"/>
              </a:spcBef>
              <a:spcAft>
                <a:spcPts val="0"/>
              </a:spcAft>
              <a:buSzPts val="1800"/>
              <a:buFont typeface="Arial"/>
              <a:buAutoNum type="arabicPeriod"/>
            </a:pPr>
            <a:r>
              <a:rPr lang="en-US" sz="1800">
                <a:solidFill>
                  <a:srgbClr val="242021"/>
                </a:solidFill>
                <a:latin typeface="Times New Roman"/>
                <a:ea typeface="Times New Roman"/>
                <a:cs typeface="Times New Roman"/>
                <a:sym typeface="Times New Roman"/>
              </a:rPr>
              <a:t>The </a:t>
            </a:r>
            <a:r>
              <a:rPr i="1" lang="en-US" sz="1800">
                <a:solidFill>
                  <a:srgbClr val="C00000"/>
                </a:solidFill>
                <a:latin typeface="Times New Roman"/>
                <a:ea typeface="Times New Roman"/>
                <a:cs typeface="Times New Roman"/>
                <a:sym typeface="Times New Roman"/>
              </a:rPr>
              <a:t>budgeted cost of work scheduled </a:t>
            </a:r>
            <a:r>
              <a:rPr lang="en-US" sz="1800">
                <a:solidFill>
                  <a:srgbClr val="C00000"/>
                </a:solidFill>
                <a:latin typeface="Times New Roman"/>
                <a:ea typeface="Times New Roman"/>
                <a:cs typeface="Times New Roman"/>
                <a:sym typeface="Times New Roman"/>
              </a:rPr>
              <a:t>(BCWS) </a:t>
            </a:r>
            <a:r>
              <a:rPr lang="en-US" sz="1800">
                <a:solidFill>
                  <a:srgbClr val="242021"/>
                </a:solidFill>
                <a:latin typeface="Times New Roman"/>
                <a:ea typeface="Times New Roman"/>
                <a:cs typeface="Times New Roman"/>
                <a:sym typeface="Times New Roman"/>
              </a:rPr>
              <a:t>is determined for each work task represented in the schedule. During estimation, the work (in person-hours or person-days) of each software engineering task is planned. Hence, </a:t>
            </a:r>
            <a:r>
              <a:rPr i="1" lang="en-US" sz="1800">
                <a:solidFill>
                  <a:srgbClr val="242021"/>
                </a:solidFill>
                <a:latin typeface="Times New Roman"/>
                <a:ea typeface="Times New Roman"/>
                <a:cs typeface="Times New Roman"/>
                <a:sym typeface="Times New Roman"/>
              </a:rPr>
              <a:t>BCWS</a:t>
            </a:r>
            <a:r>
              <a:rPr baseline="-25000" i="1" lang="en-US" sz="1800">
                <a:solidFill>
                  <a:srgbClr val="242021"/>
                </a:solidFill>
                <a:latin typeface="Times New Roman"/>
                <a:ea typeface="Times New Roman"/>
                <a:cs typeface="Times New Roman"/>
                <a:sym typeface="Times New Roman"/>
              </a:rPr>
              <a:t>i</a:t>
            </a:r>
            <a:r>
              <a:rPr i="1" lang="en-US" sz="1800">
                <a:solidFill>
                  <a:srgbClr val="242021"/>
                </a:solidFill>
                <a:latin typeface="Times New Roman"/>
                <a:ea typeface="Times New Roman"/>
                <a:cs typeface="Times New Roman"/>
                <a:sym typeface="Times New Roman"/>
              </a:rPr>
              <a:t> </a:t>
            </a:r>
            <a:r>
              <a:rPr lang="en-US" sz="1800">
                <a:solidFill>
                  <a:srgbClr val="242021"/>
                </a:solidFill>
                <a:latin typeface="Times New Roman"/>
                <a:ea typeface="Times New Roman"/>
                <a:cs typeface="Times New Roman"/>
                <a:sym typeface="Times New Roman"/>
              </a:rPr>
              <a:t>is the effort planned for work task </a:t>
            </a:r>
            <a:r>
              <a:rPr i="1" lang="en-US" sz="1800">
                <a:solidFill>
                  <a:srgbClr val="242021"/>
                </a:solidFill>
                <a:latin typeface="Times New Roman"/>
                <a:ea typeface="Times New Roman"/>
                <a:cs typeface="Times New Roman"/>
                <a:sym typeface="Times New Roman"/>
              </a:rPr>
              <a:t>i. </a:t>
            </a:r>
            <a:r>
              <a:rPr lang="en-US" sz="1800">
                <a:solidFill>
                  <a:srgbClr val="242021"/>
                </a:solidFill>
                <a:latin typeface="Times New Roman"/>
                <a:ea typeface="Times New Roman"/>
                <a:cs typeface="Times New Roman"/>
                <a:sym typeface="Times New Roman"/>
              </a:rPr>
              <a:t>To determine progress at a given point along the project schedule, the value of </a:t>
            </a:r>
            <a:r>
              <a:rPr i="1" lang="en-US" sz="1800">
                <a:solidFill>
                  <a:srgbClr val="242021"/>
                </a:solidFill>
                <a:latin typeface="Times New Roman"/>
                <a:ea typeface="Times New Roman"/>
                <a:cs typeface="Times New Roman"/>
                <a:sym typeface="Times New Roman"/>
              </a:rPr>
              <a:t>BCWS</a:t>
            </a:r>
            <a:r>
              <a:rPr lang="en-US" sz="1800">
                <a:solidFill>
                  <a:srgbClr val="242021"/>
                </a:solidFill>
                <a:latin typeface="Times New Roman"/>
                <a:ea typeface="Times New Roman"/>
                <a:cs typeface="Times New Roman"/>
                <a:sym typeface="Times New Roman"/>
              </a:rPr>
              <a:t> is the sum of the </a:t>
            </a:r>
            <a:r>
              <a:rPr i="1" lang="en-US" sz="1800">
                <a:solidFill>
                  <a:srgbClr val="242021"/>
                </a:solidFill>
                <a:latin typeface="Times New Roman"/>
                <a:ea typeface="Times New Roman"/>
                <a:cs typeface="Times New Roman"/>
                <a:sym typeface="Times New Roman"/>
              </a:rPr>
              <a:t>BCWS</a:t>
            </a:r>
            <a:r>
              <a:rPr baseline="-25000" i="1" lang="en-US" sz="1800">
                <a:solidFill>
                  <a:srgbClr val="242021"/>
                </a:solidFill>
                <a:latin typeface="Times New Roman"/>
                <a:ea typeface="Times New Roman"/>
                <a:cs typeface="Times New Roman"/>
                <a:sym typeface="Times New Roman"/>
              </a:rPr>
              <a:t>i  </a:t>
            </a:r>
            <a:r>
              <a:rPr lang="en-US" sz="1800">
                <a:solidFill>
                  <a:srgbClr val="242021"/>
                </a:solidFill>
                <a:latin typeface="Times New Roman"/>
                <a:ea typeface="Times New Roman"/>
                <a:cs typeface="Times New Roman"/>
                <a:sym typeface="Times New Roman"/>
              </a:rPr>
              <a:t>values for all work tasks that should have been completed by that point in time on the project schedule.</a:t>
            </a:r>
            <a:endParaRPr/>
          </a:p>
          <a:p>
            <a:pPr indent="-342900" lvl="0" marL="457200" rtl="0" algn="just">
              <a:lnSpc>
                <a:spcPct val="150000"/>
              </a:lnSpc>
              <a:spcBef>
                <a:spcPts val="1000"/>
              </a:spcBef>
              <a:spcAft>
                <a:spcPts val="0"/>
              </a:spcAft>
              <a:buSzPts val="1800"/>
              <a:buFont typeface="Arial"/>
              <a:buAutoNum type="arabicPeriod"/>
            </a:pPr>
            <a:r>
              <a:rPr lang="en-US" sz="1800">
                <a:solidFill>
                  <a:srgbClr val="242021"/>
                </a:solidFill>
                <a:latin typeface="Times New Roman"/>
                <a:ea typeface="Times New Roman"/>
                <a:cs typeface="Times New Roman"/>
                <a:sym typeface="Times New Roman"/>
              </a:rPr>
              <a:t>The </a:t>
            </a:r>
            <a:r>
              <a:rPr i="1" lang="en-US" sz="1800">
                <a:solidFill>
                  <a:srgbClr val="242021"/>
                </a:solidFill>
                <a:latin typeface="Times New Roman"/>
                <a:ea typeface="Times New Roman"/>
                <a:cs typeface="Times New Roman"/>
                <a:sym typeface="Times New Roman"/>
              </a:rPr>
              <a:t>BCWS</a:t>
            </a:r>
            <a:r>
              <a:rPr lang="en-US" sz="1800">
                <a:solidFill>
                  <a:srgbClr val="242021"/>
                </a:solidFill>
                <a:latin typeface="Times New Roman"/>
                <a:ea typeface="Times New Roman"/>
                <a:cs typeface="Times New Roman"/>
                <a:sym typeface="Times New Roman"/>
              </a:rPr>
              <a:t> values for all work tasks are summed to derive the </a:t>
            </a:r>
            <a:r>
              <a:rPr i="1" lang="en-US" sz="1800">
                <a:solidFill>
                  <a:srgbClr val="C00000"/>
                </a:solidFill>
                <a:latin typeface="Times New Roman"/>
                <a:ea typeface="Times New Roman"/>
                <a:cs typeface="Times New Roman"/>
                <a:sym typeface="Times New Roman"/>
              </a:rPr>
              <a:t>budget at completion </a:t>
            </a:r>
            <a:r>
              <a:rPr lang="en-US" sz="1800">
                <a:solidFill>
                  <a:srgbClr val="C00000"/>
                </a:solidFill>
                <a:latin typeface="Times New Roman"/>
                <a:ea typeface="Times New Roman"/>
                <a:cs typeface="Times New Roman"/>
                <a:sym typeface="Times New Roman"/>
              </a:rPr>
              <a:t>(BAC)</a:t>
            </a:r>
            <a:r>
              <a:rPr lang="en-US" sz="1800">
                <a:solidFill>
                  <a:srgbClr val="242021"/>
                </a:solidFill>
                <a:latin typeface="Times New Roman"/>
                <a:ea typeface="Times New Roman"/>
                <a:cs typeface="Times New Roman"/>
                <a:sym typeface="Times New Roman"/>
              </a:rPr>
              <a:t>. Hence, </a:t>
            </a:r>
            <a:endParaRPr/>
          </a:p>
          <a:p>
            <a:pPr indent="-342900" lvl="0" marL="457200" rtl="0" algn="just">
              <a:lnSpc>
                <a:spcPct val="150000"/>
              </a:lnSpc>
              <a:spcBef>
                <a:spcPts val="1000"/>
              </a:spcBef>
              <a:spcAft>
                <a:spcPts val="0"/>
              </a:spcAft>
              <a:buSzPts val="1800"/>
              <a:buFont typeface="Arial"/>
              <a:buAutoNum type="arabicPeriod"/>
            </a:pPr>
            <a:r>
              <a:rPr lang="en-US" sz="1800">
                <a:solidFill>
                  <a:srgbClr val="242021"/>
                </a:solidFill>
                <a:latin typeface="Times New Roman"/>
                <a:ea typeface="Times New Roman"/>
                <a:cs typeface="Times New Roman"/>
                <a:sym typeface="Times New Roman"/>
              </a:rPr>
              <a:t>Next, the value </a:t>
            </a:r>
            <a:r>
              <a:rPr lang="en-US" sz="1800">
                <a:solidFill>
                  <a:srgbClr val="C00000"/>
                </a:solidFill>
                <a:latin typeface="Times New Roman"/>
                <a:ea typeface="Times New Roman"/>
                <a:cs typeface="Times New Roman"/>
                <a:sym typeface="Times New Roman"/>
              </a:rPr>
              <a:t>for </a:t>
            </a:r>
            <a:r>
              <a:rPr i="1" lang="en-US" sz="1800">
                <a:solidFill>
                  <a:srgbClr val="C00000"/>
                </a:solidFill>
                <a:latin typeface="Times New Roman"/>
                <a:ea typeface="Times New Roman"/>
                <a:cs typeface="Times New Roman"/>
                <a:sym typeface="Times New Roman"/>
              </a:rPr>
              <a:t>budgeted cost of work performed </a:t>
            </a:r>
            <a:r>
              <a:rPr lang="en-US" sz="1800">
                <a:solidFill>
                  <a:srgbClr val="C00000"/>
                </a:solidFill>
                <a:latin typeface="Times New Roman"/>
                <a:ea typeface="Times New Roman"/>
                <a:cs typeface="Times New Roman"/>
                <a:sym typeface="Times New Roman"/>
              </a:rPr>
              <a:t>(BCWP) </a:t>
            </a:r>
            <a:r>
              <a:rPr lang="en-US" sz="1800">
                <a:solidFill>
                  <a:srgbClr val="242021"/>
                </a:solidFill>
                <a:latin typeface="Times New Roman"/>
                <a:ea typeface="Times New Roman"/>
                <a:cs typeface="Times New Roman"/>
                <a:sym typeface="Times New Roman"/>
              </a:rPr>
              <a:t>is computed. The value for </a:t>
            </a:r>
            <a:r>
              <a:rPr i="1" lang="en-US" sz="1800">
                <a:solidFill>
                  <a:srgbClr val="242021"/>
                </a:solidFill>
                <a:latin typeface="Times New Roman"/>
                <a:ea typeface="Times New Roman"/>
                <a:cs typeface="Times New Roman"/>
                <a:sym typeface="Times New Roman"/>
              </a:rPr>
              <a:t>BCWP</a:t>
            </a:r>
            <a:r>
              <a:rPr lang="en-US" sz="1800">
                <a:solidFill>
                  <a:srgbClr val="242021"/>
                </a:solidFill>
                <a:latin typeface="Times New Roman"/>
                <a:ea typeface="Times New Roman"/>
                <a:cs typeface="Times New Roman"/>
                <a:sym typeface="Times New Roman"/>
              </a:rPr>
              <a:t> is the sum of the BCWS values for all work tasks that have actually been completed by a point in time on the project schedule.</a:t>
            </a:r>
            <a:endParaRPr/>
          </a:p>
          <a:p>
            <a:pPr indent="-228600" lvl="0" marL="457200" rtl="0" algn="l">
              <a:lnSpc>
                <a:spcPct val="90000"/>
              </a:lnSpc>
              <a:spcBef>
                <a:spcPts val="1000"/>
              </a:spcBef>
              <a:spcAft>
                <a:spcPts val="0"/>
              </a:spcAft>
              <a:buClr>
                <a:schemeClr val="dk1"/>
              </a:buClr>
              <a:buSzPts val="1800"/>
              <a:buNone/>
            </a:pPr>
            <a:r>
              <a:t/>
            </a:r>
            <a:endParaRPr/>
          </a:p>
        </p:txBody>
      </p:sp>
      <p:pic>
        <p:nvPicPr>
          <p:cNvPr id="239" name="Google Shape;239;p23"/>
          <p:cNvPicPr preferRelativeResize="0"/>
          <p:nvPr/>
        </p:nvPicPr>
        <p:blipFill rotWithShape="1">
          <a:blip r:embed="rId3">
            <a:alphaModFix/>
          </a:blip>
          <a:srcRect b="0" l="0" r="0" t="0"/>
          <a:stretch/>
        </p:blipFill>
        <p:spPr>
          <a:xfrm>
            <a:off x="2743020" y="6041632"/>
            <a:ext cx="3505200" cy="31488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4"/>
          <p:cNvSpPr txBox="1"/>
          <p:nvPr>
            <p:ph type="title"/>
          </p:nvPr>
        </p:nvSpPr>
        <p:spPr>
          <a:xfrm>
            <a:off x="157162" y="114300"/>
            <a:ext cx="5486400" cy="644365"/>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Earned Value Computing – Steps (Conti.)</a:t>
            </a:r>
            <a:endParaRPr/>
          </a:p>
        </p:txBody>
      </p:sp>
      <p:sp>
        <p:nvSpPr>
          <p:cNvPr id="245" name="Google Shape;245;p24"/>
          <p:cNvSpPr txBox="1"/>
          <p:nvPr>
            <p:ph idx="1" type="body"/>
          </p:nvPr>
        </p:nvSpPr>
        <p:spPr>
          <a:xfrm>
            <a:off x="157162" y="914039"/>
            <a:ext cx="8643937" cy="5401035"/>
          </a:xfrm>
          <a:prstGeom prst="rect">
            <a:avLst/>
          </a:prstGeom>
          <a:noFill/>
          <a:ln>
            <a:noFill/>
          </a:ln>
        </p:spPr>
        <p:txBody>
          <a:bodyPr anchorCtr="0" anchor="t" bIns="0" lIns="0" spcFirstLastPara="1" rIns="0" wrap="square" tIns="0">
            <a:noAutofit/>
          </a:bodyPr>
          <a:lstStyle/>
          <a:p>
            <a:pPr indent="0" lvl="0" marL="114300" rtl="0" algn="just">
              <a:lnSpc>
                <a:spcPct val="150000"/>
              </a:lnSpc>
              <a:spcBef>
                <a:spcPts val="1000"/>
              </a:spcBef>
              <a:spcAft>
                <a:spcPts val="0"/>
              </a:spcAft>
              <a:buSzPts val="1800"/>
              <a:buNone/>
            </a:pPr>
            <a:r>
              <a:t/>
            </a:r>
            <a:endParaRPr sz="1800">
              <a:solidFill>
                <a:srgbClr val="242021"/>
              </a:solidFill>
              <a:latin typeface="Times New Roman"/>
              <a:ea typeface="Times New Roman"/>
              <a:cs typeface="Times New Roman"/>
              <a:sym typeface="Times New Roman"/>
            </a:endParaRPr>
          </a:p>
          <a:p>
            <a:pPr indent="-342900" lvl="0" marL="457200" rtl="0" algn="just">
              <a:lnSpc>
                <a:spcPct val="150000"/>
              </a:lnSpc>
              <a:spcBef>
                <a:spcPts val="1000"/>
              </a:spcBef>
              <a:spcAft>
                <a:spcPts val="0"/>
              </a:spcAft>
              <a:buSzPts val="1800"/>
              <a:buChar char="•"/>
            </a:pPr>
            <a:r>
              <a:rPr lang="en-US" sz="1800">
                <a:solidFill>
                  <a:srgbClr val="242021"/>
                </a:solidFill>
                <a:latin typeface="Times New Roman"/>
                <a:ea typeface="Times New Roman"/>
                <a:cs typeface="Times New Roman"/>
                <a:sym typeface="Times New Roman"/>
              </a:rPr>
              <a:t>SPI is an indication of the efficiency with which </a:t>
            </a:r>
            <a:r>
              <a:rPr b="1" lang="en-US" sz="1800">
                <a:solidFill>
                  <a:srgbClr val="242021"/>
                </a:solidFill>
                <a:latin typeface="Times New Roman"/>
                <a:ea typeface="Times New Roman"/>
                <a:cs typeface="Times New Roman"/>
                <a:sym typeface="Times New Roman"/>
              </a:rPr>
              <a:t>the project is utilizing scheduled resources.</a:t>
            </a:r>
            <a:r>
              <a:rPr lang="en-US" sz="1800">
                <a:solidFill>
                  <a:srgbClr val="242021"/>
                </a:solidFill>
                <a:latin typeface="Times New Roman"/>
                <a:ea typeface="Times New Roman"/>
                <a:cs typeface="Times New Roman"/>
                <a:sym typeface="Times New Roman"/>
              </a:rPr>
              <a:t> An SPI value close to 1.0 indicates efficient execution of the project schedule. </a:t>
            </a:r>
            <a:endParaRPr/>
          </a:p>
          <a:p>
            <a:pPr indent="-342900" lvl="0" marL="457200" rtl="0" algn="just">
              <a:lnSpc>
                <a:spcPct val="150000"/>
              </a:lnSpc>
              <a:spcBef>
                <a:spcPts val="1000"/>
              </a:spcBef>
              <a:spcAft>
                <a:spcPts val="0"/>
              </a:spcAft>
              <a:buSzPts val="1800"/>
              <a:buChar char="•"/>
            </a:pPr>
            <a:r>
              <a:rPr lang="en-US" sz="1800">
                <a:solidFill>
                  <a:srgbClr val="242021"/>
                </a:solidFill>
                <a:latin typeface="Times New Roman"/>
                <a:ea typeface="Times New Roman"/>
                <a:cs typeface="Times New Roman"/>
                <a:sym typeface="Times New Roman"/>
              </a:rPr>
              <a:t>SV is simply an absolute indication of variance from the planned schedule.</a:t>
            </a:r>
            <a:endParaRPr sz="1800">
              <a:solidFill>
                <a:srgbClr val="242021"/>
              </a:solidFill>
              <a:latin typeface="Times New Roman"/>
              <a:ea typeface="Times New Roman"/>
              <a:cs typeface="Times New Roman"/>
              <a:sym typeface="Times New Roman"/>
            </a:endParaRPr>
          </a:p>
          <a:p>
            <a:pPr indent="-342900" lvl="0" marL="457200" rtl="0" algn="just">
              <a:lnSpc>
                <a:spcPct val="150000"/>
              </a:lnSpc>
              <a:spcBef>
                <a:spcPts val="1000"/>
              </a:spcBef>
              <a:spcAft>
                <a:spcPts val="0"/>
              </a:spcAft>
              <a:buSzPts val="1800"/>
              <a:buChar char="•"/>
            </a:pPr>
            <a:r>
              <a:rPr i="1" lang="en-US" sz="1800">
                <a:solidFill>
                  <a:srgbClr val="242021"/>
                </a:solidFill>
                <a:latin typeface="Times New Roman"/>
                <a:ea typeface="Times New Roman"/>
                <a:cs typeface="Times New Roman"/>
                <a:sym typeface="Times New Roman"/>
              </a:rPr>
              <a:t>Percent scheduled for completion </a:t>
            </a:r>
            <a:r>
              <a:rPr lang="en-US" sz="1800">
                <a:solidFill>
                  <a:srgbClr val="242021"/>
                </a:solidFill>
                <a:latin typeface="Times New Roman"/>
                <a:ea typeface="Times New Roman"/>
                <a:cs typeface="Times New Roman"/>
                <a:sym typeface="Times New Roman"/>
              </a:rPr>
              <a:t>provides an indication of the percentage of work that should have been completed by time </a:t>
            </a:r>
            <a:r>
              <a:rPr i="1" lang="en-US" sz="1800">
                <a:solidFill>
                  <a:srgbClr val="242021"/>
                </a:solidFill>
                <a:latin typeface="Times New Roman"/>
                <a:ea typeface="Times New Roman"/>
                <a:cs typeface="Times New Roman"/>
                <a:sym typeface="Times New Roman"/>
              </a:rPr>
              <a:t>t.</a:t>
            </a:r>
            <a:endParaRPr sz="1800">
              <a:solidFill>
                <a:srgbClr val="242021"/>
              </a:solidFill>
              <a:latin typeface="Times New Roman"/>
              <a:ea typeface="Times New Roman"/>
              <a:cs typeface="Times New Roman"/>
              <a:sym typeface="Times New Roman"/>
            </a:endParaRPr>
          </a:p>
          <a:p>
            <a:pPr indent="-228600" lvl="0" marL="457200" rtl="0" algn="just">
              <a:lnSpc>
                <a:spcPct val="150000"/>
              </a:lnSpc>
              <a:spcBef>
                <a:spcPts val="1000"/>
              </a:spcBef>
              <a:spcAft>
                <a:spcPts val="0"/>
              </a:spcAft>
              <a:buSzPts val="1800"/>
              <a:buNone/>
            </a:pPr>
            <a:r>
              <a:t/>
            </a:r>
            <a:endParaRPr i="1" sz="1800">
              <a:solidFill>
                <a:srgbClr val="242021"/>
              </a:solidFill>
              <a:latin typeface="Times New Roman"/>
              <a:ea typeface="Times New Roman"/>
              <a:cs typeface="Times New Roman"/>
              <a:sym typeface="Times New Roman"/>
            </a:endParaRPr>
          </a:p>
          <a:p>
            <a:pPr indent="-342900" lvl="0" marL="457200" rtl="0" algn="just">
              <a:lnSpc>
                <a:spcPct val="150000"/>
              </a:lnSpc>
              <a:spcBef>
                <a:spcPts val="1000"/>
              </a:spcBef>
              <a:spcAft>
                <a:spcPts val="0"/>
              </a:spcAft>
              <a:buSzPts val="1800"/>
              <a:buChar char="•"/>
            </a:pPr>
            <a:r>
              <a:rPr i="1" lang="en-US" sz="1800">
                <a:solidFill>
                  <a:srgbClr val="242021"/>
                </a:solidFill>
                <a:latin typeface="Times New Roman"/>
                <a:ea typeface="Times New Roman"/>
                <a:cs typeface="Times New Roman"/>
                <a:sym typeface="Times New Roman"/>
              </a:rPr>
              <a:t>Percent complete </a:t>
            </a:r>
            <a:r>
              <a:rPr lang="en-US" sz="1800">
                <a:solidFill>
                  <a:srgbClr val="242021"/>
                </a:solidFill>
                <a:latin typeface="Times New Roman"/>
                <a:ea typeface="Times New Roman"/>
                <a:cs typeface="Times New Roman"/>
                <a:sym typeface="Times New Roman"/>
              </a:rPr>
              <a:t>provides a quantitative indication of the percent of completeness of the project at a given point in time </a:t>
            </a:r>
            <a:r>
              <a:rPr i="1" lang="en-US" sz="1800">
                <a:solidFill>
                  <a:srgbClr val="242021"/>
                </a:solidFill>
                <a:latin typeface="Times New Roman"/>
                <a:ea typeface="Times New Roman"/>
                <a:cs typeface="Times New Roman"/>
                <a:sym typeface="Times New Roman"/>
              </a:rPr>
              <a:t>t.</a:t>
            </a:r>
            <a:endParaRPr/>
          </a:p>
          <a:p>
            <a:pPr indent="-228600" lvl="0" marL="457200" rtl="0" algn="l">
              <a:lnSpc>
                <a:spcPct val="90000"/>
              </a:lnSpc>
              <a:spcBef>
                <a:spcPts val="1000"/>
              </a:spcBef>
              <a:spcAft>
                <a:spcPts val="0"/>
              </a:spcAft>
              <a:buClr>
                <a:schemeClr val="dk1"/>
              </a:buClr>
              <a:buSzPts val="1800"/>
              <a:buNone/>
            </a:pPr>
            <a:r>
              <a:t/>
            </a:r>
            <a:endParaRPr sz="1800">
              <a:latin typeface="Times New Roman"/>
              <a:ea typeface="Times New Roman"/>
              <a:cs typeface="Times New Roman"/>
              <a:sym typeface="Times New Roman"/>
            </a:endParaRPr>
          </a:p>
        </p:txBody>
      </p:sp>
      <p:pic>
        <p:nvPicPr>
          <p:cNvPr id="246" name="Google Shape;246;p24"/>
          <p:cNvPicPr preferRelativeResize="0"/>
          <p:nvPr/>
        </p:nvPicPr>
        <p:blipFill rotWithShape="1">
          <a:blip r:embed="rId3">
            <a:alphaModFix/>
          </a:blip>
          <a:srcRect b="-2" l="0" r="0" t="10881"/>
          <a:stretch/>
        </p:blipFill>
        <p:spPr>
          <a:xfrm>
            <a:off x="3650822" y="564950"/>
            <a:ext cx="4271963" cy="807588"/>
          </a:xfrm>
          <a:prstGeom prst="rect">
            <a:avLst/>
          </a:prstGeom>
          <a:noFill/>
          <a:ln>
            <a:noFill/>
          </a:ln>
        </p:spPr>
      </p:pic>
      <p:pic>
        <p:nvPicPr>
          <p:cNvPr id="247" name="Google Shape;247;p24"/>
          <p:cNvPicPr preferRelativeResize="0"/>
          <p:nvPr/>
        </p:nvPicPr>
        <p:blipFill rotWithShape="1">
          <a:blip r:embed="rId4">
            <a:alphaModFix/>
          </a:blip>
          <a:srcRect b="0" l="0" r="0" t="0"/>
          <a:stretch/>
        </p:blipFill>
        <p:spPr>
          <a:xfrm>
            <a:off x="2424110" y="4303755"/>
            <a:ext cx="4191000" cy="554365"/>
          </a:xfrm>
          <a:prstGeom prst="rect">
            <a:avLst/>
          </a:prstGeom>
          <a:noFill/>
          <a:ln>
            <a:noFill/>
          </a:ln>
        </p:spPr>
      </p:pic>
      <p:pic>
        <p:nvPicPr>
          <p:cNvPr id="248" name="Google Shape;248;p24"/>
          <p:cNvPicPr preferRelativeResize="0"/>
          <p:nvPr/>
        </p:nvPicPr>
        <p:blipFill rotWithShape="1">
          <a:blip r:embed="rId5">
            <a:alphaModFix/>
          </a:blip>
          <a:srcRect b="0" l="0" r="0" t="0"/>
          <a:stretch/>
        </p:blipFill>
        <p:spPr>
          <a:xfrm>
            <a:off x="3159917" y="6045402"/>
            <a:ext cx="2638425" cy="53934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1800"/>
              <a:buNone/>
            </a:pPr>
            <a:r>
              <a:rPr b="1" lang="en-US">
                <a:latin typeface="Times"/>
                <a:ea typeface="Times"/>
                <a:cs typeface="Times"/>
                <a:sym typeface="Times"/>
              </a:rPr>
              <a:t>Earned Value Computing – Steps (Conti.)</a:t>
            </a:r>
            <a:endParaRPr/>
          </a:p>
        </p:txBody>
      </p:sp>
      <p:sp>
        <p:nvSpPr>
          <p:cNvPr id="255" name="Google Shape;255;p2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chemeClr val="lt1"/>
                </a:solidFill>
                <a:latin typeface="Times New Roman"/>
                <a:ea typeface="Times New Roman"/>
                <a:cs typeface="Times New Roman"/>
                <a:sym typeface="Times New Roman"/>
              </a:rPr>
              <a:t>‹#›</a:t>
            </a:fld>
            <a:endParaRPr b="1" i="0" sz="1200" u="none" cap="none" strike="noStrike">
              <a:solidFill>
                <a:schemeClr val="lt1"/>
              </a:solidFill>
              <a:latin typeface="Times New Roman"/>
              <a:ea typeface="Times New Roman"/>
              <a:cs typeface="Times New Roman"/>
              <a:sym typeface="Times New Roman"/>
            </a:endParaRPr>
          </a:p>
        </p:txBody>
      </p:sp>
      <p:sp>
        <p:nvSpPr>
          <p:cNvPr id="256" name="Google Shape;256;p25"/>
          <p:cNvSpPr txBox="1"/>
          <p:nvPr>
            <p:ph idx="10" type="dt"/>
          </p:nvPr>
        </p:nvSpPr>
        <p:spPr>
          <a:xfrm>
            <a:off x="152400" y="6629400"/>
            <a:ext cx="2286000" cy="17895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none" cap="none" strike="noStrike">
              <a:solidFill>
                <a:schemeClr val="lt1"/>
              </a:solidFill>
              <a:latin typeface="Times New Roman"/>
              <a:ea typeface="Times New Roman"/>
              <a:cs typeface="Times New Roman"/>
              <a:sym typeface="Times New Roman"/>
            </a:endParaRPr>
          </a:p>
        </p:txBody>
      </p:sp>
      <p:sp>
        <p:nvSpPr>
          <p:cNvPr id="257" name="Google Shape;257;p25"/>
          <p:cNvSpPr txBox="1"/>
          <p:nvPr>
            <p:ph idx="1" type="body"/>
          </p:nvPr>
        </p:nvSpPr>
        <p:spPr>
          <a:xfrm>
            <a:off x="304800" y="887845"/>
            <a:ext cx="8534400" cy="5410200"/>
          </a:xfrm>
          <a:prstGeom prst="rect">
            <a:avLst/>
          </a:prstGeom>
          <a:noFill/>
          <a:ln>
            <a:noFill/>
          </a:ln>
        </p:spPr>
        <p:txBody>
          <a:bodyPr anchorCtr="0" anchor="t" bIns="0" lIns="0" spcFirstLastPara="1" rIns="0" wrap="square" tIns="0">
            <a:normAutofit/>
          </a:bodyPr>
          <a:lstStyle/>
          <a:p>
            <a:pPr indent="-342900" lvl="0" marL="457200" rtl="0" algn="just">
              <a:lnSpc>
                <a:spcPct val="15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It is also possible to compute the </a:t>
            </a:r>
            <a:r>
              <a:rPr b="0" i="1" lang="en-US" sz="1800">
                <a:solidFill>
                  <a:srgbClr val="242021"/>
                </a:solidFill>
                <a:latin typeface="Times New Roman"/>
                <a:ea typeface="Times New Roman"/>
                <a:cs typeface="Times New Roman"/>
                <a:sym typeface="Times New Roman"/>
              </a:rPr>
              <a:t>actual cost of work performed </a:t>
            </a:r>
            <a:r>
              <a:rPr b="0" i="0" lang="en-US" sz="1800">
                <a:solidFill>
                  <a:srgbClr val="242021"/>
                </a:solidFill>
                <a:latin typeface="Times New Roman"/>
                <a:ea typeface="Times New Roman"/>
                <a:cs typeface="Times New Roman"/>
                <a:sym typeface="Times New Roman"/>
              </a:rPr>
              <a:t>(ACWP). </a:t>
            </a:r>
            <a:endParaRPr/>
          </a:p>
          <a:p>
            <a:pPr indent="-342900" lvl="0" marL="457200" rtl="0" algn="l">
              <a:lnSpc>
                <a:spcPct val="15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The value for ACWP is the sum of the effort actually expended on work tasks that have</a:t>
            </a:r>
            <a:r>
              <a:rPr lang="en-US" sz="1800">
                <a:latin typeface="Times New Roman"/>
                <a:ea typeface="Times New Roman"/>
                <a:cs typeface="Times New Roman"/>
                <a:sym typeface="Times New Roman"/>
              </a:rPr>
              <a:t> </a:t>
            </a:r>
            <a:r>
              <a:rPr b="0" i="0" lang="en-US" sz="1800">
                <a:solidFill>
                  <a:srgbClr val="242021"/>
                </a:solidFill>
                <a:latin typeface="Times New Roman"/>
                <a:ea typeface="Times New Roman"/>
                <a:cs typeface="Times New Roman"/>
                <a:sym typeface="Times New Roman"/>
              </a:rPr>
              <a:t>been completed by a point in time on the project schedule. </a:t>
            </a:r>
            <a:endParaRPr/>
          </a:p>
          <a:p>
            <a:pPr indent="0" lvl="0" marL="0" rtl="0" algn="just">
              <a:lnSpc>
                <a:spcPct val="150000"/>
              </a:lnSpc>
              <a:spcBef>
                <a:spcPts val="1000"/>
              </a:spcBef>
              <a:spcAft>
                <a:spcPts val="0"/>
              </a:spcAft>
              <a:buSzPts val="1800"/>
              <a:buNone/>
            </a:pPr>
            <a:br>
              <a:rPr lang="en-US" sz="1800"/>
            </a:br>
            <a:endParaRPr sz="1800">
              <a:solidFill>
                <a:srgbClr val="242021"/>
              </a:solidFill>
            </a:endParaRPr>
          </a:p>
          <a:p>
            <a:pPr indent="-342900" lvl="0" marL="457200" rtl="0" algn="just">
              <a:lnSpc>
                <a:spcPct val="15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A CPI value close to 1.0 provides a strong indication that the project is within its defined budget. </a:t>
            </a:r>
            <a:endParaRPr/>
          </a:p>
          <a:p>
            <a:pPr indent="-342900" lvl="0" marL="457200" rtl="0" algn="just">
              <a:lnSpc>
                <a:spcPct val="150000"/>
              </a:lnSpc>
              <a:spcBef>
                <a:spcPts val="1000"/>
              </a:spcBef>
              <a:spcAft>
                <a:spcPts val="0"/>
              </a:spcAft>
              <a:buSzPts val="1800"/>
              <a:buChar char="•"/>
            </a:pPr>
            <a:r>
              <a:rPr b="0" i="0" lang="en-US" sz="1800">
                <a:solidFill>
                  <a:srgbClr val="242021"/>
                </a:solidFill>
                <a:latin typeface="Times New Roman"/>
                <a:ea typeface="Times New Roman"/>
                <a:cs typeface="Times New Roman"/>
                <a:sym typeface="Times New Roman"/>
              </a:rPr>
              <a:t>CV is an absolute indication of cost savings (against planned costs) or shortfall at a particular stage of a project.</a:t>
            </a:r>
            <a:r>
              <a:rPr lang="en-US" sz="1800">
                <a:latin typeface="Times New Roman"/>
                <a:ea typeface="Times New Roman"/>
                <a:cs typeface="Times New Roman"/>
                <a:sym typeface="Times New Roman"/>
              </a:rPr>
              <a:t> </a:t>
            </a:r>
            <a:endParaRPr sz="1800">
              <a:solidFill>
                <a:srgbClr val="303030"/>
              </a:solidFill>
              <a:latin typeface="Times New Roman"/>
              <a:ea typeface="Times New Roman"/>
              <a:cs typeface="Times New Roman"/>
              <a:sym typeface="Times New Roman"/>
            </a:endParaRPr>
          </a:p>
        </p:txBody>
      </p:sp>
      <p:pic>
        <p:nvPicPr>
          <p:cNvPr id="258" name="Google Shape;258;p25"/>
          <p:cNvPicPr preferRelativeResize="0"/>
          <p:nvPr/>
        </p:nvPicPr>
        <p:blipFill rotWithShape="1">
          <a:blip r:embed="rId3">
            <a:alphaModFix/>
          </a:blip>
          <a:srcRect b="0" l="0" r="0" t="0"/>
          <a:stretch/>
        </p:blipFill>
        <p:spPr>
          <a:xfrm>
            <a:off x="2460171" y="2474411"/>
            <a:ext cx="3949227" cy="95458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6"/>
          <p:cNvSpPr txBox="1"/>
          <p:nvPr/>
        </p:nvSpPr>
        <p:spPr>
          <a:xfrm>
            <a:off x="147145" y="145656"/>
            <a:ext cx="654794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Times"/>
                <a:ea typeface="Times"/>
                <a:cs typeface="Times"/>
                <a:sym typeface="Times"/>
              </a:rPr>
              <a:t>Practice Questions</a:t>
            </a:r>
            <a:endParaRPr b="0" i="0" sz="3600" u="none" cap="none" strike="noStrike">
              <a:solidFill>
                <a:schemeClr val="dk1"/>
              </a:solidFill>
              <a:latin typeface="Times"/>
              <a:ea typeface="Times"/>
              <a:cs typeface="Times"/>
              <a:sym typeface="Times"/>
            </a:endParaRPr>
          </a:p>
        </p:txBody>
      </p:sp>
      <p:sp>
        <p:nvSpPr>
          <p:cNvPr id="264" name="Google Shape;264;p26"/>
          <p:cNvSpPr txBox="1"/>
          <p:nvPr/>
        </p:nvSpPr>
        <p:spPr>
          <a:xfrm>
            <a:off x="819807" y="1638126"/>
            <a:ext cx="7556938" cy="830997"/>
          </a:xfrm>
          <a:prstGeom prst="rect">
            <a:avLst/>
          </a:prstGeom>
          <a:noFill/>
          <a:ln>
            <a:noFill/>
          </a:ln>
        </p:spPr>
        <p:txBody>
          <a:bodyPr anchorCtr="0" anchor="t" bIns="45700" lIns="91425" spcFirstLastPara="1" rIns="91425" wrap="square" tIns="45700">
            <a:spAutoFit/>
          </a:bodyPr>
          <a:lstStyle/>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a:ea typeface="Times"/>
              <a:cs typeface="Times"/>
              <a:sym typeface="Times"/>
            </a:endParaRPr>
          </a:p>
        </p:txBody>
      </p:sp>
      <p:sp>
        <p:nvSpPr>
          <p:cNvPr id="265" name="Google Shape;265;p26"/>
          <p:cNvSpPr txBox="1"/>
          <p:nvPr/>
        </p:nvSpPr>
        <p:spPr>
          <a:xfrm>
            <a:off x="649217" y="935015"/>
            <a:ext cx="7898117" cy="65556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Times"/>
                <a:ea typeface="Times"/>
                <a:cs typeface="Times"/>
                <a:sym typeface="Times"/>
              </a:rPr>
              <a:t>Q1 - In which sort of project is the use of a Gantt chart most appropriate?</a:t>
            </a:r>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chemeClr val="dk1"/>
                </a:solidFill>
                <a:latin typeface="Times"/>
                <a:ea typeface="Times"/>
                <a:cs typeface="Times"/>
                <a:sym typeface="Times"/>
              </a:rPr>
              <a:t>Projects with few activities and resources involved.</a:t>
            </a:r>
            <a:endParaRPr b="1" i="0" sz="1800" u="none" cap="none" strike="noStrike">
              <a:solidFill>
                <a:schemeClr val="dk1"/>
              </a:solidFill>
              <a:latin typeface="Times"/>
              <a:ea typeface="Times"/>
              <a:cs typeface="Times"/>
              <a:sym typeface="Times"/>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Projects where the time periods involved are very short.</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 Projects with many activities involved. </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Projects in which the use of resources must be carefully monitored.</a:t>
            </a:r>
            <a:endParaRPr b="0" i="0" sz="18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None/>
            </a:pPr>
            <a:r>
              <a:rPr b="0" i="0" lang="en-US" sz="1800" u="none" cap="none" strike="noStrike">
                <a:solidFill>
                  <a:schemeClr val="dk1"/>
                </a:solidFill>
                <a:latin typeface="Times"/>
                <a:ea typeface="Times"/>
                <a:cs typeface="Times"/>
                <a:sym typeface="Times"/>
              </a:rPr>
              <a:t>Q2- You are the Project Manager on a construction project. You have worked with your team to define the dependencies and estimated their durations and resource requirements. Now you are creating the project schedule. Which of the following tools and techniques is of no use at this time?</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Resource leveling</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Schedule Compression</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Critical Chain Method</a:t>
            </a:r>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chemeClr val="dk1"/>
                </a:solidFill>
                <a:latin typeface="Times"/>
                <a:ea typeface="Times"/>
                <a:cs typeface="Times"/>
                <a:sym typeface="Times"/>
              </a:rPr>
              <a:t>Reserve Analysis</a:t>
            </a:r>
            <a:endParaRPr b="1" i="0" sz="18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None/>
            </a:pPr>
            <a:r>
              <a:rPr b="1" i="0" lang="en-US" sz="1800" u="none" cap="none" strike="noStrike">
                <a:solidFill>
                  <a:schemeClr val="dk1"/>
                </a:solidFill>
                <a:latin typeface="Times"/>
                <a:ea typeface="Times"/>
                <a:cs typeface="Times"/>
                <a:sym typeface="Times"/>
              </a:rPr>
              <a:t>Q3- </a:t>
            </a:r>
            <a:r>
              <a:rPr b="0" i="0" lang="en-US" sz="1800" u="none" cap="none" strike="noStrike">
                <a:solidFill>
                  <a:schemeClr val="dk1"/>
                </a:solidFill>
                <a:latin typeface="Times"/>
                <a:ea typeface="Times"/>
                <a:cs typeface="Times"/>
                <a:sym typeface="Times"/>
              </a:rPr>
              <a:t>The customer is looking for the project to be complete 10 days earlier than planned due to marketing constraints. You work with your project team and figure out that this can be achieved if a couple of activities can overlap. This approach is known as?</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Crashing</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Resource Leveling</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Concurrent Engineering</a:t>
            </a:r>
            <a:endParaRPr/>
          </a:p>
          <a:p>
            <a:pPr indent="-285750" lvl="0" marL="28575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Times"/>
                <a:ea typeface="Times"/>
                <a:cs typeface="Times"/>
                <a:sym typeface="Times"/>
              </a:rPr>
              <a:t> </a:t>
            </a:r>
            <a:r>
              <a:rPr b="1" i="0" lang="en-US" sz="1800" u="none" cap="none" strike="noStrike">
                <a:solidFill>
                  <a:schemeClr val="dk1"/>
                </a:solidFill>
                <a:latin typeface="Times"/>
                <a:ea typeface="Times"/>
                <a:cs typeface="Times"/>
                <a:sym typeface="Times"/>
              </a:rPr>
              <a:t>Fast Tracking</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Times"/>
              <a:ea typeface="Times"/>
              <a:cs typeface="Times"/>
              <a:sym typeface="Times"/>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Times"/>
              <a:ea typeface="Times"/>
              <a:cs typeface="Times"/>
              <a:sym typeface="Time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96"/>
          <p:cNvSpPr/>
          <p:nvPr/>
        </p:nvSpPr>
        <p:spPr>
          <a:xfrm>
            <a:off x="600074" y="914281"/>
            <a:ext cx="7972500" cy="61248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00000"/>
                </a:solidFill>
                <a:latin typeface="Times New Roman"/>
                <a:ea typeface="Times New Roman"/>
                <a:cs typeface="Times New Roman"/>
                <a:sym typeface="Times New Roman"/>
              </a:rPr>
              <a:t>Which of the following is NOT a project scheduling technique?</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 Critical Path Method (CPM)</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B) Program Evaluation and Review Technique (PERT)</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C) Gantt Chart</a:t>
            </a:r>
            <a:br>
              <a:rPr b="0" i="0" lang="en-US" sz="1800" u="none" cap="none" strike="noStrike">
                <a:solidFill>
                  <a:srgbClr val="000000"/>
                </a:solidFill>
                <a:latin typeface="Times New Roman"/>
                <a:ea typeface="Times New Roman"/>
                <a:cs typeface="Times New Roman"/>
                <a:sym typeface="Times New Roman"/>
              </a:rPr>
            </a:br>
            <a:r>
              <a:rPr b="1" i="0" lang="en-US" sz="1800" u="none" cap="none" strike="noStrike">
                <a:solidFill>
                  <a:srgbClr val="000000"/>
                </a:solidFill>
                <a:latin typeface="Times New Roman"/>
                <a:ea typeface="Times New Roman"/>
                <a:cs typeface="Times New Roman"/>
                <a:sym typeface="Times New Roman"/>
              </a:rPr>
              <a:t>D) Balance Sheet Analysis</a:t>
            </a:r>
            <a:endParaRPr/>
          </a:p>
          <a:p>
            <a:pPr indent="-342900" lvl="0" marL="342900" marR="0" rtl="0" algn="l">
              <a:lnSpc>
                <a:spcPct val="100000"/>
              </a:lnSpc>
              <a:spcBef>
                <a:spcPts val="0"/>
              </a:spcBef>
              <a:spcAft>
                <a:spcPts val="0"/>
              </a:spcAft>
              <a:buClr>
                <a:srgbClr val="000000"/>
              </a:buClr>
              <a:buSzPts val="1800"/>
              <a:buFont typeface="Arial"/>
              <a:buAutoNum type="arabicPeriod" startAt="2"/>
            </a:pPr>
            <a:r>
              <a:rPr b="1" i="0" lang="en-US" sz="1800" u="none" cap="none" strike="noStrike">
                <a:solidFill>
                  <a:srgbClr val="000000"/>
                </a:solidFill>
                <a:latin typeface="Times New Roman"/>
                <a:ea typeface="Times New Roman"/>
                <a:cs typeface="Times New Roman"/>
                <a:sym typeface="Times New Roman"/>
              </a:rPr>
              <a:t>The technique that uses a probabilistic approach to project scheduling is:</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A)Critical Path Method (CPM)</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B) Program Evaluation and Review Technique (PERT)</a:t>
            </a:r>
            <a:br>
              <a:rPr b="1"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C) Gantt Chart</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D) Resource Leveling</a:t>
            </a:r>
            <a:endParaRPr/>
          </a:p>
          <a:p>
            <a:pPr indent="-342900" lvl="0" marL="342900" marR="0" rtl="0" algn="l">
              <a:lnSpc>
                <a:spcPct val="100000"/>
              </a:lnSpc>
              <a:spcBef>
                <a:spcPts val="0"/>
              </a:spcBef>
              <a:spcAft>
                <a:spcPts val="0"/>
              </a:spcAft>
              <a:buClr>
                <a:srgbClr val="000000"/>
              </a:buClr>
              <a:buSzPts val="1800"/>
              <a:buFont typeface="Arial"/>
              <a:buAutoNum type="arabicPeriod" startAt="3"/>
            </a:pPr>
            <a:r>
              <a:rPr b="1" i="0" lang="en-US" sz="1800" u="none" cap="none" strike="noStrike">
                <a:solidFill>
                  <a:srgbClr val="000000"/>
                </a:solidFill>
                <a:latin typeface="Times New Roman"/>
                <a:ea typeface="Times New Roman"/>
                <a:cs typeface="Times New Roman"/>
                <a:sym typeface="Times New Roman"/>
              </a:rPr>
              <a:t>The Critical Path in a project schedule is the path that:</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 Has the longest duration and determines the shortest time to complete the project</a:t>
            </a:r>
            <a:br>
              <a:rPr b="1"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B) Has the most expensive activities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C) Includes only the important tasks</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D) Can be delayed without affecting the project timeline</a:t>
            </a:r>
            <a:endParaRPr/>
          </a:p>
          <a:p>
            <a:pPr indent="-342900" lvl="0" marL="342900" marR="0" rtl="0" algn="l">
              <a:lnSpc>
                <a:spcPct val="100000"/>
              </a:lnSpc>
              <a:spcBef>
                <a:spcPts val="0"/>
              </a:spcBef>
              <a:spcAft>
                <a:spcPts val="0"/>
              </a:spcAft>
              <a:buClr>
                <a:srgbClr val="000000"/>
              </a:buClr>
              <a:buSzPts val="1800"/>
              <a:buFont typeface="Arial"/>
              <a:buAutoNum type="arabicPeriod" startAt="4"/>
            </a:pPr>
            <a:r>
              <a:rPr b="1" i="0" lang="en-US" sz="1800" u="none" cap="none" strike="noStrike">
                <a:solidFill>
                  <a:srgbClr val="000000"/>
                </a:solidFill>
                <a:latin typeface="Times New Roman"/>
                <a:ea typeface="Times New Roman"/>
                <a:cs typeface="Times New Roman"/>
                <a:sym typeface="Times New Roman"/>
              </a:rPr>
              <a:t>In a Gantt chart, what does a bar represent?</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 The cost of a task</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B) The start and finish of a task</a:t>
            </a:r>
            <a:br>
              <a:rPr b="1"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C) The number of workers assigned</a:t>
            </a:r>
            <a:br>
              <a:rPr b="0" i="0" lang="en-US" sz="1800" u="none" cap="none" strike="noStrike">
                <a:solidFill>
                  <a:srgbClr val="000000"/>
                </a:solidFill>
                <a:latin typeface="Times New Roman"/>
                <a:ea typeface="Times New Roman"/>
                <a:cs typeface="Times New Roman"/>
                <a:sym typeface="Times New Roman"/>
              </a:rPr>
            </a:br>
            <a:r>
              <a:rPr b="0" i="0" lang="en-US" sz="1800" u="none" cap="none" strike="noStrike">
                <a:solidFill>
                  <a:srgbClr val="000000"/>
                </a:solidFill>
                <a:latin typeface="Times New Roman"/>
                <a:ea typeface="Times New Roman"/>
                <a:cs typeface="Times New Roman"/>
                <a:sym typeface="Times New Roman"/>
              </a:rPr>
              <a:t>D) The budget of a project</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600" u="none" cap="none" strike="noStrike">
              <a:solidFill>
                <a:srgbClr val="000000"/>
              </a:solidFill>
              <a:latin typeface="Arial"/>
              <a:ea typeface="Arial"/>
              <a:cs typeface="Arial"/>
              <a:sym typeface="Arial"/>
            </a:endParaRPr>
          </a:p>
        </p:txBody>
      </p:sp>
      <p:sp>
        <p:nvSpPr>
          <p:cNvPr id="271" name="Google Shape;271;p96"/>
          <p:cNvSpPr/>
          <p:nvPr/>
        </p:nvSpPr>
        <p:spPr>
          <a:xfrm>
            <a:off x="220626" y="0"/>
            <a:ext cx="140294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Times"/>
                <a:ea typeface="Times"/>
                <a:cs typeface="Times"/>
                <a:sym typeface="Times"/>
              </a:rPr>
              <a:t>Conti.</a:t>
            </a:r>
            <a:endParaRPr b="0" i="0" sz="3600" u="none" cap="none" strike="noStrike">
              <a:solidFill>
                <a:schemeClr val="dk1"/>
              </a:solidFill>
              <a:latin typeface="Times"/>
              <a:ea typeface="Times"/>
              <a:cs typeface="Times"/>
              <a:sym typeface="Time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2800"/>
              <a:buFont typeface="Times New Roman"/>
              <a:buNone/>
            </a:pPr>
            <a:r>
              <a:t/>
            </a:r>
            <a:endParaRPr/>
          </a:p>
        </p:txBody>
      </p:sp>
      <p:sp>
        <p:nvSpPr>
          <p:cNvPr id="277" name="Google Shape;277;p27"/>
          <p:cNvSpPr txBox="1"/>
          <p:nvPr>
            <p:ph idx="11" type="ftr"/>
          </p:nvPr>
        </p:nvSpPr>
        <p:spPr>
          <a:xfrm>
            <a:off x="352540" y="6356520"/>
            <a:ext cx="8333900" cy="36468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latin typeface="Times New Roman"/>
                <a:ea typeface="Times New Roman"/>
                <a:cs typeface="Times New Roman"/>
                <a:sym typeface="Times New Roman"/>
              </a:rPr>
              <a:t>Computer Networks               </a:t>
            </a:r>
            <a:endParaRPr>
              <a:latin typeface="Times New Roman"/>
              <a:ea typeface="Times New Roman"/>
              <a:cs typeface="Times New Roman"/>
              <a:sym typeface="Times New Roman"/>
            </a:endParaRPr>
          </a:p>
        </p:txBody>
      </p:sp>
      <p:pic>
        <p:nvPicPr>
          <p:cNvPr descr="See the source image" id="278" name="Google Shape;278;p27"/>
          <p:cNvPicPr preferRelativeResize="0"/>
          <p:nvPr/>
        </p:nvPicPr>
        <p:blipFill rotWithShape="1">
          <a:blip r:embed="rId3">
            <a:alphaModFix/>
          </a:blip>
          <a:srcRect b="0" l="0" r="0" t="0"/>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