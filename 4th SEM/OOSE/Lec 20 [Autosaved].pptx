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6"/>
  </p:notesMasterIdLst>
  <p:handoutMasterIdLst>
    <p:handoutMasterId r:id="rId27"/>
  </p:handoutMasterIdLst>
  <p:sldIdLst>
    <p:sldId id="256" r:id="rId2"/>
    <p:sldId id="257" r:id="rId3"/>
    <p:sldId id="258" r:id="rId4"/>
    <p:sldId id="259" r:id="rId5"/>
    <p:sldId id="275" r:id="rId6"/>
    <p:sldId id="260" r:id="rId7"/>
    <p:sldId id="280" r:id="rId8"/>
    <p:sldId id="277" r:id="rId9"/>
    <p:sldId id="278" r:id="rId10"/>
    <p:sldId id="281" r:id="rId11"/>
    <p:sldId id="279" r:id="rId12"/>
    <p:sldId id="261" r:id="rId13"/>
    <p:sldId id="282" r:id="rId14"/>
    <p:sldId id="283" r:id="rId15"/>
    <p:sldId id="284" r:id="rId16"/>
    <p:sldId id="264" r:id="rId17"/>
    <p:sldId id="265" r:id="rId18"/>
    <p:sldId id="272" r:id="rId19"/>
    <p:sldId id="273" r:id="rId20"/>
    <p:sldId id="285" r:id="rId21"/>
    <p:sldId id="288" r:id="rId22"/>
    <p:sldId id="286" r:id="rId23"/>
    <p:sldId id="289" r:id="rId24"/>
    <p:sldId id="274" r:id="rId25"/>
  </p:sldIdLst>
  <p:sldSz cx="9144000" cy="6858000" type="screen4x3"/>
  <p:notesSz cx="7559675" cy="10691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ijYiJu3JpWkoQOFqtJBDz3TC5Re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1622"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39C8B0C4-E4B9-4673-A002-2E360FD022F6}" type="datetimeFigureOut">
              <a:rPr lang="en-US" smtClean="0"/>
              <a:t>2/12/2025</a:t>
            </a:fld>
            <a:endParaRPr lang="en-US"/>
          </a:p>
        </p:txBody>
      </p:sp>
      <p:sp>
        <p:nvSpPr>
          <p:cNvPr id="4" name="Footer Placeholder 3"/>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23371D38-3941-41B4-94AD-B71F91B2F3B5}" type="slidenum">
              <a:rPr lang="en-US" smtClean="0"/>
              <a:t>‹#›</a:t>
            </a:fld>
            <a:endParaRPr lang="en-US"/>
          </a:p>
        </p:txBody>
      </p:sp>
    </p:spTree>
    <p:extLst>
      <p:ext uri="{BB962C8B-B14F-4D97-AF65-F5344CB8AC3E}">
        <p14:creationId xmlns:p14="http://schemas.microsoft.com/office/powerpoint/2010/main" val="147022920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65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281488" y="0"/>
            <a:ext cx="3276600" cy="536575"/>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2473835"/>
      </p:ext>
    </p:extLst>
  </p:cSld>
  <p:clrMap bg1="lt1" tx1="dk1" bg2="dk2" tx2="lt2" accent1="accent1" accent2="accent2" accent3="accent3" accent4="accent4" accent5="accent5" accent6="accent6" hlink="hlink" folHlink="folHlink"/>
  <p:hf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p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56300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2: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26827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3</a:t>
            </a:fld>
            <a:endParaRPr/>
          </a:p>
        </p:txBody>
      </p:sp>
      <p:sp>
        <p:nvSpPr>
          <p:cNvPr id="103" name="Google Shape;103;p4: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4" name="Google Shape;104;p4: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4131468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4</a:t>
            </a:fld>
            <a:endParaRPr/>
          </a:p>
        </p:txBody>
      </p:sp>
      <p:sp>
        <p:nvSpPr>
          <p:cNvPr id="112" name="Google Shape;112;p6: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3" name="Google Shape;113;p6: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1740077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7: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6</a:t>
            </a:fld>
            <a:endParaRPr/>
          </a:p>
        </p:txBody>
      </p:sp>
      <p:sp>
        <p:nvSpPr>
          <p:cNvPr id="122" name="Google Shape;122;p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3" name="Google Shape;123;p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7608619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8: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12</a:t>
            </a:fld>
            <a:endParaRPr/>
          </a:p>
        </p:txBody>
      </p:sp>
      <p:sp>
        <p:nvSpPr>
          <p:cNvPr id="131" name="Google Shape;131;p8: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2" name="Google Shape;132;p8: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4386377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1: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1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226050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2: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129695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9: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19: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405131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0: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20: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982290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0" name="Google Shape;220;p2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 name="Slide Number Placeholder 1"/>
          <p:cNvSpPr>
            <a:spLocks noGrp="1"/>
          </p:cNvSpPr>
          <p:nvPr>
            <p:ph type="sldNum" idx="10"/>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757892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p:cSld name="Blank Slide">
    <p:spTree>
      <p:nvGrpSpPr>
        <p:cNvPr id="1" name="Shape 28"/>
        <p:cNvGrpSpPr/>
        <p:nvPr/>
      </p:nvGrpSpPr>
      <p:grpSpPr>
        <a:xfrm>
          <a:off x="0" y="0"/>
          <a:ext cx="0" cy="0"/>
          <a:chOff x="0" y="0"/>
          <a:chExt cx="0" cy="0"/>
        </a:xfrm>
      </p:grpSpPr>
      <p:sp>
        <p:nvSpPr>
          <p:cNvPr id="29" name="Google Shape;29;p29"/>
          <p:cNvSpPr txBox="1">
            <a:spLocks noGrp="1"/>
          </p:cNvSpPr>
          <p:nvPr>
            <p:ph type="ftr" idx="11"/>
          </p:nvPr>
        </p:nvSpPr>
        <p:spPr>
          <a:xfrm>
            <a:off x="457559" y="6356520"/>
            <a:ext cx="8499154"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0070C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30"/>
        <p:cNvGrpSpPr/>
        <p:nvPr/>
      </p:nvGrpSpPr>
      <p:grpSpPr>
        <a:xfrm>
          <a:off x="0" y="0"/>
          <a:ext cx="0" cy="0"/>
          <a:chOff x="0" y="0"/>
          <a:chExt cx="0" cy="0"/>
        </a:xfrm>
      </p:grpSpPr>
      <p:sp>
        <p:nvSpPr>
          <p:cNvPr id="31" name="Google Shape;31;p3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0"/>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30"/>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
        <p:cNvGrpSpPr/>
        <p:nvPr/>
      </p:nvGrpSpPr>
      <p:grpSpPr>
        <a:xfrm>
          <a:off x="0" y="0"/>
          <a:ext cx="0" cy="0"/>
          <a:chOff x="0" y="0"/>
          <a:chExt cx="0" cy="0"/>
        </a:xfrm>
      </p:grpSpPr>
      <p:sp>
        <p:nvSpPr>
          <p:cNvPr id="35" name="Google Shape;35;p2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US"/>
              <a:t>12.</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6"/>
        <p:cNvGrpSpPr/>
        <p:nvPr/>
      </p:nvGrpSpPr>
      <p:grpSpPr>
        <a:xfrm>
          <a:off x="0" y="0"/>
          <a:ext cx="0" cy="0"/>
          <a:chOff x="0" y="0"/>
          <a:chExt cx="0" cy="0"/>
        </a:xfrm>
      </p:grpSpPr>
      <p:sp>
        <p:nvSpPr>
          <p:cNvPr id="37" name="Google Shape;37;p32"/>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32"/>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39"/>
        <p:cNvGrpSpPr/>
        <p:nvPr/>
      </p:nvGrpSpPr>
      <p:grpSpPr>
        <a:xfrm>
          <a:off x="0" y="0"/>
          <a:ext cx="0" cy="0"/>
          <a:chOff x="0" y="0"/>
          <a:chExt cx="0" cy="0"/>
        </a:xfrm>
      </p:grpSpPr>
      <p:sp>
        <p:nvSpPr>
          <p:cNvPr id="40" name="Google Shape;40;p33"/>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3"/>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42" name="Google Shape;42;p33"/>
          <p:cNvSpPr txBox="1">
            <a:spLocks noGrp="1"/>
          </p:cNvSpPr>
          <p:nvPr>
            <p:ph type="ftr" idx="11"/>
          </p:nvPr>
        </p:nvSpPr>
        <p:spPr>
          <a:xfrm>
            <a:off x="457199" y="6356520"/>
            <a:ext cx="8229239"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34"/>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34"/>
          <p:cNvSpPr txBox="1">
            <a:spLocks noGrp="1"/>
          </p:cNvSpPr>
          <p:nvPr>
            <p:ph type="ftr" idx="11"/>
          </p:nvPr>
        </p:nvSpPr>
        <p:spPr>
          <a:xfrm>
            <a:off x="352540" y="6356520"/>
            <a:ext cx="8361802"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entered Text">
  <p:cSld name="Centered Text">
    <p:spTree>
      <p:nvGrpSpPr>
        <p:cNvPr id="1" name="Shape 46"/>
        <p:cNvGrpSpPr/>
        <p:nvPr/>
      </p:nvGrpSpPr>
      <p:grpSpPr>
        <a:xfrm>
          <a:off x="0" y="0"/>
          <a:ext cx="0" cy="0"/>
          <a:chOff x="0" y="0"/>
          <a:chExt cx="0" cy="0"/>
        </a:xfrm>
      </p:grpSpPr>
      <p:sp>
        <p:nvSpPr>
          <p:cNvPr id="47" name="Google Shape;47;p35"/>
          <p:cNvSpPr txBox="1">
            <a:spLocks noGrp="1"/>
          </p:cNvSpPr>
          <p:nvPr>
            <p:ph type="subTitle" idx="1"/>
          </p:nvPr>
        </p:nvSpPr>
        <p:spPr>
          <a:xfrm>
            <a:off x="0" y="0"/>
            <a:ext cx="5486040" cy="4238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48" name="Google Shape;48;p35"/>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49"/>
        <p:cNvGrpSpPr/>
        <p:nvPr/>
      </p:nvGrpSpPr>
      <p:grpSpPr>
        <a:xfrm>
          <a:off x="0" y="0"/>
          <a:ext cx="0" cy="0"/>
          <a:chOff x="0" y="0"/>
          <a:chExt cx="0" cy="0"/>
        </a:xfrm>
      </p:grpSpPr>
      <p:sp>
        <p:nvSpPr>
          <p:cNvPr id="50" name="Google Shape;50;p36"/>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36"/>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36"/>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36"/>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36"/>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55"/>
        <p:cNvGrpSpPr/>
        <p:nvPr/>
      </p:nvGrpSpPr>
      <p:grpSpPr>
        <a:xfrm>
          <a:off x="0" y="0"/>
          <a:ext cx="0" cy="0"/>
          <a:chOff x="0" y="0"/>
          <a:chExt cx="0" cy="0"/>
        </a:xfrm>
      </p:grpSpPr>
      <p:sp>
        <p:nvSpPr>
          <p:cNvPr id="56" name="Google Shape;56;p3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7"/>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37"/>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37"/>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37"/>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61"/>
        <p:cNvGrpSpPr/>
        <p:nvPr/>
      </p:nvGrpSpPr>
      <p:grpSpPr>
        <a:xfrm>
          <a:off x="0" y="0"/>
          <a:ext cx="0" cy="0"/>
          <a:chOff x="0" y="0"/>
          <a:chExt cx="0" cy="0"/>
        </a:xfrm>
      </p:grpSpPr>
      <p:sp>
        <p:nvSpPr>
          <p:cNvPr id="62" name="Google Shape;62;p38"/>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8"/>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38"/>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8"/>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38"/>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67"/>
        <p:cNvGrpSpPr/>
        <p:nvPr/>
      </p:nvGrpSpPr>
      <p:grpSpPr>
        <a:xfrm>
          <a:off x="0" y="0"/>
          <a:ext cx="0" cy="0"/>
          <a:chOff x="0" y="0"/>
          <a:chExt cx="0" cy="0"/>
        </a:xfrm>
      </p:grpSpPr>
      <p:sp>
        <p:nvSpPr>
          <p:cNvPr id="68" name="Google Shape;68;p39"/>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39"/>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39"/>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9"/>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72"/>
        <p:cNvGrpSpPr/>
        <p:nvPr/>
      </p:nvGrpSpPr>
      <p:grpSpPr>
        <a:xfrm>
          <a:off x="0" y="0"/>
          <a:ext cx="0" cy="0"/>
          <a:chOff x="0" y="0"/>
          <a:chExt cx="0" cy="0"/>
        </a:xfrm>
      </p:grpSpPr>
      <p:sp>
        <p:nvSpPr>
          <p:cNvPr id="73" name="Google Shape;73;p4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0"/>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0"/>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40"/>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40"/>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40"/>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6 Content">
  <p:cSld name="BLANK 2">
    <p:spTree>
      <p:nvGrpSpPr>
        <p:cNvPr id="1" name="Shape 79"/>
        <p:cNvGrpSpPr/>
        <p:nvPr/>
      </p:nvGrpSpPr>
      <p:grpSpPr>
        <a:xfrm>
          <a:off x="0" y="0"/>
          <a:ext cx="0" cy="0"/>
          <a:chOff x="0" y="0"/>
          <a:chExt cx="0" cy="0"/>
        </a:xfrm>
      </p:grpSpPr>
      <p:sp>
        <p:nvSpPr>
          <p:cNvPr id="80" name="Google Shape;80;p41"/>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41"/>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41"/>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41"/>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41"/>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41"/>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41"/>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41"/>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28"/>
          <p:cNvSpPr/>
          <p:nvPr/>
        </p:nvSpPr>
        <p:spPr>
          <a:xfrm>
            <a:off x="0" y="0"/>
            <a:ext cx="914364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28"/>
          <p:cNvSpPr/>
          <p:nvPr/>
        </p:nvSpPr>
        <p:spPr>
          <a:xfrm rot="10800000" flipH="1">
            <a:off x="0" y="6704640"/>
            <a:ext cx="9143640" cy="197640"/>
          </a:xfrm>
          <a:prstGeom prst="rect">
            <a:avLst/>
          </a:prstGeom>
          <a:solidFill>
            <a:srgbClr val="FF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 name="Google Shape;12;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pic>
        <p:nvPicPr>
          <p:cNvPr id="13" name="Google Shape;13;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grpSp>
        <p:nvGrpSpPr>
          <p:cNvPr id="14" name="Google Shape;14;p28"/>
          <p:cNvGrpSpPr/>
          <p:nvPr/>
        </p:nvGrpSpPr>
        <p:grpSpPr>
          <a:xfrm>
            <a:off x="6146640" y="0"/>
            <a:ext cx="2997000" cy="875880"/>
            <a:chOff x="6146640" y="0"/>
            <a:chExt cx="2997000" cy="875880"/>
          </a:xfrm>
        </p:grpSpPr>
        <p:sp>
          <p:nvSpPr>
            <p:cNvPr id="15" name="Google Shape;15;p2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6" name="Google Shape;16;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sp>
          <p:nvSpPr>
            <p:cNvPr id="17" name="Google Shape;17;p2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18" name="Google Shape;18;p28" descr="logo.jpg"/>
          <p:cNvPicPr preferRelativeResize="0"/>
          <p:nvPr/>
        </p:nvPicPr>
        <p:blipFill rotWithShape="1">
          <a:blip r:embed="rId16">
            <a:alphaModFix/>
          </a:blip>
          <a:srcRect/>
          <a:stretch/>
        </p:blipFill>
        <p:spPr>
          <a:xfrm>
            <a:off x="6553080" y="228600"/>
            <a:ext cx="1920600" cy="609120"/>
          </a:xfrm>
          <a:prstGeom prst="rect">
            <a:avLst/>
          </a:prstGeom>
          <a:noFill/>
          <a:ln>
            <a:noFill/>
          </a:ln>
        </p:spPr>
      </p:pic>
      <p:pic>
        <p:nvPicPr>
          <p:cNvPr id="19" name="Google Shape;19;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grpSp>
        <p:nvGrpSpPr>
          <p:cNvPr id="20" name="Google Shape;20;p28"/>
          <p:cNvGrpSpPr/>
          <p:nvPr/>
        </p:nvGrpSpPr>
        <p:grpSpPr>
          <a:xfrm>
            <a:off x="6146640" y="0"/>
            <a:ext cx="2997000" cy="875880"/>
            <a:chOff x="6146640" y="0"/>
            <a:chExt cx="2997000" cy="875880"/>
          </a:xfrm>
        </p:grpSpPr>
        <p:sp>
          <p:nvSpPr>
            <p:cNvPr id="21" name="Google Shape;21;p2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2" name="Google Shape;22;p28" descr="LOGO.gif"/>
            <p:cNvPicPr preferRelativeResize="0"/>
            <p:nvPr/>
          </p:nvPicPr>
          <p:blipFill rotWithShape="1">
            <a:blip r:embed="rId15">
              <a:alphaModFix/>
            </a:blip>
            <a:srcRect b="10718"/>
            <a:stretch/>
          </p:blipFill>
          <p:spPr>
            <a:xfrm>
              <a:off x="6553080" y="228600"/>
              <a:ext cx="2057040" cy="634680"/>
            </a:xfrm>
            <a:prstGeom prst="rect">
              <a:avLst/>
            </a:prstGeom>
            <a:noFill/>
            <a:ln>
              <a:noFill/>
            </a:ln>
          </p:spPr>
        </p:pic>
        <p:sp>
          <p:nvSpPr>
            <p:cNvPr id="23" name="Google Shape;23;p2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24" name="Google Shape;24;p28" descr="logo.jpg"/>
          <p:cNvPicPr preferRelativeResize="0"/>
          <p:nvPr/>
        </p:nvPicPr>
        <p:blipFill rotWithShape="1">
          <a:blip r:embed="rId16">
            <a:alphaModFix/>
          </a:blip>
          <a:srcRect/>
          <a:stretch/>
        </p:blipFill>
        <p:spPr>
          <a:xfrm>
            <a:off x="6553080" y="228600"/>
            <a:ext cx="1920600" cy="609120"/>
          </a:xfrm>
          <a:prstGeom prst="rect">
            <a:avLst/>
          </a:prstGeom>
          <a:noFill/>
          <a:ln>
            <a:noFill/>
          </a:ln>
        </p:spPr>
      </p:pic>
      <p:sp>
        <p:nvSpPr>
          <p:cNvPr id="25" name="Google Shape;25;p28"/>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2800"/>
              <a:buFont typeface="Times New Roman"/>
              <a:buNone/>
              <a:defRPr sz="28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 name="Google Shape;26;p28"/>
          <p:cNvSpPr txBox="1">
            <a:spLocks noGrp="1"/>
          </p:cNvSpPr>
          <p:nvPr>
            <p:ph type="body" idx="1"/>
          </p:nvPr>
        </p:nvSpPr>
        <p:spPr>
          <a:xfrm>
            <a:off x="457200" y="1371600"/>
            <a:ext cx="8229240" cy="4525560"/>
          </a:xfrm>
          <a:prstGeom prst="rect">
            <a:avLst/>
          </a:prstGeom>
          <a:noFill/>
          <a:ln>
            <a:noFill/>
          </a:ln>
        </p:spPr>
        <p:txBody>
          <a:bodyPr spcFirstLastPara="1" wrap="square" lIns="91425" tIns="45700" rIns="91425" bIns="45700" anchor="t" anchorCtr="0">
            <a:noAutofit/>
          </a:bodyPr>
          <a:lstStyle>
            <a:lvl1pPr marL="457200" marR="0" lvl="0" indent="-330200" algn="l" rtl="0">
              <a:lnSpc>
                <a:spcPct val="90000"/>
              </a:lnSpc>
              <a:spcBef>
                <a:spcPts val="10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292100"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 name="Google Shape;27;p28"/>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www.geeksforgeeks.org/software-engineering-automated-testing" TargetMode="External"/><Relationship Id="rId2" Type="http://schemas.openxmlformats.org/officeDocument/2006/relationships/hyperlink" Target="https://www.geeksforgeeks.org/software-testing-manual-testing"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www.geeksforgeeks.org/software-engineering-white-box-testing" TargetMode="External"/><Relationship Id="rId2" Type="http://schemas.openxmlformats.org/officeDocument/2006/relationships/hyperlink" Target="https://www.geeksforgeeks.org/software-engineering-black-box-testing" TargetMode="External"/><Relationship Id="rId1" Type="http://schemas.openxmlformats.org/officeDocument/2006/relationships/slideLayout" Target="../slideLayouts/slideLayout3.xml"/><Relationship Id="rId4" Type="http://schemas.openxmlformats.org/officeDocument/2006/relationships/hyperlink" Target="https://www.geeksforgeeks.org/gray-box-testing-software-testing"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www.geeksforgeeks.org/software-testing-non-functional-testing" TargetMode="External"/><Relationship Id="rId2" Type="http://schemas.openxmlformats.org/officeDocument/2006/relationships/hyperlink" Target="https://www.geeksforgeeks.org/software-testing-functional-testing"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www.geeksforgeeks.org/software-engineering-integration-testing" TargetMode="External"/><Relationship Id="rId2" Type="http://schemas.openxmlformats.org/officeDocument/2006/relationships/hyperlink" Target="https://www.geeksforgeeks.org/unit-testing-software-testing" TargetMode="External"/><Relationship Id="rId1" Type="http://schemas.openxmlformats.org/officeDocument/2006/relationships/slideLayout" Target="../slideLayouts/slideLayout3.xml"/><Relationship Id="rId5" Type="http://schemas.openxmlformats.org/officeDocument/2006/relationships/hyperlink" Target="https://www.geeksforgeeks.org/acceptance-testing-software-testing" TargetMode="External"/><Relationship Id="rId4" Type="http://schemas.openxmlformats.org/officeDocument/2006/relationships/hyperlink" Target="https://www.geeksforgeeks.org/system-testing"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www.geeksforgeeks.org/software-testing-basics/"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hyperlink" Target="https://www.softwaretestinghelp.com/types-of-software-testing/" TargetMode="External"/><Relationship Id="rId5" Type="http://schemas.openxmlformats.org/officeDocument/2006/relationships/hyperlink" Target="https://www.techtarget.com/searchsoftwarequality/definition/unit-testing" TargetMode="External"/><Relationship Id="rId4" Type="http://schemas.openxmlformats.org/officeDocument/2006/relationships/hyperlink" Target="https://www.tutorialspoint.com/software_engineering/software_design_strategies.htm"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
          <p:cNvSpPr txBox="1"/>
          <p:nvPr/>
        </p:nvSpPr>
        <p:spPr>
          <a:xfrm>
            <a:off x="789690" y="2891746"/>
            <a:ext cx="7564618" cy="2940513"/>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400" b="1" i="0" u="none" strike="noStrike" cap="none" dirty="0">
              <a:solidFill>
                <a:srgbClr val="0070C0"/>
              </a:solidFill>
              <a:latin typeface="Times New Roman"/>
              <a:ea typeface="Times New Roman"/>
              <a:cs typeface="Times New Roman"/>
              <a:sym typeface="Times New Roman"/>
            </a:endParaRPr>
          </a:p>
          <a:p>
            <a:pPr algn="ctr">
              <a:spcBef>
                <a:spcPts val="400"/>
              </a:spcBef>
              <a:buSzPts val="2000"/>
            </a:pPr>
            <a:r>
              <a:rPr lang="en-US" sz="2800" b="1" i="0" u="none" strike="noStrike" cap="none" dirty="0">
                <a:solidFill>
                  <a:srgbClr val="0070C0"/>
                </a:solidFill>
                <a:latin typeface="Times New Roman"/>
                <a:ea typeface="Times New Roman"/>
                <a:cs typeface="Times New Roman"/>
                <a:sym typeface="Times New Roman"/>
              </a:rPr>
              <a:t>Introduction to </a:t>
            </a:r>
            <a:r>
              <a:rPr lang="en-US" sz="2800" b="1" dirty="0">
                <a:solidFill>
                  <a:srgbClr val="0070C0"/>
                </a:solidFill>
                <a:latin typeface="Times New Roman"/>
                <a:cs typeface="Times New Roman"/>
                <a:sym typeface="Times New Roman"/>
              </a:rPr>
              <a:t>Software</a:t>
            </a:r>
            <a:r>
              <a:rPr lang="en-US" sz="2800" b="1" dirty="0">
                <a:solidFill>
                  <a:srgbClr val="0070C0"/>
                </a:solidFill>
                <a:latin typeface="Times New Roman"/>
                <a:cs typeface="Times New Roman"/>
                <a:sym typeface="Times"/>
              </a:rPr>
              <a:t> Testing</a:t>
            </a:r>
          </a:p>
          <a:p>
            <a:pPr marL="0" marR="0" lvl="0" indent="0" algn="ctr" rtl="0">
              <a:lnSpc>
                <a:spcPct val="100000"/>
              </a:lnSpc>
              <a:spcBef>
                <a:spcPts val="400"/>
              </a:spcBef>
              <a:spcAft>
                <a:spcPts val="0"/>
              </a:spcAft>
              <a:buClr>
                <a:srgbClr val="000000"/>
              </a:buClr>
              <a:buSzPts val="2000"/>
              <a:buFont typeface="Arial"/>
              <a:buNone/>
            </a:pPr>
            <a:endParaRPr lang="en-US" sz="2400" b="1" dirty="0">
              <a:solidFill>
                <a:srgbClr val="0070C0"/>
              </a:solidFill>
              <a:latin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lang="en-US" sz="2400" b="1" dirty="0">
              <a:solidFill>
                <a:srgbClr val="0070C0"/>
              </a:solidFill>
              <a:latin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r>
              <a:rPr lang="en-US" sz="2400" b="1" dirty="0">
                <a:solidFill>
                  <a:srgbClr val="0070C0"/>
                </a:solidFill>
                <a:latin typeface="Times New Roman"/>
                <a:cs typeface="Times New Roman"/>
                <a:sym typeface="Times New Roman"/>
              </a:rPr>
              <a:t>Prepared By:</a:t>
            </a:r>
            <a:endParaRPr sz="2400" b="1" dirty="0">
              <a:solidFill>
                <a:srgbClr val="0070C0"/>
              </a:solidFill>
              <a:latin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r>
              <a:rPr lang="en-US" sz="2800" b="1" i="0" u="none" strike="noStrike" cap="none" dirty="0">
                <a:solidFill>
                  <a:srgbClr val="0070C0"/>
                </a:solidFill>
                <a:latin typeface="Times New Roman"/>
                <a:ea typeface="Times New Roman"/>
                <a:cs typeface="Times New Roman"/>
                <a:sym typeface="Times New Roman"/>
              </a:rPr>
              <a:t>Dr. Suvarna Sharma</a:t>
            </a:r>
            <a:endParaRPr sz="28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0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0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50000"/>
              </a:lnSpc>
              <a:spcBef>
                <a:spcPts val="400"/>
              </a:spcBef>
              <a:spcAft>
                <a:spcPts val="0"/>
              </a:spcAft>
              <a:buClr>
                <a:srgbClr val="000000"/>
              </a:buClr>
              <a:buSzPts val="2000"/>
              <a:buFont typeface="Arial"/>
              <a:buNone/>
            </a:pPr>
            <a:endParaRPr sz="20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641"/>
              </a:spcBef>
              <a:spcAft>
                <a:spcPts val="0"/>
              </a:spcAft>
              <a:buClr>
                <a:srgbClr val="000000"/>
              </a:buClr>
              <a:buSzPts val="2000"/>
              <a:buFont typeface="Arial"/>
              <a:buNone/>
            </a:pPr>
            <a:endParaRPr sz="2000" b="0" i="0" u="none" strike="noStrike" cap="none" dirty="0">
              <a:solidFill>
                <a:srgbClr val="000000"/>
              </a:solidFill>
              <a:latin typeface="Calibri"/>
              <a:ea typeface="Calibri"/>
              <a:cs typeface="Calibri"/>
              <a:sym typeface="Calibri"/>
            </a:endParaRPr>
          </a:p>
        </p:txBody>
      </p:sp>
      <p:sp>
        <p:nvSpPr>
          <p:cNvPr id="93" name="Google Shape;93;p1"/>
          <p:cNvSpPr txBox="1"/>
          <p:nvPr/>
        </p:nvSpPr>
        <p:spPr>
          <a:xfrm>
            <a:off x="1398799" y="2102069"/>
            <a:ext cx="6346401" cy="1436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800" b="1" i="0" u="none" strike="noStrike" cap="none">
                <a:solidFill>
                  <a:schemeClr val="dk1"/>
                </a:solidFill>
                <a:latin typeface="Times New Roman"/>
                <a:ea typeface="Times New Roman"/>
                <a:cs typeface="Times New Roman"/>
                <a:sym typeface="Times New Roman"/>
              </a:rPr>
              <a:t>Object Oriented Software Engineering (OOSE)</a:t>
            </a:r>
            <a:endParaRPr/>
          </a:p>
          <a:p>
            <a:pPr marL="0" marR="0" lvl="0" indent="0" algn="ctr" rtl="0">
              <a:lnSpc>
                <a:spcPct val="100000"/>
              </a:lnSpc>
              <a:spcBef>
                <a:spcPts val="400"/>
              </a:spcBef>
              <a:spcAft>
                <a:spcPts val="0"/>
              </a:spcAft>
              <a:buClr>
                <a:srgbClr val="000000"/>
              </a:buClr>
              <a:buSzPts val="2000"/>
              <a:buFont typeface="Arial"/>
              <a:buNone/>
            </a:pPr>
            <a:r>
              <a:rPr lang="en-US" sz="2800" b="1" i="0" u="none" strike="noStrike" cap="none">
                <a:solidFill>
                  <a:schemeClr val="dk1"/>
                </a:solidFill>
                <a:latin typeface="Times New Roman"/>
                <a:ea typeface="Times New Roman"/>
                <a:cs typeface="Times New Roman"/>
                <a:sym typeface="Times New Roman"/>
              </a:rPr>
              <a:t>22CS017</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p:nvPr/>
        </p:nvSpPr>
        <p:spPr>
          <a:xfrm>
            <a:off x="0" y="234168"/>
            <a:ext cx="6019560" cy="55238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3000"/>
              <a:buFont typeface="Arial"/>
              <a:buNone/>
            </a:pPr>
            <a:endParaRPr lang="en-US" sz="3200" b="1"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3000"/>
              <a:buFont typeface="Arial"/>
              <a:buNone/>
            </a:pPr>
            <a:r>
              <a:rPr lang="en-US" sz="3200" b="1" i="0" u="none" strike="noStrike" cap="none" dirty="0">
                <a:solidFill>
                  <a:srgbClr val="000000"/>
                </a:solidFill>
                <a:latin typeface="Times New Roman"/>
                <a:ea typeface="Times New Roman"/>
                <a:cs typeface="Times New Roman"/>
                <a:sym typeface="Times New Roman"/>
              </a:rPr>
              <a:t>Index</a:t>
            </a:r>
            <a:endParaRPr dirty="0"/>
          </a:p>
          <a:p>
            <a:pPr marL="0" marR="0" lvl="0" indent="0" algn="l" rtl="0">
              <a:lnSpc>
                <a:spcPct val="100000"/>
              </a:lnSpc>
              <a:spcBef>
                <a:spcPts val="0"/>
              </a:spcBef>
              <a:spcAft>
                <a:spcPts val="0"/>
              </a:spcAft>
              <a:buClr>
                <a:srgbClr val="000000"/>
              </a:buClr>
              <a:buSzPts val="3000"/>
              <a:buFont typeface="Arial"/>
              <a:buNone/>
            </a:pPr>
            <a:endParaRPr sz="3200" b="0" i="0" u="none" strike="noStrike" cap="none" dirty="0">
              <a:solidFill>
                <a:srgbClr val="000000"/>
              </a:solidFill>
              <a:latin typeface="Arial"/>
              <a:ea typeface="Arial"/>
              <a:cs typeface="Arial"/>
              <a:sym typeface="Arial"/>
            </a:endParaRPr>
          </a:p>
        </p:txBody>
      </p:sp>
      <p:sp>
        <p:nvSpPr>
          <p:cNvPr id="99" name="Google Shape;99;p2"/>
          <p:cNvSpPr txBox="1"/>
          <p:nvPr/>
        </p:nvSpPr>
        <p:spPr>
          <a:xfrm>
            <a:off x="168990" y="963516"/>
            <a:ext cx="8838720" cy="4945966"/>
          </a:xfrm>
          <a:prstGeom prst="rect">
            <a:avLst/>
          </a:prstGeom>
          <a:noFill/>
          <a:ln>
            <a:noFill/>
          </a:ln>
        </p:spPr>
        <p:txBody>
          <a:bodyPr spcFirstLastPara="1" wrap="square" lIns="91425" tIns="45700" rIns="91425" bIns="45700" anchor="t" anchorCtr="0">
            <a:noAutofit/>
          </a:bodyPr>
          <a:lstStyle/>
          <a:p>
            <a:pPr marL="342900" marR="0" lvl="0" indent="-222250" algn="l" rtl="0">
              <a:lnSpc>
                <a:spcPct val="150000"/>
              </a:lnSpc>
              <a:spcBef>
                <a:spcPts val="0"/>
              </a:spcBef>
              <a:spcAft>
                <a:spcPts val="0"/>
              </a:spcAft>
              <a:buClr>
                <a:schemeClr val="dk1"/>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p:txBody>
      </p:sp>
      <p:sp>
        <p:nvSpPr>
          <p:cNvPr id="100" name="Google Shape;100;p2"/>
          <p:cNvSpPr txBox="1">
            <a:spLocks noGrp="1"/>
          </p:cNvSpPr>
          <p:nvPr>
            <p:ph type="body" idx="1"/>
          </p:nvPr>
        </p:nvSpPr>
        <p:spPr>
          <a:xfrm>
            <a:off x="441669" y="1240852"/>
            <a:ext cx="7826002" cy="4039737"/>
          </a:xfrm>
          <a:prstGeom prst="rect">
            <a:avLst/>
          </a:prstGeom>
          <a:noFill/>
          <a:ln>
            <a:noFill/>
          </a:ln>
        </p:spPr>
        <p:txBody>
          <a:bodyPr spcFirstLastPara="1" wrap="square" lIns="0" tIns="0" rIns="0" bIns="0" anchor="t" anchorCtr="0">
            <a:noAutofit/>
          </a:bodyPr>
          <a:lstStyle/>
          <a:p>
            <a:pPr marL="342900" lvl="0" indent="-342900" algn="l" rtl="0">
              <a:lnSpc>
                <a:spcPct val="150000"/>
              </a:lnSpc>
              <a:spcBef>
                <a:spcPts val="0"/>
              </a:spcBef>
              <a:spcAft>
                <a:spcPts val="0"/>
              </a:spcAft>
              <a:buSzPts val="2800"/>
              <a:buChar char="•"/>
            </a:pPr>
            <a:r>
              <a:rPr lang="en-US" sz="2400" b="1" dirty="0">
                <a:solidFill>
                  <a:schemeClr val="dk1"/>
                </a:solidFill>
                <a:latin typeface="Times New Roman" panose="02020603050405020304" pitchFamily="18" charset="0"/>
                <a:ea typeface="Times"/>
                <a:cs typeface="Times New Roman" panose="02020603050405020304" pitchFamily="18" charset="0"/>
                <a:sym typeface="Times"/>
              </a:rPr>
              <a:t>Software Testing</a:t>
            </a:r>
          </a:p>
          <a:p>
            <a:pPr marL="342900" lvl="0" indent="-342900" algn="l" rtl="0">
              <a:lnSpc>
                <a:spcPct val="150000"/>
              </a:lnSpc>
              <a:spcBef>
                <a:spcPts val="0"/>
              </a:spcBef>
              <a:spcAft>
                <a:spcPts val="0"/>
              </a:spcAft>
              <a:buSzPts val="2800"/>
              <a:buChar char="•"/>
            </a:pPr>
            <a:r>
              <a:rPr lang="en-US" sz="2400" b="1" dirty="0">
                <a:latin typeface="Times New Roman" panose="02020603050405020304" pitchFamily="18" charset="0"/>
                <a:ea typeface="Times"/>
                <a:cs typeface="Times New Roman" panose="02020603050405020304" pitchFamily="18" charset="0"/>
                <a:sym typeface="Times"/>
              </a:rPr>
              <a:t>Importance of Software Testing</a:t>
            </a:r>
          </a:p>
          <a:p>
            <a:pPr marL="342900" lvl="0" indent="-342900" algn="l" rtl="0">
              <a:lnSpc>
                <a:spcPct val="150000"/>
              </a:lnSpc>
              <a:spcBef>
                <a:spcPts val="0"/>
              </a:spcBef>
              <a:spcAft>
                <a:spcPts val="0"/>
              </a:spcAft>
              <a:buSzPts val="2800"/>
              <a:buChar char="•"/>
            </a:pPr>
            <a:r>
              <a:rPr lang="en-US" sz="2400" b="1" dirty="0">
                <a:solidFill>
                  <a:schemeClr val="dk1"/>
                </a:solidFill>
                <a:latin typeface="Times New Roman" panose="02020603050405020304" pitchFamily="18" charset="0"/>
                <a:ea typeface="Times"/>
                <a:cs typeface="Times New Roman" panose="02020603050405020304" pitchFamily="18" charset="0"/>
                <a:sym typeface="Times"/>
              </a:rPr>
              <a:t>Need of Software Testing</a:t>
            </a:r>
          </a:p>
          <a:p>
            <a:pPr marL="342900" lvl="0" indent="-342900" algn="l" rtl="0">
              <a:lnSpc>
                <a:spcPct val="150000"/>
              </a:lnSpc>
              <a:spcBef>
                <a:spcPts val="0"/>
              </a:spcBef>
              <a:spcAft>
                <a:spcPts val="0"/>
              </a:spcAft>
              <a:buSzPts val="2800"/>
              <a:buChar char="•"/>
            </a:pPr>
            <a:r>
              <a:rPr lang="en-US" sz="2400" b="1" dirty="0">
                <a:solidFill>
                  <a:schemeClr val="dk1"/>
                </a:solidFill>
                <a:latin typeface="Times New Roman" panose="02020603050405020304" pitchFamily="18" charset="0"/>
                <a:ea typeface="Times"/>
                <a:cs typeface="Times New Roman" panose="02020603050405020304" pitchFamily="18" charset="0"/>
                <a:sym typeface="Times"/>
              </a:rPr>
              <a:t>Types of Software Testing</a:t>
            </a:r>
          </a:p>
          <a:p>
            <a:pPr marL="342900" lvl="0" indent="-342900" algn="l" rtl="0">
              <a:lnSpc>
                <a:spcPct val="150000"/>
              </a:lnSpc>
              <a:spcBef>
                <a:spcPts val="0"/>
              </a:spcBef>
              <a:spcAft>
                <a:spcPts val="0"/>
              </a:spcAft>
              <a:buSzPts val="2800"/>
              <a:buChar char="•"/>
            </a:pPr>
            <a:r>
              <a:rPr lang="en-US" sz="2400" b="1" dirty="0">
                <a:latin typeface="Times New Roman" panose="02020603050405020304" pitchFamily="18" charset="0"/>
                <a:ea typeface="Times"/>
                <a:cs typeface="Times New Roman" panose="02020603050405020304" pitchFamily="18" charset="0"/>
                <a:sym typeface="Times"/>
              </a:rPr>
              <a:t>Unit Testing</a:t>
            </a:r>
            <a:endParaRPr lang="en-US" sz="2400" b="1" dirty="0">
              <a:solidFill>
                <a:schemeClr val="dk1"/>
              </a:solidFill>
              <a:latin typeface="Times New Roman" panose="02020603050405020304" pitchFamily="18" charset="0"/>
              <a:ea typeface="Times"/>
              <a:cs typeface="Times New Roman" panose="02020603050405020304" pitchFamily="18" charset="0"/>
              <a:sym typeface="Times"/>
            </a:endParaRPr>
          </a:p>
          <a:p>
            <a:pPr marL="342900" lvl="0" indent="-342900" algn="l" rtl="0">
              <a:lnSpc>
                <a:spcPct val="150000"/>
              </a:lnSpc>
              <a:spcBef>
                <a:spcPts val="0"/>
              </a:spcBef>
              <a:spcAft>
                <a:spcPts val="0"/>
              </a:spcAft>
              <a:buSzPts val="2800"/>
              <a:buChar char="•"/>
            </a:pPr>
            <a:r>
              <a:rPr lang="en-US" sz="2400" b="1" dirty="0">
                <a:solidFill>
                  <a:schemeClr val="dk1"/>
                </a:solidFill>
                <a:latin typeface="Times New Roman" panose="02020603050405020304" pitchFamily="18" charset="0"/>
                <a:ea typeface="Times"/>
                <a:cs typeface="Times New Roman" panose="02020603050405020304" pitchFamily="18" charset="0"/>
                <a:sym typeface="Times"/>
              </a:rPr>
              <a:t>Practice Questions</a:t>
            </a:r>
            <a:endParaRPr sz="1800" dirty="0">
              <a:latin typeface="Times New Roman" panose="02020603050405020304" pitchFamily="18" charset="0"/>
              <a:cs typeface="Times New Roman" panose="02020603050405020304" pitchFamily="18" charset="0"/>
            </a:endParaRPr>
          </a:p>
          <a:p>
            <a:pPr marL="0" lvl="0" indent="0" algn="l" rtl="0">
              <a:lnSpc>
                <a:spcPct val="150000"/>
              </a:lnSpc>
              <a:spcBef>
                <a:spcPts val="0"/>
              </a:spcBef>
              <a:spcAft>
                <a:spcPts val="0"/>
              </a:spcAft>
              <a:buSzPts val="2800"/>
              <a:buNone/>
            </a:pPr>
            <a:r>
              <a:rPr lang="en-US" sz="2400" b="1" i="0" dirty="0">
                <a:solidFill>
                  <a:schemeClr val="dk1"/>
                </a:solidFill>
                <a:latin typeface="Times New Roman" panose="02020603050405020304" pitchFamily="18" charset="0"/>
                <a:ea typeface="Times"/>
                <a:cs typeface="Times New Roman" panose="02020603050405020304" pitchFamily="18" charset="0"/>
                <a:sym typeface="Times"/>
              </a:rPr>
              <a:t> </a:t>
            </a:r>
            <a:endParaRPr sz="2400" b="1" dirty="0">
              <a:solidFill>
                <a:schemeClr val="dk1"/>
              </a:solidFill>
              <a:latin typeface="Times New Roman" panose="02020603050405020304" pitchFamily="18" charset="0"/>
              <a:ea typeface="Times"/>
              <a:cs typeface="Times New Roman" panose="02020603050405020304" pitchFamily="18" charset="0"/>
              <a:sym typeface="Times"/>
            </a:endParaRPr>
          </a:p>
          <a:p>
            <a:pPr marL="342900" marR="0" lvl="0" indent="-165100" algn="l" rtl="0">
              <a:lnSpc>
                <a:spcPct val="150000"/>
              </a:lnSpc>
              <a:spcBef>
                <a:spcPts val="0"/>
              </a:spcBef>
              <a:spcAft>
                <a:spcPts val="0"/>
              </a:spcAft>
              <a:buClr>
                <a:schemeClr val="dk1"/>
              </a:buClr>
              <a:buSzPts val="2800"/>
              <a:buNone/>
            </a:pPr>
            <a:endParaRPr sz="2000" dirty="0">
              <a:latin typeface="Times New Roman" panose="02020603050405020304" pitchFamily="18" charset="0"/>
              <a:ea typeface="Times New Roman"/>
              <a:cs typeface="Times New Roman" panose="02020603050405020304" pitchFamily="18" charset="0"/>
              <a:sym typeface="Times New Roman"/>
            </a:endParaRPr>
          </a:p>
          <a:p>
            <a:pPr marL="342900" marR="0" lvl="0" indent="-165100" algn="l" rtl="0">
              <a:lnSpc>
                <a:spcPct val="150000"/>
              </a:lnSpc>
              <a:spcBef>
                <a:spcPts val="0"/>
              </a:spcBef>
              <a:spcAft>
                <a:spcPts val="0"/>
              </a:spcAft>
              <a:buClr>
                <a:schemeClr val="dk1"/>
              </a:buClr>
              <a:buSzPts val="2800"/>
              <a:buNone/>
            </a:pPr>
            <a:endParaRPr sz="2000" dirty="0">
              <a:latin typeface="Times New Roman" panose="02020603050405020304" pitchFamily="18" charset="0"/>
              <a:ea typeface="Times New Roman"/>
              <a:cs typeface="Times New Roman" panose="02020603050405020304" pitchFamily="18" charset="0"/>
              <a:sym typeface="Times New Roman"/>
            </a:endParaRPr>
          </a:p>
          <a:p>
            <a:pPr marL="342900" marR="0" lvl="0" indent="-165100" algn="l" rtl="0">
              <a:lnSpc>
                <a:spcPct val="150000"/>
              </a:lnSpc>
              <a:spcBef>
                <a:spcPts val="0"/>
              </a:spcBef>
              <a:spcAft>
                <a:spcPts val="0"/>
              </a:spcAft>
              <a:buClr>
                <a:schemeClr val="dk1"/>
              </a:buClr>
              <a:buSzPts val="2800"/>
              <a:buNone/>
            </a:pPr>
            <a:endParaRPr sz="1800" dirty="0">
              <a:latin typeface="Times New Roman" panose="02020603050405020304" pitchFamily="18" charset="0"/>
              <a:ea typeface="Times"/>
              <a:cs typeface="Times New Roman" panose="02020603050405020304" pitchFamily="18" charset="0"/>
              <a:sym typeface="Times"/>
            </a:endParaRPr>
          </a:p>
          <a:p>
            <a:pPr marL="342900" marR="0" lvl="0" indent="-165100" algn="l" rtl="0">
              <a:lnSpc>
                <a:spcPct val="150000"/>
              </a:lnSpc>
              <a:spcBef>
                <a:spcPts val="0"/>
              </a:spcBef>
              <a:spcAft>
                <a:spcPts val="0"/>
              </a:spcAft>
              <a:buClr>
                <a:schemeClr val="dk1"/>
              </a:buClr>
              <a:buSzPts val="2800"/>
              <a:buFont typeface="Times New Roman"/>
              <a:buNone/>
            </a:pP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7" name="Google Shape;107;p4"/>
          <p:cNvSpPr txBox="1"/>
          <p:nvPr/>
        </p:nvSpPr>
        <p:spPr>
          <a:xfrm>
            <a:off x="260415" y="242135"/>
            <a:ext cx="4711045" cy="523180"/>
          </a:xfrm>
          <a:prstGeom prst="rect">
            <a:avLst/>
          </a:prstGeom>
          <a:noFill/>
          <a:ln>
            <a:noFill/>
          </a:ln>
        </p:spPr>
        <p:txBody>
          <a:bodyPr spcFirstLastPara="1" wrap="square" lIns="91425" tIns="45700" rIns="91425" bIns="45700" anchor="t" anchorCtr="0">
            <a:spAutoFit/>
          </a:bodyPr>
          <a:lstStyle/>
          <a:p>
            <a:r>
              <a:rPr lang="en-IN" sz="2800" b="1" dirty="0">
                <a:latin typeface="Times New Roman" panose="02020603050405020304" pitchFamily="18" charset="0"/>
                <a:cs typeface="Times New Roman" panose="02020603050405020304" pitchFamily="18" charset="0"/>
              </a:rPr>
              <a:t>Software Testing</a:t>
            </a:r>
          </a:p>
        </p:txBody>
      </p:sp>
      <p:sp>
        <p:nvSpPr>
          <p:cNvPr id="108" name="Google Shape;108;p4"/>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109" name="Google Shape;109;p4"/>
          <p:cNvSpPr/>
          <p:nvPr/>
        </p:nvSpPr>
        <p:spPr>
          <a:xfrm>
            <a:off x="260415" y="999493"/>
            <a:ext cx="8375586" cy="2246729"/>
          </a:xfrm>
          <a:prstGeom prst="rect">
            <a:avLst/>
          </a:prstGeom>
          <a:noFill/>
          <a:ln>
            <a:noFill/>
          </a:ln>
        </p:spPr>
        <p:txBody>
          <a:bodyPr spcFirstLastPara="1" wrap="square" lIns="91425" tIns="45700" rIns="91425" bIns="45700" anchor="ctr" anchorCtr="0">
            <a:spAutoFit/>
          </a:bodyPr>
          <a:lstStyle/>
          <a:p>
            <a:pPr marR="0" lvl="0" algn="just" rtl="0">
              <a:lnSpc>
                <a:spcPct val="100000"/>
              </a:lnSpc>
              <a:spcBef>
                <a:spcPts val="0"/>
              </a:spcBef>
              <a:spcAft>
                <a:spcPts val="0"/>
              </a:spcAft>
            </a:pPr>
            <a:r>
              <a:rPr lang="en-US" sz="2000" dirty="0">
                <a:latin typeface="Times" panose="02020603050405020304" pitchFamily="18" charset="0"/>
                <a:cs typeface="Times" panose="02020603050405020304" pitchFamily="18" charset="0"/>
              </a:rPr>
              <a:t>Software Testing is a method to assess the functionality of the software program. The process checks whether the actual software matches the expected requirements and ensures the software is bug-free.  The purpose of software testing is to identify the errors, faults, or missing requirements in contrast to actual requirements. </a:t>
            </a:r>
          </a:p>
          <a:p>
            <a:pPr marR="0" lvl="0" algn="just" rtl="0">
              <a:lnSpc>
                <a:spcPct val="100000"/>
              </a:lnSpc>
              <a:spcBef>
                <a:spcPts val="0"/>
              </a:spcBef>
              <a:spcAft>
                <a:spcPts val="0"/>
              </a:spcAft>
            </a:pPr>
            <a:r>
              <a:rPr lang="en-US" sz="2000" dirty="0">
                <a:latin typeface="Times" panose="02020603050405020304" pitchFamily="18" charset="0"/>
                <a:cs typeface="Times" panose="02020603050405020304" pitchFamily="18" charset="0"/>
              </a:rPr>
              <a:t>It mainly aims at measuring the specification, functionality, and performance of a software program or application. </a:t>
            </a:r>
            <a:endParaRPr sz="2000" dirty="0">
              <a:latin typeface="Times" panose="02020603050405020304" pitchFamily="18" charset="0"/>
              <a:cs typeface="Times" panose="02020603050405020304" pitchFamily="18" charset="0"/>
            </a:endParaRPr>
          </a:p>
        </p:txBody>
      </p:sp>
      <p:sp>
        <p:nvSpPr>
          <p:cNvPr id="2" name="Rectangle 1">
            <a:extLst>
              <a:ext uri="{FF2B5EF4-FFF2-40B4-BE49-F238E27FC236}">
                <a16:creationId xmlns:a16="http://schemas.microsoft.com/office/drawing/2014/main" id="{2507606A-FFF1-A8D5-0BD8-93DFEFF42DC7}"/>
              </a:ext>
            </a:extLst>
          </p:cNvPr>
          <p:cNvSpPr>
            <a:spLocks noChangeArrowheads="1"/>
          </p:cNvSpPr>
          <p:nvPr/>
        </p:nvSpPr>
        <p:spPr bwMode="auto">
          <a:xfrm>
            <a:off x="84840" y="3852996"/>
            <a:ext cx="480131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Software testing can be divided into two steps: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8E827F2-1882-DE1A-50E7-680F02C544AD}"/>
              </a:ext>
            </a:extLst>
          </p:cNvPr>
          <p:cNvSpPr txBox="1"/>
          <p:nvPr/>
        </p:nvSpPr>
        <p:spPr>
          <a:xfrm>
            <a:off x="260415" y="4176203"/>
            <a:ext cx="8375586" cy="1938992"/>
          </a:xfrm>
          <a:prstGeom prst="rect">
            <a:avLst/>
          </a:prstGeom>
          <a:noFill/>
        </p:spPr>
        <p:txBody>
          <a:bodyPr wrap="square">
            <a:spAutoFit/>
          </a:bodyPr>
          <a:lstStyle/>
          <a:p>
            <a:pPr algn="just">
              <a:buFont typeface="+mj-lt"/>
              <a:buAutoNum type="arabicPeriod"/>
            </a:pPr>
            <a:r>
              <a:rPr lang="en-US" sz="2000" b="1" dirty="0">
                <a:latin typeface="Times New Roman" panose="02020603050405020304" pitchFamily="18" charset="0"/>
                <a:cs typeface="Times New Roman" panose="02020603050405020304" pitchFamily="18" charset="0"/>
              </a:rPr>
              <a:t>Verification:</a:t>
            </a:r>
            <a:r>
              <a:rPr lang="en-US" sz="2000" dirty="0">
                <a:latin typeface="Times New Roman" panose="02020603050405020304" pitchFamily="18" charset="0"/>
                <a:cs typeface="Times New Roman" panose="02020603050405020304" pitchFamily="18" charset="0"/>
              </a:rPr>
              <a:t> It refers to the set of tasks that ensure that the software correctly implements a specific function. It means “Are we building the product right?”.</a:t>
            </a:r>
          </a:p>
          <a:p>
            <a:pPr algn="just">
              <a:buFont typeface="+mj-lt"/>
              <a:buAutoNum type="arabicPeriod"/>
            </a:pPr>
            <a:endParaRPr lang="en-US" sz="2000" dirty="0">
              <a:latin typeface="Times New Roman" panose="02020603050405020304" pitchFamily="18" charset="0"/>
              <a:cs typeface="Times New Roman" panose="02020603050405020304" pitchFamily="18" charset="0"/>
            </a:endParaRPr>
          </a:p>
          <a:p>
            <a:pPr algn="just">
              <a:buFont typeface="+mj-lt"/>
              <a:buAutoNum type="arabicPeriod" startAt="2"/>
            </a:pPr>
            <a:r>
              <a:rPr lang="en-US" sz="2000" b="1" dirty="0">
                <a:latin typeface="Times New Roman" panose="02020603050405020304" pitchFamily="18" charset="0"/>
                <a:cs typeface="Times New Roman" panose="02020603050405020304" pitchFamily="18" charset="0"/>
              </a:rPr>
              <a:t>Validation:</a:t>
            </a:r>
            <a:r>
              <a:rPr lang="en-US" sz="2000" dirty="0">
                <a:latin typeface="Times New Roman" panose="02020603050405020304" pitchFamily="18" charset="0"/>
                <a:cs typeface="Times New Roman" panose="02020603050405020304" pitchFamily="18" charset="0"/>
              </a:rPr>
              <a:t> It refers to a different set of tasks that ensure that the software that has been built is traceable to customer requirements. It means “Are we building the right product?”.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6" name="Google Shape;116;p6"/>
          <p:cNvSpPr txBox="1"/>
          <p:nvPr/>
        </p:nvSpPr>
        <p:spPr>
          <a:xfrm>
            <a:off x="0" y="236469"/>
            <a:ext cx="660819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sz="2800" b="1" dirty="0">
                <a:latin typeface="Times New Roman" panose="02020603050405020304" pitchFamily="18" charset="0"/>
                <a:cs typeface="Times New Roman" panose="02020603050405020304" pitchFamily="18" charset="0"/>
              </a:rPr>
              <a:t>Importance of Software Testing:</a:t>
            </a:r>
            <a:endParaRPr sz="2800" dirty="0">
              <a:latin typeface="Times New Roman" panose="02020603050405020304" pitchFamily="18" charset="0"/>
              <a:cs typeface="Times New Roman" panose="02020603050405020304" pitchFamily="18" charset="0"/>
            </a:endParaRPr>
          </a:p>
        </p:txBody>
      </p:sp>
      <p:sp>
        <p:nvSpPr>
          <p:cNvPr id="117" name="Google Shape;117;p6"/>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E78C6D93-09E1-36B1-3F39-18574AF7AA1A}"/>
              </a:ext>
            </a:extLst>
          </p:cNvPr>
          <p:cNvSpPr txBox="1"/>
          <p:nvPr/>
        </p:nvSpPr>
        <p:spPr>
          <a:xfrm>
            <a:off x="148785" y="1125113"/>
            <a:ext cx="8647535" cy="4662815"/>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Defects can be identified early: </a:t>
            </a:r>
            <a:r>
              <a:rPr lang="en-US" sz="1800" dirty="0">
                <a:latin typeface="Times New Roman" panose="02020603050405020304" pitchFamily="18" charset="0"/>
                <a:cs typeface="Times New Roman" panose="02020603050405020304" pitchFamily="18" charset="0"/>
              </a:rPr>
              <a:t>Software testing is important because if there are any bugs they can be identified early and can be fixed before the delivery of the software.</a:t>
            </a:r>
          </a:p>
          <a:p>
            <a:pPr marL="285750" indent="-285750" algn="just">
              <a:lnSpc>
                <a:spcPct val="150000"/>
              </a:lnSpc>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Improves quality of software: </a:t>
            </a:r>
            <a:r>
              <a:rPr lang="en-US" sz="1800" dirty="0">
                <a:latin typeface="Times New Roman" panose="02020603050405020304" pitchFamily="18" charset="0"/>
                <a:cs typeface="Times New Roman" panose="02020603050405020304" pitchFamily="18" charset="0"/>
              </a:rPr>
              <a:t>Software Testing uncovers the defects in the software and fixing them improves the quality of the software.</a:t>
            </a:r>
          </a:p>
          <a:p>
            <a:pPr marL="285750" indent="-285750" algn="just">
              <a:lnSpc>
                <a:spcPct val="150000"/>
              </a:lnSpc>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Increased customer satisfaction: </a:t>
            </a:r>
            <a:r>
              <a:rPr lang="en-US" sz="1800" dirty="0">
                <a:latin typeface="Times New Roman" panose="02020603050405020304" pitchFamily="18" charset="0"/>
                <a:cs typeface="Times New Roman" panose="02020603050405020304" pitchFamily="18" charset="0"/>
              </a:rPr>
              <a:t>Software testing ensures reliability, security, and high performance which results in saving time, costs, and customer satisfaction. </a:t>
            </a:r>
          </a:p>
          <a:p>
            <a:pPr marL="285750" indent="-285750" algn="just">
              <a:lnSpc>
                <a:spcPct val="150000"/>
              </a:lnSpc>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Helps with scalability: </a:t>
            </a:r>
            <a:r>
              <a:rPr lang="en-US" sz="1800" dirty="0">
                <a:latin typeface="Times New Roman" panose="02020603050405020304" pitchFamily="18" charset="0"/>
                <a:cs typeface="Times New Roman" panose="02020603050405020304" pitchFamily="18" charset="0"/>
              </a:rPr>
              <a:t>Software testing type non-functional testing helps to identify the scalability issues and the point where an application might stop working.</a:t>
            </a:r>
          </a:p>
          <a:p>
            <a:pPr marL="285750" indent="-285750" algn="just">
              <a:lnSpc>
                <a:spcPct val="150000"/>
              </a:lnSpc>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Saves time and money: </a:t>
            </a:r>
            <a:r>
              <a:rPr lang="en-US" sz="1800" dirty="0">
                <a:latin typeface="Times New Roman" panose="02020603050405020304" pitchFamily="18" charset="0"/>
                <a:cs typeface="Times New Roman" panose="02020603050405020304" pitchFamily="18" charset="0"/>
              </a:rPr>
              <a:t>After the application is launched it will be very difficult to trace and resolve the issues, as performing this activity will incur more costs and time. Thus, it is better to conduct software testing at regular intervals during software development.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3704" y="1041222"/>
            <a:ext cx="8331200" cy="5355312"/>
          </a:xfrm>
          <a:prstGeom prst="rect">
            <a:avLst/>
          </a:prstGeom>
        </p:spPr>
        <p:txBody>
          <a:bodyPr wrap="square">
            <a:spAutoFit/>
          </a:bodyPr>
          <a:lstStyle/>
          <a:p>
            <a:pPr fontAlgn="base"/>
            <a:r>
              <a:rPr lang="en-US" sz="1800" dirty="0">
                <a:solidFill>
                  <a:srgbClr val="273239"/>
                </a:solidFill>
                <a:latin typeface="Times New Roman" panose="02020603050405020304" pitchFamily="18" charset="0"/>
                <a:cs typeface="Times New Roman" panose="02020603050405020304" pitchFamily="18" charset="0"/>
              </a:rPr>
              <a:t>Software bugs can cause potential monetary and human loss. There are many examples in history that clearly depicts that without the testing phase in software development lot of damage was incurred. Below are some examples:</a:t>
            </a:r>
          </a:p>
          <a:p>
            <a:pPr fontAlgn="base"/>
            <a:endParaRPr lang="en-US" sz="1800" dirty="0">
              <a:solidFill>
                <a:srgbClr val="273239"/>
              </a:solidFill>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sz="1800" b="1" dirty="0">
                <a:solidFill>
                  <a:srgbClr val="273239"/>
                </a:solidFill>
                <a:latin typeface="Times New Roman" panose="02020603050405020304" pitchFamily="18" charset="0"/>
                <a:cs typeface="Times New Roman" panose="02020603050405020304" pitchFamily="18" charset="0"/>
              </a:rPr>
              <a:t>1985: </a:t>
            </a:r>
            <a:r>
              <a:rPr lang="en-US" sz="1800" dirty="0">
                <a:solidFill>
                  <a:srgbClr val="273239"/>
                </a:solidFill>
                <a:latin typeface="Times New Roman" panose="02020603050405020304" pitchFamily="18" charset="0"/>
                <a:cs typeface="Times New Roman" panose="02020603050405020304" pitchFamily="18" charset="0"/>
              </a:rPr>
              <a:t>Canada’s Therac-25 radiation therapy malfunctioned due to a software bug and resulted in lethal radiation doses to patients leaving 3 injured and 3 people dead.</a:t>
            </a:r>
          </a:p>
          <a:p>
            <a:pPr marL="285750" indent="-285750" fontAlgn="base">
              <a:buFont typeface="Arial" panose="020B0604020202020204" pitchFamily="34" charset="0"/>
              <a:buChar char="•"/>
            </a:pPr>
            <a:r>
              <a:rPr lang="en-US" sz="1800" b="1" dirty="0">
                <a:solidFill>
                  <a:srgbClr val="273239"/>
                </a:solidFill>
                <a:latin typeface="Times New Roman" panose="02020603050405020304" pitchFamily="18" charset="0"/>
                <a:cs typeface="Times New Roman" panose="02020603050405020304" pitchFamily="18" charset="0"/>
              </a:rPr>
              <a:t>1994: </a:t>
            </a:r>
            <a:r>
              <a:rPr lang="en-US" sz="1800" dirty="0">
                <a:solidFill>
                  <a:srgbClr val="273239"/>
                </a:solidFill>
                <a:latin typeface="Times New Roman" panose="02020603050405020304" pitchFamily="18" charset="0"/>
                <a:cs typeface="Times New Roman" panose="02020603050405020304" pitchFamily="18" charset="0"/>
              </a:rPr>
              <a:t>China Airlines Airbus A300 crashed due to a software bug killing 264 people.</a:t>
            </a:r>
          </a:p>
          <a:p>
            <a:pPr marL="285750" indent="-285750" fontAlgn="base">
              <a:buFont typeface="Arial" panose="020B0604020202020204" pitchFamily="34" charset="0"/>
              <a:buChar char="•"/>
            </a:pPr>
            <a:r>
              <a:rPr lang="en-US" sz="1800" b="1" dirty="0">
                <a:solidFill>
                  <a:srgbClr val="273239"/>
                </a:solidFill>
                <a:latin typeface="Times New Roman" panose="02020603050405020304" pitchFamily="18" charset="0"/>
                <a:cs typeface="Times New Roman" panose="02020603050405020304" pitchFamily="18" charset="0"/>
              </a:rPr>
              <a:t>1996: </a:t>
            </a:r>
            <a:r>
              <a:rPr lang="en-US" sz="1800" dirty="0">
                <a:solidFill>
                  <a:srgbClr val="273239"/>
                </a:solidFill>
                <a:latin typeface="Times New Roman" panose="02020603050405020304" pitchFamily="18" charset="0"/>
                <a:cs typeface="Times New Roman" panose="02020603050405020304" pitchFamily="18" charset="0"/>
              </a:rPr>
              <a:t>A software bug caused U.S. bank accounts of 823 customers to be credited with 920 million US dollars.</a:t>
            </a:r>
          </a:p>
          <a:p>
            <a:pPr marL="285750" indent="-285750" fontAlgn="base">
              <a:buFont typeface="Arial" panose="020B0604020202020204" pitchFamily="34" charset="0"/>
              <a:buChar char="•"/>
            </a:pPr>
            <a:r>
              <a:rPr lang="en-US" sz="1800" b="1" dirty="0">
                <a:solidFill>
                  <a:srgbClr val="273239"/>
                </a:solidFill>
                <a:latin typeface="Times New Roman" panose="02020603050405020304" pitchFamily="18" charset="0"/>
                <a:cs typeface="Times New Roman" panose="02020603050405020304" pitchFamily="18" charset="0"/>
              </a:rPr>
              <a:t>1999: </a:t>
            </a:r>
            <a:r>
              <a:rPr lang="en-US" sz="1800" dirty="0">
                <a:solidFill>
                  <a:srgbClr val="273239"/>
                </a:solidFill>
                <a:latin typeface="Times New Roman" panose="02020603050405020304" pitchFamily="18" charset="0"/>
                <a:cs typeface="Times New Roman" panose="02020603050405020304" pitchFamily="18" charset="0"/>
              </a:rPr>
              <a:t>A software bug caused the failure of a $1.2 billion military satellite launch.</a:t>
            </a:r>
          </a:p>
          <a:p>
            <a:pPr marL="285750" indent="-285750" fontAlgn="base">
              <a:buFont typeface="Arial" panose="020B0604020202020204" pitchFamily="34" charset="0"/>
              <a:buChar char="•"/>
            </a:pPr>
            <a:r>
              <a:rPr lang="en-US" sz="1800" b="1" dirty="0">
                <a:solidFill>
                  <a:srgbClr val="273239"/>
                </a:solidFill>
                <a:latin typeface="Times New Roman" panose="02020603050405020304" pitchFamily="18" charset="0"/>
                <a:cs typeface="Times New Roman" panose="02020603050405020304" pitchFamily="18" charset="0"/>
              </a:rPr>
              <a:t>2015: </a:t>
            </a:r>
            <a:r>
              <a:rPr lang="en-US" sz="1800" dirty="0">
                <a:solidFill>
                  <a:srgbClr val="273239"/>
                </a:solidFill>
                <a:latin typeface="Times New Roman" panose="02020603050405020304" pitchFamily="18" charset="0"/>
                <a:cs typeface="Times New Roman" panose="02020603050405020304" pitchFamily="18" charset="0"/>
              </a:rPr>
              <a:t>A software bug in fighter plan F-35 resulted in making it unable to detect targets correctly.</a:t>
            </a:r>
          </a:p>
          <a:p>
            <a:pPr marL="285750" indent="-285750" fontAlgn="base">
              <a:buFont typeface="Arial" panose="020B0604020202020204" pitchFamily="34" charset="0"/>
              <a:buChar char="•"/>
            </a:pPr>
            <a:r>
              <a:rPr lang="en-US" sz="1800" b="1" dirty="0">
                <a:solidFill>
                  <a:srgbClr val="273239"/>
                </a:solidFill>
                <a:latin typeface="Times New Roman" panose="02020603050405020304" pitchFamily="18" charset="0"/>
                <a:cs typeface="Times New Roman" panose="02020603050405020304" pitchFamily="18" charset="0"/>
              </a:rPr>
              <a:t>2015: </a:t>
            </a:r>
            <a:r>
              <a:rPr lang="en-US" sz="1800" dirty="0">
                <a:solidFill>
                  <a:srgbClr val="273239"/>
                </a:solidFill>
                <a:latin typeface="Times New Roman" panose="02020603050405020304" pitchFamily="18" charset="0"/>
                <a:cs typeface="Times New Roman" panose="02020603050405020304" pitchFamily="18" charset="0"/>
              </a:rPr>
              <a:t>Bloomberg terminal in London crashed due to a software bug affecting 300,000 traders on the financial market and forcing the government to postpone the 3bn pound debt sale.</a:t>
            </a:r>
          </a:p>
          <a:p>
            <a:pPr marL="285750" indent="-285750" fontAlgn="base">
              <a:buFont typeface="Arial" panose="020B0604020202020204" pitchFamily="34" charset="0"/>
              <a:buChar char="•"/>
            </a:pPr>
            <a:r>
              <a:rPr lang="en-US" sz="1800" dirty="0">
                <a:solidFill>
                  <a:srgbClr val="273239"/>
                </a:solidFill>
                <a:latin typeface="Times New Roman" panose="02020603050405020304" pitchFamily="18" charset="0"/>
                <a:cs typeface="Times New Roman" panose="02020603050405020304" pitchFamily="18" charset="0"/>
              </a:rPr>
              <a:t>Starbucks was forced to close more than 60% of its outlet in the U.S. and Canada due to a software failure in its POS system.</a:t>
            </a:r>
          </a:p>
          <a:p>
            <a:pPr marL="285750" indent="-285750" fontAlgn="base">
              <a:buFont typeface="Arial" panose="020B0604020202020204" pitchFamily="34" charset="0"/>
              <a:buChar char="•"/>
            </a:pPr>
            <a:r>
              <a:rPr lang="en-US" sz="1800" dirty="0">
                <a:solidFill>
                  <a:srgbClr val="273239"/>
                </a:solidFill>
                <a:latin typeface="Times New Roman" panose="02020603050405020304" pitchFamily="18" charset="0"/>
                <a:cs typeface="Times New Roman" panose="02020603050405020304" pitchFamily="18" charset="0"/>
              </a:rPr>
              <a:t>Nissan cars were forced to recall 1 million cars from the market due to a software failure in the car’s airbag sensory detectors.</a:t>
            </a:r>
          </a:p>
        </p:txBody>
      </p:sp>
      <p:sp>
        <p:nvSpPr>
          <p:cNvPr id="3" name="Rectangle 2"/>
          <p:cNvSpPr/>
          <p:nvPr/>
        </p:nvSpPr>
        <p:spPr>
          <a:xfrm>
            <a:off x="243704" y="176312"/>
            <a:ext cx="4203395" cy="523220"/>
          </a:xfrm>
          <a:prstGeom prst="rect">
            <a:avLst/>
          </a:prstGeom>
        </p:spPr>
        <p:txBody>
          <a:bodyPr wrap="none">
            <a:spAutoFit/>
          </a:bodyPr>
          <a:lstStyle/>
          <a:p>
            <a:pPr fontAlgn="base"/>
            <a:r>
              <a:rPr lang="en-US" sz="2800" b="1" dirty="0">
                <a:solidFill>
                  <a:srgbClr val="273239"/>
                </a:solidFill>
                <a:latin typeface="Times New Roman" panose="02020603050405020304" pitchFamily="18" charset="0"/>
                <a:cs typeface="Times New Roman" panose="02020603050405020304" pitchFamily="18" charset="0"/>
              </a:rPr>
              <a:t>Need for Software Testing</a:t>
            </a:r>
          </a:p>
        </p:txBody>
      </p:sp>
    </p:spTree>
    <p:extLst>
      <p:ext uri="{BB962C8B-B14F-4D97-AF65-F5344CB8AC3E}">
        <p14:creationId xmlns:p14="http://schemas.microsoft.com/office/powerpoint/2010/main" val="3752879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6" name="Google Shape;126;p7"/>
          <p:cNvSpPr txBox="1"/>
          <p:nvPr/>
        </p:nvSpPr>
        <p:spPr>
          <a:xfrm>
            <a:off x="105216" y="147095"/>
            <a:ext cx="6354305" cy="523180"/>
          </a:xfrm>
          <a:prstGeom prst="rect">
            <a:avLst/>
          </a:prstGeom>
          <a:noFill/>
          <a:ln>
            <a:noFill/>
          </a:ln>
        </p:spPr>
        <p:txBody>
          <a:bodyPr spcFirstLastPara="1" wrap="square" lIns="91425" tIns="45700" rIns="91425" bIns="45700" anchor="t" anchorCtr="0">
            <a:spAutoFit/>
          </a:bodyPr>
          <a:lstStyle/>
          <a:p>
            <a:r>
              <a:rPr lang="en-US" sz="2800" b="1" dirty="0">
                <a:latin typeface="Times New Roman" panose="02020603050405020304" pitchFamily="18" charset="0"/>
                <a:cs typeface="Times New Roman" panose="02020603050405020304" pitchFamily="18" charset="0"/>
              </a:rPr>
              <a:t>Different Types of Software Testing </a:t>
            </a:r>
          </a:p>
        </p:txBody>
      </p:sp>
      <p:sp>
        <p:nvSpPr>
          <p:cNvPr id="127" name="Google Shape;127;p7"/>
          <p:cNvSpPr txBox="1"/>
          <p:nvPr/>
        </p:nvSpPr>
        <p:spPr>
          <a:xfrm>
            <a:off x="8229600" y="6400800"/>
            <a:ext cx="18415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F5EC2948-E363-6B87-F341-90A7E2390A36}"/>
              </a:ext>
            </a:extLst>
          </p:cNvPr>
          <p:cNvPicPr>
            <a:picLocks noChangeAspect="1"/>
          </p:cNvPicPr>
          <p:nvPr/>
        </p:nvPicPr>
        <p:blipFill>
          <a:blip r:embed="rId3"/>
          <a:stretch>
            <a:fillRect/>
          </a:stretch>
        </p:blipFill>
        <p:spPr>
          <a:xfrm>
            <a:off x="203200" y="843280"/>
            <a:ext cx="8686800" cy="5483948"/>
          </a:xfrm>
          <a:prstGeom prst="rect">
            <a:avLst/>
          </a:prstGeom>
        </p:spPr>
      </p:pic>
      <p:sp>
        <p:nvSpPr>
          <p:cNvPr id="119" name="Google Shape;119;p6"/>
          <p:cNvSpPr txBox="1"/>
          <p:nvPr/>
        </p:nvSpPr>
        <p:spPr>
          <a:xfrm>
            <a:off x="3025928" y="6400800"/>
            <a:ext cx="4002383"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Figure 1: Types of Software Testing</a:t>
            </a:r>
            <a:endParaRPr sz="1400" b="1"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4480" y="1161316"/>
            <a:ext cx="7924800" cy="4247317"/>
          </a:xfrm>
          <a:prstGeom prst="rect">
            <a:avLst/>
          </a:prstGeom>
        </p:spPr>
        <p:txBody>
          <a:bodyPr wrap="square">
            <a:spAutoFit/>
          </a:bodyPr>
          <a:lstStyle/>
          <a:p>
            <a:pPr algn="just" fontAlgn="base"/>
            <a:r>
              <a:rPr lang="en-US" sz="1800" dirty="0">
                <a:solidFill>
                  <a:srgbClr val="273239"/>
                </a:solidFill>
                <a:latin typeface="Times New Roman" panose="02020603050405020304" pitchFamily="18" charset="0"/>
                <a:cs typeface="Times New Roman" panose="02020603050405020304" pitchFamily="18" charset="0"/>
              </a:rPr>
              <a:t>Apart from the above classification software testing can be further divided into 2 more ways of testing:</a:t>
            </a:r>
          </a:p>
          <a:p>
            <a:pPr marL="342900" indent="-342900" algn="just" fontAlgn="base">
              <a:buFont typeface="+mj-lt"/>
              <a:buAutoNum type="arabicPeriod"/>
            </a:pPr>
            <a:r>
              <a:rPr lang="en-US" sz="1800" b="1" u="sng" dirty="0">
                <a:solidFill>
                  <a:srgbClr val="273239"/>
                </a:solidFill>
                <a:latin typeface="Times New Roman" panose="02020603050405020304" pitchFamily="18" charset="0"/>
                <a:cs typeface="Times New Roman" panose="02020603050405020304" pitchFamily="18" charset="0"/>
                <a:hlinkClick r:id="rId2"/>
              </a:rPr>
              <a:t>Manual testing </a:t>
            </a:r>
            <a:r>
              <a:rPr lang="en-US" sz="1800" dirty="0">
                <a:solidFill>
                  <a:srgbClr val="273239"/>
                </a:solidFill>
                <a:latin typeface="Times New Roman" panose="02020603050405020304" pitchFamily="18" charset="0"/>
                <a:cs typeface="Times New Roman" panose="02020603050405020304" pitchFamily="18" charset="0"/>
              </a:rPr>
              <a:t>: It includes testing software manually, i.e., without using any automation tool or script. In this type, the tester takes over the role of an end-user and tests the software to identify any unexpected behavior or bug. There are different stages for manual testing such as unit testing, integration testing, system testing, and user acceptance testing. Testers use test plans, test cases, or test scenarios to test software to ensure the completeness of testing. Manual testing also includes exploratory testing, as testers explore the software to identify errors in it.</a:t>
            </a:r>
          </a:p>
          <a:p>
            <a:pPr marL="342900" indent="-342900" algn="just" fontAlgn="base">
              <a:buFont typeface="+mj-lt"/>
              <a:buAutoNum type="arabicPeriod"/>
            </a:pPr>
            <a:r>
              <a:rPr lang="en-US" sz="1800" b="1" u="sng" dirty="0">
                <a:solidFill>
                  <a:srgbClr val="273239"/>
                </a:solidFill>
                <a:latin typeface="Times New Roman" panose="02020603050405020304" pitchFamily="18" charset="0"/>
                <a:cs typeface="Times New Roman" panose="02020603050405020304" pitchFamily="18" charset="0"/>
                <a:hlinkClick r:id="rId3"/>
              </a:rPr>
              <a:t>Automation testing </a:t>
            </a:r>
            <a:r>
              <a:rPr lang="en-US" sz="1800" dirty="0">
                <a:solidFill>
                  <a:srgbClr val="273239"/>
                </a:solidFill>
                <a:latin typeface="Times New Roman" panose="02020603050405020304" pitchFamily="18" charset="0"/>
                <a:cs typeface="Times New Roman" panose="02020603050405020304" pitchFamily="18" charset="0"/>
              </a:rPr>
              <a:t>: It is also known as Test Automation, is when the tester writes scripts and uses another software to test the product. This process involves the automation of a manual process. Automation Testing is used to re-run the test scenarios quickly and repeatedly, that were performed manually in manual testing.</a:t>
            </a:r>
          </a:p>
        </p:txBody>
      </p:sp>
      <p:sp>
        <p:nvSpPr>
          <p:cNvPr id="3" name="Google Shape;148;p10"/>
          <p:cNvSpPr txBox="1"/>
          <p:nvPr/>
        </p:nvSpPr>
        <p:spPr>
          <a:xfrm>
            <a:off x="0" y="114476"/>
            <a:ext cx="6957847" cy="523180"/>
          </a:xfrm>
          <a:prstGeom prst="rect">
            <a:avLst/>
          </a:prstGeom>
          <a:noFill/>
          <a:ln>
            <a:noFill/>
          </a:ln>
        </p:spPr>
        <p:txBody>
          <a:bodyPr spcFirstLastPara="1" wrap="square" lIns="91425" tIns="45700" rIns="91425" bIns="45700" anchor="t" anchorCtr="0">
            <a:spAutoFit/>
          </a:bodyPr>
          <a:lstStyle/>
          <a:p>
            <a:r>
              <a:rPr lang="en-US" sz="2800" b="1" dirty="0">
                <a:latin typeface="Times New Roman" panose="02020603050405020304" pitchFamily="18" charset="0"/>
                <a:cs typeface="Times New Roman" panose="02020603050405020304" pitchFamily="18" charset="0"/>
              </a:rPr>
              <a:t>Manual vs. Automated testing</a:t>
            </a:r>
          </a:p>
        </p:txBody>
      </p:sp>
    </p:spTree>
    <p:extLst>
      <p:ext uri="{BB962C8B-B14F-4D97-AF65-F5344CB8AC3E}">
        <p14:creationId xmlns:p14="http://schemas.microsoft.com/office/powerpoint/2010/main" val="384173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3200" y="972443"/>
            <a:ext cx="8493760" cy="5632311"/>
          </a:xfrm>
          <a:prstGeom prst="rect">
            <a:avLst/>
          </a:prstGeom>
        </p:spPr>
        <p:txBody>
          <a:bodyPr wrap="square">
            <a:spAutoFit/>
          </a:bodyPr>
          <a:lstStyle/>
          <a:p>
            <a:pPr algn="just" fontAlgn="base">
              <a:lnSpc>
                <a:spcPct val="150000"/>
              </a:lnSpc>
            </a:pPr>
            <a:r>
              <a:rPr lang="en-US" sz="2000" dirty="0">
                <a:solidFill>
                  <a:srgbClr val="273239"/>
                </a:solidFill>
                <a:latin typeface="Times New Roman" panose="02020603050405020304" pitchFamily="18" charset="0"/>
                <a:cs typeface="Times New Roman" panose="02020603050405020304" pitchFamily="18" charset="0"/>
              </a:rPr>
              <a:t>Software testing techniques can be majorly classified into two categories:</a:t>
            </a:r>
          </a:p>
          <a:p>
            <a:pPr algn="just" fontAlgn="base">
              <a:lnSpc>
                <a:spcPct val="150000"/>
              </a:lnSpc>
            </a:pPr>
            <a:endParaRPr lang="en-US" sz="2000" dirty="0">
              <a:solidFill>
                <a:srgbClr val="273239"/>
              </a:solidFill>
              <a:latin typeface="Times New Roman" panose="02020603050405020304" pitchFamily="18" charset="0"/>
              <a:cs typeface="Times New Roman" panose="02020603050405020304" pitchFamily="18" charset="0"/>
            </a:endParaRPr>
          </a:p>
          <a:p>
            <a:pPr marL="457200" indent="-457200" algn="just" fontAlgn="base">
              <a:lnSpc>
                <a:spcPct val="150000"/>
              </a:lnSpc>
              <a:buFont typeface="+mj-lt"/>
              <a:buAutoNum type="arabicPeriod"/>
            </a:pPr>
            <a:r>
              <a:rPr lang="en-US" sz="2000" b="1" u="sng" dirty="0">
                <a:solidFill>
                  <a:srgbClr val="273239"/>
                </a:solidFill>
                <a:latin typeface="Times New Roman" panose="02020603050405020304" pitchFamily="18" charset="0"/>
                <a:cs typeface="Times New Roman" panose="02020603050405020304" pitchFamily="18" charset="0"/>
                <a:hlinkClick r:id="rId2"/>
              </a:rPr>
              <a:t>Black box Testing </a:t>
            </a:r>
            <a:r>
              <a:rPr lang="en-US" sz="2000" dirty="0">
                <a:solidFill>
                  <a:srgbClr val="273239"/>
                </a:solidFill>
                <a:latin typeface="Times New Roman" panose="02020603050405020304" pitchFamily="18" charset="0"/>
                <a:cs typeface="Times New Roman" panose="02020603050405020304" pitchFamily="18" charset="0"/>
              </a:rPr>
              <a:t>: Testing in which the tester doesn’t have access to the source code of the software and is conducted at the software interface without any concern with the internal logical structure of the software known as black-box testing.</a:t>
            </a:r>
          </a:p>
          <a:p>
            <a:pPr marL="457200" indent="-457200" algn="just" fontAlgn="base">
              <a:lnSpc>
                <a:spcPct val="150000"/>
              </a:lnSpc>
              <a:buFont typeface="+mj-lt"/>
              <a:buAutoNum type="arabicPeriod"/>
            </a:pPr>
            <a:r>
              <a:rPr lang="en-US" sz="2000" b="1" u="sng" dirty="0">
                <a:solidFill>
                  <a:srgbClr val="273239"/>
                </a:solidFill>
                <a:latin typeface="Times New Roman" panose="02020603050405020304" pitchFamily="18" charset="0"/>
                <a:cs typeface="Times New Roman" panose="02020603050405020304" pitchFamily="18" charset="0"/>
                <a:hlinkClick r:id="rId3"/>
              </a:rPr>
              <a:t>White box Testing </a:t>
            </a:r>
            <a:r>
              <a:rPr lang="en-US" sz="2000" dirty="0">
                <a:solidFill>
                  <a:srgbClr val="273239"/>
                </a:solidFill>
                <a:latin typeface="Times New Roman" panose="02020603050405020304" pitchFamily="18" charset="0"/>
                <a:cs typeface="Times New Roman" panose="02020603050405020304" pitchFamily="18" charset="0"/>
              </a:rPr>
              <a:t>: Testing in which the tester is aware of the internal workings of the product, has access to its source code, and is conducted by making sure that all internal operations are performed according to the specifications is known as white box testing.</a:t>
            </a:r>
          </a:p>
          <a:p>
            <a:pPr marL="457200" indent="-457200" algn="just" fontAlgn="base">
              <a:lnSpc>
                <a:spcPct val="150000"/>
              </a:lnSpc>
              <a:buFont typeface="+mj-lt"/>
              <a:buAutoNum type="arabicPeriod"/>
            </a:pPr>
            <a:r>
              <a:rPr lang="en-US" sz="2000" b="1" u="sng" dirty="0">
                <a:solidFill>
                  <a:srgbClr val="273239"/>
                </a:solidFill>
                <a:latin typeface="Times New Roman" panose="02020603050405020304" pitchFamily="18" charset="0"/>
                <a:cs typeface="Times New Roman" panose="02020603050405020304" pitchFamily="18" charset="0"/>
                <a:hlinkClick r:id="rId4"/>
              </a:rPr>
              <a:t>Grey Box Testing </a:t>
            </a:r>
            <a:r>
              <a:rPr lang="en-US" sz="2000" dirty="0">
                <a:solidFill>
                  <a:srgbClr val="273239"/>
                </a:solidFill>
                <a:latin typeface="Times New Roman" panose="02020603050405020304" pitchFamily="18" charset="0"/>
                <a:cs typeface="Times New Roman" panose="02020603050405020304" pitchFamily="18" charset="0"/>
              </a:rPr>
              <a:t>: Testing in which the testers should have knowledge of implementation; however, they need not be experts.</a:t>
            </a:r>
          </a:p>
        </p:txBody>
      </p:sp>
      <p:sp>
        <p:nvSpPr>
          <p:cNvPr id="3" name="Rectangle 2"/>
          <p:cNvSpPr/>
          <p:nvPr/>
        </p:nvSpPr>
        <p:spPr>
          <a:xfrm>
            <a:off x="0" y="-77688"/>
            <a:ext cx="4533613" cy="954107"/>
          </a:xfrm>
          <a:prstGeom prst="rect">
            <a:avLst/>
          </a:prstGeom>
        </p:spPr>
        <p:txBody>
          <a:bodyPr wrap="none">
            <a:spAutoFit/>
          </a:bodyPr>
          <a:lstStyle/>
          <a:p>
            <a:pPr fontAlgn="base"/>
            <a:r>
              <a:rPr lang="en-US" sz="2800" b="1" dirty="0">
                <a:solidFill>
                  <a:srgbClr val="273239"/>
                </a:solidFill>
                <a:latin typeface="Times New Roman" panose="02020603050405020304" pitchFamily="18" charset="0"/>
                <a:cs typeface="Times New Roman" panose="02020603050405020304" pitchFamily="18" charset="0"/>
              </a:rPr>
              <a:t>Different Types of Software </a:t>
            </a:r>
          </a:p>
          <a:p>
            <a:pPr fontAlgn="base"/>
            <a:r>
              <a:rPr lang="en-US" sz="2800" b="1" dirty="0">
                <a:solidFill>
                  <a:srgbClr val="273239"/>
                </a:solidFill>
                <a:latin typeface="Times New Roman" panose="02020603050405020304" pitchFamily="18" charset="0"/>
                <a:cs typeface="Times New Roman" panose="02020603050405020304" pitchFamily="18" charset="0"/>
              </a:rPr>
              <a:t>Testing Techniques</a:t>
            </a:r>
          </a:p>
        </p:txBody>
      </p:sp>
    </p:spTree>
    <p:extLst>
      <p:ext uri="{BB962C8B-B14F-4D97-AF65-F5344CB8AC3E}">
        <p14:creationId xmlns:p14="http://schemas.microsoft.com/office/powerpoint/2010/main" val="1649350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084031929"/>
              </p:ext>
            </p:extLst>
          </p:nvPr>
        </p:nvGraphicFramePr>
        <p:xfrm>
          <a:off x="142240" y="1005841"/>
          <a:ext cx="8737604" cy="5438419"/>
        </p:xfrm>
        <a:graphic>
          <a:graphicData uri="http://schemas.openxmlformats.org/drawingml/2006/table">
            <a:tbl>
              <a:tblPr>
                <a:tableStyleId>{3C2FFA5D-87B4-456A-9821-1D502468CF0F}</a:tableStyleId>
              </a:tblPr>
              <a:tblGrid>
                <a:gridCol w="878211">
                  <a:extLst>
                    <a:ext uri="{9D8B030D-6E8A-4147-A177-3AD203B41FA5}">
                      <a16:colId xmlns:a16="http://schemas.microsoft.com/office/drawing/2014/main" val="20000"/>
                    </a:ext>
                  </a:extLst>
                </a:gridCol>
                <a:gridCol w="2812485">
                  <a:extLst>
                    <a:ext uri="{9D8B030D-6E8A-4147-A177-3AD203B41FA5}">
                      <a16:colId xmlns:a16="http://schemas.microsoft.com/office/drawing/2014/main" val="20001"/>
                    </a:ext>
                  </a:extLst>
                </a:gridCol>
                <a:gridCol w="2545688">
                  <a:extLst>
                    <a:ext uri="{9D8B030D-6E8A-4147-A177-3AD203B41FA5}">
                      <a16:colId xmlns:a16="http://schemas.microsoft.com/office/drawing/2014/main" val="20002"/>
                    </a:ext>
                  </a:extLst>
                </a:gridCol>
                <a:gridCol w="2501220">
                  <a:extLst>
                    <a:ext uri="{9D8B030D-6E8A-4147-A177-3AD203B41FA5}">
                      <a16:colId xmlns:a16="http://schemas.microsoft.com/office/drawing/2014/main" val="20003"/>
                    </a:ext>
                  </a:extLst>
                </a:gridCol>
              </a:tblGrid>
              <a:tr h="691513">
                <a:tc>
                  <a:txBody>
                    <a:bodyPr/>
                    <a:lstStyle/>
                    <a:p>
                      <a:pPr algn="l" fontAlgn="base"/>
                      <a:r>
                        <a:rPr lang="en-US" sz="1600" b="1" dirty="0">
                          <a:effectLst/>
                          <a:latin typeface="Times New Roman" panose="02020603050405020304" pitchFamily="18" charset="0"/>
                          <a:cs typeface="Times New Roman" panose="02020603050405020304" pitchFamily="18" charset="0"/>
                        </a:rPr>
                        <a:t>S No.</a:t>
                      </a:r>
                    </a:p>
                  </a:txBody>
                  <a:tcPr marL="38100" marR="38100" marT="63500" marB="63500" anchor="ctr"/>
                </a:tc>
                <a:tc>
                  <a:txBody>
                    <a:bodyPr/>
                    <a:lstStyle/>
                    <a:p>
                      <a:pPr algn="l" fontAlgn="base"/>
                      <a:r>
                        <a:rPr lang="en-US" sz="1600" b="1" dirty="0">
                          <a:effectLst/>
                          <a:latin typeface="Times New Roman" panose="02020603050405020304" pitchFamily="18" charset="0"/>
                          <a:cs typeface="Times New Roman" panose="02020603050405020304" pitchFamily="18" charset="0"/>
                        </a:rPr>
                        <a:t>Black Box Testing</a:t>
                      </a:r>
                    </a:p>
                  </a:txBody>
                  <a:tcPr marL="63500" marR="63500" marT="63500" marB="63500" anchor="ctr"/>
                </a:tc>
                <a:tc>
                  <a:txBody>
                    <a:bodyPr/>
                    <a:lstStyle/>
                    <a:p>
                      <a:pPr algn="l" fontAlgn="base"/>
                      <a:r>
                        <a:rPr lang="en-US" sz="1600" b="1" dirty="0">
                          <a:effectLst/>
                          <a:latin typeface="Times New Roman" panose="02020603050405020304" pitchFamily="18" charset="0"/>
                          <a:cs typeface="Times New Roman" panose="02020603050405020304" pitchFamily="18" charset="0"/>
                        </a:rPr>
                        <a:t>White Box Testing</a:t>
                      </a:r>
                    </a:p>
                  </a:txBody>
                  <a:tcPr marL="63500" marR="63500" marT="63500" marB="635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ase"/>
                      <a:r>
                        <a:rPr lang="en-US" sz="1600" b="1" dirty="0">
                          <a:effectLst/>
                          <a:latin typeface="Times New Roman" panose="02020603050405020304" pitchFamily="18" charset="0"/>
                          <a:cs typeface="Times New Roman" panose="02020603050405020304" pitchFamily="18" charset="0"/>
                        </a:rPr>
                        <a:t>Grey Box Testing</a:t>
                      </a:r>
                    </a:p>
                  </a:txBody>
                  <a:tcPr marL="63500" marR="63500" marT="63500" marB="635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258331">
                <a:tc>
                  <a:txBody>
                    <a:bodyPr/>
                    <a:lstStyle/>
                    <a:p>
                      <a:pPr algn="l" fontAlgn="ctr"/>
                      <a:r>
                        <a:rPr lang="en-US" sz="1600">
                          <a:effectLst/>
                          <a:latin typeface="Times New Roman" panose="02020603050405020304" pitchFamily="18" charset="0"/>
                          <a:cs typeface="Times New Roman" panose="02020603050405020304" pitchFamily="18" charset="0"/>
                        </a:rPr>
                        <a:t>1</a:t>
                      </a:r>
                      <a:endParaRPr lang="en-US" sz="1600" b="0">
                        <a:effectLst/>
                        <a:latin typeface="Times New Roman" panose="02020603050405020304" pitchFamily="18" charset="0"/>
                        <a:cs typeface="Times New Roman" panose="02020603050405020304" pitchFamily="18" charset="0"/>
                      </a:endParaRPr>
                    </a:p>
                  </a:txBody>
                  <a:tcPr marL="63500" marR="63500" marT="88900" marB="88900" anchor="ctr"/>
                </a:tc>
                <a:tc>
                  <a:txBody>
                    <a:bodyPr/>
                    <a:lstStyle/>
                    <a:p>
                      <a:pPr algn="l" fontAlgn="ctr"/>
                      <a:r>
                        <a:rPr lang="en-US" sz="1600" dirty="0">
                          <a:effectLst/>
                          <a:latin typeface="Times New Roman" panose="02020603050405020304" pitchFamily="18" charset="0"/>
                          <a:cs typeface="Times New Roman" panose="02020603050405020304" pitchFamily="18" charset="0"/>
                        </a:rPr>
                        <a:t>Internal workings of an application are not required.</a:t>
                      </a:r>
                      <a:endParaRPr lang="en-US" sz="1600" b="0" dirty="0">
                        <a:effectLst/>
                        <a:latin typeface="Times New Roman" panose="02020603050405020304" pitchFamily="18" charset="0"/>
                        <a:cs typeface="Times New Roman" panose="02020603050405020304" pitchFamily="18" charset="0"/>
                      </a:endParaRPr>
                    </a:p>
                  </a:txBody>
                  <a:tcPr marL="63500" marR="63500" marT="88900" marB="88900" anchor="ctr"/>
                </a:tc>
                <a:tc>
                  <a:txBody>
                    <a:bodyPr/>
                    <a:lstStyle/>
                    <a:p>
                      <a:pPr algn="l" fontAlgn="ctr"/>
                      <a:r>
                        <a:rPr lang="en-US" sz="1600">
                          <a:effectLst/>
                          <a:latin typeface="Times New Roman" panose="02020603050405020304" pitchFamily="18" charset="0"/>
                          <a:cs typeface="Times New Roman" panose="02020603050405020304" pitchFamily="18" charset="0"/>
                        </a:rPr>
                        <a:t>Knowledge of the internal workings is a must.</a:t>
                      </a:r>
                      <a:endParaRPr lang="en-US" sz="1600" b="0">
                        <a:effectLst/>
                        <a:latin typeface="Times New Roman" panose="02020603050405020304" pitchFamily="18" charset="0"/>
                        <a:cs typeface="Times New Roman" panose="02020603050405020304" pitchFamily="18" charset="0"/>
                      </a:endParaRPr>
                    </a:p>
                  </a:txBody>
                  <a:tcPr marL="63500" marR="63500" marT="88900" marB="88900" anchor="ctr">
                    <a:lnT w="12700" cap="flat" cmpd="sng" algn="ctr">
                      <a:solidFill>
                        <a:schemeClr val="tx1"/>
                      </a:solidFill>
                      <a:prstDash val="solid"/>
                      <a:round/>
                      <a:headEnd type="none" w="med" len="med"/>
                      <a:tailEnd type="none" w="med" len="med"/>
                    </a:lnT>
                  </a:tcPr>
                </a:tc>
                <a:tc>
                  <a:txBody>
                    <a:bodyPr/>
                    <a:lstStyle/>
                    <a:p>
                      <a:pPr algn="l" fontAlgn="ctr"/>
                      <a:r>
                        <a:rPr lang="en-US"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The </a:t>
                      </a:r>
                      <a:r>
                        <a:rPr lang="en-US" sz="16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Gray Box Testing </a:t>
                      </a:r>
                      <a:r>
                        <a:rPr lang="en-US"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is a combination of </a:t>
                      </a:r>
                      <a:r>
                        <a:rPr lang="en-US" sz="16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Black Box </a:t>
                      </a:r>
                      <a:r>
                        <a:rPr lang="en-US"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and </a:t>
                      </a:r>
                      <a:r>
                        <a:rPr lang="en-US" sz="16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White Box Testing</a:t>
                      </a:r>
                      <a:endParaRPr lang="en-US" sz="1600" b="0" dirty="0">
                        <a:effectLst/>
                        <a:latin typeface="Times New Roman" panose="02020603050405020304" pitchFamily="18" charset="0"/>
                        <a:cs typeface="Times New Roman" panose="02020603050405020304" pitchFamily="18" charset="0"/>
                      </a:endParaRPr>
                    </a:p>
                  </a:txBody>
                  <a:tcPr marL="63500" marR="63500" marT="88900" marB="8890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938415">
                <a:tc>
                  <a:txBody>
                    <a:bodyPr/>
                    <a:lstStyle/>
                    <a:p>
                      <a:pPr algn="l" fontAlgn="ctr"/>
                      <a:r>
                        <a:rPr lang="en-US" sz="1600">
                          <a:effectLst/>
                          <a:latin typeface="Times New Roman" panose="02020603050405020304" pitchFamily="18" charset="0"/>
                          <a:cs typeface="Times New Roman" panose="02020603050405020304" pitchFamily="18" charset="0"/>
                        </a:rPr>
                        <a:t>2</a:t>
                      </a:r>
                      <a:endParaRPr lang="en-US" sz="1600" b="0">
                        <a:effectLst/>
                        <a:latin typeface="Times New Roman" panose="02020603050405020304" pitchFamily="18" charset="0"/>
                        <a:cs typeface="Times New Roman" panose="02020603050405020304" pitchFamily="18" charset="0"/>
                      </a:endParaRPr>
                    </a:p>
                  </a:txBody>
                  <a:tcPr marL="63500" marR="63500" marT="88900" marB="88900" anchor="ctr"/>
                </a:tc>
                <a:tc>
                  <a:txBody>
                    <a:bodyPr/>
                    <a:lstStyle/>
                    <a:p>
                      <a:pPr algn="l" fontAlgn="ctr"/>
                      <a:r>
                        <a:rPr lang="en-US" sz="1600">
                          <a:effectLst/>
                          <a:latin typeface="Times New Roman" panose="02020603050405020304" pitchFamily="18" charset="0"/>
                          <a:cs typeface="Times New Roman" panose="02020603050405020304" pitchFamily="18" charset="0"/>
                        </a:rPr>
                        <a:t>Also known as closed box/data-driven testing.</a:t>
                      </a:r>
                      <a:endParaRPr lang="en-US" sz="1600" b="0">
                        <a:effectLst/>
                        <a:latin typeface="Times New Roman" panose="02020603050405020304" pitchFamily="18" charset="0"/>
                        <a:cs typeface="Times New Roman" panose="02020603050405020304" pitchFamily="18" charset="0"/>
                      </a:endParaRPr>
                    </a:p>
                  </a:txBody>
                  <a:tcPr marL="63500" marR="63500" marT="88900" marB="88900" anchor="ctr"/>
                </a:tc>
                <a:tc>
                  <a:txBody>
                    <a:bodyPr/>
                    <a:lstStyle/>
                    <a:p>
                      <a:pPr algn="l" fontAlgn="ctr"/>
                      <a:r>
                        <a:rPr lang="en-US" sz="1600" dirty="0">
                          <a:effectLst/>
                          <a:latin typeface="Times New Roman" panose="02020603050405020304" pitchFamily="18" charset="0"/>
                          <a:cs typeface="Times New Roman" panose="02020603050405020304" pitchFamily="18" charset="0"/>
                        </a:rPr>
                        <a:t>Also known as clear box/structural testing.</a:t>
                      </a:r>
                      <a:endParaRPr lang="en-US" sz="1600" b="0" dirty="0">
                        <a:effectLst/>
                        <a:latin typeface="Times New Roman" panose="02020603050405020304" pitchFamily="18" charset="0"/>
                        <a:cs typeface="Times New Roman" panose="02020603050405020304" pitchFamily="18" charset="0"/>
                      </a:endParaRPr>
                    </a:p>
                  </a:txBody>
                  <a:tcPr marL="63500" marR="63500" marT="88900" marB="88900" anchor="ctr"/>
                </a:tc>
                <a:tc>
                  <a:txBody>
                    <a:bodyPr/>
                    <a:lstStyle/>
                    <a:p>
                      <a:pPr algn="l" fontAlgn="base"/>
                      <a:r>
                        <a:rPr lang="en-US"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The internal structure is partially known in Gray Box Testing.</a:t>
                      </a:r>
                    </a:p>
                  </a:txBody>
                  <a:tcPr marL="63500" marR="63500" marT="88900" marB="88900" anchor="ctr"/>
                </a:tc>
                <a:extLst>
                  <a:ext uri="{0D108BD9-81ED-4DB2-BD59-A6C34878D82A}">
                    <a16:rowId xmlns:a16="http://schemas.microsoft.com/office/drawing/2014/main" val="10002"/>
                  </a:ext>
                </a:extLst>
              </a:tr>
              <a:tr h="938415">
                <a:tc>
                  <a:txBody>
                    <a:bodyPr/>
                    <a:lstStyle/>
                    <a:p>
                      <a:pPr algn="l" fontAlgn="ctr"/>
                      <a:r>
                        <a:rPr lang="en-US" sz="1600">
                          <a:effectLst/>
                          <a:latin typeface="Times New Roman" panose="02020603050405020304" pitchFamily="18" charset="0"/>
                          <a:cs typeface="Times New Roman" panose="02020603050405020304" pitchFamily="18" charset="0"/>
                        </a:rPr>
                        <a:t>3</a:t>
                      </a:r>
                      <a:endParaRPr lang="en-US" sz="1600" b="0">
                        <a:effectLst/>
                        <a:latin typeface="Times New Roman" panose="02020603050405020304" pitchFamily="18" charset="0"/>
                        <a:cs typeface="Times New Roman" panose="02020603050405020304" pitchFamily="18" charset="0"/>
                      </a:endParaRPr>
                    </a:p>
                  </a:txBody>
                  <a:tcPr marL="63500" marR="63500" marT="88900" marB="88900" anchor="ctr"/>
                </a:tc>
                <a:tc>
                  <a:txBody>
                    <a:bodyPr/>
                    <a:lstStyle/>
                    <a:p>
                      <a:pPr algn="l" fontAlgn="ctr"/>
                      <a:r>
                        <a:rPr lang="en-US" sz="1600">
                          <a:effectLst/>
                          <a:latin typeface="Times New Roman" panose="02020603050405020304" pitchFamily="18" charset="0"/>
                          <a:cs typeface="Times New Roman" panose="02020603050405020304" pitchFamily="18" charset="0"/>
                        </a:rPr>
                        <a:t>End users, testers, and developers.</a:t>
                      </a:r>
                      <a:endParaRPr lang="en-US" sz="1600" b="0">
                        <a:effectLst/>
                        <a:latin typeface="Times New Roman" panose="02020603050405020304" pitchFamily="18" charset="0"/>
                        <a:cs typeface="Times New Roman" panose="02020603050405020304" pitchFamily="18" charset="0"/>
                      </a:endParaRPr>
                    </a:p>
                  </a:txBody>
                  <a:tcPr marL="63500" marR="63500" marT="88900" marB="88900" anchor="ctr"/>
                </a:tc>
                <a:tc>
                  <a:txBody>
                    <a:bodyPr/>
                    <a:lstStyle/>
                    <a:p>
                      <a:pPr algn="l" fontAlgn="ctr"/>
                      <a:r>
                        <a:rPr lang="en-US" sz="1600" dirty="0">
                          <a:effectLst/>
                          <a:latin typeface="Times New Roman" panose="02020603050405020304" pitchFamily="18" charset="0"/>
                          <a:cs typeface="Times New Roman" panose="02020603050405020304" pitchFamily="18" charset="0"/>
                        </a:rPr>
                        <a:t>Normally done by testers and developers.</a:t>
                      </a:r>
                      <a:endParaRPr lang="en-US" sz="1600" b="0" dirty="0">
                        <a:effectLst/>
                        <a:latin typeface="Times New Roman" panose="02020603050405020304" pitchFamily="18" charset="0"/>
                        <a:cs typeface="Times New Roman" panose="02020603050405020304" pitchFamily="18" charset="0"/>
                      </a:endParaRPr>
                    </a:p>
                  </a:txBody>
                  <a:tcPr marL="63500" marR="63500" marT="88900" marB="88900" anchor="ctr"/>
                </a:tc>
                <a:tc>
                  <a:txBody>
                    <a:bodyPr/>
                    <a:lstStyle/>
                    <a:p>
                      <a:pPr algn="l" fontAlgn="base"/>
                      <a:r>
                        <a:rPr lang="en-US"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This includes access to internal data structures and algorithms to design the test cases.</a:t>
                      </a:r>
                    </a:p>
                  </a:txBody>
                  <a:tcPr marL="63500" marR="63500" marT="88900" marB="88900" anchor="ctr"/>
                </a:tc>
                <a:extLst>
                  <a:ext uri="{0D108BD9-81ED-4DB2-BD59-A6C34878D82A}">
                    <a16:rowId xmlns:a16="http://schemas.microsoft.com/office/drawing/2014/main" val="10003"/>
                  </a:ext>
                </a:extLst>
              </a:tr>
              <a:tr h="1258331">
                <a:tc>
                  <a:txBody>
                    <a:bodyPr/>
                    <a:lstStyle/>
                    <a:p>
                      <a:pPr algn="l" fontAlgn="ctr"/>
                      <a:r>
                        <a:rPr lang="en-US" sz="1600">
                          <a:effectLst/>
                          <a:latin typeface="Times New Roman" panose="02020603050405020304" pitchFamily="18" charset="0"/>
                          <a:cs typeface="Times New Roman" panose="02020603050405020304" pitchFamily="18" charset="0"/>
                        </a:rPr>
                        <a:t>4</a:t>
                      </a:r>
                      <a:endParaRPr lang="en-US" sz="1600" b="0">
                        <a:effectLst/>
                        <a:latin typeface="Times New Roman" panose="02020603050405020304" pitchFamily="18" charset="0"/>
                        <a:cs typeface="Times New Roman" panose="02020603050405020304" pitchFamily="18" charset="0"/>
                      </a:endParaRPr>
                    </a:p>
                  </a:txBody>
                  <a:tcPr marL="63500" marR="63500" marT="88900" marB="88900" anchor="ctr"/>
                </a:tc>
                <a:tc>
                  <a:txBody>
                    <a:bodyPr/>
                    <a:lstStyle/>
                    <a:p>
                      <a:pPr algn="l" fontAlgn="ctr"/>
                      <a:r>
                        <a:rPr lang="en-US" sz="1600" dirty="0">
                          <a:effectLst/>
                          <a:latin typeface="Times New Roman" panose="02020603050405020304" pitchFamily="18" charset="0"/>
                          <a:cs typeface="Times New Roman" panose="02020603050405020304" pitchFamily="18" charset="0"/>
                        </a:rPr>
                        <a:t>This can only be done by a trial-and-error method.</a:t>
                      </a:r>
                      <a:endParaRPr lang="en-US" sz="1600" b="0" dirty="0">
                        <a:effectLst/>
                        <a:latin typeface="Times New Roman" panose="02020603050405020304" pitchFamily="18" charset="0"/>
                        <a:cs typeface="Times New Roman" panose="02020603050405020304" pitchFamily="18" charset="0"/>
                      </a:endParaRPr>
                    </a:p>
                  </a:txBody>
                  <a:tcPr marL="63500" marR="63500" marT="88900" marB="88900" anchor="ctr"/>
                </a:tc>
                <a:tc>
                  <a:txBody>
                    <a:bodyPr/>
                    <a:lstStyle/>
                    <a:p>
                      <a:pPr algn="l" fontAlgn="ctr"/>
                      <a:r>
                        <a:rPr lang="en-US" sz="1600" dirty="0">
                          <a:effectLst/>
                          <a:latin typeface="Times New Roman" panose="02020603050405020304" pitchFamily="18" charset="0"/>
                          <a:cs typeface="Times New Roman" panose="02020603050405020304" pitchFamily="18" charset="0"/>
                        </a:rPr>
                        <a:t>Data domains and internal boundaries can be better tested.</a:t>
                      </a:r>
                      <a:endParaRPr lang="en-US" sz="1600" b="0" dirty="0">
                        <a:effectLst/>
                        <a:latin typeface="Times New Roman" panose="02020603050405020304" pitchFamily="18" charset="0"/>
                        <a:cs typeface="Times New Roman" panose="02020603050405020304" pitchFamily="18" charset="0"/>
                      </a:endParaRPr>
                    </a:p>
                  </a:txBody>
                  <a:tcPr marL="63500" marR="63500" marT="88900" marB="88900" anchor="ctr"/>
                </a:tc>
                <a:tc>
                  <a:txBody>
                    <a:bodyPr/>
                    <a:lstStyle/>
                    <a:p>
                      <a:pPr algn="l" fontAlgn="base"/>
                      <a:r>
                        <a:rPr lang="en-US" sz="16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It is based on requirement test case generation because it has all the conditions presented before the program is tested.</a:t>
                      </a:r>
                    </a:p>
                  </a:txBody>
                  <a:tcPr marL="63500" marR="63500" marT="88900" marB="88900" anchor="ctr"/>
                </a:tc>
                <a:extLst>
                  <a:ext uri="{0D108BD9-81ED-4DB2-BD59-A6C34878D82A}">
                    <a16:rowId xmlns:a16="http://schemas.microsoft.com/office/drawing/2014/main" val="10004"/>
                  </a:ext>
                </a:extLst>
              </a:tr>
            </a:tbl>
          </a:graphicData>
        </a:graphic>
      </p:graphicFrame>
      <p:sp>
        <p:nvSpPr>
          <p:cNvPr id="4" name="TextBox 3"/>
          <p:cNvSpPr txBox="1"/>
          <p:nvPr/>
        </p:nvSpPr>
        <p:spPr>
          <a:xfrm>
            <a:off x="0" y="0"/>
            <a:ext cx="5913120" cy="83099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Difference Between Black, White and Grey box testing</a:t>
            </a:r>
          </a:p>
        </p:txBody>
      </p:sp>
    </p:spTree>
    <p:extLst>
      <p:ext uri="{BB962C8B-B14F-4D97-AF65-F5344CB8AC3E}">
        <p14:creationId xmlns:p14="http://schemas.microsoft.com/office/powerpoint/2010/main" val="2541913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3680" y="1126798"/>
            <a:ext cx="8371840" cy="3477875"/>
          </a:xfrm>
          <a:prstGeom prst="rect">
            <a:avLst/>
          </a:prstGeom>
        </p:spPr>
        <p:txBody>
          <a:bodyPr wrap="square">
            <a:spAutoFit/>
          </a:bodyPr>
          <a:lstStyle/>
          <a:p>
            <a:pPr algn="just" fontAlgn="base"/>
            <a:r>
              <a:rPr lang="en-US" sz="2000" dirty="0">
                <a:solidFill>
                  <a:srgbClr val="273239"/>
                </a:solidFill>
                <a:latin typeface="Times New Roman" panose="02020603050405020304" pitchFamily="18" charset="0"/>
                <a:cs typeface="Times New Roman" panose="02020603050405020304" pitchFamily="18" charset="0"/>
              </a:rPr>
              <a:t>Black Box Testing can be broadly classified into 2 types:</a:t>
            </a:r>
          </a:p>
          <a:p>
            <a:pPr algn="just" fontAlgn="base"/>
            <a:endParaRPr lang="en-US" sz="2000" dirty="0">
              <a:solidFill>
                <a:srgbClr val="273239"/>
              </a:solidFill>
              <a:latin typeface="Times New Roman" panose="02020603050405020304" pitchFamily="18" charset="0"/>
              <a:cs typeface="Times New Roman" panose="02020603050405020304" pitchFamily="18" charset="0"/>
            </a:endParaRPr>
          </a:p>
          <a:p>
            <a:pPr marL="457200" indent="-457200" algn="just" fontAlgn="base">
              <a:buFont typeface="+mj-lt"/>
              <a:buAutoNum type="arabicPeriod"/>
            </a:pPr>
            <a:r>
              <a:rPr lang="en-US" sz="2000" b="1" u="sng" dirty="0">
                <a:solidFill>
                  <a:srgbClr val="273239"/>
                </a:solidFill>
                <a:latin typeface="Times New Roman" panose="02020603050405020304" pitchFamily="18" charset="0"/>
                <a:cs typeface="Times New Roman" panose="02020603050405020304" pitchFamily="18" charset="0"/>
                <a:hlinkClick r:id="rId2"/>
              </a:rPr>
              <a:t>Functional testing </a:t>
            </a:r>
            <a:r>
              <a:rPr lang="en-US" sz="2000" dirty="0">
                <a:solidFill>
                  <a:srgbClr val="273239"/>
                </a:solidFill>
                <a:latin typeface="Times New Roman" panose="02020603050405020304" pitchFamily="18" charset="0"/>
                <a:cs typeface="Times New Roman" panose="02020603050405020304" pitchFamily="18" charset="0"/>
              </a:rPr>
              <a:t>: It is a type of software testing that validates the software systems against the functional requirements. It is performed to check whether the application is working as per the software’s functional requirements or not. Various types of functional testing are Unit testing, Integration testing, System testing, Smoke testing, and so on.</a:t>
            </a:r>
          </a:p>
          <a:p>
            <a:pPr marL="457200" indent="-457200" algn="just" fontAlgn="base">
              <a:buFont typeface="+mj-lt"/>
              <a:buAutoNum type="arabicPeriod"/>
            </a:pPr>
            <a:r>
              <a:rPr lang="en-US" sz="2000" b="1" u="sng" dirty="0">
                <a:solidFill>
                  <a:srgbClr val="273239"/>
                </a:solidFill>
                <a:latin typeface="Times New Roman" panose="02020603050405020304" pitchFamily="18" charset="0"/>
                <a:cs typeface="Times New Roman" panose="02020603050405020304" pitchFamily="18" charset="0"/>
                <a:hlinkClick r:id="rId3"/>
              </a:rPr>
              <a:t>Non-functional testing </a:t>
            </a:r>
            <a:r>
              <a:rPr lang="en-US" sz="2000" dirty="0">
                <a:solidFill>
                  <a:srgbClr val="273239"/>
                </a:solidFill>
                <a:latin typeface="Times New Roman" panose="02020603050405020304" pitchFamily="18" charset="0"/>
                <a:cs typeface="Times New Roman" panose="02020603050405020304" pitchFamily="18" charset="0"/>
              </a:rPr>
              <a:t>: It is a type of software testing that checks the application for non-functional requirements like performance, scalability, portability, stress, etc. Various types of non-functional testing are Performance testing, Stress testing, Usability Testing, and so on.</a:t>
            </a:r>
          </a:p>
        </p:txBody>
      </p:sp>
      <p:sp>
        <p:nvSpPr>
          <p:cNvPr id="3" name="TextBox 2"/>
          <p:cNvSpPr txBox="1"/>
          <p:nvPr/>
        </p:nvSpPr>
        <p:spPr>
          <a:xfrm>
            <a:off x="121920" y="193040"/>
            <a:ext cx="3383280"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Black Box Testing </a:t>
            </a:r>
          </a:p>
        </p:txBody>
      </p:sp>
    </p:spTree>
    <p:extLst>
      <p:ext uri="{BB962C8B-B14F-4D97-AF65-F5344CB8AC3E}">
        <p14:creationId xmlns:p14="http://schemas.microsoft.com/office/powerpoint/2010/main" val="4233753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3360" y="978436"/>
            <a:ext cx="8321040" cy="5016758"/>
          </a:xfrm>
          <a:prstGeom prst="rect">
            <a:avLst/>
          </a:prstGeom>
        </p:spPr>
        <p:txBody>
          <a:bodyPr wrap="square">
            <a:spAutoFit/>
          </a:bodyPr>
          <a:lstStyle/>
          <a:p>
            <a:pPr algn="just" fontAlgn="base"/>
            <a:r>
              <a:rPr lang="en-US" sz="2000" dirty="0">
                <a:solidFill>
                  <a:srgbClr val="273239"/>
                </a:solidFill>
                <a:latin typeface="Times New Roman" panose="02020603050405020304" pitchFamily="18" charset="0"/>
                <a:cs typeface="Times New Roman" panose="02020603050405020304" pitchFamily="18" charset="0"/>
              </a:rPr>
              <a:t>Software level testing can be majorly classified into 4 levels:</a:t>
            </a:r>
          </a:p>
          <a:p>
            <a:pPr algn="just" fontAlgn="base"/>
            <a:endParaRPr lang="en-US" sz="2000" dirty="0">
              <a:solidFill>
                <a:srgbClr val="273239"/>
              </a:solidFill>
              <a:latin typeface="Times New Roman" panose="02020603050405020304" pitchFamily="18" charset="0"/>
              <a:cs typeface="Times New Roman" panose="02020603050405020304" pitchFamily="18" charset="0"/>
            </a:endParaRPr>
          </a:p>
          <a:p>
            <a:pPr marL="457200" indent="-457200" algn="just" fontAlgn="base">
              <a:buFont typeface="+mj-lt"/>
              <a:buAutoNum type="arabicPeriod"/>
            </a:pPr>
            <a:r>
              <a:rPr lang="en-US" sz="2000" b="1" u="sng" dirty="0">
                <a:solidFill>
                  <a:srgbClr val="273239"/>
                </a:solidFill>
                <a:latin typeface="Times New Roman" panose="02020603050405020304" pitchFamily="18" charset="0"/>
                <a:cs typeface="Times New Roman" panose="02020603050405020304" pitchFamily="18" charset="0"/>
                <a:hlinkClick r:id="rId2"/>
              </a:rPr>
              <a:t>Unit testing </a:t>
            </a:r>
            <a:r>
              <a:rPr lang="en-US" sz="2000" dirty="0">
                <a:solidFill>
                  <a:srgbClr val="273239"/>
                </a:solidFill>
                <a:latin typeface="Times New Roman" panose="02020603050405020304" pitchFamily="18" charset="0"/>
                <a:cs typeface="Times New Roman" panose="02020603050405020304" pitchFamily="18" charset="0"/>
              </a:rPr>
              <a:t>: It a level of the software testing process where individual units/components of a software/system are tested. The purpose is to validate that each unit of the software performs as designed.</a:t>
            </a:r>
          </a:p>
          <a:p>
            <a:pPr marL="457200" indent="-457200" algn="just" fontAlgn="base">
              <a:buFont typeface="+mj-lt"/>
              <a:buAutoNum type="arabicPeriod"/>
            </a:pPr>
            <a:r>
              <a:rPr lang="en-US" sz="2000" b="1" u="sng" dirty="0">
                <a:solidFill>
                  <a:srgbClr val="273239"/>
                </a:solidFill>
                <a:latin typeface="Times New Roman" panose="02020603050405020304" pitchFamily="18" charset="0"/>
                <a:cs typeface="Times New Roman" panose="02020603050405020304" pitchFamily="18" charset="0"/>
                <a:hlinkClick r:id="rId3"/>
              </a:rPr>
              <a:t>Integration testing </a:t>
            </a:r>
            <a:r>
              <a:rPr lang="en-US" sz="2000" dirty="0">
                <a:solidFill>
                  <a:srgbClr val="273239"/>
                </a:solidFill>
                <a:latin typeface="Times New Roman" panose="02020603050405020304" pitchFamily="18" charset="0"/>
                <a:cs typeface="Times New Roman" panose="02020603050405020304" pitchFamily="18" charset="0"/>
              </a:rPr>
              <a:t>: It is a level of the software testing process where individual units are combined and tested as a group. The purpose of this level of testing is to expose faults in the interaction between integrated units.</a:t>
            </a:r>
          </a:p>
          <a:p>
            <a:pPr marL="457200" indent="-457200" algn="just" fontAlgn="base">
              <a:buFont typeface="+mj-lt"/>
              <a:buAutoNum type="arabicPeriod"/>
            </a:pPr>
            <a:r>
              <a:rPr lang="en-US" sz="2000" b="1" u="sng" dirty="0">
                <a:solidFill>
                  <a:srgbClr val="273239"/>
                </a:solidFill>
                <a:latin typeface="Times New Roman" panose="02020603050405020304" pitchFamily="18" charset="0"/>
                <a:cs typeface="Times New Roman" panose="02020603050405020304" pitchFamily="18" charset="0"/>
                <a:hlinkClick r:id="rId4"/>
              </a:rPr>
              <a:t>System testing </a:t>
            </a:r>
            <a:r>
              <a:rPr lang="en-US" sz="2000" dirty="0">
                <a:solidFill>
                  <a:srgbClr val="273239"/>
                </a:solidFill>
                <a:latin typeface="Times New Roman" panose="02020603050405020304" pitchFamily="18" charset="0"/>
                <a:cs typeface="Times New Roman" panose="02020603050405020304" pitchFamily="18" charset="0"/>
              </a:rPr>
              <a:t>: It is a level of the software testing process where a complete, integrated system/software is tested. The purpose of this test is to evaluate the system’s compliance with the specified requirements.</a:t>
            </a:r>
          </a:p>
          <a:p>
            <a:pPr marL="457200" indent="-457200" algn="just" fontAlgn="base">
              <a:buFont typeface="+mj-lt"/>
              <a:buAutoNum type="arabicPeriod"/>
            </a:pPr>
            <a:r>
              <a:rPr lang="en-US" sz="2000" b="1" u="sng" dirty="0">
                <a:solidFill>
                  <a:srgbClr val="273239"/>
                </a:solidFill>
                <a:latin typeface="Times New Roman" panose="02020603050405020304" pitchFamily="18" charset="0"/>
                <a:cs typeface="Times New Roman" panose="02020603050405020304" pitchFamily="18" charset="0"/>
                <a:hlinkClick r:id="rId5"/>
              </a:rPr>
              <a:t>Acceptance testing </a:t>
            </a:r>
            <a:r>
              <a:rPr lang="en-US" sz="2000" dirty="0">
                <a:solidFill>
                  <a:srgbClr val="273239"/>
                </a:solidFill>
                <a:latin typeface="Times New Roman" panose="02020603050405020304" pitchFamily="18" charset="0"/>
                <a:cs typeface="Times New Roman" panose="02020603050405020304" pitchFamily="18" charset="0"/>
              </a:rPr>
              <a:t>: It is a level of the software testing process where a system is tested for acceptability. The purpose of this test is to evaluate the system’s compliance with the business requirements and assess whether it is acceptable for delivery.</a:t>
            </a:r>
          </a:p>
        </p:txBody>
      </p:sp>
      <p:sp>
        <p:nvSpPr>
          <p:cNvPr id="3" name="Rectangle 2"/>
          <p:cNvSpPr/>
          <p:nvPr/>
        </p:nvSpPr>
        <p:spPr>
          <a:xfrm>
            <a:off x="50800" y="186472"/>
            <a:ext cx="5727850" cy="523220"/>
          </a:xfrm>
          <a:prstGeom prst="rect">
            <a:avLst/>
          </a:prstGeom>
        </p:spPr>
        <p:txBody>
          <a:bodyPr wrap="none">
            <a:spAutoFit/>
          </a:bodyPr>
          <a:lstStyle/>
          <a:p>
            <a:pPr fontAlgn="base"/>
            <a:r>
              <a:rPr lang="en-US" sz="2800" b="1" dirty="0">
                <a:solidFill>
                  <a:srgbClr val="273239"/>
                </a:solidFill>
                <a:latin typeface="Times New Roman" panose="02020603050405020304" pitchFamily="18" charset="0"/>
                <a:cs typeface="Times New Roman" panose="02020603050405020304" pitchFamily="18" charset="0"/>
              </a:rPr>
              <a:t>Different Levels of Software Testing</a:t>
            </a:r>
          </a:p>
        </p:txBody>
      </p:sp>
    </p:spTree>
    <p:extLst>
      <p:ext uri="{BB962C8B-B14F-4D97-AF65-F5344CB8AC3E}">
        <p14:creationId xmlns:p14="http://schemas.microsoft.com/office/powerpoint/2010/main" val="2476293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5" name="Google Shape;135;p8"/>
          <p:cNvSpPr txBox="1"/>
          <p:nvPr/>
        </p:nvSpPr>
        <p:spPr>
          <a:xfrm>
            <a:off x="83401" y="164176"/>
            <a:ext cx="6556603" cy="523180"/>
          </a:xfrm>
          <a:prstGeom prst="rect">
            <a:avLst/>
          </a:prstGeom>
          <a:noFill/>
          <a:ln>
            <a:noFill/>
          </a:ln>
        </p:spPr>
        <p:txBody>
          <a:bodyPr spcFirstLastPara="1" wrap="square" lIns="91425" tIns="45700" rIns="91425" bIns="45700" anchor="t" anchorCtr="0">
            <a:spAutoFit/>
          </a:bodyPr>
          <a:lstStyle/>
          <a:p>
            <a:r>
              <a:rPr lang="en-IN" sz="2800" b="1" dirty="0">
                <a:latin typeface="Times New Roman" panose="02020603050405020304" pitchFamily="18" charset="0"/>
                <a:cs typeface="Times New Roman" panose="02020603050405020304" pitchFamily="18" charset="0"/>
              </a:rPr>
              <a:t>What is unit testing?</a:t>
            </a:r>
          </a:p>
        </p:txBody>
      </p:sp>
      <p:sp>
        <p:nvSpPr>
          <p:cNvPr id="2" name="Rectangle 1"/>
          <p:cNvSpPr/>
          <p:nvPr/>
        </p:nvSpPr>
        <p:spPr>
          <a:xfrm>
            <a:off x="355600" y="4427261"/>
            <a:ext cx="8077200" cy="2246769"/>
          </a:xfrm>
          <a:prstGeom prst="rect">
            <a:avLst/>
          </a:prstGeom>
        </p:spPr>
        <p:txBody>
          <a:bodyPr wrap="square">
            <a:spAutoFit/>
          </a:bodyPr>
          <a:lstStyle/>
          <a:p>
            <a:pPr algn="just" fontAlgn="base"/>
            <a:r>
              <a:rPr lang="en-US" sz="2000" b="1" dirty="0">
                <a:solidFill>
                  <a:srgbClr val="273239"/>
                </a:solidFill>
                <a:latin typeface="Times New Roman" panose="02020603050405020304" pitchFamily="18" charset="0"/>
                <a:cs typeface="Times New Roman" panose="02020603050405020304" pitchFamily="18" charset="0"/>
              </a:rPr>
              <a:t>What is a unit test?</a:t>
            </a:r>
          </a:p>
          <a:p>
            <a:pPr algn="just" fontAlgn="base"/>
            <a:r>
              <a:rPr lang="en-US" sz="2000" dirty="0">
                <a:solidFill>
                  <a:srgbClr val="273239"/>
                </a:solidFill>
                <a:latin typeface="Times New Roman" panose="02020603050405020304" pitchFamily="18" charset="0"/>
                <a:cs typeface="Times New Roman" panose="02020603050405020304" pitchFamily="18" charset="0"/>
              </a:rPr>
              <a:t>A </a:t>
            </a:r>
            <a:r>
              <a:rPr lang="en-US" sz="2000" b="1" dirty="0">
                <a:solidFill>
                  <a:srgbClr val="273239"/>
                </a:solidFill>
                <a:latin typeface="Times New Roman" panose="02020603050405020304" pitchFamily="18" charset="0"/>
                <a:cs typeface="Times New Roman" panose="02020603050405020304" pitchFamily="18" charset="0"/>
              </a:rPr>
              <a:t>unit test</a:t>
            </a:r>
            <a:r>
              <a:rPr lang="en-US" sz="2000" dirty="0">
                <a:solidFill>
                  <a:srgbClr val="273239"/>
                </a:solidFill>
                <a:latin typeface="Times New Roman" panose="02020603050405020304" pitchFamily="18" charset="0"/>
                <a:cs typeface="Times New Roman" panose="02020603050405020304" pitchFamily="18" charset="0"/>
              </a:rPr>
              <a:t> is a small piece of code that checks if a specific function or method in is an application works correctly. It will work as the function inputs and verifying the outputs. These tests check that the code work as expected based on the logic the developer intended.</a:t>
            </a:r>
          </a:p>
          <a:p>
            <a:pPr algn="just"/>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3" name="Rectangle 2"/>
          <p:cNvSpPr/>
          <p:nvPr/>
        </p:nvSpPr>
        <p:spPr>
          <a:xfrm>
            <a:off x="355600" y="1182231"/>
            <a:ext cx="8178800" cy="2862322"/>
          </a:xfrm>
          <a:prstGeom prst="rect">
            <a:avLst/>
          </a:prstGeom>
        </p:spPr>
        <p:txBody>
          <a:bodyPr wrap="square">
            <a:spAutoFit/>
          </a:bodyPr>
          <a:lstStyle/>
          <a:p>
            <a:pPr algn="just" fontAlgn="base"/>
            <a:r>
              <a:rPr lang="en-US" sz="2000" b="1" dirty="0">
                <a:solidFill>
                  <a:srgbClr val="273239"/>
                </a:solidFill>
                <a:latin typeface="Times New Roman" panose="02020603050405020304" pitchFamily="18" charset="0"/>
                <a:cs typeface="Times New Roman" panose="02020603050405020304" pitchFamily="18" charset="0"/>
              </a:rPr>
              <a:t>Unit testing</a:t>
            </a:r>
            <a:r>
              <a:rPr lang="en-US" sz="2000" dirty="0">
                <a:solidFill>
                  <a:srgbClr val="273239"/>
                </a:solidFill>
                <a:latin typeface="Times New Roman" panose="02020603050405020304" pitchFamily="18" charset="0"/>
                <a:cs typeface="Times New Roman" panose="02020603050405020304" pitchFamily="18" charset="0"/>
              </a:rPr>
              <a:t> is the process of testing the smallest parts of your code, like individual functions or methods, to make sure they work correctly. It’s a key part of software development that improves code quality by testing each unit in isolation.</a:t>
            </a:r>
          </a:p>
          <a:p>
            <a:pPr algn="just" fontAlgn="base"/>
            <a:r>
              <a:rPr lang="en-US" sz="2000" dirty="0">
                <a:solidFill>
                  <a:srgbClr val="273239"/>
                </a:solidFill>
                <a:latin typeface="Times New Roman" panose="02020603050405020304" pitchFamily="18" charset="0"/>
                <a:cs typeface="Times New Roman" panose="02020603050405020304" pitchFamily="18" charset="0"/>
              </a:rPr>
              <a:t>You write </a:t>
            </a:r>
            <a:r>
              <a:rPr lang="en-US" sz="2000" b="1" dirty="0">
                <a:solidFill>
                  <a:srgbClr val="273239"/>
                </a:solidFill>
                <a:latin typeface="Times New Roman" panose="02020603050405020304" pitchFamily="18" charset="0"/>
                <a:cs typeface="Times New Roman" panose="02020603050405020304" pitchFamily="18" charset="0"/>
              </a:rPr>
              <a:t>unit tests</a:t>
            </a:r>
            <a:r>
              <a:rPr lang="en-US" sz="2000" dirty="0">
                <a:solidFill>
                  <a:srgbClr val="273239"/>
                </a:solidFill>
                <a:latin typeface="Times New Roman" panose="02020603050405020304" pitchFamily="18" charset="0"/>
                <a:cs typeface="Times New Roman" panose="02020603050405020304" pitchFamily="18" charset="0"/>
              </a:rPr>
              <a:t> for these code units and run them automatically every time you make changes. If a test fails, it helps you quickly find and fix the issue. Unit testing promotes modular code, ensures better test coverage, and saves time by allowing developers to focus more on coding than manual testing.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Lightbo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p:cNvSpPr txBox="1"/>
          <p:nvPr/>
        </p:nvSpPr>
        <p:spPr>
          <a:xfrm>
            <a:off x="3291840" y="6207760"/>
            <a:ext cx="2875280"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Figure 2. Unit Test</a:t>
            </a:r>
          </a:p>
        </p:txBody>
      </p:sp>
      <p:sp>
        <p:nvSpPr>
          <p:cNvPr id="5" name="Rectangle 4"/>
          <p:cNvSpPr/>
          <p:nvPr/>
        </p:nvSpPr>
        <p:spPr>
          <a:xfrm>
            <a:off x="307975" y="160338"/>
            <a:ext cx="1611339" cy="523220"/>
          </a:xfrm>
          <a:prstGeom prst="rect">
            <a:avLst/>
          </a:prstGeom>
        </p:spPr>
        <p:txBody>
          <a:bodyPr wrap="none">
            <a:spAutoFit/>
          </a:bodyPr>
          <a:lstStyle/>
          <a:p>
            <a:r>
              <a:rPr lang="en-US" sz="2800" b="1" dirty="0">
                <a:latin typeface="Times New Roman" panose="02020603050405020304" pitchFamily="18" charset="0"/>
                <a:cs typeface="Times New Roman" panose="02020603050405020304" pitchFamily="18" charset="0"/>
              </a:rPr>
              <a:t>Unit Test</a:t>
            </a:r>
          </a:p>
        </p:txBody>
      </p:sp>
      <p:pic>
        <p:nvPicPr>
          <p:cNvPr id="1028" name="Picture 4" descr="illustration showing the relationship between types of tests">
            <a:extLst>
              <a:ext uri="{FF2B5EF4-FFF2-40B4-BE49-F238E27FC236}">
                <a16:creationId xmlns:a16="http://schemas.microsoft.com/office/drawing/2014/main" id="{7111DEC4-194F-B6AD-322C-937DBA26E9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455" y="1675734"/>
            <a:ext cx="8843090" cy="35065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60068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4960" y="1127056"/>
            <a:ext cx="8300720" cy="3416320"/>
          </a:xfrm>
          <a:prstGeom prst="rect">
            <a:avLst/>
          </a:prstGeom>
        </p:spPr>
        <p:txBody>
          <a:bodyPr wrap="square">
            <a:spAutoFit/>
          </a:bodyPr>
          <a:lstStyle/>
          <a:p>
            <a:pPr algn="just" fontAlgn="base"/>
            <a:r>
              <a:rPr lang="en-US" sz="2400" dirty="0">
                <a:solidFill>
                  <a:srgbClr val="273239"/>
                </a:solidFill>
                <a:latin typeface="Times New Roman" panose="02020603050405020304" pitchFamily="18" charset="0"/>
                <a:cs typeface="Times New Roman" panose="02020603050405020304" pitchFamily="18" charset="0"/>
              </a:rPr>
              <a:t>Figure 2 shows that these multiple tests are written for a single function to cover different possible scenarios, and these are called </a:t>
            </a:r>
            <a:r>
              <a:rPr lang="en-US" sz="2400" b="1" dirty="0">
                <a:solidFill>
                  <a:srgbClr val="273239"/>
                </a:solidFill>
                <a:latin typeface="Times New Roman" panose="02020603050405020304" pitchFamily="18" charset="0"/>
                <a:cs typeface="Times New Roman" panose="02020603050405020304" pitchFamily="18" charset="0"/>
              </a:rPr>
              <a:t>test cases</a:t>
            </a:r>
            <a:r>
              <a:rPr lang="en-US" sz="2400" dirty="0">
                <a:solidFill>
                  <a:srgbClr val="273239"/>
                </a:solidFill>
                <a:latin typeface="Times New Roman" panose="02020603050405020304" pitchFamily="18" charset="0"/>
                <a:cs typeface="Times New Roman" panose="02020603050405020304" pitchFamily="18" charset="0"/>
              </a:rPr>
              <a:t>. While it is ideal to cover all expected behaviors, it is not always necessary to test every scenario.</a:t>
            </a:r>
          </a:p>
          <a:p>
            <a:pPr algn="just" fontAlgn="base"/>
            <a:endParaRPr lang="en-US" sz="2400" dirty="0">
              <a:solidFill>
                <a:srgbClr val="273239"/>
              </a:solidFill>
              <a:latin typeface="Times New Roman" panose="02020603050405020304" pitchFamily="18" charset="0"/>
              <a:cs typeface="Times New Roman" panose="02020603050405020304" pitchFamily="18" charset="0"/>
            </a:endParaRPr>
          </a:p>
          <a:p>
            <a:pPr algn="just" fontAlgn="base"/>
            <a:r>
              <a:rPr lang="en-US" sz="2400" dirty="0">
                <a:solidFill>
                  <a:srgbClr val="273239"/>
                </a:solidFill>
                <a:latin typeface="Times New Roman" panose="02020603050405020304" pitchFamily="18" charset="0"/>
                <a:cs typeface="Times New Roman" panose="02020603050405020304" pitchFamily="18" charset="0"/>
              </a:rPr>
              <a:t>Unit tests should run one by one, it means that they do not depend on other system parts like databases or networks. Instead, </a:t>
            </a:r>
            <a:r>
              <a:rPr lang="en-US" sz="2400" b="1" dirty="0">
                <a:solidFill>
                  <a:srgbClr val="273239"/>
                </a:solidFill>
                <a:latin typeface="Times New Roman" panose="02020603050405020304" pitchFamily="18" charset="0"/>
                <a:cs typeface="Times New Roman" panose="02020603050405020304" pitchFamily="18" charset="0"/>
              </a:rPr>
              <a:t>data stubs</a:t>
            </a:r>
            <a:r>
              <a:rPr lang="en-US" sz="2400" dirty="0">
                <a:solidFill>
                  <a:srgbClr val="273239"/>
                </a:solidFill>
                <a:latin typeface="Times New Roman" panose="02020603050405020304" pitchFamily="18" charset="0"/>
                <a:cs typeface="Times New Roman" panose="02020603050405020304" pitchFamily="18" charset="0"/>
              </a:rPr>
              <a:t> can be used to simulate these dependencies. Writing unit tests is easiest for simple, self-contained code blocks.</a:t>
            </a:r>
          </a:p>
        </p:txBody>
      </p:sp>
      <p:sp>
        <p:nvSpPr>
          <p:cNvPr id="3" name="TextBox 2"/>
          <p:cNvSpPr txBox="1"/>
          <p:nvPr/>
        </p:nvSpPr>
        <p:spPr>
          <a:xfrm>
            <a:off x="142240" y="0"/>
            <a:ext cx="2550160" cy="83099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Unit Test</a:t>
            </a:r>
          </a:p>
          <a:p>
            <a:r>
              <a:rPr lang="en-US" sz="2400" b="1" dirty="0">
                <a:latin typeface="Times New Roman" panose="02020603050405020304" pitchFamily="18" charset="0"/>
                <a:cs typeface="Times New Roman" panose="02020603050405020304" pitchFamily="18" charset="0"/>
              </a:rPr>
              <a:t>Conti…</a:t>
            </a:r>
          </a:p>
        </p:txBody>
      </p:sp>
    </p:spTree>
    <p:extLst>
      <p:ext uri="{BB962C8B-B14F-4D97-AF65-F5344CB8AC3E}">
        <p14:creationId xmlns:p14="http://schemas.microsoft.com/office/powerpoint/2010/main" val="30314316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3040" y="1037441"/>
            <a:ext cx="8432800" cy="3724096"/>
          </a:xfrm>
          <a:prstGeom prst="rect">
            <a:avLst/>
          </a:prstGeom>
        </p:spPr>
        <p:txBody>
          <a:bodyPr wrap="square">
            <a:spAutoFit/>
          </a:bodyPr>
          <a:lstStyle/>
          <a:p>
            <a:pPr algn="just" fontAlgn="base"/>
            <a:r>
              <a:rPr lang="en-US" sz="1800" dirty="0">
                <a:solidFill>
                  <a:srgbClr val="273239"/>
                </a:solidFill>
                <a:latin typeface="Times New Roman" panose="02020603050405020304" pitchFamily="18" charset="0"/>
                <a:cs typeface="Times New Roman" panose="02020603050405020304" pitchFamily="18" charset="0"/>
              </a:rPr>
              <a:t>To create effective </a:t>
            </a:r>
            <a:r>
              <a:rPr lang="en-US" sz="1800" b="1" dirty="0">
                <a:solidFill>
                  <a:srgbClr val="273239"/>
                </a:solidFill>
                <a:latin typeface="Times New Roman" panose="02020603050405020304" pitchFamily="18" charset="0"/>
                <a:cs typeface="Times New Roman" panose="02020603050405020304" pitchFamily="18" charset="0"/>
              </a:rPr>
              <a:t>unit tests</a:t>
            </a:r>
            <a:r>
              <a:rPr lang="en-US" sz="1800" dirty="0">
                <a:solidFill>
                  <a:srgbClr val="273239"/>
                </a:solidFill>
                <a:latin typeface="Times New Roman" panose="02020603050405020304" pitchFamily="18" charset="0"/>
                <a:cs typeface="Times New Roman" panose="02020603050405020304" pitchFamily="18" charset="0"/>
              </a:rPr>
              <a:t>, follow these basic techniques to ensure all scenarios are covered:</a:t>
            </a:r>
          </a:p>
          <a:p>
            <a:pPr algn="just" fontAlgn="base"/>
            <a:endParaRPr lang="en-US" sz="1800" dirty="0">
              <a:solidFill>
                <a:srgbClr val="273239"/>
              </a:solidFill>
              <a:latin typeface="Times New Roman" panose="02020603050405020304" pitchFamily="18" charset="0"/>
              <a:cs typeface="Times New Roman" panose="02020603050405020304" pitchFamily="18" charset="0"/>
            </a:endParaRPr>
          </a:p>
          <a:p>
            <a:pPr marL="285750" indent="-285750" algn="just" fontAlgn="base">
              <a:spcBef>
                <a:spcPts val="600"/>
              </a:spcBef>
              <a:buFont typeface="Arial" panose="020B0604020202020204" pitchFamily="34" charset="0"/>
              <a:buChar char="•"/>
            </a:pPr>
            <a:r>
              <a:rPr lang="en-US" sz="1800" b="1" dirty="0">
                <a:solidFill>
                  <a:srgbClr val="273239"/>
                </a:solidFill>
                <a:latin typeface="Times New Roman" panose="02020603050405020304" pitchFamily="18" charset="0"/>
                <a:cs typeface="Times New Roman" panose="02020603050405020304" pitchFamily="18" charset="0"/>
              </a:rPr>
              <a:t>Logic checks</a:t>
            </a:r>
            <a:r>
              <a:rPr lang="en-US" sz="1800" dirty="0">
                <a:solidFill>
                  <a:srgbClr val="273239"/>
                </a:solidFill>
                <a:latin typeface="Times New Roman" panose="02020603050405020304" pitchFamily="18" charset="0"/>
                <a:cs typeface="Times New Roman" panose="02020603050405020304" pitchFamily="18" charset="0"/>
              </a:rPr>
              <a:t>: Verify if the system performs correct calculations and follows the expected path with valid inputs. Check all possible paths through the code are tested.</a:t>
            </a:r>
          </a:p>
          <a:p>
            <a:pPr marL="285750" indent="-285750" algn="just" fontAlgn="base">
              <a:spcBef>
                <a:spcPts val="600"/>
              </a:spcBef>
              <a:buFont typeface="Arial" panose="020B0604020202020204" pitchFamily="34" charset="0"/>
              <a:buChar char="•"/>
            </a:pPr>
            <a:r>
              <a:rPr lang="en-US" sz="1800" b="1" dirty="0">
                <a:solidFill>
                  <a:srgbClr val="273239"/>
                </a:solidFill>
                <a:latin typeface="Times New Roman" panose="02020603050405020304" pitchFamily="18" charset="0"/>
                <a:cs typeface="Times New Roman" panose="02020603050405020304" pitchFamily="18" charset="0"/>
              </a:rPr>
              <a:t>Boundary checks</a:t>
            </a:r>
            <a:r>
              <a:rPr lang="en-US" sz="1800" dirty="0">
                <a:solidFill>
                  <a:srgbClr val="273239"/>
                </a:solidFill>
                <a:latin typeface="Times New Roman" panose="02020603050405020304" pitchFamily="18" charset="0"/>
                <a:cs typeface="Times New Roman" panose="02020603050405020304" pitchFamily="18" charset="0"/>
              </a:rPr>
              <a:t>: Test how the system handles typical, edge case, and invalid inputs. For example, if an integer between 3 and 7 is expected, check how the system reacts to a 5 (normal), a 3 (edge case), and a 9 (invalid input).</a:t>
            </a:r>
          </a:p>
          <a:p>
            <a:pPr marL="285750" indent="-285750" algn="just" fontAlgn="base">
              <a:spcBef>
                <a:spcPts val="600"/>
              </a:spcBef>
              <a:buFont typeface="Arial" panose="020B0604020202020204" pitchFamily="34" charset="0"/>
              <a:buChar char="•"/>
            </a:pPr>
            <a:r>
              <a:rPr lang="en-US" sz="1800" b="1" dirty="0">
                <a:solidFill>
                  <a:srgbClr val="273239"/>
                </a:solidFill>
                <a:latin typeface="Times New Roman" panose="02020603050405020304" pitchFamily="18" charset="0"/>
                <a:cs typeface="Times New Roman" panose="02020603050405020304" pitchFamily="18" charset="0"/>
              </a:rPr>
              <a:t>Error handling</a:t>
            </a:r>
            <a:r>
              <a:rPr lang="en-US" sz="1800" dirty="0">
                <a:solidFill>
                  <a:srgbClr val="273239"/>
                </a:solidFill>
                <a:latin typeface="Times New Roman" panose="02020603050405020304" pitchFamily="18" charset="0"/>
                <a:cs typeface="Times New Roman" panose="02020603050405020304" pitchFamily="18" charset="0"/>
              </a:rPr>
              <a:t>: Check the system properly handles errors. Does it prompt for a new input, or does it crash when something goes wrong?</a:t>
            </a:r>
          </a:p>
          <a:p>
            <a:pPr marL="285750" indent="-285750" algn="just" fontAlgn="base">
              <a:spcBef>
                <a:spcPts val="600"/>
              </a:spcBef>
              <a:buFont typeface="Arial" panose="020B0604020202020204" pitchFamily="34" charset="0"/>
              <a:buChar char="•"/>
            </a:pPr>
            <a:r>
              <a:rPr lang="en-US" sz="1800" b="1" dirty="0">
                <a:solidFill>
                  <a:srgbClr val="273239"/>
                </a:solidFill>
                <a:latin typeface="Times New Roman" panose="02020603050405020304" pitchFamily="18" charset="0"/>
                <a:cs typeface="Times New Roman" panose="02020603050405020304" pitchFamily="18" charset="0"/>
              </a:rPr>
              <a:t>Object-oriented checks</a:t>
            </a:r>
            <a:r>
              <a:rPr lang="en-US" sz="1800" dirty="0">
                <a:solidFill>
                  <a:srgbClr val="273239"/>
                </a:solidFill>
                <a:latin typeface="Times New Roman" panose="02020603050405020304" pitchFamily="18" charset="0"/>
                <a:cs typeface="Times New Roman" panose="02020603050405020304" pitchFamily="18" charset="0"/>
              </a:rPr>
              <a:t>: If the code modifies objects, confirm that the object’s state is correctly updated after running the code.</a:t>
            </a:r>
          </a:p>
        </p:txBody>
      </p:sp>
      <p:sp>
        <p:nvSpPr>
          <p:cNvPr id="3" name="Rectangle 2"/>
          <p:cNvSpPr/>
          <p:nvPr/>
        </p:nvSpPr>
        <p:spPr>
          <a:xfrm>
            <a:off x="0" y="176312"/>
            <a:ext cx="3515706" cy="523220"/>
          </a:xfrm>
          <a:prstGeom prst="rect">
            <a:avLst/>
          </a:prstGeom>
        </p:spPr>
        <p:txBody>
          <a:bodyPr wrap="none">
            <a:spAutoFit/>
          </a:bodyPr>
          <a:lstStyle/>
          <a:p>
            <a:pPr fontAlgn="base"/>
            <a:r>
              <a:rPr lang="en-US" sz="2800" b="1" dirty="0">
                <a:solidFill>
                  <a:srgbClr val="273239"/>
                </a:solidFill>
                <a:latin typeface="Times New Roman" panose="02020603050405020304" pitchFamily="18" charset="0"/>
                <a:cs typeface="Times New Roman" panose="02020603050405020304" pitchFamily="18" charset="0"/>
              </a:rPr>
              <a:t>Unit testing strategies</a:t>
            </a:r>
          </a:p>
        </p:txBody>
      </p:sp>
    </p:spTree>
    <p:extLst>
      <p:ext uri="{BB962C8B-B14F-4D97-AF65-F5344CB8AC3E}">
        <p14:creationId xmlns:p14="http://schemas.microsoft.com/office/powerpoint/2010/main" val="22753492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62" name="Google Shape;162;p11"/>
          <p:cNvSpPr txBox="1"/>
          <p:nvPr/>
        </p:nvSpPr>
        <p:spPr>
          <a:xfrm>
            <a:off x="147145" y="145656"/>
            <a:ext cx="6547944" cy="523180"/>
          </a:xfrm>
          <a:prstGeom prst="rect">
            <a:avLst/>
          </a:prstGeom>
          <a:noFill/>
          <a:ln>
            <a:noFill/>
          </a:ln>
        </p:spPr>
        <p:txBody>
          <a:bodyPr spcFirstLastPara="1" wrap="square" lIns="91425" tIns="45700" rIns="91425" bIns="45700" anchor="t" anchorCtr="0">
            <a:spAutoFit/>
          </a:bodyPr>
          <a:lstStyle/>
          <a:p>
            <a:r>
              <a:rPr lang="en-IN" sz="2800" b="1" dirty="0">
                <a:latin typeface="Times New Roman" panose="02020603050405020304" pitchFamily="18" charset="0"/>
                <a:cs typeface="Times New Roman" panose="02020603050405020304" pitchFamily="18" charset="0"/>
              </a:rPr>
              <a:t>Unit testing advantages</a:t>
            </a:r>
          </a:p>
        </p:txBody>
      </p:sp>
      <p:sp>
        <p:nvSpPr>
          <p:cNvPr id="2" name="Rectangle 1"/>
          <p:cNvSpPr/>
          <p:nvPr/>
        </p:nvSpPr>
        <p:spPr>
          <a:xfrm>
            <a:off x="147145" y="1110856"/>
            <a:ext cx="8549815" cy="4985980"/>
          </a:xfrm>
          <a:prstGeom prst="rect">
            <a:avLst/>
          </a:prstGeom>
        </p:spPr>
        <p:txBody>
          <a:bodyPr wrap="square">
            <a:spAutoFit/>
          </a:bodyPr>
          <a:lstStyle/>
          <a:p>
            <a:pPr marL="342900" indent="-342900" algn="just" fontAlgn="base">
              <a:spcBef>
                <a:spcPts val="600"/>
              </a:spcBef>
              <a:buFont typeface="+mj-lt"/>
              <a:buAutoNum type="arabicPeriod"/>
            </a:pPr>
            <a:r>
              <a:rPr lang="en-US" sz="1800" b="1" dirty="0">
                <a:solidFill>
                  <a:srgbClr val="273239"/>
                </a:solidFill>
                <a:latin typeface="Times New Roman" panose="02020603050405020304" pitchFamily="18" charset="0"/>
                <a:cs typeface="Times New Roman" panose="02020603050405020304" pitchFamily="18" charset="0"/>
              </a:rPr>
              <a:t>Early Detection of Issues:</a:t>
            </a:r>
            <a:r>
              <a:rPr lang="en-US" sz="1800" dirty="0">
                <a:solidFill>
                  <a:srgbClr val="273239"/>
                </a:solidFill>
                <a:latin typeface="Times New Roman" panose="02020603050405020304" pitchFamily="18" charset="0"/>
                <a:cs typeface="Times New Roman" panose="02020603050405020304" pitchFamily="18" charset="0"/>
              </a:rPr>
              <a:t> Unit testing allows developers to detect and fix issues early in the development process before they become larger and more difficult to fix.</a:t>
            </a:r>
          </a:p>
          <a:p>
            <a:pPr marL="342900" indent="-342900" algn="just" fontAlgn="base">
              <a:spcBef>
                <a:spcPts val="600"/>
              </a:spcBef>
              <a:buFont typeface="+mj-lt"/>
              <a:buAutoNum type="arabicPeriod"/>
            </a:pPr>
            <a:r>
              <a:rPr lang="en-US" sz="1800" b="1" dirty="0">
                <a:solidFill>
                  <a:srgbClr val="273239"/>
                </a:solidFill>
                <a:latin typeface="Times New Roman" panose="02020603050405020304" pitchFamily="18" charset="0"/>
                <a:cs typeface="Times New Roman" panose="02020603050405020304" pitchFamily="18" charset="0"/>
              </a:rPr>
              <a:t>Improved Code Quality: </a:t>
            </a:r>
            <a:r>
              <a:rPr lang="en-US" sz="1800" dirty="0">
                <a:solidFill>
                  <a:srgbClr val="273239"/>
                </a:solidFill>
                <a:latin typeface="Times New Roman" panose="02020603050405020304" pitchFamily="18" charset="0"/>
                <a:cs typeface="Times New Roman" panose="02020603050405020304" pitchFamily="18" charset="0"/>
              </a:rPr>
              <a:t>Unit testing helps to ensure that each unit of code works as intended and meets the requirements, improving the overall quality of the software.</a:t>
            </a:r>
          </a:p>
          <a:p>
            <a:pPr marL="342900" indent="-342900" algn="just" fontAlgn="base">
              <a:spcBef>
                <a:spcPts val="600"/>
              </a:spcBef>
              <a:buFont typeface="+mj-lt"/>
              <a:buAutoNum type="arabicPeriod"/>
            </a:pPr>
            <a:r>
              <a:rPr lang="en-US" sz="1800" b="1" dirty="0">
                <a:solidFill>
                  <a:srgbClr val="273239"/>
                </a:solidFill>
                <a:latin typeface="Times New Roman" panose="02020603050405020304" pitchFamily="18" charset="0"/>
                <a:cs typeface="Times New Roman" panose="02020603050405020304" pitchFamily="18" charset="0"/>
              </a:rPr>
              <a:t>Increased Confidence:</a:t>
            </a:r>
            <a:r>
              <a:rPr lang="en-US" sz="1800" dirty="0">
                <a:solidFill>
                  <a:srgbClr val="273239"/>
                </a:solidFill>
                <a:latin typeface="Times New Roman" panose="02020603050405020304" pitchFamily="18" charset="0"/>
                <a:cs typeface="Times New Roman" panose="02020603050405020304" pitchFamily="18" charset="0"/>
              </a:rPr>
              <a:t> Unit testing provides developers with confidence in their code, as they can validate that each unit of the software is functioning as expected.</a:t>
            </a:r>
          </a:p>
          <a:p>
            <a:pPr marL="342900" indent="-342900" algn="just" fontAlgn="base">
              <a:spcBef>
                <a:spcPts val="600"/>
              </a:spcBef>
              <a:buFont typeface="+mj-lt"/>
              <a:buAutoNum type="arabicPeriod"/>
            </a:pPr>
            <a:r>
              <a:rPr lang="en-US" sz="1800" b="1" dirty="0">
                <a:solidFill>
                  <a:srgbClr val="273239"/>
                </a:solidFill>
                <a:latin typeface="Times New Roman" panose="02020603050405020304" pitchFamily="18" charset="0"/>
                <a:cs typeface="Times New Roman" panose="02020603050405020304" pitchFamily="18" charset="0"/>
              </a:rPr>
              <a:t>Faster Development: </a:t>
            </a:r>
            <a:r>
              <a:rPr lang="en-US" sz="1800" dirty="0">
                <a:solidFill>
                  <a:srgbClr val="273239"/>
                </a:solidFill>
                <a:latin typeface="Times New Roman" panose="02020603050405020304" pitchFamily="18" charset="0"/>
                <a:cs typeface="Times New Roman" panose="02020603050405020304" pitchFamily="18" charset="0"/>
              </a:rPr>
              <a:t>Unit testing enables developers to work faster and more efficiently, as they can validate changes to the code without having to wait for the full system to be tested.</a:t>
            </a:r>
          </a:p>
          <a:p>
            <a:pPr marL="342900" indent="-342900" algn="just" fontAlgn="base">
              <a:spcBef>
                <a:spcPts val="600"/>
              </a:spcBef>
              <a:buFont typeface="+mj-lt"/>
              <a:buAutoNum type="arabicPeriod"/>
            </a:pPr>
            <a:r>
              <a:rPr lang="en-US" sz="1800" b="1" dirty="0">
                <a:solidFill>
                  <a:srgbClr val="273239"/>
                </a:solidFill>
                <a:latin typeface="Times New Roman" panose="02020603050405020304" pitchFamily="18" charset="0"/>
                <a:cs typeface="Times New Roman" panose="02020603050405020304" pitchFamily="18" charset="0"/>
              </a:rPr>
              <a:t>Better Documentation: </a:t>
            </a:r>
            <a:r>
              <a:rPr lang="en-US" sz="1800" dirty="0">
                <a:solidFill>
                  <a:srgbClr val="273239"/>
                </a:solidFill>
                <a:latin typeface="Times New Roman" panose="02020603050405020304" pitchFamily="18" charset="0"/>
                <a:cs typeface="Times New Roman" panose="02020603050405020304" pitchFamily="18" charset="0"/>
              </a:rPr>
              <a:t>Unit testing provides clear and concise documentation of the code and its behavior, making it easier for other developers to understand and maintain the software.</a:t>
            </a:r>
          </a:p>
          <a:p>
            <a:pPr marL="342900" indent="-342900" algn="just" fontAlgn="base">
              <a:spcBef>
                <a:spcPts val="600"/>
              </a:spcBef>
              <a:buFont typeface="+mj-lt"/>
              <a:buAutoNum type="arabicPeriod"/>
            </a:pPr>
            <a:r>
              <a:rPr lang="en-US" sz="1800" b="1" dirty="0">
                <a:solidFill>
                  <a:srgbClr val="273239"/>
                </a:solidFill>
                <a:latin typeface="Times New Roman" panose="02020603050405020304" pitchFamily="18" charset="0"/>
                <a:cs typeface="Times New Roman" panose="02020603050405020304" pitchFamily="18" charset="0"/>
              </a:rPr>
              <a:t>Facilitation of Refactoring: </a:t>
            </a:r>
            <a:r>
              <a:rPr lang="en-US" sz="1800" dirty="0">
                <a:solidFill>
                  <a:srgbClr val="273239"/>
                </a:solidFill>
                <a:latin typeface="Times New Roman" panose="02020603050405020304" pitchFamily="18" charset="0"/>
                <a:cs typeface="Times New Roman" panose="02020603050405020304" pitchFamily="18" charset="0"/>
              </a:rPr>
              <a:t>Unit testing enables developers to safely make changes to the code, as they can validate that their changes do not break existing functionality.</a:t>
            </a:r>
          </a:p>
          <a:p>
            <a:pPr marL="342900" indent="-342900" algn="just" fontAlgn="base">
              <a:spcBef>
                <a:spcPts val="600"/>
              </a:spcBef>
              <a:buFont typeface="+mj-lt"/>
              <a:buAutoNum type="arabicPeriod"/>
            </a:pPr>
            <a:r>
              <a:rPr lang="en-US" sz="1800" b="1" dirty="0">
                <a:solidFill>
                  <a:srgbClr val="273239"/>
                </a:solidFill>
                <a:latin typeface="Times New Roman" panose="02020603050405020304" pitchFamily="18" charset="0"/>
                <a:cs typeface="Times New Roman" panose="02020603050405020304" pitchFamily="18" charset="0"/>
              </a:rPr>
              <a:t>Reduced Time and Cost: </a:t>
            </a:r>
            <a:r>
              <a:rPr lang="en-US" sz="1800" dirty="0">
                <a:solidFill>
                  <a:srgbClr val="273239"/>
                </a:solidFill>
                <a:latin typeface="Times New Roman" panose="02020603050405020304" pitchFamily="18" charset="0"/>
                <a:cs typeface="Times New Roman" panose="02020603050405020304" pitchFamily="18" charset="0"/>
              </a:rPr>
              <a:t>Unit testing can reduce the time and cost required for later testing, as it helps to identify and fix issues early in the development process.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2"/>
          <p:cNvSpPr txBox="1"/>
          <p:nvPr/>
        </p:nvSpPr>
        <p:spPr>
          <a:xfrm>
            <a:off x="147145" y="145656"/>
            <a:ext cx="6547944" cy="523180"/>
          </a:xfrm>
          <a:prstGeom prst="rect">
            <a:avLst/>
          </a:prstGeom>
          <a:noFill/>
          <a:ln>
            <a:noFill/>
          </a:ln>
        </p:spPr>
        <p:txBody>
          <a:bodyPr spcFirstLastPara="1" wrap="square" lIns="91425" tIns="45700" rIns="91425" bIns="45700" anchor="t" anchorCtr="0">
            <a:spAutoFit/>
          </a:bodyPr>
          <a:lstStyle/>
          <a:p>
            <a:r>
              <a:rPr lang="en-IN" sz="2800" b="1" dirty="0">
                <a:latin typeface="Times New Roman" panose="02020603050405020304" pitchFamily="18" charset="0"/>
                <a:cs typeface="Times New Roman" panose="02020603050405020304" pitchFamily="18" charset="0"/>
              </a:rPr>
              <a:t>Unit testing disadvantages</a:t>
            </a:r>
          </a:p>
        </p:txBody>
      </p:sp>
      <p:sp>
        <p:nvSpPr>
          <p:cNvPr id="2" name="Rectangle 1"/>
          <p:cNvSpPr/>
          <p:nvPr/>
        </p:nvSpPr>
        <p:spPr>
          <a:xfrm>
            <a:off x="233680" y="1079907"/>
            <a:ext cx="8249920" cy="4985980"/>
          </a:xfrm>
          <a:prstGeom prst="rect">
            <a:avLst/>
          </a:prstGeom>
        </p:spPr>
        <p:txBody>
          <a:bodyPr wrap="square">
            <a:spAutoFit/>
          </a:bodyPr>
          <a:lstStyle/>
          <a:p>
            <a:pPr marL="342900" indent="-342900" algn="just" fontAlgn="base">
              <a:spcBef>
                <a:spcPts val="600"/>
              </a:spcBef>
              <a:buFont typeface="+mj-lt"/>
              <a:buAutoNum type="arabicPeriod"/>
            </a:pPr>
            <a:r>
              <a:rPr lang="en-US" sz="1800" b="1" dirty="0">
                <a:solidFill>
                  <a:srgbClr val="273239"/>
                </a:solidFill>
                <a:latin typeface="Times New Roman" panose="02020603050405020304" pitchFamily="18" charset="0"/>
                <a:cs typeface="Times New Roman" panose="02020603050405020304" pitchFamily="18" charset="0"/>
              </a:rPr>
              <a:t>Time and Effort: </a:t>
            </a:r>
            <a:r>
              <a:rPr lang="en-US" sz="1800" dirty="0">
                <a:solidFill>
                  <a:srgbClr val="273239"/>
                </a:solidFill>
                <a:latin typeface="Times New Roman" panose="02020603050405020304" pitchFamily="18" charset="0"/>
                <a:cs typeface="Times New Roman" panose="02020603050405020304" pitchFamily="18" charset="0"/>
              </a:rPr>
              <a:t>Unit testing requires a significant investment of time and effort to create and maintain the test cases, especially for complex systems.</a:t>
            </a:r>
          </a:p>
          <a:p>
            <a:pPr marL="342900" indent="-342900" algn="just" fontAlgn="base">
              <a:spcBef>
                <a:spcPts val="600"/>
              </a:spcBef>
              <a:buFont typeface="+mj-lt"/>
              <a:buAutoNum type="arabicPeriod"/>
            </a:pPr>
            <a:r>
              <a:rPr lang="en-US" sz="1800" b="1" dirty="0">
                <a:solidFill>
                  <a:srgbClr val="273239"/>
                </a:solidFill>
                <a:latin typeface="Times New Roman" panose="02020603050405020304" pitchFamily="18" charset="0"/>
                <a:cs typeface="Times New Roman" panose="02020603050405020304" pitchFamily="18" charset="0"/>
              </a:rPr>
              <a:t>Dependence on Developers:</a:t>
            </a:r>
            <a:r>
              <a:rPr lang="en-US" sz="1800" dirty="0">
                <a:solidFill>
                  <a:srgbClr val="273239"/>
                </a:solidFill>
                <a:latin typeface="Times New Roman" panose="02020603050405020304" pitchFamily="18" charset="0"/>
                <a:cs typeface="Times New Roman" panose="02020603050405020304" pitchFamily="18" charset="0"/>
              </a:rPr>
              <a:t> The success of unit testing depends on the developers, who must write clear, concise, and comprehensive test cases to validate the code.</a:t>
            </a:r>
          </a:p>
          <a:p>
            <a:pPr marL="342900" indent="-342900" algn="just" fontAlgn="base">
              <a:spcBef>
                <a:spcPts val="600"/>
              </a:spcBef>
              <a:buFont typeface="+mj-lt"/>
              <a:buAutoNum type="arabicPeriod"/>
            </a:pPr>
            <a:r>
              <a:rPr lang="en-US" sz="1800" b="1" dirty="0">
                <a:solidFill>
                  <a:srgbClr val="273239"/>
                </a:solidFill>
                <a:latin typeface="Times New Roman" panose="02020603050405020304" pitchFamily="18" charset="0"/>
                <a:cs typeface="Times New Roman" panose="02020603050405020304" pitchFamily="18" charset="0"/>
              </a:rPr>
              <a:t>Difficulty in Testing Complex Units: </a:t>
            </a:r>
            <a:r>
              <a:rPr lang="en-US" sz="1800" dirty="0">
                <a:solidFill>
                  <a:srgbClr val="273239"/>
                </a:solidFill>
                <a:latin typeface="Times New Roman" panose="02020603050405020304" pitchFamily="18" charset="0"/>
                <a:cs typeface="Times New Roman" panose="02020603050405020304" pitchFamily="18" charset="0"/>
              </a:rPr>
              <a:t>Unit testing can be challenging when dealing with complex units, as it can be difficult to isolate and test individual units in isolation from the rest of the system.</a:t>
            </a:r>
          </a:p>
          <a:p>
            <a:pPr marL="342900" indent="-342900" algn="just" fontAlgn="base">
              <a:spcBef>
                <a:spcPts val="600"/>
              </a:spcBef>
              <a:buFont typeface="+mj-lt"/>
              <a:buAutoNum type="arabicPeriod"/>
            </a:pPr>
            <a:r>
              <a:rPr lang="en-US" sz="1800" b="1" dirty="0">
                <a:solidFill>
                  <a:srgbClr val="273239"/>
                </a:solidFill>
                <a:latin typeface="Times New Roman" panose="02020603050405020304" pitchFamily="18" charset="0"/>
                <a:cs typeface="Times New Roman" panose="02020603050405020304" pitchFamily="18" charset="0"/>
              </a:rPr>
              <a:t>Difficulty in Testing Interactions: </a:t>
            </a:r>
            <a:r>
              <a:rPr lang="en-US" sz="1800" dirty="0">
                <a:solidFill>
                  <a:srgbClr val="273239"/>
                </a:solidFill>
                <a:latin typeface="Times New Roman" panose="02020603050405020304" pitchFamily="18" charset="0"/>
                <a:cs typeface="Times New Roman" panose="02020603050405020304" pitchFamily="18" charset="0"/>
              </a:rPr>
              <a:t>Unit testing may not be sufficient for testing interactions between units, as it only focuses on individual units.</a:t>
            </a:r>
          </a:p>
          <a:p>
            <a:pPr marL="342900" indent="-342900" algn="just" fontAlgn="base">
              <a:spcBef>
                <a:spcPts val="600"/>
              </a:spcBef>
              <a:buFont typeface="+mj-lt"/>
              <a:buAutoNum type="arabicPeriod"/>
            </a:pPr>
            <a:r>
              <a:rPr lang="en-US" sz="1800" b="1" dirty="0">
                <a:solidFill>
                  <a:srgbClr val="273239"/>
                </a:solidFill>
                <a:latin typeface="Times New Roman" panose="02020603050405020304" pitchFamily="18" charset="0"/>
                <a:cs typeface="Times New Roman" panose="02020603050405020304" pitchFamily="18" charset="0"/>
              </a:rPr>
              <a:t>Difficulty in Testing User Interfaces: </a:t>
            </a:r>
            <a:r>
              <a:rPr lang="en-US" sz="1800" dirty="0">
                <a:solidFill>
                  <a:srgbClr val="273239"/>
                </a:solidFill>
                <a:latin typeface="Times New Roman" panose="02020603050405020304" pitchFamily="18" charset="0"/>
                <a:cs typeface="Times New Roman" panose="02020603050405020304" pitchFamily="18" charset="0"/>
              </a:rPr>
              <a:t>Unit testing may not be suitable for testing user interfaces, as it typically focuses on the functionality of individual units.</a:t>
            </a:r>
          </a:p>
          <a:p>
            <a:pPr marL="342900" indent="-342900" algn="just" fontAlgn="base">
              <a:spcBef>
                <a:spcPts val="600"/>
              </a:spcBef>
              <a:buFont typeface="+mj-lt"/>
              <a:buAutoNum type="arabicPeriod"/>
            </a:pPr>
            <a:r>
              <a:rPr lang="en-US" sz="1800" b="1" dirty="0">
                <a:solidFill>
                  <a:srgbClr val="273239"/>
                </a:solidFill>
                <a:latin typeface="Times New Roman" panose="02020603050405020304" pitchFamily="18" charset="0"/>
                <a:cs typeface="Times New Roman" panose="02020603050405020304" pitchFamily="18" charset="0"/>
              </a:rPr>
              <a:t>Over-reliance on Automation:</a:t>
            </a:r>
            <a:r>
              <a:rPr lang="en-US" sz="1800" dirty="0">
                <a:solidFill>
                  <a:srgbClr val="273239"/>
                </a:solidFill>
                <a:latin typeface="Times New Roman" panose="02020603050405020304" pitchFamily="18" charset="0"/>
                <a:cs typeface="Times New Roman" panose="02020603050405020304" pitchFamily="18" charset="0"/>
              </a:rPr>
              <a:t> Over-reliance on automated unit tests can lead to a false sense of security, as automated tests may not uncover all possible issues or bugs.</a:t>
            </a:r>
          </a:p>
          <a:p>
            <a:pPr marL="342900" indent="-342900" algn="just" fontAlgn="base">
              <a:spcBef>
                <a:spcPts val="600"/>
              </a:spcBef>
              <a:buFont typeface="+mj-lt"/>
              <a:buAutoNum type="arabicPeriod"/>
            </a:pPr>
            <a:r>
              <a:rPr lang="en-US" sz="1800" b="1" dirty="0">
                <a:solidFill>
                  <a:srgbClr val="273239"/>
                </a:solidFill>
                <a:latin typeface="Times New Roman" panose="02020603050405020304" pitchFamily="18" charset="0"/>
                <a:cs typeface="Times New Roman" panose="02020603050405020304" pitchFamily="18" charset="0"/>
              </a:rPr>
              <a:t>Maintenance Overhead: </a:t>
            </a:r>
            <a:r>
              <a:rPr lang="en-US" sz="1800" dirty="0">
                <a:solidFill>
                  <a:srgbClr val="273239"/>
                </a:solidFill>
                <a:latin typeface="Times New Roman" panose="02020603050405020304" pitchFamily="18" charset="0"/>
                <a:cs typeface="Times New Roman" panose="02020603050405020304" pitchFamily="18" charset="0"/>
              </a:rPr>
              <a:t>Unit testing requires ongoing maintenance and updates, as the code and test cases must be kept up-to-date with changes to the software.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9"/>
          <p:cNvSpPr txBox="1"/>
          <p:nvPr/>
        </p:nvSpPr>
        <p:spPr>
          <a:xfrm>
            <a:off x="147145" y="145656"/>
            <a:ext cx="6547944"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chemeClr val="dk1"/>
                </a:solidFill>
                <a:latin typeface="Times"/>
                <a:ea typeface="Times"/>
                <a:cs typeface="Times"/>
                <a:sym typeface="Times"/>
              </a:rPr>
              <a:t>Practice Questions</a:t>
            </a:r>
            <a:endParaRPr sz="2800" b="0" i="0" u="none" strike="noStrike" cap="none" dirty="0">
              <a:solidFill>
                <a:schemeClr val="dk1"/>
              </a:solidFill>
              <a:latin typeface="Times"/>
              <a:ea typeface="Times"/>
              <a:cs typeface="Times"/>
              <a:sym typeface="Times"/>
            </a:endParaRPr>
          </a:p>
        </p:txBody>
      </p:sp>
      <p:sp>
        <p:nvSpPr>
          <p:cNvPr id="211" name="Google Shape;211;p19"/>
          <p:cNvSpPr txBox="1"/>
          <p:nvPr/>
        </p:nvSpPr>
        <p:spPr>
          <a:xfrm>
            <a:off x="250847" y="1252046"/>
            <a:ext cx="7815146" cy="4893607"/>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2400"/>
              <a:buFont typeface="Arial"/>
              <a:buChar char="•"/>
            </a:pPr>
            <a:r>
              <a:rPr lang="en-IN" sz="2400" dirty="0">
                <a:solidFill>
                  <a:schemeClr val="dk1"/>
                </a:solidFill>
                <a:latin typeface="Times" panose="02020603050405020304" pitchFamily="18" charset="0"/>
                <a:ea typeface="Times"/>
                <a:cs typeface="Times" panose="02020603050405020304" pitchFamily="18" charset="0"/>
                <a:sym typeface="Times"/>
              </a:rPr>
              <a:t>What are the</a:t>
            </a:r>
            <a:r>
              <a:rPr lang="en-IN" sz="2400" i="0" u="none" strike="noStrike" cap="none" dirty="0">
                <a:solidFill>
                  <a:schemeClr val="dk1"/>
                </a:solidFill>
                <a:latin typeface="Times" panose="02020603050405020304" pitchFamily="18" charset="0"/>
                <a:ea typeface="Times"/>
                <a:cs typeface="Times" panose="02020603050405020304" pitchFamily="18" charset="0"/>
                <a:sym typeface="Times"/>
              </a:rPr>
              <a:t> types of Software testing?</a:t>
            </a:r>
            <a:endParaRPr sz="2400" dirty="0">
              <a:latin typeface="Times" panose="02020603050405020304" pitchFamily="18" charset="0"/>
              <a:cs typeface="Times" panose="02020603050405020304" pitchFamily="18" charset="0"/>
            </a:endParaRPr>
          </a:p>
          <a:p>
            <a:pPr marL="285750" marR="0" lvl="0" indent="-285750" algn="l" rtl="0">
              <a:lnSpc>
                <a:spcPct val="100000"/>
              </a:lnSpc>
              <a:spcBef>
                <a:spcPts val="0"/>
              </a:spcBef>
              <a:spcAft>
                <a:spcPts val="0"/>
              </a:spcAft>
              <a:buClr>
                <a:srgbClr val="000000"/>
              </a:buClr>
              <a:buSzPts val="2400"/>
              <a:buFont typeface="Arial"/>
              <a:buChar char="•"/>
            </a:pPr>
            <a:r>
              <a:rPr lang="en-IN" sz="2400" i="0" u="none" strike="noStrike" cap="none" dirty="0">
                <a:solidFill>
                  <a:schemeClr val="dk1"/>
                </a:solidFill>
                <a:latin typeface="Times" panose="02020603050405020304" pitchFamily="18" charset="0"/>
                <a:ea typeface="Times"/>
                <a:cs typeface="Times" panose="02020603050405020304" pitchFamily="18" charset="0"/>
                <a:sym typeface="Times"/>
              </a:rPr>
              <a:t>What is difference between Unit testing and functional testing?</a:t>
            </a:r>
            <a:endParaRPr sz="2400" dirty="0">
              <a:latin typeface="Times" panose="02020603050405020304" pitchFamily="18" charset="0"/>
              <a:cs typeface="Times" panose="02020603050405020304" pitchFamily="18" charset="0"/>
            </a:endParaRPr>
          </a:p>
          <a:p>
            <a:pPr marL="285750" marR="0" lvl="0" indent="-285750" algn="l" rtl="0">
              <a:lnSpc>
                <a:spcPct val="100000"/>
              </a:lnSpc>
              <a:spcBef>
                <a:spcPts val="0"/>
              </a:spcBef>
              <a:spcAft>
                <a:spcPts val="0"/>
              </a:spcAft>
              <a:buClr>
                <a:srgbClr val="000000"/>
              </a:buClr>
              <a:buSzPts val="2400"/>
              <a:buFont typeface="Arial"/>
              <a:buChar char="•"/>
            </a:pPr>
            <a:r>
              <a:rPr lang="en-IN" sz="2400" dirty="0">
                <a:solidFill>
                  <a:schemeClr val="dk1"/>
                </a:solidFill>
                <a:latin typeface="Times" panose="02020603050405020304" pitchFamily="18" charset="0"/>
                <a:cs typeface="Times" panose="02020603050405020304" pitchFamily="18" charset="0"/>
                <a:sym typeface="Times"/>
              </a:rPr>
              <a:t>Give the real time scenario where unit testing is used?</a:t>
            </a:r>
          </a:p>
          <a:p>
            <a:pPr marL="285750" indent="-285750">
              <a:buSzPts val="2400"/>
              <a:buFont typeface="Arial"/>
              <a:buChar char="•"/>
            </a:pPr>
            <a:r>
              <a:rPr lang="en-US" sz="2400" i="0" u="none" strike="noStrike" dirty="0">
                <a:solidFill>
                  <a:srgbClr val="000000"/>
                </a:solidFill>
                <a:effectLst/>
                <a:latin typeface="Times" panose="02020603050405020304" pitchFamily="18" charset="0"/>
                <a:cs typeface="Times" panose="02020603050405020304" pitchFamily="18" charset="0"/>
              </a:rPr>
              <a:t>Explain the difference between functional testing and non-functional testing.</a:t>
            </a:r>
            <a:endParaRPr lang="en-US" sz="2400" i="0" dirty="0">
              <a:solidFill>
                <a:srgbClr val="000000"/>
              </a:solidFill>
              <a:effectLst/>
              <a:latin typeface="Times" panose="02020603050405020304" pitchFamily="18" charset="0"/>
              <a:cs typeface="Times" panose="02020603050405020304" pitchFamily="18" charset="0"/>
            </a:endParaRPr>
          </a:p>
          <a:p>
            <a:pPr marL="285750" indent="-285750">
              <a:buSzPts val="2400"/>
              <a:buFont typeface="Arial"/>
              <a:buChar char="•"/>
            </a:pPr>
            <a:r>
              <a:rPr lang="en-US" sz="2400" i="0" u="none" strike="noStrike" dirty="0">
                <a:solidFill>
                  <a:srgbClr val="000000"/>
                </a:solidFill>
                <a:effectLst/>
                <a:latin typeface="Times" panose="02020603050405020304" pitchFamily="18" charset="0"/>
                <a:cs typeface="Times" panose="02020603050405020304" pitchFamily="18" charset="0"/>
              </a:rPr>
              <a:t>What is the purpose of test cases and test scenarios?</a:t>
            </a:r>
            <a:endParaRPr lang="en-US" sz="2400" i="0" dirty="0">
              <a:solidFill>
                <a:srgbClr val="000000"/>
              </a:solidFill>
              <a:effectLst/>
              <a:latin typeface="Times" panose="02020603050405020304" pitchFamily="18" charset="0"/>
              <a:cs typeface="Times" panose="02020603050405020304" pitchFamily="18" charset="0"/>
            </a:endParaRPr>
          </a:p>
          <a:p>
            <a:pPr marL="285750" indent="-285750">
              <a:buSzPts val="2400"/>
              <a:buFont typeface="Arial"/>
              <a:buChar char="•"/>
            </a:pPr>
            <a:r>
              <a:rPr lang="en-US" sz="2400" i="0" u="none" strike="noStrike" dirty="0">
                <a:solidFill>
                  <a:srgbClr val="000000"/>
                </a:solidFill>
                <a:effectLst/>
                <a:latin typeface="Times" panose="02020603050405020304" pitchFamily="18" charset="0"/>
                <a:cs typeface="Times" panose="02020603050405020304" pitchFamily="18" charset="0"/>
              </a:rPr>
              <a:t>What is a defect, and how do you report it effectively?</a:t>
            </a:r>
            <a:endParaRPr lang="en-US" sz="2400" i="0" dirty="0">
              <a:solidFill>
                <a:srgbClr val="000000"/>
              </a:solidFill>
              <a:effectLst/>
              <a:latin typeface="Times" panose="02020603050405020304" pitchFamily="18" charset="0"/>
              <a:cs typeface="Times" panose="02020603050405020304" pitchFamily="18" charset="0"/>
            </a:endParaRPr>
          </a:p>
          <a:p>
            <a:pPr marL="285750" indent="-285750">
              <a:buSzPts val="2400"/>
              <a:buFont typeface="Arial"/>
              <a:buChar char="•"/>
            </a:pPr>
            <a:r>
              <a:rPr lang="en-US" sz="2400" i="0" u="none" strike="noStrike" dirty="0">
                <a:solidFill>
                  <a:srgbClr val="000000"/>
                </a:solidFill>
                <a:effectLst/>
                <a:latin typeface="Times" panose="02020603050405020304" pitchFamily="18" charset="0"/>
                <a:cs typeface="Times" panose="02020603050405020304" pitchFamily="18" charset="0"/>
              </a:rPr>
              <a:t>What is the difference between manual testing and automated testing?</a:t>
            </a:r>
            <a:endParaRPr lang="en-US" sz="2400" i="0" dirty="0">
              <a:solidFill>
                <a:srgbClr val="000000"/>
              </a:solidFill>
              <a:effectLst/>
              <a:latin typeface="Times" panose="02020603050405020304" pitchFamily="18" charset="0"/>
              <a:cs typeface="Times" panose="02020603050405020304" pitchFamily="18" charset="0"/>
            </a:endParaRPr>
          </a:p>
          <a:p>
            <a:pPr marL="285750" marR="0" lvl="0" indent="-285750" algn="l" rtl="0">
              <a:lnSpc>
                <a:spcPct val="100000"/>
              </a:lnSpc>
              <a:spcBef>
                <a:spcPts val="0"/>
              </a:spcBef>
              <a:spcAft>
                <a:spcPts val="0"/>
              </a:spcAft>
              <a:buClr>
                <a:srgbClr val="000000"/>
              </a:buClr>
              <a:buSzPts val="2400"/>
              <a:buFont typeface="Arial"/>
              <a:buChar char="•"/>
            </a:pPr>
            <a:endParaRPr sz="2400" dirty="0">
              <a:latin typeface="Times" panose="02020603050405020304" pitchFamily="18" charset="0"/>
              <a:cs typeface="Times" panose="02020603050405020304" pitchFamily="18" charset="0"/>
            </a:endParaRPr>
          </a:p>
          <a:p>
            <a:pPr marL="285750" marR="0" lvl="0" indent="-133350" algn="l" rtl="0">
              <a:lnSpc>
                <a:spcPct val="100000"/>
              </a:lnSpc>
              <a:spcBef>
                <a:spcPts val="0"/>
              </a:spcBef>
              <a:spcAft>
                <a:spcPts val="0"/>
              </a:spcAft>
              <a:buClr>
                <a:srgbClr val="000000"/>
              </a:buClr>
              <a:buSzPts val="2400"/>
              <a:buFont typeface="Arial"/>
              <a:buNone/>
            </a:pPr>
            <a:endParaRPr sz="2400" i="0" u="none" strike="noStrike" cap="none" dirty="0">
              <a:solidFill>
                <a:schemeClr val="dk1"/>
              </a:solidFill>
              <a:latin typeface="Times" panose="02020603050405020304" pitchFamily="18" charset="0"/>
              <a:ea typeface="Times"/>
              <a:cs typeface="Times" panose="02020603050405020304" pitchFamily="18" charset="0"/>
              <a:sym typeface="Times"/>
            </a:endParaRPr>
          </a:p>
          <a:p>
            <a:pPr marL="285750" marR="0" lvl="0" indent="-133350" algn="l" rtl="0">
              <a:lnSpc>
                <a:spcPct val="100000"/>
              </a:lnSpc>
              <a:spcBef>
                <a:spcPts val="0"/>
              </a:spcBef>
              <a:spcAft>
                <a:spcPts val="0"/>
              </a:spcAft>
              <a:buClr>
                <a:srgbClr val="000000"/>
              </a:buClr>
              <a:buSzPts val="2400"/>
              <a:buFont typeface="Arial"/>
              <a:buNone/>
            </a:pPr>
            <a:endParaRPr sz="2400" i="0" u="none" strike="noStrike" cap="none" dirty="0">
              <a:solidFill>
                <a:schemeClr val="dk1"/>
              </a:solidFill>
              <a:latin typeface="Times" panose="02020603050405020304" pitchFamily="18" charset="0"/>
              <a:ea typeface="Times"/>
              <a:cs typeface="Times" panose="02020603050405020304" pitchFamily="18" charset="0"/>
              <a:sym typeface="Time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0"/>
          <p:cNvSpPr txBox="1"/>
          <p:nvPr/>
        </p:nvSpPr>
        <p:spPr>
          <a:xfrm>
            <a:off x="89554" y="275717"/>
            <a:ext cx="7395300" cy="585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a:solidFill>
                  <a:srgbClr val="000000"/>
                </a:solidFill>
                <a:latin typeface="Times"/>
                <a:ea typeface="Times"/>
                <a:cs typeface="Times"/>
                <a:sym typeface="Times"/>
              </a:rPr>
              <a:t>Bibliography</a:t>
            </a:r>
            <a:endParaRPr/>
          </a:p>
        </p:txBody>
      </p:sp>
      <p:sp>
        <p:nvSpPr>
          <p:cNvPr id="217" name="Google Shape;217;p20"/>
          <p:cNvSpPr txBox="1"/>
          <p:nvPr/>
        </p:nvSpPr>
        <p:spPr>
          <a:xfrm>
            <a:off x="763571" y="2111382"/>
            <a:ext cx="7395327" cy="1477287"/>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dirty="0">
                <a:solidFill>
                  <a:srgbClr val="000000"/>
                </a:solidFill>
                <a:latin typeface="Times New Roman"/>
                <a:ea typeface="Times New Roman"/>
                <a:cs typeface="Times New Roman"/>
                <a:sym typeface="Times New Roman"/>
                <a:hlinkClick r:id="rId3"/>
              </a:rPr>
              <a:t>https://www.geeksforgeeks.org/software-testing-basics/</a:t>
            </a:r>
            <a:endParaRPr lang="en-US" sz="1800" b="0" i="0" u="sng" strike="noStrike" cap="none" dirty="0">
              <a:solidFill>
                <a:srgbClr val="000000"/>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endParaRPr lang="en-US" sz="1800" u="sng" dirty="0">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sng" strike="noStrike" cap="none" dirty="0">
                <a:solidFill>
                  <a:srgbClr val="000000"/>
                </a:solidFill>
                <a:latin typeface="Times New Roman"/>
                <a:ea typeface="Times New Roman"/>
                <a:cs typeface="Times New Roman"/>
                <a:sym typeface="Times New Roman"/>
                <a:hlinkClick r:id="rId5"/>
              </a:rPr>
              <a:t>https://www.techtarget.com/searchsoftwarequality/definition/unit-testing</a:t>
            </a:r>
            <a:endParaRPr lang="en-US" sz="1800" b="0" i="0" u="sng" strike="noStrike" cap="none" dirty="0">
              <a:solidFill>
                <a:srgbClr val="000000"/>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1800"/>
              <a:buFont typeface="Arial"/>
              <a:buChar char="•"/>
            </a:pPr>
            <a:endParaRPr lang="en-US" sz="1800" b="0" i="0" u="sng" strike="noStrike" cap="none" dirty="0">
              <a:solidFill>
                <a:srgbClr val="000000"/>
              </a:solidFill>
              <a:latin typeface="Times New Roman"/>
              <a:ea typeface="Times New Roman"/>
              <a:cs typeface="Times New Roman"/>
              <a:sym typeface="Times New Roman"/>
            </a:endParaRPr>
          </a:p>
          <a:p>
            <a:pPr marR="0" lvl="0" algn="l" rtl="0">
              <a:lnSpc>
                <a:spcPct val="100000"/>
              </a:lnSpc>
              <a:spcBef>
                <a:spcPts val="0"/>
              </a:spcBef>
              <a:spcAft>
                <a:spcPts val="0"/>
              </a:spcAft>
              <a:buClr>
                <a:srgbClr val="000000"/>
              </a:buClr>
              <a:buSzPts val="1800"/>
            </a:pPr>
            <a:endParaRPr lang="en-US" sz="1800" u="sng" dirty="0">
              <a:latin typeface="Times New Roman"/>
              <a:ea typeface="Times New Roman"/>
              <a:cs typeface="Times New Roman"/>
              <a:sym typeface="Times New Roman"/>
              <a:hlinkClick r:id="rId6">
                <a:extLst>
                  <a:ext uri="{A12FA001-AC4F-418D-AE19-62706E023703}">
                    <ahyp:hlinkClr xmlns:ahyp="http://schemas.microsoft.com/office/drawing/2018/hyperlinkcolor" val="tx"/>
                  </a:ext>
                </a:extLst>
              </a:hlinkClick>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59C801-4DB1-2D1A-1C03-6F216393E8BA}"/>
              </a:ext>
            </a:extLst>
          </p:cNvPr>
          <p:cNvSpPr txBox="1"/>
          <p:nvPr/>
        </p:nvSpPr>
        <p:spPr>
          <a:xfrm>
            <a:off x="644013" y="1187628"/>
            <a:ext cx="7536426" cy="1169551"/>
          </a:xfrm>
          <a:prstGeom prst="rect">
            <a:avLst/>
          </a:prstGeom>
          <a:noFill/>
        </p:spPr>
        <p:txBody>
          <a:bodyPr wrap="square">
            <a:spAutoFit/>
          </a:bodyPr>
          <a:lstStyle/>
          <a:p>
            <a:r>
              <a:rPr lang="en-US" dirty="0"/>
              <a:t>The step-by-step instructions that solve a problem are called _____. </a:t>
            </a:r>
          </a:p>
          <a:p>
            <a:r>
              <a:rPr lang="en-US" dirty="0"/>
              <a:t>A. An algorithm </a:t>
            </a:r>
          </a:p>
          <a:p>
            <a:r>
              <a:rPr lang="en-US" dirty="0"/>
              <a:t>B. A list </a:t>
            </a:r>
          </a:p>
          <a:p>
            <a:r>
              <a:rPr lang="en-US" dirty="0"/>
              <a:t>C. A plan </a:t>
            </a:r>
          </a:p>
          <a:p>
            <a:r>
              <a:rPr lang="en-US" dirty="0"/>
              <a:t>D. A sequential structure </a:t>
            </a:r>
          </a:p>
        </p:txBody>
      </p:sp>
      <p:sp>
        <p:nvSpPr>
          <p:cNvPr id="5" name="TextBox 4">
            <a:extLst>
              <a:ext uri="{FF2B5EF4-FFF2-40B4-BE49-F238E27FC236}">
                <a16:creationId xmlns:a16="http://schemas.microsoft.com/office/drawing/2014/main" id="{AE852F5B-147A-5735-0295-8B8D435046EA}"/>
              </a:ext>
            </a:extLst>
          </p:cNvPr>
          <p:cNvSpPr txBox="1"/>
          <p:nvPr/>
        </p:nvSpPr>
        <p:spPr>
          <a:xfrm>
            <a:off x="644013" y="2433728"/>
            <a:ext cx="7752735" cy="1169551"/>
          </a:xfrm>
          <a:prstGeom prst="rect">
            <a:avLst/>
          </a:prstGeom>
          <a:noFill/>
        </p:spPr>
        <p:txBody>
          <a:bodyPr wrap="square">
            <a:spAutoFit/>
          </a:bodyPr>
          <a:lstStyle/>
          <a:p>
            <a:r>
              <a:rPr lang="en-US" dirty="0"/>
              <a:t>Which of the following is not a factor in the failure of the systems developments projects? </a:t>
            </a:r>
          </a:p>
          <a:p>
            <a:pPr marL="342900" indent="-342900">
              <a:buAutoNum type="alphaUcPeriod"/>
            </a:pPr>
            <a:r>
              <a:rPr lang="en-US" dirty="0"/>
              <a:t>size of the company </a:t>
            </a:r>
          </a:p>
          <a:p>
            <a:pPr marL="342900" indent="-342900">
              <a:buAutoNum type="alphaUcPeriod"/>
            </a:pPr>
            <a:r>
              <a:rPr lang="en-US" dirty="0"/>
              <a:t>inadequate user involvement </a:t>
            </a:r>
          </a:p>
          <a:p>
            <a:pPr marL="342900" indent="-342900">
              <a:buAutoNum type="alphaUcPeriod"/>
            </a:pPr>
            <a:r>
              <a:rPr lang="en-US" dirty="0"/>
              <a:t>failure of systems integration </a:t>
            </a:r>
          </a:p>
          <a:p>
            <a:pPr marL="342900" indent="-342900">
              <a:buAutoNum type="alphaUcPeriod"/>
            </a:pPr>
            <a:r>
              <a:rPr lang="en-US" dirty="0"/>
              <a:t>continuation of a project that should have been cancelled</a:t>
            </a:r>
            <a:endParaRPr lang="en-IN" dirty="0"/>
          </a:p>
        </p:txBody>
      </p:sp>
      <p:sp>
        <p:nvSpPr>
          <p:cNvPr id="7" name="TextBox 6">
            <a:extLst>
              <a:ext uri="{FF2B5EF4-FFF2-40B4-BE49-F238E27FC236}">
                <a16:creationId xmlns:a16="http://schemas.microsoft.com/office/drawing/2014/main" id="{E1ABB38E-86DB-76EA-FAA6-2CFAECCD85AD}"/>
              </a:ext>
            </a:extLst>
          </p:cNvPr>
          <p:cNvSpPr txBox="1"/>
          <p:nvPr/>
        </p:nvSpPr>
        <p:spPr>
          <a:xfrm>
            <a:off x="644013" y="3759662"/>
            <a:ext cx="7300452" cy="1384995"/>
          </a:xfrm>
          <a:prstGeom prst="rect">
            <a:avLst/>
          </a:prstGeom>
          <a:noFill/>
        </p:spPr>
        <p:txBody>
          <a:bodyPr wrap="square">
            <a:spAutoFit/>
          </a:bodyPr>
          <a:lstStyle/>
          <a:p>
            <a:r>
              <a:rPr lang="en-US" dirty="0"/>
              <a:t>A problem's _____ will answer the question, "What information will the computer need to know in order to either print or display the output times?" </a:t>
            </a:r>
          </a:p>
          <a:p>
            <a:pPr marL="342900" indent="-342900">
              <a:buAutoNum type="alphaUcPeriod"/>
            </a:pPr>
            <a:r>
              <a:rPr lang="en-US" dirty="0"/>
              <a:t>Input</a:t>
            </a:r>
          </a:p>
          <a:p>
            <a:pPr marL="342900" indent="-342900">
              <a:buAutoNum type="alphaUcPeriod"/>
            </a:pPr>
            <a:r>
              <a:rPr lang="en-US" dirty="0"/>
              <a:t>Output</a:t>
            </a:r>
          </a:p>
          <a:p>
            <a:pPr marL="342900" indent="-342900">
              <a:buAutoNum type="alphaUcPeriod"/>
            </a:pPr>
            <a:r>
              <a:rPr lang="en-US" dirty="0"/>
              <a:t>Processing </a:t>
            </a:r>
          </a:p>
          <a:p>
            <a:pPr marL="342900" indent="-342900">
              <a:buAutoNum type="alphaUcPeriod"/>
            </a:pPr>
            <a:r>
              <a:rPr lang="en-US" dirty="0"/>
              <a:t>Purpose</a:t>
            </a:r>
            <a:endParaRPr lang="en-IN" dirty="0"/>
          </a:p>
        </p:txBody>
      </p:sp>
      <p:sp>
        <p:nvSpPr>
          <p:cNvPr id="9" name="TextBox 8">
            <a:extLst>
              <a:ext uri="{FF2B5EF4-FFF2-40B4-BE49-F238E27FC236}">
                <a16:creationId xmlns:a16="http://schemas.microsoft.com/office/drawing/2014/main" id="{EE069761-948A-E16A-6A55-9E0EFCDA4A50}"/>
              </a:ext>
            </a:extLst>
          </p:cNvPr>
          <p:cNvSpPr txBox="1"/>
          <p:nvPr/>
        </p:nvSpPr>
        <p:spPr>
          <a:xfrm>
            <a:off x="644013" y="5301040"/>
            <a:ext cx="4572000" cy="1169551"/>
          </a:xfrm>
          <a:prstGeom prst="rect">
            <a:avLst/>
          </a:prstGeom>
          <a:noFill/>
        </p:spPr>
        <p:txBody>
          <a:bodyPr wrap="square">
            <a:spAutoFit/>
          </a:bodyPr>
          <a:lstStyle/>
          <a:p>
            <a:r>
              <a:rPr lang="en-US" dirty="0"/>
              <a:t>Problem analysis is done during</a:t>
            </a:r>
          </a:p>
          <a:p>
            <a:pPr marL="342900" indent="-342900">
              <a:buAutoNum type="alphaUcPeriod"/>
            </a:pPr>
            <a:r>
              <a:rPr lang="en-US" dirty="0"/>
              <a:t>system design phase</a:t>
            </a:r>
          </a:p>
          <a:p>
            <a:pPr marL="342900" indent="-342900">
              <a:buAutoNum type="alphaUcPeriod"/>
            </a:pPr>
            <a:r>
              <a:rPr lang="en-US" dirty="0"/>
              <a:t>systems analysis phase </a:t>
            </a:r>
          </a:p>
          <a:p>
            <a:pPr marL="342900" indent="-342900">
              <a:buAutoNum type="alphaUcPeriod"/>
            </a:pPr>
            <a:r>
              <a:rPr lang="en-US" dirty="0"/>
              <a:t>before system test</a:t>
            </a:r>
          </a:p>
          <a:p>
            <a:pPr marL="342900" indent="-342900">
              <a:buAutoNum type="alphaUcPeriod"/>
            </a:pPr>
            <a:r>
              <a:rPr lang="en-US" dirty="0"/>
              <a:t>All of the above</a:t>
            </a:r>
            <a:endParaRPr lang="en-IN" dirty="0"/>
          </a:p>
        </p:txBody>
      </p:sp>
    </p:spTree>
    <p:extLst>
      <p:ext uri="{BB962C8B-B14F-4D97-AF65-F5344CB8AC3E}">
        <p14:creationId xmlns:p14="http://schemas.microsoft.com/office/powerpoint/2010/main" val="5326082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4BCDE-F30B-5B7C-0EFC-32B68D65CC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FDB5C28-5562-8DBB-2936-61E6ECEE5BFF}"/>
              </a:ext>
            </a:extLst>
          </p:cNvPr>
          <p:cNvSpPr txBox="1"/>
          <p:nvPr/>
        </p:nvSpPr>
        <p:spPr>
          <a:xfrm>
            <a:off x="644013" y="1187628"/>
            <a:ext cx="7536426" cy="1169551"/>
          </a:xfrm>
          <a:prstGeom prst="rect">
            <a:avLst/>
          </a:prstGeom>
          <a:noFill/>
        </p:spPr>
        <p:txBody>
          <a:bodyPr wrap="square">
            <a:spAutoFit/>
          </a:bodyPr>
          <a:lstStyle/>
          <a:p>
            <a:r>
              <a:rPr lang="en-US" dirty="0"/>
              <a:t>The step-by-step instructions that solve a problem are called _____. </a:t>
            </a:r>
          </a:p>
          <a:p>
            <a:r>
              <a:rPr lang="en-US" b="1" dirty="0"/>
              <a:t>A. An algorithm </a:t>
            </a:r>
          </a:p>
          <a:p>
            <a:r>
              <a:rPr lang="en-US" dirty="0"/>
              <a:t>B. A list </a:t>
            </a:r>
          </a:p>
          <a:p>
            <a:r>
              <a:rPr lang="en-US" dirty="0"/>
              <a:t>C. A plan </a:t>
            </a:r>
          </a:p>
          <a:p>
            <a:r>
              <a:rPr lang="en-US" dirty="0"/>
              <a:t>D. A sequential structure </a:t>
            </a:r>
          </a:p>
        </p:txBody>
      </p:sp>
      <p:sp>
        <p:nvSpPr>
          <p:cNvPr id="5" name="TextBox 4">
            <a:extLst>
              <a:ext uri="{FF2B5EF4-FFF2-40B4-BE49-F238E27FC236}">
                <a16:creationId xmlns:a16="http://schemas.microsoft.com/office/drawing/2014/main" id="{F23B10FF-BEB5-1EC5-0220-88D092A5332A}"/>
              </a:ext>
            </a:extLst>
          </p:cNvPr>
          <p:cNvSpPr txBox="1"/>
          <p:nvPr/>
        </p:nvSpPr>
        <p:spPr>
          <a:xfrm>
            <a:off x="644013" y="2433728"/>
            <a:ext cx="7752735" cy="1169551"/>
          </a:xfrm>
          <a:prstGeom prst="rect">
            <a:avLst/>
          </a:prstGeom>
          <a:noFill/>
        </p:spPr>
        <p:txBody>
          <a:bodyPr wrap="square">
            <a:spAutoFit/>
          </a:bodyPr>
          <a:lstStyle/>
          <a:p>
            <a:r>
              <a:rPr lang="en-US" dirty="0"/>
              <a:t>Which of the following is not a factor in the failure of the systems developments projects? </a:t>
            </a:r>
          </a:p>
          <a:p>
            <a:pPr marL="342900" indent="-342900">
              <a:buAutoNum type="alphaUcPeriod"/>
            </a:pPr>
            <a:r>
              <a:rPr lang="en-US" b="1" dirty="0"/>
              <a:t>size of the company </a:t>
            </a:r>
          </a:p>
          <a:p>
            <a:pPr marL="342900" indent="-342900">
              <a:buAutoNum type="alphaUcPeriod"/>
            </a:pPr>
            <a:r>
              <a:rPr lang="en-US" dirty="0"/>
              <a:t>inadequate user involvement </a:t>
            </a:r>
          </a:p>
          <a:p>
            <a:pPr marL="342900" indent="-342900">
              <a:buAutoNum type="alphaUcPeriod"/>
            </a:pPr>
            <a:r>
              <a:rPr lang="en-US" dirty="0"/>
              <a:t>failure of systems integration </a:t>
            </a:r>
          </a:p>
          <a:p>
            <a:pPr marL="342900" indent="-342900">
              <a:buAutoNum type="alphaUcPeriod"/>
            </a:pPr>
            <a:r>
              <a:rPr lang="en-US" dirty="0"/>
              <a:t>continuation of a project that should have been cancelled</a:t>
            </a:r>
            <a:endParaRPr lang="en-IN" dirty="0"/>
          </a:p>
        </p:txBody>
      </p:sp>
      <p:sp>
        <p:nvSpPr>
          <p:cNvPr id="7" name="TextBox 6">
            <a:extLst>
              <a:ext uri="{FF2B5EF4-FFF2-40B4-BE49-F238E27FC236}">
                <a16:creationId xmlns:a16="http://schemas.microsoft.com/office/drawing/2014/main" id="{F30C4DCB-68CF-6C0F-7228-30A77E4D4D0E}"/>
              </a:ext>
            </a:extLst>
          </p:cNvPr>
          <p:cNvSpPr txBox="1"/>
          <p:nvPr/>
        </p:nvSpPr>
        <p:spPr>
          <a:xfrm>
            <a:off x="644013" y="3759662"/>
            <a:ext cx="7300452" cy="1384995"/>
          </a:xfrm>
          <a:prstGeom prst="rect">
            <a:avLst/>
          </a:prstGeom>
          <a:noFill/>
        </p:spPr>
        <p:txBody>
          <a:bodyPr wrap="square">
            <a:spAutoFit/>
          </a:bodyPr>
          <a:lstStyle/>
          <a:p>
            <a:r>
              <a:rPr lang="en-US" dirty="0"/>
              <a:t>A problem's _____ will answer the question, "What information will the computer need to know in order to either print or display the output times?" </a:t>
            </a:r>
          </a:p>
          <a:p>
            <a:pPr marL="342900" indent="-342900">
              <a:buAutoNum type="alphaUcPeriod"/>
            </a:pPr>
            <a:r>
              <a:rPr lang="en-US" b="1" dirty="0"/>
              <a:t>Input</a:t>
            </a:r>
          </a:p>
          <a:p>
            <a:pPr marL="342900" indent="-342900">
              <a:buAutoNum type="alphaUcPeriod"/>
            </a:pPr>
            <a:r>
              <a:rPr lang="en-US" dirty="0"/>
              <a:t>Output</a:t>
            </a:r>
          </a:p>
          <a:p>
            <a:pPr marL="342900" indent="-342900">
              <a:buAutoNum type="alphaUcPeriod"/>
            </a:pPr>
            <a:r>
              <a:rPr lang="en-US" dirty="0"/>
              <a:t>Processing </a:t>
            </a:r>
          </a:p>
          <a:p>
            <a:pPr marL="342900" indent="-342900">
              <a:buAutoNum type="alphaUcPeriod"/>
            </a:pPr>
            <a:r>
              <a:rPr lang="en-US" dirty="0"/>
              <a:t>Purpose</a:t>
            </a:r>
            <a:endParaRPr lang="en-IN" dirty="0"/>
          </a:p>
        </p:txBody>
      </p:sp>
      <p:sp>
        <p:nvSpPr>
          <p:cNvPr id="9" name="TextBox 8">
            <a:extLst>
              <a:ext uri="{FF2B5EF4-FFF2-40B4-BE49-F238E27FC236}">
                <a16:creationId xmlns:a16="http://schemas.microsoft.com/office/drawing/2014/main" id="{88060554-34ED-7A5A-E627-6C11D439A49B}"/>
              </a:ext>
            </a:extLst>
          </p:cNvPr>
          <p:cNvSpPr txBox="1"/>
          <p:nvPr/>
        </p:nvSpPr>
        <p:spPr>
          <a:xfrm>
            <a:off x="644013" y="5301040"/>
            <a:ext cx="4572000" cy="1169551"/>
          </a:xfrm>
          <a:prstGeom prst="rect">
            <a:avLst/>
          </a:prstGeom>
          <a:noFill/>
        </p:spPr>
        <p:txBody>
          <a:bodyPr wrap="square">
            <a:spAutoFit/>
          </a:bodyPr>
          <a:lstStyle/>
          <a:p>
            <a:r>
              <a:rPr lang="en-US" dirty="0"/>
              <a:t>Problem analysis is done during</a:t>
            </a:r>
          </a:p>
          <a:p>
            <a:pPr marL="342900" indent="-342900">
              <a:buAutoNum type="alphaUcPeriod"/>
            </a:pPr>
            <a:r>
              <a:rPr lang="en-US" dirty="0"/>
              <a:t>system design phase</a:t>
            </a:r>
          </a:p>
          <a:p>
            <a:pPr marL="342900" indent="-342900">
              <a:buAutoNum type="alphaUcPeriod"/>
            </a:pPr>
            <a:r>
              <a:rPr lang="en-US" b="1" dirty="0"/>
              <a:t>systems analysis phase </a:t>
            </a:r>
          </a:p>
          <a:p>
            <a:pPr marL="342900" indent="-342900">
              <a:buAutoNum type="alphaUcPeriod"/>
            </a:pPr>
            <a:r>
              <a:rPr lang="en-US" dirty="0"/>
              <a:t>before system test</a:t>
            </a:r>
          </a:p>
          <a:p>
            <a:pPr marL="342900" indent="-342900">
              <a:buAutoNum type="alphaUcPeriod"/>
            </a:pPr>
            <a:r>
              <a:rPr lang="en-US" dirty="0"/>
              <a:t>All of the above</a:t>
            </a:r>
            <a:endParaRPr lang="en-IN" dirty="0"/>
          </a:p>
        </p:txBody>
      </p:sp>
    </p:spTree>
    <p:extLst>
      <p:ext uri="{BB962C8B-B14F-4D97-AF65-F5344CB8AC3E}">
        <p14:creationId xmlns:p14="http://schemas.microsoft.com/office/powerpoint/2010/main" val="16535457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7B76AB-924F-B6D7-8427-489B737B6E1B}"/>
              </a:ext>
            </a:extLst>
          </p:cNvPr>
          <p:cNvSpPr txBox="1"/>
          <p:nvPr/>
        </p:nvSpPr>
        <p:spPr>
          <a:xfrm>
            <a:off x="604684" y="1264554"/>
            <a:ext cx="6651522" cy="1384995"/>
          </a:xfrm>
          <a:prstGeom prst="rect">
            <a:avLst/>
          </a:prstGeom>
          <a:noFill/>
        </p:spPr>
        <p:txBody>
          <a:bodyPr wrap="square">
            <a:spAutoFit/>
          </a:bodyPr>
          <a:lstStyle/>
          <a:p>
            <a:r>
              <a:rPr lang="en-US" dirty="0"/>
              <a:t>Acceptance testing is </a:t>
            </a:r>
          </a:p>
          <a:p>
            <a:pPr marL="342900" indent="-342900">
              <a:buAutoNum type="alphaUcPeriod"/>
            </a:pPr>
            <a:r>
              <a:rPr lang="en-US" dirty="0"/>
              <a:t>running the system with line data by the actual user</a:t>
            </a:r>
          </a:p>
          <a:p>
            <a:pPr marL="342900" indent="-342900">
              <a:buAutoNum type="alphaUcPeriod"/>
            </a:pPr>
            <a:r>
              <a:rPr lang="en-US" dirty="0"/>
              <a:t>making sure that the new programs do in fact process certain transactions according to Specifications</a:t>
            </a:r>
          </a:p>
          <a:p>
            <a:pPr marL="342900" indent="-342900">
              <a:buAutoNum type="alphaUcPeriod"/>
            </a:pPr>
            <a:r>
              <a:rPr lang="en-US" dirty="0"/>
              <a:t>is checking the logic of one or more programs in the candidate systems</a:t>
            </a:r>
          </a:p>
          <a:p>
            <a:pPr marL="342900" indent="-342900">
              <a:buAutoNum type="alphaUcPeriod"/>
            </a:pPr>
            <a:r>
              <a:rPr lang="en-US" dirty="0"/>
              <a:t>testing changes made in an existing or a new program</a:t>
            </a:r>
            <a:endParaRPr lang="en-IN" dirty="0"/>
          </a:p>
        </p:txBody>
      </p:sp>
      <p:sp>
        <p:nvSpPr>
          <p:cNvPr id="5" name="TextBox 4">
            <a:extLst>
              <a:ext uri="{FF2B5EF4-FFF2-40B4-BE49-F238E27FC236}">
                <a16:creationId xmlns:a16="http://schemas.microsoft.com/office/drawing/2014/main" id="{ADBF3951-75F4-FE71-37B3-07DBB4C70AB2}"/>
              </a:ext>
            </a:extLst>
          </p:cNvPr>
          <p:cNvSpPr txBox="1"/>
          <p:nvPr/>
        </p:nvSpPr>
        <p:spPr>
          <a:xfrm>
            <a:off x="604683" y="2995032"/>
            <a:ext cx="7349613" cy="1384995"/>
          </a:xfrm>
          <a:prstGeom prst="rect">
            <a:avLst/>
          </a:prstGeom>
          <a:noFill/>
        </p:spPr>
        <p:txBody>
          <a:bodyPr wrap="square">
            <a:spAutoFit/>
          </a:bodyPr>
          <a:lstStyle/>
          <a:p>
            <a:r>
              <a:rPr lang="en-US" dirty="0"/>
              <a:t>Unit testing is </a:t>
            </a:r>
          </a:p>
          <a:p>
            <a:pPr marL="342900" indent="-342900">
              <a:buAutoNum type="alphaUcPeriod"/>
            </a:pPr>
            <a:r>
              <a:rPr lang="en-US" dirty="0"/>
              <a:t>running the system with line data by the actual user</a:t>
            </a:r>
          </a:p>
          <a:p>
            <a:pPr marL="342900" indent="-342900">
              <a:buAutoNum type="alphaUcPeriod"/>
            </a:pPr>
            <a:r>
              <a:rPr lang="en-US" dirty="0"/>
              <a:t>making sure that the new programs do in fact process certain transactions according to Specifications</a:t>
            </a:r>
          </a:p>
          <a:p>
            <a:pPr marL="342900" indent="-342900">
              <a:buAutoNum type="alphaUcPeriod"/>
            </a:pPr>
            <a:r>
              <a:rPr lang="en-US" dirty="0"/>
              <a:t>is checking the logic of one or more programs in the candidate system</a:t>
            </a:r>
          </a:p>
          <a:p>
            <a:pPr marL="342900" indent="-342900">
              <a:buAutoNum type="alphaUcPeriod"/>
            </a:pPr>
            <a:r>
              <a:rPr lang="en-US" dirty="0"/>
              <a:t>testing changes made in an existing or a new program </a:t>
            </a:r>
            <a:endParaRPr lang="en-IN" dirty="0"/>
          </a:p>
        </p:txBody>
      </p:sp>
      <p:sp>
        <p:nvSpPr>
          <p:cNvPr id="7" name="TextBox 6">
            <a:extLst>
              <a:ext uri="{FF2B5EF4-FFF2-40B4-BE49-F238E27FC236}">
                <a16:creationId xmlns:a16="http://schemas.microsoft.com/office/drawing/2014/main" id="{07B58F01-3AB8-0B16-E6C8-25B39DD1B341}"/>
              </a:ext>
            </a:extLst>
          </p:cNvPr>
          <p:cNvSpPr txBox="1"/>
          <p:nvPr/>
        </p:nvSpPr>
        <p:spPr>
          <a:xfrm>
            <a:off x="604683" y="4595470"/>
            <a:ext cx="7526593" cy="1169551"/>
          </a:xfrm>
          <a:prstGeom prst="rect">
            <a:avLst/>
          </a:prstGeom>
          <a:noFill/>
        </p:spPr>
        <p:txBody>
          <a:bodyPr wrap="square">
            <a:spAutoFit/>
          </a:bodyPr>
          <a:lstStyle/>
          <a:p>
            <a:r>
              <a:rPr lang="en-US" dirty="0"/>
              <a:t>Any data that are entered into the computer, for the first time, will go through the process of</a:t>
            </a:r>
          </a:p>
          <a:p>
            <a:r>
              <a:rPr lang="en-US" dirty="0"/>
              <a:t>A. System testing</a:t>
            </a:r>
          </a:p>
          <a:p>
            <a:r>
              <a:rPr lang="en-US" dirty="0"/>
              <a:t>B. Sequential testing</a:t>
            </a:r>
          </a:p>
          <a:p>
            <a:r>
              <a:rPr lang="en-US" dirty="0"/>
              <a:t>C. String testing</a:t>
            </a:r>
          </a:p>
          <a:p>
            <a:r>
              <a:rPr lang="en-US" dirty="0"/>
              <a:t>D. Validation</a:t>
            </a:r>
            <a:endParaRPr lang="en-IN" dirty="0"/>
          </a:p>
        </p:txBody>
      </p:sp>
    </p:spTree>
    <p:extLst>
      <p:ext uri="{BB962C8B-B14F-4D97-AF65-F5344CB8AC3E}">
        <p14:creationId xmlns:p14="http://schemas.microsoft.com/office/powerpoint/2010/main" val="29516961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04068-200F-87C7-0128-DBBB4F65B8B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F8AA850-57F2-E535-44C1-B61F634DAC0B}"/>
              </a:ext>
            </a:extLst>
          </p:cNvPr>
          <p:cNvSpPr txBox="1"/>
          <p:nvPr/>
        </p:nvSpPr>
        <p:spPr>
          <a:xfrm>
            <a:off x="604684" y="1264554"/>
            <a:ext cx="6651522" cy="1384995"/>
          </a:xfrm>
          <a:prstGeom prst="rect">
            <a:avLst/>
          </a:prstGeom>
          <a:noFill/>
        </p:spPr>
        <p:txBody>
          <a:bodyPr wrap="square">
            <a:spAutoFit/>
          </a:bodyPr>
          <a:lstStyle/>
          <a:p>
            <a:r>
              <a:rPr lang="en-US" dirty="0"/>
              <a:t>Acceptance testing is </a:t>
            </a:r>
          </a:p>
          <a:p>
            <a:pPr marL="342900" indent="-342900">
              <a:buAutoNum type="alphaUcPeriod"/>
            </a:pPr>
            <a:r>
              <a:rPr lang="en-US" b="1" dirty="0"/>
              <a:t>running the system with line data by the actual user</a:t>
            </a:r>
          </a:p>
          <a:p>
            <a:pPr marL="342900" indent="-342900">
              <a:buAutoNum type="alphaUcPeriod"/>
            </a:pPr>
            <a:r>
              <a:rPr lang="en-US" dirty="0"/>
              <a:t>making sure that the new programs do in fact process certain transactions according to Specifications</a:t>
            </a:r>
          </a:p>
          <a:p>
            <a:pPr marL="342900" indent="-342900">
              <a:buAutoNum type="alphaUcPeriod"/>
            </a:pPr>
            <a:r>
              <a:rPr lang="en-US" dirty="0"/>
              <a:t>is checking the logic of one or more programs in the candidate systems</a:t>
            </a:r>
          </a:p>
          <a:p>
            <a:pPr marL="342900" indent="-342900">
              <a:buAutoNum type="alphaUcPeriod"/>
            </a:pPr>
            <a:r>
              <a:rPr lang="en-US" dirty="0"/>
              <a:t>testing changes made in an existing or a new program</a:t>
            </a:r>
            <a:endParaRPr lang="en-IN" dirty="0"/>
          </a:p>
        </p:txBody>
      </p:sp>
      <p:sp>
        <p:nvSpPr>
          <p:cNvPr id="5" name="TextBox 4">
            <a:extLst>
              <a:ext uri="{FF2B5EF4-FFF2-40B4-BE49-F238E27FC236}">
                <a16:creationId xmlns:a16="http://schemas.microsoft.com/office/drawing/2014/main" id="{30794DA9-0C9C-E587-DB62-9733777A3EE0}"/>
              </a:ext>
            </a:extLst>
          </p:cNvPr>
          <p:cNvSpPr txBox="1"/>
          <p:nvPr/>
        </p:nvSpPr>
        <p:spPr>
          <a:xfrm>
            <a:off x="604683" y="2995032"/>
            <a:ext cx="7349613" cy="1384995"/>
          </a:xfrm>
          <a:prstGeom prst="rect">
            <a:avLst/>
          </a:prstGeom>
          <a:noFill/>
        </p:spPr>
        <p:txBody>
          <a:bodyPr wrap="square">
            <a:spAutoFit/>
          </a:bodyPr>
          <a:lstStyle/>
          <a:p>
            <a:r>
              <a:rPr lang="en-US" dirty="0"/>
              <a:t>Unit testing is </a:t>
            </a:r>
          </a:p>
          <a:p>
            <a:pPr marL="342900" indent="-342900">
              <a:buAutoNum type="alphaUcPeriod"/>
            </a:pPr>
            <a:r>
              <a:rPr lang="en-US" dirty="0"/>
              <a:t>running the system with line data by the actual user</a:t>
            </a:r>
          </a:p>
          <a:p>
            <a:pPr marL="342900" indent="-342900">
              <a:buAutoNum type="alphaUcPeriod"/>
            </a:pPr>
            <a:r>
              <a:rPr lang="en-US" dirty="0"/>
              <a:t>making sure that the new programs do in fact process certain transactions according to Specifications</a:t>
            </a:r>
          </a:p>
          <a:p>
            <a:pPr marL="342900" indent="-342900">
              <a:buAutoNum type="alphaUcPeriod"/>
            </a:pPr>
            <a:r>
              <a:rPr lang="en-US" dirty="0"/>
              <a:t>is checking the logic of one or more programs in the candidate system</a:t>
            </a:r>
          </a:p>
          <a:p>
            <a:pPr marL="342900" indent="-342900">
              <a:buAutoNum type="alphaUcPeriod"/>
            </a:pPr>
            <a:r>
              <a:rPr lang="en-US" b="1" dirty="0"/>
              <a:t>testing changes made in an existing or a new program </a:t>
            </a:r>
            <a:endParaRPr lang="en-IN" b="1" dirty="0"/>
          </a:p>
        </p:txBody>
      </p:sp>
      <p:sp>
        <p:nvSpPr>
          <p:cNvPr id="7" name="TextBox 6">
            <a:extLst>
              <a:ext uri="{FF2B5EF4-FFF2-40B4-BE49-F238E27FC236}">
                <a16:creationId xmlns:a16="http://schemas.microsoft.com/office/drawing/2014/main" id="{A8312540-9FD1-6705-F49D-2328AEE7F434}"/>
              </a:ext>
            </a:extLst>
          </p:cNvPr>
          <p:cNvSpPr txBox="1"/>
          <p:nvPr/>
        </p:nvSpPr>
        <p:spPr>
          <a:xfrm>
            <a:off x="604683" y="4595470"/>
            <a:ext cx="7526593" cy="1169551"/>
          </a:xfrm>
          <a:prstGeom prst="rect">
            <a:avLst/>
          </a:prstGeom>
          <a:noFill/>
        </p:spPr>
        <p:txBody>
          <a:bodyPr wrap="square">
            <a:spAutoFit/>
          </a:bodyPr>
          <a:lstStyle/>
          <a:p>
            <a:r>
              <a:rPr lang="en-US" dirty="0"/>
              <a:t>Any data that are entered into the computer, for the first time, will go through the process of</a:t>
            </a:r>
          </a:p>
          <a:p>
            <a:r>
              <a:rPr lang="en-US" dirty="0"/>
              <a:t>A. System testing</a:t>
            </a:r>
          </a:p>
          <a:p>
            <a:r>
              <a:rPr lang="en-US" dirty="0"/>
              <a:t>B. Sequential testing</a:t>
            </a:r>
          </a:p>
          <a:p>
            <a:r>
              <a:rPr lang="en-US" dirty="0"/>
              <a:t>C. String testing</a:t>
            </a:r>
          </a:p>
          <a:p>
            <a:r>
              <a:rPr lang="en-US" dirty="0"/>
              <a:t>D. </a:t>
            </a:r>
            <a:r>
              <a:rPr lang="en-US" b="1" dirty="0"/>
              <a:t>Validation</a:t>
            </a:r>
            <a:endParaRPr lang="en-IN" b="1" dirty="0"/>
          </a:p>
        </p:txBody>
      </p:sp>
    </p:spTree>
    <p:extLst>
      <p:ext uri="{BB962C8B-B14F-4D97-AF65-F5344CB8AC3E}">
        <p14:creationId xmlns:p14="http://schemas.microsoft.com/office/powerpoint/2010/main" val="23858427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2800"/>
              <a:buFont typeface="Times New Roman"/>
              <a:buNone/>
            </a:pPr>
            <a:endParaRPr/>
          </a:p>
        </p:txBody>
      </p:sp>
      <p:pic>
        <p:nvPicPr>
          <p:cNvPr id="224" name="Google Shape;224;p27" descr="See the source image"/>
          <p:cNvPicPr preferRelativeResize="0"/>
          <p:nvPr/>
        </p:nvPicPr>
        <p:blipFill rotWithShape="1">
          <a:blip r:embed="rId3">
            <a:alphaModFix/>
          </a:blip>
          <a:srcRect/>
          <a:stretch/>
        </p:blipFill>
        <p:spPr>
          <a:xfrm>
            <a:off x="0" y="163513"/>
            <a:ext cx="9144000" cy="65309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184</TotalTime>
  <Words>2829</Words>
  <Application>Microsoft Office PowerPoint</Application>
  <PresentationFormat>On-screen Show (4:3)</PresentationFormat>
  <Paragraphs>232</Paragraphs>
  <Slides>24</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Times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ABC</dc:creator>
  <cp:lastModifiedBy>Suvarna Sharma</cp:lastModifiedBy>
  <cp:revision>32</cp:revision>
  <dcterms:created xsi:type="dcterms:W3CDTF">2010-04-09T07:36:15Z</dcterms:created>
  <dcterms:modified xsi:type="dcterms:W3CDTF">2025-02-12T09:46:12Z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ies>
</file>