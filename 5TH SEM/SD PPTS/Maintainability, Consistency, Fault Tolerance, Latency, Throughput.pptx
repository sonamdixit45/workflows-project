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1" r:id="rId1"/>
  </p:sldMasterIdLst>
  <p:notesMasterIdLst>
    <p:notesMasterId r:id="rId32"/>
  </p:notesMasterIdLst>
  <p:sldIdLst>
    <p:sldId id="256" r:id="rId2"/>
    <p:sldId id="265" r:id="rId3"/>
    <p:sldId id="271" r:id="rId4"/>
    <p:sldId id="292" r:id="rId5"/>
    <p:sldId id="267" r:id="rId6"/>
    <p:sldId id="266" r:id="rId7"/>
    <p:sldId id="268" r:id="rId8"/>
    <p:sldId id="269" r:id="rId9"/>
    <p:sldId id="272" r:id="rId10"/>
    <p:sldId id="274" r:id="rId11"/>
    <p:sldId id="275" r:id="rId12"/>
    <p:sldId id="273" r:id="rId13"/>
    <p:sldId id="276" r:id="rId14"/>
    <p:sldId id="277" r:id="rId15"/>
    <p:sldId id="282" r:id="rId16"/>
    <p:sldId id="278" r:id="rId17"/>
    <p:sldId id="279" r:id="rId18"/>
    <p:sldId id="280" r:id="rId19"/>
    <p:sldId id="281" r:id="rId20"/>
    <p:sldId id="270" r:id="rId21"/>
    <p:sldId id="283" r:id="rId22"/>
    <p:sldId id="284" r:id="rId23"/>
    <p:sldId id="285" r:id="rId24"/>
    <p:sldId id="286" r:id="rId25"/>
    <p:sldId id="287" r:id="rId26"/>
    <p:sldId id="288" r:id="rId27"/>
    <p:sldId id="289" r:id="rId28"/>
    <p:sldId id="290" r:id="rId29"/>
    <p:sldId id="291" r:id="rId30"/>
    <p:sldId id="293" r:id="rId31"/>
  </p:sldIdLst>
  <p:sldSz cx="14330363" cy="8231188"/>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guide id="3" orient="horz" pos="2593">
          <p15:clr>
            <a:srgbClr val="A4A3A4"/>
          </p15:clr>
        </p15:guide>
        <p15:guide id="4" pos="4579">
          <p15:clr>
            <a:srgbClr val="A4A3A4"/>
          </p15:clr>
        </p15:guide>
        <p15:guide id="5" orient="horz" pos="2079">
          <p15:clr>
            <a:srgbClr val="A4A3A4"/>
          </p15:clr>
        </p15:guide>
        <p15:guide id="6" orient="horz" pos="2496">
          <p15:clr>
            <a:srgbClr val="A4A3A4"/>
          </p15:clr>
        </p15:guide>
        <p15:guide id="7" orient="horz" pos="2245">
          <p15:clr>
            <a:srgbClr val="A4A3A4"/>
          </p15:clr>
        </p15:guide>
        <p15:guide id="8" orient="horz" pos="2694">
          <p15:clr>
            <a:srgbClr val="A4A3A4"/>
          </p15:clr>
        </p15:guide>
        <p15:guide id="9" orient="horz" pos="2162">
          <p15:clr>
            <a:srgbClr val="A4A3A4"/>
          </p15:clr>
        </p15:guide>
        <p15:guide id="10" orient="horz" pos="2594">
          <p15:clr>
            <a:srgbClr val="A4A3A4"/>
          </p15:clr>
        </p15:guide>
        <p15:guide id="11" pos="3785">
          <p15:clr>
            <a:srgbClr val="A4A3A4"/>
          </p15:clr>
        </p15:guide>
        <p15:guide id="12" pos="451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31"/>
    <p:restoredTop sz="86184" autoAdjust="0"/>
  </p:normalViewPr>
  <p:slideViewPr>
    <p:cSldViewPr snapToGrid="0">
      <p:cViewPr varScale="1">
        <p:scale>
          <a:sx n="84" d="100"/>
          <a:sy n="84" d="100"/>
        </p:scale>
        <p:origin x="1184" y="192"/>
      </p:cViewPr>
      <p:guideLst>
        <p:guide orient="horz" pos="2160"/>
        <p:guide pos="3840"/>
        <p:guide orient="horz" pos="2593"/>
        <p:guide pos="4579"/>
        <p:guide orient="horz" pos="2079"/>
        <p:guide orient="horz" pos="2496"/>
        <p:guide orient="horz" pos="2245"/>
        <p:guide orient="horz" pos="2694"/>
        <p:guide orient="horz" pos="2162"/>
        <p:guide orient="horz" pos="2594"/>
        <p:guide pos="3785"/>
        <p:guide pos="4514"/>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444500" y="685800"/>
            <a:ext cx="5969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1:notes"/>
          <p:cNvSpPr>
            <a:spLocks noGrp="1" noRot="1" noChangeAspect="1"/>
          </p:cNvSpPr>
          <p:nvPr>
            <p:ph type="sldImg" idx="2"/>
          </p:nvPr>
        </p:nvSpPr>
        <p:spPr>
          <a:xfrm>
            <a:off x="444500" y="685800"/>
            <a:ext cx="5969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 name="Google Shape;48;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 name="Google Shape;49;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
        <p:nvSpPr>
          <p:cNvPr id="50" name="Google Shape;50;p1: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a:t>1</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cap="none" dirty="0">
                <a:solidFill>
                  <a:schemeClr val="dk1"/>
                </a:solidFill>
                <a:effectLst/>
                <a:latin typeface="Calibri"/>
                <a:ea typeface="Calibri"/>
                <a:cs typeface="Calibri"/>
                <a:sym typeface="Calibri"/>
              </a:rPr>
              <a:t>In system design, availability, reliability, and scalability are crucial characteristics that determine how well a system can handle user demands and adapt to changing conditions. Availability ensures the system is accessible when needed, reliability guarantees consistent and correct performance, and scalability allows the system to handle increasing workloads. </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2</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1821602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F4E04-CA8A-A5A7-0F89-31F7E1AEB9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28DD59-4D96-0608-8C07-9D2E5F39BA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0886D1-3791-17E3-BB12-AB5C51AC40E2}"/>
              </a:ext>
            </a:extLst>
          </p:cNvPr>
          <p:cNvSpPr>
            <a:spLocks noGrp="1"/>
          </p:cNvSpPr>
          <p:nvPr>
            <p:ph type="body" idx="1"/>
          </p:nvPr>
        </p:nvSpPr>
        <p:spPr/>
        <p:txBody>
          <a:bodyPr/>
          <a:lstStyle/>
          <a:p>
            <a:r>
              <a:rPr lang="en-US" sz="1200" b="1" i="0" u="none" strike="noStrike" cap="none" dirty="0">
                <a:solidFill>
                  <a:schemeClr val="dk1"/>
                </a:solidFill>
                <a:effectLst/>
                <a:latin typeface="Calibri"/>
                <a:ea typeface="Calibri"/>
                <a:cs typeface="Calibri"/>
                <a:sym typeface="Calibri"/>
              </a:rPr>
              <a:t>Reliability</a:t>
            </a:r>
            <a:r>
              <a:rPr lang="en-US" sz="1200" b="0" i="0" u="none" strike="noStrike" cap="none" dirty="0">
                <a:solidFill>
                  <a:schemeClr val="dk1"/>
                </a:solidFill>
                <a:effectLst/>
                <a:latin typeface="Calibri"/>
                <a:ea typeface="Calibri"/>
                <a:cs typeface="Calibri"/>
                <a:sym typeface="Calibri"/>
              </a:rPr>
              <a:t> refers to a system’s ability to perform its intended functions consistently and accurately without failure. A reliable system ensures that users get the expected results every time they interact with your application.</a:t>
            </a:r>
            <a:endParaRPr lang="en-IN" dirty="0"/>
          </a:p>
        </p:txBody>
      </p:sp>
      <p:sp>
        <p:nvSpPr>
          <p:cNvPr id="4" name="Slide Number Placeholder 3">
            <a:extLst>
              <a:ext uri="{FF2B5EF4-FFF2-40B4-BE49-F238E27FC236}">
                <a16:creationId xmlns:a16="http://schemas.microsoft.com/office/drawing/2014/main" id="{E7DB0C5A-A88F-DD1C-7A7A-42D0B29FBFF8}"/>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6</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27512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5266AA-0ADB-40B8-29FB-1F01386628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AF803B-1077-A33B-7CCA-CA16EDADD7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A0F369-A973-1BA3-440C-B29B19BA819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56F5AA0-E521-9B21-5B67-259ED54E0187}"/>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8</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7782560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65" name="Google Shape;65;p4:notes"/>
          <p:cNvSpPr>
            <a:spLocks noGrp="1" noRot="1" noChangeAspect="1"/>
          </p:cNvSpPr>
          <p:nvPr>
            <p:ph type="sldImg" idx="2"/>
          </p:nvPr>
        </p:nvSpPr>
        <p:spPr>
          <a:xfrm>
            <a:off x="444500" y="685800"/>
            <a:ext cx="5969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089624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0"/>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13</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1586782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61" name="Google Shape;61;p2:notes"/>
          <p:cNvSpPr>
            <a:spLocks noGrp="1" noRot="1" noChangeAspect="1"/>
          </p:cNvSpPr>
          <p:nvPr>
            <p:ph type="sldImg" idx="2"/>
          </p:nvPr>
        </p:nvSpPr>
        <p:spPr>
          <a:xfrm>
            <a:off x="444500" y="685800"/>
            <a:ext cx="5969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319347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0"/>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25</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30249468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4"/>
        <p:cNvGrpSpPr/>
        <p:nvPr/>
      </p:nvGrpSpPr>
      <p:grpSpPr>
        <a:xfrm>
          <a:off x="0" y="0"/>
          <a:ext cx="0" cy="0"/>
          <a:chOff x="0" y="0"/>
          <a:chExt cx="0" cy="0"/>
        </a:xfrm>
      </p:grpSpPr>
      <p:pic>
        <p:nvPicPr>
          <p:cNvPr id="25" name="Google Shape;25;p2" descr="LOGO.gif"/>
          <p:cNvPicPr preferRelativeResize="0"/>
          <p:nvPr/>
        </p:nvPicPr>
        <p:blipFill rotWithShape="1">
          <a:blip r:embed="rId2">
            <a:alphaModFix/>
          </a:blip>
          <a:srcRect b="10713"/>
          <a:stretch/>
        </p:blipFill>
        <p:spPr>
          <a:xfrm>
            <a:off x="10270103" y="274375"/>
            <a:ext cx="3224332" cy="762147"/>
          </a:xfrm>
          <a:prstGeom prst="rect">
            <a:avLst/>
          </a:prstGeom>
          <a:noFill/>
          <a:ln>
            <a:noFill/>
          </a:ln>
        </p:spPr>
      </p:pic>
      <p:grpSp>
        <p:nvGrpSpPr>
          <p:cNvPr id="26" name="Google Shape;26;p2"/>
          <p:cNvGrpSpPr/>
          <p:nvPr/>
        </p:nvGrpSpPr>
        <p:grpSpPr>
          <a:xfrm>
            <a:off x="9633189" y="2"/>
            <a:ext cx="4697174" cy="1051763"/>
            <a:chOff x="6096000" y="3924300"/>
            <a:chExt cx="2997200" cy="876300"/>
          </a:xfrm>
        </p:grpSpPr>
        <p:sp>
          <p:nvSpPr>
            <p:cNvPr id="27" name="Google Shape;27;p2"/>
            <p:cNvSpPr/>
            <p:nvPr/>
          </p:nvSpPr>
          <p:spPr>
            <a:xfrm>
              <a:off x="6096000" y="3924300"/>
              <a:ext cx="29972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28" name="Google Shape;28;p2" descr="LOGO.gif"/>
            <p:cNvPicPr preferRelativeResize="0"/>
            <p:nvPr/>
          </p:nvPicPr>
          <p:blipFill rotWithShape="1">
            <a:blip r:embed="rId2">
              <a:alphaModFix/>
            </a:blip>
            <a:srcRect b="10713"/>
            <a:stretch/>
          </p:blipFill>
          <p:spPr>
            <a:xfrm>
              <a:off x="6502400" y="4152900"/>
              <a:ext cx="2057400" cy="635000"/>
            </a:xfrm>
            <a:prstGeom prst="rect">
              <a:avLst/>
            </a:prstGeom>
            <a:noFill/>
            <a:ln>
              <a:noFill/>
            </a:ln>
          </p:spPr>
        </p:pic>
        <p:sp>
          <p:nvSpPr>
            <p:cNvPr id="29" name="Google Shape;29;p2"/>
            <p:cNvSpPr/>
            <p:nvPr/>
          </p:nvSpPr>
          <p:spPr>
            <a:xfrm>
              <a:off x="6477000" y="4114800"/>
              <a:ext cx="2076450" cy="685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pic>
        <p:nvPicPr>
          <p:cNvPr id="30" name="Google Shape;30;p2" descr="logo.jpg"/>
          <p:cNvPicPr preferRelativeResize="0"/>
          <p:nvPr/>
        </p:nvPicPr>
        <p:blipFill rotWithShape="1">
          <a:blip r:embed="rId3">
            <a:alphaModFix/>
          </a:blip>
          <a:srcRect/>
          <a:stretch/>
        </p:blipFill>
        <p:spPr>
          <a:xfrm>
            <a:off x="10270101" y="274378"/>
            <a:ext cx="3010371" cy="731662"/>
          </a:xfrm>
          <a:prstGeom prst="rect">
            <a:avLst/>
          </a:prstGeom>
          <a:noFill/>
          <a:ln>
            <a:noFill/>
          </a:ln>
        </p:spPr>
      </p:pic>
      <p:sp>
        <p:nvSpPr>
          <p:cNvPr id="31" name="Google Shape;31;p2"/>
          <p:cNvSpPr txBox="1">
            <a:spLocks noGrp="1"/>
          </p:cNvSpPr>
          <p:nvPr>
            <p:ph type="title"/>
          </p:nvPr>
        </p:nvSpPr>
        <p:spPr>
          <a:xfrm>
            <a:off x="1" y="2"/>
            <a:ext cx="10150674" cy="100603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2" name="Google Shape;32;p2"/>
          <p:cNvSpPr txBox="1">
            <a:spLocks noGrp="1"/>
          </p:cNvSpPr>
          <p:nvPr>
            <p:ph type="body" idx="1"/>
          </p:nvPr>
        </p:nvSpPr>
        <p:spPr>
          <a:xfrm>
            <a:off x="716522" y="1646250"/>
            <a:ext cx="12897326" cy="5432203"/>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3" name="Google Shape;33;p2"/>
          <p:cNvSpPr txBox="1">
            <a:spLocks noGrp="1"/>
          </p:cNvSpPr>
          <p:nvPr>
            <p:ph type="dt" idx="10"/>
          </p:nvPr>
        </p:nvSpPr>
        <p:spPr>
          <a:xfrm>
            <a:off x="716518" y="7629104"/>
            <a:ext cx="3343752" cy="43823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
          <p:cNvSpPr txBox="1">
            <a:spLocks noGrp="1"/>
          </p:cNvSpPr>
          <p:nvPr>
            <p:ph type="ftr" idx="11"/>
          </p:nvPr>
        </p:nvSpPr>
        <p:spPr>
          <a:xfrm>
            <a:off x="4896212" y="7629104"/>
            <a:ext cx="4537948" cy="43823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
          <p:cNvSpPr txBox="1">
            <a:spLocks noGrp="1"/>
          </p:cNvSpPr>
          <p:nvPr>
            <p:ph type="sldNum" idx="12"/>
          </p:nvPr>
        </p:nvSpPr>
        <p:spPr>
          <a:xfrm>
            <a:off x="10270093" y="7629104"/>
            <a:ext cx="3343752" cy="438234"/>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6"/>
        <p:cNvGrpSpPr/>
        <p:nvPr/>
      </p:nvGrpSpPr>
      <p:grpSpPr>
        <a:xfrm>
          <a:off x="0" y="0"/>
          <a:ext cx="0" cy="0"/>
          <a:chOff x="0" y="0"/>
          <a:chExt cx="0" cy="0"/>
        </a:xfrm>
      </p:grpSpPr>
      <p:sp>
        <p:nvSpPr>
          <p:cNvPr id="37" name="Google Shape;37;p3"/>
          <p:cNvSpPr txBox="1">
            <a:spLocks noGrp="1"/>
          </p:cNvSpPr>
          <p:nvPr>
            <p:ph type="dt" idx="10"/>
          </p:nvPr>
        </p:nvSpPr>
        <p:spPr>
          <a:xfrm>
            <a:off x="716518" y="7629104"/>
            <a:ext cx="3343752" cy="43823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3"/>
          <p:cNvSpPr txBox="1">
            <a:spLocks noGrp="1"/>
          </p:cNvSpPr>
          <p:nvPr>
            <p:ph type="ftr" idx="11"/>
          </p:nvPr>
        </p:nvSpPr>
        <p:spPr>
          <a:xfrm>
            <a:off x="4896212" y="7629104"/>
            <a:ext cx="4537948" cy="43823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3"/>
          <p:cNvSpPr txBox="1">
            <a:spLocks noGrp="1"/>
          </p:cNvSpPr>
          <p:nvPr>
            <p:ph type="sldNum" idx="12"/>
          </p:nvPr>
        </p:nvSpPr>
        <p:spPr>
          <a:xfrm>
            <a:off x="10270093" y="7629104"/>
            <a:ext cx="3343752" cy="438234"/>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40"/>
        <p:cNvGrpSpPr/>
        <p:nvPr/>
      </p:nvGrpSpPr>
      <p:grpSpPr>
        <a:xfrm>
          <a:off x="0" y="0"/>
          <a:ext cx="0" cy="0"/>
          <a:chOff x="0" y="0"/>
          <a:chExt cx="0" cy="0"/>
        </a:xfrm>
      </p:grpSpPr>
      <p:sp>
        <p:nvSpPr>
          <p:cNvPr id="41" name="Google Shape;41;p4"/>
          <p:cNvSpPr txBox="1">
            <a:spLocks noGrp="1"/>
          </p:cNvSpPr>
          <p:nvPr>
            <p:ph type="ctrTitle"/>
          </p:nvPr>
        </p:nvSpPr>
        <p:spPr>
          <a:xfrm>
            <a:off x="10" y="3"/>
            <a:ext cx="8598218" cy="1097492"/>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2" name="Google Shape;42;p4"/>
          <p:cNvSpPr txBox="1">
            <a:spLocks noGrp="1"/>
          </p:cNvSpPr>
          <p:nvPr>
            <p:ph type="subTitle" idx="1"/>
          </p:nvPr>
        </p:nvSpPr>
        <p:spPr>
          <a:xfrm>
            <a:off x="835942" y="1646241"/>
            <a:ext cx="12777907" cy="5670373"/>
          </a:xfrm>
          <a:prstGeom prst="rect">
            <a:avLst/>
          </a:prstGeom>
          <a:noFill/>
          <a:ln>
            <a:noFill/>
          </a:ln>
        </p:spPr>
        <p:txBody>
          <a:bodyPr spcFirstLastPara="1" wrap="square" lIns="91425" tIns="45700" rIns="91425" bIns="45700" anchor="t" anchorCtr="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43" name="Google Shape;43;p4"/>
          <p:cNvSpPr txBox="1">
            <a:spLocks noGrp="1"/>
          </p:cNvSpPr>
          <p:nvPr>
            <p:ph type="dt" idx="10"/>
          </p:nvPr>
        </p:nvSpPr>
        <p:spPr>
          <a:xfrm>
            <a:off x="716518" y="7629104"/>
            <a:ext cx="3343752" cy="43823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4"/>
          <p:cNvSpPr txBox="1">
            <a:spLocks noGrp="1"/>
          </p:cNvSpPr>
          <p:nvPr>
            <p:ph type="ftr" idx="11"/>
          </p:nvPr>
        </p:nvSpPr>
        <p:spPr>
          <a:xfrm>
            <a:off x="4896212" y="7629104"/>
            <a:ext cx="4537948" cy="43823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4"/>
          <p:cNvSpPr txBox="1">
            <a:spLocks noGrp="1"/>
          </p:cNvSpPr>
          <p:nvPr>
            <p:ph type="sldNum" idx="12"/>
          </p:nvPr>
        </p:nvSpPr>
        <p:spPr>
          <a:xfrm>
            <a:off x="10270093" y="7629104"/>
            <a:ext cx="3343752" cy="438234"/>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jpg"/><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1" y="2"/>
            <a:ext cx="10150674" cy="1006034"/>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1pPr>
            <a:lvl2pPr marR="0" lvl="1"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2pPr>
            <a:lvl3pPr marR="0" lvl="2"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3pPr>
            <a:lvl4pPr marR="0" lvl="3"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4pPr>
            <a:lvl5pPr marR="0" lvl="4"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5pPr>
            <a:lvl6pPr marR="0" lvl="5"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6pPr>
            <a:lvl7pPr marR="0" lvl="6"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7pPr>
            <a:lvl8pPr marR="0" lvl="7"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8pPr>
            <a:lvl9pPr marR="0" lvl="8"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9pPr>
          </a:lstStyle>
          <a:p>
            <a:endParaRPr/>
          </a:p>
        </p:txBody>
      </p:sp>
      <p:sp>
        <p:nvSpPr>
          <p:cNvPr id="11" name="Google Shape;11;p1"/>
          <p:cNvSpPr txBox="1">
            <a:spLocks noGrp="1"/>
          </p:cNvSpPr>
          <p:nvPr>
            <p:ph type="body" idx="1"/>
          </p:nvPr>
        </p:nvSpPr>
        <p:spPr>
          <a:xfrm>
            <a:off x="716522" y="1646250"/>
            <a:ext cx="12897326" cy="5432203"/>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716518" y="7629104"/>
            <a:ext cx="3343752" cy="438234"/>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98989"/>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 name="Google Shape;13;p1"/>
          <p:cNvSpPr txBox="1">
            <a:spLocks noGrp="1"/>
          </p:cNvSpPr>
          <p:nvPr>
            <p:ph type="ftr" idx="11"/>
          </p:nvPr>
        </p:nvSpPr>
        <p:spPr>
          <a:xfrm>
            <a:off x="4896212" y="7629104"/>
            <a:ext cx="4537948" cy="438234"/>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98989"/>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4" name="Google Shape;14;p1"/>
          <p:cNvSpPr txBox="1">
            <a:spLocks noGrp="1"/>
          </p:cNvSpPr>
          <p:nvPr>
            <p:ph type="sldNum" idx="12"/>
          </p:nvPr>
        </p:nvSpPr>
        <p:spPr>
          <a:xfrm>
            <a:off x="10270093" y="7629104"/>
            <a:ext cx="3343752" cy="438234"/>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None/>
              <a:defRPr sz="1200" b="0" i="0" u="none" strike="noStrike" cap="none">
                <a:solidFill>
                  <a:srgbClr val="898989"/>
                </a:solidFill>
                <a:latin typeface="Calibri"/>
                <a:ea typeface="Calibri"/>
                <a:cs typeface="Calibri"/>
                <a:sym typeface="Calibri"/>
              </a:defRPr>
            </a:lvl1pPr>
            <a:lvl2pPr marL="0" marR="0" lvl="1" indent="0" algn="r" rtl="0">
              <a:spcBef>
                <a:spcPts val="0"/>
              </a:spcBef>
              <a:spcAft>
                <a:spcPts val="0"/>
              </a:spcAft>
              <a:buNone/>
              <a:defRPr sz="1200" b="0" i="0" u="none" strike="noStrike" cap="none">
                <a:solidFill>
                  <a:srgbClr val="898989"/>
                </a:solidFill>
                <a:latin typeface="Calibri"/>
                <a:ea typeface="Calibri"/>
                <a:cs typeface="Calibri"/>
                <a:sym typeface="Calibri"/>
              </a:defRPr>
            </a:lvl2pPr>
            <a:lvl3pPr marL="0" marR="0" lvl="2" indent="0" algn="r" rtl="0">
              <a:spcBef>
                <a:spcPts val="0"/>
              </a:spcBef>
              <a:spcAft>
                <a:spcPts val="0"/>
              </a:spcAft>
              <a:buNone/>
              <a:defRPr sz="1200" b="0" i="0" u="none" strike="noStrike" cap="none">
                <a:solidFill>
                  <a:srgbClr val="898989"/>
                </a:solidFill>
                <a:latin typeface="Calibri"/>
                <a:ea typeface="Calibri"/>
                <a:cs typeface="Calibri"/>
                <a:sym typeface="Calibri"/>
              </a:defRPr>
            </a:lvl3pPr>
            <a:lvl4pPr marL="0" marR="0" lvl="3" indent="0" algn="r" rtl="0">
              <a:spcBef>
                <a:spcPts val="0"/>
              </a:spcBef>
              <a:spcAft>
                <a:spcPts val="0"/>
              </a:spcAft>
              <a:buNone/>
              <a:defRPr sz="1200" b="0" i="0" u="none" strike="noStrike" cap="none">
                <a:solidFill>
                  <a:srgbClr val="898989"/>
                </a:solidFill>
                <a:latin typeface="Calibri"/>
                <a:ea typeface="Calibri"/>
                <a:cs typeface="Calibri"/>
                <a:sym typeface="Calibri"/>
              </a:defRPr>
            </a:lvl4pPr>
            <a:lvl5pPr marL="0" marR="0" lvl="4" indent="0" algn="r" rtl="0">
              <a:spcBef>
                <a:spcPts val="0"/>
              </a:spcBef>
              <a:spcAft>
                <a:spcPts val="0"/>
              </a:spcAft>
              <a:buNone/>
              <a:defRPr sz="1200" b="0" i="0" u="none" strike="noStrike" cap="none">
                <a:solidFill>
                  <a:srgbClr val="898989"/>
                </a:solidFill>
                <a:latin typeface="Calibri"/>
                <a:ea typeface="Calibri"/>
                <a:cs typeface="Calibri"/>
                <a:sym typeface="Calibri"/>
              </a:defRPr>
            </a:lvl5pPr>
            <a:lvl6pPr marL="0" marR="0" lvl="5" indent="0" algn="r" rtl="0">
              <a:spcBef>
                <a:spcPts val="0"/>
              </a:spcBef>
              <a:spcAft>
                <a:spcPts val="0"/>
              </a:spcAft>
              <a:buNone/>
              <a:defRPr sz="1200" b="0" i="0" u="none" strike="noStrike" cap="none">
                <a:solidFill>
                  <a:srgbClr val="898989"/>
                </a:solidFill>
                <a:latin typeface="Calibri"/>
                <a:ea typeface="Calibri"/>
                <a:cs typeface="Calibri"/>
                <a:sym typeface="Calibri"/>
              </a:defRPr>
            </a:lvl6pPr>
            <a:lvl7pPr marL="0" marR="0" lvl="6" indent="0" algn="r" rtl="0">
              <a:spcBef>
                <a:spcPts val="0"/>
              </a:spcBef>
              <a:spcAft>
                <a:spcPts val="0"/>
              </a:spcAft>
              <a:buNone/>
              <a:defRPr sz="1200" b="0" i="0" u="none" strike="noStrike" cap="none">
                <a:solidFill>
                  <a:srgbClr val="898989"/>
                </a:solidFill>
                <a:latin typeface="Calibri"/>
                <a:ea typeface="Calibri"/>
                <a:cs typeface="Calibri"/>
                <a:sym typeface="Calibri"/>
              </a:defRPr>
            </a:lvl7pPr>
            <a:lvl8pPr marL="0" marR="0" lvl="7" indent="0" algn="r" rtl="0">
              <a:spcBef>
                <a:spcPts val="0"/>
              </a:spcBef>
              <a:spcAft>
                <a:spcPts val="0"/>
              </a:spcAft>
              <a:buNone/>
              <a:defRPr sz="1200" b="0" i="0" u="none" strike="noStrike" cap="none">
                <a:solidFill>
                  <a:srgbClr val="898989"/>
                </a:solidFill>
                <a:latin typeface="Calibri"/>
                <a:ea typeface="Calibri"/>
                <a:cs typeface="Calibri"/>
                <a:sym typeface="Calibri"/>
              </a:defRPr>
            </a:lvl8pPr>
            <a:lvl9pPr marL="0" marR="0" lvl="8" indent="0" algn="r" rtl="0">
              <a:spcBef>
                <a:spcPts val="0"/>
              </a:spcBef>
              <a:spcAft>
                <a:spcPts val="0"/>
              </a:spcAft>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15" name="Google Shape;15;p1"/>
          <p:cNvSpPr/>
          <p:nvPr/>
        </p:nvSpPr>
        <p:spPr>
          <a:xfrm>
            <a:off x="6" y="2"/>
            <a:ext cx="14330363" cy="1006034"/>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6" name="Google Shape;16;p1"/>
          <p:cNvSpPr/>
          <p:nvPr/>
        </p:nvSpPr>
        <p:spPr>
          <a:xfrm rot="10800000" flipH="1">
            <a:off x="6" y="8048276"/>
            <a:ext cx="14330363" cy="237786"/>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17" name="Google Shape;17;p1" descr="LOGO.gif"/>
          <p:cNvPicPr preferRelativeResize="0"/>
          <p:nvPr/>
        </p:nvPicPr>
        <p:blipFill rotWithShape="1">
          <a:blip r:embed="rId5">
            <a:alphaModFix/>
          </a:blip>
          <a:srcRect b="10713"/>
          <a:stretch/>
        </p:blipFill>
        <p:spPr>
          <a:xfrm>
            <a:off x="10270103" y="274375"/>
            <a:ext cx="3224332" cy="762147"/>
          </a:xfrm>
          <a:prstGeom prst="rect">
            <a:avLst/>
          </a:prstGeom>
          <a:noFill/>
          <a:ln>
            <a:noFill/>
          </a:ln>
        </p:spPr>
      </p:pic>
      <p:pic>
        <p:nvPicPr>
          <p:cNvPr id="18" name="Google Shape;18;p1" descr="LOGO.gif"/>
          <p:cNvPicPr preferRelativeResize="0"/>
          <p:nvPr/>
        </p:nvPicPr>
        <p:blipFill rotWithShape="1">
          <a:blip r:embed="rId5">
            <a:alphaModFix/>
          </a:blip>
          <a:srcRect b="10713"/>
          <a:stretch/>
        </p:blipFill>
        <p:spPr>
          <a:xfrm>
            <a:off x="10270103" y="274375"/>
            <a:ext cx="3224332" cy="762147"/>
          </a:xfrm>
          <a:prstGeom prst="rect">
            <a:avLst/>
          </a:prstGeom>
          <a:noFill/>
          <a:ln>
            <a:noFill/>
          </a:ln>
        </p:spPr>
      </p:pic>
      <p:grpSp>
        <p:nvGrpSpPr>
          <p:cNvPr id="19" name="Google Shape;19;p1"/>
          <p:cNvGrpSpPr/>
          <p:nvPr/>
        </p:nvGrpSpPr>
        <p:grpSpPr>
          <a:xfrm>
            <a:off x="9633189" y="2"/>
            <a:ext cx="4697174" cy="1051763"/>
            <a:chOff x="6096000" y="3924300"/>
            <a:chExt cx="2997200" cy="876300"/>
          </a:xfrm>
        </p:grpSpPr>
        <p:sp>
          <p:nvSpPr>
            <p:cNvPr id="20" name="Google Shape;20;p1"/>
            <p:cNvSpPr/>
            <p:nvPr/>
          </p:nvSpPr>
          <p:spPr>
            <a:xfrm>
              <a:off x="6096000" y="3924300"/>
              <a:ext cx="29972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21" name="Google Shape;21;p1" descr="LOGO.gif"/>
            <p:cNvPicPr preferRelativeResize="0"/>
            <p:nvPr/>
          </p:nvPicPr>
          <p:blipFill rotWithShape="1">
            <a:blip r:embed="rId5">
              <a:alphaModFix/>
            </a:blip>
            <a:srcRect b="10713"/>
            <a:stretch/>
          </p:blipFill>
          <p:spPr>
            <a:xfrm>
              <a:off x="6502400" y="4152900"/>
              <a:ext cx="2057400" cy="635000"/>
            </a:xfrm>
            <a:prstGeom prst="rect">
              <a:avLst/>
            </a:prstGeom>
            <a:noFill/>
            <a:ln>
              <a:noFill/>
            </a:ln>
          </p:spPr>
        </p:pic>
        <p:sp>
          <p:nvSpPr>
            <p:cNvPr id="22" name="Google Shape;22;p1"/>
            <p:cNvSpPr/>
            <p:nvPr/>
          </p:nvSpPr>
          <p:spPr>
            <a:xfrm>
              <a:off x="6477000" y="4114800"/>
              <a:ext cx="2076450" cy="685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pic>
        <p:nvPicPr>
          <p:cNvPr id="23" name="Google Shape;23;p1" descr="logo.jpg"/>
          <p:cNvPicPr preferRelativeResize="0"/>
          <p:nvPr/>
        </p:nvPicPr>
        <p:blipFill rotWithShape="1">
          <a:blip r:embed="rId6">
            <a:alphaModFix/>
          </a:blip>
          <a:srcRect/>
          <a:stretch/>
        </p:blipFill>
        <p:spPr>
          <a:xfrm>
            <a:off x="10270101" y="274378"/>
            <a:ext cx="3010371" cy="731662"/>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1"/>
        <p:cNvGrpSpPr/>
        <p:nvPr/>
      </p:nvGrpSpPr>
      <p:grpSpPr>
        <a:xfrm>
          <a:off x="0" y="0"/>
          <a:ext cx="0" cy="0"/>
          <a:chOff x="0" y="0"/>
          <a:chExt cx="0" cy="0"/>
        </a:xfrm>
      </p:grpSpPr>
      <p:sp>
        <p:nvSpPr>
          <p:cNvPr id="52" name="Google Shape;52;p5"/>
          <p:cNvSpPr txBox="1"/>
          <p:nvPr/>
        </p:nvSpPr>
        <p:spPr>
          <a:xfrm>
            <a:off x="3134773" y="7036631"/>
            <a:ext cx="8150394"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a:solidFill>
                  <a:schemeClr val="dk1"/>
                </a:solidFill>
                <a:latin typeface="Times New Roman"/>
                <a:ea typeface="Times New Roman"/>
                <a:cs typeface="Times New Roman"/>
                <a:sym typeface="Times New Roman"/>
              </a:rPr>
              <a:t>Chitkara University Institute of Engineering and Technology,</a:t>
            </a:r>
            <a:br>
              <a:rPr lang="en-US" sz="1800">
                <a:solidFill>
                  <a:schemeClr val="dk1"/>
                </a:solidFill>
                <a:latin typeface="Times New Roman"/>
                <a:ea typeface="Times New Roman"/>
                <a:cs typeface="Times New Roman"/>
                <a:sym typeface="Times New Roman"/>
              </a:rPr>
            </a:br>
            <a:r>
              <a:rPr lang="en-US" sz="1800" b="1">
                <a:solidFill>
                  <a:schemeClr val="dk1"/>
                </a:solidFill>
                <a:latin typeface="Times New Roman"/>
                <a:ea typeface="Times New Roman"/>
                <a:cs typeface="Times New Roman"/>
                <a:sym typeface="Times New Roman"/>
              </a:rPr>
              <a:t>Chitkara University, Punjab, India</a:t>
            </a:r>
            <a:endParaRPr sz="1800">
              <a:solidFill>
                <a:schemeClr val="dk1"/>
              </a:solidFill>
              <a:latin typeface="Times New Roman"/>
              <a:ea typeface="Times New Roman"/>
              <a:cs typeface="Times New Roman"/>
              <a:sym typeface="Times New Roman"/>
            </a:endParaRPr>
          </a:p>
        </p:txBody>
      </p:sp>
      <p:sp>
        <p:nvSpPr>
          <p:cNvPr id="53" name="Google Shape;53;p5"/>
          <p:cNvSpPr txBox="1">
            <a:spLocks noGrp="1"/>
          </p:cNvSpPr>
          <p:nvPr>
            <p:ph type="sldNum" idx="12"/>
          </p:nvPr>
        </p:nvSpPr>
        <p:spPr>
          <a:xfrm>
            <a:off x="10270093" y="7629104"/>
            <a:ext cx="3343752" cy="438234"/>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latin typeface="Times New Roman"/>
                <a:ea typeface="Times New Roman"/>
                <a:cs typeface="Times New Roman"/>
                <a:sym typeface="Times New Roman"/>
              </a:rPr>
              <a:t>1</a:t>
            </a:fld>
            <a:endParaRPr>
              <a:latin typeface="Times New Roman"/>
              <a:ea typeface="Times New Roman"/>
              <a:cs typeface="Times New Roman"/>
              <a:sym typeface="Times New Roman"/>
            </a:endParaRPr>
          </a:p>
        </p:txBody>
      </p:sp>
      <p:sp>
        <p:nvSpPr>
          <p:cNvPr id="54" name="Google Shape;54;p5"/>
          <p:cNvSpPr/>
          <p:nvPr/>
        </p:nvSpPr>
        <p:spPr>
          <a:xfrm>
            <a:off x="3205359" y="6477391"/>
            <a:ext cx="7830086" cy="559232"/>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Times New Roman"/>
                <a:ea typeface="Times New Roman"/>
                <a:cs typeface="Times New Roman"/>
                <a:sym typeface="Times New Roman"/>
              </a:rPr>
              <a:t>Department of Computer Science &amp; Engineering</a:t>
            </a:r>
            <a:endParaRPr/>
          </a:p>
        </p:txBody>
      </p:sp>
      <p:sp>
        <p:nvSpPr>
          <p:cNvPr id="55" name="Google Shape;55;p5"/>
          <p:cNvSpPr/>
          <p:nvPr/>
        </p:nvSpPr>
        <p:spPr>
          <a:xfrm>
            <a:off x="1247574" y="2518120"/>
            <a:ext cx="11293348" cy="1489675"/>
          </a:xfrm>
          <a:prstGeom prst="rect">
            <a:avLst/>
          </a:prstGeom>
          <a:noFill/>
          <a:ln>
            <a:noFill/>
          </a:ln>
        </p:spPr>
        <p:txBody>
          <a:bodyPr spcFirstLastPara="1" wrap="square" lIns="91425" tIns="45700" rIns="91425" bIns="45700" anchor="t" anchorCtr="0">
            <a:noAutofit/>
          </a:bodyPr>
          <a:lstStyle/>
          <a:p>
            <a:pPr lvl="0" algn="ctr"/>
            <a:r>
              <a:rPr lang="en-US" sz="4000" dirty="0">
                <a:sym typeface="Calibri"/>
              </a:rPr>
              <a:t>System Design</a:t>
            </a:r>
            <a:r>
              <a:rPr lang="en-US" sz="4000" i="1" dirty="0">
                <a:solidFill>
                  <a:schemeClr val="dk1"/>
                </a:solidFill>
                <a:latin typeface="Calibri"/>
                <a:ea typeface="Calibri"/>
                <a:cs typeface="Calibri"/>
                <a:sym typeface="Calibri"/>
              </a:rPr>
              <a:t>: </a:t>
            </a:r>
            <a:r>
              <a:rPr lang="en-US" sz="4000" dirty="0"/>
              <a:t>Maintainability, Consistency, Fault Tolerance, Latency, Throughput </a:t>
            </a:r>
            <a:endParaRPr sz="4000" dirty="0">
              <a:solidFill>
                <a:schemeClr val="dk1"/>
              </a:solidFill>
              <a:latin typeface="Times New Roman"/>
              <a:ea typeface="Times New Roman"/>
              <a:cs typeface="Times New Roman"/>
              <a:sym typeface="Times New Roman"/>
            </a:endParaRPr>
          </a:p>
        </p:txBody>
      </p:sp>
      <p:sp>
        <p:nvSpPr>
          <p:cNvPr id="56" name="Google Shape;56;p5"/>
          <p:cNvSpPr/>
          <p:nvPr/>
        </p:nvSpPr>
        <p:spPr>
          <a:xfrm>
            <a:off x="3687925" y="5862182"/>
            <a:ext cx="8534400" cy="46166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a:solidFill>
                  <a:schemeClr val="dk1"/>
                </a:solidFill>
                <a:latin typeface="Times New Roman"/>
                <a:ea typeface="Times New Roman"/>
                <a:cs typeface="Times New Roman"/>
                <a:sym typeface="Times New Roman"/>
              </a:rPr>
              <a:t>Bachelor of Engineering- Computer Science &amp; Engineering </a:t>
            </a:r>
            <a:endParaRPr sz="2400">
              <a:solidFill>
                <a:schemeClr val="dk1"/>
              </a:solidFill>
              <a:latin typeface="Times New Roman"/>
              <a:ea typeface="Times New Roman"/>
              <a:cs typeface="Times New Roman"/>
              <a:sym typeface="Times New Roman"/>
            </a:endParaRPr>
          </a:p>
        </p:txBody>
      </p:sp>
      <p:sp>
        <p:nvSpPr>
          <p:cNvPr id="57" name="Google Shape;57;p5"/>
          <p:cNvSpPr/>
          <p:nvPr/>
        </p:nvSpPr>
        <p:spPr>
          <a:xfrm>
            <a:off x="5997414" y="5477806"/>
            <a:ext cx="3531600" cy="3693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b="1" dirty="0">
                <a:latin typeface="Times New Roman"/>
                <a:ea typeface="Times New Roman"/>
                <a:cs typeface="Times New Roman"/>
                <a:sym typeface="Times New Roman"/>
              </a:rPr>
              <a:t>System Design</a:t>
            </a:r>
            <a:r>
              <a:rPr lang="en-US" sz="1800" b="1" dirty="0">
                <a:solidFill>
                  <a:srgbClr val="000000"/>
                </a:solidFill>
                <a:latin typeface="Times New Roman"/>
                <a:ea typeface="Times New Roman"/>
                <a:cs typeface="Times New Roman"/>
                <a:sym typeface="Times New Roman"/>
              </a:rPr>
              <a:t>(</a:t>
            </a:r>
            <a:r>
              <a:rPr lang="en-US" sz="1800" b="1" dirty="0">
                <a:latin typeface="Times New Roman"/>
                <a:ea typeface="Times New Roman"/>
                <a:cs typeface="Times New Roman"/>
                <a:sym typeface="Times New Roman"/>
              </a:rPr>
              <a:t>SD</a:t>
            </a:r>
            <a:r>
              <a:rPr lang="en-US" sz="1800" b="1" dirty="0">
                <a:solidFill>
                  <a:srgbClr val="000000"/>
                </a:solidFill>
                <a:latin typeface="Times New Roman"/>
                <a:ea typeface="Times New Roman"/>
                <a:cs typeface="Times New Roman"/>
                <a:sym typeface="Times New Roman"/>
              </a:rPr>
              <a:t>)(22CS0</a:t>
            </a:r>
            <a:r>
              <a:rPr lang="en-US" sz="1800" b="1" dirty="0">
                <a:latin typeface="Times New Roman"/>
                <a:ea typeface="Times New Roman"/>
                <a:cs typeface="Times New Roman"/>
                <a:sym typeface="Times New Roman"/>
              </a:rPr>
              <a:t>24</a:t>
            </a:r>
            <a:r>
              <a:rPr lang="en-US" sz="1800" b="1" dirty="0">
                <a:solidFill>
                  <a:srgbClr val="000000"/>
                </a:solidFill>
                <a:latin typeface="Times New Roman"/>
                <a:ea typeface="Times New Roman"/>
                <a:cs typeface="Times New Roman"/>
                <a:sym typeface="Times New Roman"/>
              </a:rPr>
              <a:t>)</a:t>
            </a:r>
            <a:endParaRPr sz="2400" b="1" dirty="0">
              <a:solidFill>
                <a:schemeClr val="dk1"/>
              </a:solidFill>
              <a:latin typeface="Times New Roman"/>
              <a:ea typeface="Times New Roman"/>
              <a:cs typeface="Times New Roman"/>
              <a:sym typeface="Times New Roman"/>
            </a:endParaRPr>
          </a:p>
        </p:txBody>
      </p:sp>
      <p:sp>
        <p:nvSpPr>
          <p:cNvPr id="58" name="Google Shape;58;p5"/>
          <p:cNvSpPr/>
          <p:nvPr/>
        </p:nvSpPr>
        <p:spPr>
          <a:xfrm>
            <a:off x="5031581" y="5631350"/>
            <a:ext cx="4795414" cy="461665"/>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251541E-E753-676E-1E16-6ACF87CCC70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a:t>
            </a:fld>
            <a:endParaRPr lang="en-US"/>
          </a:p>
        </p:txBody>
      </p:sp>
      <p:sp>
        <p:nvSpPr>
          <p:cNvPr id="5" name="Google Shape;67;p7">
            <a:extLst>
              <a:ext uri="{FF2B5EF4-FFF2-40B4-BE49-F238E27FC236}">
                <a16:creationId xmlns:a16="http://schemas.microsoft.com/office/drawing/2014/main" id="{4C40C2C6-038F-84A2-7BA6-830CB0BFD35F}"/>
              </a:ext>
            </a:extLst>
          </p:cNvPr>
          <p:cNvSpPr txBox="1">
            <a:spLocks/>
          </p:cNvSpPr>
          <p:nvPr/>
        </p:nvSpPr>
        <p:spPr>
          <a:xfrm>
            <a:off x="0" y="256032"/>
            <a:ext cx="6322979" cy="896112"/>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4000" dirty="0">
                <a:solidFill>
                  <a:schemeClr val="tx1"/>
                </a:solidFill>
                <a:latin typeface="Times New Roman" panose="02020603050405020304" pitchFamily="18" charset="0"/>
                <a:cs typeface="Times New Roman" panose="02020603050405020304" pitchFamily="18" charset="0"/>
              </a:rPr>
              <a:t> </a:t>
            </a:r>
            <a:r>
              <a:rPr lang="en-US" sz="3200" b="1" dirty="0"/>
              <a:t>Maintainability </a:t>
            </a:r>
            <a:br>
              <a:rPr lang="en-IN" sz="3200" b="1" dirty="0"/>
            </a:br>
            <a:endParaRPr lang="en-IN" sz="3200" b="1" dirty="0"/>
          </a:p>
        </p:txBody>
      </p:sp>
      <p:sp>
        <p:nvSpPr>
          <p:cNvPr id="7" name="TextBox 6">
            <a:extLst>
              <a:ext uri="{FF2B5EF4-FFF2-40B4-BE49-F238E27FC236}">
                <a16:creationId xmlns:a16="http://schemas.microsoft.com/office/drawing/2014/main" id="{8CB00132-9756-598A-8A9F-7099AD4B7232}"/>
              </a:ext>
            </a:extLst>
          </p:cNvPr>
          <p:cNvSpPr txBox="1"/>
          <p:nvPr/>
        </p:nvSpPr>
        <p:spPr>
          <a:xfrm>
            <a:off x="437671" y="1035259"/>
            <a:ext cx="13258873" cy="5622052"/>
          </a:xfrm>
          <a:prstGeom prst="rect">
            <a:avLst/>
          </a:prstGeom>
          <a:noFill/>
        </p:spPr>
        <p:txBody>
          <a:bodyPr wrap="square">
            <a:spAutoFit/>
          </a:bodyPr>
          <a:lstStyle/>
          <a:p>
            <a:pPr algn="just" fontAlgn="ctr">
              <a:lnSpc>
                <a:spcPct val="150000"/>
              </a:lnSpc>
              <a:spcBef>
                <a:spcPts val="750"/>
              </a:spcBef>
              <a:spcAft>
                <a:spcPts val="600"/>
              </a:spcAft>
              <a:buFont typeface="Arial" panose="020B0604020202020204" pitchFamily="34" charset="0"/>
              <a:buChar char="•"/>
            </a:pPr>
            <a:r>
              <a:rPr lang="en-US" sz="2800" b="0" i="0" dirty="0">
                <a:solidFill>
                  <a:schemeClr val="tx1"/>
                </a:solidFill>
                <a:effectLst/>
                <a:latin typeface="Times New Roman" panose="02020603050405020304" pitchFamily="18" charset="0"/>
                <a:cs typeface="Times New Roman" panose="02020603050405020304" pitchFamily="18" charset="0"/>
              </a:rPr>
              <a:t> </a:t>
            </a:r>
            <a:r>
              <a:rPr lang="en-US" sz="2800" dirty="0"/>
              <a:t>Maintainability in system design refers to how easily a software system can be modified, updated, and extended over its lifespan. </a:t>
            </a:r>
          </a:p>
          <a:p>
            <a:pPr algn="just" fontAlgn="ctr">
              <a:lnSpc>
                <a:spcPct val="150000"/>
              </a:lnSpc>
              <a:spcBef>
                <a:spcPts val="750"/>
              </a:spcBef>
              <a:spcAft>
                <a:spcPts val="600"/>
              </a:spcAft>
              <a:buFont typeface="Arial" panose="020B0604020202020204" pitchFamily="34" charset="0"/>
              <a:buChar char="•"/>
            </a:pPr>
            <a:r>
              <a:rPr lang="en-US" sz="2800" dirty="0"/>
              <a:t>It's a crucial characteristic that ensures a system can adapt to changing requirements, fix bugs, and improve performance without significant disruption or cost. </a:t>
            </a:r>
          </a:p>
          <a:p>
            <a:pPr algn="just" fontAlgn="ctr">
              <a:lnSpc>
                <a:spcPct val="150000"/>
              </a:lnSpc>
              <a:spcBef>
                <a:spcPts val="750"/>
              </a:spcBef>
              <a:spcAft>
                <a:spcPts val="600"/>
              </a:spcAft>
              <a:buFont typeface="Arial" panose="020B0604020202020204" pitchFamily="34" charset="0"/>
              <a:buChar char="•"/>
            </a:pPr>
            <a:r>
              <a:rPr lang="en-US" sz="2800" dirty="0"/>
              <a:t>Good maintainability reduces long-term costs, minimizes the risk of introducing errors, and makes it easier for developers to understand, troubleshoot, and enhance the system. </a:t>
            </a:r>
            <a:endParaRPr lang="en-US" sz="28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11821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a:t>
            </a:fld>
            <a:endParaRPr lang="en-US"/>
          </a:p>
        </p:txBody>
      </p:sp>
      <p:sp>
        <p:nvSpPr>
          <p:cNvPr id="3" name="Rectangle 2"/>
          <p:cNvSpPr/>
          <p:nvPr/>
        </p:nvSpPr>
        <p:spPr>
          <a:xfrm>
            <a:off x="915327" y="505838"/>
            <a:ext cx="5466017" cy="523220"/>
          </a:xfrm>
          <a:prstGeom prst="rect">
            <a:avLst/>
          </a:prstGeom>
        </p:spPr>
        <p:txBody>
          <a:bodyPr wrap="square">
            <a:spAutoFit/>
          </a:bodyPr>
          <a:lstStyle/>
          <a:p>
            <a:r>
              <a:rPr lang="en-IN" sz="2800" dirty="0">
                <a:solidFill>
                  <a:srgbClr val="001D35"/>
                </a:solidFill>
                <a:latin typeface="Google Sans"/>
              </a:rPr>
              <a:t>Key Aspects of Maintainability</a:t>
            </a:r>
            <a:r>
              <a:rPr lang="en-IN" dirty="0">
                <a:solidFill>
                  <a:srgbClr val="001D35"/>
                </a:solidFill>
                <a:latin typeface="Google Sans"/>
              </a:rPr>
              <a:t>:</a:t>
            </a:r>
            <a:endParaRPr lang="en-IN" dirty="0"/>
          </a:p>
        </p:txBody>
      </p:sp>
      <p:sp>
        <p:nvSpPr>
          <p:cNvPr id="4" name="Rectangle 3"/>
          <p:cNvSpPr/>
          <p:nvPr/>
        </p:nvSpPr>
        <p:spPr>
          <a:xfrm>
            <a:off x="1322961" y="1867712"/>
            <a:ext cx="10505873" cy="5878532"/>
          </a:xfrm>
          <a:prstGeom prst="rect">
            <a:avLst/>
          </a:prstGeom>
        </p:spPr>
        <p:txBody>
          <a:bodyPr wrap="square">
            <a:spAutoFit/>
          </a:bodyPr>
          <a:lstStyle/>
          <a:p>
            <a:pPr marL="457200" indent="-457200">
              <a:lnSpc>
                <a:spcPct val="250000"/>
              </a:lnSpc>
              <a:buFont typeface="Arial" panose="020B0604020202020204" pitchFamily="34" charset="0"/>
              <a:buChar char="•"/>
            </a:pPr>
            <a:r>
              <a:rPr lang="en-IN" sz="3200" b="1" dirty="0">
                <a:solidFill>
                  <a:srgbClr val="001D35"/>
                </a:solidFill>
                <a:latin typeface="Google Sans"/>
              </a:rPr>
              <a:t>Modularity</a:t>
            </a:r>
            <a:endParaRPr lang="en-US" sz="3200" b="1" dirty="0">
              <a:solidFill>
                <a:srgbClr val="001D35"/>
              </a:solidFill>
              <a:latin typeface="Google Sans"/>
            </a:endParaRPr>
          </a:p>
          <a:p>
            <a:pPr marL="457200" indent="-457200">
              <a:lnSpc>
                <a:spcPct val="250000"/>
              </a:lnSpc>
              <a:buFont typeface="Arial" panose="020B0604020202020204" pitchFamily="34" charset="0"/>
              <a:buChar char="•"/>
            </a:pPr>
            <a:r>
              <a:rPr lang="en-IN" sz="3200" b="1" dirty="0"/>
              <a:t>Readability</a:t>
            </a:r>
          </a:p>
          <a:p>
            <a:pPr marL="457200" indent="-457200">
              <a:lnSpc>
                <a:spcPct val="250000"/>
              </a:lnSpc>
              <a:buFont typeface="Arial" panose="020B0604020202020204" pitchFamily="34" charset="0"/>
              <a:buChar char="•"/>
            </a:pPr>
            <a:r>
              <a:rPr lang="en-IN" sz="3200" b="1" dirty="0"/>
              <a:t>Testability</a:t>
            </a:r>
          </a:p>
          <a:p>
            <a:pPr marL="457200" indent="-457200">
              <a:lnSpc>
                <a:spcPct val="250000"/>
              </a:lnSpc>
              <a:buFont typeface="Arial" panose="020B0604020202020204" pitchFamily="34" charset="0"/>
              <a:buChar char="•"/>
            </a:pPr>
            <a:r>
              <a:rPr lang="en-IN" sz="3200" b="1" dirty="0"/>
              <a:t>Documentation</a:t>
            </a:r>
            <a:endParaRPr lang="en-US" sz="3200" b="1" dirty="0">
              <a:solidFill>
                <a:srgbClr val="001D35"/>
              </a:solidFill>
              <a:latin typeface="Google Sans"/>
            </a:endParaRPr>
          </a:p>
          <a:p>
            <a:endParaRPr lang="en-US" b="1" dirty="0">
              <a:solidFill>
                <a:srgbClr val="001D35"/>
              </a:solidFill>
              <a:latin typeface="Google Sans"/>
            </a:endParaRPr>
          </a:p>
          <a:p>
            <a:endParaRPr lang="en-US" b="1" dirty="0">
              <a:solidFill>
                <a:srgbClr val="001D35"/>
              </a:solidFill>
              <a:latin typeface="Google Sans"/>
            </a:endParaRPr>
          </a:p>
          <a:p>
            <a:endParaRPr lang="en-US" b="1" dirty="0">
              <a:solidFill>
                <a:srgbClr val="001D35"/>
              </a:solidFill>
              <a:latin typeface="Google Sans"/>
            </a:endParaRPr>
          </a:p>
          <a:p>
            <a:endParaRPr lang="en-IN" dirty="0"/>
          </a:p>
        </p:txBody>
      </p:sp>
    </p:spTree>
    <p:extLst>
      <p:ext uri="{BB962C8B-B14F-4D97-AF65-F5344CB8AC3E}">
        <p14:creationId xmlns:p14="http://schemas.microsoft.com/office/powerpoint/2010/main" val="35313198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a:t>
            </a:fld>
            <a:endParaRPr lang="en-US"/>
          </a:p>
        </p:txBody>
      </p:sp>
      <p:pic>
        <p:nvPicPr>
          <p:cNvPr id="3" name="Picture 2"/>
          <p:cNvPicPr>
            <a:picLocks noChangeAspect="1"/>
          </p:cNvPicPr>
          <p:nvPr/>
        </p:nvPicPr>
        <p:blipFill>
          <a:blip r:embed="rId2"/>
          <a:stretch>
            <a:fillRect/>
          </a:stretch>
        </p:blipFill>
        <p:spPr>
          <a:xfrm>
            <a:off x="1298449" y="1353312"/>
            <a:ext cx="10808208" cy="6126479"/>
          </a:xfrm>
          <a:prstGeom prst="rect">
            <a:avLst/>
          </a:prstGeom>
        </p:spPr>
      </p:pic>
      <p:sp>
        <p:nvSpPr>
          <p:cNvPr id="4" name="Rectangle 3"/>
          <p:cNvSpPr/>
          <p:nvPr/>
        </p:nvSpPr>
        <p:spPr>
          <a:xfrm>
            <a:off x="1045691" y="358176"/>
            <a:ext cx="7101624" cy="584775"/>
          </a:xfrm>
          <a:prstGeom prst="rect">
            <a:avLst/>
          </a:prstGeom>
        </p:spPr>
        <p:txBody>
          <a:bodyPr wrap="none">
            <a:spAutoFit/>
          </a:bodyPr>
          <a:lstStyle/>
          <a:p>
            <a:pPr fontAlgn="base"/>
            <a:r>
              <a:rPr lang="en-US" sz="3200" b="1" dirty="0">
                <a:solidFill>
                  <a:srgbClr val="273239"/>
                </a:solidFill>
                <a:latin typeface="Nunito"/>
              </a:rPr>
              <a:t>How to achieve high Maintainability</a:t>
            </a:r>
          </a:p>
        </p:txBody>
      </p:sp>
    </p:spTree>
    <p:extLst>
      <p:ext uri="{BB962C8B-B14F-4D97-AF65-F5344CB8AC3E}">
        <p14:creationId xmlns:p14="http://schemas.microsoft.com/office/powerpoint/2010/main" val="7837444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3C455FC-5864-0F33-E94A-98ACECEB0E4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a:t>
            </a:fld>
            <a:endParaRPr lang="en-US"/>
          </a:p>
        </p:txBody>
      </p:sp>
      <p:sp>
        <p:nvSpPr>
          <p:cNvPr id="4" name="TextBox 3">
            <a:extLst>
              <a:ext uri="{FF2B5EF4-FFF2-40B4-BE49-F238E27FC236}">
                <a16:creationId xmlns:a16="http://schemas.microsoft.com/office/drawing/2014/main" id="{BA92B77D-D613-9CE2-D721-24BFB118B2A5}"/>
              </a:ext>
            </a:extLst>
          </p:cNvPr>
          <p:cNvSpPr txBox="1"/>
          <p:nvPr/>
        </p:nvSpPr>
        <p:spPr>
          <a:xfrm>
            <a:off x="319490" y="1143638"/>
            <a:ext cx="13782100" cy="8063746"/>
          </a:xfrm>
          <a:prstGeom prst="rect">
            <a:avLst/>
          </a:prstGeom>
          <a:noFill/>
        </p:spPr>
        <p:txBody>
          <a:bodyPr wrap="square">
            <a:spAutoFit/>
          </a:bodyPr>
          <a:lstStyle/>
          <a:p>
            <a:pPr algn="just"/>
            <a:r>
              <a:rPr lang="en-US" sz="2800" b="1" dirty="0"/>
              <a:t>Modularity:</a:t>
            </a:r>
          </a:p>
          <a:p>
            <a:pPr algn="just"/>
            <a:endParaRPr lang="en-US" sz="2800" dirty="0"/>
          </a:p>
          <a:p>
            <a:pPr marL="457200" indent="-457200" algn="just">
              <a:buFont typeface="Arial" panose="020B0604020202020204" pitchFamily="34" charset="0"/>
              <a:buChar char="•"/>
            </a:pPr>
            <a:r>
              <a:rPr lang="en-US" sz="2800" dirty="0"/>
              <a:t>Breaking down the system into independent modules with well-defined interfaces makes it easier to modify or replace individual components without affecting the rest of the system. </a:t>
            </a:r>
          </a:p>
          <a:p>
            <a:pPr marL="457200" indent="-457200" algn="just">
              <a:buFont typeface="Arial" panose="020B0604020202020204" pitchFamily="34" charset="0"/>
              <a:buChar char="•"/>
            </a:pPr>
            <a:r>
              <a:rPr lang="en-US" sz="2800" dirty="0"/>
              <a:t>Design the system with a modular structure, where components are logically separated and have well-defined interfaces. </a:t>
            </a:r>
          </a:p>
          <a:p>
            <a:pPr marL="457200" indent="-457200" algn="just">
              <a:buFont typeface="Arial" panose="020B0604020202020204" pitchFamily="34" charset="0"/>
              <a:buChar char="•"/>
            </a:pPr>
            <a:r>
              <a:rPr lang="en-US" sz="2800" dirty="0"/>
              <a:t>This allows for independent development and modification of modules, making it easier to understand, test, and maintain specific parts of the system without impacting others.</a:t>
            </a:r>
          </a:p>
          <a:p>
            <a:pPr algn="just"/>
            <a:endParaRPr lang="en-US" sz="2800" dirty="0"/>
          </a:p>
          <a:p>
            <a:pPr algn="just"/>
            <a:r>
              <a:rPr lang="en-US" sz="2800" b="1" dirty="0"/>
              <a:t>Readability:</a:t>
            </a:r>
          </a:p>
          <a:p>
            <a:pPr marL="457200" indent="-457200" algn="just">
              <a:buFont typeface="Arial" panose="020B0604020202020204" pitchFamily="34" charset="0"/>
              <a:buChar char="•"/>
            </a:pPr>
            <a:r>
              <a:rPr lang="en-US" sz="2800" dirty="0"/>
              <a:t>Writing clear, concise, and well-documented code using consistent conventions makes it easier for developers to understand and work with the code. </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5" name="TextBox 4">
            <a:extLst>
              <a:ext uri="{FF2B5EF4-FFF2-40B4-BE49-F238E27FC236}">
                <a16:creationId xmlns:a16="http://schemas.microsoft.com/office/drawing/2014/main" id="{D3A7382C-E691-0C0E-C785-4C37CE6FDC7C}"/>
              </a:ext>
            </a:extLst>
          </p:cNvPr>
          <p:cNvSpPr txBox="1"/>
          <p:nvPr/>
        </p:nvSpPr>
        <p:spPr>
          <a:xfrm>
            <a:off x="319490" y="347159"/>
            <a:ext cx="7164976" cy="741998"/>
          </a:xfrm>
          <a:prstGeom prst="rect">
            <a:avLst/>
          </a:prstGeom>
          <a:noFill/>
        </p:spPr>
        <p:txBody>
          <a:bodyPr wrap="square">
            <a:spAutoFit/>
          </a:bodyPr>
          <a:lstStyle/>
          <a:p>
            <a:pPr algn="just">
              <a:lnSpc>
                <a:spcPct val="150000"/>
              </a:lnSpc>
              <a:spcBef>
                <a:spcPts val="2250"/>
              </a:spcBef>
              <a:spcAft>
                <a:spcPts val="1500"/>
              </a:spcAft>
              <a:buNone/>
            </a:pPr>
            <a:r>
              <a:rPr lang="en-IN" sz="3200" dirty="0"/>
              <a:t>Key Aspects of Maintainability:</a:t>
            </a:r>
            <a:endParaRPr lang="en-US" sz="3200" b="0" i="0" dirty="0">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138232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7A1590-A947-1471-774F-E67E093C5BE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9299587-CD5A-C37F-E12B-71ADDCAFEEA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a:t>
            </a:fld>
            <a:endParaRPr lang="en-US"/>
          </a:p>
        </p:txBody>
      </p:sp>
      <p:sp>
        <p:nvSpPr>
          <p:cNvPr id="4" name="TextBox 3">
            <a:extLst>
              <a:ext uri="{FF2B5EF4-FFF2-40B4-BE49-F238E27FC236}">
                <a16:creationId xmlns:a16="http://schemas.microsoft.com/office/drawing/2014/main" id="{8FC2B25C-FEA5-E4A4-2789-7F9003A5D5F7}"/>
              </a:ext>
            </a:extLst>
          </p:cNvPr>
          <p:cNvSpPr txBox="1"/>
          <p:nvPr/>
        </p:nvSpPr>
        <p:spPr>
          <a:xfrm>
            <a:off x="603115" y="1645015"/>
            <a:ext cx="12864691" cy="4770537"/>
          </a:xfrm>
          <a:prstGeom prst="rect">
            <a:avLst/>
          </a:prstGeom>
          <a:noFill/>
        </p:spPr>
        <p:txBody>
          <a:bodyPr wrap="square">
            <a:spAutoFit/>
          </a:bodyPr>
          <a:lstStyle/>
          <a:p>
            <a:r>
              <a:rPr lang="en-US" sz="2800" b="1" dirty="0"/>
              <a:t>Testability:</a:t>
            </a:r>
          </a:p>
          <a:p>
            <a:pPr marL="457200" indent="-457200" fontAlgn="ctr">
              <a:buFont typeface="Arial" panose="020B0604020202020204" pitchFamily="34" charset="0"/>
              <a:buChar char="•"/>
            </a:pPr>
            <a:r>
              <a:rPr lang="en-US" sz="2800" dirty="0"/>
              <a:t>Designing the system to support thorough testing (unit, integration, and automated) allows for quick identification and resolution of issues during modifications. </a:t>
            </a:r>
          </a:p>
          <a:p>
            <a:pPr marL="457200" indent="-457200" fontAlgn="ctr">
              <a:buFont typeface="Arial" panose="020B0604020202020204" pitchFamily="34" charset="0"/>
              <a:buChar char="•"/>
            </a:pPr>
            <a:endParaRPr lang="en-US" sz="2800" dirty="0"/>
          </a:p>
          <a:p>
            <a:pPr fontAlgn="ctr"/>
            <a:endParaRPr lang="en-US" sz="2800" dirty="0"/>
          </a:p>
          <a:p>
            <a:r>
              <a:rPr lang="en-US" sz="2800" b="1" dirty="0"/>
              <a:t>Documentation:</a:t>
            </a:r>
          </a:p>
          <a:p>
            <a:pPr marL="457200" indent="-457200">
              <a:buFont typeface="Arial" panose="020B0604020202020204" pitchFamily="34" charset="0"/>
              <a:buChar char="•"/>
            </a:pPr>
            <a:r>
              <a:rPr lang="en-US" sz="2800" dirty="0"/>
              <a:t>Comprehensive and up-to-date documentation (design documents, API references, etc.) is essential for developers to understand the system's functionality and how to interact with it. </a:t>
            </a:r>
            <a:endParaRPr lang="en-US" sz="2400" dirty="0"/>
          </a:p>
          <a:p>
            <a:endParaRPr lang="en-US" sz="2400" dirty="0"/>
          </a:p>
        </p:txBody>
      </p:sp>
    </p:spTree>
    <p:extLst>
      <p:ext uri="{BB962C8B-B14F-4D97-AF65-F5344CB8AC3E}">
        <p14:creationId xmlns:p14="http://schemas.microsoft.com/office/powerpoint/2010/main" val="15476046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836566D-868E-68B9-29D1-303FCAF31AF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a:t>
            </a:fld>
            <a:endParaRPr lang="en-US"/>
          </a:p>
        </p:txBody>
      </p:sp>
      <p:sp>
        <p:nvSpPr>
          <p:cNvPr id="4" name="TextBox 3">
            <a:extLst>
              <a:ext uri="{FF2B5EF4-FFF2-40B4-BE49-F238E27FC236}">
                <a16:creationId xmlns:a16="http://schemas.microsoft.com/office/drawing/2014/main" id="{ACA7B276-FFCE-6972-200B-DA4A3862F44D}"/>
              </a:ext>
            </a:extLst>
          </p:cNvPr>
          <p:cNvSpPr txBox="1"/>
          <p:nvPr/>
        </p:nvSpPr>
        <p:spPr>
          <a:xfrm>
            <a:off x="683924" y="266720"/>
            <a:ext cx="7166472" cy="447687"/>
          </a:xfrm>
          <a:prstGeom prst="rect">
            <a:avLst/>
          </a:prstGeom>
          <a:noFill/>
        </p:spPr>
        <p:txBody>
          <a:bodyPr wrap="square">
            <a:spAutoFit/>
          </a:bodyPr>
          <a:lstStyle/>
          <a:p>
            <a:pPr>
              <a:lnSpc>
                <a:spcPts val="2700"/>
              </a:lnSpc>
              <a:spcBef>
                <a:spcPts val="2250"/>
              </a:spcBef>
              <a:spcAft>
                <a:spcPts val="1500"/>
              </a:spcAft>
            </a:pPr>
            <a:r>
              <a:rPr lang="en-IN" sz="3200" b="1" dirty="0"/>
              <a:t>Why Maintainability is Important</a:t>
            </a:r>
            <a:endParaRPr lang="en-IN" sz="3200" b="1" i="0" dirty="0">
              <a:solidFill>
                <a:srgbClr val="000000"/>
              </a:solidFill>
              <a:effectLst/>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6A9A517B-AF1D-4228-646C-5C040EABEF62}"/>
              </a:ext>
            </a:extLst>
          </p:cNvPr>
          <p:cNvSpPr txBox="1"/>
          <p:nvPr/>
        </p:nvSpPr>
        <p:spPr>
          <a:xfrm>
            <a:off x="413218" y="1332620"/>
            <a:ext cx="13503926" cy="6555641"/>
          </a:xfrm>
          <a:prstGeom prst="rect">
            <a:avLst/>
          </a:prstGeom>
          <a:noFill/>
        </p:spPr>
        <p:txBody>
          <a:bodyPr wrap="square">
            <a:spAutoFit/>
          </a:bodyPr>
          <a:lstStyle/>
          <a:p>
            <a:pPr algn="just"/>
            <a:r>
              <a:rPr lang="en-US" sz="2800" b="1" dirty="0"/>
              <a:t>Reduced Costs:</a:t>
            </a:r>
            <a:endParaRPr lang="en-US" sz="2800" dirty="0"/>
          </a:p>
          <a:p>
            <a:pPr marL="457200" indent="-457200" algn="just" fontAlgn="ctr">
              <a:buFont typeface="Arial" panose="020B0604020202020204" pitchFamily="34" charset="0"/>
              <a:buChar char="•"/>
            </a:pPr>
            <a:r>
              <a:rPr lang="en-US" sz="2800" dirty="0"/>
              <a:t>Easier maintenance translates to lower long-term development and operational costs. </a:t>
            </a:r>
          </a:p>
          <a:p>
            <a:pPr algn="just" fontAlgn="ctr"/>
            <a:endParaRPr lang="en-US" sz="2800" dirty="0"/>
          </a:p>
          <a:p>
            <a:pPr algn="just"/>
            <a:r>
              <a:rPr lang="en-US" sz="2800" b="1" dirty="0"/>
              <a:t>Faster Development Cycles:</a:t>
            </a:r>
            <a:endParaRPr lang="en-US" sz="2800" dirty="0"/>
          </a:p>
          <a:p>
            <a:pPr marL="457200" indent="-457200" algn="just" fontAlgn="ctr">
              <a:buFont typeface="Arial" panose="020B0604020202020204" pitchFamily="34" charset="0"/>
              <a:buChar char="•"/>
            </a:pPr>
            <a:r>
              <a:rPr lang="en-US" sz="2800" dirty="0"/>
              <a:t>Modifying a maintainable system is quicker and more efficient, leading to faster feature delivery and bug fixes. </a:t>
            </a:r>
          </a:p>
          <a:p>
            <a:pPr algn="just" fontAlgn="ctr"/>
            <a:endParaRPr lang="en-US" sz="2800" dirty="0"/>
          </a:p>
          <a:p>
            <a:pPr algn="just"/>
            <a:r>
              <a:rPr lang="en-US" sz="2800" b="1" dirty="0"/>
              <a:t>Improved Reliability:</a:t>
            </a:r>
            <a:endParaRPr lang="en-US" sz="2800" dirty="0"/>
          </a:p>
          <a:p>
            <a:pPr marL="457200" indent="-457200" algn="just" fontAlgn="ctr">
              <a:buFont typeface="Arial" panose="020B0604020202020204" pitchFamily="34" charset="0"/>
              <a:buChar char="•"/>
            </a:pPr>
            <a:r>
              <a:rPr lang="en-US" sz="2800" dirty="0"/>
              <a:t>Well-maintained systems are more likely to be reliable because changes are less likely to introduce new errors. </a:t>
            </a:r>
          </a:p>
          <a:p>
            <a:pPr algn="just" fontAlgn="ctr"/>
            <a:endParaRPr lang="en-US" sz="2800" dirty="0"/>
          </a:p>
          <a:p>
            <a:pPr algn="just"/>
            <a:r>
              <a:rPr lang="en-US" sz="2800" b="1" dirty="0"/>
              <a:t>Adaptability:</a:t>
            </a:r>
            <a:endParaRPr lang="en-US" sz="2800" dirty="0"/>
          </a:p>
          <a:p>
            <a:pPr marL="457200" indent="-457200" algn="just">
              <a:buFont typeface="Arial" panose="020B0604020202020204" pitchFamily="34" charset="0"/>
              <a:buChar char="•"/>
            </a:pPr>
            <a:r>
              <a:rPr lang="en-US" sz="2800" dirty="0"/>
              <a:t>A maintainable system can adapt to evolving business needs and technological advancements, ensuring its longevity.</a:t>
            </a:r>
            <a:r>
              <a:rPr lang="en-US" dirty="0"/>
              <a:t> </a:t>
            </a:r>
          </a:p>
        </p:txBody>
      </p:sp>
    </p:spTree>
    <p:extLst>
      <p:ext uri="{BB962C8B-B14F-4D97-AF65-F5344CB8AC3E}">
        <p14:creationId xmlns:p14="http://schemas.microsoft.com/office/powerpoint/2010/main" val="5522651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53EBA6-0AE2-B9EF-11B1-B8497DEB392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E101DC9-6690-71CE-3C0A-217C3F7C943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a:t>
            </a:fld>
            <a:endParaRPr lang="en-US"/>
          </a:p>
        </p:txBody>
      </p:sp>
      <p:sp>
        <p:nvSpPr>
          <p:cNvPr id="5" name="Google Shape;67;p7">
            <a:extLst>
              <a:ext uri="{FF2B5EF4-FFF2-40B4-BE49-F238E27FC236}">
                <a16:creationId xmlns:a16="http://schemas.microsoft.com/office/drawing/2014/main" id="{BFB82997-F596-44C8-9402-D4C433C377A5}"/>
              </a:ext>
            </a:extLst>
          </p:cNvPr>
          <p:cNvSpPr txBox="1">
            <a:spLocks/>
          </p:cNvSpPr>
          <p:nvPr/>
        </p:nvSpPr>
        <p:spPr>
          <a:xfrm>
            <a:off x="1" y="2"/>
            <a:ext cx="10150674" cy="1006034"/>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3200" b="1" dirty="0"/>
              <a:t>Consistency</a:t>
            </a:r>
            <a:br>
              <a:rPr lang="en-IN" sz="3000" b="1" dirty="0"/>
            </a:br>
            <a:endParaRPr lang="en-IN" sz="3000" dirty="0"/>
          </a:p>
        </p:txBody>
      </p:sp>
      <p:sp>
        <p:nvSpPr>
          <p:cNvPr id="6" name="TextBox 5">
            <a:extLst>
              <a:ext uri="{FF2B5EF4-FFF2-40B4-BE49-F238E27FC236}">
                <a16:creationId xmlns:a16="http://schemas.microsoft.com/office/drawing/2014/main" id="{08BF1076-41FE-7E20-133C-DD81BDC55CE0}"/>
              </a:ext>
            </a:extLst>
          </p:cNvPr>
          <p:cNvSpPr txBox="1"/>
          <p:nvPr/>
        </p:nvSpPr>
        <p:spPr>
          <a:xfrm>
            <a:off x="829020" y="1189667"/>
            <a:ext cx="12325120" cy="6555641"/>
          </a:xfrm>
          <a:prstGeom prst="rect">
            <a:avLst/>
          </a:prstGeom>
          <a:noFill/>
        </p:spPr>
        <p:txBody>
          <a:bodyPr wrap="square">
            <a:spAutoFit/>
          </a:bodyPr>
          <a:lstStyle/>
          <a:p>
            <a:pPr algn="just" fontAlgn="ctr"/>
            <a:r>
              <a:rPr lang="en-US" sz="2800" dirty="0"/>
              <a:t>Consistency ensures data accuracy across different parts of a system. </a:t>
            </a:r>
          </a:p>
          <a:p>
            <a:pPr algn="just" fontAlgn="ctr"/>
            <a:endParaRPr lang="en-US" sz="2800" b="1" dirty="0"/>
          </a:p>
          <a:p>
            <a:pPr algn="just" fontAlgn="ctr"/>
            <a:r>
              <a:rPr lang="en-US" sz="2800" b="1" dirty="0"/>
              <a:t>Definition:</a:t>
            </a:r>
            <a:endParaRPr lang="en-US" sz="2800" dirty="0"/>
          </a:p>
          <a:p>
            <a:pPr algn="just" fontAlgn="ctr"/>
            <a:r>
              <a:rPr lang="en-US" sz="2800" dirty="0"/>
              <a:t>Consistency refers to the guarantee that all users see the same, up-to-date data, regardless of which part of the system they interact with. </a:t>
            </a:r>
          </a:p>
          <a:p>
            <a:pPr algn="just"/>
            <a:r>
              <a:rPr lang="en-US" sz="2800" b="1" dirty="0"/>
              <a:t>Types:</a:t>
            </a:r>
            <a:endParaRPr lang="en-US" sz="2800" dirty="0"/>
          </a:p>
          <a:p>
            <a:pPr algn="just" fontAlgn="ctr"/>
            <a:r>
              <a:rPr lang="en-US" sz="2800" b="1" dirty="0"/>
              <a:t>Strong Consistency:</a:t>
            </a:r>
            <a:r>
              <a:rPr lang="en-US" sz="2800" dirty="0"/>
              <a:t> Data is immediately consistent after a write operation. </a:t>
            </a:r>
          </a:p>
          <a:p>
            <a:pPr algn="just" fontAlgn="ctr"/>
            <a:r>
              <a:rPr lang="en-US" sz="2800" b="1" dirty="0"/>
              <a:t>Eventual Consistency:</a:t>
            </a:r>
            <a:r>
              <a:rPr lang="en-US" sz="2800" dirty="0"/>
              <a:t> Data will eventually become consistent, but there might be a delay after a write operation. </a:t>
            </a:r>
          </a:p>
          <a:p>
            <a:pPr algn="just"/>
            <a:r>
              <a:rPr lang="en-US" sz="2800" b="1" dirty="0"/>
              <a:t>Importance:</a:t>
            </a:r>
            <a:endParaRPr lang="en-US" sz="2800" dirty="0"/>
          </a:p>
          <a:p>
            <a:pPr algn="just" fontAlgn="ctr"/>
            <a:r>
              <a:rPr lang="en-US" sz="2800" dirty="0"/>
              <a:t>Ensures data integrity and a reliable user experience, especially in applications like banking or e-commerce. </a:t>
            </a:r>
          </a:p>
          <a:p>
            <a:pPr algn="just"/>
            <a:r>
              <a:rPr lang="en-US" sz="2800" b="1" dirty="0"/>
              <a:t>Example:</a:t>
            </a:r>
            <a:endParaRPr lang="en-US" sz="2800" dirty="0"/>
          </a:p>
          <a:p>
            <a:pPr algn="just"/>
            <a:r>
              <a:rPr lang="en-US" sz="2800" dirty="0"/>
              <a:t>If a user updates their profile on one server, strong consistency ensures that the updated information is immediately available on all other servers. </a:t>
            </a:r>
          </a:p>
        </p:txBody>
      </p:sp>
    </p:spTree>
    <p:extLst>
      <p:ext uri="{BB962C8B-B14F-4D97-AF65-F5344CB8AC3E}">
        <p14:creationId xmlns:p14="http://schemas.microsoft.com/office/powerpoint/2010/main" val="14317015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a:t>
            </a:fld>
            <a:endParaRPr lang="en-US"/>
          </a:p>
        </p:txBody>
      </p:sp>
      <p:sp>
        <p:nvSpPr>
          <p:cNvPr id="4" name="Rectangle 3"/>
          <p:cNvSpPr/>
          <p:nvPr/>
        </p:nvSpPr>
        <p:spPr>
          <a:xfrm>
            <a:off x="661480" y="1848255"/>
            <a:ext cx="12490315" cy="5262979"/>
          </a:xfrm>
          <a:prstGeom prst="rect">
            <a:avLst/>
          </a:prstGeom>
        </p:spPr>
        <p:txBody>
          <a:bodyPr wrap="square">
            <a:spAutoFit/>
          </a:bodyPr>
          <a:lstStyle/>
          <a:p>
            <a:pPr marL="457200" indent="-457200" algn="just">
              <a:buFont typeface="Arial" panose="020B0604020202020204" pitchFamily="34" charset="0"/>
              <a:buChar char="•"/>
            </a:pPr>
            <a:r>
              <a:rPr lang="en-US" sz="2800" dirty="0">
                <a:solidFill>
                  <a:srgbClr val="001D35"/>
                </a:solidFill>
                <a:latin typeface="Google Sans"/>
              </a:rPr>
              <a:t>Fault tolerance in system design refers to a system's ability to continue operating correctly even when one or more of its components fail. </a:t>
            </a:r>
          </a:p>
          <a:p>
            <a:pPr algn="just"/>
            <a:endParaRPr lang="en-US" sz="2800" dirty="0">
              <a:solidFill>
                <a:srgbClr val="001D35"/>
              </a:solidFill>
              <a:latin typeface="Google Sans"/>
            </a:endParaRPr>
          </a:p>
          <a:p>
            <a:pPr marL="457200" indent="-457200" algn="just">
              <a:buFont typeface="Arial" panose="020B0604020202020204" pitchFamily="34" charset="0"/>
              <a:buChar char="•"/>
            </a:pPr>
            <a:r>
              <a:rPr lang="en-US" sz="2800" dirty="0">
                <a:solidFill>
                  <a:srgbClr val="001D35"/>
                </a:solidFill>
                <a:latin typeface="Google Sans"/>
              </a:rPr>
              <a:t>This is achieved by designing systems with redundancy and mechanisms for detecting, isolating, and recovering from failures. </a:t>
            </a:r>
          </a:p>
          <a:p>
            <a:pPr algn="just"/>
            <a:endParaRPr lang="en-US" sz="2800" dirty="0">
              <a:solidFill>
                <a:srgbClr val="001D35"/>
              </a:solidFill>
              <a:latin typeface="Google Sans"/>
            </a:endParaRPr>
          </a:p>
          <a:p>
            <a:pPr marL="457200" indent="-457200" algn="just">
              <a:buFont typeface="Arial" panose="020B0604020202020204" pitchFamily="34" charset="0"/>
              <a:buChar char="•"/>
            </a:pPr>
            <a:r>
              <a:rPr lang="en-US" sz="2800" dirty="0">
                <a:solidFill>
                  <a:srgbClr val="001D35"/>
                </a:solidFill>
                <a:latin typeface="Google Sans"/>
              </a:rPr>
              <a:t>Essentially, it's about building systems that can withstand component failures without disrupting their overall functionality. </a:t>
            </a:r>
          </a:p>
          <a:p>
            <a:pPr algn="just"/>
            <a:endParaRPr lang="en-US" sz="2800" dirty="0">
              <a:solidFill>
                <a:srgbClr val="001D35"/>
              </a:solidFill>
              <a:latin typeface="Google Sans"/>
            </a:endParaRPr>
          </a:p>
          <a:p>
            <a:pPr marL="457200" indent="-457200" algn="just">
              <a:buFont typeface="Arial" panose="020B0604020202020204" pitchFamily="34" charset="0"/>
              <a:buChar char="•"/>
            </a:pPr>
            <a:r>
              <a:rPr lang="en-US" sz="2800" dirty="0">
                <a:solidFill>
                  <a:srgbClr val="001D35"/>
                </a:solidFill>
                <a:latin typeface="Google Sans"/>
              </a:rPr>
              <a:t>Fault tolerance refers to a system's capacity to keep working even in the face of hardware or software issues. </a:t>
            </a:r>
          </a:p>
          <a:p>
            <a:pPr algn="just"/>
            <a:endParaRPr lang="en-US" sz="2800" dirty="0">
              <a:solidFill>
                <a:srgbClr val="001D35"/>
              </a:solidFill>
              <a:latin typeface="Google Sans"/>
            </a:endParaRPr>
          </a:p>
        </p:txBody>
      </p:sp>
      <p:sp>
        <p:nvSpPr>
          <p:cNvPr id="5" name="Rectangle 4"/>
          <p:cNvSpPr/>
          <p:nvPr/>
        </p:nvSpPr>
        <p:spPr>
          <a:xfrm>
            <a:off x="369651" y="233464"/>
            <a:ext cx="4396902" cy="60311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dirty="0"/>
              <a:t>Fault Tolerance</a:t>
            </a:r>
            <a:endParaRPr lang="en-IN" sz="3200" dirty="0"/>
          </a:p>
        </p:txBody>
      </p:sp>
    </p:spTree>
    <p:extLst>
      <p:ext uri="{BB962C8B-B14F-4D97-AF65-F5344CB8AC3E}">
        <p14:creationId xmlns:p14="http://schemas.microsoft.com/office/powerpoint/2010/main" val="27673376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a:t>
            </a:fld>
            <a:endParaRPr lang="en-US"/>
          </a:p>
        </p:txBody>
      </p:sp>
      <p:pic>
        <p:nvPicPr>
          <p:cNvPr id="3" name="Picture 2"/>
          <p:cNvPicPr>
            <a:picLocks noChangeAspect="1"/>
          </p:cNvPicPr>
          <p:nvPr/>
        </p:nvPicPr>
        <p:blipFill>
          <a:blip r:embed="rId2"/>
          <a:stretch>
            <a:fillRect/>
          </a:stretch>
        </p:blipFill>
        <p:spPr>
          <a:xfrm>
            <a:off x="2334638" y="2257959"/>
            <a:ext cx="9591473" cy="4629223"/>
          </a:xfrm>
          <a:prstGeom prst="rect">
            <a:avLst/>
          </a:prstGeom>
        </p:spPr>
      </p:pic>
    </p:spTree>
    <p:extLst>
      <p:ext uri="{BB962C8B-B14F-4D97-AF65-F5344CB8AC3E}">
        <p14:creationId xmlns:p14="http://schemas.microsoft.com/office/powerpoint/2010/main" val="27075708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11</a:t>
            </a:fld>
            <a:endParaRPr lang="en-US"/>
          </a:p>
        </p:txBody>
      </p:sp>
      <p:sp>
        <p:nvSpPr>
          <p:cNvPr id="3" name="Rectangle 2"/>
          <p:cNvSpPr/>
          <p:nvPr/>
        </p:nvSpPr>
        <p:spPr>
          <a:xfrm>
            <a:off x="544749" y="1789889"/>
            <a:ext cx="12548681" cy="3970318"/>
          </a:xfrm>
          <a:prstGeom prst="rect">
            <a:avLst/>
          </a:prstGeom>
        </p:spPr>
        <p:txBody>
          <a:bodyPr wrap="square">
            <a:spAutoFit/>
          </a:bodyPr>
          <a:lstStyle/>
          <a:p>
            <a:pPr algn="just"/>
            <a:endParaRPr lang="en-US" sz="2800" dirty="0">
              <a:solidFill>
                <a:srgbClr val="001D35"/>
              </a:solidFill>
              <a:latin typeface="Google Sans"/>
            </a:endParaRPr>
          </a:p>
          <a:p>
            <a:pPr algn="just"/>
            <a:r>
              <a:rPr lang="en-US" sz="2800" b="1" dirty="0">
                <a:solidFill>
                  <a:srgbClr val="FF0000"/>
                </a:solidFill>
                <a:latin typeface="Google Sans"/>
              </a:rPr>
              <a:t>Redundancy, error detection, and error recovery techniques </a:t>
            </a:r>
            <a:r>
              <a:rPr lang="en-US" sz="2800" dirty="0">
                <a:solidFill>
                  <a:srgbClr val="001D35"/>
                </a:solidFill>
                <a:latin typeface="Google Sans"/>
              </a:rPr>
              <a:t>must be used to avoid a costly failure .</a:t>
            </a:r>
          </a:p>
          <a:p>
            <a:pPr algn="just"/>
            <a:r>
              <a:rPr lang="en-US" sz="2800" dirty="0">
                <a:solidFill>
                  <a:srgbClr val="001D35"/>
                </a:solidFill>
                <a:latin typeface="Google Sans"/>
              </a:rPr>
              <a:t> </a:t>
            </a:r>
          </a:p>
          <a:p>
            <a:pPr marL="457200" indent="-457200" algn="just">
              <a:buFont typeface="Arial" panose="020B0604020202020204" pitchFamily="34" charset="0"/>
              <a:buChar char="•"/>
            </a:pPr>
            <a:r>
              <a:rPr lang="en-US" sz="2800" dirty="0">
                <a:solidFill>
                  <a:srgbClr val="001D35"/>
                </a:solidFill>
                <a:latin typeface="Google Sans"/>
              </a:rPr>
              <a:t>This will allow the system to continue operating or deteriorate in performance at a slower rate. </a:t>
            </a:r>
          </a:p>
          <a:p>
            <a:pPr algn="just"/>
            <a:endParaRPr lang="en-US" sz="2800" dirty="0">
              <a:solidFill>
                <a:srgbClr val="001D35"/>
              </a:solidFill>
              <a:latin typeface="Google Sans"/>
            </a:endParaRPr>
          </a:p>
          <a:p>
            <a:pPr marL="457200" indent="-457200" algn="just">
              <a:buFont typeface="Arial" panose="020B0604020202020204" pitchFamily="34" charset="0"/>
              <a:buChar char="•"/>
            </a:pPr>
            <a:r>
              <a:rPr lang="en-US" sz="2800" dirty="0">
                <a:solidFill>
                  <a:srgbClr val="001D35"/>
                </a:solidFill>
                <a:latin typeface="Google Sans"/>
              </a:rPr>
              <a:t>Reducing the impact of errors and maintaining a stable and accessible service even in the face of disruptions are the objectives.</a:t>
            </a:r>
          </a:p>
        </p:txBody>
      </p:sp>
    </p:spTree>
    <p:extLst>
      <p:ext uri="{BB962C8B-B14F-4D97-AF65-F5344CB8AC3E}">
        <p14:creationId xmlns:p14="http://schemas.microsoft.com/office/powerpoint/2010/main" val="12645826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7"/>
          <p:cNvSpPr txBox="1">
            <a:spLocks noGrp="1"/>
          </p:cNvSpPr>
          <p:nvPr>
            <p:ph type="title"/>
          </p:nvPr>
        </p:nvSpPr>
        <p:spPr>
          <a:xfrm>
            <a:off x="1" y="2"/>
            <a:ext cx="10150674" cy="1006034"/>
          </a:xfrm>
          <a:prstGeom prst="rect">
            <a:avLst/>
          </a:prstGeom>
          <a:noFill/>
          <a:ln>
            <a:noFill/>
          </a:ln>
        </p:spPr>
        <p:txBody>
          <a:bodyPr spcFirstLastPara="1" wrap="square" lIns="91425" tIns="45700" rIns="91425" bIns="45700" anchor="ctr" anchorCtr="0">
            <a:noAutofit/>
          </a:bodyPr>
          <a:lstStyle/>
          <a:p>
            <a:br>
              <a:rPr lang="en-US" dirty="0"/>
            </a:br>
            <a:br>
              <a:rPr lang="en-US" dirty="0"/>
            </a:br>
            <a:r>
              <a:rPr lang="en-US" sz="3600" dirty="0"/>
              <a:t>Why is fault tolerance important?</a:t>
            </a:r>
            <a:br>
              <a:rPr lang="en-US" dirty="0"/>
            </a:br>
            <a:br>
              <a:rPr lang="en-IN" b="1" dirty="0"/>
            </a:br>
            <a:endParaRPr dirty="0"/>
          </a:p>
        </p:txBody>
      </p:sp>
      <p:sp>
        <p:nvSpPr>
          <p:cNvPr id="68" name="Google Shape;68;p7"/>
          <p:cNvSpPr txBox="1">
            <a:spLocks noGrp="1"/>
          </p:cNvSpPr>
          <p:nvPr>
            <p:ph type="sldNum" idx="12"/>
          </p:nvPr>
        </p:nvSpPr>
        <p:spPr>
          <a:xfrm>
            <a:off x="10270093" y="7629104"/>
            <a:ext cx="3343752" cy="438234"/>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a:t>
            </a:fld>
            <a:endParaRPr/>
          </a:p>
        </p:txBody>
      </p:sp>
      <p:sp>
        <p:nvSpPr>
          <p:cNvPr id="3" name="TextBox 2">
            <a:extLst>
              <a:ext uri="{FF2B5EF4-FFF2-40B4-BE49-F238E27FC236}">
                <a16:creationId xmlns:a16="http://schemas.microsoft.com/office/drawing/2014/main" id="{19C44F5A-2479-09BF-7F1E-64F1E9C94A77}"/>
              </a:ext>
            </a:extLst>
          </p:cNvPr>
          <p:cNvSpPr txBox="1"/>
          <p:nvPr/>
        </p:nvSpPr>
        <p:spPr>
          <a:xfrm>
            <a:off x="259492" y="1180454"/>
            <a:ext cx="13654216" cy="5262979"/>
          </a:xfrm>
          <a:prstGeom prst="rect">
            <a:avLst/>
          </a:prstGeom>
          <a:noFill/>
        </p:spPr>
        <p:txBody>
          <a:bodyPr wrap="square">
            <a:spAutoFit/>
          </a:bodyPr>
          <a:lstStyle/>
          <a:p>
            <a:endParaRPr lang="en-US" sz="2800" b="1" dirty="0"/>
          </a:p>
          <a:p>
            <a:r>
              <a:rPr lang="en-US" sz="2800" b="1" dirty="0"/>
              <a:t>High Availability:</a:t>
            </a:r>
            <a:endParaRPr lang="en-US" sz="2800" dirty="0"/>
          </a:p>
          <a:p>
            <a:pPr fontAlgn="ctr"/>
            <a:r>
              <a:rPr lang="en-US" sz="2800" dirty="0"/>
              <a:t>Fault-tolerant systems are crucial for achieving high availability, ensuring that systems remain operational and accessible to users even during failures. </a:t>
            </a:r>
          </a:p>
          <a:p>
            <a:pPr fontAlgn="ctr"/>
            <a:endParaRPr lang="en-US" sz="2800" dirty="0"/>
          </a:p>
          <a:p>
            <a:r>
              <a:rPr lang="en-US" sz="2800" b="1" dirty="0"/>
              <a:t>Business Continuity:</a:t>
            </a:r>
            <a:endParaRPr lang="en-US" sz="2800" dirty="0"/>
          </a:p>
          <a:p>
            <a:pPr fontAlgn="ctr"/>
            <a:r>
              <a:rPr lang="en-US" sz="2800" dirty="0"/>
              <a:t>For businesses, especially those relying on critical applications, fault tolerance helps prevent disruptions and ensures business continuity. </a:t>
            </a:r>
          </a:p>
          <a:p>
            <a:pPr fontAlgn="ctr"/>
            <a:endParaRPr lang="en-US" sz="2800" dirty="0"/>
          </a:p>
          <a:p>
            <a:r>
              <a:rPr lang="en-US" sz="2800" b="1" dirty="0"/>
              <a:t>Safety:</a:t>
            </a:r>
            <a:endParaRPr lang="en-US" sz="2800" dirty="0"/>
          </a:p>
          <a:p>
            <a:r>
              <a:rPr lang="en-US" sz="2800" dirty="0"/>
              <a:t>In systems where failure could have serious consequences (like air traffic control or medical equipment), fault tolerance is paramount for safety. </a:t>
            </a:r>
          </a:p>
        </p:txBody>
      </p:sp>
    </p:spTree>
    <p:extLst>
      <p:ext uri="{BB962C8B-B14F-4D97-AF65-F5344CB8AC3E}">
        <p14:creationId xmlns:p14="http://schemas.microsoft.com/office/powerpoint/2010/main" val="25277438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13</a:t>
            </a:fld>
            <a:endParaRPr lang="en-US"/>
          </a:p>
        </p:txBody>
      </p:sp>
      <p:sp>
        <p:nvSpPr>
          <p:cNvPr id="3" name="Rectangle 2"/>
          <p:cNvSpPr/>
          <p:nvPr/>
        </p:nvSpPr>
        <p:spPr>
          <a:xfrm>
            <a:off x="182880" y="1042416"/>
            <a:ext cx="13487399" cy="7109639"/>
          </a:xfrm>
          <a:prstGeom prst="rect">
            <a:avLst/>
          </a:prstGeom>
        </p:spPr>
        <p:txBody>
          <a:bodyPr wrap="square">
            <a:spAutoFit/>
          </a:bodyPr>
          <a:lstStyle/>
          <a:p>
            <a:pPr algn="just" fontAlgn="base">
              <a:buFont typeface="Arial" panose="020B0604020202020204" pitchFamily="34" charset="0"/>
              <a:buChar char="•"/>
            </a:pPr>
            <a:r>
              <a:rPr lang="en-US" sz="2400" b="1" dirty="0">
                <a:solidFill>
                  <a:srgbClr val="273239"/>
                </a:solidFill>
                <a:latin typeface="Nunito"/>
              </a:rPr>
              <a:t>RAID (Redundant Array of Independent Disks):</a:t>
            </a:r>
            <a:r>
              <a:rPr lang="en-US" sz="2400" dirty="0">
                <a:solidFill>
                  <a:srgbClr val="273239"/>
                </a:solidFill>
                <a:latin typeface="Nunito"/>
              </a:rPr>
              <a:t> In storage systems, distribute data across multiple disks with redundancy, allowing the system to continue functioning even if one disk fails.</a:t>
            </a:r>
          </a:p>
          <a:p>
            <a:pPr algn="just" fontAlgn="base"/>
            <a:endParaRPr lang="en-US" sz="2400" dirty="0">
              <a:solidFill>
                <a:srgbClr val="273239"/>
              </a:solidFill>
              <a:latin typeface="Nunito"/>
            </a:endParaRPr>
          </a:p>
          <a:p>
            <a:pPr algn="just" fontAlgn="base">
              <a:buFont typeface="Arial" panose="020B0604020202020204" pitchFamily="34" charset="0"/>
              <a:buChar char="•"/>
            </a:pPr>
            <a:r>
              <a:rPr lang="en-US" sz="2400" b="1" dirty="0">
                <a:solidFill>
                  <a:srgbClr val="273239"/>
                </a:solidFill>
                <a:latin typeface="Nunito"/>
              </a:rPr>
              <a:t>Load Balancing:</a:t>
            </a:r>
            <a:r>
              <a:rPr lang="en-US" sz="2400" dirty="0">
                <a:solidFill>
                  <a:srgbClr val="273239"/>
                </a:solidFill>
                <a:latin typeface="Nunito"/>
              </a:rPr>
              <a:t> Distributing network traffic across multiple servers ensures that if one server fails, others can still handle the load.</a:t>
            </a:r>
          </a:p>
          <a:p>
            <a:pPr algn="just" fontAlgn="base"/>
            <a:endParaRPr lang="en-US" sz="2400" dirty="0">
              <a:solidFill>
                <a:srgbClr val="273239"/>
              </a:solidFill>
              <a:latin typeface="Nunito"/>
            </a:endParaRPr>
          </a:p>
          <a:p>
            <a:pPr algn="just" fontAlgn="base">
              <a:buFont typeface="Arial" panose="020B0604020202020204" pitchFamily="34" charset="0"/>
              <a:buChar char="•"/>
            </a:pPr>
            <a:r>
              <a:rPr lang="en-US" sz="2400" b="1" dirty="0">
                <a:solidFill>
                  <a:srgbClr val="273239"/>
                </a:solidFill>
                <a:latin typeface="Nunito"/>
              </a:rPr>
              <a:t>Clustering:</a:t>
            </a:r>
            <a:r>
              <a:rPr lang="en-US" sz="2400" dirty="0">
                <a:solidFill>
                  <a:srgbClr val="273239"/>
                </a:solidFill>
                <a:latin typeface="Nunito"/>
              </a:rPr>
              <a:t> Creating clusters of servers ensures that if one server fails, another can take over the workload seamlessly.</a:t>
            </a:r>
          </a:p>
          <a:p>
            <a:pPr algn="just" fontAlgn="base"/>
            <a:endParaRPr lang="en-US" sz="2400" dirty="0">
              <a:solidFill>
                <a:srgbClr val="273239"/>
              </a:solidFill>
              <a:latin typeface="Nunito"/>
            </a:endParaRPr>
          </a:p>
          <a:p>
            <a:pPr algn="just" fontAlgn="base">
              <a:buFont typeface="Arial" panose="020B0604020202020204" pitchFamily="34" charset="0"/>
              <a:buChar char="•"/>
            </a:pPr>
            <a:r>
              <a:rPr lang="en-US" sz="2400" b="1" dirty="0">
                <a:solidFill>
                  <a:srgbClr val="273239"/>
                </a:solidFill>
                <a:latin typeface="Nunito"/>
              </a:rPr>
              <a:t>Virtualization:</a:t>
            </a:r>
            <a:r>
              <a:rPr lang="en-US" sz="2400" dirty="0">
                <a:solidFill>
                  <a:srgbClr val="273239"/>
                </a:solidFill>
                <a:latin typeface="Nunito"/>
              </a:rPr>
              <a:t> Running virtual machines on a server allows for easy migration of workloads to another server in case of hardware failure.</a:t>
            </a:r>
          </a:p>
          <a:p>
            <a:pPr algn="just" fontAlgn="base"/>
            <a:endParaRPr lang="en-US" sz="2400" dirty="0">
              <a:solidFill>
                <a:srgbClr val="273239"/>
              </a:solidFill>
              <a:latin typeface="Nunito"/>
            </a:endParaRPr>
          </a:p>
          <a:p>
            <a:pPr algn="just" fontAlgn="base">
              <a:buFont typeface="Arial" panose="020B0604020202020204" pitchFamily="34" charset="0"/>
              <a:buChar char="•"/>
            </a:pPr>
            <a:r>
              <a:rPr lang="en-US" sz="2400" b="1" dirty="0" err="1">
                <a:solidFill>
                  <a:srgbClr val="273239"/>
                </a:solidFill>
                <a:latin typeface="Nunito"/>
              </a:rPr>
              <a:t>Microservices</a:t>
            </a:r>
            <a:r>
              <a:rPr lang="en-US" sz="2400" b="1" dirty="0">
                <a:solidFill>
                  <a:srgbClr val="273239"/>
                </a:solidFill>
                <a:latin typeface="Nunito"/>
              </a:rPr>
              <a:t> Architecture: </a:t>
            </a:r>
            <a:r>
              <a:rPr lang="en-US" sz="2400" dirty="0">
                <a:solidFill>
                  <a:srgbClr val="273239"/>
                </a:solidFill>
                <a:latin typeface="Nunito"/>
              </a:rPr>
              <a:t>Breaking down applications into smaller, </a:t>
            </a:r>
            <a:r>
              <a:rPr lang="en-US" sz="2400" b="1" dirty="0">
                <a:solidFill>
                  <a:srgbClr val="273239"/>
                </a:solidFill>
                <a:latin typeface="Nunito"/>
              </a:rPr>
              <a:t>independent services</a:t>
            </a:r>
            <a:r>
              <a:rPr lang="en-US" sz="2400" dirty="0">
                <a:solidFill>
                  <a:srgbClr val="273239"/>
                </a:solidFill>
                <a:latin typeface="Nunito"/>
              </a:rPr>
              <a:t> allows for the isolation of faults, preventing the entire system from failing if one service encounters issues.</a:t>
            </a:r>
          </a:p>
          <a:p>
            <a:pPr algn="just" fontAlgn="base">
              <a:buFont typeface="Arial" panose="020B0604020202020204" pitchFamily="34" charset="0"/>
              <a:buChar char="•"/>
            </a:pPr>
            <a:endParaRPr lang="en-US" sz="2400" dirty="0">
              <a:solidFill>
                <a:srgbClr val="273239"/>
              </a:solidFill>
              <a:latin typeface="Nunito"/>
            </a:endParaRPr>
          </a:p>
          <a:p>
            <a:pPr algn="just" fontAlgn="base">
              <a:buFont typeface="Arial" panose="020B0604020202020204" pitchFamily="34" charset="0"/>
              <a:buChar char="•"/>
            </a:pPr>
            <a:r>
              <a:rPr lang="en-US" sz="2400" b="1" dirty="0">
                <a:solidFill>
                  <a:srgbClr val="273239"/>
                </a:solidFill>
                <a:latin typeface="Nunito"/>
              </a:rPr>
              <a:t>Distributed Cloud Architecture:</a:t>
            </a:r>
            <a:r>
              <a:rPr lang="en-US" sz="2400" dirty="0">
                <a:solidFill>
                  <a:srgbClr val="273239"/>
                </a:solidFill>
                <a:latin typeface="Nunito"/>
              </a:rPr>
              <a:t> Distributing applications across multiple cloud regions or providers enhances fault tolerance by reducing the impact of a failure in a specific region or service.</a:t>
            </a:r>
          </a:p>
        </p:txBody>
      </p:sp>
      <p:sp>
        <p:nvSpPr>
          <p:cNvPr id="4" name="Rectangle 3"/>
          <p:cNvSpPr/>
          <p:nvPr/>
        </p:nvSpPr>
        <p:spPr>
          <a:xfrm>
            <a:off x="402335" y="256032"/>
            <a:ext cx="8375905" cy="584775"/>
          </a:xfrm>
          <a:prstGeom prst="rect">
            <a:avLst/>
          </a:prstGeom>
        </p:spPr>
        <p:txBody>
          <a:bodyPr wrap="square">
            <a:spAutoFit/>
          </a:bodyPr>
          <a:lstStyle/>
          <a:p>
            <a:pPr algn="just" fontAlgn="base"/>
            <a:r>
              <a:rPr lang="en-US" sz="3200" b="1" dirty="0">
                <a:solidFill>
                  <a:srgbClr val="273239"/>
                </a:solidFill>
                <a:latin typeface="Nunito"/>
              </a:rPr>
              <a:t>Situations where fault tolerance is crucial</a:t>
            </a:r>
          </a:p>
        </p:txBody>
      </p:sp>
    </p:spTree>
    <p:extLst>
      <p:ext uri="{BB962C8B-B14F-4D97-AF65-F5344CB8AC3E}">
        <p14:creationId xmlns:p14="http://schemas.microsoft.com/office/powerpoint/2010/main" val="2393660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14</a:t>
            </a:fld>
            <a:endParaRPr lang="en-US"/>
          </a:p>
        </p:txBody>
      </p:sp>
      <p:sp>
        <p:nvSpPr>
          <p:cNvPr id="3" name="Rectangle 2"/>
          <p:cNvSpPr/>
          <p:nvPr/>
        </p:nvSpPr>
        <p:spPr>
          <a:xfrm>
            <a:off x="274320" y="1170432"/>
            <a:ext cx="13222224" cy="6124754"/>
          </a:xfrm>
          <a:prstGeom prst="rect">
            <a:avLst/>
          </a:prstGeom>
        </p:spPr>
        <p:txBody>
          <a:bodyPr wrap="square">
            <a:spAutoFit/>
          </a:bodyPr>
          <a:lstStyle/>
          <a:p>
            <a:pPr algn="just" fontAlgn="base">
              <a:buFont typeface="Arial" panose="020B0604020202020204" pitchFamily="34" charset="0"/>
              <a:buChar char="•"/>
            </a:pPr>
            <a:r>
              <a:rPr lang="en-US" sz="2800" b="1" dirty="0">
                <a:solidFill>
                  <a:srgbClr val="273239"/>
                </a:solidFill>
                <a:latin typeface="Nunito"/>
              </a:rPr>
              <a:t>Scalability Issues:</a:t>
            </a:r>
            <a:r>
              <a:rPr lang="en-US" sz="2800" dirty="0">
                <a:solidFill>
                  <a:srgbClr val="273239"/>
                </a:solidFill>
                <a:latin typeface="Nunito"/>
              </a:rPr>
              <a:t> </a:t>
            </a:r>
          </a:p>
          <a:p>
            <a:pPr marL="457200" indent="-457200" algn="just" fontAlgn="base">
              <a:buFont typeface="Wingdings" panose="05000000000000000000" pitchFamily="2" charset="2"/>
              <a:buChar char="Ø"/>
            </a:pPr>
            <a:r>
              <a:rPr lang="en-US" sz="2800" dirty="0">
                <a:solidFill>
                  <a:srgbClr val="273239"/>
                </a:solidFill>
                <a:latin typeface="Nunito"/>
              </a:rPr>
              <a:t>Scalability refers to the ability of a system to handle increasing workload or data size gracefully without sacrificing </a:t>
            </a:r>
            <a:r>
              <a:rPr lang="en-US" sz="2800" b="1" dirty="0">
                <a:solidFill>
                  <a:srgbClr val="273239"/>
                </a:solidFill>
                <a:latin typeface="Nunito"/>
              </a:rPr>
              <a:t>performance</a:t>
            </a:r>
            <a:r>
              <a:rPr lang="en-US" sz="2800" dirty="0">
                <a:solidFill>
                  <a:srgbClr val="273239"/>
                </a:solidFill>
                <a:latin typeface="Nunito"/>
              </a:rPr>
              <a:t> or availability. </a:t>
            </a:r>
          </a:p>
          <a:p>
            <a:pPr marL="457200" indent="-457200" algn="just" fontAlgn="base">
              <a:buFont typeface="Wingdings" panose="05000000000000000000" pitchFamily="2" charset="2"/>
              <a:buChar char="Ø"/>
            </a:pPr>
            <a:r>
              <a:rPr lang="en-US" sz="2800" dirty="0">
                <a:solidFill>
                  <a:srgbClr val="273239"/>
                </a:solidFill>
                <a:latin typeface="Nunito"/>
              </a:rPr>
              <a:t>Scalability challenges in fault tolerance involve ensuring that fault-tolerant mechanisms can scale alongside the system's growth.</a:t>
            </a:r>
          </a:p>
          <a:p>
            <a:pPr algn="just" fontAlgn="base">
              <a:buFont typeface="Arial" panose="020B0604020202020204" pitchFamily="34" charset="0"/>
              <a:buChar char="•"/>
            </a:pPr>
            <a:r>
              <a:rPr lang="en-US" sz="2800" b="1" dirty="0">
                <a:solidFill>
                  <a:srgbClr val="273239"/>
                </a:solidFill>
                <a:latin typeface="Nunito"/>
              </a:rPr>
              <a:t>Performance Impacts:</a:t>
            </a:r>
            <a:r>
              <a:rPr lang="en-US" sz="2800" dirty="0">
                <a:solidFill>
                  <a:srgbClr val="273239"/>
                </a:solidFill>
                <a:latin typeface="Nunito"/>
              </a:rPr>
              <a:t> </a:t>
            </a:r>
          </a:p>
          <a:p>
            <a:pPr marL="457200" indent="-457200" algn="just" fontAlgn="base">
              <a:buFont typeface="Wingdings" panose="05000000000000000000" pitchFamily="2" charset="2"/>
              <a:buChar char="Ø"/>
            </a:pPr>
            <a:r>
              <a:rPr lang="en-US" sz="2800" dirty="0">
                <a:solidFill>
                  <a:srgbClr val="273239"/>
                </a:solidFill>
                <a:latin typeface="Nunito"/>
              </a:rPr>
              <a:t>Fault tolerance mechanisms, such as redundancy and error correction, can impact system performance. </a:t>
            </a:r>
          </a:p>
          <a:p>
            <a:pPr marL="457200" indent="-457200" algn="just" fontAlgn="base">
              <a:buFont typeface="Wingdings" panose="05000000000000000000" pitchFamily="2" charset="2"/>
              <a:buChar char="Ø"/>
            </a:pPr>
            <a:r>
              <a:rPr lang="en-US" sz="2800" dirty="0">
                <a:solidFill>
                  <a:srgbClr val="273239"/>
                </a:solidFill>
                <a:latin typeface="Nunito"/>
              </a:rPr>
              <a:t>This challenge involves minimizing performance degradation while maintaining high fault tolerance.</a:t>
            </a:r>
          </a:p>
          <a:p>
            <a:pPr algn="just" fontAlgn="base">
              <a:buFont typeface="Arial" panose="020B0604020202020204" pitchFamily="34" charset="0"/>
              <a:buChar char="•"/>
            </a:pPr>
            <a:r>
              <a:rPr lang="en-US" sz="2800" b="1" dirty="0">
                <a:solidFill>
                  <a:srgbClr val="273239"/>
                </a:solidFill>
                <a:latin typeface="Nunito"/>
              </a:rPr>
              <a:t>Cost Considerations:</a:t>
            </a:r>
            <a:r>
              <a:rPr lang="en-US" sz="2800" dirty="0">
                <a:solidFill>
                  <a:srgbClr val="273239"/>
                </a:solidFill>
                <a:latin typeface="Nunito"/>
              </a:rPr>
              <a:t> </a:t>
            </a:r>
          </a:p>
          <a:p>
            <a:pPr marL="457200" indent="-457200" algn="just" fontAlgn="base">
              <a:buFont typeface="Wingdings" panose="05000000000000000000" pitchFamily="2" charset="2"/>
              <a:buChar char="Ø"/>
            </a:pPr>
            <a:r>
              <a:rPr lang="en-US" sz="2800" dirty="0">
                <a:solidFill>
                  <a:srgbClr val="273239"/>
                </a:solidFill>
                <a:latin typeface="Nunito"/>
              </a:rPr>
              <a:t>Implementing robust fault tolerance strategies often incurs additional costs due to the need for redundant hardware, software licenses, maintenance, and monitoring systems.</a:t>
            </a:r>
          </a:p>
        </p:txBody>
      </p:sp>
      <p:sp>
        <p:nvSpPr>
          <p:cNvPr id="4" name="Rectangle 3"/>
          <p:cNvSpPr/>
          <p:nvPr/>
        </p:nvSpPr>
        <p:spPr>
          <a:xfrm>
            <a:off x="0" y="274320"/>
            <a:ext cx="9129830" cy="584775"/>
          </a:xfrm>
          <a:prstGeom prst="rect">
            <a:avLst/>
          </a:prstGeom>
        </p:spPr>
        <p:txBody>
          <a:bodyPr wrap="square">
            <a:spAutoFit/>
          </a:bodyPr>
          <a:lstStyle/>
          <a:p>
            <a:pPr algn="just" fontAlgn="base"/>
            <a:r>
              <a:rPr lang="en-US" sz="3200" b="1" dirty="0">
                <a:solidFill>
                  <a:srgbClr val="273239"/>
                </a:solidFill>
                <a:latin typeface="Nunito"/>
              </a:rPr>
              <a:t>Challenges in Implementing Fault Tolerance</a:t>
            </a:r>
          </a:p>
        </p:txBody>
      </p:sp>
    </p:spTree>
    <p:extLst>
      <p:ext uri="{BB962C8B-B14F-4D97-AF65-F5344CB8AC3E}">
        <p14:creationId xmlns:p14="http://schemas.microsoft.com/office/powerpoint/2010/main" val="41850260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3" name="TextBox 2">
            <a:extLst>
              <a:ext uri="{FF2B5EF4-FFF2-40B4-BE49-F238E27FC236}">
                <a16:creationId xmlns:a16="http://schemas.microsoft.com/office/drawing/2014/main" id="{E6E0A042-5CA4-1A0F-6182-66AF122FEE89}"/>
              </a:ext>
            </a:extLst>
          </p:cNvPr>
          <p:cNvSpPr txBox="1"/>
          <p:nvPr/>
        </p:nvSpPr>
        <p:spPr>
          <a:xfrm>
            <a:off x="216911" y="281541"/>
            <a:ext cx="8273945" cy="584775"/>
          </a:xfrm>
          <a:prstGeom prst="rect">
            <a:avLst/>
          </a:prstGeom>
          <a:noFill/>
        </p:spPr>
        <p:txBody>
          <a:bodyPr wrap="square">
            <a:spAutoFit/>
          </a:bodyPr>
          <a:lstStyle/>
          <a:p>
            <a:pPr fontAlgn="base"/>
            <a:r>
              <a:rPr lang="en-IN" sz="3200" b="1" dirty="0"/>
              <a:t>Examples of Fault Tolerance Techniques</a:t>
            </a:r>
            <a:r>
              <a:rPr lang="en-IN" b="1" dirty="0"/>
              <a:t>:</a:t>
            </a:r>
            <a:endParaRPr lang="en-US" sz="3000" b="1" i="0" dirty="0">
              <a:solidFill>
                <a:schemeClr val="tx1"/>
              </a:solidFill>
              <a:effectLst/>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BAACC97B-6963-0827-F8F8-77D2095E7495}"/>
              </a:ext>
            </a:extLst>
          </p:cNvPr>
          <p:cNvSpPr txBox="1"/>
          <p:nvPr/>
        </p:nvSpPr>
        <p:spPr>
          <a:xfrm>
            <a:off x="943532" y="1839690"/>
            <a:ext cx="12908655" cy="5262979"/>
          </a:xfrm>
          <a:prstGeom prst="rect">
            <a:avLst/>
          </a:prstGeom>
          <a:noFill/>
        </p:spPr>
        <p:txBody>
          <a:bodyPr wrap="square">
            <a:spAutoFit/>
          </a:bodyPr>
          <a:lstStyle/>
          <a:p>
            <a:pPr marL="457200" indent="-457200" algn="just">
              <a:buFont typeface="Arial" panose="020B0604020202020204" pitchFamily="34" charset="0"/>
              <a:buChar char="•"/>
            </a:pPr>
            <a:r>
              <a:rPr lang="en-US" sz="2800" b="1" dirty="0"/>
              <a:t>Replication:</a:t>
            </a:r>
            <a:endParaRPr lang="en-US" sz="2800" dirty="0"/>
          </a:p>
          <a:p>
            <a:pPr marL="457200" indent="-457200" algn="just">
              <a:buFont typeface="Wingdings" panose="05000000000000000000" pitchFamily="2" charset="2"/>
              <a:buChar char="ü"/>
            </a:pPr>
            <a:r>
              <a:rPr lang="en-US" sz="2800" dirty="0"/>
              <a:t>Creating multiple copies of data or services across different locations or nodes. If one copy fails, others are available.</a:t>
            </a:r>
          </a:p>
          <a:p>
            <a:pPr marL="457200" indent="-457200" algn="just">
              <a:buFont typeface="Arial" panose="020B0604020202020204" pitchFamily="34" charset="0"/>
              <a:buChar char="•"/>
            </a:pPr>
            <a:r>
              <a:rPr lang="en-US" sz="2800" b="1" dirty="0"/>
              <a:t>Load Balancing:</a:t>
            </a:r>
            <a:endParaRPr lang="en-US" sz="2800" dirty="0"/>
          </a:p>
          <a:p>
            <a:pPr marL="457200" indent="-457200" algn="just">
              <a:buFont typeface="Wingdings" panose="05000000000000000000" pitchFamily="2" charset="2"/>
              <a:buChar char="ü"/>
            </a:pPr>
            <a:r>
              <a:rPr lang="en-US" sz="2800" dirty="0"/>
              <a:t>Distributing traffic across multiple servers to prevent any single server from being overwhelmed and becoming a point of failure.</a:t>
            </a:r>
          </a:p>
          <a:p>
            <a:pPr marL="457200" indent="-457200" algn="just">
              <a:buFont typeface="Arial" panose="020B0604020202020204" pitchFamily="34" charset="0"/>
              <a:buChar char="•"/>
            </a:pPr>
            <a:r>
              <a:rPr lang="en-US" sz="2800" b="1" dirty="0"/>
              <a:t>Check pointing and Rollback:</a:t>
            </a:r>
            <a:endParaRPr lang="en-US" sz="2800" dirty="0"/>
          </a:p>
          <a:p>
            <a:pPr marL="457200" indent="-457200" algn="just">
              <a:buFont typeface="Wingdings" panose="05000000000000000000" pitchFamily="2" charset="2"/>
              <a:buChar char="ü"/>
            </a:pPr>
            <a:r>
              <a:rPr lang="en-US" sz="2800" dirty="0"/>
              <a:t>Saving the system's state at regular intervals (checkpoints) so that it can be rolled back to a consistent state in case of a failure.</a:t>
            </a:r>
          </a:p>
          <a:p>
            <a:pPr marL="457200" indent="-457200" algn="just">
              <a:buFont typeface="Arial" panose="020B0604020202020204" pitchFamily="34" charset="0"/>
              <a:buChar char="•"/>
            </a:pPr>
            <a:r>
              <a:rPr lang="en-US" sz="2800" b="1" dirty="0"/>
              <a:t>Consensus Algorithms:</a:t>
            </a:r>
            <a:endParaRPr lang="en-US" sz="2800" dirty="0"/>
          </a:p>
          <a:p>
            <a:pPr marL="457200" indent="-457200" algn="just">
              <a:buFont typeface="Wingdings" panose="05000000000000000000" pitchFamily="2" charset="2"/>
              <a:buChar char="ü"/>
            </a:pPr>
            <a:r>
              <a:rPr lang="en-US" sz="2800" dirty="0"/>
              <a:t>Used in distributed systems to ensure that all nodes agree on the system's state, even if some nodes fail. </a:t>
            </a:r>
          </a:p>
        </p:txBody>
      </p:sp>
    </p:spTree>
    <p:extLst>
      <p:ext uri="{BB962C8B-B14F-4D97-AF65-F5344CB8AC3E}">
        <p14:creationId xmlns:p14="http://schemas.microsoft.com/office/powerpoint/2010/main" val="39087583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16</a:t>
            </a:fld>
            <a:endParaRPr lang="en-US"/>
          </a:p>
        </p:txBody>
      </p:sp>
      <p:sp>
        <p:nvSpPr>
          <p:cNvPr id="4" name="Rectangle 3"/>
          <p:cNvSpPr/>
          <p:nvPr/>
        </p:nvSpPr>
        <p:spPr>
          <a:xfrm>
            <a:off x="658368" y="1585478"/>
            <a:ext cx="12783312" cy="954107"/>
          </a:xfrm>
          <a:prstGeom prst="rect">
            <a:avLst/>
          </a:prstGeom>
        </p:spPr>
        <p:txBody>
          <a:bodyPr wrap="square">
            <a:spAutoFit/>
          </a:bodyPr>
          <a:lstStyle/>
          <a:p>
            <a:pPr algn="just"/>
            <a:r>
              <a:rPr lang="en-US" sz="2800" i="1" dirty="0">
                <a:solidFill>
                  <a:srgbClr val="273239"/>
                </a:solidFill>
                <a:latin typeface="+mn-lt"/>
              </a:rPr>
              <a:t>Latency refers to the time it takes for a request to travel from its point of origin to its destination and receive a response. </a:t>
            </a:r>
            <a:endParaRPr lang="en-IN" sz="2800" dirty="0">
              <a:latin typeface="+mn-lt"/>
            </a:endParaRPr>
          </a:p>
        </p:txBody>
      </p:sp>
      <p:sp>
        <p:nvSpPr>
          <p:cNvPr id="5" name="Rectangle 4"/>
          <p:cNvSpPr/>
          <p:nvPr/>
        </p:nvSpPr>
        <p:spPr>
          <a:xfrm>
            <a:off x="1627632" y="2871216"/>
            <a:ext cx="11667744" cy="1815882"/>
          </a:xfrm>
          <a:prstGeom prst="rect">
            <a:avLst/>
          </a:prstGeom>
        </p:spPr>
        <p:txBody>
          <a:bodyPr wrap="square">
            <a:spAutoFit/>
          </a:bodyPr>
          <a:lstStyle/>
          <a:p>
            <a:pPr algn="just" fontAlgn="base">
              <a:buFont typeface="Arial" panose="020B0604020202020204" pitchFamily="34" charset="0"/>
              <a:buChar char="•"/>
            </a:pPr>
            <a:r>
              <a:rPr lang="en-US" sz="2800" dirty="0">
                <a:solidFill>
                  <a:srgbClr val="273239"/>
                </a:solidFill>
                <a:latin typeface="Nunito"/>
              </a:rPr>
              <a:t>Latency represents the delay between an action and its corresponding reaction.</a:t>
            </a:r>
          </a:p>
          <a:p>
            <a:pPr algn="just" fontAlgn="base">
              <a:buFont typeface="Arial" panose="020B0604020202020204" pitchFamily="34" charset="0"/>
              <a:buChar char="•"/>
            </a:pPr>
            <a:r>
              <a:rPr lang="en-US" sz="2800" dirty="0">
                <a:solidFill>
                  <a:srgbClr val="273239"/>
                </a:solidFill>
                <a:latin typeface="Nunito"/>
              </a:rPr>
              <a:t>It can be measured in various units like seconds, milliseconds, and nanoseconds depending on the system and application.</a:t>
            </a:r>
          </a:p>
        </p:txBody>
      </p:sp>
      <p:sp>
        <p:nvSpPr>
          <p:cNvPr id="7" name="Rectangle 6"/>
          <p:cNvSpPr/>
          <p:nvPr/>
        </p:nvSpPr>
        <p:spPr>
          <a:xfrm>
            <a:off x="548640" y="394752"/>
            <a:ext cx="3072383" cy="584775"/>
          </a:xfrm>
          <a:prstGeom prst="rect">
            <a:avLst/>
          </a:prstGeom>
        </p:spPr>
        <p:txBody>
          <a:bodyPr wrap="square">
            <a:spAutoFit/>
          </a:bodyPr>
          <a:lstStyle/>
          <a:p>
            <a:r>
              <a:rPr lang="en-US" sz="3200" b="1" i="1" dirty="0">
                <a:solidFill>
                  <a:srgbClr val="273239"/>
                </a:solidFill>
              </a:rPr>
              <a:t>Latency </a:t>
            </a:r>
            <a:endParaRPr lang="en-IN" sz="3200" b="1" dirty="0"/>
          </a:p>
        </p:txBody>
      </p:sp>
    </p:spTree>
    <p:extLst>
      <p:ext uri="{BB962C8B-B14F-4D97-AF65-F5344CB8AC3E}">
        <p14:creationId xmlns:p14="http://schemas.microsoft.com/office/powerpoint/2010/main" val="10376944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17</a:t>
            </a:fld>
            <a:endParaRPr lang="en-US"/>
          </a:p>
        </p:txBody>
      </p:sp>
      <p:pic>
        <p:nvPicPr>
          <p:cNvPr id="3" name="Picture 2"/>
          <p:cNvPicPr>
            <a:picLocks noChangeAspect="1"/>
          </p:cNvPicPr>
          <p:nvPr/>
        </p:nvPicPr>
        <p:blipFill>
          <a:blip r:embed="rId2"/>
          <a:stretch>
            <a:fillRect/>
          </a:stretch>
        </p:blipFill>
        <p:spPr>
          <a:xfrm>
            <a:off x="932688" y="1755648"/>
            <a:ext cx="12252960" cy="5522976"/>
          </a:xfrm>
          <a:prstGeom prst="rect">
            <a:avLst/>
          </a:prstGeom>
        </p:spPr>
      </p:pic>
    </p:spTree>
    <p:extLst>
      <p:ext uri="{BB962C8B-B14F-4D97-AF65-F5344CB8AC3E}">
        <p14:creationId xmlns:p14="http://schemas.microsoft.com/office/powerpoint/2010/main" val="35566943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18</a:t>
            </a:fld>
            <a:endParaRPr lang="en-US"/>
          </a:p>
        </p:txBody>
      </p:sp>
      <p:sp>
        <p:nvSpPr>
          <p:cNvPr id="3" name="Rectangle 2"/>
          <p:cNvSpPr/>
          <p:nvPr/>
        </p:nvSpPr>
        <p:spPr>
          <a:xfrm>
            <a:off x="512064" y="1335024"/>
            <a:ext cx="12600432" cy="6309420"/>
          </a:xfrm>
          <a:prstGeom prst="rect">
            <a:avLst/>
          </a:prstGeom>
        </p:spPr>
        <p:txBody>
          <a:bodyPr wrap="square">
            <a:spAutoFit/>
          </a:bodyPr>
          <a:lstStyle/>
          <a:p>
            <a:pPr algn="just" fontAlgn="base"/>
            <a:r>
              <a:rPr lang="en-US" sz="2800" dirty="0">
                <a:solidFill>
                  <a:srgbClr val="273239"/>
                </a:solidFill>
                <a:latin typeface="Nunito"/>
              </a:rPr>
              <a:t>The time taken for each step—transmitting the action, server processing, transmitting the response, and updating your screen—contributes to the overall latency.</a:t>
            </a:r>
          </a:p>
          <a:p>
            <a:pPr algn="just" fontAlgn="base"/>
            <a:endParaRPr lang="en-US" sz="2800" dirty="0">
              <a:solidFill>
                <a:srgbClr val="273239"/>
              </a:solidFill>
              <a:latin typeface="Nunito"/>
            </a:endParaRPr>
          </a:p>
          <a:p>
            <a:pPr algn="just" fontAlgn="base"/>
            <a:r>
              <a:rPr lang="en-US" sz="2800" b="1" dirty="0">
                <a:solidFill>
                  <a:srgbClr val="273239"/>
                </a:solidFill>
                <a:latin typeface="Nunito"/>
              </a:rPr>
              <a:t>Example:</a:t>
            </a:r>
            <a:r>
              <a:rPr lang="en-US" sz="2800" dirty="0">
                <a:solidFill>
                  <a:srgbClr val="273239"/>
                </a:solidFill>
                <a:latin typeface="Nunito"/>
              </a:rPr>
              <a:t> Let see an example when player in an online game firing a weapon.</a:t>
            </a:r>
          </a:p>
          <a:p>
            <a:pPr algn="just" fontAlgn="base">
              <a:buFont typeface="Arial" panose="020B0604020202020204" pitchFamily="34" charset="0"/>
              <a:buChar char="•"/>
            </a:pPr>
            <a:r>
              <a:rPr lang="en-US" sz="2800" b="1" dirty="0">
                <a:solidFill>
                  <a:srgbClr val="273239"/>
                </a:solidFill>
                <a:latin typeface="Nunito"/>
              </a:rPr>
              <a:t>If your latency is high: </a:t>
            </a:r>
            <a:r>
              <a:rPr lang="en-US" sz="2800" dirty="0">
                <a:solidFill>
                  <a:srgbClr val="273239"/>
                </a:solidFill>
                <a:latin typeface="Nunito"/>
              </a:rPr>
              <a:t>You press "fire."</a:t>
            </a:r>
          </a:p>
          <a:p>
            <a:pPr algn="just" fontAlgn="base">
              <a:buFont typeface="Arial" panose="020B0604020202020204" pitchFamily="34" charset="0"/>
              <a:buChar char="•"/>
            </a:pPr>
            <a:r>
              <a:rPr lang="en-US" sz="2800" dirty="0">
                <a:solidFill>
                  <a:srgbClr val="273239"/>
                </a:solidFill>
                <a:latin typeface="Nunito"/>
              </a:rPr>
              <a:t>The command travels through the internet to the server, which takes time.</a:t>
            </a:r>
          </a:p>
          <a:p>
            <a:pPr algn="just" fontAlgn="base">
              <a:buFont typeface="Arial" panose="020B0604020202020204" pitchFamily="34" charset="0"/>
              <a:buChar char="•"/>
            </a:pPr>
            <a:r>
              <a:rPr lang="en-US" sz="2800" dirty="0">
                <a:solidFill>
                  <a:srgbClr val="273239"/>
                </a:solidFill>
                <a:latin typeface="Nunito"/>
              </a:rPr>
              <a:t>The server processes the shot.</a:t>
            </a:r>
          </a:p>
          <a:p>
            <a:pPr algn="just" fontAlgn="base">
              <a:buFont typeface="Arial" panose="020B0604020202020204" pitchFamily="34" charset="0"/>
              <a:buChar char="•"/>
            </a:pPr>
            <a:r>
              <a:rPr lang="en-US" sz="2800" dirty="0">
                <a:solidFill>
                  <a:srgbClr val="273239"/>
                </a:solidFill>
                <a:latin typeface="Nunito"/>
              </a:rPr>
              <a:t>The result travels back to your device.</a:t>
            </a:r>
          </a:p>
          <a:p>
            <a:pPr algn="just" fontAlgn="base">
              <a:buFont typeface="Arial" panose="020B0604020202020204" pitchFamily="34" charset="0"/>
              <a:buChar char="•"/>
            </a:pPr>
            <a:r>
              <a:rPr lang="en-US" sz="2800" dirty="0">
                <a:solidFill>
                  <a:srgbClr val="273239"/>
                </a:solidFill>
                <a:latin typeface="Nunito"/>
              </a:rPr>
              <a:t>Your screen updates the result.</a:t>
            </a:r>
          </a:p>
          <a:p>
            <a:pPr algn="just" fontAlgn="base"/>
            <a:endParaRPr lang="en-US" sz="2800" dirty="0">
              <a:solidFill>
                <a:srgbClr val="273239"/>
              </a:solidFill>
              <a:latin typeface="Nunito"/>
            </a:endParaRPr>
          </a:p>
          <a:p>
            <a:pPr algn="ctr" fontAlgn="base"/>
            <a:r>
              <a:rPr lang="en-US" sz="2400" i="1" dirty="0"/>
              <a:t>During this time, another player might have moved or shot you, but their actions haven't reached your device yet due to latency. This can result in what's called "</a:t>
            </a:r>
            <a:r>
              <a:rPr lang="en-US" sz="2400" b="1" i="1" dirty="0"/>
              <a:t>shot registration delay</a:t>
            </a:r>
            <a:r>
              <a:rPr lang="en-US" sz="2400" i="1" dirty="0"/>
              <a:t>." Your actions feel less immediate, and you might see inconsistencies between what you're seeing and what's happening in the game world.</a:t>
            </a:r>
            <a:endParaRPr lang="en-US" sz="2400" dirty="0">
              <a:solidFill>
                <a:srgbClr val="273239"/>
              </a:solidFill>
              <a:latin typeface="Nunito"/>
            </a:endParaRPr>
          </a:p>
        </p:txBody>
      </p:sp>
      <p:sp>
        <p:nvSpPr>
          <p:cNvPr id="4" name="Rectangle 3"/>
          <p:cNvSpPr/>
          <p:nvPr/>
        </p:nvSpPr>
        <p:spPr>
          <a:xfrm>
            <a:off x="493776" y="413040"/>
            <a:ext cx="6382512" cy="584775"/>
          </a:xfrm>
          <a:prstGeom prst="rect">
            <a:avLst/>
          </a:prstGeom>
        </p:spPr>
        <p:txBody>
          <a:bodyPr wrap="square">
            <a:spAutoFit/>
          </a:bodyPr>
          <a:lstStyle/>
          <a:p>
            <a:pPr algn="just" fontAlgn="base"/>
            <a:r>
              <a:rPr lang="en-US" sz="3200" b="1" dirty="0">
                <a:solidFill>
                  <a:srgbClr val="273239"/>
                </a:solidFill>
                <a:latin typeface="+mj-lt"/>
              </a:rPr>
              <a:t>How does Latency works?</a:t>
            </a:r>
          </a:p>
        </p:txBody>
      </p:sp>
    </p:spTree>
    <p:extLst>
      <p:ext uri="{BB962C8B-B14F-4D97-AF65-F5344CB8AC3E}">
        <p14:creationId xmlns:p14="http://schemas.microsoft.com/office/powerpoint/2010/main" val="36240081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19</a:t>
            </a:fld>
            <a:endParaRPr lang="en-US"/>
          </a:p>
        </p:txBody>
      </p:sp>
      <p:pic>
        <p:nvPicPr>
          <p:cNvPr id="3" name="Picture 2"/>
          <p:cNvPicPr>
            <a:picLocks noChangeAspect="1"/>
          </p:cNvPicPr>
          <p:nvPr/>
        </p:nvPicPr>
        <p:blipFill>
          <a:blip r:embed="rId2"/>
          <a:stretch>
            <a:fillRect/>
          </a:stretch>
        </p:blipFill>
        <p:spPr>
          <a:xfrm>
            <a:off x="950976" y="3255264"/>
            <a:ext cx="12490704" cy="4352544"/>
          </a:xfrm>
          <a:prstGeom prst="rect">
            <a:avLst/>
          </a:prstGeom>
        </p:spPr>
      </p:pic>
      <p:sp>
        <p:nvSpPr>
          <p:cNvPr id="4" name="Rectangle 3"/>
          <p:cNvSpPr/>
          <p:nvPr/>
        </p:nvSpPr>
        <p:spPr>
          <a:xfrm>
            <a:off x="256033" y="230160"/>
            <a:ext cx="10003536" cy="523220"/>
          </a:xfrm>
          <a:prstGeom prst="rect">
            <a:avLst/>
          </a:prstGeom>
        </p:spPr>
        <p:txBody>
          <a:bodyPr wrap="square">
            <a:spAutoFit/>
          </a:bodyPr>
          <a:lstStyle/>
          <a:p>
            <a:r>
              <a:rPr lang="en-US" sz="2800" b="1" dirty="0">
                <a:solidFill>
                  <a:srgbClr val="273239"/>
                </a:solidFill>
                <a:latin typeface="Nunito"/>
              </a:rPr>
              <a:t>The working of Latency can be understood by two ways:</a:t>
            </a:r>
            <a:endParaRPr lang="en-IN" sz="2800" b="1" dirty="0"/>
          </a:p>
        </p:txBody>
      </p:sp>
      <p:sp>
        <p:nvSpPr>
          <p:cNvPr id="5" name="Rectangle 4"/>
          <p:cNvSpPr/>
          <p:nvPr/>
        </p:nvSpPr>
        <p:spPr>
          <a:xfrm>
            <a:off x="603504" y="1225296"/>
            <a:ext cx="12819888" cy="2062103"/>
          </a:xfrm>
          <a:prstGeom prst="rect">
            <a:avLst/>
          </a:prstGeom>
        </p:spPr>
        <p:txBody>
          <a:bodyPr wrap="square">
            <a:spAutoFit/>
          </a:bodyPr>
          <a:lstStyle/>
          <a:p>
            <a:pPr marL="514350" indent="-514350" algn="just" fontAlgn="base">
              <a:buAutoNum type="arabicPeriod"/>
            </a:pPr>
            <a:r>
              <a:rPr lang="en-IN" sz="2800" b="1" dirty="0">
                <a:solidFill>
                  <a:srgbClr val="273239"/>
                </a:solidFill>
                <a:latin typeface="Nunito"/>
              </a:rPr>
              <a:t>Network Latency: </a:t>
            </a:r>
            <a:r>
              <a:rPr lang="en-US" sz="2400" dirty="0"/>
              <a:t>In</a:t>
            </a:r>
            <a:r>
              <a:rPr lang="en-US" dirty="0"/>
              <a:t> </a:t>
            </a:r>
            <a:r>
              <a:rPr lang="en-US" sz="2400" dirty="0"/>
              <a:t>system architecture, network latency is a sort of latency that describes how long it takes for data to move between two points in a network. </a:t>
            </a:r>
          </a:p>
          <a:p>
            <a:pPr marL="457200" indent="-457200" algn="just" fontAlgn="base">
              <a:buFont typeface="Arial"/>
              <a:buAutoNum type="arabicPeriod"/>
            </a:pPr>
            <a:r>
              <a:rPr lang="en-IN" sz="2800" b="1" dirty="0">
                <a:solidFill>
                  <a:srgbClr val="273239"/>
                </a:solidFill>
                <a:latin typeface="Nunito"/>
              </a:rPr>
              <a:t> System Latency : </a:t>
            </a:r>
            <a:r>
              <a:rPr lang="en-US" sz="2400" dirty="0"/>
              <a:t>System latency refers to the overall time it takes for a request to go from its origin in the system to its destination and receive a response. </a:t>
            </a:r>
            <a:endParaRPr lang="en-IN" sz="2400" dirty="0"/>
          </a:p>
          <a:p>
            <a:pPr marL="457200" indent="-457200" algn="just" fontAlgn="base">
              <a:buAutoNum type="arabicPeriod"/>
            </a:pPr>
            <a:endParaRPr lang="en-IN" sz="2400" b="1" dirty="0">
              <a:solidFill>
                <a:srgbClr val="273239"/>
              </a:solidFill>
              <a:latin typeface="Nunito"/>
            </a:endParaRPr>
          </a:p>
        </p:txBody>
      </p:sp>
    </p:spTree>
    <p:extLst>
      <p:ext uri="{BB962C8B-B14F-4D97-AF65-F5344CB8AC3E}">
        <p14:creationId xmlns:p14="http://schemas.microsoft.com/office/powerpoint/2010/main" val="11947093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DAB4C1A-E26D-E6EA-7486-195ADE5ED6C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20</a:t>
            </a:fld>
            <a:endParaRPr lang="en-US"/>
          </a:p>
        </p:txBody>
      </p:sp>
      <p:sp>
        <p:nvSpPr>
          <p:cNvPr id="4" name="TextBox 3">
            <a:extLst>
              <a:ext uri="{FF2B5EF4-FFF2-40B4-BE49-F238E27FC236}">
                <a16:creationId xmlns:a16="http://schemas.microsoft.com/office/drawing/2014/main" id="{F0855770-F04E-6E41-A9DF-7BB0213937FC}"/>
              </a:ext>
            </a:extLst>
          </p:cNvPr>
          <p:cNvSpPr txBox="1"/>
          <p:nvPr/>
        </p:nvSpPr>
        <p:spPr>
          <a:xfrm>
            <a:off x="981550" y="1696582"/>
            <a:ext cx="12734449" cy="6124754"/>
          </a:xfrm>
          <a:prstGeom prst="rect">
            <a:avLst/>
          </a:prstGeom>
          <a:noFill/>
        </p:spPr>
        <p:txBody>
          <a:bodyPr wrap="square">
            <a:spAutoFit/>
          </a:bodyPr>
          <a:lstStyle/>
          <a:p>
            <a:pPr marL="457200" indent="-457200" algn="just">
              <a:buFont typeface="Arial" panose="020B0604020202020204" pitchFamily="34" charset="0"/>
              <a:buChar char="•"/>
            </a:pPr>
            <a:r>
              <a:rPr lang="en-US" sz="2800" b="1" dirty="0"/>
              <a:t>Throughput</a:t>
            </a:r>
            <a:r>
              <a:rPr lang="en-US" sz="2800" dirty="0"/>
              <a:t> refers to the amount of data processed by the system in a given amount of time. </a:t>
            </a:r>
          </a:p>
          <a:p>
            <a:pPr marL="457200" indent="-457200" algn="just">
              <a:buFont typeface="Arial" panose="020B0604020202020204" pitchFamily="34" charset="0"/>
              <a:buChar char="•"/>
            </a:pPr>
            <a:r>
              <a:rPr lang="en-US" sz="2800" dirty="0"/>
              <a:t>Think of it as the speed at which work is done. </a:t>
            </a:r>
          </a:p>
          <a:p>
            <a:pPr marL="457200" indent="-457200" algn="just">
              <a:buFont typeface="Arial" panose="020B0604020202020204" pitchFamily="34" charset="0"/>
              <a:buChar char="•"/>
            </a:pPr>
            <a:r>
              <a:rPr lang="en-US" sz="2800" dirty="0"/>
              <a:t>For example, if a system can handle 1,000 requests per second, its throughput is 1,000 requests/second.</a:t>
            </a:r>
          </a:p>
          <a:p>
            <a:pPr algn="just"/>
            <a:endParaRPr lang="en-US" sz="2800" dirty="0"/>
          </a:p>
          <a:p>
            <a:pPr algn="just"/>
            <a:endParaRPr lang="en-US" sz="2800" dirty="0"/>
          </a:p>
          <a:p>
            <a:pPr marL="457200" indent="-457200" algn="just">
              <a:buFont typeface="Arial" panose="020B0604020202020204" pitchFamily="34" charset="0"/>
              <a:buChar char="•"/>
            </a:pPr>
            <a:r>
              <a:rPr lang="en-US" sz="2800" b="1" dirty="0"/>
              <a:t>Latency</a:t>
            </a:r>
            <a:r>
              <a:rPr lang="en-US" sz="2800" dirty="0"/>
              <a:t> is the time it takes for a request to travel from the client to the server and back. It’s like the delay you experience before you see the results of your action.</a:t>
            </a:r>
          </a:p>
          <a:p>
            <a:pPr marL="457200" indent="-457200" algn="just">
              <a:buFont typeface="Arial" panose="020B0604020202020204" pitchFamily="34" charset="0"/>
              <a:buChar char="•"/>
            </a:pPr>
            <a:r>
              <a:rPr lang="en-US" sz="2800" dirty="0"/>
              <a:t> For instance, if you click a button on a website and it takes 2 seconds for the page to load, that’s the latency.</a:t>
            </a:r>
          </a:p>
          <a:p>
            <a:pPr algn="just"/>
            <a:endParaRPr lang="en-US" sz="2800" dirty="0"/>
          </a:p>
          <a:p>
            <a:pPr algn="just"/>
            <a:endParaRPr lang="en-US" sz="2800" dirty="0"/>
          </a:p>
        </p:txBody>
      </p:sp>
      <p:sp>
        <p:nvSpPr>
          <p:cNvPr id="6" name="TextBox 5">
            <a:extLst>
              <a:ext uri="{FF2B5EF4-FFF2-40B4-BE49-F238E27FC236}">
                <a16:creationId xmlns:a16="http://schemas.microsoft.com/office/drawing/2014/main" id="{CCC4EBE0-924C-6415-5CA6-0AD600ECE40A}"/>
              </a:ext>
            </a:extLst>
          </p:cNvPr>
          <p:cNvSpPr txBox="1"/>
          <p:nvPr/>
        </p:nvSpPr>
        <p:spPr>
          <a:xfrm>
            <a:off x="194554" y="389106"/>
            <a:ext cx="9258299" cy="523220"/>
          </a:xfrm>
          <a:prstGeom prst="rect">
            <a:avLst/>
          </a:prstGeom>
          <a:noFill/>
        </p:spPr>
        <p:txBody>
          <a:bodyPr wrap="square">
            <a:spAutoFit/>
          </a:bodyPr>
          <a:lstStyle/>
          <a:p>
            <a:r>
              <a:rPr lang="en-US" sz="2800" b="1" dirty="0"/>
              <a:t>Throughput and Latency: How They Work Together</a:t>
            </a:r>
          </a:p>
        </p:txBody>
      </p:sp>
    </p:spTree>
    <p:extLst>
      <p:ext uri="{BB962C8B-B14F-4D97-AF65-F5344CB8AC3E}">
        <p14:creationId xmlns:p14="http://schemas.microsoft.com/office/powerpoint/2010/main" val="17746256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21</a:t>
            </a:fld>
            <a:endParaRPr lang="en-US"/>
          </a:p>
        </p:txBody>
      </p:sp>
      <p:sp>
        <p:nvSpPr>
          <p:cNvPr id="4" name="Rectangle 3"/>
          <p:cNvSpPr/>
          <p:nvPr/>
        </p:nvSpPr>
        <p:spPr>
          <a:xfrm>
            <a:off x="457200" y="1719072"/>
            <a:ext cx="12783312" cy="2695945"/>
          </a:xfrm>
          <a:prstGeom prst="rect">
            <a:avLst/>
          </a:prstGeom>
        </p:spPr>
        <p:txBody>
          <a:bodyPr wrap="square">
            <a:spAutoFit/>
          </a:bodyPr>
          <a:lstStyle/>
          <a:p>
            <a:pPr marL="457200" indent="-457200" algn="just" fontAlgn="base">
              <a:buFont typeface="Wingdings" panose="05000000000000000000" pitchFamily="2" charset="2"/>
              <a:buChar char="§"/>
            </a:pPr>
            <a:r>
              <a:rPr lang="en-US" sz="2800" dirty="0">
                <a:solidFill>
                  <a:srgbClr val="273239"/>
                </a:solidFill>
                <a:latin typeface="Nunito"/>
              </a:rPr>
              <a:t>The rate at which a system, process, or network can move data or carry out operations in a particular period of time is referred to as throughput. </a:t>
            </a:r>
            <a:r>
              <a:rPr lang="en-US" sz="2800" b="1" dirty="0">
                <a:solidFill>
                  <a:srgbClr val="273239"/>
                </a:solidFill>
                <a:latin typeface="Nunito"/>
              </a:rPr>
              <a:t>Bits per second (bps), bytes per second, transactions per second, etc. are common units of measurement. </a:t>
            </a:r>
          </a:p>
          <a:p>
            <a:pPr marL="457200" indent="-457200" algn="just" fontAlgn="base">
              <a:buFont typeface="Wingdings" panose="05000000000000000000" pitchFamily="2" charset="2"/>
              <a:buChar char="§"/>
            </a:pPr>
            <a:r>
              <a:rPr lang="en-US" sz="2800" dirty="0">
                <a:solidFill>
                  <a:srgbClr val="273239"/>
                </a:solidFill>
                <a:latin typeface="Nunito"/>
              </a:rPr>
              <a:t>It is computed by dividing the total number of operations or objects executed by the time taken.</a:t>
            </a:r>
          </a:p>
        </p:txBody>
      </p:sp>
      <p:sp>
        <p:nvSpPr>
          <p:cNvPr id="5" name="Rectangle 4"/>
          <p:cNvSpPr/>
          <p:nvPr/>
        </p:nvSpPr>
        <p:spPr>
          <a:xfrm>
            <a:off x="475489" y="358176"/>
            <a:ext cx="4715632" cy="584775"/>
          </a:xfrm>
          <a:prstGeom prst="rect">
            <a:avLst/>
          </a:prstGeom>
        </p:spPr>
        <p:txBody>
          <a:bodyPr wrap="square">
            <a:spAutoFit/>
          </a:bodyPr>
          <a:lstStyle/>
          <a:p>
            <a:pPr fontAlgn="base"/>
            <a:r>
              <a:rPr lang="en-US" sz="3200" b="1" dirty="0">
                <a:solidFill>
                  <a:srgbClr val="273239"/>
                </a:solidFill>
                <a:latin typeface="Nunito"/>
              </a:rPr>
              <a:t>What is Throughput?</a:t>
            </a:r>
          </a:p>
        </p:txBody>
      </p:sp>
      <p:sp>
        <p:nvSpPr>
          <p:cNvPr id="7" name="Rectangle 6"/>
          <p:cNvSpPr/>
          <p:nvPr/>
        </p:nvSpPr>
        <p:spPr>
          <a:xfrm>
            <a:off x="1243584" y="4602998"/>
            <a:ext cx="11448288" cy="1384995"/>
          </a:xfrm>
          <a:prstGeom prst="rect">
            <a:avLst/>
          </a:prstGeom>
        </p:spPr>
        <p:txBody>
          <a:bodyPr wrap="square">
            <a:spAutoFit/>
          </a:bodyPr>
          <a:lstStyle/>
          <a:p>
            <a:pPr algn="just"/>
            <a:endParaRPr lang="en-US" sz="2800" i="1" dirty="0">
              <a:solidFill>
                <a:srgbClr val="273239"/>
              </a:solidFill>
              <a:latin typeface="Nunito"/>
            </a:endParaRPr>
          </a:p>
          <a:p>
            <a:pPr algn="just"/>
            <a:r>
              <a:rPr lang="en-US" sz="2800" i="1" dirty="0">
                <a:solidFill>
                  <a:srgbClr val="273239"/>
                </a:solidFill>
                <a:latin typeface="Nunito"/>
              </a:rPr>
              <a:t>For example, an ice-cream factory produces 50 ice-creams in an hour so the throughput of the factory is </a:t>
            </a:r>
            <a:r>
              <a:rPr lang="en-US" sz="2800" b="1" i="1" dirty="0">
                <a:solidFill>
                  <a:srgbClr val="273239"/>
                </a:solidFill>
                <a:latin typeface="Nunito"/>
              </a:rPr>
              <a:t>50 ice-creams/hour</a:t>
            </a:r>
            <a:r>
              <a:rPr lang="en-US" sz="2800" i="1" dirty="0">
                <a:solidFill>
                  <a:srgbClr val="273239"/>
                </a:solidFill>
                <a:latin typeface="Nunito"/>
              </a:rPr>
              <a:t>.</a:t>
            </a:r>
            <a:endParaRPr lang="en-IN" sz="2800" dirty="0"/>
          </a:p>
        </p:txBody>
      </p:sp>
    </p:spTree>
    <p:extLst>
      <p:ext uri="{BB962C8B-B14F-4D97-AF65-F5344CB8AC3E}">
        <p14:creationId xmlns:p14="http://schemas.microsoft.com/office/powerpoint/2010/main" val="28750950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22</a:t>
            </a:fld>
            <a:endParaRPr lang="en-US"/>
          </a:p>
        </p:txBody>
      </p:sp>
      <p:pic>
        <p:nvPicPr>
          <p:cNvPr id="3" name="Picture 2"/>
          <p:cNvPicPr>
            <a:picLocks noChangeAspect="1"/>
          </p:cNvPicPr>
          <p:nvPr/>
        </p:nvPicPr>
        <p:blipFill>
          <a:blip r:embed="rId2"/>
          <a:stretch>
            <a:fillRect/>
          </a:stretch>
        </p:blipFill>
        <p:spPr>
          <a:xfrm>
            <a:off x="1867166" y="2505456"/>
            <a:ext cx="10952722" cy="4480560"/>
          </a:xfrm>
          <a:prstGeom prst="rect">
            <a:avLst/>
          </a:prstGeom>
        </p:spPr>
      </p:pic>
    </p:spTree>
    <p:extLst>
      <p:ext uri="{BB962C8B-B14F-4D97-AF65-F5344CB8AC3E}">
        <p14:creationId xmlns:p14="http://schemas.microsoft.com/office/powerpoint/2010/main" val="680731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23</a:t>
            </a:fld>
            <a:endParaRPr lang="en-US"/>
          </a:p>
        </p:txBody>
      </p:sp>
      <p:sp>
        <p:nvSpPr>
          <p:cNvPr id="3" name="Rectangle 2"/>
          <p:cNvSpPr/>
          <p:nvPr/>
        </p:nvSpPr>
        <p:spPr>
          <a:xfrm>
            <a:off x="987552" y="1865376"/>
            <a:ext cx="12545568" cy="5262979"/>
          </a:xfrm>
          <a:prstGeom prst="rect">
            <a:avLst/>
          </a:prstGeom>
        </p:spPr>
        <p:txBody>
          <a:bodyPr wrap="square">
            <a:spAutoFit/>
          </a:bodyPr>
          <a:lstStyle/>
          <a:p>
            <a:pPr algn="just" fontAlgn="base">
              <a:buFont typeface="+mj-lt"/>
              <a:buAutoNum type="arabicPeriod"/>
            </a:pPr>
            <a:r>
              <a:rPr lang="en-US" sz="2800" b="1" dirty="0">
                <a:solidFill>
                  <a:srgbClr val="273239"/>
                </a:solidFill>
                <a:latin typeface="Nunito"/>
              </a:rPr>
              <a:t>Network Throughput:</a:t>
            </a:r>
            <a:r>
              <a:rPr lang="en-US" sz="2800" dirty="0">
                <a:solidFill>
                  <a:srgbClr val="273239"/>
                </a:solidFill>
                <a:latin typeface="Nunito"/>
              </a:rPr>
              <a:t> Throughput in networking is the quantity of data that can be sent via a network in a specific amount of time. When assessing the effectiveness of communication routes, this measure is important.</a:t>
            </a:r>
          </a:p>
          <a:p>
            <a:pPr algn="just" fontAlgn="base"/>
            <a:endParaRPr lang="en-US" sz="2800" dirty="0">
              <a:solidFill>
                <a:srgbClr val="273239"/>
              </a:solidFill>
              <a:latin typeface="Nunito"/>
            </a:endParaRPr>
          </a:p>
          <a:p>
            <a:pPr algn="just" fontAlgn="base">
              <a:buFont typeface="+mj-lt"/>
              <a:buAutoNum type="arabicPeriod" startAt="2"/>
            </a:pPr>
            <a:r>
              <a:rPr lang="en-US" sz="2800" b="1" dirty="0">
                <a:solidFill>
                  <a:srgbClr val="273239"/>
                </a:solidFill>
                <a:latin typeface="Nunito"/>
              </a:rPr>
              <a:t>Disk Throughput:</a:t>
            </a:r>
            <a:r>
              <a:rPr lang="en-US" sz="2800" dirty="0">
                <a:solidFill>
                  <a:srgbClr val="273239"/>
                </a:solidFill>
                <a:latin typeface="Nunito"/>
              </a:rPr>
              <a:t> In storage systems, throughput measures how quickly data can be read from or written to a storage device, usually expressed in terms of bytes per second.</a:t>
            </a:r>
          </a:p>
          <a:p>
            <a:pPr algn="just" fontAlgn="base">
              <a:buFont typeface="+mj-lt"/>
              <a:buAutoNum type="arabicPeriod" startAt="2"/>
            </a:pPr>
            <a:endParaRPr lang="en-US" sz="2800" dirty="0">
              <a:solidFill>
                <a:srgbClr val="273239"/>
              </a:solidFill>
              <a:latin typeface="Nunito"/>
            </a:endParaRPr>
          </a:p>
          <a:p>
            <a:pPr algn="just" fontAlgn="base"/>
            <a:endParaRPr lang="en-US" sz="2800" dirty="0">
              <a:solidFill>
                <a:srgbClr val="273239"/>
              </a:solidFill>
              <a:latin typeface="Nunito"/>
            </a:endParaRPr>
          </a:p>
          <a:p>
            <a:pPr algn="just" fontAlgn="base">
              <a:buFont typeface="+mj-lt"/>
              <a:buAutoNum type="arabicPeriod" startAt="3"/>
            </a:pPr>
            <a:r>
              <a:rPr lang="en-US" sz="2800" b="1" dirty="0">
                <a:solidFill>
                  <a:srgbClr val="273239"/>
                </a:solidFill>
                <a:latin typeface="Nunito"/>
              </a:rPr>
              <a:t>Processing Throughput:</a:t>
            </a:r>
            <a:r>
              <a:rPr lang="en-US" sz="2800" dirty="0">
                <a:solidFill>
                  <a:srgbClr val="273239"/>
                </a:solidFill>
                <a:latin typeface="Nunito"/>
              </a:rPr>
              <a:t> In computing, especially in the context of CPUs or processors, throughput is the number of operations completed in a unit of time. It could refer to the number of instructions executed per second.</a:t>
            </a:r>
          </a:p>
        </p:txBody>
      </p:sp>
      <p:sp>
        <p:nvSpPr>
          <p:cNvPr id="4" name="Rectangle 3"/>
          <p:cNvSpPr/>
          <p:nvPr/>
        </p:nvSpPr>
        <p:spPr>
          <a:xfrm>
            <a:off x="274320" y="413040"/>
            <a:ext cx="9656064" cy="584775"/>
          </a:xfrm>
          <a:prstGeom prst="rect">
            <a:avLst/>
          </a:prstGeom>
        </p:spPr>
        <p:txBody>
          <a:bodyPr wrap="square">
            <a:spAutoFit/>
          </a:bodyPr>
          <a:lstStyle/>
          <a:p>
            <a:pPr algn="just" fontAlgn="base"/>
            <a:r>
              <a:rPr lang="en-US" sz="3200" b="1" dirty="0">
                <a:solidFill>
                  <a:srgbClr val="273239"/>
                </a:solidFill>
                <a:latin typeface="Nunito"/>
              </a:rPr>
              <a:t>contexts in which throughput is commonly used:</a:t>
            </a:r>
          </a:p>
        </p:txBody>
      </p:sp>
    </p:spTree>
    <p:extLst>
      <p:ext uri="{BB962C8B-B14F-4D97-AF65-F5344CB8AC3E}">
        <p14:creationId xmlns:p14="http://schemas.microsoft.com/office/powerpoint/2010/main" val="20712940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24</a:t>
            </a:fld>
            <a:endParaRPr lang="en-US"/>
          </a:p>
        </p:txBody>
      </p:sp>
      <p:sp>
        <p:nvSpPr>
          <p:cNvPr id="3" name="Rectangle 2"/>
          <p:cNvSpPr/>
          <p:nvPr/>
        </p:nvSpPr>
        <p:spPr>
          <a:xfrm>
            <a:off x="888762" y="230160"/>
            <a:ext cx="5894562" cy="584775"/>
          </a:xfrm>
          <a:prstGeom prst="rect">
            <a:avLst/>
          </a:prstGeom>
        </p:spPr>
        <p:txBody>
          <a:bodyPr wrap="none">
            <a:spAutoFit/>
          </a:bodyPr>
          <a:lstStyle/>
          <a:p>
            <a:pPr fontAlgn="base"/>
            <a:r>
              <a:rPr lang="en-IN" sz="3200" b="1" dirty="0">
                <a:solidFill>
                  <a:srgbClr val="273239"/>
                </a:solidFill>
                <a:latin typeface="+mn-lt"/>
              </a:rPr>
              <a:t>Factors affecting Throughput</a:t>
            </a:r>
          </a:p>
        </p:txBody>
      </p:sp>
      <p:sp>
        <p:nvSpPr>
          <p:cNvPr id="4" name="Rectangle 3"/>
          <p:cNvSpPr/>
          <p:nvPr/>
        </p:nvSpPr>
        <p:spPr>
          <a:xfrm>
            <a:off x="914400" y="2359152"/>
            <a:ext cx="9070848" cy="3970318"/>
          </a:xfrm>
          <a:prstGeom prst="rect">
            <a:avLst/>
          </a:prstGeom>
        </p:spPr>
        <p:txBody>
          <a:bodyPr wrap="square">
            <a:spAutoFit/>
          </a:bodyPr>
          <a:lstStyle/>
          <a:p>
            <a:pPr algn="just" fontAlgn="base">
              <a:buFont typeface="Arial" panose="020B0604020202020204" pitchFamily="34" charset="0"/>
              <a:buChar char="•"/>
            </a:pPr>
            <a:r>
              <a:rPr lang="en-US" sz="2800" dirty="0">
                <a:solidFill>
                  <a:srgbClr val="273239"/>
                </a:solidFill>
                <a:latin typeface="Nunito"/>
              </a:rPr>
              <a:t>Network Congestion</a:t>
            </a:r>
          </a:p>
          <a:p>
            <a:pPr algn="just" fontAlgn="base"/>
            <a:endParaRPr lang="en-US" sz="2800" dirty="0">
              <a:solidFill>
                <a:srgbClr val="273239"/>
              </a:solidFill>
              <a:latin typeface="Nunito"/>
            </a:endParaRPr>
          </a:p>
          <a:p>
            <a:pPr algn="just" fontAlgn="base">
              <a:buFont typeface="Arial" panose="020B0604020202020204" pitchFamily="34" charset="0"/>
              <a:buChar char="•"/>
            </a:pPr>
            <a:r>
              <a:rPr lang="en-US" sz="2800" dirty="0">
                <a:solidFill>
                  <a:srgbClr val="273239"/>
                </a:solidFill>
                <a:latin typeface="Nunito"/>
              </a:rPr>
              <a:t>Bandwidth Limitations</a:t>
            </a:r>
          </a:p>
          <a:p>
            <a:pPr algn="just" fontAlgn="base"/>
            <a:r>
              <a:rPr lang="en-US" sz="2800" dirty="0">
                <a:solidFill>
                  <a:srgbClr val="273239"/>
                </a:solidFill>
                <a:latin typeface="Nunito"/>
              </a:rPr>
              <a:t> </a:t>
            </a:r>
          </a:p>
          <a:p>
            <a:pPr algn="just" fontAlgn="base">
              <a:buFont typeface="Arial" panose="020B0604020202020204" pitchFamily="34" charset="0"/>
              <a:buChar char="•"/>
            </a:pPr>
            <a:r>
              <a:rPr lang="en-US" sz="2800" dirty="0">
                <a:solidFill>
                  <a:srgbClr val="273239"/>
                </a:solidFill>
                <a:latin typeface="Nunito"/>
              </a:rPr>
              <a:t>Hardware Performance</a:t>
            </a:r>
          </a:p>
          <a:p>
            <a:pPr algn="just" fontAlgn="base"/>
            <a:endParaRPr lang="en-US" sz="2800" dirty="0">
              <a:solidFill>
                <a:srgbClr val="273239"/>
              </a:solidFill>
              <a:latin typeface="Nunito"/>
            </a:endParaRPr>
          </a:p>
          <a:p>
            <a:pPr algn="just" fontAlgn="base">
              <a:buFont typeface="Arial" panose="020B0604020202020204" pitchFamily="34" charset="0"/>
              <a:buChar char="•"/>
            </a:pPr>
            <a:r>
              <a:rPr lang="en-US" sz="2800" dirty="0">
                <a:solidFill>
                  <a:srgbClr val="273239"/>
                </a:solidFill>
                <a:latin typeface="Nunito"/>
              </a:rPr>
              <a:t>Software Efficiency</a:t>
            </a:r>
          </a:p>
          <a:p>
            <a:pPr algn="just" fontAlgn="base"/>
            <a:r>
              <a:rPr lang="en-US" sz="2800" dirty="0">
                <a:solidFill>
                  <a:srgbClr val="273239"/>
                </a:solidFill>
                <a:latin typeface="Nunito"/>
              </a:rPr>
              <a:t> </a:t>
            </a:r>
          </a:p>
          <a:p>
            <a:pPr algn="just" fontAlgn="base">
              <a:buFont typeface="Arial" panose="020B0604020202020204" pitchFamily="34" charset="0"/>
              <a:buChar char="•"/>
            </a:pPr>
            <a:r>
              <a:rPr lang="en-US" sz="2800" dirty="0">
                <a:solidFill>
                  <a:srgbClr val="273239"/>
                </a:solidFill>
                <a:latin typeface="Nunito"/>
              </a:rPr>
              <a:t>Latency</a:t>
            </a:r>
          </a:p>
        </p:txBody>
      </p:sp>
    </p:spTree>
    <p:extLst>
      <p:ext uri="{BB962C8B-B14F-4D97-AF65-F5344CB8AC3E}">
        <p14:creationId xmlns:p14="http://schemas.microsoft.com/office/powerpoint/2010/main" val="20308815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25</a:t>
            </a:fld>
            <a:endParaRPr lang="en-US"/>
          </a:p>
        </p:txBody>
      </p:sp>
      <p:sp>
        <p:nvSpPr>
          <p:cNvPr id="3" name="Rectangle 2"/>
          <p:cNvSpPr/>
          <p:nvPr/>
        </p:nvSpPr>
        <p:spPr>
          <a:xfrm>
            <a:off x="1078992" y="402336"/>
            <a:ext cx="7735824" cy="584775"/>
          </a:xfrm>
          <a:prstGeom prst="rect">
            <a:avLst/>
          </a:prstGeom>
        </p:spPr>
        <p:txBody>
          <a:bodyPr wrap="square">
            <a:spAutoFit/>
          </a:bodyPr>
          <a:lstStyle/>
          <a:p>
            <a:pPr fontAlgn="base"/>
            <a:r>
              <a:rPr lang="en-IN" sz="3200" b="1" dirty="0">
                <a:solidFill>
                  <a:srgbClr val="273239"/>
                </a:solidFill>
                <a:latin typeface="Nunito"/>
              </a:rPr>
              <a:t>Methods to improve Throughput</a:t>
            </a:r>
          </a:p>
        </p:txBody>
      </p:sp>
      <p:sp>
        <p:nvSpPr>
          <p:cNvPr id="4" name="Rectangle 3"/>
          <p:cNvSpPr/>
          <p:nvPr/>
        </p:nvSpPr>
        <p:spPr>
          <a:xfrm>
            <a:off x="237744" y="1444752"/>
            <a:ext cx="13551408" cy="4832092"/>
          </a:xfrm>
          <a:prstGeom prst="rect">
            <a:avLst/>
          </a:prstGeom>
        </p:spPr>
        <p:txBody>
          <a:bodyPr wrap="square">
            <a:spAutoFit/>
          </a:bodyPr>
          <a:lstStyle/>
          <a:p>
            <a:pPr algn="just" fontAlgn="base">
              <a:buFont typeface="+mj-lt"/>
              <a:buAutoNum type="arabicPeriod"/>
            </a:pPr>
            <a:r>
              <a:rPr lang="en-US" sz="2800" b="1" dirty="0">
                <a:solidFill>
                  <a:srgbClr val="273239"/>
                </a:solidFill>
                <a:latin typeface="Nunito"/>
              </a:rPr>
              <a:t>Network Optimization:</a:t>
            </a:r>
            <a:endParaRPr lang="en-US" sz="2800" dirty="0">
              <a:solidFill>
                <a:srgbClr val="273239"/>
              </a:solidFill>
              <a:latin typeface="Nunito"/>
            </a:endParaRPr>
          </a:p>
          <a:p>
            <a:pPr marL="742950" lvl="1" indent="-285750" algn="just" fontAlgn="base">
              <a:buFont typeface="+mj-lt"/>
              <a:buAutoNum type="arabicPeriod"/>
            </a:pPr>
            <a:r>
              <a:rPr lang="en-US" sz="2800" dirty="0">
                <a:solidFill>
                  <a:srgbClr val="273239"/>
                </a:solidFill>
                <a:latin typeface="Nunito"/>
              </a:rPr>
              <a:t>Utilize efficient network protocols to minimize overhead.</a:t>
            </a:r>
          </a:p>
          <a:p>
            <a:pPr marL="742950" lvl="1" indent="-285750" algn="just" fontAlgn="base">
              <a:buFont typeface="+mj-lt"/>
              <a:buAutoNum type="arabicPeriod"/>
            </a:pPr>
            <a:r>
              <a:rPr lang="en-US" sz="2800" dirty="0">
                <a:solidFill>
                  <a:srgbClr val="273239"/>
                </a:solidFill>
                <a:latin typeface="Nunito"/>
              </a:rPr>
              <a:t>Optimize routing algorithms to reduce latency and packet loss.</a:t>
            </a:r>
          </a:p>
          <a:p>
            <a:pPr algn="just" fontAlgn="base"/>
            <a:r>
              <a:rPr lang="en-US" sz="2800" b="1" dirty="0">
                <a:solidFill>
                  <a:srgbClr val="357960"/>
                </a:solidFill>
                <a:latin typeface="Nunito"/>
              </a:rPr>
              <a:t>2</a:t>
            </a:r>
            <a:r>
              <a:rPr lang="en-US" sz="2800" b="1" dirty="0">
                <a:solidFill>
                  <a:srgbClr val="273239"/>
                </a:solidFill>
                <a:latin typeface="Nunito"/>
              </a:rPr>
              <a:t>: Load Balancing:</a:t>
            </a:r>
            <a:endParaRPr lang="en-US" sz="2800" dirty="0">
              <a:solidFill>
                <a:srgbClr val="273239"/>
              </a:solidFill>
              <a:latin typeface="Nunito"/>
            </a:endParaRPr>
          </a:p>
          <a:p>
            <a:pPr marL="457200" lvl="1" algn="just" fontAlgn="base"/>
            <a:r>
              <a:rPr lang="en-US" sz="2800" dirty="0">
                <a:solidFill>
                  <a:srgbClr val="273239"/>
                </a:solidFill>
                <a:latin typeface="Nunito"/>
              </a:rPr>
              <a:t>1. Distribute network traffic evenly across multiple servers or paths.</a:t>
            </a:r>
          </a:p>
          <a:p>
            <a:pPr marL="742950" lvl="1" indent="-285750" algn="just" fontAlgn="base">
              <a:buFont typeface="+mj-lt"/>
              <a:buAutoNum type="arabicPeriod" startAt="2"/>
            </a:pPr>
            <a:r>
              <a:rPr lang="en-US" sz="2800" dirty="0">
                <a:solidFill>
                  <a:srgbClr val="273239"/>
                </a:solidFill>
                <a:latin typeface="Nunito"/>
              </a:rPr>
              <a:t>Prevents resource overutilization on specific nodes, improving overall throughput.</a:t>
            </a:r>
          </a:p>
          <a:p>
            <a:pPr algn="just" fontAlgn="base">
              <a:buFont typeface="+mj-lt"/>
              <a:buAutoNum type="arabicPeriod" startAt="3"/>
            </a:pPr>
            <a:r>
              <a:rPr lang="en-US" sz="2800" b="1" dirty="0">
                <a:solidFill>
                  <a:srgbClr val="273239"/>
                </a:solidFill>
                <a:latin typeface="Nunito"/>
              </a:rPr>
              <a:t>Hardware Upgrades:</a:t>
            </a:r>
            <a:endParaRPr lang="en-US" sz="2800" dirty="0">
              <a:solidFill>
                <a:srgbClr val="273239"/>
              </a:solidFill>
              <a:latin typeface="Nunito"/>
            </a:endParaRPr>
          </a:p>
          <a:p>
            <a:pPr marL="457200" lvl="1" algn="just" fontAlgn="base"/>
            <a:r>
              <a:rPr lang="en-US" sz="2800" dirty="0">
                <a:solidFill>
                  <a:srgbClr val="273239"/>
                </a:solidFill>
                <a:latin typeface="Nunito"/>
              </a:rPr>
              <a:t>1. Upgrade network devices, such as routers, switches, and NICs, to higher-performing models.</a:t>
            </a:r>
          </a:p>
          <a:p>
            <a:pPr marL="457200" lvl="1" algn="just" fontAlgn="base"/>
            <a:r>
              <a:rPr lang="en-US" sz="2800" dirty="0">
                <a:solidFill>
                  <a:srgbClr val="273239"/>
                </a:solidFill>
                <a:latin typeface="Nunito"/>
              </a:rPr>
              <a:t>2. Ensure that servers and storage devices meet the demands of the workload.</a:t>
            </a:r>
          </a:p>
        </p:txBody>
      </p:sp>
    </p:spTree>
    <p:extLst>
      <p:ext uri="{BB962C8B-B14F-4D97-AF65-F5344CB8AC3E}">
        <p14:creationId xmlns:p14="http://schemas.microsoft.com/office/powerpoint/2010/main" val="23128843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26</a:t>
            </a:fld>
            <a:endParaRPr lang="en-US"/>
          </a:p>
        </p:txBody>
      </p:sp>
      <p:sp>
        <p:nvSpPr>
          <p:cNvPr id="3" name="Rectangle 2"/>
          <p:cNvSpPr/>
          <p:nvPr/>
        </p:nvSpPr>
        <p:spPr>
          <a:xfrm>
            <a:off x="731520" y="1267867"/>
            <a:ext cx="12362688" cy="5693866"/>
          </a:xfrm>
          <a:prstGeom prst="rect">
            <a:avLst/>
          </a:prstGeom>
        </p:spPr>
        <p:txBody>
          <a:bodyPr wrap="square">
            <a:spAutoFit/>
          </a:bodyPr>
          <a:lstStyle/>
          <a:p>
            <a:pPr algn="just" fontAlgn="base">
              <a:buFont typeface="+mj-lt"/>
              <a:buAutoNum type="arabicPeriod" startAt="4"/>
            </a:pPr>
            <a:r>
              <a:rPr lang="en-US" sz="2800" b="1" dirty="0">
                <a:solidFill>
                  <a:srgbClr val="273239"/>
                </a:solidFill>
                <a:latin typeface="Nunito"/>
              </a:rPr>
              <a:t>Software Optimization:</a:t>
            </a:r>
            <a:endParaRPr lang="en-US" sz="2800" dirty="0">
              <a:solidFill>
                <a:srgbClr val="273239"/>
              </a:solidFill>
              <a:latin typeface="Nunito"/>
            </a:endParaRPr>
          </a:p>
          <a:p>
            <a:pPr marL="457200" lvl="1" algn="just" fontAlgn="base"/>
            <a:r>
              <a:rPr lang="en-US" sz="2800" dirty="0">
                <a:solidFill>
                  <a:srgbClr val="273239"/>
                </a:solidFill>
                <a:latin typeface="Nunito"/>
              </a:rPr>
              <a:t>1. Optimize algorithms and code to reduce processing time.</a:t>
            </a:r>
          </a:p>
          <a:p>
            <a:pPr marL="457200" lvl="1" algn="just" fontAlgn="base"/>
            <a:r>
              <a:rPr lang="en-US" sz="2800" dirty="0">
                <a:solidFill>
                  <a:srgbClr val="273239"/>
                </a:solidFill>
                <a:latin typeface="Nunito"/>
              </a:rPr>
              <a:t>2. Minimize unnecessary computations and improve code efficiency.</a:t>
            </a:r>
          </a:p>
          <a:p>
            <a:pPr algn="just" fontAlgn="base">
              <a:buFont typeface="+mj-lt"/>
              <a:buAutoNum type="arabicPeriod" startAt="5"/>
            </a:pPr>
            <a:endParaRPr lang="en-US" sz="2800" b="1" dirty="0">
              <a:solidFill>
                <a:srgbClr val="273239"/>
              </a:solidFill>
              <a:latin typeface="Nunito"/>
            </a:endParaRPr>
          </a:p>
          <a:p>
            <a:pPr algn="just" fontAlgn="base">
              <a:buFont typeface="+mj-lt"/>
              <a:buAutoNum type="arabicPeriod" startAt="5"/>
            </a:pPr>
            <a:r>
              <a:rPr lang="en-US" sz="2800" b="1" dirty="0">
                <a:solidFill>
                  <a:srgbClr val="273239"/>
                </a:solidFill>
                <a:latin typeface="Nunito"/>
              </a:rPr>
              <a:t>Compression Techniques:</a:t>
            </a:r>
            <a:endParaRPr lang="en-US" sz="2800" dirty="0">
              <a:solidFill>
                <a:srgbClr val="273239"/>
              </a:solidFill>
              <a:latin typeface="Nunito"/>
            </a:endParaRPr>
          </a:p>
          <a:p>
            <a:pPr marL="457200" lvl="1" algn="just" fontAlgn="base"/>
            <a:r>
              <a:rPr lang="en-US" sz="2800" dirty="0">
                <a:solidFill>
                  <a:srgbClr val="273239"/>
                </a:solidFill>
                <a:latin typeface="Nunito"/>
              </a:rPr>
              <a:t>1. Use data compression to reduce the amount of data transmitted over the network.</a:t>
            </a:r>
          </a:p>
          <a:p>
            <a:pPr marL="457200" lvl="1" algn="just" fontAlgn="base"/>
            <a:r>
              <a:rPr lang="en-US" sz="2800" dirty="0">
                <a:solidFill>
                  <a:srgbClr val="273239"/>
                </a:solidFill>
                <a:latin typeface="Nunito"/>
              </a:rPr>
              <a:t>2. Decreases the time required for data transfer, improving throughput.</a:t>
            </a:r>
          </a:p>
          <a:p>
            <a:pPr algn="just" fontAlgn="base">
              <a:buFont typeface="+mj-lt"/>
              <a:buAutoNum type="arabicPeriod" startAt="6"/>
            </a:pPr>
            <a:r>
              <a:rPr lang="en-US" sz="2800" b="1" dirty="0">
                <a:solidFill>
                  <a:srgbClr val="273239"/>
                </a:solidFill>
                <a:latin typeface="Nunito"/>
              </a:rPr>
              <a:t>Caching Strategies:</a:t>
            </a:r>
            <a:endParaRPr lang="en-US" sz="2800" dirty="0">
              <a:solidFill>
                <a:srgbClr val="273239"/>
              </a:solidFill>
              <a:latin typeface="Nunito"/>
            </a:endParaRPr>
          </a:p>
          <a:p>
            <a:pPr marL="457200" lvl="1" algn="just" fontAlgn="base"/>
            <a:r>
              <a:rPr lang="en-US" sz="2800" dirty="0">
                <a:solidFill>
                  <a:srgbClr val="273239"/>
                </a:solidFill>
                <a:latin typeface="Nunito"/>
              </a:rPr>
              <a:t>1. Implement caching mechanisms to store and retrieve frequently used data locally.</a:t>
            </a:r>
          </a:p>
          <a:p>
            <a:pPr marL="457200" lvl="1" algn="just" fontAlgn="base"/>
            <a:r>
              <a:rPr lang="en-US" sz="2800" dirty="0">
                <a:solidFill>
                  <a:srgbClr val="273239"/>
                </a:solidFill>
                <a:latin typeface="Nunito"/>
              </a:rPr>
              <a:t>2. Reduces the need to fetch data from slower external sources, improving response times and throughput</a:t>
            </a:r>
            <a:r>
              <a:rPr lang="en-US" dirty="0">
                <a:solidFill>
                  <a:srgbClr val="273239"/>
                </a:solidFill>
                <a:latin typeface="Nunito"/>
              </a:rPr>
              <a:t>.</a:t>
            </a:r>
          </a:p>
        </p:txBody>
      </p:sp>
    </p:spTree>
    <p:extLst>
      <p:ext uri="{BB962C8B-B14F-4D97-AF65-F5344CB8AC3E}">
        <p14:creationId xmlns:p14="http://schemas.microsoft.com/office/powerpoint/2010/main" val="39625701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27</a:t>
            </a:fld>
            <a:endParaRPr lang="en-US"/>
          </a:p>
        </p:txBody>
      </p:sp>
      <p:sp>
        <p:nvSpPr>
          <p:cNvPr id="3" name="Rectangle 2"/>
          <p:cNvSpPr/>
          <p:nvPr/>
        </p:nvSpPr>
        <p:spPr>
          <a:xfrm>
            <a:off x="219456" y="321600"/>
            <a:ext cx="9418320" cy="954107"/>
          </a:xfrm>
          <a:prstGeom prst="rect">
            <a:avLst/>
          </a:prstGeom>
        </p:spPr>
        <p:txBody>
          <a:bodyPr wrap="square">
            <a:spAutoFit/>
          </a:bodyPr>
          <a:lstStyle/>
          <a:p>
            <a:pPr fontAlgn="base"/>
            <a:r>
              <a:rPr lang="en-US" sz="2800" b="1" dirty="0">
                <a:solidFill>
                  <a:srgbClr val="273239"/>
                </a:solidFill>
                <a:latin typeface="Nunito"/>
              </a:rPr>
              <a:t>Differences between Throughput and Latency (Throughput vs. Latency)</a:t>
            </a:r>
          </a:p>
        </p:txBody>
      </p:sp>
      <p:pic>
        <p:nvPicPr>
          <p:cNvPr id="4" name="Picture 3"/>
          <p:cNvPicPr>
            <a:picLocks noChangeAspect="1"/>
          </p:cNvPicPr>
          <p:nvPr/>
        </p:nvPicPr>
        <p:blipFill>
          <a:blip r:embed="rId2"/>
          <a:stretch>
            <a:fillRect/>
          </a:stretch>
        </p:blipFill>
        <p:spPr>
          <a:xfrm>
            <a:off x="804672" y="2296064"/>
            <a:ext cx="12124944" cy="5073999"/>
          </a:xfrm>
          <a:prstGeom prst="rect">
            <a:avLst/>
          </a:prstGeom>
        </p:spPr>
      </p:pic>
    </p:spTree>
    <p:extLst>
      <p:ext uri="{BB962C8B-B14F-4D97-AF65-F5344CB8AC3E}">
        <p14:creationId xmlns:p14="http://schemas.microsoft.com/office/powerpoint/2010/main" val="6478130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28</a:t>
            </a:fld>
            <a:endParaRPr lang="en-US"/>
          </a:p>
        </p:txBody>
      </p:sp>
      <p:pic>
        <p:nvPicPr>
          <p:cNvPr id="3" name="Picture 2"/>
          <p:cNvPicPr>
            <a:picLocks noChangeAspect="1"/>
          </p:cNvPicPr>
          <p:nvPr/>
        </p:nvPicPr>
        <p:blipFill>
          <a:blip r:embed="rId2"/>
          <a:stretch>
            <a:fillRect/>
          </a:stretch>
        </p:blipFill>
        <p:spPr>
          <a:xfrm>
            <a:off x="71260" y="1298448"/>
            <a:ext cx="13699604" cy="6309360"/>
          </a:xfrm>
          <a:prstGeom prst="rect">
            <a:avLst/>
          </a:prstGeom>
        </p:spPr>
      </p:pic>
    </p:spTree>
    <p:extLst>
      <p:ext uri="{BB962C8B-B14F-4D97-AF65-F5344CB8AC3E}">
        <p14:creationId xmlns:p14="http://schemas.microsoft.com/office/powerpoint/2010/main" val="28179855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29</a:t>
            </a:fld>
            <a:endParaRPr lang="en-US"/>
          </a:p>
        </p:txBody>
      </p:sp>
      <p:pic>
        <p:nvPicPr>
          <p:cNvPr id="3" name="Picture 2"/>
          <p:cNvPicPr>
            <a:picLocks noChangeAspect="1"/>
          </p:cNvPicPr>
          <p:nvPr/>
        </p:nvPicPr>
        <p:blipFill>
          <a:blip r:embed="rId2"/>
          <a:stretch>
            <a:fillRect/>
          </a:stretch>
        </p:blipFill>
        <p:spPr>
          <a:xfrm>
            <a:off x="621792" y="1517904"/>
            <a:ext cx="13258800" cy="5980176"/>
          </a:xfrm>
          <a:prstGeom prst="rect">
            <a:avLst/>
          </a:prstGeom>
        </p:spPr>
      </p:pic>
    </p:spTree>
    <p:extLst>
      <p:ext uri="{BB962C8B-B14F-4D97-AF65-F5344CB8AC3E}">
        <p14:creationId xmlns:p14="http://schemas.microsoft.com/office/powerpoint/2010/main" val="14002113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E91C302-4303-0B74-141B-99AA940E0AC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30</a:t>
            </a:fld>
            <a:endParaRPr lang="en-US"/>
          </a:p>
        </p:txBody>
      </p:sp>
      <p:sp>
        <p:nvSpPr>
          <p:cNvPr id="3" name="TextBox 2">
            <a:extLst>
              <a:ext uri="{FF2B5EF4-FFF2-40B4-BE49-F238E27FC236}">
                <a16:creationId xmlns:a16="http://schemas.microsoft.com/office/drawing/2014/main" id="{3FB8C851-D197-6765-BA06-E274CE8D33F4}"/>
              </a:ext>
            </a:extLst>
          </p:cNvPr>
          <p:cNvSpPr txBox="1"/>
          <p:nvPr/>
        </p:nvSpPr>
        <p:spPr>
          <a:xfrm>
            <a:off x="3535680" y="2773680"/>
            <a:ext cx="8092440" cy="1200329"/>
          </a:xfrm>
          <a:prstGeom prst="rect">
            <a:avLst/>
          </a:prstGeom>
          <a:noFill/>
        </p:spPr>
        <p:txBody>
          <a:bodyPr wrap="square" rtlCol="0">
            <a:spAutoFit/>
          </a:bodyPr>
          <a:lstStyle/>
          <a:p>
            <a:pPr algn="ctr"/>
            <a:r>
              <a:rPr lang="en-US" sz="7200" b="1" dirty="0"/>
              <a:t>THANK YOU</a:t>
            </a:r>
          </a:p>
        </p:txBody>
      </p:sp>
    </p:spTree>
    <p:extLst>
      <p:ext uri="{BB962C8B-B14F-4D97-AF65-F5344CB8AC3E}">
        <p14:creationId xmlns:p14="http://schemas.microsoft.com/office/powerpoint/2010/main" val="3239068967"/>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1870</TotalTime>
  <Words>2076</Words>
  <Application>Microsoft Macintosh PowerPoint</Application>
  <PresentationFormat>Custom</PresentationFormat>
  <Paragraphs>225</Paragraphs>
  <Slides>30</Slides>
  <Notes>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30</vt:i4>
      </vt:variant>
    </vt:vector>
  </HeadingPairs>
  <TitlesOfParts>
    <vt:vector size="37" baseType="lpstr">
      <vt:lpstr>Arial</vt:lpstr>
      <vt:lpstr>Calibri</vt:lpstr>
      <vt:lpstr>Google Sans</vt:lpstr>
      <vt:lpstr>Nunito</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Why is fault tolerance important?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Deepak Ahlawat</cp:lastModifiedBy>
  <cp:revision>58</cp:revision>
  <dcterms:modified xsi:type="dcterms:W3CDTF">2025-07-06T14:38:07Z</dcterms:modified>
</cp:coreProperties>
</file>