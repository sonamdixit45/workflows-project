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1" r:id="rId1"/>
  </p:sldMasterIdLst>
  <p:notesMasterIdLst>
    <p:notesMasterId r:id="rId8"/>
  </p:notesMasterIdLst>
  <p:sldIdLst>
    <p:sldId id="300" r:id="rId2"/>
    <p:sldId id="301" r:id="rId3"/>
    <p:sldId id="303" r:id="rId4"/>
    <p:sldId id="307" r:id="rId5"/>
    <p:sldId id="315" r:id="rId6"/>
    <p:sldId id="317" r:id="rId7"/>
  </p:sldIdLst>
  <p:sldSz cx="14330363" cy="8231188"/>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2593">
          <p15:clr>
            <a:srgbClr val="A4A3A4"/>
          </p15:clr>
        </p15:guide>
        <p15:guide id="4" pos="4579">
          <p15:clr>
            <a:srgbClr val="A4A3A4"/>
          </p15:clr>
        </p15:guide>
        <p15:guide id="5" orient="horz" pos="2079">
          <p15:clr>
            <a:srgbClr val="A4A3A4"/>
          </p15:clr>
        </p15:guide>
        <p15:guide id="6" orient="horz" pos="2496">
          <p15:clr>
            <a:srgbClr val="A4A3A4"/>
          </p15:clr>
        </p15:guide>
        <p15:guide id="7" orient="horz" pos="2245">
          <p15:clr>
            <a:srgbClr val="A4A3A4"/>
          </p15:clr>
        </p15:guide>
        <p15:guide id="8" orient="horz" pos="2694">
          <p15:clr>
            <a:srgbClr val="A4A3A4"/>
          </p15:clr>
        </p15:guide>
        <p15:guide id="9" orient="horz" pos="2162">
          <p15:clr>
            <a:srgbClr val="A4A3A4"/>
          </p15:clr>
        </p15:guide>
        <p15:guide id="10" orient="horz" pos="2594">
          <p15:clr>
            <a:srgbClr val="A4A3A4"/>
          </p15:clr>
        </p15:guide>
        <p15:guide id="11" pos="3785">
          <p15:clr>
            <a:srgbClr val="A4A3A4"/>
          </p15:clr>
        </p15:guide>
        <p15:guide id="12" pos="451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2" d="100"/>
          <a:sy n="52" d="100"/>
        </p:scale>
        <p:origin x="860" y="48"/>
      </p:cViewPr>
      <p:guideLst>
        <p:guide orient="horz" pos="2160"/>
        <p:guide pos="3840"/>
        <p:guide orient="horz" pos="2593"/>
        <p:guide pos="4579"/>
        <p:guide orient="horz" pos="2079"/>
        <p:guide orient="horz" pos="2496"/>
        <p:guide orient="horz" pos="2245"/>
        <p:guide orient="horz" pos="2694"/>
        <p:guide orient="horz" pos="2162"/>
        <p:guide orient="horz" pos="2594"/>
        <p:guide pos="3785"/>
        <p:guide pos="451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444500" y="685800"/>
            <a:ext cx="5969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6"/>
        <p:cNvGrpSpPr/>
        <p:nvPr/>
      </p:nvGrpSpPr>
      <p:grpSpPr>
        <a:xfrm>
          <a:off x="0" y="0"/>
          <a:ext cx="0" cy="0"/>
          <a:chOff x="0" y="0"/>
          <a:chExt cx="0" cy="0"/>
        </a:xfrm>
      </p:grpSpPr>
      <p:sp>
        <p:nvSpPr>
          <p:cNvPr id="37" name="Google Shape;37;p3"/>
          <p:cNvSpPr txBox="1">
            <a:spLocks noGrp="1"/>
          </p:cNvSpPr>
          <p:nvPr>
            <p:ph type="dt" idx="10"/>
          </p:nvPr>
        </p:nvSpPr>
        <p:spPr>
          <a:xfrm>
            <a:off x="716518" y="7629104"/>
            <a:ext cx="3343752" cy="4382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
          <p:cNvSpPr txBox="1">
            <a:spLocks noGrp="1"/>
          </p:cNvSpPr>
          <p:nvPr>
            <p:ph type="ftr" idx="11"/>
          </p:nvPr>
        </p:nvSpPr>
        <p:spPr>
          <a:xfrm>
            <a:off x="4896212" y="7629104"/>
            <a:ext cx="4537948" cy="4382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
          <p:cNvSpPr txBox="1">
            <a:spLocks noGrp="1"/>
          </p:cNvSpPr>
          <p:nvPr>
            <p:ph type="sldNum" idx="12"/>
          </p:nvPr>
        </p:nvSpPr>
        <p:spPr>
          <a:xfrm>
            <a:off x="10270093" y="7629104"/>
            <a:ext cx="3343752" cy="438234"/>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 y="2"/>
            <a:ext cx="10150674" cy="100603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1"/>
          <p:cNvSpPr txBox="1">
            <a:spLocks noGrp="1"/>
          </p:cNvSpPr>
          <p:nvPr>
            <p:ph type="body" idx="1"/>
          </p:nvPr>
        </p:nvSpPr>
        <p:spPr>
          <a:xfrm>
            <a:off x="716522" y="1646250"/>
            <a:ext cx="12897326" cy="543220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716518" y="7629104"/>
            <a:ext cx="3343752" cy="43823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4896212" y="7629104"/>
            <a:ext cx="4537948" cy="43823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10270093" y="7629104"/>
            <a:ext cx="3343752" cy="43823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1"/>
          <p:cNvSpPr/>
          <p:nvPr/>
        </p:nvSpPr>
        <p:spPr>
          <a:xfrm>
            <a:off x="6" y="2"/>
            <a:ext cx="14330363" cy="1006034"/>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 name="Google Shape;16;p1"/>
          <p:cNvSpPr/>
          <p:nvPr/>
        </p:nvSpPr>
        <p:spPr>
          <a:xfrm rot="10800000" flipH="1">
            <a:off x="6" y="8048276"/>
            <a:ext cx="14330363" cy="23778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7" name="Google Shape;17;p1" descr="LOGO.gif"/>
          <p:cNvPicPr preferRelativeResize="0"/>
          <p:nvPr/>
        </p:nvPicPr>
        <p:blipFill rotWithShape="1">
          <a:blip r:embed="rId3">
            <a:alphaModFix/>
          </a:blip>
          <a:srcRect b="10713"/>
          <a:stretch/>
        </p:blipFill>
        <p:spPr>
          <a:xfrm>
            <a:off x="10270103" y="274375"/>
            <a:ext cx="3224332" cy="762147"/>
          </a:xfrm>
          <a:prstGeom prst="rect">
            <a:avLst/>
          </a:prstGeom>
          <a:noFill/>
          <a:ln>
            <a:noFill/>
          </a:ln>
        </p:spPr>
      </p:pic>
      <p:pic>
        <p:nvPicPr>
          <p:cNvPr id="18" name="Google Shape;18;p1" descr="LOGO.gif"/>
          <p:cNvPicPr preferRelativeResize="0"/>
          <p:nvPr/>
        </p:nvPicPr>
        <p:blipFill rotWithShape="1">
          <a:blip r:embed="rId3">
            <a:alphaModFix/>
          </a:blip>
          <a:srcRect b="10713"/>
          <a:stretch/>
        </p:blipFill>
        <p:spPr>
          <a:xfrm>
            <a:off x="10270103" y="274375"/>
            <a:ext cx="3224332" cy="762147"/>
          </a:xfrm>
          <a:prstGeom prst="rect">
            <a:avLst/>
          </a:prstGeom>
          <a:noFill/>
          <a:ln>
            <a:noFill/>
          </a:ln>
        </p:spPr>
      </p:pic>
      <p:grpSp>
        <p:nvGrpSpPr>
          <p:cNvPr id="19" name="Google Shape;19;p1"/>
          <p:cNvGrpSpPr/>
          <p:nvPr/>
        </p:nvGrpSpPr>
        <p:grpSpPr>
          <a:xfrm>
            <a:off x="9633189" y="2"/>
            <a:ext cx="4697174" cy="1051763"/>
            <a:chOff x="6096000" y="3924300"/>
            <a:chExt cx="2997200" cy="876300"/>
          </a:xfrm>
        </p:grpSpPr>
        <p:sp>
          <p:nvSpPr>
            <p:cNvPr id="20" name="Google Shape;20;p1"/>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1" name="Google Shape;21;p1" descr="LOGO.gif"/>
            <p:cNvPicPr preferRelativeResize="0"/>
            <p:nvPr/>
          </p:nvPicPr>
          <p:blipFill rotWithShape="1">
            <a:blip r:embed="rId3">
              <a:alphaModFix/>
            </a:blip>
            <a:srcRect b="10713"/>
            <a:stretch/>
          </p:blipFill>
          <p:spPr>
            <a:xfrm>
              <a:off x="6502400" y="4152900"/>
              <a:ext cx="2057400" cy="635000"/>
            </a:xfrm>
            <a:prstGeom prst="rect">
              <a:avLst/>
            </a:prstGeom>
            <a:noFill/>
            <a:ln>
              <a:noFill/>
            </a:ln>
          </p:spPr>
        </p:pic>
        <p:sp>
          <p:nvSpPr>
            <p:cNvPr id="22" name="Google Shape;22;p1"/>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23" name="Google Shape;23;p1" descr="logo.jpg"/>
          <p:cNvPicPr preferRelativeResize="0"/>
          <p:nvPr/>
        </p:nvPicPr>
        <p:blipFill rotWithShape="1">
          <a:blip r:embed="rId4">
            <a:alphaModFix/>
          </a:blip>
          <a:srcRect/>
          <a:stretch/>
        </p:blipFill>
        <p:spPr>
          <a:xfrm>
            <a:off x="10270101" y="274378"/>
            <a:ext cx="3010371" cy="73166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eeksforgeeks.org/caching-system-design-concept-for-beginners/" TargetMode="External"/><Relationship Id="rId2" Type="http://schemas.openxmlformats.org/officeDocument/2006/relationships/hyperlink" Target="https://www.geeksforgeeks.org/what-is-scalability-and-how-to-achieve-it-learn-system-design/" TargetMode="External"/><Relationship Id="rId1" Type="http://schemas.openxmlformats.org/officeDocument/2006/relationships/slideLayout" Target="../slideLayouts/slideLayout1.xml"/><Relationship Id="rId4" Type="http://schemas.openxmlformats.org/officeDocument/2006/relationships/hyperlink" Target="https://www.geeksforgeeks.org/what-is-load-balancer-system-design/"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www.geeksforgeeks.org/what-is-load-balancer-system-design/" TargetMode="External"/><Relationship Id="rId2" Type="http://schemas.openxmlformats.org/officeDocument/2006/relationships/hyperlink" Target="https://www.geeksforgeeks.org/caching-system-design-concept-for-beginners/" TargetMode="External"/><Relationship Id="rId1" Type="http://schemas.openxmlformats.org/officeDocument/2006/relationships/slideLayout" Target="../slideLayouts/slideLayout1.xml"/><Relationship Id="rId4" Type="http://schemas.openxmlformats.org/officeDocument/2006/relationships/hyperlink" Target="https://www.geeksforgeeks.org/latency-in-system-design/"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s://www.geeksforgeeks.org/reliability-in-system-design/"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www.geeksforgeeks.org/resilient-system-system-design/"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B76F40-502E-7D9A-F0C8-0AB81153FC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
        <p:nvSpPr>
          <p:cNvPr id="3" name="TextBox 2">
            <a:extLst>
              <a:ext uri="{FF2B5EF4-FFF2-40B4-BE49-F238E27FC236}">
                <a16:creationId xmlns:a16="http://schemas.microsoft.com/office/drawing/2014/main" id="{2F2A7572-3617-7B7F-520A-C1FAF84B4BAB}"/>
              </a:ext>
            </a:extLst>
          </p:cNvPr>
          <p:cNvSpPr txBox="1"/>
          <p:nvPr/>
        </p:nvSpPr>
        <p:spPr>
          <a:xfrm>
            <a:off x="0" y="0"/>
            <a:ext cx="6449568"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Performance vs Scalability</a:t>
            </a:r>
            <a:endParaRPr lang="en-IN" sz="3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25FBA81-8C0F-D7C7-A45E-E78596DED10E}"/>
              </a:ext>
            </a:extLst>
          </p:cNvPr>
          <p:cNvSpPr txBox="1"/>
          <p:nvPr/>
        </p:nvSpPr>
        <p:spPr>
          <a:xfrm>
            <a:off x="85344" y="1121664"/>
            <a:ext cx="14069568" cy="5940088"/>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Performance vs Scalability in System Design explores how systems balance speed (performance) and ability to handle growth (</a:t>
            </a:r>
            <a:r>
              <a:rPr lang="en-US" sz="2000" dirty="0">
                <a:latin typeface="Times New Roman" panose="02020603050405020304" pitchFamily="18" charset="0"/>
                <a:cs typeface="Times New Roman" panose="02020603050405020304" pitchFamily="18" charset="0"/>
                <a:hlinkClick r:id="rId2"/>
              </a:rPr>
              <a:t>scalability</a:t>
            </a:r>
            <a:r>
              <a:rPr lang="en-US" sz="2000" dirty="0">
                <a:latin typeface="Times New Roman" panose="02020603050405020304" pitchFamily="18" charset="0"/>
                <a:cs typeface="Times New Roman" panose="02020603050405020304" pitchFamily="18" charset="0"/>
              </a:rPr>
              <a:t>). Imagine a race car (performance) and a bus (scalability). The car zooms quickly but can't carry many passengers, while the bus carries lots but moves slower. </a:t>
            </a:r>
          </a:p>
          <a:p>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Similarly, in tech, a system may be super fast but crash with too many users (like the car), or handle many users but slow down (like the bus).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Designing systems requires finding the right balance that is, fast enough for current needs, yet flexible to grow with demand.</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What is Performance?</a:t>
            </a:r>
          </a:p>
          <a:p>
            <a:r>
              <a:rPr lang="en-US" sz="2000" dirty="0">
                <a:latin typeface="Times New Roman" panose="02020603050405020304" pitchFamily="18" charset="0"/>
                <a:cs typeface="Times New Roman" panose="02020603050405020304" pitchFamily="18" charset="0"/>
              </a:rPr>
              <a:t>Performance in system design refers to how well a system executes tasks or processes within a given timeframe. It encompasses factors like speed, responsiveness, throughput, and resource utilization. </a:t>
            </a:r>
          </a:p>
          <a:p>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For instance, a high-performance system might process a large amount of data quickly, respond to user inputs rapidly, and efficiently utilize system resources such as CPU, memory, and network bandwidth.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Performance optimization involves techniques such as code optimization, </a:t>
            </a:r>
            <a:r>
              <a:rPr lang="en-US" sz="2000" dirty="0">
                <a:latin typeface="Times New Roman" panose="02020603050405020304" pitchFamily="18" charset="0"/>
                <a:cs typeface="Times New Roman" panose="02020603050405020304" pitchFamily="18" charset="0"/>
                <a:hlinkClick r:id="rId3"/>
              </a:rPr>
              <a:t>caching</a:t>
            </a:r>
            <a:r>
              <a:rPr 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hlinkClick r:id="rId4"/>
              </a:rPr>
              <a:t>load balancing</a:t>
            </a:r>
            <a:r>
              <a:rPr lang="en-US" sz="2000" dirty="0">
                <a:latin typeface="Times New Roman" panose="02020603050405020304" pitchFamily="18" charset="0"/>
                <a:cs typeface="Times New Roman" panose="02020603050405020304" pitchFamily="18" charset="0"/>
              </a:rPr>
              <a:t>, and hardware upgrades to ensure that a system meets its performance requirements and delivers a smooth user experience.</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2063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DC4E18-0CFD-7D45-EC1F-BCB4BEDBA44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
        <p:nvSpPr>
          <p:cNvPr id="4" name="TextBox 3">
            <a:extLst>
              <a:ext uri="{FF2B5EF4-FFF2-40B4-BE49-F238E27FC236}">
                <a16:creationId xmlns:a16="http://schemas.microsoft.com/office/drawing/2014/main" id="{4DA4EAE4-6B13-113F-775A-904F1CB443BC}"/>
              </a:ext>
            </a:extLst>
          </p:cNvPr>
          <p:cNvSpPr txBox="1"/>
          <p:nvPr/>
        </p:nvSpPr>
        <p:spPr>
          <a:xfrm>
            <a:off x="423005" y="984804"/>
            <a:ext cx="13484352" cy="6863417"/>
          </a:xfrm>
          <a:prstGeom prst="rect">
            <a:avLst/>
          </a:prstGeom>
          <a:noFill/>
        </p:spPr>
        <p:txBody>
          <a:bodyPr wrap="square">
            <a:spAutoFit/>
          </a:bodyPr>
          <a:lstStyle/>
          <a:p>
            <a:pPr rtl="0">
              <a:buNone/>
            </a:pPr>
            <a:r>
              <a:rPr lang="en-US" sz="2000" dirty="0">
                <a:latin typeface="Times New Roman" panose="02020603050405020304" pitchFamily="18" charset="0"/>
                <a:cs typeface="Times New Roman" panose="02020603050405020304" pitchFamily="18" charset="0"/>
              </a:rPr>
              <a:t>Performance optimization techniques in system design involve various strategies aimed at improving the speed, efficiency, and resource utilization of a system. Some common techniques include:</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Code optimization: </a:t>
            </a:r>
            <a:endParaRPr lang="en-US" sz="2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Refining algorithms and code structures to minimize execution time and resource consumption. This can involve eliminating redundant operations, reducing algorithmic complexity, and optimizing loops and data structures.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hlinkClick r:id="rId2"/>
              </a:rPr>
              <a:t>Caching</a:t>
            </a:r>
            <a:r>
              <a:rPr lang="en-US" sz="2000" b="1"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Storing frequently accessed data or computed results in fast-access memory (cache) to reduce the need for repeated computations or database queries. Caching can significantly improve response times for frequently requested data.</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hlinkClick r:id="rId3"/>
              </a:rPr>
              <a:t>Load balancing</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Distributing incoming requests or tasks evenly across multiple servers or resources to prevent overloading any single component. Load balancers can dynamically adjust resource allocation based on current demand to optimize performance.</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Parallelism and concurrency:</a:t>
            </a:r>
            <a:r>
              <a:rPr lang="en-US" sz="20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Leveraging multiple threads or processes to execute tasks simultaneously, thereby utilizing available resources more efficiently and reducing overall processing time. Techniques such as parallel processing, asynchronous programming, and multi-threading can enhance system performance.</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Database optimization:</a:t>
            </a:r>
            <a:r>
              <a:rPr lang="en-US" sz="20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Optimizing database queries, indexing, and schema design to improve data retrieval speed and reduce </a:t>
            </a:r>
            <a:r>
              <a:rPr lang="en-US" sz="2000" dirty="0">
                <a:latin typeface="Times New Roman" panose="02020603050405020304" pitchFamily="18" charset="0"/>
                <a:cs typeface="Times New Roman" panose="02020603050405020304" pitchFamily="18" charset="0"/>
                <a:hlinkClick r:id="rId4"/>
              </a:rPr>
              <a:t>latency</a:t>
            </a:r>
            <a:r>
              <a:rPr lang="en-US" sz="2000" dirty="0">
                <a:latin typeface="Times New Roman" panose="02020603050405020304" pitchFamily="18" charset="0"/>
                <a:cs typeface="Times New Roman" panose="02020603050405020304" pitchFamily="18" charset="0"/>
              </a:rPr>
              <a:t>. Techniques like query optimization, index optimization, and denormalization can enhance database performance.</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Resource pooling and reuse: </a:t>
            </a:r>
            <a:endParaRPr lang="en-US" sz="20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Reusing existing resources, connections, or objects rather than creating new ones for each request, reducing overhead and improving efficiency. Techniques like connection pooling in database connections or object pooling in object-oriented programming can help conserve resources.</a:t>
            </a:r>
          </a:p>
        </p:txBody>
      </p:sp>
      <p:sp>
        <p:nvSpPr>
          <p:cNvPr id="5" name="TextBox 4">
            <a:extLst>
              <a:ext uri="{FF2B5EF4-FFF2-40B4-BE49-F238E27FC236}">
                <a16:creationId xmlns:a16="http://schemas.microsoft.com/office/drawing/2014/main" id="{04A3AFD8-BABE-539B-EA46-399100C147A5}"/>
              </a:ext>
            </a:extLst>
          </p:cNvPr>
          <p:cNvSpPr txBox="1"/>
          <p:nvPr/>
        </p:nvSpPr>
        <p:spPr>
          <a:xfrm>
            <a:off x="280416" y="0"/>
            <a:ext cx="8802624" cy="800219"/>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Performance Optimization Techniques</a:t>
            </a:r>
          </a:p>
          <a:p>
            <a:endParaRPr lang="en-IN" dirty="0"/>
          </a:p>
        </p:txBody>
      </p:sp>
    </p:spTree>
    <p:extLst>
      <p:ext uri="{BB962C8B-B14F-4D97-AF65-F5344CB8AC3E}">
        <p14:creationId xmlns:p14="http://schemas.microsoft.com/office/powerpoint/2010/main" val="2643735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7A9339-B59E-2915-44E3-3CB63CA2F65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3" name="TextBox 2">
            <a:extLst>
              <a:ext uri="{FF2B5EF4-FFF2-40B4-BE49-F238E27FC236}">
                <a16:creationId xmlns:a16="http://schemas.microsoft.com/office/drawing/2014/main" id="{85886902-C150-CA89-A2AF-B95DECB5DFF2}"/>
              </a:ext>
            </a:extLst>
          </p:cNvPr>
          <p:cNvSpPr txBox="1"/>
          <p:nvPr/>
        </p:nvSpPr>
        <p:spPr>
          <a:xfrm>
            <a:off x="243840" y="0"/>
            <a:ext cx="5986272" cy="800219"/>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Performance vs. Scalability</a:t>
            </a:r>
          </a:p>
          <a:p>
            <a:endParaRPr lang="en-IN" dirty="0"/>
          </a:p>
        </p:txBody>
      </p:sp>
      <p:graphicFrame>
        <p:nvGraphicFramePr>
          <p:cNvPr id="4" name="Table 3">
            <a:extLst>
              <a:ext uri="{FF2B5EF4-FFF2-40B4-BE49-F238E27FC236}">
                <a16:creationId xmlns:a16="http://schemas.microsoft.com/office/drawing/2014/main" id="{B683A4D7-50D0-F0DB-E639-252E9BFDCE00}"/>
              </a:ext>
            </a:extLst>
          </p:cNvPr>
          <p:cNvGraphicFramePr>
            <a:graphicFrameLocks noGrp="1"/>
          </p:cNvGraphicFramePr>
          <p:nvPr>
            <p:extLst>
              <p:ext uri="{D42A27DB-BD31-4B8C-83A1-F6EECF244321}">
                <p14:modId xmlns:p14="http://schemas.microsoft.com/office/powerpoint/2010/main" val="3766634677"/>
              </p:ext>
            </p:extLst>
          </p:nvPr>
        </p:nvGraphicFramePr>
        <p:xfrm>
          <a:off x="594598" y="1309021"/>
          <a:ext cx="13450586" cy="4876800"/>
        </p:xfrm>
        <a:graphic>
          <a:graphicData uri="http://schemas.openxmlformats.org/drawingml/2006/table">
            <a:tbl>
              <a:tblPr firstRow="1" bandRow="1">
                <a:tableStyleId>{5C22544A-7EE6-4342-B048-85BDC9FD1C3A}</a:tableStyleId>
              </a:tblPr>
              <a:tblGrid>
                <a:gridCol w="2915288">
                  <a:extLst>
                    <a:ext uri="{9D8B030D-6E8A-4147-A177-3AD203B41FA5}">
                      <a16:colId xmlns:a16="http://schemas.microsoft.com/office/drawing/2014/main" val="3390996132"/>
                    </a:ext>
                  </a:extLst>
                </a:gridCol>
                <a:gridCol w="5268354">
                  <a:extLst>
                    <a:ext uri="{9D8B030D-6E8A-4147-A177-3AD203B41FA5}">
                      <a16:colId xmlns:a16="http://schemas.microsoft.com/office/drawing/2014/main" val="4119871981"/>
                    </a:ext>
                  </a:extLst>
                </a:gridCol>
                <a:gridCol w="5266944">
                  <a:extLst>
                    <a:ext uri="{9D8B030D-6E8A-4147-A177-3AD203B41FA5}">
                      <a16:colId xmlns:a16="http://schemas.microsoft.com/office/drawing/2014/main" val="232528007"/>
                    </a:ext>
                  </a:extLst>
                </a:gridCol>
              </a:tblGrid>
              <a:tr h="370840">
                <a:tc>
                  <a:txBody>
                    <a:bodyPr/>
                    <a:lstStyle/>
                    <a:p>
                      <a:pPr algn="l" rtl="0">
                        <a:buNone/>
                      </a:pPr>
                      <a:r>
                        <a:rPr lang="en-IN" sz="2000" dirty="0">
                          <a:effectLst/>
                          <a:latin typeface="Times New Roman" panose="02020603050405020304" pitchFamily="18" charset="0"/>
                          <a:cs typeface="Times New Roman" panose="02020603050405020304" pitchFamily="18" charset="0"/>
                        </a:rPr>
                        <a:t>Aspect </a:t>
                      </a:r>
                    </a:p>
                  </a:txBody>
                  <a:tcPr anchor="ctr"/>
                </a:tc>
                <a:tc>
                  <a:txBody>
                    <a:bodyPr/>
                    <a:lstStyle/>
                    <a:p>
                      <a:pPr algn="ctr" rtl="0">
                        <a:buNone/>
                      </a:pPr>
                      <a:r>
                        <a:rPr lang="en-IN" sz="2000" dirty="0">
                          <a:effectLst/>
                          <a:latin typeface="Times New Roman" panose="02020603050405020304" pitchFamily="18" charset="0"/>
                          <a:cs typeface="Times New Roman" panose="02020603050405020304" pitchFamily="18" charset="0"/>
                        </a:rPr>
                        <a:t>Performance </a:t>
                      </a:r>
                    </a:p>
                  </a:txBody>
                  <a:tcPr anchor="ctr"/>
                </a:tc>
                <a:tc>
                  <a:txBody>
                    <a:bodyPr/>
                    <a:lstStyle/>
                    <a:p>
                      <a:pPr algn="ctr" rtl="0">
                        <a:buNone/>
                      </a:pPr>
                      <a:r>
                        <a:rPr lang="en-IN" sz="2000">
                          <a:effectLst/>
                          <a:latin typeface="Times New Roman" panose="02020603050405020304" pitchFamily="18" charset="0"/>
                          <a:cs typeface="Times New Roman" panose="02020603050405020304" pitchFamily="18" charset="0"/>
                        </a:rPr>
                        <a:t>Scalability</a:t>
                      </a:r>
                    </a:p>
                  </a:txBody>
                  <a:tcPr anchor="ctr"/>
                </a:tc>
                <a:extLst>
                  <a:ext uri="{0D108BD9-81ED-4DB2-BD59-A6C34878D82A}">
                    <a16:rowId xmlns:a16="http://schemas.microsoft.com/office/drawing/2014/main" val="3060985732"/>
                  </a:ext>
                </a:extLst>
              </a:tr>
              <a:tr h="370840">
                <a:tc>
                  <a:txBody>
                    <a:bodyPr/>
                    <a:lstStyle/>
                    <a:p>
                      <a:pPr rtl="0">
                        <a:buNone/>
                      </a:pPr>
                      <a:r>
                        <a:rPr lang="en-IN" sz="2000" b="1">
                          <a:latin typeface="Times New Roman" panose="02020603050405020304" pitchFamily="18" charset="0"/>
                          <a:cs typeface="Times New Roman" panose="02020603050405020304" pitchFamily="18" charset="0"/>
                        </a:rPr>
                        <a:t>Definition</a:t>
                      </a:r>
                    </a:p>
                  </a:txBody>
                  <a:tcPr anchor="ctr"/>
                </a:tc>
                <a:tc>
                  <a:txBody>
                    <a:bodyPr/>
                    <a:lstStyle/>
                    <a:p>
                      <a:pPr rtl="0">
                        <a:buNone/>
                      </a:pPr>
                      <a:r>
                        <a:rPr lang="en-US" sz="2000">
                          <a:latin typeface="Times New Roman" panose="02020603050405020304" pitchFamily="18" charset="0"/>
                          <a:cs typeface="Times New Roman" panose="02020603050405020304" pitchFamily="18" charset="0"/>
                        </a:rPr>
                        <a:t>Focuses on optimizing speed and responsiveness</a:t>
                      </a:r>
                    </a:p>
                  </a:txBody>
                  <a:tcPr anchor="ctr"/>
                </a:tc>
                <a:tc>
                  <a:txBody>
                    <a:bodyPr/>
                    <a:lstStyle/>
                    <a:p>
                      <a:pPr rtl="0">
                        <a:buNone/>
                      </a:pPr>
                      <a:r>
                        <a:rPr lang="en-US" sz="2000">
                          <a:latin typeface="Times New Roman" panose="02020603050405020304" pitchFamily="18" charset="0"/>
                          <a:cs typeface="Times New Roman" panose="02020603050405020304" pitchFamily="18" charset="0"/>
                        </a:rPr>
                        <a:t>Focuses on handling increasing workload or users</a:t>
                      </a:r>
                    </a:p>
                  </a:txBody>
                  <a:tcPr anchor="ctr"/>
                </a:tc>
                <a:extLst>
                  <a:ext uri="{0D108BD9-81ED-4DB2-BD59-A6C34878D82A}">
                    <a16:rowId xmlns:a16="http://schemas.microsoft.com/office/drawing/2014/main" val="3943054453"/>
                  </a:ext>
                </a:extLst>
              </a:tr>
              <a:tr h="370840">
                <a:tc>
                  <a:txBody>
                    <a:bodyPr/>
                    <a:lstStyle/>
                    <a:p>
                      <a:pPr rtl="0">
                        <a:buNone/>
                      </a:pPr>
                      <a:r>
                        <a:rPr lang="en-IN" sz="2000" b="1">
                          <a:latin typeface="Times New Roman" panose="02020603050405020304" pitchFamily="18" charset="0"/>
                          <a:cs typeface="Times New Roman" panose="02020603050405020304" pitchFamily="18" charset="0"/>
                        </a:rPr>
                        <a:t>Goal</a:t>
                      </a:r>
                    </a:p>
                  </a:txBody>
                  <a:tcPr anchor="ctr"/>
                </a:tc>
                <a:tc>
                  <a:txBody>
                    <a:bodyPr/>
                    <a:lstStyle/>
                    <a:p>
                      <a:pPr rtl="0">
                        <a:buNone/>
                      </a:pPr>
                      <a:r>
                        <a:rPr lang="en-US" sz="2000">
                          <a:latin typeface="Times New Roman" panose="02020603050405020304" pitchFamily="18" charset="0"/>
                          <a:cs typeface="Times New Roman" panose="02020603050405020304" pitchFamily="18" charset="0"/>
                        </a:rPr>
                        <a:t>Achieve maximum efficiency for current tasks</a:t>
                      </a:r>
                    </a:p>
                  </a:txBody>
                  <a:tcPr anchor="ctr"/>
                </a:tc>
                <a:tc>
                  <a:txBody>
                    <a:bodyPr/>
                    <a:lstStyle/>
                    <a:p>
                      <a:pPr rtl="0">
                        <a:buNone/>
                      </a:pPr>
                      <a:r>
                        <a:rPr lang="en-US" sz="2000">
                          <a:latin typeface="Times New Roman" panose="02020603050405020304" pitchFamily="18" charset="0"/>
                          <a:cs typeface="Times New Roman" panose="02020603050405020304" pitchFamily="18" charset="0"/>
                        </a:rPr>
                        <a:t>Accommodate growing demands without slowdown</a:t>
                      </a:r>
                    </a:p>
                  </a:txBody>
                  <a:tcPr anchor="ctr"/>
                </a:tc>
                <a:extLst>
                  <a:ext uri="{0D108BD9-81ED-4DB2-BD59-A6C34878D82A}">
                    <a16:rowId xmlns:a16="http://schemas.microsoft.com/office/drawing/2014/main" val="2420653858"/>
                  </a:ext>
                </a:extLst>
              </a:tr>
              <a:tr h="370840">
                <a:tc>
                  <a:txBody>
                    <a:bodyPr/>
                    <a:lstStyle/>
                    <a:p>
                      <a:pPr rtl="0">
                        <a:buNone/>
                      </a:pPr>
                      <a:r>
                        <a:rPr lang="en-IN" sz="2000" b="1">
                          <a:latin typeface="Times New Roman" panose="02020603050405020304" pitchFamily="18" charset="0"/>
                          <a:cs typeface="Times New Roman" panose="02020603050405020304" pitchFamily="18" charset="0"/>
                        </a:rPr>
                        <a:t>Concerns</a:t>
                      </a:r>
                    </a:p>
                  </a:txBody>
                  <a:tcPr anchor="ctr"/>
                </a:tc>
                <a:tc>
                  <a:txBody>
                    <a:bodyPr/>
                    <a:lstStyle/>
                    <a:p>
                      <a:pPr rtl="0">
                        <a:buNone/>
                      </a:pPr>
                      <a:r>
                        <a:rPr lang="en-US" sz="2000">
                          <a:latin typeface="Times New Roman" panose="02020603050405020304" pitchFamily="18" charset="0"/>
                          <a:cs typeface="Times New Roman" panose="02020603050405020304" pitchFamily="18" charset="0"/>
                        </a:rPr>
                        <a:t>Speed, latency, throughput, resource utilization</a:t>
                      </a:r>
                    </a:p>
                  </a:txBody>
                  <a:tcPr anchor="ctr"/>
                </a:tc>
                <a:tc>
                  <a:txBody>
                    <a:bodyPr/>
                    <a:lstStyle/>
                    <a:p>
                      <a:pPr rtl="0">
                        <a:buNone/>
                      </a:pPr>
                      <a:r>
                        <a:rPr lang="en-US" sz="2000">
                          <a:latin typeface="Times New Roman" panose="02020603050405020304" pitchFamily="18" charset="0"/>
                          <a:cs typeface="Times New Roman" panose="02020603050405020304" pitchFamily="18" charset="0"/>
                        </a:rPr>
                        <a:t>Capacity, availability, distribution of workload</a:t>
                      </a:r>
                    </a:p>
                  </a:txBody>
                  <a:tcPr anchor="ctr"/>
                </a:tc>
                <a:extLst>
                  <a:ext uri="{0D108BD9-81ED-4DB2-BD59-A6C34878D82A}">
                    <a16:rowId xmlns:a16="http://schemas.microsoft.com/office/drawing/2014/main" val="3009084011"/>
                  </a:ext>
                </a:extLst>
              </a:tr>
              <a:tr h="370840">
                <a:tc>
                  <a:txBody>
                    <a:bodyPr/>
                    <a:lstStyle/>
                    <a:p>
                      <a:pPr rtl="0">
                        <a:buNone/>
                      </a:pPr>
                      <a:r>
                        <a:rPr lang="en-IN" sz="2000" b="1">
                          <a:latin typeface="Times New Roman" panose="02020603050405020304" pitchFamily="18" charset="0"/>
                          <a:cs typeface="Times New Roman" panose="02020603050405020304" pitchFamily="18" charset="0"/>
                        </a:rPr>
                        <a:t>Key Techniques</a:t>
                      </a:r>
                    </a:p>
                  </a:txBody>
                  <a:tcPr anchor="ctr"/>
                </a:tc>
                <a:tc>
                  <a:txBody>
                    <a:bodyPr/>
                    <a:lstStyle/>
                    <a:p>
                      <a:pPr rtl="0">
                        <a:buNone/>
                      </a:pPr>
                      <a:r>
                        <a:rPr lang="en-US" sz="2000">
                          <a:latin typeface="Times New Roman" panose="02020603050405020304" pitchFamily="18" charset="0"/>
                          <a:cs typeface="Times New Roman" panose="02020603050405020304" pitchFamily="18" charset="0"/>
                        </a:rPr>
                        <a:t>Code optimization, caching, load balancing</a:t>
                      </a:r>
                    </a:p>
                  </a:txBody>
                  <a:tcPr anchor="ctr"/>
                </a:tc>
                <a:tc>
                  <a:txBody>
                    <a:bodyPr/>
                    <a:lstStyle/>
                    <a:p>
                      <a:pPr rtl="0">
                        <a:buNone/>
                      </a:pPr>
                      <a:r>
                        <a:rPr lang="en-US" sz="2000">
                          <a:latin typeface="Times New Roman" panose="02020603050405020304" pitchFamily="18" charset="0"/>
                          <a:cs typeface="Times New Roman" panose="02020603050405020304" pitchFamily="18" charset="0"/>
                        </a:rPr>
                        <a:t>Horizontal scaling, stateless architecture, microservices</a:t>
                      </a:r>
                    </a:p>
                  </a:txBody>
                  <a:tcPr anchor="ctr"/>
                </a:tc>
                <a:extLst>
                  <a:ext uri="{0D108BD9-81ED-4DB2-BD59-A6C34878D82A}">
                    <a16:rowId xmlns:a16="http://schemas.microsoft.com/office/drawing/2014/main" val="3276792925"/>
                  </a:ext>
                </a:extLst>
              </a:tr>
              <a:tr h="370840">
                <a:tc>
                  <a:txBody>
                    <a:bodyPr/>
                    <a:lstStyle/>
                    <a:p>
                      <a:pPr rtl="0">
                        <a:buNone/>
                      </a:pPr>
                      <a:r>
                        <a:rPr lang="en-IN" sz="2000" b="1">
                          <a:latin typeface="Times New Roman" panose="02020603050405020304" pitchFamily="18" charset="0"/>
                          <a:cs typeface="Times New Roman" panose="02020603050405020304" pitchFamily="18" charset="0"/>
                        </a:rPr>
                        <a:t>Scaling Approach</a:t>
                      </a:r>
                    </a:p>
                  </a:txBody>
                  <a:tcPr anchor="ctr"/>
                </a:tc>
                <a:tc>
                  <a:txBody>
                    <a:bodyPr/>
                    <a:lstStyle/>
                    <a:p>
                      <a:pPr rtl="0">
                        <a:buNone/>
                      </a:pPr>
                      <a:r>
                        <a:rPr lang="en-IN" sz="2000">
                          <a:latin typeface="Times New Roman" panose="02020603050405020304" pitchFamily="18" charset="0"/>
                          <a:cs typeface="Times New Roman" panose="02020603050405020304" pitchFamily="18" charset="0"/>
                        </a:rPr>
                        <a:t>Vertical scaling (scaling up)</a:t>
                      </a:r>
                    </a:p>
                  </a:txBody>
                  <a:tcPr anchor="ctr"/>
                </a:tc>
                <a:tc>
                  <a:txBody>
                    <a:bodyPr/>
                    <a:lstStyle/>
                    <a:p>
                      <a:pPr rtl="0">
                        <a:buNone/>
                      </a:pPr>
                      <a:r>
                        <a:rPr lang="en-IN" sz="2000">
                          <a:latin typeface="Times New Roman" panose="02020603050405020304" pitchFamily="18" charset="0"/>
                          <a:cs typeface="Times New Roman" panose="02020603050405020304" pitchFamily="18" charset="0"/>
                        </a:rPr>
                        <a:t>Horizontal scaling (scaling out)</a:t>
                      </a:r>
                    </a:p>
                  </a:txBody>
                  <a:tcPr anchor="ctr"/>
                </a:tc>
                <a:extLst>
                  <a:ext uri="{0D108BD9-81ED-4DB2-BD59-A6C34878D82A}">
                    <a16:rowId xmlns:a16="http://schemas.microsoft.com/office/drawing/2014/main" val="187781284"/>
                  </a:ext>
                </a:extLst>
              </a:tr>
              <a:tr h="370840">
                <a:tc>
                  <a:txBody>
                    <a:bodyPr/>
                    <a:lstStyle/>
                    <a:p>
                      <a:pPr rtl="0">
                        <a:buNone/>
                      </a:pPr>
                      <a:r>
                        <a:rPr lang="en-IN" sz="2000" b="1">
                          <a:latin typeface="Times New Roman" panose="02020603050405020304" pitchFamily="18" charset="0"/>
                          <a:cs typeface="Times New Roman" panose="02020603050405020304" pitchFamily="18" charset="0"/>
                        </a:rPr>
                        <a:t>Impact of Growth</a:t>
                      </a:r>
                    </a:p>
                  </a:txBody>
                  <a:tcPr anchor="ctr"/>
                </a:tc>
                <a:tc>
                  <a:txBody>
                    <a:bodyPr/>
                    <a:lstStyle/>
                    <a:p>
                      <a:pPr rtl="0">
                        <a:buNone/>
                      </a:pPr>
                      <a:r>
                        <a:rPr lang="en-US" sz="2000">
                          <a:latin typeface="Times New Roman" panose="02020603050405020304" pitchFamily="18" charset="0"/>
                          <a:cs typeface="Times New Roman" panose="02020603050405020304" pitchFamily="18" charset="0"/>
                        </a:rPr>
                        <a:t>May degrade with increased workload</a:t>
                      </a:r>
                    </a:p>
                  </a:txBody>
                  <a:tcPr anchor="ctr"/>
                </a:tc>
                <a:tc>
                  <a:txBody>
                    <a:bodyPr/>
                    <a:lstStyle/>
                    <a:p>
                      <a:pPr rtl="0">
                        <a:buNone/>
                      </a:pPr>
                      <a:r>
                        <a:rPr lang="en-US" sz="2000">
                          <a:latin typeface="Times New Roman" panose="02020603050405020304" pitchFamily="18" charset="0"/>
                          <a:cs typeface="Times New Roman" panose="02020603050405020304" pitchFamily="18" charset="0"/>
                        </a:rPr>
                        <a:t>Maintains performance with increased workload</a:t>
                      </a:r>
                    </a:p>
                  </a:txBody>
                  <a:tcPr anchor="ctr"/>
                </a:tc>
                <a:extLst>
                  <a:ext uri="{0D108BD9-81ED-4DB2-BD59-A6C34878D82A}">
                    <a16:rowId xmlns:a16="http://schemas.microsoft.com/office/drawing/2014/main" val="2599128754"/>
                  </a:ext>
                </a:extLst>
              </a:tr>
              <a:tr h="370840">
                <a:tc>
                  <a:txBody>
                    <a:bodyPr/>
                    <a:lstStyle/>
                    <a:p>
                      <a:pPr rtl="0">
                        <a:buNone/>
                      </a:pPr>
                      <a:r>
                        <a:rPr lang="en-IN" sz="2000" b="1">
                          <a:latin typeface="Times New Roman" panose="02020603050405020304" pitchFamily="18" charset="0"/>
                          <a:cs typeface="Times New Roman" panose="02020603050405020304" pitchFamily="18" charset="0"/>
                        </a:rPr>
                        <a:t>Resource Allocation</a:t>
                      </a:r>
                    </a:p>
                  </a:txBody>
                  <a:tcPr anchor="ctr"/>
                </a:tc>
                <a:tc>
                  <a:txBody>
                    <a:bodyPr/>
                    <a:lstStyle/>
                    <a:p>
                      <a:pPr rtl="0">
                        <a:buNone/>
                      </a:pPr>
                      <a:r>
                        <a:rPr lang="en-US" sz="2000">
                          <a:latin typeface="Times New Roman" panose="02020603050405020304" pitchFamily="18" charset="0"/>
                          <a:cs typeface="Times New Roman" panose="02020603050405020304" pitchFamily="18" charset="0"/>
                        </a:rPr>
                        <a:t>May require hardware upgrades for improvement</a:t>
                      </a:r>
                    </a:p>
                  </a:txBody>
                  <a:tcPr anchor="ctr"/>
                </a:tc>
                <a:tc>
                  <a:txBody>
                    <a:bodyPr/>
                    <a:lstStyle/>
                    <a:p>
                      <a:pPr rtl="0">
                        <a:buNone/>
                      </a:pPr>
                      <a:r>
                        <a:rPr lang="en-US" sz="2000">
                          <a:latin typeface="Times New Roman" panose="02020603050405020304" pitchFamily="18" charset="0"/>
                          <a:cs typeface="Times New Roman" panose="02020603050405020304" pitchFamily="18" charset="0"/>
                        </a:rPr>
                        <a:t>Adds more instances or nodes for improvement</a:t>
                      </a:r>
                    </a:p>
                  </a:txBody>
                  <a:tcPr anchor="ctr"/>
                </a:tc>
                <a:extLst>
                  <a:ext uri="{0D108BD9-81ED-4DB2-BD59-A6C34878D82A}">
                    <a16:rowId xmlns:a16="http://schemas.microsoft.com/office/drawing/2014/main" val="3782356759"/>
                  </a:ext>
                </a:extLst>
              </a:tr>
              <a:tr h="370840">
                <a:tc>
                  <a:txBody>
                    <a:bodyPr/>
                    <a:lstStyle/>
                    <a:p>
                      <a:pPr rtl="0">
                        <a:buNone/>
                      </a:pPr>
                      <a:r>
                        <a:rPr lang="en-IN" sz="2000" b="1">
                          <a:latin typeface="Times New Roman" panose="02020603050405020304" pitchFamily="18" charset="0"/>
                          <a:cs typeface="Times New Roman" panose="02020603050405020304" pitchFamily="18" charset="0"/>
                        </a:rPr>
                        <a:t>Maintenance Complexity</a:t>
                      </a:r>
                    </a:p>
                  </a:txBody>
                  <a:tcPr anchor="ctr"/>
                </a:tc>
                <a:tc>
                  <a:txBody>
                    <a:bodyPr/>
                    <a:lstStyle/>
                    <a:p>
                      <a:pPr rtl="0">
                        <a:buNone/>
                      </a:pPr>
                      <a:r>
                        <a:rPr lang="en-IN" sz="2000">
                          <a:latin typeface="Times New Roman" panose="02020603050405020304" pitchFamily="18" charset="0"/>
                          <a:cs typeface="Times New Roman" panose="02020603050405020304" pitchFamily="18" charset="0"/>
                        </a:rPr>
                        <a:t>Generally lower complexity</a:t>
                      </a:r>
                    </a:p>
                  </a:txBody>
                  <a:tcPr anchor="ctr"/>
                </a:tc>
                <a:tc>
                  <a:txBody>
                    <a:bodyPr/>
                    <a:lstStyle/>
                    <a:p>
                      <a:pPr rtl="0">
                        <a:buNone/>
                      </a:pPr>
                      <a:r>
                        <a:rPr lang="en-US" sz="2000">
                          <a:latin typeface="Times New Roman" panose="02020603050405020304" pitchFamily="18" charset="0"/>
                          <a:cs typeface="Times New Roman" panose="02020603050405020304" pitchFamily="18" charset="0"/>
                        </a:rPr>
                        <a:t>May involve higher complexity due to distributed nature</a:t>
                      </a:r>
                    </a:p>
                  </a:txBody>
                  <a:tcPr anchor="ctr"/>
                </a:tc>
                <a:extLst>
                  <a:ext uri="{0D108BD9-81ED-4DB2-BD59-A6C34878D82A}">
                    <a16:rowId xmlns:a16="http://schemas.microsoft.com/office/drawing/2014/main" val="1077575712"/>
                  </a:ext>
                </a:extLst>
              </a:tr>
              <a:tr h="370840">
                <a:tc>
                  <a:txBody>
                    <a:bodyPr/>
                    <a:lstStyle/>
                    <a:p>
                      <a:pPr rtl="0">
                        <a:buNone/>
                      </a:pPr>
                      <a:r>
                        <a:rPr lang="en-IN" sz="2000" b="1" dirty="0">
                          <a:latin typeface="Times New Roman" panose="02020603050405020304" pitchFamily="18" charset="0"/>
                          <a:cs typeface="Times New Roman" panose="02020603050405020304" pitchFamily="18" charset="0"/>
                        </a:rPr>
                        <a:t>Example</a:t>
                      </a:r>
                    </a:p>
                  </a:txBody>
                  <a:tcPr anchor="ctr"/>
                </a:tc>
                <a:tc>
                  <a:txBody>
                    <a:bodyPr/>
                    <a:lstStyle/>
                    <a:p>
                      <a:pPr rtl="0">
                        <a:buNone/>
                      </a:pPr>
                      <a:r>
                        <a:rPr lang="en-IN" sz="2000">
                          <a:latin typeface="Times New Roman" panose="02020603050405020304" pitchFamily="18" charset="0"/>
                          <a:cs typeface="Times New Roman" panose="02020603050405020304" pitchFamily="18" charset="0"/>
                        </a:rPr>
                        <a:t>A high-performance gaming server</a:t>
                      </a:r>
                    </a:p>
                  </a:txBody>
                  <a:tcPr anchor="ctr"/>
                </a:tc>
                <a:tc>
                  <a:txBody>
                    <a:bodyPr/>
                    <a:lstStyle/>
                    <a:p>
                      <a:pPr rtl="0">
                        <a:buNone/>
                      </a:pPr>
                      <a:r>
                        <a:rPr lang="en-IN" sz="2000" dirty="0">
                          <a:latin typeface="Times New Roman" panose="02020603050405020304" pitchFamily="18" charset="0"/>
                          <a:cs typeface="Times New Roman" panose="02020603050405020304" pitchFamily="18" charset="0"/>
                        </a:rPr>
                        <a:t>A scalable social media platform</a:t>
                      </a:r>
                    </a:p>
                  </a:txBody>
                  <a:tcPr anchor="ctr"/>
                </a:tc>
                <a:extLst>
                  <a:ext uri="{0D108BD9-81ED-4DB2-BD59-A6C34878D82A}">
                    <a16:rowId xmlns:a16="http://schemas.microsoft.com/office/drawing/2014/main" val="1765321843"/>
                  </a:ext>
                </a:extLst>
              </a:tr>
            </a:tbl>
          </a:graphicData>
        </a:graphic>
      </p:graphicFrame>
    </p:spTree>
    <p:extLst>
      <p:ext uri="{BB962C8B-B14F-4D97-AF65-F5344CB8AC3E}">
        <p14:creationId xmlns:p14="http://schemas.microsoft.com/office/powerpoint/2010/main" val="901550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6FFFA9-CFD7-301D-098C-A469BD17363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3" name="Rectangle 1">
            <a:extLst>
              <a:ext uri="{FF2B5EF4-FFF2-40B4-BE49-F238E27FC236}">
                <a16:creationId xmlns:a16="http://schemas.microsoft.com/office/drawing/2014/main" id="{0F47DF72-1C6A-3F3C-0A5A-61295B79E4BF}"/>
              </a:ext>
            </a:extLst>
          </p:cNvPr>
          <p:cNvSpPr>
            <a:spLocks noChangeArrowheads="1"/>
          </p:cNvSpPr>
          <p:nvPr/>
        </p:nvSpPr>
        <p:spPr bwMode="auto">
          <a:xfrm>
            <a:off x="223522" y="623726"/>
            <a:ext cx="1339032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solidFill>
                  <a:schemeClr val="tx1"/>
                </a:solidFill>
                <a:latin typeface="Times New Roman" panose="02020603050405020304" pitchFamily="18" charset="0"/>
                <a:cs typeface="Times New Roman" panose="02020603050405020304" pitchFamily="18" charset="0"/>
              </a:rPr>
              <a:t>LATENCY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Problem Statement: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Calculate the round-trip time (RTT) latency for a data packet traveling between a client in New York City and a server in London, UK, assuming a direct fiber-optic connection with a propagation speed of 200,000 km/s.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Distance: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Distance between NYC and London: 5570 km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Propagation speed: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200,000 km/s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Constraints: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Assume no network congestion or processing delays.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Desired Output: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RTT latency in milliseconds.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Calculate One-Way Latency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One-way latency is the time taken for the data to travel from the client to the server: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One-way latency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Distance / Propagation speed = 5570 KM / 200,000 Km/s =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27.85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Calculate RTT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RTT is twice the one-way latency: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RTT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 × 27.85ms =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55.7ms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5875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D41AC0-56BD-956F-C494-203CFFDB468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4" name="TextBox 3">
            <a:extLst>
              <a:ext uri="{FF2B5EF4-FFF2-40B4-BE49-F238E27FC236}">
                <a16:creationId xmlns:a16="http://schemas.microsoft.com/office/drawing/2014/main" id="{BE64EC0F-A79B-591C-1BCB-A5970D603141}"/>
              </a:ext>
            </a:extLst>
          </p:cNvPr>
          <p:cNvSpPr txBox="1"/>
          <p:nvPr/>
        </p:nvSpPr>
        <p:spPr>
          <a:xfrm>
            <a:off x="512064" y="1267944"/>
            <a:ext cx="12569952" cy="5940088"/>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Benefits of Consistency </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Data Integrity: </a:t>
            </a:r>
            <a:r>
              <a:rPr lang="en-US" sz="2000" dirty="0">
                <a:latin typeface="Times New Roman" panose="02020603050405020304" pitchFamily="18" charset="0"/>
                <a:cs typeface="Times New Roman" panose="02020603050405020304" pitchFamily="18" charset="0"/>
              </a:rPr>
              <a:t>Checks the integrity of data in all the nodes that has been sent to it by other nodes. This is essential especially in an environment where the presence of wrong data, or outdated data may cause severe problems, for instance, in banking and or in medical records. </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hlinkClick r:id="rId2"/>
              </a:rPr>
              <a:t>Reliability</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Avoids having irregularities in the data set. More so where data accuracy is critical, having the entire system in a consistent state all the nodes are guaranteed that the behavior of the system will be as expected.</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Predictability: </a:t>
            </a:r>
            <a:r>
              <a:rPr lang="en-US" sz="2000" dirty="0">
                <a:latin typeface="Times New Roman" panose="02020603050405020304" pitchFamily="18" charset="0"/>
                <a:cs typeface="Times New Roman" panose="02020603050405020304" pitchFamily="18" charset="0"/>
              </a:rPr>
              <a:t>Ensures that all read and write operations are easily determinable by a user. End users may always be assured of acquiring the latest data, thereby easing the computational concepts pertaining to data in an application. </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Use Cases of Consistency</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Banking Systems:</a:t>
            </a:r>
            <a:r>
              <a:rPr lang="en-US" sz="2000" dirty="0">
                <a:latin typeface="Times New Roman" panose="02020603050405020304" pitchFamily="18" charset="0"/>
                <a:cs typeface="Times New Roman" panose="02020603050405020304" pitchFamily="18" charset="0"/>
              </a:rPr>
              <a:t> Where transaction processing is important. It is necessary to maintain proper records and intact security measures that address the problems such as double-spend or undesired balance. </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Inventory Management:</a:t>
            </a:r>
            <a:r>
              <a:rPr lang="en-US" sz="2000" dirty="0">
                <a:latin typeface="Times New Roman" panose="02020603050405020304" pitchFamily="18" charset="0"/>
                <a:cs typeface="Times New Roman" panose="02020603050405020304" pitchFamily="18" charset="0"/>
              </a:rPr>
              <a:t> To make certain that inventory is correctly recorded in other premises. For businesses that use multiple warehouses or Stores when it comes to inventory management consistency helps them maintain accurate stock status to evade such problems as overselling. </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Distributed Databases: </a:t>
            </a:r>
            <a:r>
              <a:rPr lang="en-US" sz="2000" dirty="0">
                <a:latin typeface="Times New Roman" panose="02020603050405020304" pitchFamily="18" charset="0"/>
                <a:cs typeface="Times New Roman" panose="02020603050405020304" pitchFamily="18" charset="0"/>
              </a:rPr>
              <a:t>When data correctness and entry standardization are critical. In systems where data is stored and retrieved at any of the nodes in the network, consistency means that all nodes mirror each other’s state and important to prevent data inconsistencies and anomalies.</a:t>
            </a:r>
          </a:p>
        </p:txBody>
      </p:sp>
    </p:spTree>
    <p:extLst>
      <p:ext uri="{BB962C8B-B14F-4D97-AF65-F5344CB8AC3E}">
        <p14:creationId xmlns:p14="http://schemas.microsoft.com/office/powerpoint/2010/main" val="745295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D9E38-C79A-7629-787B-95FFD4414D2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1C4E4E-DEF6-99D0-3393-4014C7A35A7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4" name="TextBox 3">
            <a:extLst>
              <a:ext uri="{FF2B5EF4-FFF2-40B4-BE49-F238E27FC236}">
                <a16:creationId xmlns:a16="http://schemas.microsoft.com/office/drawing/2014/main" id="{08498374-911C-CA26-80AB-A5AE6A88DC81}"/>
              </a:ext>
            </a:extLst>
          </p:cNvPr>
          <p:cNvSpPr txBox="1"/>
          <p:nvPr/>
        </p:nvSpPr>
        <p:spPr>
          <a:xfrm>
            <a:off x="170688" y="1267944"/>
            <a:ext cx="13655040" cy="6555641"/>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Benefits of Availability </a:t>
            </a:r>
          </a:p>
          <a:p>
            <a:r>
              <a:rPr lang="en-US" sz="2000" b="1" dirty="0">
                <a:latin typeface="Times New Roman" panose="02020603050405020304" pitchFamily="18" charset="0"/>
                <a:cs typeface="Times New Roman" panose="02020603050405020304" pitchFamily="18" charset="0"/>
              </a:rPr>
              <a:t>Service Continuity: </a:t>
            </a:r>
            <a:r>
              <a:rPr lang="en-US" sz="2000" dirty="0">
                <a:latin typeface="Times New Roman" panose="02020603050405020304" pitchFamily="18" charset="0"/>
                <a:cs typeface="Times New Roman" panose="02020603050405020304" pitchFamily="18" charset="0"/>
              </a:rPr>
              <a:t>Maintains the system to function well at all times as expected. High availability is required for applications that have to be always available in the application space to the users regardless of failures or high loads. </a:t>
            </a:r>
          </a:p>
          <a:p>
            <a:r>
              <a:rPr lang="en-US" sz="2000" b="1" dirty="0">
                <a:latin typeface="Times New Roman" panose="02020603050405020304" pitchFamily="18" charset="0"/>
                <a:cs typeface="Times New Roman" panose="02020603050405020304" pitchFamily="18" charset="0"/>
              </a:rPr>
              <a:t>User Experience:</a:t>
            </a:r>
            <a:r>
              <a:rPr lang="en-US" sz="2000" dirty="0">
                <a:latin typeface="Times New Roman" panose="02020603050405020304" pitchFamily="18" charset="0"/>
                <a:cs typeface="Times New Roman" panose="02020603050405020304" pitchFamily="18" charset="0"/>
              </a:rPr>
              <a:t> Works within the framework of user demands requirement, and assurance of timely feedback to users thereby improving the user satisfaction. Availability-oriented systems guarantee that the client is constantly able to use the application with no disruptions of any sort. </a:t>
            </a:r>
          </a:p>
          <a:p>
            <a:r>
              <a:rPr lang="en-US" sz="2000" b="1" dirty="0">
                <a:solidFill>
                  <a:schemeClr val="tx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Resilience</a:t>
            </a:r>
            <a:r>
              <a:rPr lang="en-US" sz="2000" b="1" dirty="0">
                <a:solidFill>
                  <a:schemeClr val="tx1"/>
                </a:solidFill>
                <a:latin typeface="Times New Roman" panose="02020603050405020304" pitchFamily="18" charset="0"/>
                <a:cs typeface="Times New Roman" panose="02020603050405020304" pitchFamily="18" charset="0"/>
              </a:rPr>
              <a:t>:</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Can work with one or more nodes of a cluster being unavailable or the communication between nodes being severed without affecting service. Making the system fault tolerant enhances the availability aspect of the software and makes the internet application more reliable. </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Use Cases of Availability</a:t>
            </a:r>
          </a:p>
          <a:p>
            <a:r>
              <a:rPr lang="en-US" sz="2000" b="1" dirty="0">
                <a:latin typeface="Times New Roman" panose="02020603050405020304" pitchFamily="18" charset="0"/>
                <a:cs typeface="Times New Roman" panose="02020603050405020304" pitchFamily="18" charset="0"/>
              </a:rPr>
              <a:t>E-commerce Websites: </a:t>
            </a:r>
            <a:r>
              <a:rPr lang="en-US" sz="2000" dirty="0">
                <a:latin typeface="Times New Roman" panose="02020603050405020304" pitchFamily="18" charset="0"/>
                <a:cs typeface="Times New Roman" panose="02020603050405020304" pitchFamily="18" charset="0"/>
              </a:rPr>
              <a:t>Where continuity as well as response time is an essential factor that determines the use of the application. As for the online retailing, availability directly affects a range of user activities such as, products and services’ viewing, order placing or even payments making, thus influencing the sales and customers’ satisfaction. </a:t>
            </a:r>
          </a:p>
          <a:p>
            <a:r>
              <a:rPr lang="en-US" sz="2000" b="1" dirty="0">
                <a:latin typeface="Times New Roman" panose="02020603050405020304" pitchFamily="18" charset="0"/>
                <a:cs typeface="Times New Roman" panose="02020603050405020304" pitchFamily="18" charset="0"/>
              </a:rPr>
              <a:t>Social Media Platforms: </a:t>
            </a:r>
            <a:r>
              <a:rPr lang="en-US" sz="2000" dirty="0">
                <a:latin typeface="Times New Roman" panose="02020603050405020304" pitchFamily="18" charset="0"/>
                <a:cs typeface="Times New Roman" panose="02020603050405020304" pitchFamily="18" charset="0"/>
              </a:rPr>
              <a:t>That users can always upload and download material. Consumers of content shared via the social media do expect constant availability of this content, high availability is central in the sustaining of interest and overall satisfaction. </a:t>
            </a:r>
          </a:p>
          <a:p>
            <a:r>
              <a:rPr lang="en-US" sz="2000" b="1" dirty="0">
                <a:latin typeface="Times New Roman" panose="02020603050405020304" pitchFamily="18" charset="0"/>
                <a:cs typeface="Times New Roman" panose="02020603050405020304" pitchFamily="18" charset="0"/>
              </a:rPr>
              <a:t>Content Delivery Networks (CDNs):</a:t>
            </a:r>
            <a:r>
              <a:rPr lang="en-US" sz="2000" dirty="0">
                <a:latin typeface="Times New Roman" panose="02020603050405020304" pitchFamily="18" charset="0"/>
                <a:cs typeface="Times New Roman" panose="02020603050405020304" pitchFamily="18" charset="0"/>
              </a:rPr>
              <a:t> Offering maximum access of information to the world population. CDNs provide the content in multiple servers globally to enable quick and accurate delivery to the user no matter the region as they rely on high availability to provide performance and reliability.</a:t>
            </a:r>
          </a:p>
          <a:p>
            <a:br>
              <a:rPr lang="en-US" sz="2000" dirty="0"/>
            </a:br>
            <a:endParaRPr lang="en-US" sz="2000" dirty="0"/>
          </a:p>
        </p:txBody>
      </p:sp>
    </p:spTree>
    <p:extLst>
      <p:ext uri="{BB962C8B-B14F-4D97-AF65-F5344CB8AC3E}">
        <p14:creationId xmlns:p14="http://schemas.microsoft.com/office/powerpoint/2010/main" val="100804195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TotalTime>
  <Words>1319</Words>
  <Application>Microsoft Office PowerPoint</Application>
  <PresentationFormat>Custom</PresentationFormat>
  <Paragraphs>97</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Deepak Ahlawat</cp:lastModifiedBy>
  <cp:revision>5</cp:revision>
  <dcterms:modified xsi:type="dcterms:W3CDTF">2025-07-07T04:42:14Z</dcterms:modified>
</cp:coreProperties>
</file>